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deck: “03 Traditional Baselines and Feature-Based Machine Learning.pptx”, slides 1–68.
- Visuals are original teaching diagrams created for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deck: “03 Traditional Baselines and Feature-Based Machine Learning.pptx”, slides 1–68.
- Visuals are original teaching diagrams created for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deck: “03 Traditional Baselines and Feature-Based Machine Learning.pptx”, slides 1–68.
- Visuals are original teaching diagrams created for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deck: “03 Traditional Baselines and Feature-Based Machine Learning.pptx”, slides 1–68.
- Visuals are original teaching diagrams created for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deck: “03 Traditional Baselines and Feature-Based Machine Learning.pptx”, slides 1–68.
- Visuals are original teaching diagrams created for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deck: “03 Traditional Baselines and Feature-Based Machine Learning.pptx”, slides 1–68.
- Visuals are original teaching diagrams created for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deck: “03 Traditional Baselines and Feature-Based Machine Learning.pptx”, slides 1–68.
- Visuals are original teaching diagrams created for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deck: “03 Traditional Baselines and Feature-Based Machine Learning.pptx”, slides 1–68.
- Visuals are original teaching diagrams created for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deck: “03 Traditional Baselines and Feature-Based Machine Learning.pptx”, slides 1–68.
- Visuals are original teaching diagrams created for this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ML — Lab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41080" y="6446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Lecture 3, slides 1–68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Lab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Forecasting baselines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causal temporal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Beginner Strategic Engineering MSc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1234440"/>
            <a:ext cx="3566160" cy="3383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Engineering question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56448" y="2240280"/>
            <a:ext cx="27889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Can a more elaborate forecasting method beat simple, credible baselines under the same evaluation protocol?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0100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Industrial facility • next-hour electricity demand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should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The lab is about modelling discipline before model complexity.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  Build credible baselines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947672"/>
            <a:ext cx="29718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Constant, persistence, drift, seasonal naïve, moving average, exponential smoothing.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  Engineer causal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1947672"/>
            <a:ext cx="29718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Lags, differences, rolling summaries, trends and contextual variables.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1508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81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  Compare fairly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2752" y="1947672"/>
            <a:ext cx="29718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Chronological split, same horizon, same metric, test used only after choices are fixed.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14600" y="333756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3337560"/>
            <a:ext cx="73152" cy="1508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35021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 Use simple diagnostics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24912" y="3867912"/>
            <a:ext cx="29718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Autocorrelation and cross-correlation as clues about temporal structure.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33756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33756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5021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5  Earn complexity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9672" y="3867912"/>
            <a:ext cx="29718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Ask whether engineered features provide measurable value over the strongest simple method.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828800" y="52578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</a:rPr>
              <a:t>No FFT or spectral-feature work in this lab — those begin after slide 68.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Prediction-time rule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The dataset may contain the future. Your model may not use it.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Forecast demand at hour 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27432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27432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69080" y="27432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27432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7432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27432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2743200"/>
            <a:ext cx="164592" cy="16459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2743200"/>
            <a:ext cx="164592" cy="16459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78440" y="2743200"/>
            <a:ext cx="164592" cy="16459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2825496"/>
            <a:ext cx="8869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30552" y="2825496"/>
            <a:ext cx="8869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2112" y="2825496"/>
            <a:ext cx="8869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33672" y="2825496"/>
            <a:ext cx="8869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2825496"/>
            <a:ext cx="8869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2825496"/>
            <a:ext cx="8869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88352" y="2825496"/>
            <a:ext cx="8869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9912" y="2825496"/>
            <a:ext cx="8869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91472" y="2825496"/>
            <a:ext cx="8869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2148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past observations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6092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future recorded in dataset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14032" y="1783080"/>
            <a:ext cx="0" cy="219456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4096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</a:rPr>
              <a:t>prediction time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470916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709160"/>
            <a:ext cx="73152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48737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Allowed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3272" y="5239512"/>
            <a:ext cx="2788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demand[t−1], temperature[t−1]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480560" y="470916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0" y="470916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48737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Also allowed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90872" y="5239512"/>
            <a:ext cx="2788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production plan for t, if known in advance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38160" y="470916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FEE2E2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38160" y="4709160"/>
            <a:ext cx="73152" cy="960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8472" y="48737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Not allowed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48472" y="5239512"/>
            <a:ext cx="2788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actual demand[t] or later observations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ladder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Each method tests a different assumption about the temporal process.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5389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</a:rPr>
              <a:t>Constant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71800" y="1591056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794760" y="1399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overall target level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03720" y="13990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training mean only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037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Persistence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71800" y="2340864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794760" y="2148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short-term continuity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148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ŷ[t] = y[t−1]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825496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9535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</a:rPr>
              <a:t>Drift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71800" y="3090672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794760" y="2898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recent slope continues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898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extrapolate last change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575304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703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Seasonal naïve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971800" y="3840480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794760" y="3648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known repetition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648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same hour 24 h earlier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4325112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4531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Moving average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971800" y="4590288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794760" y="4398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recent local level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43982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average recent history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2960" y="5074920"/>
            <a:ext cx="20574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20293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Exp. smoothing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971800" y="5340096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794760" y="5148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recent history, decaying weights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51480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choose α on validation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965960" y="59893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Strong baseline ≠ weak method. The best simple method is the reference that matters.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Chronological experiment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Validation chooses design options; test is reserved for the final comparison.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9436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874520"/>
            <a:ext cx="1920240" cy="9144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1874520"/>
            <a:ext cx="25146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21396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TRAIN 60%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85432" y="213969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</a:rPr>
              <a:t>VALIDATION 20%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52560" y="213969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</a:rPr>
              <a:t>TEST 20%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0" y="2999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time 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3794760"/>
            <a:ext cx="3063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3794760"/>
            <a:ext cx="73152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39593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Fit on training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6152" y="4325112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Training mean; linear model coefficients; any parameter learned from data.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3794760"/>
            <a:ext cx="3063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3794760"/>
            <a:ext cx="73152" cy="12801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39593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Choose on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82312" y="4325112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Moving-average window L; exponential-smoothing α; feature/model choices.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3794760"/>
            <a:ext cx="3063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3794760"/>
            <a:ext cx="73152" cy="12801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39593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Evaluate once on test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8472" y="4325112"/>
            <a:ext cx="2651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Final MAE/RMSE after the modelling decisions are frozen.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 time series to a causal feature row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The target is demand[t]; signal-derived features must stop at t−1.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493776" cy="49377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89888" y="1920240"/>
            <a:ext cx="493776" cy="49377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48256" y="1920240"/>
            <a:ext cx="493776" cy="49377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06624" y="1920240"/>
            <a:ext cx="493776" cy="49377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4992" y="1920240"/>
            <a:ext cx="493776" cy="49377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1920240"/>
            <a:ext cx="493776" cy="49377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81728" y="1920240"/>
            <a:ext cx="493776" cy="49377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0096" y="1920240"/>
            <a:ext cx="493776" cy="49377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98464" y="1920240"/>
            <a:ext cx="493776" cy="49377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t−2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56832" y="1920240"/>
            <a:ext cx="493776" cy="49377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t−1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1920240"/>
            <a:ext cx="493776" cy="493776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73568" y="1920240"/>
            <a:ext cx="493776" cy="49377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1856" y="2075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138988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history available for feature construction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87184" y="13898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target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85800" y="3063240"/>
            <a:ext cx="21488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306324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3227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Lag features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" y="3593592"/>
            <a:ext cx="17373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lag1, lag2, lag24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Preserve specific temporal positions.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017520" y="3063240"/>
            <a:ext cx="21488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017520" y="3063240"/>
            <a:ext cx="73152" cy="13258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27832" y="3227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Change / trend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27832" y="3593592"/>
            <a:ext cx="17373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diff1, trend6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Describe recent evolution.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349240" y="3063240"/>
            <a:ext cx="21488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49240" y="306324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9552" y="3227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Rolling summaries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59552" y="3593592"/>
            <a:ext cx="17373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mean6, std24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Summarize recent intervals.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680960" y="3063240"/>
            <a:ext cx="21488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80960" y="3063240"/>
            <a:ext cx="73152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91272" y="32278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Other variables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891272" y="3593592"/>
            <a:ext cx="17373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temperature lag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Possible delayed relationship.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0012680" y="3063240"/>
            <a:ext cx="16002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012680" y="306324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22992" y="3227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Context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222992" y="3593592"/>
            <a:ext cx="11887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production plan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Known ahead.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280160" y="5029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Feature engineering decides what temporal information the simple model is allowed to see.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 probes before modelling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Use correlation structure to generate hypotheses—not to claim causality.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Autocorrelation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How similar is demand to a delayed version of itself?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4069080"/>
            <a:ext cx="0" cy="-113385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80744" y="4069080"/>
            <a:ext cx="0" cy="-779526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9928" y="4069080"/>
            <a:ext cx="0" cy="-453542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9112" y="4069080"/>
            <a:ext cx="0" cy="-25511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68296" y="4069080"/>
            <a:ext cx="0" cy="-17007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4069080"/>
            <a:ext cx="0" cy="-25511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26664" y="4069080"/>
            <a:ext cx="0" cy="-35433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4069080"/>
            <a:ext cx="0" cy="-481889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85032" y="4069080"/>
            <a:ext cx="0" cy="-637794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14216" y="4069080"/>
            <a:ext cx="0" cy="-87873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4069080"/>
            <a:ext cx="0" cy="-1204722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069080"/>
            <a:ext cx="39776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42245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lag 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Cross-correlation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8660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Does one variable tend to precede another?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4069080"/>
            <a:ext cx="0" cy="-21259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4069080"/>
            <a:ext cx="0" cy="-496062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4069080"/>
            <a:ext cx="0" cy="-87873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0" y="4069080"/>
            <a:ext cx="0" cy="-1303934"/>
          </a:xfrm>
          <a:prstGeom prst="line">
            <a:avLst/>
          </a:prstGeom>
          <a:noFill/>
          <a:ln w="50800">
            <a:solidFill>
              <a:srgbClr val="C241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4069080"/>
            <a:ext cx="0" cy="-779526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0" y="4069080"/>
            <a:ext cx="0" cy="-425196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49840" y="4069080"/>
            <a:ext cx="0" cy="-25511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040" y="4069080"/>
            <a:ext cx="3291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2245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candidate lag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1C1C"/>
                </a:solidFill>
              </a:rPr>
              <a:t>Correlation can suggest useful lags and scales. It does not establish causal relationships.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Work from simple references to one transparent learned forecast.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47472" y="2286000"/>
            <a:ext cx="1353312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24871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Inspect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" y="28163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plot demand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and context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19072" y="2852928"/>
            <a:ext cx="26517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11680" y="2286000"/>
            <a:ext cx="1353312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4871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Baseline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84832" y="28163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mean / persistence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drift / seasonal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852928"/>
            <a:ext cx="26517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75888" y="2286000"/>
            <a:ext cx="1353312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4871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Tune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8163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moving average 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exponential 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47488" y="2852928"/>
            <a:ext cx="26517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40096" y="2286000"/>
            <a:ext cx="1353312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24871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Diagnose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13248" y="28163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autocorrelation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cross-correlation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11696" y="2852928"/>
            <a:ext cx="26517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04304" y="2286000"/>
            <a:ext cx="1353312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24871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Engineer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77456" y="28163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causal lag / rolling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trend / context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75904" y="2852928"/>
            <a:ext cx="26517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68512" y="2286000"/>
            <a:ext cx="1353312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9952" y="24871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41664" y="28163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linear regression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on feature table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40112" y="2852928"/>
            <a:ext cx="26517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32720" y="2286000"/>
            <a:ext cx="1353312" cy="1143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248716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Compare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405872" y="28163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validation choices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final test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51560" y="4160520"/>
            <a:ext cx="29718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1560" y="4160520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61872" y="4325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Core exercise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61872" y="4690872"/>
            <a:ext cx="25603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Complete the scaffolded code and justify each causal feature.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617720" y="4160520"/>
            <a:ext cx="29718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4160520"/>
            <a:ext cx="73152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325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Optional extension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28032" y="4690872"/>
            <a:ext cx="25603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Use cross-correlation to propose one physically plausible delayed feature.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183880" y="4160520"/>
            <a:ext cx="29718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83880" y="4160520"/>
            <a:ext cx="73152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94192" y="4325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Engineering judgement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94192" y="4690872"/>
            <a:ext cx="25603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Is the gain over the strongest simple baseline worth the added complexity?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hand in / discuss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The result is not just a metric table; it is a modelling argument.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68680" y="13990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45389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17320" y="1325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 baseline table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3258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Validation MAE/RMSE for the simple methods.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26771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32257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17320" y="2194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Two selected hyperparameters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Moving-average window L and smoothing coefficient α, chosen on validation.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13639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19125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17320" y="3063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One causal feature table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Explain why each feature is available at prediction time.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00507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05993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17320" y="3931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One final test comparison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39319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Same test interval and metrics for every method.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487375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92861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17320" y="4800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 short interpretation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800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What does the strongest baseline reveal about the data? Did extra complexity earn its cost?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0" y="5623560"/>
            <a:ext cx="8549640" cy="5303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5779008"/>
            <a:ext cx="8092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Key principle: complexity should be earned by measurable improvement over the strongest credible simple method.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 — Baselines and Temporal Features</dc:title>
  <dc:subject>Beginner MSc lab: forecasting baselines and temporal features</dc:subject>
  <dc:creator>OpenAI</dc:creator>
  <cp:lastModifiedBy>OpenAI</cp:lastModifiedBy>
  <cp:revision>1</cp:revision>
  <dcterms:created xsi:type="dcterms:W3CDTF">2026-10-22T12:40:36Z</dcterms:created>
  <dcterms:modified xsi:type="dcterms:W3CDTF">2026-10-22T12:40:36Z</dcterms:modified>
</cp:coreProperties>
</file>