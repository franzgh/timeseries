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spectrum</c:v>
                </c:pt>
              </c:strCache>
            </c:strRef>
          </c:tx>
          <c:spPr>
            <a:solidFill>
              <a:srgbClr val="4E79A7"/>
            </a:solidFill>
            <a:ln w="25400" cap="flat">
              <a:solidFill>
                <a:srgbClr val="4E79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79A7"/>
              </a:solidFill>
              <a:ln w="9525" cap="flat">
                <a:solidFill>
                  <a:srgbClr val="4E7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7</c:v>
                  </c:pt>
                  <c:pt idx="1">
                    <c:v>8</c:v>
                  </c:pt>
                  <c:pt idx="2">
                    <c:v>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0.04</c:v>
                </c:pt>
                <c:pt idx="2">
                  <c:v>0.2</c:v>
                </c:pt>
                <c:pt idx="3">
                  <c:v>1</c:v>
                </c:pt>
                <c:pt idx="4">
                  <c:v>0.82</c:v>
                </c:pt>
                <c:pt idx="5">
                  <c:v>0.18</c:v>
                </c:pt>
                <c:pt idx="6">
                  <c:v>0.04</c:v>
                </c:pt>
                <c:pt idx="7">
                  <c:v>0.02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spectrum</c:v>
                </c:pt>
              </c:strCache>
            </c:strRef>
          </c:tx>
          <c:spPr>
            <a:solidFill>
              <a:srgbClr val="86C11F"/>
            </a:solidFill>
            <a:ln w="25400" cap="flat">
              <a:solidFill>
                <a:srgbClr val="86C1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11F"/>
              </a:solidFill>
              <a:ln w="9525" cap="flat">
                <a:solidFill>
                  <a:srgbClr val="86C1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8.5</c:v>
                  </c:pt>
                  <c:pt idx="1">
                    <c:v>9</c:v>
                  </c:pt>
                  <c:pt idx="2">
                    <c:v>9.5</c:v>
                  </c:pt>
                  <c:pt idx="3">
                    <c:v>10</c:v>
                  </c:pt>
                  <c:pt idx="4">
                    <c:v>10.25</c:v>
                  </c:pt>
                  <c:pt idx="5">
                    <c:v>10.5</c:v>
                  </c:pt>
                  <c:pt idx="6">
                    <c:v>10.75</c:v>
                  </c:pt>
                  <c:pt idx="7">
                    <c:v>11</c:v>
                  </c:pt>
                  <c:pt idx="8">
                    <c:v>11.25</c:v>
                  </c:pt>
                  <c:pt idx="9">
                    <c:v>11.5</c:v>
                  </c:pt>
                  <c:pt idx="10">
                    <c:v>12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</c:v>
                </c:pt>
                <c:pt idx="1">
                  <c:v>0.05</c:v>
                </c:pt>
                <c:pt idx="2">
                  <c:v>0.18</c:v>
                </c:pt>
                <c:pt idx="3">
                  <c:v>1</c:v>
                </c:pt>
                <c:pt idx="4">
                  <c:v>0.3</c:v>
                </c:pt>
                <c:pt idx="5">
                  <c:v>0.08</c:v>
                </c:pt>
                <c:pt idx="6">
                  <c:v>0.22</c:v>
                </c:pt>
                <c:pt idx="7">
                  <c:v>0.78</c:v>
                </c:pt>
                <c:pt idx="8">
                  <c:v>0.2</c:v>
                </c:pt>
                <c:pt idx="9">
                  <c:v>0.05</c:v>
                </c:pt>
                <c:pt idx="10">
                  <c:v>0.02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window</c:v>
                </c:pt>
              </c:strCache>
            </c:strRef>
          </c:tx>
          <c:spPr>
            <a:solidFill>
              <a:srgbClr val="F28E2B"/>
            </a:solidFill>
            <a:ln w="25400" cap="flat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5</c:v>
                  </c:pt>
                  <c:pt idx="1">
                    <c:v>6</c:v>
                  </c:pt>
                  <c:pt idx="2">
                    <c:v>7</c:v>
                  </c:pt>
                  <c:pt idx="3">
                    <c:v>8</c:v>
                  </c:pt>
                  <c:pt idx="4">
                    <c:v>9</c:v>
                  </c:pt>
                  <c:pt idx="5">
                    <c:v>10</c:v>
                  </c:pt>
                  <c:pt idx="6">
                    <c:v>11</c:v>
                  </c:pt>
                  <c:pt idx="7">
                    <c:v>12</c:v>
                  </c:pt>
                  <c:pt idx="8">
                    <c:v>13</c:v>
                  </c:pt>
                  <c:pt idx="9">
                    <c:v>14</c:v>
                  </c:pt>
                  <c:pt idx="10">
                    <c:v>15</c:v>
                  </c:pt>
                  <c:pt idx="11">
                    <c:v>16</c:v>
                  </c:pt>
                  <c:pt idx="12">
                    <c:v>17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0.02</c:v>
                </c:pt>
                <c:pt idx="1">
                  <c:v>0.03</c:v>
                </c:pt>
                <c:pt idx="2">
                  <c:v>0.05</c:v>
                </c:pt>
                <c:pt idx="3">
                  <c:v>0.08</c:v>
                </c:pt>
                <c:pt idx="4">
                  <c:v>0.15</c:v>
                </c:pt>
                <c:pt idx="5">
                  <c:v>0.42</c:v>
                </c:pt>
                <c:pt idx="6">
                  <c:v>1</c:v>
                </c:pt>
                <c:pt idx="7">
                  <c:v>0.9</c:v>
                </c:pt>
                <c:pt idx="8">
                  <c:v>0.35</c:v>
                </c:pt>
                <c:pt idx="9">
                  <c:v>0.14</c:v>
                </c:pt>
                <c:pt idx="10">
                  <c:v>0.08</c:v>
                </c:pt>
                <c:pt idx="11">
                  <c:v>0.05</c:v>
                </c:pt>
                <c:pt idx="12">
                  <c:v>0.03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Hann</c:v>
                </c:pt>
              </c:strCache>
            </c:strRef>
          </c:tx>
          <c:spPr>
            <a:solidFill>
              <a:srgbClr val="86C11F"/>
            </a:solidFill>
            <a:ln w="25400" cap="flat">
              <a:solidFill>
                <a:srgbClr val="86C1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11F"/>
              </a:solidFill>
              <a:ln w="9525" cap="flat">
                <a:solidFill>
                  <a:srgbClr val="86C1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5</c:v>
                  </c:pt>
                  <c:pt idx="1">
                    <c:v>6</c:v>
                  </c:pt>
                  <c:pt idx="2">
                    <c:v>7</c:v>
                  </c:pt>
                  <c:pt idx="3">
                    <c:v>8</c:v>
                  </c:pt>
                  <c:pt idx="4">
                    <c:v>9</c:v>
                  </c:pt>
                  <c:pt idx="5">
                    <c:v>10</c:v>
                  </c:pt>
                  <c:pt idx="6">
                    <c:v>11</c:v>
                  </c:pt>
                  <c:pt idx="7">
                    <c:v>12</c:v>
                  </c:pt>
                  <c:pt idx="8">
                    <c:v>13</c:v>
                  </c:pt>
                  <c:pt idx="9">
                    <c:v>14</c:v>
                  </c:pt>
                  <c:pt idx="10">
                    <c:v>15</c:v>
                  </c:pt>
                  <c:pt idx="11">
                    <c:v>16</c:v>
                  </c:pt>
                  <c:pt idx="12">
                    <c:v>17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0.01</c:v>
                </c:pt>
                <c:pt idx="3">
                  <c:v>0.01</c:v>
                </c:pt>
                <c:pt idx="4">
                  <c:v>0.04</c:v>
                </c:pt>
                <c:pt idx="5">
                  <c:v>0.22</c:v>
                </c:pt>
                <c:pt idx="6">
                  <c:v>0.85</c:v>
                </c:pt>
                <c:pt idx="7">
                  <c:v>1</c:v>
                </c:pt>
                <c:pt idx="8">
                  <c:v>0.56</c:v>
                </c:pt>
                <c:pt idx="9">
                  <c:v>0.1</c:v>
                </c:pt>
                <c:pt idx="10">
                  <c:v>0.02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Title slide for the lab package.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Synthetic teaching scenario; no claim of diagnostic validity for a specific physical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Objectives mirror the concepts covered across Lecture 3 slides 69–95.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Workflow corresponds to the lecture section on FFT-based feature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Uses the sampling-rate and Nyquist concepts from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Illustrative spectra; values are schematic rather than measured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Feature definitions follow the lecture examples. Band limits are chosen for the synthetic lab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Schematic illustration of leakage and windowing trade-off from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3, slides 69–95
[/Sources]
Final intro slide; later lecture material covers conventional supervised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94592" y="0"/>
            <a:ext cx="594360" cy="68580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0"/>
            <a:ext cx="438912" cy="6858000"/>
          </a:xfrm>
          <a:prstGeom prst="rect">
            <a:avLst/>
          </a:prstGeom>
          <a:solidFill>
            <a:srgbClr val="C5E1A5"/>
          </a:solidFill>
          <a:ln w="12700">
            <a:solidFill>
              <a:srgbClr val="C5E1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73952"/>
            <a:ext cx="10241280" cy="0"/>
          </a:xfrm>
          <a:prstGeom prst="line">
            <a:avLst/>
          </a:prstGeom>
          <a:noFill/>
          <a:ln w="12700">
            <a:solidFill>
              <a:srgbClr val="D9EA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3B  |  Lecture 3, slides 69–95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051560"/>
            <a:ext cx="100584" cy="4480560"/>
          </a:xfrm>
          <a:prstGeom prst="rect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C11F"/>
                </a:solidFill>
              </a:rPr>
              <a:t>Lab 3B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374151"/>
                </a:solidFill>
              </a:rPr>
              <a:t>From vibration signals</a:t>
            </a:r>
            <a:endParaRPr lang="en-US" sz="3400" dirty="0"/>
          </a:p>
          <a:p>
            <a:pPr indent="0" marL="0">
              <a:buNone/>
            </a:pPr>
            <a:r>
              <a:rPr lang="en-US" sz="3400" dirty="0">
                <a:solidFill>
                  <a:srgbClr val="374151"/>
                </a:solidFill>
              </a:rPr>
              <a:t>to spectral features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24128" y="331012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Frequency-domain feature engineering for beginner Strategic Engineering MSc students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4389120"/>
            <a:ext cx="8092440" cy="914400"/>
          </a:xfrm>
          <a:prstGeom prst="roundRect">
            <a:avLst/>
          </a:prstGeom>
          <a:solidFill>
            <a:srgbClr val="F3F8EA"/>
          </a:solidFill>
          <a:ln w="12700">
            <a:solidFill>
              <a:srgbClr val="D6E8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463600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</a:rPr>
              <a:t>Scenario: 100 Hz vibration monitoring of a rotating machine — compare normal and fault-like windows.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scenario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The same waveform can look similar in time while differing strongly in frequency content.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91056"/>
            <a:ext cx="73152" cy="1792224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Normal condition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" y="2167128"/>
            <a:ext cx="274320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Dominant rotational component around 10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Weak harmonics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Low high-frequency energy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69080" y="1572768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87368" y="1591056"/>
            <a:ext cx="73152" cy="179222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Fault-like condition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8536" y="2167128"/>
            <a:ext cx="274320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Same main rotation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Stronger 2nd/3rd harmonics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More high-frequency energy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52360" y="1572768"/>
            <a:ext cx="3108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70648" y="1591056"/>
            <a:ext cx="73152" cy="1792224"/>
          </a:xfrm>
          <a:prstGeom prst="rect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71816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Decision question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71816" y="2167128"/>
            <a:ext cx="274320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Which compact, interpretable features would preserve the useful condition information?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5840" y="4160520"/>
            <a:ext cx="1828800" cy="658368"/>
          </a:xfrm>
          <a:prstGeom prst="chevron">
            <a:avLst/>
          </a:prstGeom>
          <a:solidFill>
            <a:srgbClr val="EDF5E2"/>
          </a:solidFill>
          <a:ln w="12700">
            <a:solidFill>
              <a:srgbClr val="C7DD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361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time window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0" y="4160520"/>
            <a:ext cx="1828800" cy="658368"/>
          </a:xfrm>
          <a:prstGeom prst="chevron">
            <a:avLst/>
          </a:prstGeom>
          <a:solidFill>
            <a:srgbClr val="EDF5E2"/>
          </a:solidFill>
          <a:ln w="12700">
            <a:solidFill>
              <a:srgbClr val="C7DD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4361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spectrum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1828800" cy="658368"/>
          </a:xfrm>
          <a:prstGeom prst="chevron">
            <a:avLst/>
          </a:prstGeom>
          <a:solidFill>
            <a:srgbClr val="EDF5E2"/>
          </a:solidFill>
          <a:ln w="12700">
            <a:solidFill>
              <a:srgbClr val="C7DD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361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features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15400" y="4160520"/>
            <a:ext cx="1828800" cy="658368"/>
          </a:xfrm>
          <a:prstGeom prst="chevron">
            <a:avLst/>
          </a:prstGeom>
          <a:solidFill>
            <a:srgbClr val="EDF5E2"/>
          </a:solidFill>
          <a:ln w="12700">
            <a:solidFill>
              <a:srgbClr val="C7DD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43616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later 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5257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6C11F"/>
                </a:solidFill>
              </a:rPr>
              <a:t>This lab stops at feature construction and interpretation.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" y="1481328"/>
            <a:ext cx="3035808" cy="1664208"/>
          </a:xfrm>
          <a:prstGeom prst="roundRect">
            <a:avLst/>
          </a:prstGeom>
          <a:solidFill>
            <a:srgbClr val="FAFCF7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64208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64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91056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Sampling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91056" y="2084832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Connect Fs, Δt and the Nyquist limit.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206240" y="1481328"/>
            <a:ext cx="3035808" cy="1664208"/>
          </a:xfrm>
          <a:prstGeom prst="roundRect">
            <a:avLst/>
          </a:prstGeom>
          <a:solidFill>
            <a:srgbClr val="FAFCF7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664208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764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47488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Spectrum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47488" y="2084832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Compute a one-sided FFT and interpret its peaks.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662672" y="1481328"/>
            <a:ext cx="3035808" cy="1664208"/>
          </a:xfrm>
          <a:prstGeom prst="roundRect">
            <a:avLst/>
          </a:prstGeom>
          <a:solidFill>
            <a:srgbClr val="FAFCF7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7264" y="1664208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7264" y="1764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1664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Resolution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03920" y="2084832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Relate window duration to frequency-bin spacing.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49808" y="3639312"/>
            <a:ext cx="3035808" cy="1664208"/>
          </a:xfrm>
          <a:prstGeom prst="roundRect">
            <a:avLst/>
          </a:prstGeom>
          <a:solidFill>
            <a:srgbClr val="F3F8EA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822192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22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91056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Features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91056" y="4242816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Extract dominant frequency and band-power features.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206240" y="3639312"/>
            <a:ext cx="3035808" cy="1664208"/>
          </a:xfrm>
          <a:prstGeom prst="roundRect">
            <a:avLst/>
          </a:prstGeom>
          <a:solidFill>
            <a:srgbClr val="F3F8EA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3822192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3922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47488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Leakage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47488" y="4242816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Observe spectral leakage and the effect of a Hann window.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7662672" y="3639312"/>
            <a:ext cx="3035808" cy="1664208"/>
          </a:xfrm>
          <a:prstGeom prst="roundRect">
            <a:avLst/>
          </a:prstGeom>
          <a:solidFill>
            <a:srgbClr val="F3F8EA"/>
          </a:solidFill>
          <a:ln w="12700">
            <a:solidFill>
              <a:srgbClr val="DCE6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27264" y="3822192"/>
            <a:ext cx="530352" cy="530352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7264" y="39227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151"/>
                </a:solidFill>
              </a:rPr>
              <a:t>Representation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03920" y="4242816"/>
            <a:ext cx="19202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B7280"/>
                </a:solidFill>
              </a:rPr>
              <a:t>Combine time- and frequency-domain features and discuss information loss.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A frequency-domain feature pipeline is an explicit engineering design.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16002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FD4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633472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Temporal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window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14016" y="2670048"/>
            <a:ext cx="310896" cy="411480"/>
          </a:xfrm>
          <a:prstGeom prst="rightArrow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331720"/>
            <a:ext cx="16002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FD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98648" y="2633472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Remove mean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/ detrend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71416" y="2670048"/>
            <a:ext cx="310896" cy="411480"/>
          </a:xfrm>
          <a:prstGeom prst="rightArrow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331720"/>
            <a:ext cx="16002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FD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633472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FFT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28816" y="2670048"/>
            <a:ext cx="310896" cy="411480"/>
          </a:xfrm>
          <a:prstGeom prst="rightArrow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2331720"/>
            <a:ext cx="16002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FD4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2633472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Magnitude /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power spectrum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86216" y="2670048"/>
            <a:ext cx="310896" cy="411480"/>
          </a:xfrm>
          <a:prstGeom prst="rightArrow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2331720"/>
            <a:ext cx="1600200" cy="1143000"/>
          </a:xfrm>
          <a:prstGeom prst="roundRect">
            <a:avLst/>
          </a:prstGeom>
          <a:solidFill>
            <a:srgbClr val="F3F8EA"/>
          </a:solidFill>
          <a:ln w="17780">
            <a:solidFill>
              <a:srgbClr val="86C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0848" y="2633472"/>
            <a:ext cx="1380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Spectral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</a:rPr>
              <a:t>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224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Examples of final features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645152"/>
            <a:ext cx="1874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dominant frequency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337560" y="4645152"/>
            <a:ext cx="1965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total spectral energy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897880" y="4645152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band power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092440" y="4645152"/>
            <a:ext cx="21488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relative band power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55595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6C11F"/>
                </a:solidFill>
              </a:rPr>
              <a:t>The feature designer chooses the window, preprocessing and frequency bands.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Sampling essentials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The frequency axis has physical meaning only when the sampling rate is known.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527048"/>
            <a:ext cx="73152" cy="1792224"/>
          </a:xfrm>
          <a:prstGeom prst="rect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673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Fs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696" y="2103120"/>
            <a:ext cx="196596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100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100 frames each second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527048"/>
            <a:ext cx="73152" cy="1792224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673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Δt = 1/Fs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57016" y="2103120"/>
            <a:ext cx="196596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0.01 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between consecutive frames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97880" y="150876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16168" y="1527048"/>
            <a:ext cx="73152" cy="179222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1673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Nyquist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17336" y="2103120"/>
            <a:ext cx="196596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Fs/2 = 50 Hz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highest unique frequency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458200" y="150876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76488" y="1527048"/>
            <a:ext cx="73152" cy="1792224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77656" y="1673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Resolution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77656" y="2103120"/>
            <a:ext cx="1965960" cy="10698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Δf ≈ Fs/L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set by window length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88720" y="4389120"/>
            <a:ext cx="8686800" cy="0"/>
          </a:xfrm>
          <a:prstGeom prst="line">
            <a:avLst/>
          </a:prstGeom>
          <a:noFill/>
          <a:ln w="19050">
            <a:solidFill>
              <a:srgbClr val="37415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88720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89504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90288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91072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30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91856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40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4297680"/>
            <a:ext cx="0" cy="18288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590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956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frequency [Hz]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92640" y="3877056"/>
            <a:ext cx="0" cy="960120"/>
          </a:xfrm>
          <a:prstGeom prst="line">
            <a:avLst/>
          </a:prstGeom>
          <a:noFill/>
          <a:ln w="25400">
            <a:solidFill>
              <a:srgbClr val="E157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79408" y="3703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15759"/>
                </a:solidFill>
              </a:rPr>
              <a:t>Nyquist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34440" y="5440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74151"/>
                </a:solidFill>
              </a:rPr>
              <a:t>Above 50 Hz, components do not disappear harmlessly — they can alias into lower frequencies.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duration controls frequency resolution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Longer windows separate nearby frequencies more finely, but localize changes less precisely in time.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1 s window  →  Δf = 1 Hz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97280" y="49743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10.0 and 10.8 Hz are difficult to distinguish.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4 s window  →  Δf = 0.25 Hz</a:t>
            </a:r>
            <a:endParaRPr lang="en-US" sz="18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715000" y="1874520"/>
          <a:ext cx="44805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035040" y="49743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nearby components become more separable.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103120" y="5669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6C11F"/>
                </a:solidFill>
              </a:rPr>
              <a:t>Trade-off: frequency resolution ↑  ↔  temporal localization ↓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features will we extract?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Interpret the spectrum as engineering information, not just as a plot.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499616"/>
            <a:ext cx="73152" cy="1472184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6459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Dominant frequency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696" y="2075688"/>
            <a:ext cx="26060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Where is the strongest spectral component?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069080" y="148132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87368" y="1499616"/>
            <a:ext cx="73152" cy="147218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16459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Band power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8536" y="2075688"/>
            <a:ext cx="26060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How much energy lies inside a chosen frequency interval?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60920" y="1481328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79208" y="1499616"/>
            <a:ext cx="73152" cy="1472184"/>
          </a:xfrm>
          <a:prstGeom prst="rect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0376" y="16459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Relative band power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80376" y="2075688"/>
            <a:ext cx="2606040" cy="7498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Band power / total power — less dependent on overall amplitude.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34930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Teaching bands for the synthetic 100 Hz signal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4041648"/>
            <a:ext cx="2788920" cy="749808"/>
          </a:xfrm>
          <a:prstGeom prst="rect">
            <a:avLst/>
          </a:prstGeom>
          <a:solidFill>
            <a:srgbClr val="CFE5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0–15 Hz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low band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31920" y="4041648"/>
            <a:ext cx="2788920" cy="749808"/>
          </a:xfrm>
          <a:prstGeom prst="rect">
            <a:avLst/>
          </a:prstGeom>
          <a:solidFill>
            <a:srgbClr val="A9D1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15–30 Hz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mid band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95160" y="4041648"/>
            <a:ext cx="2788920" cy="749808"/>
          </a:xfrm>
          <a:prstGeom prst="rect">
            <a:avLst/>
          </a:prstGeom>
          <a:solidFill>
            <a:srgbClr val="70AD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30–50 Hz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 band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52120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</a:rPr>
              <a:t>Fault-like synthetic windows are designed to show stronger harmonics and higher-band energy.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51560" y="57150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6C11F"/>
                </a:solidFill>
              </a:rPr>
              <a:t>Band definitions should come from physical knowledge or later validation — not from the test set.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Spectral leakage and the Hann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Finite windows can spread energy across nearby frequency bins.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04672" y="1481328"/>
          <a:ext cx="59893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27632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96328" y="1645920"/>
            <a:ext cx="73152" cy="153619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97496" y="179222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Without window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97496" y="2221992"/>
            <a:ext cx="2971800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Boundary discontinuity can create stronger sidelobes: energy appears farther from the true component.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178040" y="3493008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3970">
            <a:solidFill>
              <a:srgbClr val="DDE3D5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96328" y="3511296"/>
            <a:ext cx="73152" cy="1536192"/>
          </a:xfrm>
          <a:prstGeom prst="rect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97496" y="365760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With Hann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97496" y="4087368"/>
            <a:ext cx="2971800" cy="8138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</a:rPr>
              <a:t>Distant leakage is reduced, but the main peak becomes broader.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178040" y="53766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Cleaner spectrum away from the peak  ↔  slightly poorer separation of very close frequencies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6C1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Work in pairs; focus on interpreting every plot and feature.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96112" y="143560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270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Sampling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401568" y="141732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Compute Δt and Nyquist.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96112" y="207568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671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FFT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401568" y="205740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Build the physical frequency axis.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96112" y="271576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0720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Resolution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401568" y="269748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Compare 1 s and 4 s windows.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96112" y="335584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4728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Features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3401568" y="333756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Extract dominant frequency and band powers.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96112" y="399592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08736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Leakage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401568" y="397764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Compare raw and Hann-windowed spectra.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96112" y="463600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72744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4617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Feature table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401568" y="461772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Combine RMS/statistics with spectral features.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96112" y="5276088"/>
            <a:ext cx="411480" cy="411480"/>
          </a:xfrm>
          <a:prstGeom prst="ellipse">
            <a:avLst/>
          </a:prstGeom>
          <a:solidFill>
            <a:srgbClr val="86C11F"/>
          </a:solidFill>
          <a:ln w="12700">
            <a:solidFill>
              <a:srgbClr val="86C1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367528"/>
            <a:ext cx="411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08760" y="5257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4151"/>
                </a:solidFill>
              </a:rPr>
              <a:t>Interpret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3401568" y="5257800"/>
            <a:ext cx="6537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Explain what is gained and what is lost.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995160" y="5779008"/>
            <a:ext cx="3383280" cy="438912"/>
          </a:xfrm>
          <a:prstGeom prst="roundRect">
            <a:avLst/>
          </a:prstGeom>
          <a:solidFill>
            <a:srgbClr val="F3F8EA"/>
          </a:solidFill>
          <a:ln w="12700">
            <a:solidFill>
              <a:srgbClr val="C8DE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5897880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6C11F"/>
                </a:solidFill>
              </a:rPr>
              <a:t>No classifier is required in this lab.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49224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7CB342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3B — From vibration signals to spectral features</dc:title>
  <dc:subject>Lab 3B — Frequency-domain features</dc:subject>
  <dc:creator>OpenAI</dc:creator>
  <cp:lastModifiedBy>OpenAI</cp:lastModifiedBy>
  <cp:revision>1</cp:revision>
  <dcterms:created xsi:type="dcterms:W3CDTF">2026-10-22T12:47:21Z</dcterms:created>
  <dcterms:modified xsi:type="dcterms:W3CDTF">2026-10-22T12:47:21Z</dcterms:modified>
</cp:coreProperties>
</file>