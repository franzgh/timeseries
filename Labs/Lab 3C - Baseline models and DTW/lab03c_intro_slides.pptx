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5975" cy="6858000"/>
          </a:xfrm>
          <a:prstGeom prst="roundRect">
            <a:avLst>
              <a:gd name="adj" fmla="val 8940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0"/>
            <a:ext cx="265176" cy="6858000"/>
          </a:xfrm>
          <a:prstGeom prst="roundRect">
            <a:avLst>
              <a:gd name="adj" fmla="val 24138"/>
            </a:avLst>
          </a:prstGeom>
          <a:solidFill>
            <a:srgbClr val="D8EBBB"/>
          </a:solidFill>
          <a:ln w="11430">
            <a:solidFill>
              <a:srgbClr val="D8E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5992" y="0"/>
            <a:ext cx="109728" cy="6858000"/>
          </a:xfrm>
          <a:prstGeom prst="roundRect">
            <a:avLst>
              <a:gd name="adj" fmla="val 58333"/>
            </a:avLst>
          </a:prstGeom>
          <a:solidFill>
            <a:srgbClr val="6CA742"/>
          </a:solidFill>
          <a:ln w="11430">
            <a:solidFill>
              <a:srgbClr val="6CA7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519672"/>
            <a:ext cx="10332720" cy="0"/>
          </a:xfrm>
          <a:prstGeom prst="line">
            <a:avLst/>
          </a:prstGeom>
          <a:noFill/>
          <a:ln w="11430">
            <a:solidFill>
              <a:srgbClr val="D9E3E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67512" y="6583680"/>
            <a:ext cx="603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3C   |   Lecture 3, slides 96–168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07040" y="6574536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9224" y="1207008"/>
            <a:ext cx="100584" cy="4325112"/>
          </a:xfrm>
          <a:prstGeom prst="roundRect">
            <a:avLst>
              <a:gd name="adj" fmla="val 63636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3807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0976" y="1847088"/>
            <a:ext cx="9372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temporal features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engineering decisions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950976" y="369417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Conventional ML  •  Dynamic Time Warping  •  Fair comparison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50976" y="4663440"/>
            <a:ext cx="9144000" cy="777240"/>
          </a:xfrm>
          <a:prstGeom prst="roundRect">
            <a:avLst>
              <a:gd name="adj" fmla="val 8235"/>
            </a:avLst>
          </a:prstGeom>
          <a:solidFill>
            <a:srgbClr val="F4F9ED"/>
          </a:solidFill>
          <a:ln w="11430">
            <a:solidFill>
              <a:srgbClr val="D8E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8737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hands-on investigations: next-hour demand, fault classification, and variable-speed transients.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5879592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Strategic Engineering MSc  |  Self-contained synthetic data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5975" cy="6858000"/>
          </a:xfrm>
          <a:prstGeom prst="roundRect">
            <a:avLst>
              <a:gd name="adj" fmla="val 8940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0"/>
            <a:ext cx="265176" cy="6858000"/>
          </a:xfrm>
          <a:prstGeom prst="roundRect">
            <a:avLst>
              <a:gd name="adj" fmla="val 24138"/>
            </a:avLst>
          </a:prstGeom>
          <a:solidFill>
            <a:srgbClr val="D8EBBB"/>
          </a:solidFill>
          <a:ln w="11430">
            <a:solidFill>
              <a:srgbClr val="D8E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5992" y="0"/>
            <a:ext cx="109728" cy="6858000"/>
          </a:xfrm>
          <a:prstGeom prst="roundRect">
            <a:avLst>
              <a:gd name="adj" fmla="val 58333"/>
            </a:avLst>
          </a:prstGeom>
          <a:solidFill>
            <a:srgbClr val="6CA742"/>
          </a:solidFill>
          <a:ln w="11430">
            <a:solidFill>
              <a:srgbClr val="6CA7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8056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three learning goals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10222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feature vector to a defensible operational choice.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519672"/>
            <a:ext cx="10332720" cy="0"/>
          </a:xfrm>
          <a:prstGeom prst="line">
            <a:avLst/>
          </a:prstGeom>
          <a:noFill/>
          <a:ln w="11430">
            <a:solidFill>
              <a:srgbClr val="D9E3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67512" y="6583680"/>
            <a:ext cx="603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3C   |   Lecture 3, slides 96–168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574536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4944" y="1691640"/>
            <a:ext cx="3227832" cy="3182112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01952"/>
            <a:ext cx="493776" cy="493776"/>
          </a:xfrm>
          <a:prstGeom prst="ellipse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2024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23544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models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23544" y="3246120"/>
            <a:ext cx="27157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persistence, Ridge, logistic regression, a decision tree, random forest and boosting.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97096" y="1691640"/>
            <a:ext cx="3227832" cy="3182112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5696" y="1901952"/>
            <a:ext cx="493776" cy="493776"/>
          </a:xfrm>
          <a:prstGeom prst="ellipse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192024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425696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similarity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25696" y="3246120"/>
            <a:ext cx="27157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fixed Euclidean distance with constrained DTW and nearest-neighbour classification.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99248" y="1691640"/>
            <a:ext cx="3227832" cy="3182112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27848" y="1901952"/>
            <a:ext cx="493776" cy="493776"/>
          </a:xfrm>
          <a:prstGeom prst="ellipse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27848" y="192024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927848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engineering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927848" y="3246120"/>
            <a:ext cx="27157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valid splits and multiple metrics. Explain improvement, failure modes, cost and complexity.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6384" y="5248656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rule: compare models on the same task, target, inputs and held-out examples.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5975" cy="6858000"/>
          </a:xfrm>
          <a:prstGeom prst="roundRect">
            <a:avLst>
              <a:gd name="adj" fmla="val 8940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0"/>
            <a:ext cx="265176" cy="6858000"/>
          </a:xfrm>
          <a:prstGeom prst="roundRect">
            <a:avLst>
              <a:gd name="adj" fmla="val 24138"/>
            </a:avLst>
          </a:prstGeom>
          <a:solidFill>
            <a:srgbClr val="D8EBBB"/>
          </a:solidFill>
          <a:ln w="11430">
            <a:solidFill>
              <a:srgbClr val="D8E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5992" y="0"/>
            <a:ext cx="109728" cy="6858000"/>
          </a:xfrm>
          <a:prstGeom prst="roundRect">
            <a:avLst>
              <a:gd name="adj" fmla="val 58333"/>
            </a:avLst>
          </a:prstGeom>
          <a:solidFill>
            <a:srgbClr val="6CA742"/>
          </a:solidFill>
          <a:ln w="11430">
            <a:solidFill>
              <a:srgbClr val="6CA7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8056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prediction problems, two split designs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10222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partition must match how the system will be used.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519672"/>
            <a:ext cx="10332720" cy="0"/>
          </a:xfrm>
          <a:prstGeom prst="line">
            <a:avLst/>
          </a:prstGeom>
          <a:noFill/>
          <a:ln w="11430">
            <a:solidFill>
              <a:srgbClr val="D9E3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67512" y="6583680"/>
            <a:ext cx="603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3C   |   Lecture 3, slides 96–168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574536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15453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· NEXT-HOUR FORECAST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1892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continuous hourly recording → chronological split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2350008"/>
            <a:ext cx="5486400" cy="713232"/>
          </a:xfrm>
          <a:prstGeom prst="roundRect">
            <a:avLst>
              <a:gd name="adj" fmla="val 8974"/>
            </a:avLst>
          </a:prstGeom>
          <a:solidFill>
            <a:srgbClr val="EDF3FB"/>
          </a:solidFill>
          <a:ln w="11430">
            <a:solidFill>
              <a:srgbClr val="4B7E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246888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" y="2761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60%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350008"/>
            <a:ext cx="2029968" cy="713232"/>
          </a:xfrm>
          <a:prstGeom prst="roundRect">
            <a:avLst>
              <a:gd name="adj" fmla="val 8974"/>
            </a:avLst>
          </a:prstGeom>
          <a:solidFill>
            <a:srgbClr val="F4F9ED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246888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55664" y="276148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20%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40496" y="2350008"/>
            <a:ext cx="2194560" cy="713232"/>
          </a:xfrm>
          <a:prstGeom prst="roundRect">
            <a:avLst>
              <a:gd name="adj" fmla="val 8974"/>
            </a:avLst>
          </a:prstGeom>
          <a:solidFill>
            <a:srgbClr val="FFF3E5"/>
          </a:solidFill>
          <a:ln w="11430">
            <a:solidFill>
              <a:srgbClr val="E993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2468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41080" y="27614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20%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3502152"/>
            <a:ext cx="9418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· VIBRATION-WINDOW CLASSIFICATION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" y="3849624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recording run contains related windows → split by run ID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" y="4315968"/>
            <a:ext cx="2359152" cy="841248"/>
          </a:xfrm>
          <a:prstGeom prst="roundRect">
            <a:avLst>
              <a:gd name="adj" fmla="val 7609"/>
            </a:avLst>
          </a:prstGeom>
          <a:solidFill>
            <a:srgbClr val="EDF3FB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4439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0392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W1  W2  W3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46704" y="4315968"/>
            <a:ext cx="2359152" cy="841248"/>
          </a:xfrm>
          <a:prstGeom prst="roundRect">
            <a:avLst>
              <a:gd name="adj" fmla="val 7609"/>
            </a:avLst>
          </a:prstGeom>
          <a:solidFill>
            <a:srgbClr val="F4F9ED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83864" y="44439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483864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W1  W2  W3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89320" y="4315968"/>
            <a:ext cx="2359152" cy="841248"/>
          </a:xfrm>
          <a:prstGeom prst="roundRect">
            <a:avLst>
              <a:gd name="adj" fmla="val 7609"/>
            </a:avLst>
          </a:prstGeom>
          <a:solidFill>
            <a:srgbClr val="FFF3E5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44439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12648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W1  W2  W3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" y="56418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spread related windows from the same recording across partitions.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5975" cy="6858000"/>
          </a:xfrm>
          <a:prstGeom prst="roundRect">
            <a:avLst>
              <a:gd name="adj" fmla="val 8940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0"/>
            <a:ext cx="265176" cy="6858000"/>
          </a:xfrm>
          <a:prstGeom prst="roundRect">
            <a:avLst>
              <a:gd name="adj" fmla="val 24138"/>
            </a:avLst>
          </a:prstGeom>
          <a:solidFill>
            <a:srgbClr val="D8EBBB"/>
          </a:solidFill>
          <a:ln w="11430">
            <a:solidFill>
              <a:srgbClr val="D8E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5992" y="0"/>
            <a:ext cx="109728" cy="6858000"/>
          </a:xfrm>
          <a:prstGeom prst="roundRect">
            <a:avLst>
              <a:gd name="adj" fmla="val 58333"/>
            </a:avLst>
          </a:prstGeom>
          <a:solidFill>
            <a:srgbClr val="6CA742"/>
          </a:solidFill>
          <a:ln w="11430">
            <a:solidFill>
              <a:srgbClr val="6CA7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8056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baseline ladder for next-hour forecasting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10222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prediction target: demand at t+1. Use validation MAE.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519672"/>
            <a:ext cx="10332720" cy="0"/>
          </a:xfrm>
          <a:prstGeom prst="line">
            <a:avLst/>
          </a:prstGeom>
          <a:noFill/>
          <a:ln w="11430">
            <a:solidFill>
              <a:srgbClr val="D9E3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67512" y="6583680"/>
            <a:ext cx="603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3C   |   Lecture 3, slides 96–168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574536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9857232" cy="786384"/>
          </a:xfrm>
          <a:prstGeom prst="roundRect">
            <a:avLst>
              <a:gd name="adj" fmla="val 8140"/>
            </a:avLst>
          </a:prstGeom>
          <a:solidFill>
            <a:srgbClr val="EDF3FB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508760"/>
            <a:ext cx="612648" cy="786384"/>
          </a:xfrm>
          <a:prstGeom prst="roundRect">
            <a:avLst>
              <a:gd name="adj" fmla="val 10448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170078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90472" y="1627632"/>
            <a:ext cx="22768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58184" y="1655064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demand[t] only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93408" y="1627632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simple continuity explain?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2523744"/>
            <a:ext cx="9857232" cy="786384"/>
          </a:xfrm>
          <a:prstGeom prst="roundRect">
            <a:avLst>
              <a:gd name="adj" fmla="val 8140"/>
            </a:avLst>
          </a:prstGeom>
          <a:solidFill>
            <a:srgbClr val="F4F9ED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523744"/>
            <a:ext cx="612648" cy="786384"/>
          </a:xfrm>
          <a:prstGeom prst="roundRect">
            <a:avLst>
              <a:gd name="adj" fmla="val 10448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27157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90472" y="2642616"/>
            <a:ext cx="22768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on lags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58184" y="267004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past demand values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93408" y="2642616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learned lag weights help?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538728"/>
            <a:ext cx="9857232" cy="786384"/>
          </a:xfrm>
          <a:prstGeom prst="roundRect">
            <a:avLst>
              <a:gd name="adj" fmla="val 8140"/>
            </a:avLst>
          </a:prstGeom>
          <a:solidFill>
            <a:srgbClr val="F4F9ED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538728"/>
            <a:ext cx="612648" cy="786384"/>
          </a:xfrm>
          <a:prstGeom prst="roundRect">
            <a:avLst>
              <a:gd name="adj" fmla="val 10448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" y="37307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90472" y="3657600"/>
            <a:ext cx="22768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+ features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58184" y="3685032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lags, rolling, temperature, calendar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93408" y="3657600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additional features and information help?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4553712"/>
            <a:ext cx="9857232" cy="786384"/>
          </a:xfrm>
          <a:prstGeom prst="roundRect">
            <a:avLst>
              <a:gd name="adj" fmla="val 8140"/>
            </a:avLst>
          </a:prstGeom>
          <a:solidFill>
            <a:srgbClr val="FFF3E5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553712"/>
            <a:ext cx="612648" cy="786384"/>
          </a:xfrm>
          <a:prstGeom prst="roundRect">
            <a:avLst>
              <a:gd name="adj" fmla="val 10448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" y="474573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90472" y="4672584"/>
            <a:ext cx="22768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 + features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758184" y="4700016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same input columns as step 03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93408" y="4672584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model nonlinearity help?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8952" y="57698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Caution: steps 02 → 03 also add permitted contextual information; they are not a pure feature-engineering ablation.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5975" cy="6858000"/>
          </a:xfrm>
          <a:prstGeom prst="roundRect">
            <a:avLst>
              <a:gd name="adj" fmla="val 8940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0"/>
            <a:ext cx="265176" cy="6858000"/>
          </a:xfrm>
          <a:prstGeom prst="roundRect">
            <a:avLst>
              <a:gd name="adj" fmla="val 24138"/>
            </a:avLst>
          </a:prstGeom>
          <a:solidFill>
            <a:srgbClr val="D8EBBB"/>
          </a:solidFill>
          <a:ln w="11430">
            <a:solidFill>
              <a:srgbClr val="D8E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5992" y="0"/>
            <a:ext cx="109728" cy="6858000"/>
          </a:xfrm>
          <a:prstGeom prst="roundRect">
            <a:avLst>
              <a:gd name="adj" fmla="val 58333"/>
            </a:avLst>
          </a:prstGeom>
          <a:solidFill>
            <a:srgbClr val="6CA742"/>
          </a:solidFill>
          <a:ln w="11430">
            <a:solidFill>
              <a:srgbClr val="6CA7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8056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Fault classification from vibration features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10222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raw vibration segment becomes a tabular input vector.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519672"/>
            <a:ext cx="10332720" cy="0"/>
          </a:xfrm>
          <a:prstGeom prst="line">
            <a:avLst/>
          </a:prstGeom>
          <a:noFill/>
          <a:ln w="11430">
            <a:solidFill>
              <a:srgbClr val="D9E3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67512" y="6583680"/>
            <a:ext cx="603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3C   |   Lecture 3, slides 96–168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574536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" y="2011680"/>
            <a:ext cx="240487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011680"/>
            <a:ext cx="2404872" cy="109728"/>
          </a:xfrm>
          <a:prstGeom prst="roundRect">
            <a:avLst>
              <a:gd name="adj" fmla="val 58333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35000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 waveform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3017520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vibration frames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72968" y="2825496"/>
            <a:ext cx="201168" cy="228600"/>
          </a:xfrm>
          <a:prstGeom prst="chevron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0712" y="2011680"/>
            <a:ext cx="240487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0712" y="2011680"/>
            <a:ext cx="2404872" cy="109728"/>
          </a:xfrm>
          <a:prstGeom prst="roundRect">
            <a:avLst>
              <a:gd name="adj" fmla="val 58333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35000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/ spectral features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66160" y="3017520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RMS, max, band ratios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70448" y="2825496"/>
            <a:ext cx="201168" cy="228600"/>
          </a:xfrm>
          <a:prstGeom prst="chevron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08192" y="2011680"/>
            <a:ext cx="240487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2011680"/>
            <a:ext cx="2404872" cy="109728"/>
          </a:xfrm>
          <a:prstGeom prst="roundRect">
            <a:avLst>
              <a:gd name="adj" fmla="val 58333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235000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Conventional classifier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3017520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/ Tree / Forest / Boosting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67928" y="2825496"/>
            <a:ext cx="201168" cy="228600"/>
          </a:xfrm>
          <a:prstGeom prst="chevron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05672" y="2011680"/>
            <a:ext cx="240487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05672" y="2011680"/>
            <a:ext cx="2404872" cy="109728"/>
          </a:xfrm>
          <a:prstGeom prst="roundRect">
            <a:avLst>
              <a:gd name="adj" fmla="val 58333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88552" y="235000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Fault decision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961120" y="3017520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 + threshold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3232" y="4398264"/>
            <a:ext cx="4818888" cy="996696"/>
          </a:xfrm>
          <a:prstGeom prst="roundRect">
            <a:avLst>
              <a:gd name="adj" fmla="val 6422"/>
            </a:avLst>
          </a:prstGeom>
          <a:solidFill>
            <a:srgbClr val="EDF3FB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45445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matters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41832" y="491032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threshold: more detections, possibly more false alarms.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760720" y="4398264"/>
            <a:ext cx="5440680" cy="996696"/>
          </a:xfrm>
          <a:prstGeom prst="roundRect">
            <a:avLst>
              <a:gd name="adj" fmla="val 6422"/>
            </a:avLst>
          </a:prstGeom>
          <a:solidFill>
            <a:srgbClr val="F4F9ED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454456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alone is insufficient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989320" y="4910328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fault precision, recall, F1 and confusion matrix.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5975" cy="6858000"/>
          </a:xfrm>
          <a:prstGeom prst="roundRect">
            <a:avLst>
              <a:gd name="adj" fmla="val 8940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0"/>
            <a:ext cx="265176" cy="6858000"/>
          </a:xfrm>
          <a:prstGeom prst="roundRect">
            <a:avLst>
              <a:gd name="adj" fmla="val 24138"/>
            </a:avLst>
          </a:prstGeom>
          <a:solidFill>
            <a:srgbClr val="D8EBBB"/>
          </a:solidFill>
          <a:ln w="11430">
            <a:solidFill>
              <a:srgbClr val="D8E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5992" y="0"/>
            <a:ext cx="109728" cy="6858000"/>
          </a:xfrm>
          <a:prstGeom prst="roundRect">
            <a:avLst>
              <a:gd name="adj" fmla="val 58333"/>
            </a:avLst>
          </a:prstGeom>
          <a:solidFill>
            <a:srgbClr val="6CA742"/>
          </a:solidFill>
          <a:ln w="11430">
            <a:solidFill>
              <a:srgbClr val="6CA7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8056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validation set selects the decision rule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10222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and its probability threshold jointly determine the classifier.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519672"/>
            <a:ext cx="10332720" cy="0"/>
          </a:xfrm>
          <a:prstGeom prst="line">
            <a:avLst/>
          </a:prstGeom>
          <a:noFill/>
          <a:ln w="11430">
            <a:solidFill>
              <a:srgbClr val="D9E3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67512" y="6583680"/>
            <a:ext cx="603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3C   |   Lecture 3, slides 96–168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574536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627632"/>
            <a:ext cx="320040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627632"/>
            <a:ext cx="68580" cy="1975104"/>
          </a:xfrm>
          <a:prstGeom prst="roundRect">
            <a:avLst>
              <a:gd name="adj" fmla="val 93333"/>
            </a:avLst>
          </a:prstGeom>
          <a:solidFill>
            <a:srgbClr val="4B7EBB"/>
          </a:solidFill>
          <a:ln w="11430">
            <a:solidFill>
              <a:srgbClr val="4B7E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837944"/>
            <a:ext cx="2788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Majority baseline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0976" y="2258568"/>
            <a:ext cx="2788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Predicts “normal” for everyone. May have reasonable accuracy but zero fault recall.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96512" y="1627632"/>
            <a:ext cx="3182112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96512" y="1627632"/>
            <a:ext cx="68580" cy="1975104"/>
          </a:xfrm>
          <a:prstGeom prst="roundRect">
            <a:avLst>
              <a:gd name="adj" fmla="val 93333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837944"/>
            <a:ext cx="2770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97680" y="2258568"/>
            <a:ext cx="2770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fault probability. Try thresholds on validation, not on test.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34072" y="1627632"/>
            <a:ext cx="3163824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1627632"/>
            <a:ext cx="68580" cy="1975104"/>
          </a:xfrm>
          <a:prstGeom prst="roundRect">
            <a:avLst>
              <a:gd name="adj" fmla="val 93333"/>
            </a:avLst>
          </a:prstGeom>
          <a:solidFill>
            <a:srgbClr val="E99339"/>
          </a:solidFill>
          <a:ln w="11430">
            <a:solidFill>
              <a:srgbClr val="E993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837944"/>
            <a:ext cx="2752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ensembles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35240" y="2258568"/>
            <a:ext cx="27523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learn nonlinear thresholds and interactions from engineered features.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16966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 = choose both model and decision threshold using validation only.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77240" y="4828032"/>
            <a:ext cx="9793224" cy="722376"/>
          </a:xfrm>
          <a:prstGeom prst="roundRect">
            <a:avLst>
              <a:gd name="adj" fmla="val 8861"/>
            </a:avLst>
          </a:prstGeom>
          <a:solidFill>
            <a:srgbClr val="F4F9ED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501091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frozen → evaluate on unseen recording runs. Report failure modes, not only a winning score.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5975" cy="6858000"/>
          </a:xfrm>
          <a:prstGeom prst="roundRect">
            <a:avLst>
              <a:gd name="adj" fmla="val 8940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0"/>
            <a:ext cx="265176" cy="6858000"/>
          </a:xfrm>
          <a:prstGeom prst="roundRect">
            <a:avLst>
              <a:gd name="adj" fmla="val 24138"/>
            </a:avLst>
          </a:prstGeom>
          <a:solidFill>
            <a:srgbClr val="D8EBBB"/>
          </a:solidFill>
          <a:ln w="11430">
            <a:solidFill>
              <a:srgbClr val="D8E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5992" y="0"/>
            <a:ext cx="109728" cy="6858000"/>
          </a:xfrm>
          <a:prstGeom prst="roundRect">
            <a:avLst>
              <a:gd name="adj" fmla="val 58333"/>
            </a:avLst>
          </a:prstGeom>
          <a:solidFill>
            <a:srgbClr val="6CA742"/>
          </a:solidFill>
          <a:ln w="11430">
            <a:solidFill>
              <a:srgbClr val="6CA7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8056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Euclidean vs DTW: what changes?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10222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event shapes may unfold at different temporal rates.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519672"/>
            <a:ext cx="10332720" cy="0"/>
          </a:xfrm>
          <a:prstGeom prst="line">
            <a:avLst/>
          </a:prstGeom>
          <a:noFill/>
          <a:ln w="11430">
            <a:solidFill>
              <a:srgbClr val="D9E3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67512" y="6583680"/>
            <a:ext cx="603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3C   |   Lecture 3, slides 96–168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574536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453896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Euclidean: fixed point-to-point correspondence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16168" y="145389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DTW: flexible, monotone temporal alignment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0664" y="1892808"/>
            <a:ext cx="472744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16168" y="1892808"/>
            <a:ext cx="472744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" y="3437036"/>
            <a:ext cx="56571" cy="-1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98403" y="3437024"/>
            <a:ext cx="56571" cy="-2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54974" y="3437001"/>
            <a:ext cx="56571" cy="-4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111545" y="3436957"/>
            <a:ext cx="56571" cy="-8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168116" y="3436875"/>
            <a:ext cx="56571" cy="-15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224686" y="3436724"/>
            <a:ext cx="56571" cy="-268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281257" y="3436456"/>
            <a:ext cx="56571" cy="-465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337828" y="3435991"/>
            <a:ext cx="56571" cy="-78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394399" y="3435207"/>
            <a:ext cx="56571" cy="-1289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450970" y="3433918"/>
            <a:ext cx="56571" cy="-206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507541" y="3431856"/>
            <a:ext cx="56571" cy="-321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564112" y="3428646"/>
            <a:ext cx="56571" cy="-486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620683" y="3423782"/>
            <a:ext cx="56571" cy="-7169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677253" y="3416613"/>
            <a:ext cx="56571" cy="-10276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733824" y="3406337"/>
            <a:ext cx="56571" cy="-14319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790395" y="3392018"/>
            <a:ext cx="56571" cy="-19385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846966" y="3372633"/>
            <a:ext cx="56571" cy="-2548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903537" y="3347151"/>
            <a:ext cx="56571" cy="-3250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960108" y="3314646"/>
            <a:ext cx="56571" cy="-4019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2016679" y="3274454"/>
            <a:ext cx="56571" cy="-4812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2073250" y="3226332"/>
            <a:ext cx="56571" cy="-55705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2129820" y="3170627"/>
            <a:ext cx="56571" cy="-62216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2186391" y="3108411"/>
            <a:ext cx="56571" cy="-66858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242962" y="3041553"/>
            <a:ext cx="56571" cy="-6885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2299533" y="2972701"/>
            <a:ext cx="56571" cy="-6754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2356104" y="2905159"/>
            <a:ext cx="56571" cy="-6250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2412675" y="2842652"/>
            <a:ext cx="56571" cy="-5365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2469246" y="2789000"/>
            <a:ext cx="56571" cy="-4126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525817" y="2747736"/>
            <a:ext cx="56571" cy="-26009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2582388" y="2721728"/>
            <a:ext cx="56571" cy="-8886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2638958" y="2712842"/>
            <a:ext cx="56571" cy="888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2695529" y="2721729"/>
            <a:ext cx="56571" cy="2601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2752100" y="2747741"/>
            <a:ext cx="56571" cy="4127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2808671" y="2789015"/>
            <a:ext cx="56571" cy="53685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2865242" y="2842700"/>
            <a:ext cx="56571" cy="6260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2921813" y="2905300"/>
            <a:ext cx="56571" cy="6779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2978384" y="2973090"/>
            <a:ext cx="56571" cy="6946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3034955" y="3042552"/>
            <a:ext cx="56571" cy="6824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3091525" y="3110799"/>
            <a:ext cx="56571" cy="6513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3148096" y="3175932"/>
            <a:ext cx="56571" cy="6136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3204667" y="3237293"/>
            <a:ext cx="56571" cy="5822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3261238" y="3295516"/>
            <a:ext cx="56571" cy="5676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317809" y="3352283"/>
            <a:ext cx="56571" cy="5741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3374380" y="3409697"/>
            <a:ext cx="56571" cy="5960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3430951" y="3469301"/>
            <a:ext cx="56571" cy="6166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3487522" y="3530965"/>
            <a:ext cx="56571" cy="6111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3544092" y="3592075"/>
            <a:ext cx="56571" cy="55448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3600663" y="3647523"/>
            <a:ext cx="56571" cy="4323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3657234" y="3690756"/>
            <a:ext cx="56571" cy="24956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3713805" y="3715713"/>
            <a:ext cx="56571" cy="321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3770376" y="3718923"/>
            <a:ext cx="56571" cy="-1803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3826947" y="3700892"/>
            <a:ext cx="56571" cy="-34776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3883518" y="3666116"/>
            <a:ext cx="56571" cy="-4438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3940089" y="3621729"/>
            <a:ext cx="56571" cy="-4632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3996660" y="3575402"/>
            <a:ext cx="56571" cy="-4201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4053230" y="3533392"/>
            <a:ext cx="56571" cy="-3397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4109801" y="3499421"/>
            <a:ext cx="56571" cy="-2482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4166372" y="3474594"/>
            <a:ext cx="56571" cy="-1653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4222943" y="3458063"/>
            <a:ext cx="56571" cy="-1007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4279514" y="3447986"/>
            <a:ext cx="56571" cy="-564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4336085" y="3442342"/>
            <a:ext cx="56571" cy="-291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4392656" y="3439430"/>
            <a:ext cx="56571" cy="-1386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4449227" y="3438044"/>
            <a:ext cx="56571" cy="-609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4505797" y="3437435"/>
            <a:ext cx="56571" cy="-248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4562368" y="3437187"/>
            <a:ext cx="56571" cy="-9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4618939" y="3437094"/>
            <a:ext cx="56571" cy="-3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4675510" y="3437062"/>
            <a:ext cx="56571" cy="-1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4732081" y="3437051"/>
            <a:ext cx="56571" cy="-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4788652" y="3437048"/>
            <a:ext cx="56571" cy="-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4845223" y="3437047"/>
            <a:ext cx="56571" cy="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4901794" y="3437047"/>
            <a:ext cx="56571" cy="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4958364" y="3437047"/>
            <a:ext cx="56571" cy="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5014935" y="3437047"/>
            <a:ext cx="56571" cy="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5071506" y="3437047"/>
            <a:ext cx="56571" cy="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5128077" y="3437047"/>
            <a:ext cx="56571" cy="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941832" y="3437044"/>
            <a:ext cx="56571" cy="-2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998403" y="3437042"/>
            <a:ext cx="56571" cy="-3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1054974" y="3437038"/>
            <a:ext cx="56571" cy="-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1111545" y="3437033"/>
            <a:ext cx="56571" cy="-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1168116" y="3437023"/>
            <a:ext cx="56571" cy="-15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1224686" y="3437008"/>
            <a:ext cx="56571" cy="-2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95" name="Shape 93"/>
          <p:cNvSpPr/>
          <p:nvPr/>
        </p:nvSpPr>
        <p:spPr>
          <a:xfrm>
            <a:off x="1281257" y="3436984"/>
            <a:ext cx="56571" cy="-38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96" name="Shape 94"/>
          <p:cNvSpPr/>
          <p:nvPr/>
        </p:nvSpPr>
        <p:spPr>
          <a:xfrm>
            <a:off x="1337828" y="3436946"/>
            <a:ext cx="56571" cy="-5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1394399" y="3436887"/>
            <a:ext cx="56571" cy="-9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1450970" y="3436797"/>
            <a:ext cx="56571" cy="-13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1507541" y="3436660"/>
            <a:ext cx="56571" cy="-20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1564112" y="3436456"/>
            <a:ext cx="56571" cy="-30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1620683" y="3436154"/>
            <a:ext cx="56571" cy="-43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1677253" y="3435716"/>
            <a:ext cx="56571" cy="-63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1733824" y="3435086"/>
            <a:ext cx="56571" cy="-893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1790395" y="3434193"/>
            <a:ext cx="56571" cy="-124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05" name="Shape 103"/>
          <p:cNvSpPr/>
          <p:nvPr/>
        </p:nvSpPr>
        <p:spPr>
          <a:xfrm>
            <a:off x="1846966" y="3432944"/>
            <a:ext cx="56571" cy="-1723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06" name="Shape 104"/>
          <p:cNvSpPr/>
          <p:nvPr/>
        </p:nvSpPr>
        <p:spPr>
          <a:xfrm>
            <a:off x="1903537" y="3431221"/>
            <a:ext cx="56571" cy="-234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1960108" y="3428875"/>
            <a:ext cx="56571" cy="-315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08" name="Shape 106"/>
          <p:cNvSpPr/>
          <p:nvPr/>
        </p:nvSpPr>
        <p:spPr>
          <a:xfrm>
            <a:off x="2016679" y="3425726"/>
            <a:ext cx="56571" cy="-4172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09" name="Shape 107"/>
          <p:cNvSpPr/>
          <p:nvPr/>
        </p:nvSpPr>
        <p:spPr>
          <a:xfrm>
            <a:off x="2073250" y="3421554"/>
            <a:ext cx="56571" cy="-545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10" name="Shape 108"/>
          <p:cNvSpPr/>
          <p:nvPr/>
        </p:nvSpPr>
        <p:spPr>
          <a:xfrm>
            <a:off x="2129820" y="3416103"/>
            <a:ext cx="56571" cy="-702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11" name="Shape 109"/>
          <p:cNvSpPr/>
          <p:nvPr/>
        </p:nvSpPr>
        <p:spPr>
          <a:xfrm>
            <a:off x="2186391" y="3409082"/>
            <a:ext cx="56571" cy="-891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12" name="Shape 110"/>
          <p:cNvSpPr/>
          <p:nvPr/>
        </p:nvSpPr>
        <p:spPr>
          <a:xfrm>
            <a:off x="2242962" y="3400163"/>
            <a:ext cx="56571" cy="-11168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2299533" y="3388995"/>
            <a:ext cx="56571" cy="-1378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14" name="Shape 112"/>
          <p:cNvSpPr/>
          <p:nvPr/>
        </p:nvSpPr>
        <p:spPr>
          <a:xfrm>
            <a:off x="2356104" y="3375211"/>
            <a:ext cx="56571" cy="-1676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15" name="Shape 113"/>
          <p:cNvSpPr/>
          <p:nvPr/>
        </p:nvSpPr>
        <p:spPr>
          <a:xfrm>
            <a:off x="2412675" y="3358445"/>
            <a:ext cx="56571" cy="-2009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2469246" y="3338356"/>
            <a:ext cx="56571" cy="-2370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17" name="Shape 115"/>
          <p:cNvSpPr/>
          <p:nvPr/>
        </p:nvSpPr>
        <p:spPr>
          <a:xfrm>
            <a:off x="2525817" y="3314646"/>
            <a:ext cx="56571" cy="-2754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18" name="Shape 116"/>
          <p:cNvSpPr/>
          <p:nvPr/>
        </p:nvSpPr>
        <p:spPr>
          <a:xfrm>
            <a:off x="2582388" y="3287098"/>
            <a:ext cx="56571" cy="-31503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19" name="Shape 117"/>
          <p:cNvSpPr/>
          <p:nvPr/>
        </p:nvSpPr>
        <p:spPr>
          <a:xfrm>
            <a:off x="2638958" y="3255595"/>
            <a:ext cx="56571" cy="-3543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20" name="Shape 118"/>
          <p:cNvSpPr/>
          <p:nvPr/>
        </p:nvSpPr>
        <p:spPr>
          <a:xfrm>
            <a:off x="2695529" y="3220158"/>
            <a:ext cx="56571" cy="-3918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21" name="Shape 119"/>
          <p:cNvSpPr/>
          <p:nvPr/>
        </p:nvSpPr>
        <p:spPr>
          <a:xfrm>
            <a:off x="2752100" y="3180971"/>
            <a:ext cx="56571" cy="-4257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2808671" y="3138400"/>
            <a:ext cx="56571" cy="-4538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23" name="Shape 121"/>
          <p:cNvSpPr/>
          <p:nvPr/>
        </p:nvSpPr>
        <p:spPr>
          <a:xfrm>
            <a:off x="2865242" y="3093011"/>
            <a:ext cx="56571" cy="-4744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24" name="Shape 122"/>
          <p:cNvSpPr/>
          <p:nvPr/>
        </p:nvSpPr>
        <p:spPr>
          <a:xfrm>
            <a:off x="2921813" y="3045570"/>
            <a:ext cx="56571" cy="-4853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2978384" y="2997034"/>
            <a:ext cx="56571" cy="-4850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26" name="Shape 124"/>
          <p:cNvSpPr/>
          <p:nvPr/>
        </p:nvSpPr>
        <p:spPr>
          <a:xfrm>
            <a:off x="3034955" y="2948527"/>
            <a:ext cx="56571" cy="-47222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27" name="Shape 125"/>
          <p:cNvSpPr/>
          <p:nvPr/>
        </p:nvSpPr>
        <p:spPr>
          <a:xfrm>
            <a:off x="3091525" y="2901306"/>
            <a:ext cx="56571" cy="-44602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28" name="Shape 126"/>
          <p:cNvSpPr/>
          <p:nvPr/>
        </p:nvSpPr>
        <p:spPr>
          <a:xfrm>
            <a:off x="3148096" y="2856704"/>
            <a:ext cx="56571" cy="-4062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29" name="Shape 127"/>
          <p:cNvSpPr/>
          <p:nvPr/>
        </p:nvSpPr>
        <p:spPr>
          <a:xfrm>
            <a:off x="3204667" y="2816078"/>
            <a:ext cx="56571" cy="-3534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30" name="Shape 128"/>
          <p:cNvSpPr/>
          <p:nvPr/>
        </p:nvSpPr>
        <p:spPr>
          <a:xfrm>
            <a:off x="3261238" y="2780738"/>
            <a:ext cx="56571" cy="-2885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31" name="Shape 129"/>
          <p:cNvSpPr/>
          <p:nvPr/>
        </p:nvSpPr>
        <p:spPr>
          <a:xfrm>
            <a:off x="3317809" y="2751882"/>
            <a:ext cx="56571" cy="-2134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32" name="Shape 130"/>
          <p:cNvSpPr/>
          <p:nvPr/>
        </p:nvSpPr>
        <p:spPr>
          <a:xfrm>
            <a:off x="3374380" y="2730539"/>
            <a:ext cx="56571" cy="-1301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33" name="Shape 131"/>
          <p:cNvSpPr/>
          <p:nvPr/>
        </p:nvSpPr>
        <p:spPr>
          <a:xfrm>
            <a:off x="3430951" y="2717520"/>
            <a:ext cx="56571" cy="-4118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34" name="Shape 132"/>
          <p:cNvSpPr/>
          <p:nvPr/>
        </p:nvSpPr>
        <p:spPr>
          <a:xfrm>
            <a:off x="3487522" y="2713401"/>
            <a:ext cx="56571" cy="513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35" name="Shape 133"/>
          <p:cNvSpPr/>
          <p:nvPr/>
        </p:nvSpPr>
        <p:spPr>
          <a:xfrm>
            <a:off x="3544092" y="2718535"/>
            <a:ext cx="56571" cy="1455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36" name="Shape 134"/>
          <p:cNvSpPr/>
          <p:nvPr/>
        </p:nvSpPr>
        <p:spPr>
          <a:xfrm>
            <a:off x="3600663" y="2733094"/>
            <a:ext cx="56571" cy="2405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37" name="Shape 135"/>
          <p:cNvSpPr/>
          <p:nvPr/>
        </p:nvSpPr>
        <p:spPr>
          <a:xfrm>
            <a:off x="3657234" y="2757152"/>
            <a:ext cx="56571" cy="3362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38" name="Shape 136"/>
          <p:cNvSpPr/>
          <p:nvPr/>
        </p:nvSpPr>
        <p:spPr>
          <a:xfrm>
            <a:off x="3713805" y="2790776"/>
            <a:ext cx="56571" cy="4330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39" name="Shape 137"/>
          <p:cNvSpPr/>
          <p:nvPr/>
        </p:nvSpPr>
        <p:spPr>
          <a:xfrm>
            <a:off x="3770376" y="2834085"/>
            <a:ext cx="56571" cy="5315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40" name="Shape 138"/>
          <p:cNvSpPr/>
          <p:nvPr/>
        </p:nvSpPr>
        <p:spPr>
          <a:xfrm>
            <a:off x="3826947" y="2887235"/>
            <a:ext cx="56571" cy="6303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41" name="Shape 139"/>
          <p:cNvSpPr/>
          <p:nvPr/>
        </p:nvSpPr>
        <p:spPr>
          <a:xfrm>
            <a:off x="3883518" y="2950265"/>
            <a:ext cx="56571" cy="7252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42" name="Shape 140"/>
          <p:cNvSpPr/>
          <p:nvPr/>
        </p:nvSpPr>
        <p:spPr>
          <a:xfrm>
            <a:off x="3940089" y="3022795"/>
            <a:ext cx="56571" cy="8080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43" name="Shape 141"/>
          <p:cNvSpPr/>
          <p:nvPr/>
        </p:nvSpPr>
        <p:spPr>
          <a:xfrm>
            <a:off x="3996660" y="3103602"/>
            <a:ext cx="56571" cy="8662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44" name="Shape 142"/>
          <p:cNvSpPr/>
          <p:nvPr/>
        </p:nvSpPr>
        <p:spPr>
          <a:xfrm>
            <a:off x="4053230" y="3190223"/>
            <a:ext cx="56571" cy="8852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45" name="Shape 143"/>
          <p:cNvSpPr/>
          <p:nvPr/>
        </p:nvSpPr>
        <p:spPr>
          <a:xfrm>
            <a:off x="4109801" y="3278749"/>
            <a:ext cx="56571" cy="85255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46" name="Shape 144"/>
          <p:cNvSpPr/>
          <p:nvPr/>
        </p:nvSpPr>
        <p:spPr>
          <a:xfrm>
            <a:off x="4166372" y="3364005"/>
            <a:ext cx="56571" cy="76185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47" name="Shape 145"/>
          <p:cNvSpPr/>
          <p:nvPr/>
        </p:nvSpPr>
        <p:spPr>
          <a:xfrm>
            <a:off x="4222943" y="3440190"/>
            <a:ext cx="56571" cy="6171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48" name="Shape 146"/>
          <p:cNvSpPr/>
          <p:nvPr/>
        </p:nvSpPr>
        <p:spPr>
          <a:xfrm>
            <a:off x="4279514" y="3501904"/>
            <a:ext cx="56571" cy="43373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49" name="Shape 147"/>
          <p:cNvSpPr/>
          <p:nvPr/>
        </p:nvSpPr>
        <p:spPr>
          <a:xfrm>
            <a:off x="4336085" y="3545277"/>
            <a:ext cx="56571" cy="2356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50" name="Shape 148"/>
          <p:cNvSpPr/>
          <p:nvPr/>
        </p:nvSpPr>
        <p:spPr>
          <a:xfrm>
            <a:off x="4392656" y="3568844"/>
            <a:ext cx="56571" cy="5022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51" name="Shape 149"/>
          <p:cNvSpPr/>
          <p:nvPr/>
        </p:nvSpPr>
        <p:spPr>
          <a:xfrm>
            <a:off x="4449227" y="3573865"/>
            <a:ext cx="56571" cy="-9905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52" name="Shape 150"/>
          <p:cNvSpPr/>
          <p:nvPr/>
        </p:nvSpPr>
        <p:spPr>
          <a:xfrm>
            <a:off x="4505797" y="3563960"/>
            <a:ext cx="56571" cy="-1977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53" name="Shape 151"/>
          <p:cNvSpPr/>
          <p:nvPr/>
        </p:nvSpPr>
        <p:spPr>
          <a:xfrm>
            <a:off x="4562368" y="3544184"/>
            <a:ext cx="56571" cy="-2432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54" name="Shape 152"/>
          <p:cNvSpPr/>
          <p:nvPr/>
        </p:nvSpPr>
        <p:spPr>
          <a:xfrm>
            <a:off x="4618939" y="3519864"/>
            <a:ext cx="56571" cy="-2430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55" name="Shape 153"/>
          <p:cNvSpPr/>
          <p:nvPr/>
        </p:nvSpPr>
        <p:spPr>
          <a:xfrm>
            <a:off x="4675510" y="3495563"/>
            <a:ext cx="56571" cy="-21132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56" name="Shape 154"/>
          <p:cNvSpPr/>
          <p:nvPr/>
        </p:nvSpPr>
        <p:spPr>
          <a:xfrm>
            <a:off x="4732081" y="3474431"/>
            <a:ext cx="56571" cy="-1638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57" name="Shape 155"/>
          <p:cNvSpPr/>
          <p:nvPr/>
        </p:nvSpPr>
        <p:spPr>
          <a:xfrm>
            <a:off x="4788652" y="3458042"/>
            <a:ext cx="56571" cy="-1140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58" name="Shape 156"/>
          <p:cNvSpPr/>
          <p:nvPr/>
        </p:nvSpPr>
        <p:spPr>
          <a:xfrm>
            <a:off x="4845223" y="3446636"/>
            <a:ext cx="56571" cy="-707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59" name="Shape 157"/>
          <p:cNvSpPr/>
          <p:nvPr/>
        </p:nvSpPr>
        <p:spPr>
          <a:xfrm>
            <a:off x="4901794" y="3439565"/>
            <a:ext cx="56571" cy="-3788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60" name="Shape 158"/>
          <p:cNvSpPr/>
          <p:nvPr/>
        </p:nvSpPr>
        <p:spPr>
          <a:xfrm>
            <a:off x="4958364" y="3435777"/>
            <a:ext cx="56571" cy="-159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61" name="Shape 159"/>
          <p:cNvSpPr/>
          <p:nvPr/>
        </p:nvSpPr>
        <p:spPr>
          <a:xfrm>
            <a:off x="5014935" y="3434181"/>
            <a:ext cx="56571" cy="-31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62" name="Shape 160"/>
          <p:cNvSpPr/>
          <p:nvPr/>
        </p:nvSpPr>
        <p:spPr>
          <a:xfrm>
            <a:off x="5071506" y="3433870"/>
            <a:ext cx="56571" cy="325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63" name="Shape 161"/>
          <p:cNvSpPr/>
          <p:nvPr/>
        </p:nvSpPr>
        <p:spPr>
          <a:xfrm>
            <a:off x="5128077" y="3434195"/>
            <a:ext cx="56571" cy="55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164" name="Shape 162"/>
          <p:cNvSpPr/>
          <p:nvPr/>
        </p:nvSpPr>
        <p:spPr>
          <a:xfrm>
            <a:off x="6135624" y="3437036"/>
            <a:ext cx="56571" cy="-1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65" name="Shape 163"/>
          <p:cNvSpPr/>
          <p:nvPr/>
        </p:nvSpPr>
        <p:spPr>
          <a:xfrm>
            <a:off x="6192195" y="3437024"/>
            <a:ext cx="56571" cy="-2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66" name="Shape 164"/>
          <p:cNvSpPr/>
          <p:nvPr/>
        </p:nvSpPr>
        <p:spPr>
          <a:xfrm>
            <a:off x="6248766" y="3437001"/>
            <a:ext cx="56571" cy="-4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67" name="Shape 165"/>
          <p:cNvSpPr/>
          <p:nvPr/>
        </p:nvSpPr>
        <p:spPr>
          <a:xfrm>
            <a:off x="6305337" y="3436957"/>
            <a:ext cx="56571" cy="-8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68" name="Shape 166"/>
          <p:cNvSpPr/>
          <p:nvPr/>
        </p:nvSpPr>
        <p:spPr>
          <a:xfrm>
            <a:off x="6361908" y="3436875"/>
            <a:ext cx="56571" cy="-15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69" name="Shape 167"/>
          <p:cNvSpPr/>
          <p:nvPr/>
        </p:nvSpPr>
        <p:spPr>
          <a:xfrm>
            <a:off x="6418478" y="3436724"/>
            <a:ext cx="56571" cy="-268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70" name="Shape 168"/>
          <p:cNvSpPr/>
          <p:nvPr/>
        </p:nvSpPr>
        <p:spPr>
          <a:xfrm>
            <a:off x="6475049" y="3436456"/>
            <a:ext cx="56571" cy="-465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71" name="Shape 169"/>
          <p:cNvSpPr/>
          <p:nvPr/>
        </p:nvSpPr>
        <p:spPr>
          <a:xfrm>
            <a:off x="6531620" y="3435991"/>
            <a:ext cx="56571" cy="-78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72" name="Shape 170"/>
          <p:cNvSpPr/>
          <p:nvPr/>
        </p:nvSpPr>
        <p:spPr>
          <a:xfrm>
            <a:off x="6588191" y="3435207"/>
            <a:ext cx="56571" cy="-1289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73" name="Shape 171"/>
          <p:cNvSpPr/>
          <p:nvPr/>
        </p:nvSpPr>
        <p:spPr>
          <a:xfrm>
            <a:off x="6644762" y="3433918"/>
            <a:ext cx="56571" cy="-206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74" name="Shape 172"/>
          <p:cNvSpPr/>
          <p:nvPr/>
        </p:nvSpPr>
        <p:spPr>
          <a:xfrm>
            <a:off x="6701333" y="3431856"/>
            <a:ext cx="56571" cy="-321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75" name="Shape 173"/>
          <p:cNvSpPr/>
          <p:nvPr/>
        </p:nvSpPr>
        <p:spPr>
          <a:xfrm>
            <a:off x="6757904" y="3428646"/>
            <a:ext cx="56571" cy="-486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76" name="Shape 174"/>
          <p:cNvSpPr/>
          <p:nvPr/>
        </p:nvSpPr>
        <p:spPr>
          <a:xfrm>
            <a:off x="6814475" y="3423782"/>
            <a:ext cx="56571" cy="-7169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77" name="Shape 175"/>
          <p:cNvSpPr/>
          <p:nvPr/>
        </p:nvSpPr>
        <p:spPr>
          <a:xfrm>
            <a:off x="6871045" y="3416613"/>
            <a:ext cx="56571" cy="-10276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78" name="Shape 176"/>
          <p:cNvSpPr/>
          <p:nvPr/>
        </p:nvSpPr>
        <p:spPr>
          <a:xfrm>
            <a:off x="6927616" y="3406337"/>
            <a:ext cx="56571" cy="-14319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79" name="Shape 177"/>
          <p:cNvSpPr/>
          <p:nvPr/>
        </p:nvSpPr>
        <p:spPr>
          <a:xfrm>
            <a:off x="6984187" y="3392018"/>
            <a:ext cx="56571" cy="-19385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80" name="Shape 178"/>
          <p:cNvSpPr/>
          <p:nvPr/>
        </p:nvSpPr>
        <p:spPr>
          <a:xfrm>
            <a:off x="7040758" y="3372633"/>
            <a:ext cx="56571" cy="-2548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81" name="Shape 179"/>
          <p:cNvSpPr/>
          <p:nvPr/>
        </p:nvSpPr>
        <p:spPr>
          <a:xfrm>
            <a:off x="7097329" y="3347151"/>
            <a:ext cx="56571" cy="-3250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82" name="Shape 180"/>
          <p:cNvSpPr/>
          <p:nvPr/>
        </p:nvSpPr>
        <p:spPr>
          <a:xfrm>
            <a:off x="7153900" y="3314646"/>
            <a:ext cx="56571" cy="-4019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83" name="Shape 181"/>
          <p:cNvSpPr/>
          <p:nvPr/>
        </p:nvSpPr>
        <p:spPr>
          <a:xfrm>
            <a:off x="7210471" y="3274454"/>
            <a:ext cx="56571" cy="-4812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84" name="Shape 182"/>
          <p:cNvSpPr/>
          <p:nvPr/>
        </p:nvSpPr>
        <p:spPr>
          <a:xfrm>
            <a:off x="7267042" y="3226332"/>
            <a:ext cx="56571" cy="-55705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85" name="Shape 183"/>
          <p:cNvSpPr/>
          <p:nvPr/>
        </p:nvSpPr>
        <p:spPr>
          <a:xfrm>
            <a:off x="7323612" y="3170627"/>
            <a:ext cx="56571" cy="-62216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86" name="Shape 184"/>
          <p:cNvSpPr/>
          <p:nvPr/>
        </p:nvSpPr>
        <p:spPr>
          <a:xfrm>
            <a:off x="7380183" y="3108411"/>
            <a:ext cx="56571" cy="-66858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87" name="Shape 185"/>
          <p:cNvSpPr/>
          <p:nvPr/>
        </p:nvSpPr>
        <p:spPr>
          <a:xfrm>
            <a:off x="7436754" y="3041553"/>
            <a:ext cx="56571" cy="-6885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88" name="Shape 186"/>
          <p:cNvSpPr/>
          <p:nvPr/>
        </p:nvSpPr>
        <p:spPr>
          <a:xfrm>
            <a:off x="7493325" y="2972701"/>
            <a:ext cx="56571" cy="-6754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89" name="Shape 187"/>
          <p:cNvSpPr/>
          <p:nvPr/>
        </p:nvSpPr>
        <p:spPr>
          <a:xfrm>
            <a:off x="7549896" y="2905159"/>
            <a:ext cx="56571" cy="-6250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90" name="Shape 188"/>
          <p:cNvSpPr/>
          <p:nvPr/>
        </p:nvSpPr>
        <p:spPr>
          <a:xfrm>
            <a:off x="7606467" y="2842652"/>
            <a:ext cx="56571" cy="-5365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91" name="Shape 189"/>
          <p:cNvSpPr/>
          <p:nvPr/>
        </p:nvSpPr>
        <p:spPr>
          <a:xfrm>
            <a:off x="7663038" y="2789000"/>
            <a:ext cx="56571" cy="-4126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92" name="Shape 190"/>
          <p:cNvSpPr/>
          <p:nvPr/>
        </p:nvSpPr>
        <p:spPr>
          <a:xfrm>
            <a:off x="7719609" y="2747736"/>
            <a:ext cx="56571" cy="-26009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93" name="Shape 191"/>
          <p:cNvSpPr/>
          <p:nvPr/>
        </p:nvSpPr>
        <p:spPr>
          <a:xfrm>
            <a:off x="7776180" y="2721728"/>
            <a:ext cx="56571" cy="-8886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94" name="Shape 192"/>
          <p:cNvSpPr/>
          <p:nvPr/>
        </p:nvSpPr>
        <p:spPr>
          <a:xfrm>
            <a:off x="7832750" y="2712842"/>
            <a:ext cx="56571" cy="888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95" name="Shape 193"/>
          <p:cNvSpPr/>
          <p:nvPr/>
        </p:nvSpPr>
        <p:spPr>
          <a:xfrm>
            <a:off x="7889321" y="2721729"/>
            <a:ext cx="56571" cy="2601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96" name="Shape 194"/>
          <p:cNvSpPr/>
          <p:nvPr/>
        </p:nvSpPr>
        <p:spPr>
          <a:xfrm>
            <a:off x="7945892" y="2747741"/>
            <a:ext cx="56571" cy="4127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97" name="Shape 195"/>
          <p:cNvSpPr/>
          <p:nvPr/>
        </p:nvSpPr>
        <p:spPr>
          <a:xfrm>
            <a:off x="8002463" y="2789015"/>
            <a:ext cx="56571" cy="53685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98" name="Shape 196"/>
          <p:cNvSpPr/>
          <p:nvPr/>
        </p:nvSpPr>
        <p:spPr>
          <a:xfrm>
            <a:off x="8059034" y="2842700"/>
            <a:ext cx="56571" cy="6260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199" name="Shape 197"/>
          <p:cNvSpPr/>
          <p:nvPr/>
        </p:nvSpPr>
        <p:spPr>
          <a:xfrm>
            <a:off x="8115605" y="2905300"/>
            <a:ext cx="56571" cy="6779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00" name="Shape 198"/>
          <p:cNvSpPr/>
          <p:nvPr/>
        </p:nvSpPr>
        <p:spPr>
          <a:xfrm>
            <a:off x="8172176" y="2973090"/>
            <a:ext cx="56571" cy="6946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01" name="Shape 199"/>
          <p:cNvSpPr/>
          <p:nvPr/>
        </p:nvSpPr>
        <p:spPr>
          <a:xfrm>
            <a:off x="8228747" y="3042552"/>
            <a:ext cx="56571" cy="6824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02" name="Shape 200"/>
          <p:cNvSpPr/>
          <p:nvPr/>
        </p:nvSpPr>
        <p:spPr>
          <a:xfrm>
            <a:off x="8285317" y="3110799"/>
            <a:ext cx="56571" cy="6513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03" name="Shape 201"/>
          <p:cNvSpPr/>
          <p:nvPr/>
        </p:nvSpPr>
        <p:spPr>
          <a:xfrm>
            <a:off x="8341888" y="3175932"/>
            <a:ext cx="56571" cy="6136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04" name="Shape 202"/>
          <p:cNvSpPr/>
          <p:nvPr/>
        </p:nvSpPr>
        <p:spPr>
          <a:xfrm>
            <a:off x="8398459" y="3237293"/>
            <a:ext cx="56571" cy="5822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05" name="Shape 203"/>
          <p:cNvSpPr/>
          <p:nvPr/>
        </p:nvSpPr>
        <p:spPr>
          <a:xfrm>
            <a:off x="8455030" y="3295516"/>
            <a:ext cx="56571" cy="5676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06" name="Shape 204"/>
          <p:cNvSpPr/>
          <p:nvPr/>
        </p:nvSpPr>
        <p:spPr>
          <a:xfrm>
            <a:off x="8511601" y="3352283"/>
            <a:ext cx="56571" cy="5741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07" name="Shape 205"/>
          <p:cNvSpPr/>
          <p:nvPr/>
        </p:nvSpPr>
        <p:spPr>
          <a:xfrm>
            <a:off x="8568172" y="3409697"/>
            <a:ext cx="56571" cy="5960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08" name="Shape 206"/>
          <p:cNvSpPr/>
          <p:nvPr/>
        </p:nvSpPr>
        <p:spPr>
          <a:xfrm>
            <a:off x="8624743" y="3469301"/>
            <a:ext cx="56571" cy="6166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09" name="Shape 207"/>
          <p:cNvSpPr/>
          <p:nvPr/>
        </p:nvSpPr>
        <p:spPr>
          <a:xfrm>
            <a:off x="8681314" y="3530965"/>
            <a:ext cx="56571" cy="6111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10" name="Shape 208"/>
          <p:cNvSpPr/>
          <p:nvPr/>
        </p:nvSpPr>
        <p:spPr>
          <a:xfrm>
            <a:off x="8737884" y="3592075"/>
            <a:ext cx="56571" cy="55448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11" name="Shape 209"/>
          <p:cNvSpPr/>
          <p:nvPr/>
        </p:nvSpPr>
        <p:spPr>
          <a:xfrm>
            <a:off x="8794455" y="3647523"/>
            <a:ext cx="56571" cy="4323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12" name="Shape 210"/>
          <p:cNvSpPr/>
          <p:nvPr/>
        </p:nvSpPr>
        <p:spPr>
          <a:xfrm>
            <a:off x="8851026" y="3690756"/>
            <a:ext cx="56571" cy="24956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13" name="Shape 211"/>
          <p:cNvSpPr/>
          <p:nvPr/>
        </p:nvSpPr>
        <p:spPr>
          <a:xfrm>
            <a:off x="8907597" y="3715713"/>
            <a:ext cx="56571" cy="321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14" name="Shape 212"/>
          <p:cNvSpPr/>
          <p:nvPr/>
        </p:nvSpPr>
        <p:spPr>
          <a:xfrm>
            <a:off x="8964168" y="3718923"/>
            <a:ext cx="56571" cy="-1803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15" name="Shape 213"/>
          <p:cNvSpPr/>
          <p:nvPr/>
        </p:nvSpPr>
        <p:spPr>
          <a:xfrm>
            <a:off x="9020739" y="3700892"/>
            <a:ext cx="56571" cy="-34776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16" name="Shape 214"/>
          <p:cNvSpPr/>
          <p:nvPr/>
        </p:nvSpPr>
        <p:spPr>
          <a:xfrm>
            <a:off x="9077310" y="3666116"/>
            <a:ext cx="56571" cy="-4438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17" name="Shape 215"/>
          <p:cNvSpPr/>
          <p:nvPr/>
        </p:nvSpPr>
        <p:spPr>
          <a:xfrm>
            <a:off x="9133881" y="3621729"/>
            <a:ext cx="56571" cy="-4632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18" name="Shape 216"/>
          <p:cNvSpPr/>
          <p:nvPr/>
        </p:nvSpPr>
        <p:spPr>
          <a:xfrm>
            <a:off x="9190452" y="3575402"/>
            <a:ext cx="56571" cy="-4201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19" name="Shape 217"/>
          <p:cNvSpPr/>
          <p:nvPr/>
        </p:nvSpPr>
        <p:spPr>
          <a:xfrm>
            <a:off x="9247022" y="3533392"/>
            <a:ext cx="56571" cy="-3397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20" name="Shape 218"/>
          <p:cNvSpPr/>
          <p:nvPr/>
        </p:nvSpPr>
        <p:spPr>
          <a:xfrm>
            <a:off x="9303593" y="3499421"/>
            <a:ext cx="56571" cy="-2482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21" name="Shape 219"/>
          <p:cNvSpPr/>
          <p:nvPr/>
        </p:nvSpPr>
        <p:spPr>
          <a:xfrm>
            <a:off x="9360164" y="3474594"/>
            <a:ext cx="56571" cy="-1653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22" name="Shape 220"/>
          <p:cNvSpPr/>
          <p:nvPr/>
        </p:nvSpPr>
        <p:spPr>
          <a:xfrm>
            <a:off x="9416735" y="3458063"/>
            <a:ext cx="56571" cy="-10077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23" name="Shape 221"/>
          <p:cNvSpPr/>
          <p:nvPr/>
        </p:nvSpPr>
        <p:spPr>
          <a:xfrm>
            <a:off x="9473306" y="3447986"/>
            <a:ext cx="56571" cy="-5644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24" name="Shape 222"/>
          <p:cNvSpPr/>
          <p:nvPr/>
        </p:nvSpPr>
        <p:spPr>
          <a:xfrm>
            <a:off x="9529877" y="3442342"/>
            <a:ext cx="56571" cy="-291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25" name="Shape 223"/>
          <p:cNvSpPr/>
          <p:nvPr/>
        </p:nvSpPr>
        <p:spPr>
          <a:xfrm>
            <a:off x="9586448" y="3439430"/>
            <a:ext cx="56571" cy="-1386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26" name="Shape 224"/>
          <p:cNvSpPr/>
          <p:nvPr/>
        </p:nvSpPr>
        <p:spPr>
          <a:xfrm>
            <a:off x="9643019" y="3438044"/>
            <a:ext cx="56571" cy="-609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27" name="Shape 225"/>
          <p:cNvSpPr/>
          <p:nvPr/>
        </p:nvSpPr>
        <p:spPr>
          <a:xfrm>
            <a:off x="9699589" y="3437435"/>
            <a:ext cx="56571" cy="-248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28" name="Shape 226"/>
          <p:cNvSpPr/>
          <p:nvPr/>
        </p:nvSpPr>
        <p:spPr>
          <a:xfrm>
            <a:off x="9756160" y="3437187"/>
            <a:ext cx="56571" cy="-9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29" name="Shape 227"/>
          <p:cNvSpPr/>
          <p:nvPr/>
        </p:nvSpPr>
        <p:spPr>
          <a:xfrm>
            <a:off x="9812731" y="3437094"/>
            <a:ext cx="56571" cy="-32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30" name="Shape 228"/>
          <p:cNvSpPr/>
          <p:nvPr/>
        </p:nvSpPr>
        <p:spPr>
          <a:xfrm>
            <a:off x="9869302" y="3437062"/>
            <a:ext cx="56571" cy="-1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31" name="Shape 229"/>
          <p:cNvSpPr/>
          <p:nvPr/>
        </p:nvSpPr>
        <p:spPr>
          <a:xfrm>
            <a:off x="9925873" y="3437051"/>
            <a:ext cx="56571" cy="-3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32" name="Shape 230"/>
          <p:cNvSpPr/>
          <p:nvPr/>
        </p:nvSpPr>
        <p:spPr>
          <a:xfrm>
            <a:off x="9982444" y="3437048"/>
            <a:ext cx="56571" cy="-1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33" name="Shape 231"/>
          <p:cNvSpPr/>
          <p:nvPr/>
        </p:nvSpPr>
        <p:spPr>
          <a:xfrm>
            <a:off x="10039015" y="3437047"/>
            <a:ext cx="56571" cy="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34" name="Shape 232"/>
          <p:cNvSpPr/>
          <p:nvPr/>
        </p:nvSpPr>
        <p:spPr>
          <a:xfrm>
            <a:off x="10095586" y="3437047"/>
            <a:ext cx="56571" cy="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35" name="Shape 233"/>
          <p:cNvSpPr/>
          <p:nvPr/>
        </p:nvSpPr>
        <p:spPr>
          <a:xfrm>
            <a:off x="10152156" y="3437047"/>
            <a:ext cx="56571" cy="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36" name="Shape 234"/>
          <p:cNvSpPr/>
          <p:nvPr/>
        </p:nvSpPr>
        <p:spPr>
          <a:xfrm>
            <a:off x="10208727" y="3437047"/>
            <a:ext cx="56571" cy="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37" name="Shape 235"/>
          <p:cNvSpPr/>
          <p:nvPr/>
        </p:nvSpPr>
        <p:spPr>
          <a:xfrm>
            <a:off x="10265298" y="3437047"/>
            <a:ext cx="56571" cy="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38" name="Shape 236"/>
          <p:cNvSpPr/>
          <p:nvPr/>
        </p:nvSpPr>
        <p:spPr>
          <a:xfrm>
            <a:off x="10321869" y="3437047"/>
            <a:ext cx="56571" cy="0"/>
          </a:xfrm>
          <a:prstGeom prst="line">
            <a:avLst/>
          </a:prstGeom>
          <a:noFill/>
          <a:ln w="26670">
            <a:solidFill>
              <a:srgbClr val="4B7EBB"/>
            </a:solidFill>
            <a:prstDash val="solid"/>
            <a:headEnd type="none"/>
            <a:tailEnd type="none"/>
          </a:ln>
        </p:spPr>
      </p:sp>
      <p:sp>
        <p:nvSpPr>
          <p:cNvPr id="239" name="Shape 237"/>
          <p:cNvSpPr/>
          <p:nvPr/>
        </p:nvSpPr>
        <p:spPr>
          <a:xfrm>
            <a:off x="6135624" y="3437044"/>
            <a:ext cx="56571" cy="-2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40" name="Shape 238"/>
          <p:cNvSpPr/>
          <p:nvPr/>
        </p:nvSpPr>
        <p:spPr>
          <a:xfrm>
            <a:off x="6192195" y="3437042"/>
            <a:ext cx="56571" cy="-3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41" name="Shape 239"/>
          <p:cNvSpPr/>
          <p:nvPr/>
        </p:nvSpPr>
        <p:spPr>
          <a:xfrm>
            <a:off x="6248766" y="3437038"/>
            <a:ext cx="56571" cy="-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42" name="Shape 240"/>
          <p:cNvSpPr/>
          <p:nvPr/>
        </p:nvSpPr>
        <p:spPr>
          <a:xfrm>
            <a:off x="6305337" y="3437033"/>
            <a:ext cx="56571" cy="-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43" name="Shape 241"/>
          <p:cNvSpPr/>
          <p:nvPr/>
        </p:nvSpPr>
        <p:spPr>
          <a:xfrm>
            <a:off x="6361908" y="3437023"/>
            <a:ext cx="56571" cy="-15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44" name="Shape 242"/>
          <p:cNvSpPr/>
          <p:nvPr/>
        </p:nvSpPr>
        <p:spPr>
          <a:xfrm>
            <a:off x="6418478" y="3437008"/>
            <a:ext cx="56571" cy="-2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45" name="Shape 243"/>
          <p:cNvSpPr/>
          <p:nvPr/>
        </p:nvSpPr>
        <p:spPr>
          <a:xfrm>
            <a:off x="6475049" y="3436984"/>
            <a:ext cx="56571" cy="-38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46" name="Shape 244"/>
          <p:cNvSpPr/>
          <p:nvPr/>
        </p:nvSpPr>
        <p:spPr>
          <a:xfrm>
            <a:off x="6531620" y="3436946"/>
            <a:ext cx="56571" cy="-5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47" name="Shape 245"/>
          <p:cNvSpPr/>
          <p:nvPr/>
        </p:nvSpPr>
        <p:spPr>
          <a:xfrm>
            <a:off x="6588191" y="3436887"/>
            <a:ext cx="56571" cy="-9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48" name="Shape 246"/>
          <p:cNvSpPr/>
          <p:nvPr/>
        </p:nvSpPr>
        <p:spPr>
          <a:xfrm>
            <a:off x="6644762" y="3436797"/>
            <a:ext cx="56571" cy="-13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49" name="Shape 247"/>
          <p:cNvSpPr/>
          <p:nvPr/>
        </p:nvSpPr>
        <p:spPr>
          <a:xfrm>
            <a:off x="6701333" y="3436660"/>
            <a:ext cx="56571" cy="-20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50" name="Shape 248"/>
          <p:cNvSpPr/>
          <p:nvPr/>
        </p:nvSpPr>
        <p:spPr>
          <a:xfrm>
            <a:off x="6757904" y="3436456"/>
            <a:ext cx="56571" cy="-30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51" name="Shape 249"/>
          <p:cNvSpPr/>
          <p:nvPr/>
        </p:nvSpPr>
        <p:spPr>
          <a:xfrm>
            <a:off x="6814475" y="3436154"/>
            <a:ext cx="56571" cy="-43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52" name="Shape 250"/>
          <p:cNvSpPr/>
          <p:nvPr/>
        </p:nvSpPr>
        <p:spPr>
          <a:xfrm>
            <a:off x="6871045" y="3435716"/>
            <a:ext cx="56571" cy="-63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53" name="Shape 251"/>
          <p:cNvSpPr/>
          <p:nvPr/>
        </p:nvSpPr>
        <p:spPr>
          <a:xfrm>
            <a:off x="6927616" y="3435086"/>
            <a:ext cx="56571" cy="-893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54" name="Shape 252"/>
          <p:cNvSpPr/>
          <p:nvPr/>
        </p:nvSpPr>
        <p:spPr>
          <a:xfrm>
            <a:off x="6984187" y="3434193"/>
            <a:ext cx="56571" cy="-124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55" name="Shape 253"/>
          <p:cNvSpPr/>
          <p:nvPr/>
        </p:nvSpPr>
        <p:spPr>
          <a:xfrm>
            <a:off x="7040758" y="3432944"/>
            <a:ext cx="56571" cy="-1723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56" name="Shape 254"/>
          <p:cNvSpPr/>
          <p:nvPr/>
        </p:nvSpPr>
        <p:spPr>
          <a:xfrm>
            <a:off x="7097329" y="3431221"/>
            <a:ext cx="56571" cy="-234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57" name="Shape 255"/>
          <p:cNvSpPr/>
          <p:nvPr/>
        </p:nvSpPr>
        <p:spPr>
          <a:xfrm>
            <a:off x="7153900" y="3428875"/>
            <a:ext cx="56571" cy="-315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58" name="Shape 256"/>
          <p:cNvSpPr/>
          <p:nvPr/>
        </p:nvSpPr>
        <p:spPr>
          <a:xfrm>
            <a:off x="7210471" y="3425726"/>
            <a:ext cx="56571" cy="-4172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59" name="Shape 257"/>
          <p:cNvSpPr/>
          <p:nvPr/>
        </p:nvSpPr>
        <p:spPr>
          <a:xfrm>
            <a:off x="7267042" y="3421554"/>
            <a:ext cx="56571" cy="-545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60" name="Shape 258"/>
          <p:cNvSpPr/>
          <p:nvPr/>
        </p:nvSpPr>
        <p:spPr>
          <a:xfrm>
            <a:off x="7323612" y="3416103"/>
            <a:ext cx="56571" cy="-702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61" name="Shape 259"/>
          <p:cNvSpPr/>
          <p:nvPr/>
        </p:nvSpPr>
        <p:spPr>
          <a:xfrm>
            <a:off x="7380183" y="3409082"/>
            <a:ext cx="56571" cy="-891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62" name="Shape 260"/>
          <p:cNvSpPr/>
          <p:nvPr/>
        </p:nvSpPr>
        <p:spPr>
          <a:xfrm>
            <a:off x="7436754" y="3400163"/>
            <a:ext cx="56571" cy="-11168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63" name="Shape 261"/>
          <p:cNvSpPr/>
          <p:nvPr/>
        </p:nvSpPr>
        <p:spPr>
          <a:xfrm>
            <a:off x="7493325" y="3388995"/>
            <a:ext cx="56571" cy="-1378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64" name="Shape 262"/>
          <p:cNvSpPr/>
          <p:nvPr/>
        </p:nvSpPr>
        <p:spPr>
          <a:xfrm>
            <a:off x="7549896" y="3375211"/>
            <a:ext cx="56571" cy="-1676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65" name="Shape 263"/>
          <p:cNvSpPr/>
          <p:nvPr/>
        </p:nvSpPr>
        <p:spPr>
          <a:xfrm>
            <a:off x="7606467" y="3358445"/>
            <a:ext cx="56571" cy="-2009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66" name="Shape 264"/>
          <p:cNvSpPr/>
          <p:nvPr/>
        </p:nvSpPr>
        <p:spPr>
          <a:xfrm>
            <a:off x="7663038" y="3338356"/>
            <a:ext cx="56571" cy="-2370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67" name="Shape 265"/>
          <p:cNvSpPr/>
          <p:nvPr/>
        </p:nvSpPr>
        <p:spPr>
          <a:xfrm>
            <a:off x="7719609" y="3314646"/>
            <a:ext cx="56571" cy="-2754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68" name="Shape 266"/>
          <p:cNvSpPr/>
          <p:nvPr/>
        </p:nvSpPr>
        <p:spPr>
          <a:xfrm>
            <a:off x="7776180" y="3287098"/>
            <a:ext cx="56571" cy="-31503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69" name="Shape 267"/>
          <p:cNvSpPr/>
          <p:nvPr/>
        </p:nvSpPr>
        <p:spPr>
          <a:xfrm>
            <a:off x="7832750" y="3255595"/>
            <a:ext cx="56571" cy="-3543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70" name="Shape 268"/>
          <p:cNvSpPr/>
          <p:nvPr/>
        </p:nvSpPr>
        <p:spPr>
          <a:xfrm>
            <a:off x="7889321" y="3220158"/>
            <a:ext cx="56571" cy="-3918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71" name="Shape 269"/>
          <p:cNvSpPr/>
          <p:nvPr/>
        </p:nvSpPr>
        <p:spPr>
          <a:xfrm>
            <a:off x="7945892" y="3180971"/>
            <a:ext cx="56571" cy="-4257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72" name="Shape 270"/>
          <p:cNvSpPr/>
          <p:nvPr/>
        </p:nvSpPr>
        <p:spPr>
          <a:xfrm>
            <a:off x="8002463" y="3138400"/>
            <a:ext cx="56571" cy="-4538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73" name="Shape 271"/>
          <p:cNvSpPr/>
          <p:nvPr/>
        </p:nvSpPr>
        <p:spPr>
          <a:xfrm>
            <a:off x="8059034" y="3093011"/>
            <a:ext cx="56571" cy="-4744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74" name="Shape 272"/>
          <p:cNvSpPr/>
          <p:nvPr/>
        </p:nvSpPr>
        <p:spPr>
          <a:xfrm>
            <a:off x="8115605" y="3045570"/>
            <a:ext cx="56571" cy="-4853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75" name="Shape 273"/>
          <p:cNvSpPr/>
          <p:nvPr/>
        </p:nvSpPr>
        <p:spPr>
          <a:xfrm>
            <a:off x="8172176" y="2997034"/>
            <a:ext cx="56571" cy="-4850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76" name="Shape 274"/>
          <p:cNvSpPr/>
          <p:nvPr/>
        </p:nvSpPr>
        <p:spPr>
          <a:xfrm>
            <a:off x="8228747" y="2948527"/>
            <a:ext cx="56571" cy="-47222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77" name="Shape 275"/>
          <p:cNvSpPr/>
          <p:nvPr/>
        </p:nvSpPr>
        <p:spPr>
          <a:xfrm>
            <a:off x="8285317" y="2901306"/>
            <a:ext cx="56571" cy="-44602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78" name="Shape 276"/>
          <p:cNvSpPr/>
          <p:nvPr/>
        </p:nvSpPr>
        <p:spPr>
          <a:xfrm>
            <a:off x="8341888" y="2856704"/>
            <a:ext cx="56571" cy="-4062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79" name="Shape 277"/>
          <p:cNvSpPr/>
          <p:nvPr/>
        </p:nvSpPr>
        <p:spPr>
          <a:xfrm>
            <a:off x="8398459" y="2816078"/>
            <a:ext cx="56571" cy="-3534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80" name="Shape 278"/>
          <p:cNvSpPr/>
          <p:nvPr/>
        </p:nvSpPr>
        <p:spPr>
          <a:xfrm>
            <a:off x="8455030" y="2780738"/>
            <a:ext cx="56571" cy="-2885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81" name="Shape 279"/>
          <p:cNvSpPr/>
          <p:nvPr/>
        </p:nvSpPr>
        <p:spPr>
          <a:xfrm>
            <a:off x="8511601" y="2751882"/>
            <a:ext cx="56571" cy="-2134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82" name="Shape 280"/>
          <p:cNvSpPr/>
          <p:nvPr/>
        </p:nvSpPr>
        <p:spPr>
          <a:xfrm>
            <a:off x="8568172" y="2730539"/>
            <a:ext cx="56571" cy="-1301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83" name="Shape 281"/>
          <p:cNvSpPr/>
          <p:nvPr/>
        </p:nvSpPr>
        <p:spPr>
          <a:xfrm>
            <a:off x="8624743" y="2717520"/>
            <a:ext cx="56571" cy="-4118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84" name="Shape 282"/>
          <p:cNvSpPr/>
          <p:nvPr/>
        </p:nvSpPr>
        <p:spPr>
          <a:xfrm>
            <a:off x="8681314" y="2713401"/>
            <a:ext cx="56571" cy="513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85" name="Shape 283"/>
          <p:cNvSpPr/>
          <p:nvPr/>
        </p:nvSpPr>
        <p:spPr>
          <a:xfrm>
            <a:off x="8737884" y="2718535"/>
            <a:ext cx="56571" cy="1455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86" name="Shape 284"/>
          <p:cNvSpPr/>
          <p:nvPr/>
        </p:nvSpPr>
        <p:spPr>
          <a:xfrm>
            <a:off x="8794455" y="2733094"/>
            <a:ext cx="56571" cy="2405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87" name="Shape 285"/>
          <p:cNvSpPr/>
          <p:nvPr/>
        </p:nvSpPr>
        <p:spPr>
          <a:xfrm>
            <a:off x="8851026" y="2757152"/>
            <a:ext cx="56571" cy="3362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88" name="Shape 286"/>
          <p:cNvSpPr/>
          <p:nvPr/>
        </p:nvSpPr>
        <p:spPr>
          <a:xfrm>
            <a:off x="8907597" y="2790776"/>
            <a:ext cx="56571" cy="4330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89" name="Shape 287"/>
          <p:cNvSpPr/>
          <p:nvPr/>
        </p:nvSpPr>
        <p:spPr>
          <a:xfrm>
            <a:off x="8964168" y="2834085"/>
            <a:ext cx="56571" cy="5315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90" name="Shape 288"/>
          <p:cNvSpPr/>
          <p:nvPr/>
        </p:nvSpPr>
        <p:spPr>
          <a:xfrm>
            <a:off x="9020739" y="2887235"/>
            <a:ext cx="56571" cy="6303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91" name="Shape 289"/>
          <p:cNvSpPr/>
          <p:nvPr/>
        </p:nvSpPr>
        <p:spPr>
          <a:xfrm>
            <a:off x="9077310" y="2950265"/>
            <a:ext cx="56571" cy="7252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92" name="Shape 290"/>
          <p:cNvSpPr/>
          <p:nvPr/>
        </p:nvSpPr>
        <p:spPr>
          <a:xfrm>
            <a:off x="9133881" y="3022795"/>
            <a:ext cx="56571" cy="8080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93" name="Shape 291"/>
          <p:cNvSpPr/>
          <p:nvPr/>
        </p:nvSpPr>
        <p:spPr>
          <a:xfrm>
            <a:off x="9190452" y="3103602"/>
            <a:ext cx="56571" cy="8662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94" name="Shape 292"/>
          <p:cNvSpPr/>
          <p:nvPr/>
        </p:nvSpPr>
        <p:spPr>
          <a:xfrm>
            <a:off x="9247022" y="3190223"/>
            <a:ext cx="56571" cy="8852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95" name="Shape 293"/>
          <p:cNvSpPr/>
          <p:nvPr/>
        </p:nvSpPr>
        <p:spPr>
          <a:xfrm>
            <a:off x="9303593" y="3278749"/>
            <a:ext cx="56571" cy="85255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96" name="Shape 294"/>
          <p:cNvSpPr/>
          <p:nvPr/>
        </p:nvSpPr>
        <p:spPr>
          <a:xfrm>
            <a:off x="9360164" y="3364005"/>
            <a:ext cx="56571" cy="76185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97" name="Shape 295"/>
          <p:cNvSpPr/>
          <p:nvPr/>
        </p:nvSpPr>
        <p:spPr>
          <a:xfrm>
            <a:off x="9416735" y="3440190"/>
            <a:ext cx="56571" cy="61714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98" name="Shape 296"/>
          <p:cNvSpPr/>
          <p:nvPr/>
        </p:nvSpPr>
        <p:spPr>
          <a:xfrm>
            <a:off x="9473306" y="3501904"/>
            <a:ext cx="56571" cy="43373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299" name="Shape 297"/>
          <p:cNvSpPr/>
          <p:nvPr/>
        </p:nvSpPr>
        <p:spPr>
          <a:xfrm>
            <a:off x="9529877" y="3545277"/>
            <a:ext cx="56571" cy="2356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00" name="Shape 298"/>
          <p:cNvSpPr/>
          <p:nvPr/>
        </p:nvSpPr>
        <p:spPr>
          <a:xfrm>
            <a:off x="9586448" y="3568844"/>
            <a:ext cx="56571" cy="5022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01" name="Shape 299"/>
          <p:cNvSpPr/>
          <p:nvPr/>
        </p:nvSpPr>
        <p:spPr>
          <a:xfrm>
            <a:off x="9643019" y="3573865"/>
            <a:ext cx="56571" cy="-9905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02" name="Shape 300"/>
          <p:cNvSpPr/>
          <p:nvPr/>
        </p:nvSpPr>
        <p:spPr>
          <a:xfrm>
            <a:off x="9699589" y="3563960"/>
            <a:ext cx="56571" cy="-1977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03" name="Shape 301"/>
          <p:cNvSpPr/>
          <p:nvPr/>
        </p:nvSpPr>
        <p:spPr>
          <a:xfrm>
            <a:off x="9756160" y="3544184"/>
            <a:ext cx="56571" cy="-24320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04" name="Shape 302"/>
          <p:cNvSpPr/>
          <p:nvPr/>
        </p:nvSpPr>
        <p:spPr>
          <a:xfrm>
            <a:off x="9812731" y="3519864"/>
            <a:ext cx="56571" cy="-2430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05" name="Shape 303"/>
          <p:cNvSpPr/>
          <p:nvPr/>
        </p:nvSpPr>
        <p:spPr>
          <a:xfrm>
            <a:off x="9869302" y="3495563"/>
            <a:ext cx="56571" cy="-21132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06" name="Shape 304"/>
          <p:cNvSpPr/>
          <p:nvPr/>
        </p:nvSpPr>
        <p:spPr>
          <a:xfrm>
            <a:off x="9925873" y="3474431"/>
            <a:ext cx="56571" cy="-16389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07" name="Shape 305"/>
          <p:cNvSpPr/>
          <p:nvPr/>
        </p:nvSpPr>
        <p:spPr>
          <a:xfrm>
            <a:off x="9982444" y="3458042"/>
            <a:ext cx="56571" cy="-1140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08" name="Shape 306"/>
          <p:cNvSpPr/>
          <p:nvPr/>
        </p:nvSpPr>
        <p:spPr>
          <a:xfrm>
            <a:off x="10039015" y="3446636"/>
            <a:ext cx="56571" cy="-707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09" name="Shape 307"/>
          <p:cNvSpPr/>
          <p:nvPr/>
        </p:nvSpPr>
        <p:spPr>
          <a:xfrm>
            <a:off x="10095586" y="3439565"/>
            <a:ext cx="56571" cy="-3788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10" name="Shape 308"/>
          <p:cNvSpPr/>
          <p:nvPr/>
        </p:nvSpPr>
        <p:spPr>
          <a:xfrm>
            <a:off x="10152156" y="3435777"/>
            <a:ext cx="56571" cy="-1596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11" name="Shape 309"/>
          <p:cNvSpPr/>
          <p:nvPr/>
        </p:nvSpPr>
        <p:spPr>
          <a:xfrm>
            <a:off x="10208727" y="3434181"/>
            <a:ext cx="56571" cy="-311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12" name="Shape 310"/>
          <p:cNvSpPr/>
          <p:nvPr/>
        </p:nvSpPr>
        <p:spPr>
          <a:xfrm>
            <a:off x="10265298" y="3433870"/>
            <a:ext cx="56571" cy="325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13" name="Shape 311"/>
          <p:cNvSpPr/>
          <p:nvPr/>
        </p:nvSpPr>
        <p:spPr>
          <a:xfrm>
            <a:off x="10321869" y="3434195"/>
            <a:ext cx="56571" cy="557"/>
          </a:xfrm>
          <a:prstGeom prst="line">
            <a:avLst/>
          </a:prstGeom>
          <a:noFill/>
          <a:ln w="26670">
            <a:solidFill>
              <a:srgbClr val="E99339"/>
            </a:solidFill>
            <a:prstDash val="solid"/>
            <a:headEnd type="none"/>
            <a:tailEnd type="none"/>
          </a:ln>
        </p:spPr>
      </p:sp>
      <p:sp>
        <p:nvSpPr>
          <p:cNvPr id="314" name="Text 312"/>
          <p:cNvSpPr/>
          <p:nvPr/>
        </p:nvSpPr>
        <p:spPr>
          <a:xfrm>
            <a:off x="1161288" y="392277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Blue: earlier peak     Orange: later peak</a:t>
            </a:r>
            <a:endParaRPr lang="en-US" sz="1200" dirty="0"/>
          </a:p>
        </p:txBody>
      </p:sp>
      <p:sp>
        <p:nvSpPr>
          <p:cNvPr id="315" name="Text 313"/>
          <p:cNvSpPr/>
          <p:nvPr/>
        </p:nvSpPr>
        <p:spPr>
          <a:xfrm>
            <a:off x="6245352" y="39227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shape, locally shifted / stretched</a:t>
            </a:r>
            <a:endParaRPr lang="en-US" sz="1200" dirty="0"/>
          </a:p>
        </p:txBody>
      </p:sp>
      <p:sp>
        <p:nvSpPr>
          <p:cNvPr id="316" name="Shape 314"/>
          <p:cNvSpPr/>
          <p:nvPr/>
        </p:nvSpPr>
        <p:spPr>
          <a:xfrm>
            <a:off x="923544" y="4754880"/>
            <a:ext cx="4379976" cy="868680"/>
          </a:xfrm>
          <a:prstGeom prst="roundRect">
            <a:avLst>
              <a:gd name="adj" fmla="val 7368"/>
            </a:avLst>
          </a:prstGeom>
          <a:solidFill>
            <a:srgbClr val="EDF3FB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1115568" y="4965192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alignment can produce a large distance for similar shapes.</a:t>
            </a:r>
            <a:endParaRPr lang="en-US" sz="1500" dirty="0"/>
          </a:p>
        </p:txBody>
      </p:sp>
      <p:sp>
        <p:nvSpPr>
          <p:cNvPr id="318" name="Shape 316"/>
          <p:cNvSpPr/>
          <p:nvPr/>
        </p:nvSpPr>
        <p:spPr>
          <a:xfrm>
            <a:off x="6108192" y="4754880"/>
            <a:ext cx="4343400" cy="868680"/>
          </a:xfrm>
          <a:prstGeom prst="roundRect">
            <a:avLst>
              <a:gd name="adj" fmla="val 7368"/>
            </a:avLst>
          </a:prstGeom>
          <a:solidFill>
            <a:srgbClr val="F4F9ED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19" name="Text 317"/>
          <p:cNvSpPr/>
          <p:nvPr/>
        </p:nvSpPr>
        <p:spPr>
          <a:xfrm>
            <a:off x="6309360" y="4937760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DTW finds a low-cost path; a warping band limits unrealistic alignment.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5975" cy="6858000"/>
          </a:xfrm>
          <a:prstGeom prst="roundRect">
            <a:avLst>
              <a:gd name="adj" fmla="val 8940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0"/>
            <a:ext cx="265176" cy="6858000"/>
          </a:xfrm>
          <a:prstGeom prst="roundRect">
            <a:avLst>
              <a:gd name="adj" fmla="val 24138"/>
            </a:avLst>
          </a:prstGeom>
          <a:solidFill>
            <a:srgbClr val="D8EBBB"/>
          </a:solidFill>
          <a:ln w="11430">
            <a:solidFill>
              <a:srgbClr val="D8E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5992" y="0"/>
            <a:ext cx="109728" cy="6858000"/>
          </a:xfrm>
          <a:prstGeom prst="roundRect">
            <a:avLst>
              <a:gd name="adj" fmla="val 58333"/>
            </a:avLst>
          </a:prstGeom>
          <a:solidFill>
            <a:srgbClr val="6CA742"/>
          </a:solidFill>
          <a:ln w="11430">
            <a:solidFill>
              <a:srgbClr val="6CA7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8056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DTW follows a low-cost path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10222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cell compares one frame in A with one frame in B.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519672"/>
            <a:ext cx="10332720" cy="0"/>
          </a:xfrm>
          <a:prstGeom prst="line">
            <a:avLst/>
          </a:prstGeom>
          <a:noFill/>
          <a:ln w="11430">
            <a:solidFill>
              <a:srgbClr val="D9E3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67512" y="6583680"/>
            <a:ext cx="603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3C   |   Lecture 3, slides 96–168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574536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1609344"/>
            <a:ext cx="452628" cy="452628"/>
          </a:xfrm>
          <a:prstGeom prst="rect">
            <a:avLst/>
          </a:prstGeom>
          <a:solidFill>
            <a:srgbClr val="CBE8AD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5648" y="1764792"/>
            <a:ext cx="117043" cy="117043"/>
          </a:xfrm>
          <a:prstGeom prst="ellipse">
            <a:avLst/>
          </a:prstGeom>
          <a:solidFill>
            <a:srgbClr val="6CA742"/>
          </a:solidFill>
          <a:ln w="12700">
            <a:solidFill>
              <a:srgbClr val="6CA7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75688" y="1609344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1176" y="1609344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26664" y="1609344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2152" y="1609344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77640" y="1609344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53128" y="1609344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28616" y="1609344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2084832"/>
            <a:ext cx="452628" cy="452628"/>
          </a:xfrm>
          <a:prstGeom prst="rect">
            <a:avLst/>
          </a:prstGeom>
          <a:solidFill>
            <a:srgbClr val="CBE8AD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55648" y="2240280"/>
            <a:ext cx="117043" cy="117043"/>
          </a:xfrm>
          <a:prstGeom prst="ellipse">
            <a:avLst/>
          </a:prstGeom>
          <a:solidFill>
            <a:srgbClr val="6CA742"/>
          </a:solidFill>
          <a:ln w="12700">
            <a:solidFill>
              <a:srgbClr val="6CA7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75688" y="2084832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1176" y="2084832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26664" y="2084832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02152" y="2084832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2084832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53128" y="2084832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28616" y="2084832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0200" y="2560320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75688" y="2560320"/>
            <a:ext cx="452628" cy="452628"/>
          </a:xfrm>
          <a:prstGeom prst="rect">
            <a:avLst/>
          </a:prstGeom>
          <a:solidFill>
            <a:srgbClr val="CBE8AD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31136" y="2715768"/>
            <a:ext cx="117043" cy="117043"/>
          </a:xfrm>
          <a:prstGeom prst="ellipse">
            <a:avLst/>
          </a:prstGeom>
          <a:solidFill>
            <a:srgbClr val="6CA742"/>
          </a:solidFill>
          <a:ln w="12700">
            <a:solidFill>
              <a:srgbClr val="6CA7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1176" y="2560320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26664" y="2560320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02152" y="2560320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77640" y="2560320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53128" y="2560320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28616" y="2560320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00200" y="3035808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75688" y="3035808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51176" y="3035808"/>
            <a:ext cx="452628" cy="452628"/>
          </a:xfrm>
          <a:prstGeom prst="rect">
            <a:avLst/>
          </a:prstGeom>
          <a:solidFill>
            <a:srgbClr val="CBE8AD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06624" y="3191256"/>
            <a:ext cx="117043" cy="117043"/>
          </a:xfrm>
          <a:prstGeom prst="ellipse">
            <a:avLst/>
          </a:prstGeom>
          <a:solidFill>
            <a:srgbClr val="6CA742"/>
          </a:solidFill>
          <a:ln w="12700">
            <a:solidFill>
              <a:srgbClr val="6CA7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26664" y="3035808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02152" y="3035808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77640" y="3035808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53128" y="3035808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28616" y="3035808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00200" y="3511296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75688" y="3511296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51176" y="3511296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26664" y="3511296"/>
            <a:ext cx="452628" cy="452628"/>
          </a:xfrm>
          <a:prstGeom prst="rect">
            <a:avLst/>
          </a:prstGeom>
          <a:solidFill>
            <a:srgbClr val="CBE8AD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82112" y="3666744"/>
            <a:ext cx="117043" cy="117043"/>
          </a:xfrm>
          <a:prstGeom prst="ellipse">
            <a:avLst/>
          </a:prstGeom>
          <a:solidFill>
            <a:srgbClr val="6CA742"/>
          </a:solidFill>
          <a:ln w="12700">
            <a:solidFill>
              <a:srgbClr val="6CA74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02152" y="3511296"/>
            <a:ext cx="452628" cy="452628"/>
          </a:xfrm>
          <a:prstGeom prst="rect">
            <a:avLst/>
          </a:prstGeom>
          <a:solidFill>
            <a:srgbClr val="CBE8AD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0" y="3666744"/>
            <a:ext cx="117043" cy="117043"/>
          </a:xfrm>
          <a:prstGeom prst="ellipse">
            <a:avLst/>
          </a:prstGeom>
          <a:solidFill>
            <a:srgbClr val="6CA742"/>
          </a:solidFill>
          <a:ln w="12700">
            <a:solidFill>
              <a:srgbClr val="6CA74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977640" y="3511296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53128" y="3511296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28616" y="3511296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600200" y="3986784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75688" y="3986784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51176" y="3986784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026664" y="3986784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02152" y="3986784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977640" y="3986784"/>
            <a:ext cx="452628" cy="452628"/>
          </a:xfrm>
          <a:prstGeom prst="rect">
            <a:avLst/>
          </a:prstGeom>
          <a:solidFill>
            <a:srgbClr val="CBE8AD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33088" y="4142232"/>
            <a:ext cx="117043" cy="117043"/>
          </a:xfrm>
          <a:prstGeom prst="ellipse">
            <a:avLst/>
          </a:prstGeom>
          <a:solidFill>
            <a:srgbClr val="6CA742"/>
          </a:solidFill>
          <a:ln w="12700">
            <a:solidFill>
              <a:srgbClr val="6CA74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53128" y="3986784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28616" y="3986784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00200" y="4462272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075688" y="4462272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551176" y="4462272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26664" y="4462272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02152" y="4462272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977640" y="4462272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53128" y="4462272"/>
            <a:ext cx="452628" cy="452628"/>
          </a:xfrm>
          <a:prstGeom prst="rect">
            <a:avLst/>
          </a:prstGeom>
          <a:solidFill>
            <a:srgbClr val="CBE8AD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08576" y="4617720"/>
            <a:ext cx="117043" cy="117043"/>
          </a:xfrm>
          <a:prstGeom prst="ellipse">
            <a:avLst/>
          </a:prstGeom>
          <a:solidFill>
            <a:srgbClr val="6CA742"/>
          </a:solidFill>
          <a:ln w="12700">
            <a:solidFill>
              <a:srgbClr val="6CA74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28616" y="4462272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00200" y="4937760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075688" y="4937760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551176" y="4937760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26664" y="4937760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02152" y="4937760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977640" y="4937760"/>
            <a:ext cx="452628" cy="452628"/>
          </a:xfrm>
          <a:prstGeom prst="rect">
            <a:avLst/>
          </a:prstGeom>
          <a:solidFill>
            <a:srgbClr val="F3F4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453128" y="4937760"/>
            <a:ext cx="452628" cy="452628"/>
          </a:xfrm>
          <a:prstGeom prst="rect">
            <a:avLst/>
          </a:prstGeom>
          <a:solidFill>
            <a:srgbClr val="E7F1D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928616" y="4937760"/>
            <a:ext cx="452628" cy="452628"/>
          </a:xfrm>
          <a:prstGeom prst="rect">
            <a:avLst/>
          </a:prstGeom>
          <a:solidFill>
            <a:srgbClr val="CBE8AD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84064" y="5093208"/>
            <a:ext cx="117043" cy="117043"/>
          </a:xfrm>
          <a:prstGeom prst="ellipse">
            <a:avLst/>
          </a:prstGeom>
          <a:solidFill>
            <a:srgbClr val="6CA742"/>
          </a:solidFill>
          <a:ln w="12700">
            <a:solidFill>
              <a:srgbClr val="6CA7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69748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B →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85800" y="3218688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A ↓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400800" y="1673352"/>
            <a:ext cx="42702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00800" y="1673352"/>
            <a:ext cx="68580" cy="1188720"/>
          </a:xfrm>
          <a:prstGeom prst="roundRect">
            <a:avLst>
              <a:gd name="adj" fmla="val 93333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01968" y="1883664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mismatch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6601968" y="230428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cost means that two points look similar.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400800" y="3008376"/>
            <a:ext cx="42702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400800" y="3008376"/>
            <a:ext cx="68580" cy="1188720"/>
          </a:xfrm>
          <a:prstGeom prst="roundRect">
            <a:avLst>
              <a:gd name="adj" fmla="val 93333"/>
            </a:avLst>
          </a:prstGeom>
          <a:solidFill>
            <a:srgbClr val="4B7EBB"/>
          </a:solidFill>
          <a:ln w="11430">
            <a:solidFill>
              <a:srgbClr val="4B7EB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601968" y="3218688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 steps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6601968" y="363931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 A, advance B, or advance both.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6400800" y="4343400"/>
            <a:ext cx="42702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00800" y="4343400"/>
            <a:ext cx="68580" cy="1188720"/>
          </a:xfrm>
          <a:prstGeom prst="roundRect">
            <a:avLst>
              <a:gd name="adj" fmla="val 93333"/>
            </a:avLst>
          </a:prstGeom>
          <a:solidFill>
            <a:srgbClr val="E99339"/>
          </a:solidFill>
          <a:ln w="11430">
            <a:solidFill>
              <a:srgbClr val="E9933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01968" y="4553712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6601968" y="4974336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band limits the maximum temporal shift.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1591056" y="5623560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Schematic path — not a numerical result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5975" cy="6858000"/>
          </a:xfrm>
          <a:prstGeom prst="roundRect">
            <a:avLst>
              <a:gd name="adj" fmla="val 8940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0"/>
            <a:ext cx="265176" cy="6858000"/>
          </a:xfrm>
          <a:prstGeom prst="roundRect">
            <a:avLst>
              <a:gd name="adj" fmla="val 24138"/>
            </a:avLst>
          </a:prstGeom>
          <a:solidFill>
            <a:srgbClr val="D8EBBB"/>
          </a:solidFill>
          <a:ln w="11430">
            <a:solidFill>
              <a:srgbClr val="D8E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5992" y="0"/>
            <a:ext cx="109728" cy="6858000"/>
          </a:xfrm>
          <a:prstGeom prst="roundRect">
            <a:avLst>
              <a:gd name="adj" fmla="val 58333"/>
            </a:avLst>
          </a:prstGeom>
          <a:solidFill>
            <a:srgbClr val="6CA742"/>
          </a:solidFill>
          <a:ln w="11430">
            <a:solidFill>
              <a:srgbClr val="6CA7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8056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comparison is a controlled experiment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10222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reliable table is a decision tool, not only a leaderboard.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519672"/>
            <a:ext cx="10332720" cy="0"/>
          </a:xfrm>
          <a:prstGeom prst="line">
            <a:avLst/>
          </a:prstGeom>
          <a:noFill/>
          <a:ln w="11430">
            <a:solidFill>
              <a:srgbClr val="D9E3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67512" y="6583680"/>
            <a:ext cx="603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3C   |   Lecture 3, slides 96–168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574536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0664" y="1673352"/>
            <a:ext cx="4709160" cy="34290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8836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fixed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05840" y="2468880"/>
            <a:ext cx="201168" cy="201168"/>
          </a:xfrm>
          <a:prstGeom prst="ellipse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9304" y="2350008"/>
            <a:ext cx="3977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time and horizon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201168" cy="201168"/>
          </a:xfrm>
          <a:prstGeom prst="ellipse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9304" y="2944368"/>
            <a:ext cx="3977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input information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05840" y="3657600"/>
            <a:ext cx="201168" cy="201168"/>
          </a:xfrm>
          <a:prstGeom prst="ellipse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9304" y="3538728"/>
            <a:ext cx="3977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validation / test partitions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05840" y="4251960"/>
            <a:ext cx="201168" cy="201168"/>
          </a:xfrm>
          <a:prstGeom prst="ellipse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9304" y="4133088"/>
            <a:ext cx="3977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entities, samples and metrics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50992" y="1673352"/>
            <a:ext cx="4709160" cy="34290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88736" y="18836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explicitly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5916168" y="2468880"/>
            <a:ext cx="201168" cy="201168"/>
          </a:xfrm>
          <a:prstGeom prst="ellipse">
            <a:avLst/>
          </a:prstGeom>
          <a:solidFill>
            <a:srgbClr val="4B7EBB"/>
          </a:solidFill>
          <a:ln w="12700">
            <a:solidFill>
              <a:srgbClr val="4B7E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235000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metrics by relevant subgroup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16168" y="3063240"/>
            <a:ext cx="201168" cy="201168"/>
          </a:xfrm>
          <a:prstGeom prst="ellipse">
            <a:avLst/>
          </a:prstGeom>
          <a:solidFill>
            <a:srgbClr val="4B7EBB"/>
          </a:solidFill>
          <a:ln w="12700">
            <a:solidFill>
              <a:srgbClr val="4B7E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488" y="294436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or observed failure cases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916168" y="3657600"/>
            <a:ext cx="201168" cy="201168"/>
          </a:xfrm>
          <a:prstGeom prst="ellipse">
            <a:avLst/>
          </a:prstGeom>
          <a:solidFill>
            <a:srgbClr val="4B7EBB"/>
          </a:solidFill>
          <a:ln w="12700">
            <a:solidFill>
              <a:srgbClr val="4B7E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353872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Training/inference latency and effort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16168" y="4251960"/>
            <a:ext cx="201168" cy="201168"/>
          </a:xfrm>
          <a:prstGeom prst="ellipse">
            <a:avLst/>
          </a:prstGeom>
          <a:solidFill>
            <a:srgbClr val="4B7EBB"/>
          </a:solidFill>
          <a:ln w="12700">
            <a:solidFill>
              <a:srgbClr val="4B7E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413308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Interpretability, robustness, cost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3816" y="5513832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the effects of new information, new features, and model complexity.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5975" cy="6858000"/>
          </a:xfrm>
          <a:prstGeom prst="roundRect">
            <a:avLst>
              <a:gd name="adj" fmla="val 8940"/>
            </a:avLst>
          </a:prstGeom>
          <a:solidFill>
            <a:srgbClr val="88BD24"/>
          </a:solidFill>
          <a:ln w="11430">
            <a:solidFill>
              <a:srgbClr val="88B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10544" y="0"/>
            <a:ext cx="265176" cy="6858000"/>
          </a:xfrm>
          <a:prstGeom prst="roundRect">
            <a:avLst>
              <a:gd name="adj" fmla="val 24138"/>
            </a:avLst>
          </a:prstGeom>
          <a:solidFill>
            <a:srgbClr val="D8EBBB"/>
          </a:solidFill>
          <a:ln w="11430">
            <a:solidFill>
              <a:srgbClr val="D8E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5992" y="0"/>
            <a:ext cx="109728" cy="6858000"/>
          </a:xfrm>
          <a:prstGeom prst="roundRect">
            <a:avLst>
              <a:gd name="adj" fmla="val 58333"/>
            </a:avLst>
          </a:prstGeom>
          <a:solidFill>
            <a:srgbClr val="6CA742"/>
          </a:solidFill>
          <a:ln w="11430">
            <a:solidFill>
              <a:srgbClr val="6CA7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8056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roadmap and expected deliverables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10222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in pairs. Explain each choice, not just the numerical outputs.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519672"/>
            <a:ext cx="10332720" cy="0"/>
          </a:xfrm>
          <a:prstGeom prst="line">
            <a:avLst/>
          </a:prstGeom>
          <a:noFill/>
          <a:ln w="11430">
            <a:solidFill>
              <a:srgbClr val="D9E3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67512" y="6583680"/>
            <a:ext cx="603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3C   |   Lecture 3, slides 96–168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6574536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58952" y="1517904"/>
            <a:ext cx="9857232" cy="813816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700784"/>
            <a:ext cx="420624" cy="420624"/>
          </a:xfrm>
          <a:prstGeom prst="ellipse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9164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72184" y="162763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55848" y="1618488"/>
            <a:ext cx="5751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MAE table, chosen model test MAE, one prediction plot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56064" y="1700784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" y="2514600"/>
            <a:ext cx="9857232" cy="813816"/>
          </a:xfrm>
          <a:prstGeom prst="roundRect">
            <a:avLst>
              <a:gd name="adj" fmla="val 7865"/>
            </a:avLst>
          </a:prstGeom>
          <a:solidFill>
            <a:srgbClr val="F4F9ED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697480"/>
            <a:ext cx="420624" cy="420624"/>
          </a:xfrm>
          <a:prstGeom prst="ellipse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88336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72184" y="26243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355848" y="2615184"/>
            <a:ext cx="5751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/ recall / F1, threshold choice, test confusion matrix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56064" y="269748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" y="3511296"/>
            <a:ext cx="9857232" cy="813816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3694176"/>
            <a:ext cx="420624" cy="420624"/>
          </a:xfrm>
          <a:prstGeom prst="ellipse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685032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72184" y="362102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DTW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355848" y="3611880"/>
            <a:ext cx="5751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Euclidean vs DTW 1-NN accuracy and runtime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56064" y="369417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8952" y="4507992"/>
            <a:ext cx="9857232" cy="813816"/>
          </a:xfrm>
          <a:prstGeom prst="roundRect">
            <a:avLst>
              <a:gd name="adj" fmla="val 7865"/>
            </a:avLst>
          </a:prstGeom>
          <a:solidFill>
            <a:srgbClr val="F4F9ED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4690872"/>
            <a:ext cx="420624" cy="420624"/>
          </a:xfrm>
          <a:prstGeom prst="ellipse">
            <a:avLst/>
          </a:prstGeom>
          <a:solidFill>
            <a:srgbClr val="88BD24"/>
          </a:solidFill>
          <a:ln w="12700">
            <a:solidFill>
              <a:srgbClr val="88BD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681728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72184" y="46177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1C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decision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3355848" y="4608576"/>
            <a:ext cx="5751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51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modes, cost and one fair-comparison conclusion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56064" y="469087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" y="5797296"/>
            <a:ext cx="9875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8B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conclusion: the most accurate model is not automatically the best engineering choice.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3C - From temporal features to decisions</dc:title>
  <dc:subject>Lab 3C Introduction - Slides 96-168</dc:subject>
  <dc:creator>OpenAI</dc:creator>
  <cp:lastModifiedBy>OpenAI</cp:lastModifiedBy>
  <cp:revision>1</cp:revision>
  <dcterms:created xsi:type="dcterms:W3CDTF">2026-10-28T18:23:27Z</dcterms:created>
  <dcterms:modified xsi:type="dcterms:W3CDTF">2026-10-28T18:23:27Z</dcterms:modified>
</cp:coreProperties>
</file>