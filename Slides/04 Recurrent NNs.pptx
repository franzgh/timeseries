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5"/>
  </p:notesMasterIdLst>
  <p:sldIdLst>
    <p:sldId id="256" r:id="rId2"/>
    <p:sldId id="280" r:id="rId3"/>
    <p:sldId id="272" r:id="rId4"/>
    <p:sldId id="273" r:id="rId5"/>
    <p:sldId id="257" r:id="rId6"/>
    <p:sldId id="274" r:id="rId7"/>
    <p:sldId id="275" r:id="rId8"/>
    <p:sldId id="258" r:id="rId9"/>
    <p:sldId id="297" r:id="rId10"/>
    <p:sldId id="298" r:id="rId11"/>
    <p:sldId id="276" r:id="rId12"/>
    <p:sldId id="259" r:id="rId13"/>
    <p:sldId id="277" r:id="rId14"/>
    <p:sldId id="281" r:id="rId15"/>
    <p:sldId id="260" r:id="rId16"/>
    <p:sldId id="278" r:id="rId17"/>
    <p:sldId id="261" r:id="rId18"/>
    <p:sldId id="279" r:id="rId19"/>
    <p:sldId id="299" r:id="rId20"/>
    <p:sldId id="262" r:id="rId21"/>
    <p:sldId id="300" r:id="rId22"/>
    <p:sldId id="301" r:id="rId23"/>
    <p:sldId id="263" r:id="rId24"/>
    <p:sldId id="264" r:id="rId25"/>
    <p:sldId id="302" r:id="rId26"/>
    <p:sldId id="265" r:id="rId27"/>
    <p:sldId id="303" r:id="rId28"/>
    <p:sldId id="304" r:id="rId29"/>
    <p:sldId id="266" r:id="rId30"/>
    <p:sldId id="305" r:id="rId31"/>
    <p:sldId id="267" r:id="rId32"/>
    <p:sldId id="306" r:id="rId33"/>
    <p:sldId id="268" r:id="rId34"/>
    <p:sldId id="307" r:id="rId35"/>
    <p:sldId id="269" r:id="rId36"/>
    <p:sldId id="308" r:id="rId37"/>
    <p:sldId id="311" r:id="rId38"/>
    <p:sldId id="270" r:id="rId39"/>
    <p:sldId id="309" r:id="rId40"/>
    <p:sldId id="271" r:id="rId41"/>
    <p:sldId id="310" r:id="rId42"/>
    <p:sldId id="312" r:id="rId43"/>
    <p:sldId id="327" r:id="rId44"/>
    <p:sldId id="328" r:id="rId45"/>
    <p:sldId id="313" r:id="rId46"/>
    <p:sldId id="329" r:id="rId47"/>
    <p:sldId id="330" r:id="rId48"/>
    <p:sldId id="314" r:id="rId49"/>
    <p:sldId id="331" r:id="rId50"/>
    <p:sldId id="315" r:id="rId51"/>
    <p:sldId id="332" r:id="rId52"/>
    <p:sldId id="333" r:id="rId53"/>
    <p:sldId id="316" r:id="rId54"/>
    <p:sldId id="334" r:id="rId55"/>
    <p:sldId id="335" r:id="rId56"/>
    <p:sldId id="317" r:id="rId57"/>
    <p:sldId id="336" r:id="rId58"/>
    <p:sldId id="337" r:id="rId59"/>
    <p:sldId id="318" r:id="rId60"/>
    <p:sldId id="338" r:id="rId61"/>
    <p:sldId id="339" r:id="rId62"/>
    <p:sldId id="340" r:id="rId63"/>
    <p:sldId id="319" r:id="rId64"/>
    <p:sldId id="341" r:id="rId65"/>
    <p:sldId id="352" r:id="rId66"/>
    <p:sldId id="353" r:id="rId67"/>
    <p:sldId id="342" r:id="rId68"/>
    <p:sldId id="354" r:id="rId69"/>
    <p:sldId id="343" r:id="rId70"/>
    <p:sldId id="355" r:id="rId71"/>
    <p:sldId id="344" r:id="rId72"/>
    <p:sldId id="345" r:id="rId73"/>
    <p:sldId id="320" r:id="rId74"/>
    <p:sldId id="321" r:id="rId75"/>
    <p:sldId id="346" r:id="rId76"/>
    <p:sldId id="356" r:id="rId77"/>
    <p:sldId id="322" r:id="rId78"/>
    <p:sldId id="347" r:id="rId79"/>
    <p:sldId id="357" r:id="rId80"/>
    <p:sldId id="323" r:id="rId81"/>
    <p:sldId id="528" r:id="rId82"/>
    <p:sldId id="348" r:id="rId83"/>
    <p:sldId id="324" r:id="rId84"/>
    <p:sldId id="349" r:id="rId85"/>
    <p:sldId id="360" r:id="rId86"/>
    <p:sldId id="325" r:id="rId87"/>
    <p:sldId id="350" r:id="rId88"/>
    <p:sldId id="326" r:id="rId89"/>
    <p:sldId id="351" r:id="rId90"/>
    <p:sldId id="359" r:id="rId91"/>
    <p:sldId id="361" r:id="rId92"/>
    <p:sldId id="363" r:id="rId93"/>
    <p:sldId id="362" r:id="rId94"/>
    <p:sldId id="364" r:id="rId95"/>
    <p:sldId id="378" r:id="rId96"/>
    <p:sldId id="365" r:id="rId97"/>
    <p:sldId id="380" r:id="rId98"/>
    <p:sldId id="366" r:id="rId99"/>
    <p:sldId id="381" r:id="rId100"/>
    <p:sldId id="382" r:id="rId101"/>
    <p:sldId id="367" r:id="rId102"/>
    <p:sldId id="383" r:id="rId103"/>
    <p:sldId id="368" r:id="rId104"/>
    <p:sldId id="384" r:id="rId105"/>
    <p:sldId id="389" r:id="rId106"/>
    <p:sldId id="385" r:id="rId107"/>
    <p:sldId id="390" r:id="rId108"/>
    <p:sldId id="369" r:id="rId109"/>
    <p:sldId id="386" r:id="rId110"/>
    <p:sldId id="370" r:id="rId111"/>
    <p:sldId id="387" r:id="rId112"/>
    <p:sldId id="388" r:id="rId113"/>
    <p:sldId id="413" r:id="rId114"/>
    <p:sldId id="407" r:id="rId115"/>
    <p:sldId id="371" r:id="rId116"/>
    <p:sldId id="391" r:id="rId117"/>
    <p:sldId id="408" r:id="rId118"/>
    <p:sldId id="372" r:id="rId119"/>
    <p:sldId id="392" r:id="rId120"/>
    <p:sldId id="409" r:id="rId121"/>
    <p:sldId id="393" r:id="rId122"/>
    <p:sldId id="410" r:id="rId123"/>
    <p:sldId id="394" r:id="rId124"/>
    <p:sldId id="395" r:id="rId125"/>
    <p:sldId id="373" r:id="rId126"/>
    <p:sldId id="396" r:id="rId127"/>
    <p:sldId id="411" r:id="rId128"/>
    <p:sldId id="397" r:id="rId129"/>
    <p:sldId id="412" r:id="rId130"/>
    <p:sldId id="398" r:id="rId131"/>
    <p:sldId id="414" r:id="rId132"/>
    <p:sldId id="374" r:id="rId133"/>
    <p:sldId id="416" r:id="rId134"/>
    <p:sldId id="399" r:id="rId135"/>
    <p:sldId id="418" r:id="rId136"/>
    <p:sldId id="375" r:id="rId137"/>
    <p:sldId id="400" r:id="rId138"/>
    <p:sldId id="419" r:id="rId139"/>
    <p:sldId id="376" r:id="rId140"/>
    <p:sldId id="401" r:id="rId141"/>
    <p:sldId id="406" r:id="rId142"/>
    <p:sldId id="402" r:id="rId143"/>
    <p:sldId id="405" r:id="rId144"/>
    <p:sldId id="377" r:id="rId145"/>
    <p:sldId id="403" r:id="rId146"/>
    <p:sldId id="404" r:id="rId147"/>
    <p:sldId id="417" r:id="rId148"/>
    <p:sldId id="420" r:id="rId149"/>
    <p:sldId id="462" r:id="rId150"/>
    <p:sldId id="447" r:id="rId151"/>
    <p:sldId id="421" r:id="rId152"/>
    <p:sldId id="422" r:id="rId153"/>
    <p:sldId id="423" r:id="rId154"/>
    <p:sldId id="446" r:id="rId155"/>
    <p:sldId id="427" r:id="rId156"/>
    <p:sldId id="426" r:id="rId157"/>
    <p:sldId id="444" r:id="rId158"/>
    <p:sldId id="424" r:id="rId159"/>
    <p:sldId id="425" r:id="rId160"/>
    <p:sldId id="445" r:id="rId161"/>
    <p:sldId id="428" r:id="rId162"/>
    <p:sldId id="429" r:id="rId163"/>
    <p:sldId id="443" r:id="rId164"/>
    <p:sldId id="464" r:id="rId165"/>
    <p:sldId id="442" r:id="rId166"/>
    <p:sldId id="431" r:id="rId167"/>
    <p:sldId id="432" r:id="rId168"/>
    <p:sldId id="448" r:id="rId169"/>
    <p:sldId id="463" r:id="rId170"/>
    <p:sldId id="433" r:id="rId171"/>
    <p:sldId id="449" r:id="rId172"/>
    <p:sldId id="434" r:id="rId173"/>
    <p:sldId id="450" r:id="rId174"/>
    <p:sldId id="435" r:id="rId175"/>
    <p:sldId id="451" r:id="rId176"/>
    <p:sldId id="465" r:id="rId177"/>
    <p:sldId id="436" r:id="rId178"/>
    <p:sldId id="452" r:id="rId179"/>
    <p:sldId id="437" r:id="rId180"/>
    <p:sldId id="453" r:id="rId181"/>
    <p:sldId id="481" r:id="rId182"/>
    <p:sldId id="438" r:id="rId183"/>
    <p:sldId id="454" r:id="rId184"/>
    <p:sldId id="455" r:id="rId185"/>
    <p:sldId id="482" r:id="rId186"/>
    <p:sldId id="456" r:id="rId187"/>
    <p:sldId id="483" r:id="rId188"/>
    <p:sldId id="439" r:id="rId189"/>
    <p:sldId id="457" r:id="rId190"/>
    <p:sldId id="440" r:id="rId191"/>
    <p:sldId id="458" r:id="rId192"/>
    <p:sldId id="459" r:id="rId193"/>
    <p:sldId id="441" r:id="rId194"/>
    <p:sldId id="460" r:id="rId195"/>
    <p:sldId id="461" r:id="rId196"/>
    <p:sldId id="484" r:id="rId197"/>
    <p:sldId id="485" r:id="rId198"/>
    <p:sldId id="466" r:id="rId199"/>
    <p:sldId id="486" r:id="rId200"/>
    <p:sldId id="487" r:id="rId201"/>
    <p:sldId id="467" r:id="rId202"/>
    <p:sldId id="488" r:id="rId203"/>
    <p:sldId id="468" r:id="rId204"/>
    <p:sldId id="489" r:id="rId205"/>
    <p:sldId id="490" r:id="rId206"/>
    <p:sldId id="469" r:id="rId207"/>
    <p:sldId id="491" r:id="rId208"/>
    <p:sldId id="492" r:id="rId209"/>
    <p:sldId id="470" r:id="rId210"/>
    <p:sldId id="493" r:id="rId211"/>
    <p:sldId id="494" r:id="rId212"/>
    <p:sldId id="471" r:id="rId213"/>
    <p:sldId id="495" r:id="rId214"/>
    <p:sldId id="472" r:id="rId215"/>
    <p:sldId id="496" r:id="rId216"/>
    <p:sldId id="497" r:id="rId217"/>
    <p:sldId id="473" r:id="rId218"/>
    <p:sldId id="498" r:id="rId219"/>
    <p:sldId id="499" r:id="rId220"/>
    <p:sldId id="500" r:id="rId221"/>
    <p:sldId id="474" r:id="rId222"/>
    <p:sldId id="475" r:id="rId223"/>
    <p:sldId id="502" r:id="rId224"/>
    <p:sldId id="503" r:id="rId225"/>
    <p:sldId id="504" r:id="rId226"/>
    <p:sldId id="505" r:id="rId227"/>
    <p:sldId id="476" r:id="rId228"/>
    <p:sldId id="506" r:id="rId229"/>
    <p:sldId id="477" r:id="rId230"/>
    <p:sldId id="507" r:id="rId231"/>
    <p:sldId id="508" r:id="rId232"/>
    <p:sldId id="509" r:id="rId233"/>
    <p:sldId id="478" r:id="rId234"/>
    <p:sldId id="510" r:id="rId235"/>
    <p:sldId id="479" r:id="rId236"/>
    <p:sldId id="511" r:id="rId237"/>
    <p:sldId id="512" r:id="rId238"/>
    <p:sldId id="480" r:id="rId239"/>
    <p:sldId id="513" r:id="rId240"/>
    <p:sldId id="514" r:id="rId241"/>
    <p:sldId id="515" r:id="rId242"/>
    <p:sldId id="516" r:id="rId243"/>
    <p:sldId id="517" r:id="rId244"/>
    <p:sldId id="518" r:id="rId245"/>
    <p:sldId id="519" r:id="rId246"/>
    <p:sldId id="520" r:id="rId247"/>
    <p:sldId id="529" r:id="rId248"/>
    <p:sldId id="530" r:id="rId249"/>
    <p:sldId id="521" r:id="rId250"/>
    <p:sldId id="522" r:id="rId251"/>
    <p:sldId id="524" r:id="rId252"/>
    <p:sldId id="525" r:id="rId253"/>
    <p:sldId id="527" r:id="rId2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0BFCC2-6DFC-4367-B97E-FC2CCB74A29D}" v="3" dt="2026-10-09T13:28:11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68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1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theme" Target="theme/theme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tableStyles" Target="tableStyles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microsoft.com/office/2016/11/relationships/changesInfo" Target="changesInfos/changesInfo1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microsoft.com/office/2015/10/relationships/revisionInfo" Target="revisionInfo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notesMaster" Target="notesMasters/notesMaster1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presProps" Target="presProps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viewProps" Target="viewProps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Bellotti" userId="f453232b-f87d-4756-9d8b-c09bc835cc42" providerId="ADAL" clId="{C7FEA3FA-4936-41E1-B7FA-CA082069F7F7}"/>
    <pc:docChg chg="undo redo custSel addSld delSld modSld sldOrd">
      <pc:chgData name="Francesco Bellotti" userId="f453232b-f87d-4756-9d8b-c09bc835cc42" providerId="ADAL" clId="{C7FEA3FA-4936-41E1-B7FA-CA082069F7F7}" dt="2026-10-09T13:28:28.781" v="6863" actId="1076"/>
      <pc:docMkLst>
        <pc:docMk/>
      </pc:docMkLst>
      <pc:sldChg chg="modSp mod">
        <pc:chgData name="Francesco Bellotti" userId="f453232b-f87d-4756-9d8b-c09bc835cc42" providerId="ADAL" clId="{C7FEA3FA-4936-41E1-B7FA-CA082069F7F7}" dt="2026-10-02T11:10:24.087" v="5049" actId="13926"/>
        <pc:sldMkLst>
          <pc:docMk/>
          <pc:sldMk cId="1656432612" sldId="258"/>
        </pc:sldMkLst>
        <pc:spChg chg="mod">
          <ac:chgData name="Francesco Bellotti" userId="f453232b-f87d-4756-9d8b-c09bc835cc42" providerId="ADAL" clId="{C7FEA3FA-4936-41E1-B7FA-CA082069F7F7}" dt="2026-10-02T11:10:15.205" v="5047" actId="13926"/>
          <ac:spMkLst>
            <pc:docMk/>
            <pc:sldMk cId="1656432612" sldId="258"/>
            <ac:spMk id="4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11:10:24.087" v="5049" actId="13926"/>
          <ac:spMkLst>
            <pc:docMk/>
            <pc:sldMk cId="1656432612" sldId="258"/>
            <ac:spMk id="46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2T11:11:32.769" v="5053" actId="113"/>
        <pc:sldMkLst>
          <pc:docMk/>
          <pc:sldMk cId="191433872" sldId="259"/>
        </pc:sldMkLst>
        <pc:spChg chg="mod">
          <ac:chgData name="Francesco Bellotti" userId="f453232b-f87d-4756-9d8b-c09bc835cc42" providerId="ADAL" clId="{C7FEA3FA-4936-41E1-B7FA-CA082069F7F7}" dt="2026-10-02T11:11:32.769" v="5053" actId="113"/>
          <ac:spMkLst>
            <pc:docMk/>
            <pc:sldMk cId="191433872" sldId="259"/>
            <ac:spMk id="31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9T13:25:36.072" v="6833" actId="13926"/>
        <pc:sldMkLst>
          <pc:docMk/>
          <pc:sldMk cId="2423071145" sldId="261"/>
        </pc:sldMkLst>
        <pc:spChg chg="mod">
          <ac:chgData name="Francesco Bellotti" userId="f453232b-f87d-4756-9d8b-c09bc835cc42" providerId="ADAL" clId="{C7FEA3FA-4936-41E1-B7FA-CA082069F7F7}" dt="2026-10-02T11:18:58.712" v="5055" actId="207"/>
          <ac:spMkLst>
            <pc:docMk/>
            <pc:sldMk cId="2423071145" sldId="261"/>
            <ac:spMk id="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5:36.072" v="6833" actId="13926"/>
          <ac:spMkLst>
            <pc:docMk/>
            <pc:sldMk cId="2423071145" sldId="261"/>
            <ac:spMk id="18" creationId="{00000000-0000-0000-0000-000000000000}"/>
          </ac:spMkLst>
        </pc:spChg>
      </pc:sldChg>
      <pc:sldChg chg="modSp mod modNotesTx">
        <pc:chgData name="Francesco Bellotti" userId="f453232b-f87d-4756-9d8b-c09bc835cc42" providerId="ADAL" clId="{C7FEA3FA-4936-41E1-B7FA-CA082069F7F7}" dt="2026-10-07T13:28:31.489" v="6588" actId="13926"/>
        <pc:sldMkLst>
          <pc:docMk/>
          <pc:sldMk cId="3558646929" sldId="262"/>
        </pc:sldMkLst>
        <pc:spChg chg="mod">
          <ac:chgData name="Francesco Bellotti" userId="f453232b-f87d-4756-9d8b-c09bc835cc42" providerId="ADAL" clId="{C7FEA3FA-4936-41E1-B7FA-CA082069F7F7}" dt="2026-10-07T13:28:31.489" v="6588" actId="13926"/>
          <ac:spMkLst>
            <pc:docMk/>
            <pc:sldMk cId="3558646929" sldId="262"/>
            <ac:spMk id="2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19:18.701" v="5061" actId="113"/>
          <ac:spMkLst>
            <pc:docMk/>
            <pc:sldMk cId="3558646929" sldId="262"/>
            <ac:spMk id="22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2T21:22:28.651" v="5065" actId="13926"/>
        <pc:sldMkLst>
          <pc:docMk/>
          <pc:sldMk cId="1624315057" sldId="263"/>
        </pc:sldMkLst>
        <pc:spChg chg="mod">
          <ac:chgData name="Francesco Bellotti" userId="f453232b-f87d-4756-9d8b-c09bc835cc42" providerId="ADAL" clId="{C7FEA3FA-4936-41E1-B7FA-CA082069F7F7}" dt="2026-10-02T21:22:28.651" v="5065" actId="13926"/>
          <ac:spMkLst>
            <pc:docMk/>
            <pc:sldMk cId="1624315057" sldId="263"/>
            <ac:spMk id="40" creationId="{00000000-0000-0000-0000-000000000000}"/>
          </ac:spMkLst>
        </pc:spChg>
      </pc:sldChg>
      <pc:sldChg chg="addSp modSp mod">
        <pc:chgData name="Francesco Bellotti" userId="f453232b-f87d-4756-9d8b-c09bc835cc42" providerId="ADAL" clId="{C7FEA3FA-4936-41E1-B7FA-CA082069F7F7}" dt="2026-10-02T21:24:25.929" v="5078" actId="1076"/>
        <pc:sldMkLst>
          <pc:docMk/>
          <pc:sldMk cId="2953291147" sldId="264"/>
        </pc:sldMkLst>
        <pc:spChg chg="mod">
          <ac:chgData name="Francesco Bellotti" userId="f453232b-f87d-4756-9d8b-c09bc835cc42" providerId="ADAL" clId="{C7FEA3FA-4936-41E1-B7FA-CA082069F7F7}" dt="2026-10-02T21:24:12.956" v="5076" actId="1076"/>
          <ac:spMkLst>
            <pc:docMk/>
            <pc:sldMk cId="2953291147" sldId="264"/>
            <ac:spMk id="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02.662" v="5073" actId="164"/>
          <ac:spMkLst>
            <pc:docMk/>
            <pc:sldMk cId="2953291147" sldId="264"/>
            <ac:spMk id="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02.662" v="5073" actId="164"/>
          <ac:spMkLst>
            <pc:docMk/>
            <pc:sldMk cId="2953291147" sldId="264"/>
            <ac:spMk id="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02.662" v="5073" actId="164"/>
          <ac:spMkLst>
            <pc:docMk/>
            <pc:sldMk cId="2953291147" sldId="264"/>
            <ac:spMk id="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02.662" v="5073" actId="164"/>
          <ac:spMkLst>
            <pc:docMk/>
            <pc:sldMk cId="2953291147" sldId="264"/>
            <ac:spMk id="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02.662" v="5073" actId="164"/>
          <ac:spMkLst>
            <pc:docMk/>
            <pc:sldMk cId="2953291147" sldId="264"/>
            <ac:spMk id="1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02.662" v="5073" actId="164"/>
          <ac:spMkLst>
            <pc:docMk/>
            <pc:sldMk cId="2953291147" sldId="264"/>
            <ac:spMk id="1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02.662" v="5073" actId="164"/>
          <ac:spMkLst>
            <pc:docMk/>
            <pc:sldMk cId="2953291147" sldId="264"/>
            <ac:spMk id="1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02.662" v="5073" actId="164"/>
          <ac:spMkLst>
            <pc:docMk/>
            <pc:sldMk cId="2953291147" sldId="264"/>
            <ac:spMk id="1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02.662" v="5073" actId="164"/>
          <ac:spMkLst>
            <pc:docMk/>
            <pc:sldMk cId="2953291147" sldId="264"/>
            <ac:spMk id="1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02.662" v="5073" actId="164"/>
          <ac:spMkLst>
            <pc:docMk/>
            <pc:sldMk cId="2953291147" sldId="264"/>
            <ac:spMk id="1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22.058" v="5077" actId="164"/>
          <ac:spMkLst>
            <pc:docMk/>
            <pc:sldMk cId="2953291147" sldId="264"/>
            <ac:spMk id="1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22.058" v="5077" actId="164"/>
          <ac:spMkLst>
            <pc:docMk/>
            <pc:sldMk cId="2953291147" sldId="264"/>
            <ac:spMk id="1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22.058" v="5077" actId="164"/>
          <ac:spMkLst>
            <pc:docMk/>
            <pc:sldMk cId="2953291147" sldId="264"/>
            <ac:spMk id="2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22.058" v="5077" actId="164"/>
          <ac:spMkLst>
            <pc:docMk/>
            <pc:sldMk cId="2953291147" sldId="264"/>
            <ac:spMk id="2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22.058" v="5077" actId="164"/>
          <ac:spMkLst>
            <pc:docMk/>
            <pc:sldMk cId="2953291147" sldId="264"/>
            <ac:spMk id="2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22.058" v="5077" actId="164"/>
          <ac:spMkLst>
            <pc:docMk/>
            <pc:sldMk cId="2953291147" sldId="264"/>
            <ac:spMk id="2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22.058" v="5077" actId="164"/>
          <ac:spMkLst>
            <pc:docMk/>
            <pc:sldMk cId="2953291147" sldId="264"/>
            <ac:spMk id="2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22.058" v="5077" actId="164"/>
          <ac:spMkLst>
            <pc:docMk/>
            <pc:sldMk cId="2953291147" sldId="264"/>
            <ac:spMk id="3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22.058" v="5077" actId="164"/>
          <ac:spMkLst>
            <pc:docMk/>
            <pc:sldMk cId="2953291147" sldId="264"/>
            <ac:spMk id="3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24:22.058" v="5077" actId="164"/>
          <ac:spMkLst>
            <pc:docMk/>
            <pc:sldMk cId="2953291147" sldId="264"/>
            <ac:spMk id="45" creationId="{00000000-0000-0000-0000-000000000000}"/>
          </ac:spMkLst>
        </pc:spChg>
        <pc:grpChg chg="mod">
          <ac:chgData name="Francesco Bellotti" userId="f453232b-f87d-4756-9d8b-c09bc835cc42" providerId="ADAL" clId="{C7FEA3FA-4936-41E1-B7FA-CA082069F7F7}" dt="2026-10-02T21:24:07.178" v="5074" actId="1076"/>
          <ac:grpSpMkLst>
            <pc:docMk/>
            <pc:sldMk cId="2953291147" sldId="264"/>
            <ac:grpSpMk id="51" creationId="{D7CB7AF9-0916-24EB-43F4-ED7EF88193A9}"/>
          </ac:grpSpMkLst>
        </pc:grpChg>
        <pc:grpChg chg="mod">
          <ac:chgData name="Francesco Bellotti" userId="f453232b-f87d-4756-9d8b-c09bc835cc42" providerId="ADAL" clId="{C7FEA3FA-4936-41E1-B7FA-CA082069F7F7}" dt="2026-10-02T21:24:25.929" v="5078" actId="1076"/>
          <ac:grpSpMkLst>
            <pc:docMk/>
            <pc:sldMk cId="2953291147" sldId="264"/>
            <ac:grpSpMk id="53" creationId="{67E340C5-D942-C9DC-D232-8290514CD53B}"/>
          </ac:grpSpMkLst>
        </pc:grpChg>
      </pc:sldChg>
      <pc:sldChg chg="modSp mod modNotesTx">
        <pc:chgData name="Francesco Bellotti" userId="f453232b-f87d-4756-9d8b-c09bc835cc42" providerId="ADAL" clId="{C7FEA3FA-4936-41E1-B7FA-CA082069F7F7}" dt="2026-10-02T21:25:34.939" v="5082" actId="20577"/>
        <pc:sldMkLst>
          <pc:docMk/>
          <pc:sldMk cId="1182734464" sldId="265"/>
        </pc:sldMkLst>
        <pc:spChg chg="mod">
          <ac:chgData name="Francesco Bellotti" userId="f453232b-f87d-4756-9d8b-c09bc835cc42" providerId="ADAL" clId="{C7FEA3FA-4936-41E1-B7FA-CA082069F7F7}" dt="2026-10-02T21:25:28.760" v="5081" actId="20577"/>
          <ac:spMkLst>
            <pc:docMk/>
            <pc:sldMk cId="1182734464" sldId="265"/>
            <ac:spMk id="47" creationId="{00000000-0000-0000-0000-000000000000}"/>
          </ac:spMkLst>
        </pc:spChg>
      </pc:sldChg>
      <pc:sldChg chg="addSp modSp mod">
        <pc:chgData name="Francesco Bellotti" userId="f453232b-f87d-4756-9d8b-c09bc835cc42" providerId="ADAL" clId="{C7FEA3FA-4936-41E1-B7FA-CA082069F7F7}" dt="2026-10-09T13:28:28.781" v="6863" actId="1076"/>
        <pc:sldMkLst>
          <pc:docMk/>
          <pc:sldMk cId="981233215" sldId="266"/>
        </pc:sldMkLst>
        <pc:spChg chg="mod">
          <ac:chgData name="Francesco Bellotti" userId="f453232b-f87d-4756-9d8b-c09bc835cc42" providerId="ADAL" clId="{C7FEA3FA-4936-41E1-B7FA-CA082069F7F7}" dt="2026-10-09T13:27:19.550" v="6836" actId="164"/>
          <ac:spMkLst>
            <pc:docMk/>
            <pc:sldMk cId="981233215" sldId="266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19.550" v="6836" actId="164"/>
          <ac:spMkLst>
            <pc:docMk/>
            <pc:sldMk cId="981233215" sldId="266"/>
            <ac:spMk id="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19.550" v="6836" actId="164"/>
          <ac:spMkLst>
            <pc:docMk/>
            <pc:sldMk cId="981233215" sldId="266"/>
            <ac:spMk id="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19.550" v="6836" actId="164"/>
          <ac:spMkLst>
            <pc:docMk/>
            <pc:sldMk cId="981233215" sldId="266"/>
            <ac:spMk id="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19.550" v="6836" actId="164"/>
          <ac:spMkLst>
            <pc:docMk/>
            <pc:sldMk cId="981233215" sldId="266"/>
            <ac:spMk id="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19.550" v="6836" actId="164"/>
          <ac:spMkLst>
            <pc:docMk/>
            <pc:sldMk cId="981233215" sldId="266"/>
            <ac:spMk id="1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19.550" v="6836" actId="164"/>
          <ac:spMkLst>
            <pc:docMk/>
            <pc:sldMk cId="981233215" sldId="266"/>
            <ac:spMk id="1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19.550" v="6836" actId="164"/>
          <ac:spMkLst>
            <pc:docMk/>
            <pc:sldMk cId="981233215" sldId="266"/>
            <ac:spMk id="1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19.550" v="6836" actId="164"/>
          <ac:spMkLst>
            <pc:docMk/>
            <pc:sldMk cId="981233215" sldId="266"/>
            <ac:spMk id="1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19.550" v="6836" actId="164"/>
          <ac:spMkLst>
            <pc:docMk/>
            <pc:sldMk cId="981233215" sldId="266"/>
            <ac:spMk id="1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30.746" v="6837" actId="164"/>
          <ac:spMkLst>
            <pc:docMk/>
            <pc:sldMk cId="981233215" sldId="266"/>
            <ac:spMk id="1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30.746" v="6837" actId="164"/>
          <ac:spMkLst>
            <pc:docMk/>
            <pc:sldMk cId="981233215" sldId="266"/>
            <ac:spMk id="1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30.746" v="6837" actId="164"/>
          <ac:spMkLst>
            <pc:docMk/>
            <pc:sldMk cId="981233215" sldId="266"/>
            <ac:spMk id="1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30.746" v="6837" actId="164"/>
          <ac:spMkLst>
            <pc:docMk/>
            <pc:sldMk cId="981233215" sldId="266"/>
            <ac:spMk id="1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30.746" v="6837" actId="164"/>
          <ac:spMkLst>
            <pc:docMk/>
            <pc:sldMk cId="981233215" sldId="266"/>
            <ac:spMk id="1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30.746" v="6837" actId="164"/>
          <ac:spMkLst>
            <pc:docMk/>
            <pc:sldMk cId="981233215" sldId="266"/>
            <ac:spMk id="2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30.746" v="6837" actId="164"/>
          <ac:spMkLst>
            <pc:docMk/>
            <pc:sldMk cId="981233215" sldId="266"/>
            <ac:spMk id="2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30.746" v="6837" actId="164"/>
          <ac:spMkLst>
            <pc:docMk/>
            <pc:sldMk cId="981233215" sldId="266"/>
            <ac:spMk id="2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7:30.746" v="6837" actId="164"/>
          <ac:spMkLst>
            <pc:docMk/>
            <pc:sldMk cId="981233215" sldId="266"/>
            <ac:spMk id="2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6:58.188" v="6834" actId="1076"/>
          <ac:spMkLst>
            <pc:docMk/>
            <pc:sldMk cId="981233215" sldId="266"/>
            <ac:spMk id="2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6:58.188" v="6834" actId="1076"/>
          <ac:spMkLst>
            <pc:docMk/>
            <pc:sldMk cId="981233215" sldId="266"/>
            <ac:spMk id="2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6:58.188" v="6834" actId="1076"/>
          <ac:spMkLst>
            <pc:docMk/>
            <pc:sldMk cId="981233215" sldId="266"/>
            <ac:spMk id="2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6:58.188" v="6834" actId="1076"/>
          <ac:spMkLst>
            <pc:docMk/>
            <pc:sldMk cId="981233215" sldId="266"/>
            <ac:spMk id="2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6:58.188" v="6834" actId="1076"/>
          <ac:spMkLst>
            <pc:docMk/>
            <pc:sldMk cId="981233215" sldId="266"/>
            <ac:spMk id="2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6:58.188" v="6834" actId="1076"/>
          <ac:spMkLst>
            <pc:docMk/>
            <pc:sldMk cId="981233215" sldId="266"/>
            <ac:spMk id="2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6:58.188" v="6834" actId="1076"/>
          <ac:spMkLst>
            <pc:docMk/>
            <pc:sldMk cId="981233215" sldId="266"/>
            <ac:spMk id="3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6:58.188" v="6834" actId="1076"/>
          <ac:spMkLst>
            <pc:docMk/>
            <pc:sldMk cId="981233215" sldId="266"/>
            <ac:spMk id="3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9T13:26:58.188" v="6834" actId="1076"/>
          <ac:spMkLst>
            <pc:docMk/>
            <pc:sldMk cId="981233215" sldId="266"/>
            <ac:spMk id="3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31:17.294" v="5085" actId="13926"/>
          <ac:spMkLst>
            <pc:docMk/>
            <pc:sldMk cId="981233215" sldId="266"/>
            <ac:spMk id="34" creationId="{00000000-0000-0000-0000-000000000000}"/>
          </ac:spMkLst>
        </pc:spChg>
        <pc:spChg chg="add mod">
          <ac:chgData name="Francesco Bellotti" userId="f453232b-f87d-4756-9d8b-c09bc835cc42" providerId="ADAL" clId="{C7FEA3FA-4936-41E1-B7FA-CA082069F7F7}" dt="2026-10-09T13:28:28.781" v="6863" actId="1076"/>
          <ac:spMkLst>
            <pc:docMk/>
            <pc:sldMk cId="981233215" sldId="266"/>
            <ac:spMk id="37" creationId="{79549E27-1480-3CE1-45B3-726CFEC2858C}"/>
          </ac:spMkLst>
        </pc:spChg>
        <pc:grpChg chg="mod">
          <ac:chgData name="Francesco Bellotti" userId="f453232b-f87d-4756-9d8b-c09bc835cc42" providerId="ADAL" clId="{C7FEA3FA-4936-41E1-B7FA-CA082069F7F7}" dt="2026-10-09T13:27:36.982" v="6839" actId="1076"/>
          <ac:grpSpMkLst>
            <pc:docMk/>
            <pc:sldMk cId="981233215" sldId="266"/>
            <ac:grpSpMk id="35" creationId="{A7477B31-112D-D136-83A3-AD194F0DCDD5}"/>
          </ac:grpSpMkLst>
        </pc:grpChg>
        <pc:grpChg chg="add mod">
          <ac:chgData name="Francesco Bellotti" userId="f453232b-f87d-4756-9d8b-c09bc835cc42" providerId="ADAL" clId="{C7FEA3FA-4936-41E1-B7FA-CA082069F7F7}" dt="2026-10-09T13:27:30.746" v="6837" actId="164"/>
          <ac:grpSpMkLst>
            <pc:docMk/>
            <pc:sldMk cId="981233215" sldId="266"/>
            <ac:grpSpMk id="36" creationId="{1C2E94D8-11CA-45A8-8CD8-A9E4E16D1E4E}"/>
          </ac:grpSpMkLst>
        </pc:grpChg>
      </pc:sldChg>
      <pc:sldChg chg="addSp modSp mod modNotesTx">
        <pc:chgData name="Francesco Bellotti" userId="f453232b-f87d-4756-9d8b-c09bc835cc42" providerId="ADAL" clId="{C7FEA3FA-4936-41E1-B7FA-CA082069F7F7}" dt="2026-10-02T21:35:24.262" v="5141" actId="11529"/>
        <pc:sldMkLst>
          <pc:docMk/>
          <pc:sldMk cId="694544028" sldId="268"/>
        </pc:sldMkLst>
        <pc:spChg chg="mod">
          <ac:chgData name="Francesco Bellotti" userId="f453232b-f87d-4756-9d8b-c09bc835cc42" providerId="ADAL" clId="{C7FEA3FA-4936-41E1-B7FA-CA082069F7F7}" dt="2026-10-02T21:34:17.813" v="5102" actId="1076"/>
          <ac:spMkLst>
            <pc:docMk/>
            <pc:sldMk cId="694544028" sldId="268"/>
            <ac:spMk id="32" creationId="{00000000-0000-0000-0000-000000000000}"/>
          </ac:spMkLst>
        </pc:spChg>
        <pc:spChg chg="add mod">
          <ac:chgData name="Francesco Bellotti" userId="f453232b-f87d-4756-9d8b-c09bc835cc42" providerId="ADAL" clId="{C7FEA3FA-4936-41E1-B7FA-CA082069F7F7}" dt="2026-10-02T21:33:55.932" v="5099" actId="1076"/>
          <ac:spMkLst>
            <pc:docMk/>
            <pc:sldMk cId="694544028" sldId="268"/>
            <ac:spMk id="36" creationId="{066B7AB8-6C0C-3BDE-2A74-C6939C228A97}"/>
          </ac:spMkLst>
        </pc:spChg>
        <pc:spChg chg="add mod">
          <ac:chgData name="Francesco Bellotti" userId="f453232b-f87d-4756-9d8b-c09bc835cc42" providerId="ADAL" clId="{C7FEA3FA-4936-41E1-B7FA-CA082069F7F7}" dt="2026-10-02T21:33:55.932" v="5099" actId="1076"/>
          <ac:spMkLst>
            <pc:docMk/>
            <pc:sldMk cId="694544028" sldId="268"/>
            <ac:spMk id="38" creationId="{F4799B04-D5ED-6E13-E768-123B71CA20D3}"/>
          </ac:spMkLst>
        </pc:spChg>
        <pc:spChg chg="add mod">
          <ac:chgData name="Francesco Bellotti" userId="f453232b-f87d-4756-9d8b-c09bc835cc42" providerId="ADAL" clId="{C7FEA3FA-4936-41E1-B7FA-CA082069F7F7}" dt="2026-10-02T21:33:55.932" v="5099" actId="1076"/>
          <ac:spMkLst>
            <pc:docMk/>
            <pc:sldMk cId="694544028" sldId="268"/>
            <ac:spMk id="40" creationId="{7D968CA1-D1E3-7ACF-0A1F-83CC6C755FC8}"/>
          </ac:spMkLst>
        </pc:spChg>
        <pc:spChg chg="add mod">
          <ac:chgData name="Francesco Bellotti" userId="f453232b-f87d-4756-9d8b-c09bc835cc42" providerId="ADAL" clId="{C7FEA3FA-4936-41E1-B7FA-CA082069F7F7}" dt="2026-10-02T21:33:55.932" v="5099" actId="1076"/>
          <ac:spMkLst>
            <pc:docMk/>
            <pc:sldMk cId="694544028" sldId="268"/>
            <ac:spMk id="42" creationId="{CE669E64-7802-432B-CAD3-356679E0C8D1}"/>
          </ac:spMkLst>
        </pc:spChg>
        <pc:spChg chg="add mod">
          <ac:chgData name="Francesco Bellotti" userId="f453232b-f87d-4756-9d8b-c09bc835cc42" providerId="ADAL" clId="{C7FEA3FA-4936-41E1-B7FA-CA082069F7F7}" dt="2026-10-02T21:33:55.932" v="5099" actId="1076"/>
          <ac:spMkLst>
            <pc:docMk/>
            <pc:sldMk cId="694544028" sldId="268"/>
            <ac:spMk id="44" creationId="{01A26E75-0BA6-06CD-3B8D-016147AAA1B5}"/>
          </ac:spMkLst>
        </pc:spChg>
        <pc:spChg chg="add mod">
          <ac:chgData name="Francesco Bellotti" userId="f453232b-f87d-4756-9d8b-c09bc835cc42" providerId="ADAL" clId="{C7FEA3FA-4936-41E1-B7FA-CA082069F7F7}" dt="2026-10-02T21:33:55.932" v="5099" actId="1076"/>
          <ac:spMkLst>
            <pc:docMk/>
            <pc:sldMk cId="694544028" sldId="268"/>
            <ac:spMk id="46" creationId="{592D2AF8-BBA6-6125-8F61-ADE527FD4B57}"/>
          </ac:spMkLst>
        </pc:spChg>
        <pc:spChg chg="add mod">
          <ac:chgData name="Francesco Bellotti" userId="f453232b-f87d-4756-9d8b-c09bc835cc42" providerId="ADAL" clId="{C7FEA3FA-4936-41E1-B7FA-CA082069F7F7}" dt="2026-10-02T21:33:55.932" v="5099" actId="1076"/>
          <ac:spMkLst>
            <pc:docMk/>
            <pc:sldMk cId="694544028" sldId="268"/>
            <ac:spMk id="48" creationId="{82515742-F59E-99BE-587D-FAEA9C2C68C7}"/>
          </ac:spMkLst>
        </pc:spChg>
        <pc:spChg chg="add mod">
          <ac:chgData name="Francesco Bellotti" userId="f453232b-f87d-4756-9d8b-c09bc835cc42" providerId="ADAL" clId="{C7FEA3FA-4936-41E1-B7FA-CA082069F7F7}" dt="2026-10-02T21:33:55.932" v="5099" actId="1076"/>
          <ac:spMkLst>
            <pc:docMk/>
            <pc:sldMk cId="694544028" sldId="268"/>
            <ac:spMk id="50" creationId="{951A5CBE-970A-FF94-CE21-706B94F951FB}"/>
          </ac:spMkLst>
        </pc:spChg>
        <pc:spChg chg="add mod">
          <ac:chgData name="Francesco Bellotti" userId="f453232b-f87d-4756-9d8b-c09bc835cc42" providerId="ADAL" clId="{C7FEA3FA-4936-41E1-B7FA-CA082069F7F7}" dt="2026-10-02T21:34:03.180" v="5101" actId="1076"/>
          <ac:spMkLst>
            <pc:docMk/>
            <pc:sldMk cId="694544028" sldId="268"/>
            <ac:spMk id="52" creationId="{B063527C-F19D-4491-35C8-A0B693E2E83A}"/>
          </ac:spMkLst>
        </pc:spChg>
        <pc:spChg chg="add mod">
          <ac:chgData name="Francesco Bellotti" userId="f453232b-f87d-4756-9d8b-c09bc835cc42" providerId="ADAL" clId="{C7FEA3FA-4936-41E1-B7FA-CA082069F7F7}" dt="2026-10-02T21:35:18.959" v="5140" actId="1076"/>
          <ac:spMkLst>
            <pc:docMk/>
            <pc:sldMk cId="694544028" sldId="268"/>
            <ac:spMk id="53" creationId="{7C1E4809-7A35-1B6C-6C1C-4BBF4BA0C58A}"/>
          </ac:spMkLst>
        </pc:spChg>
        <pc:cxnChg chg="add">
          <ac:chgData name="Francesco Bellotti" userId="f453232b-f87d-4756-9d8b-c09bc835cc42" providerId="ADAL" clId="{C7FEA3FA-4936-41E1-B7FA-CA082069F7F7}" dt="2026-10-02T21:35:24.262" v="5141" actId="11529"/>
          <ac:cxnSpMkLst>
            <pc:docMk/>
            <pc:sldMk cId="694544028" sldId="268"/>
            <ac:cxnSpMk id="55" creationId="{5425067F-B4DE-23AE-9E57-869F1886E6AF}"/>
          </ac:cxnSpMkLst>
        </pc:cxnChg>
      </pc:sldChg>
      <pc:sldChg chg="delSp modSp mod">
        <pc:chgData name="Francesco Bellotti" userId="f453232b-f87d-4756-9d8b-c09bc835cc42" providerId="ADAL" clId="{C7FEA3FA-4936-41E1-B7FA-CA082069F7F7}" dt="2026-10-02T21:37:28.993" v="5153" actId="13926"/>
        <pc:sldMkLst>
          <pc:docMk/>
          <pc:sldMk cId="1517819525" sldId="269"/>
        </pc:sldMkLst>
        <pc:spChg chg="mod">
          <ac:chgData name="Francesco Bellotti" userId="f453232b-f87d-4756-9d8b-c09bc835cc42" providerId="ADAL" clId="{C7FEA3FA-4936-41E1-B7FA-CA082069F7F7}" dt="2026-10-02T21:36:58.536" v="5144" actId="13926"/>
          <ac:spMkLst>
            <pc:docMk/>
            <pc:sldMk cId="1517819525" sldId="269"/>
            <ac:spMk id="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37:14.825" v="5152" actId="20577"/>
          <ac:spMkLst>
            <pc:docMk/>
            <pc:sldMk cId="1517819525" sldId="269"/>
            <ac:spMk id="1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37:28.993" v="5153" actId="13926"/>
          <ac:spMkLst>
            <pc:docMk/>
            <pc:sldMk cId="1517819525" sldId="269"/>
            <ac:spMk id="26" creationId="{00000000-0000-0000-0000-000000000000}"/>
          </ac:spMkLst>
        </pc:spChg>
      </pc:sldChg>
      <pc:sldChg chg="modSp mod modNotesTx">
        <pc:chgData name="Francesco Bellotti" userId="f453232b-f87d-4756-9d8b-c09bc835cc42" providerId="ADAL" clId="{C7FEA3FA-4936-41E1-B7FA-CA082069F7F7}" dt="2026-10-02T21:42:14.070" v="5159" actId="13926"/>
        <pc:sldMkLst>
          <pc:docMk/>
          <pc:sldMk cId="2112783532" sldId="270"/>
        </pc:sldMkLst>
        <pc:spChg chg="mod">
          <ac:chgData name="Francesco Bellotti" userId="f453232b-f87d-4756-9d8b-c09bc835cc42" providerId="ADAL" clId="{C7FEA3FA-4936-41E1-B7FA-CA082069F7F7}" dt="2026-10-02T21:42:01.693" v="5158" actId="113"/>
          <ac:spMkLst>
            <pc:docMk/>
            <pc:sldMk cId="2112783532" sldId="270"/>
            <ac:spMk id="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42:14.070" v="5159" actId="13926"/>
          <ac:spMkLst>
            <pc:docMk/>
            <pc:sldMk cId="2112783532" sldId="270"/>
            <ac:spMk id="42" creationId="{00000000-0000-0000-0000-000000000000}"/>
          </ac:spMkLst>
        </pc:spChg>
      </pc:sldChg>
      <pc:sldChg chg="modSp mod modNotesTx">
        <pc:chgData name="Francesco Bellotti" userId="f453232b-f87d-4756-9d8b-c09bc835cc42" providerId="ADAL" clId="{C7FEA3FA-4936-41E1-B7FA-CA082069F7F7}" dt="2026-10-02T21:43:20.991" v="5162" actId="13926"/>
        <pc:sldMkLst>
          <pc:docMk/>
          <pc:sldMk cId="3904374214" sldId="271"/>
        </pc:sldMkLst>
        <pc:spChg chg="mod">
          <ac:chgData name="Francesco Bellotti" userId="f453232b-f87d-4756-9d8b-c09bc835cc42" providerId="ADAL" clId="{C7FEA3FA-4936-41E1-B7FA-CA082069F7F7}" dt="2026-10-02T21:43:20.991" v="5162" actId="13926"/>
          <ac:spMkLst>
            <pc:docMk/>
            <pc:sldMk cId="3904374214" sldId="271"/>
            <ac:spMk id="51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12:30:21.187" v="6261" actId="20577"/>
        <pc:sldMkLst>
          <pc:docMk/>
          <pc:sldMk cId="3561318121" sldId="274"/>
        </pc:sldMkLst>
        <pc:spChg chg="mod">
          <ac:chgData name="Francesco Bellotti" userId="f453232b-f87d-4756-9d8b-c09bc835cc42" providerId="ADAL" clId="{C7FEA3FA-4936-41E1-B7FA-CA082069F7F7}" dt="2026-10-05T12:30:21.187" v="6261" actId="20577"/>
          <ac:spMkLst>
            <pc:docMk/>
            <pc:sldMk cId="3561318121" sldId="274"/>
            <ac:spMk id="3" creationId="{2317FE89-4BE8-D23B-3BB4-95FCB2A50830}"/>
          </ac:spMkLst>
        </pc:spChg>
      </pc:sldChg>
      <pc:sldChg chg="addSp modSp new mod">
        <pc:chgData name="Francesco Bellotti" userId="f453232b-f87d-4756-9d8b-c09bc835cc42" providerId="ADAL" clId="{C7FEA3FA-4936-41E1-B7FA-CA082069F7F7}" dt="2026-10-02T11:10:02.236" v="5046" actId="14100"/>
        <pc:sldMkLst>
          <pc:docMk/>
          <pc:sldMk cId="3141139328" sldId="275"/>
        </pc:sldMkLst>
        <pc:spChg chg="add mod">
          <ac:chgData name="Francesco Bellotti" userId="f453232b-f87d-4756-9d8b-c09bc835cc42" providerId="ADAL" clId="{C7FEA3FA-4936-41E1-B7FA-CA082069F7F7}" dt="2026-10-02T11:10:02.236" v="5046" actId="14100"/>
          <ac:spMkLst>
            <pc:docMk/>
            <pc:sldMk cId="3141139328" sldId="275"/>
            <ac:spMk id="5" creationId="{AF1D1B61-F212-5645-ACAB-179EB002EE10}"/>
          </ac:spMkLst>
        </pc:spChg>
      </pc:sldChg>
      <pc:sldChg chg="modSp mod">
        <pc:chgData name="Francesco Bellotti" userId="f453232b-f87d-4756-9d8b-c09bc835cc42" providerId="ADAL" clId="{C7FEA3FA-4936-41E1-B7FA-CA082069F7F7}" dt="2026-10-02T11:11:09.776" v="5052" actId="13926"/>
        <pc:sldMkLst>
          <pc:docMk/>
          <pc:sldMk cId="3789811974" sldId="276"/>
        </pc:sldMkLst>
        <pc:spChg chg="mod">
          <ac:chgData name="Francesco Bellotti" userId="f453232b-f87d-4756-9d8b-c09bc835cc42" providerId="ADAL" clId="{C7FEA3FA-4936-41E1-B7FA-CA082069F7F7}" dt="2026-10-02T11:11:09.776" v="5052" actId="13926"/>
          <ac:spMkLst>
            <pc:docMk/>
            <pc:sldMk cId="3789811974" sldId="276"/>
            <ac:spMk id="4" creationId="{E257D1A8-980E-9FCB-5967-13087662ADF8}"/>
          </ac:spMkLst>
        </pc:spChg>
      </pc:sldChg>
      <pc:sldChg chg="modSp mod">
        <pc:chgData name="Francesco Bellotti" userId="f453232b-f87d-4756-9d8b-c09bc835cc42" providerId="ADAL" clId="{C7FEA3FA-4936-41E1-B7FA-CA082069F7F7}" dt="2026-10-02T11:11:48.255" v="5054" actId="113"/>
        <pc:sldMkLst>
          <pc:docMk/>
          <pc:sldMk cId="3650248128" sldId="277"/>
        </pc:sldMkLst>
        <pc:spChg chg="mod">
          <ac:chgData name="Francesco Bellotti" userId="f453232b-f87d-4756-9d8b-c09bc835cc42" providerId="ADAL" clId="{C7FEA3FA-4936-41E1-B7FA-CA082069F7F7}" dt="2026-10-02T11:11:48.255" v="5054" actId="113"/>
          <ac:spMkLst>
            <pc:docMk/>
            <pc:sldMk cId="3650248128" sldId="277"/>
            <ac:spMk id="3" creationId="{BE11A91E-734B-41D4-1AB0-88A4E6B9DDCD}"/>
          </ac:spMkLst>
        </pc:spChg>
      </pc:sldChg>
      <pc:sldChg chg="modSp mod">
        <pc:chgData name="Francesco Bellotti" userId="f453232b-f87d-4756-9d8b-c09bc835cc42" providerId="ADAL" clId="{C7FEA3FA-4936-41E1-B7FA-CA082069F7F7}" dt="2026-10-02T11:22:37.962" v="5058" actId="20577"/>
        <pc:sldMkLst>
          <pc:docMk/>
          <pc:sldMk cId="3909881818" sldId="278"/>
        </pc:sldMkLst>
        <pc:spChg chg="mod">
          <ac:chgData name="Francesco Bellotti" userId="f453232b-f87d-4756-9d8b-c09bc835cc42" providerId="ADAL" clId="{C7FEA3FA-4936-41E1-B7FA-CA082069F7F7}" dt="2026-10-02T11:19:05.284" v="5056" actId="207"/>
          <ac:spMkLst>
            <pc:docMk/>
            <pc:sldMk cId="3909881818" sldId="278"/>
            <ac:spMk id="2" creationId="{1EA7862D-09D8-BBF2-C635-D902ADEAE6F2}"/>
          </ac:spMkLst>
        </pc:spChg>
        <pc:spChg chg="mod">
          <ac:chgData name="Francesco Bellotti" userId="f453232b-f87d-4756-9d8b-c09bc835cc42" providerId="ADAL" clId="{C7FEA3FA-4936-41E1-B7FA-CA082069F7F7}" dt="2026-10-02T11:22:37.962" v="5058" actId="20577"/>
          <ac:spMkLst>
            <pc:docMk/>
            <pc:sldMk cId="3909881818" sldId="278"/>
            <ac:spMk id="4" creationId="{04452184-7D4C-9093-C2BE-8B960E5298A7}"/>
          </ac:spMkLst>
        </pc:spChg>
      </pc:sldChg>
      <pc:sldChg chg="modSp mod">
        <pc:chgData name="Francesco Bellotti" userId="f453232b-f87d-4756-9d8b-c09bc835cc42" providerId="ADAL" clId="{C7FEA3FA-4936-41E1-B7FA-CA082069F7F7}" dt="2026-10-02T21:16:17.074" v="5059" actId="113"/>
        <pc:sldMkLst>
          <pc:docMk/>
          <pc:sldMk cId="3244509010" sldId="299"/>
        </pc:sldMkLst>
        <pc:spChg chg="mod">
          <ac:chgData name="Francesco Bellotti" userId="f453232b-f87d-4756-9d8b-c09bc835cc42" providerId="ADAL" clId="{C7FEA3FA-4936-41E1-B7FA-CA082069F7F7}" dt="2026-10-02T21:16:17.074" v="5059" actId="113"/>
          <ac:spMkLst>
            <pc:docMk/>
            <pc:sldMk cId="3244509010" sldId="299"/>
            <ac:spMk id="5" creationId="{0E0B5D84-17D4-989B-5907-F3ECC4676C9C}"/>
          </ac:spMkLst>
        </pc:spChg>
      </pc:sldChg>
      <pc:sldChg chg="modSp mod">
        <pc:chgData name="Francesco Bellotti" userId="f453232b-f87d-4756-9d8b-c09bc835cc42" providerId="ADAL" clId="{C7FEA3FA-4936-41E1-B7FA-CA082069F7F7}" dt="2026-10-02T21:20:49.565" v="5063" actId="13926"/>
        <pc:sldMkLst>
          <pc:docMk/>
          <pc:sldMk cId="3344228720" sldId="300"/>
        </pc:sldMkLst>
        <pc:spChg chg="mod">
          <ac:chgData name="Francesco Bellotti" userId="f453232b-f87d-4756-9d8b-c09bc835cc42" providerId="ADAL" clId="{C7FEA3FA-4936-41E1-B7FA-CA082069F7F7}" dt="2026-10-02T21:20:49.565" v="5063" actId="13926"/>
          <ac:spMkLst>
            <pc:docMk/>
            <pc:sldMk cId="3344228720" sldId="300"/>
            <ac:spMk id="3" creationId="{8186EED4-A2D6-0BF0-F131-DE2EC6798F8E}"/>
          </ac:spMkLst>
        </pc:spChg>
      </pc:sldChg>
      <pc:sldChg chg="modSp mod">
        <pc:chgData name="Francesco Bellotti" userId="f453232b-f87d-4756-9d8b-c09bc835cc42" providerId="ADAL" clId="{C7FEA3FA-4936-41E1-B7FA-CA082069F7F7}" dt="2026-10-02T21:19:43.293" v="5062" actId="13926"/>
        <pc:sldMkLst>
          <pc:docMk/>
          <pc:sldMk cId="765711974" sldId="301"/>
        </pc:sldMkLst>
        <pc:spChg chg="mod">
          <ac:chgData name="Francesco Bellotti" userId="f453232b-f87d-4756-9d8b-c09bc835cc42" providerId="ADAL" clId="{C7FEA3FA-4936-41E1-B7FA-CA082069F7F7}" dt="2026-10-02T21:19:43.293" v="5062" actId="13926"/>
          <ac:spMkLst>
            <pc:docMk/>
            <pc:sldMk cId="765711974" sldId="301"/>
            <ac:spMk id="3" creationId="{399296A7-1FF3-7E7B-B12D-F7B2DF3F39E0}"/>
          </ac:spMkLst>
        </pc:spChg>
      </pc:sldChg>
      <pc:sldChg chg="modSp mod">
        <pc:chgData name="Francesco Bellotti" userId="f453232b-f87d-4756-9d8b-c09bc835cc42" providerId="ADAL" clId="{C7FEA3FA-4936-41E1-B7FA-CA082069F7F7}" dt="2026-10-02T21:24:55.866" v="5079" actId="113"/>
        <pc:sldMkLst>
          <pc:docMk/>
          <pc:sldMk cId="2111183666" sldId="302"/>
        </pc:sldMkLst>
        <pc:spChg chg="mod">
          <ac:chgData name="Francesco Bellotti" userId="f453232b-f87d-4756-9d8b-c09bc835cc42" providerId="ADAL" clId="{C7FEA3FA-4936-41E1-B7FA-CA082069F7F7}" dt="2026-10-02T21:24:55.866" v="5079" actId="113"/>
          <ac:spMkLst>
            <pc:docMk/>
            <pc:sldMk cId="2111183666" sldId="302"/>
            <ac:spMk id="3" creationId="{3448C9EA-DAA6-B883-134E-B1ABC10CDE24}"/>
          </ac:spMkLst>
        </pc:spChg>
      </pc:sldChg>
      <pc:sldChg chg="modSp mod">
        <pc:chgData name="Francesco Bellotti" userId="f453232b-f87d-4756-9d8b-c09bc835cc42" providerId="ADAL" clId="{C7FEA3FA-4936-41E1-B7FA-CA082069F7F7}" dt="2026-10-02T21:25:57.701" v="5083" actId="113"/>
        <pc:sldMkLst>
          <pc:docMk/>
          <pc:sldMk cId="2812161943" sldId="303"/>
        </pc:sldMkLst>
        <pc:spChg chg="mod">
          <ac:chgData name="Francesco Bellotti" userId="f453232b-f87d-4756-9d8b-c09bc835cc42" providerId="ADAL" clId="{C7FEA3FA-4936-41E1-B7FA-CA082069F7F7}" dt="2026-10-02T21:25:57.701" v="5083" actId="113"/>
          <ac:spMkLst>
            <pc:docMk/>
            <pc:sldMk cId="2812161943" sldId="303"/>
            <ac:spMk id="3" creationId="{109EE84D-7A47-AE6F-2FD0-2EA73106BF51}"/>
          </ac:spMkLst>
        </pc:spChg>
      </pc:sldChg>
      <pc:sldChg chg="modSp mod">
        <pc:chgData name="Francesco Bellotti" userId="f453232b-f87d-4756-9d8b-c09bc835cc42" providerId="ADAL" clId="{C7FEA3FA-4936-41E1-B7FA-CA082069F7F7}" dt="2026-10-02T21:41:02.560" v="5156" actId="14100"/>
        <pc:sldMkLst>
          <pc:docMk/>
          <pc:sldMk cId="3239939370" sldId="311"/>
        </pc:sldMkLst>
        <pc:spChg chg="mod">
          <ac:chgData name="Francesco Bellotti" userId="f453232b-f87d-4756-9d8b-c09bc835cc42" providerId="ADAL" clId="{C7FEA3FA-4936-41E1-B7FA-CA082069F7F7}" dt="2026-10-02T21:40:54.349" v="5155" actId="113"/>
          <ac:spMkLst>
            <pc:docMk/>
            <pc:sldMk cId="3239939370" sldId="311"/>
            <ac:spMk id="3" creationId="{BB66E044-A7A3-924E-02A1-9E518E53FFD2}"/>
          </ac:spMkLst>
        </pc:spChg>
        <pc:spChg chg="mod">
          <ac:chgData name="Francesco Bellotti" userId="f453232b-f87d-4756-9d8b-c09bc835cc42" providerId="ADAL" clId="{C7FEA3FA-4936-41E1-B7FA-CA082069F7F7}" dt="2026-10-02T21:41:02.560" v="5156" actId="14100"/>
          <ac:spMkLst>
            <pc:docMk/>
            <pc:sldMk cId="3239939370" sldId="311"/>
            <ac:spMk id="5" creationId="{B5DDE4F7-5240-3844-2802-A351D7F1FAF8}"/>
          </ac:spMkLst>
        </pc:spChg>
      </pc:sldChg>
      <pc:sldChg chg="modSp mod">
        <pc:chgData name="Francesco Bellotti" userId="f453232b-f87d-4756-9d8b-c09bc835cc42" providerId="ADAL" clId="{C7FEA3FA-4936-41E1-B7FA-CA082069F7F7}" dt="2026-10-02T21:47:04.664" v="5166" actId="403"/>
        <pc:sldMkLst>
          <pc:docMk/>
          <pc:sldMk cId="0" sldId="313"/>
        </pc:sldMkLst>
        <pc:spChg chg="mod">
          <ac:chgData name="Francesco Bellotti" userId="f453232b-f87d-4756-9d8b-c09bc835cc42" providerId="ADAL" clId="{C7FEA3FA-4936-41E1-B7FA-CA082069F7F7}" dt="2026-10-02T21:46:57.281" v="5163" actId="13926"/>
          <ac:spMkLst>
            <pc:docMk/>
            <pc:sldMk cId="0" sldId="313"/>
            <ac:spMk id="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47:04.664" v="5166" actId="403"/>
          <ac:spMkLst>
            <pc:docMk/>
            <pc:sldMk cId="0" sldId="313"/>
            <ac:spMk id="4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2T21:54:24.296" v="5170" actId="1076"/>
        <pc:sldMkLst>
          <pc:docMk/>
          <pc:sldMk cId="0" sldId="314"/>
        </pc:sldMkLst>
        <pc:spChg chg="mod">
          <ac:chgData name="Francesco Bellotti" userId="f453232b-f87d-4756-9d8b-c09bc835cc42" providerId="ADAL" clId="{C7FEA3FA-4936-41E1-B7FA-CA082069F7F7}" dt="2026-10-02T21:53:37.842" v="5169" actId="113"/>
          <ac:spMkLst>
            <pc:docMk/>
            <pc:sldMk cId="0" sldId="314"/>
            <ac:spMk id="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54:24.296" v="5170" actId="1076"/>
          <ac:spMkLst>
            <pc:docMk/>
            <pc:sldMk cId="0" sldId="314"/>
            <ac:spMk id="5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54:24.296" v="5170" actId="1076"/>
          <ac:spMkLst>
            <pc:docMk/>
            <pc:sldMk cId="0" sldId="314"/>
            <ac:spMk id="5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1:53:33.828" v="5168" actId="113"/>
          <ac:spMkLst>
            <pc:docMk/>
            <pc:sldMk cId="0" sldId="314"/>
            <ac:spMk id="58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2T22:10:34.330" v="5171" actId="13926"/>
        <pc:sldMkLst>
          <pc:docMk/>
          <pc:sldMk cId="0" sldId="315"/>
        </pc:sldMkLst>
        <pc:spChg chg="mod">
          <ac:chgData name="Francesco Bellotti" userId="f453232b-f87d-4756-9d8b-c09bc835cc42" providerId="ADAL" clId="{C7FEA3FA-4936-41E1-B7FA-CA082069F7F7}" dt="2026-10-02T22:10:34.330" v="5171" actId="13926"/>
          <ac:spMkLst>
            <pc:docMk/>
            <pc:sldMk cId="0" sldId="315"/>
            <ac:spMk id="50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2T22:11:02.440" v="5172" actId="113"/>
        <pc:sldMkLst>
          <pc:docMk/>
          <pc:sldMk cId="0" sldId="316"/>
        </pc:sldMkLst>
        <pc:spChg chg="mod">
          <ac:chgData name="Francesco Bellotti" userId="f453232b-f87d-4756-9d8b-c09bc835cc42" providerId="ADAL" clId="{C7FEA3FA-4936-41E1-B7FA-CA082069F7F7}" dt="2026-10-02T22:11:02.440" v="5172" actId="113"/>
          <ac:spMkLst>
            <pc:docMk/>
            <pc:sldMk cId="0" sldId="316"/>
            <ac:spMk id="77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2T22:14:10.240" v="5181" actId="1076"/>
        <pc:sldMkLst>
          <pc:docMk/>
          <pc:sldMk cId="0" sldId="318"/>
        </pc:sldMkLst>
        <pc:spChg chg="mod">
          <ac:chgData name="Francesco Bellotti" userId="f453232b-f87d-4756-9d8b-c09bc835cc42" providerId="ADAL" clId="{C7FEA3FA-4936-41E1-B7FA-CA082069F7F7}" dt="2026-10-02T22:14:10.240" v="5181" actId="1076"/>
          <ac:spMkLst>
            <pc:docMk/>
            <pc:sldMk cId="0" sldId="318"/>
            <ac:spMk id="50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2T22:18:49.757" v="5208" actId="403"/>
        <pc:sldMkLst>
          <pc:docMk/>
          <pc:sldMk cId="0" sldId="319"/>
        </pc:sldMkLst>
        <pc:spChg chg="mod">
          <ac:chgData name="Francesco Bellotti" userId="f453232b-f87d-4756-9d8b-c09bc835cc42" providerId="ADAL" clId="{C7FEA3FA-4936-41E1-B7FA-CA082069F7F7}" dt="2026-10-02T22:18:49.757" v="5208" actId="403"/>
          <ac:spMkLst>
            <pc:docMk/>
            <pc:sldMk cId="0" sldId="319"/>
            <ac:spMk id="75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2T22:24:06.993" v="5250" actId="13926"/>
        <pc:sldMkLst>
          <pc:docMk/>
          <pc:sldMk cId="0" sldId="320"/>
        </pc:sldMkLst>
        <pc:spChg chg="mod">
          <ac:chgData name="Francesco Bellotti" userId="f453232b-f87d-4756-9d8b-c09bc835cc42" providerId="ADAL" clId="{C7FEA3FA-4936-41E1-B7FA-CA082069F7F7}" dt="2026-10-02T22:24:06.993" v="5250" actId="13926"/>
          <ac:spMkLst>
            <pc:docMk/>
            <pc:sldMk cId="0" sldId="320"/>
            <ac:spMk id="55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2T22:28:22.963" v="5266" actId="13926"/>
        <pc:sldMkLst>
          <pc:docMk/>
          <pc:sldMk cId="0" sldId="322"/>
        </pc:sldMkLst>
        <pc:spChg chg="mod">
          <ac:chgData name="Francesco Bellotti" userId="f453232b-f87d-4756-9d8b-c09bc835cc42" providerId="ADAL" clId="{C7FEA3FA-4936-41E1-B7FA-CA082069F7F7}" dt="2026-10-02T22:28:14.372" v="5264" actId="1076"/>
          <ac:spMkLst>
            <pc:docMk/>
            <pc:sldMk cId="0" sldId="322"/>
            <ac:spMk id="4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2:28:22.963" v="5266" actId="13926"/>
          <ac:spMkLst>
            <pc:docMk/>
            <pc:sldMk cId="0" sldId="322"/>
            <ac:spMk id="45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2T22:29:02.972" v="5267" actId="113"/>
        <pc:sldMkLst>
          <pc:docMk/>
          <pc:sldMk cId="0" sldId="323"/>
        </pc:sldMkLst>
        <pc:spChg chg="mod">
          <ac:chgData name="Francesco Bellotti" userId="f453232b-f87d-4756-9d8b-c09bc835cc42" providerId="ADAL" clId="{C7FEA3FA-4936-41E1-B7FA-CA082069F7F7}" dt="2026-10-02T22:29:02.972" v="5267" actId="113"/>
          <ac:spMkLst>
            <pc:docMk/>
            <pc:sldMk cId="0" sldId="323"/>
            <ac:spMk id="37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2T22:58:06.339" v="5274" actId="113"/>
        <pc:sldMkLst>
          <pc:docMk/>
          <pc:sldMk cId="0" sldId="325"/>
        </pc:sldMkLst>
        <pc:spChg chg="mod">
          <ac:chgData name="Francesco Bellotti" userId="f453232b-f87d-4756-9d8b-c09bc835cc42" providerId="ADAL" clId="{C7FEA3FA-4936-41E1-B7FA-CA082069F7F7}" dt="2026-10-02T22:58:06.339" v="5274" actId="113"/>
          <ac:spMkLst>
            <pc:docMk/>
            <pc:sldMk cId="0" sldId="325"/>
            <ac:spMk id="50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2T22:59:53.957" v="5281" actId="113"/>
        <pc:sldMkLst>
          <pc:docMk/>
          <pc:sldMk cId="0" sldId="326"/>
        </pc:sldMkLst>
        <pc:spChg chg="mod">
          <ac:chgData name="Francesco Bellotti" userId="f453232b-f87d-4756-9d8b-c09bc835cc42" providerId="ADAL" clId="{C7FEA3FA-4936-41E1-B7FA-CA082069F7F7}" dt="2026-10-02T22:59:34.818" v="5279" actId="1076"/>
          <ac:spMkLst>
            <pc:docMk/>
            <pc:sldMk cId="0" sldId="326"/>
            <ac:spMk id="3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2:59:38.902" v="5280" actId="13926"/>
          <ac:spMkLst>
            <pc:docMk/>
            <pc:sldMk cId="0" sldId="326"/>
            <ac:spMk id="3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2T22:59:53.957" v="5281" actId="113"/>
          <ac:spMkLst>
            <pc:docMk/>
            <pc:sldMk cId="0" sldId="326"/>
            <ac:spMk id="40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2T22:11:40.958" v="5176" actId="20577"/>
        <pc:sldMkLst>
          <pc:docMk/>
          <pc:sldMk cId="1227649374" sldId="334"/>
        </pc:sldMkLst>
        <pc:spChg chg="mod">
          <ac:chgData name="Francesco Bellotti" userId="f453232b-f87d-4756-9d8b-c09bc835cc42" providerId="ADAL" clId="{C7FEA3FA-4936-41E1-B7FA-CA082069F7F7}" dt="2026-10-02T22:11:40.958" v="5176" actId="20577"/>
          <ac:spMkLst>
            <pc:docMk/>
            <pc:sldMk cId="1227649374" sldId="334"/>
            <ac:spMk id="3" creationId="{CC48F827-6CC9-7CB0-469D-187F8E8B1E97}"/>
          </ac:spMkLst>
        </pc:spChg>
      </pc:sldChg>
      <pc:sldChg chg="modSp mod">
        <pc:chgData name="Francesco Bellotti" userId="f453232b-f87d-4756-9d8b-c09bc835cc42" providerId="ADAL" clId="{C7FEA3FA-4936-41E1-B7FA-CA082069F7F7}" dt="2026-10-02T22:17:50.725" v="5206" actId="113"/>
        <pc:sldMkLst>
          <pc:docMk/>
          <pc:sldMk cId="3113771197" sldId="338"/>
        </pc:sldMkLst>
        <pc:spChg chg="mod">
          <ac:chgData name="Francesco Bellotti" userId="f453232b-f87d-4756-9d8b-c09bc835cc42" providerId="ADAL" clId="{C7FEA3FA-4936-41E1-B7FA-CA082069F7F7}" dt="2026-10-02T22:17:50.725" v="5206" actId="113"/>
          <ac:spMkLst>
            <pc:docMk/>
            <pc:sldMk cId="3113771197" sldId="338"/>
            <ac:spMk id="7" creationId="{323E2CBB-D14C-5EF5-56B6-F98C131B935C}"/>
          </ac:spMkLst>
        </pc:spChg>
        <pc:spChg chg="mod">
          <ac:chgData name="Francesco Bellotti" userId="f453232b-f87d-4756-9d8b-c09bc835cc42" providerId="ADAL" clId="{C7FEA3FA-4936-41E1-B7FA-CA082069F7F7}" dt="2026-10-02T22:16:59.108" v="5182" actId="13926"/>
          <ac:spMkLst>
            <pc:docMk/>
            <pc:sldMk cId="3113771197" sldId="338"/>
            <ac:spMk id="8" creationId="{34C28A8F-0F30-50A6-0429-7F4C2E37DCE5}"/>
          </ac:spMkLst>
        </pc:spChg>
      </pc:sldChg>
      <pc:sldChg chg="modSp mod">
        <pc:chgData name="Francesco Bellotti" userId="f453232b-f87d-4756-9d8b-c09bc835cc42" providerId="ADAL" clId="{C7FEA3FA-4936-41E1-B7FA-CA082069F7F7}" dt="2026-10-02T22:19:30.547" v="5221" actId="113"/>
        <pc:sldMkLst>
          <pc:docMk/>
          <pc:sldMk cId="898548036" sldId="341"/>
        </pc:sldMkLst>
        <pc:spChg chg="mod">
          <ac:chgData name="Francesco Bellotti" userId="f453232b-f87d-4756-9d8b-c09bc835cc42" providerId="ADAL" clId="{C7FEA3FA-4936-41E1-B7FA-CA082069F7F7}" dt="2026-10-02T22:19:30.547" v="5221" actId="113"/>
          <ac:spMkLst>
            <pc:docMk/>
            <pc:sldMk cId="898548036" sldId="341"/>
            <ac:spMk id="3" creationId="{B71F45F2-4903-90D8-F556-EC0A49218DE2}"/>
          </ac:spMkLst>
        </pc:spChg>
      </pc:sldChg>
      <pc:sldChg chg="modSp mod">
        <pc:chgData name="Francesco Bellotti" userId="f453232b-f87d-4756-9d8b-c09bc835cc42" providerId="ADAL" clId="{C7FEA3FA-4936-41E1-B7FA-CA082069F7F7}" dt="2026-10-02T22:23:47.329" v="5249" actId="113"/>
        <pc:sldMkLst>
          <pc:docMk/>
          <pc:sldMk cId="928987823" sldId="345"/>
        </pc:sldMkLst>
        <pc:spChg chg="mod">
          <ac:chgData name="Francesco Bellotti" userId="f453232b-f87d-4756-9d8b-c09bc835cc42" providerId="ADAL" clId="{C7FEA3FA-4936-41E1-B7FA-CA082069F7F7}" dt="2026-10-02T22:23:47.329" v="5249" actId="113"/>
          <ac:spMkLst>
            <pc:docMk/>
            <pc:sldMk cId="928987823" sldId="345"/>
            <ac:spMk id="3" creationId="{91443928-CB28-A077-F88F-0F864620EA06}"/>
          </ac:spMkLst>
        </pc:spChg>
      </pc:sldChg>
      <pc:sldChg chg="modSp mod">
        <pc:chgData name="Francesco Bellotti" userId="f453232b-f87d-4756-9d8b-c09bc835cc42" providerId="ADAL" clId="{C7FEA3FA-4936-41E1-B7FA-CA082069F7F7}" dt="2026-10-02T22:26:25.784" v="5261" actId="20577"/>
        <pc:sldMkLst>
          <pc:docMk/>
          <pc:sldMk cId="2048564903" sldId="346"/>
        </pc:sldMkLst>
        <pc:spChg chg="mod">
          <ac:chgData name="Francesco Bellotti" userId="f453232b-f87d-4756-9d8b-c09bc835cc42" providerId="ADAL" clId="{C7FEA3FA-4936-41E1-B7FA-CA082069F7F7}" dt="2026-10-02T22:26:25.784" v="5261" actId="20577"/>
          <ac:spMkLst>
            <pc:docMk/>
            <pc:sldMk cId="2048564903" sldId="346"/>
            <ac:spMk id="3" creationId="{D9A1D934-2100-39A6-98E6-CC4E1ADCF0EC}"/>
          </ac:spMkLst>
        </pc:spChg>
        <pc:spChg chg="mod">
          <ac:chgData name="Francesco Bellotti" userId="f453232b-f87d-4756-9d8b-c09bc835cc42" providerId="ADAL" clId="{C7FEA3FA-4936-41E1-B7FA-CA082069F7F7}" dt="2026-10-02T22:25:42.302" v="5260" actId="27636"/>
          <ac:spMkLst>
            <pc:docMk/>
            <pc:sldMk cId="2048564903" sldId="346"/>
            <ac:spMk id="4" creationId="{5F8B4982-4EDF-967E-64B4-968554730073}"/>
          </ac:spMkLst>
        </pc:spChg>
      </pc:sldChg>
      <pc:sldChg chg="modSp mod">
        <pc:chgData name="Francesco Bellotti" userId="f453232b-f87d-4756-9d8b-c09bc835cc42" providerId="ADAL" clId="{C7FEA3FA-4936-41E1-B7FA-CA082069F7F7}" dt="2026-10-02T22:46:33.318" v="5271" actId="13926"/>
        <pc:sldMkLst>
          <pc:docMk/>
          <pc:sldMk cId="3791626241" sldId="347"/>
        </pc:sldMkLst>
        <pc:spChg chg="mod">
          <ac:chgData name="Francesco Bellotti" userId="f453232b-f87d-4756-9d8b-c09bc835cc42" providerId="ADAL" clId="{C7FEA3FA-4936-41E1-B7FA-CA082069F7F7}" dt="2026-10-02T22:46:33.318" v="5271" actId="13926"/>
          <ac:spMkLst>
            <pc:docMk/>
            <pc:sldMk cId="3791626241" sldId="347"/>
            <ac:spMk id="3" creationId="{A4D9EE89-2642-AD7C-E434-D6164BCA7F93}"/>
          </ac:spMkLst>
        </pc:spChg>
      </pc:sldChg>
      <pc:sldChg chg="modSp mod">
        <pc:chgData name="Francesco Bellotti" userId="f453232b-f87d-4756-9d8b-c09bc835cc42" providerId="ADAL" clId="{C7FEA3FA-4936-41E1-B7FA-CA082069F7F7}" dt="2026-10-02T22:57:13.466" v="5272" actId="113"/>
        <pc:sldMkLst>
          <pc:docMk/>
          <pc:sldMk cId="4231548377" sldId="349"/>
        </pc:sldMkLst>
        <pc:spChg chg="mod">
          <ac:chgData name="Francesco Bellotti" userId="f453232b-f87d-4756-9d8b-c09bc835cc42" providerId="ADAL" clId="{C7FEA3FA-4936-41E1-B7FA-CA082069F7F7}" dt="2026-10-02T22:57:13.466" v="5272" actId="113"/>
          <ac:spMkLst>
            <pc:docMk/>
            <pc:sldMk cId="4231548377" sldId="349"/>
            <ac:spMk id="3" creationId="{CD30A9F4-4073-C4C1-6D51-D4F3A1A4C129}"/>
          </ac:spMkLst>
        </pc:spChg>
      </pc:sldChg>
      <pc:sldChg chg="modSp mod">
        <pc:chgData name="Francesco Bellotti" userId="f453232b-f87d-4756-9d8b-c09bc835cc42" providerId="ADAL" clId="{C7FEA3FA-4936-41E1-B7FA-CA082069F7F7}" dt="2026-10-02T22:59:01.136" v="5278" actId="113"/>
        <pc:sldMkLst>
          <pc:docMk/>
          <pc:sldMk cId="3722166806" sldId="350"/>
        </pc:sldMkLst>
        <pc:spChg chg="mod">
          <ac:chgData name="Francesco Bellotti" userId="f453232b-f87d-4756-9d8b-c09bc835cc42" providerId="ADAL" clId="{C7FEA3FA-4936-41E1-B7FA-CA082069F7F7}" dt="2026-10-02T22:59:01.136" v="5278" actId="113"/>
          <ac:spMkLst>
            <pc:docMk/>
            <pc:sldMk cId="3722166806" sldId="350"/>
            <ac:spMk id="3" creationId="{899099AB-F8CC-F4A0-F0EA-37575A8759C7}"/>
          </ac:spMkLst>
        </pc:spChg>
        <pc:spChg chg="mod">
          <ac:chgData name="Francesco Bellotti" userId="f453232b-f87d-4756-9d8b-c09bc835cc42" providerId="ADAL" clId="{C7FEA3FA-4936-41E1-B7FA-CA082069F7F7}" dt="2026-10-02T22:58:34.419" v="5275" actId="13926"/>
          <ac:spMkLst>
            <pc:docMk/>
            <pc:sldMk cId="3722166806" sldId="350"/>
            <ac:spMk id="5" creationId="{AA1E542D-4379-30AC-7479-3285085424B4}"/>
          </ac:spMkLst>
        </pc:spChg>
      </pc:sldChg>
      <pc:sldChg chg="modSp mod">
        <pc:chgData name="Francesco Bellotti" userId="f453232b-f87d-4756-9d8b-c09bc835cc42" providerId="ADAL" clId="{C7FEA3FA-4936-41E1-B7FA-CA082069F7F7}" dt="2026-10-02T22:21:41.091" v="5239" actId="113"/>
        <pc:sldMkLst>
          <pc:docMk/>
          <pc:sldMk cId="1289276920" sldId="352"/>
        </pc:sldMkLst>
        <pc:spChg chg="mod">
          <ac:chgData name="Francesco Bellotti" userId="f453232b-f87d-4756-9d8b-c09bc835cc42" providerId="ADAL" clId="{C7FEA3FA-4936-41E1-B7FA-CA082069F7F7}" dt="2026-10-02T22:21:41.091" v="5239" actId="113"/>
          <ac:spMkLst>
            <pc:docMk/>
            <pc:sldMk cId="1289276920" sldId="352"/>
            <ac:spMk id="3" creationId="{5487FA71-7DCD-561A-E94C-30A5BE758DB3}"/>
          </ac:spMkLst>
        </pc:spChg>
      </pc:sldChg>
      <pc:sldChg chg="modSp mod">
        <pc:chgData name="Francesco Bellotti" userId="f453232b-f87d-4756-9d8b-c09bc835cc42" providerId="ADAL" clId="{C7FEA3FA-4936-41E1-B7FA-CA082069F7F7}" dt="2026-10-02T22:22:29.724" v="5247" actId="13926"/>
        <pc:sldMkLst>
          <pc:docMk/>
          <pc:sldMk cId="4223657997" sldId="354"/>
        </pc:sldMkLst>
        <pc:spChg chg="mod">
          <ac:chgData name="Francesco Bellotti" userId="f453232b-f87d-4756-9d8b-c09bc835cc42" providerId="ADAL" clId="{C7FEA3FA-4936-41E1-B7FA-CA082069F7F7}" dt="2026-10-02T22:22:29.724" v="5247" actId="13926"/>
          <ac:spMkLst>
            <pc:docMk/>
            <pc:sldMk cId="4223657997" sldId="354"/>
            <ac:spMk id="3" creationId="{30DCD68B-D4B0-6C8F-641B-A81A4EE4AE06}"/>
          </ac:spMkLst>
        </pc:spChg>
      </pc:sldChg>
      <pc:sldChg chg="modSp mod">
        <pc:chgData name="Francesco Bellotti" userId="f453232b-f87d-4756-9d8b-c09bc835cc42" providerId="ADAL" clId="{C7FEA3FA-4936-41E1-B7FA-CA082069F7F7}" dt="2026-10-02T22:23:04.101" v="5248" actId="13926"/>
        <pc:sldMkLst>
          <pc:docMk/>
          <pc:sldMk cId="3120070337" sldId="355"/>
        </pc:sldMkLst>
        <pc:spChg chg="mod">
          <ac:chgData name="Francesco Bellotti" userId="f453232b-f87d-4756-9d8b-c09bc835cc42" providerId="ADAL" clId="{C7FEA3FA-4936-41E1-B7FA-CA082069F7F7}" dt="2026-10-02T22:23:04.101" v="5248" actId="13926"/>
          <ac:spMkLst>
            <pc:docMk/>
            <pc:sldMk cId="3120070337" sldId="355"/>
            <ac:spMk id="3" creationId="{42F73F03-314A-8F83-B790-67FF3F055F8E}"/>
          </ac:spMkLst>
        </pc:spChg>
      </pc:sldChg>
      <pc:sldChg chg="modSp mod">
        <pc:chgData name="Francesco Bellotti" userId="f453232b-f87d-4756-9d8b-c09bc835cc42" providerId="ADAL" clId="{C7FEA3FA-4936-41E1-B7FA-CA082069F7F7}" dt="2026-10-02T22:27:30.456" v="5263" actId="113"/>
        <pc:sldMkLst>
          <pc:docMk/>
          <pc:sldMk cId="1139581039" sldId="356"/>
        </pc:sldMkLst>
        <pc:spChg chg="mod">
          <ac:chgData name="Francesco Bellotti" userId="f453232b-f87d-4756-9d8b-c09bc835cc42" providerId="ADAL" clId="{C7FEA3FA-4936-41E1-B7FA-CA082069F7F7}" dt="2026-10-02T22:27:30.456" v="5263" actId="113"/>
          <ac:spMkLst>
            <pc:docMk/>
            <pc:sldMk cId="1139581039" sldId="356"/>
            <ac:spMk id="3" creationId="{77CED42D-C69D-0E2C-DA69-FC592612BFE7}"/>
          </ac:spMkLst>
        </pc:spChg>
      </pc:sldChg>
      <pc:sldChg chg="modSp mod">
        <pc:chgData name="Francesco Bellotti" userId="f453232b-f87d-4756-9d8b-c09bc835cc42" providerId="ADAL" clId="{C7FEA3FA-4936-41E1-B7FA-CA082069F7F7}" dt="2026-10-02T22:29:11.051" v="5268" actId="15"/>
        <pc:sldMkLst>
          <pc:docMk/>
          <pc:sldMk cId="2528721827" sldId="357"/>
        </pc:sldMkLst>
        <pc:spChg chg="mod">
          <ac:chgData name="Francesco Bellotti" userId="f453232b-f87d-4756-9d8b-c09bc835cc42" providerId="ADAL" clId="{C7FEA3FA-4936-41E1-B7FA-CA082069F7F7}" dt="2026-10-02T22:29:11.051" v="5268" actId="15"/>
          <ac:spMkLst>
            <pc:docMk/>
            <pc:sldMk cId="2528721827" sldId="357"/>
            <ac:spMk id="3" creationId="{5EA13C5B-6E81-6155-A8AA-D2E392C27595}"/>
          </ac:spMkLst>
        </pc:spChg>
      </pc:sldChg>
      <pc:sldChg chg="modSp mod">
        <pc:chgData name="Francesco Bellotti" userId="f453232b-f87d-4756-9d8b-c09bc835cc42" providerId="ADAL" clId="{C7FEA3FA-4936-41E1-B7FA-CA082069F7F7}" dt="2026-10-02T22:57:39.269" v="5273" actId="113"/>
        <pc:sldMkLst>
          <pc:docMk/>
          <pc:sldMk cId="1391776189" sldId="360"/>
        </pc:sldMkLst>
        <pc:spChg chg="mod">
          <ac:chgData name="Francesco Bellotti" userId="f453232b-f87d-4756-9d8b-c09bc835cc42" providerId="ADAL" clId="{C7FEA3FA-4936-41E1-B7FA-CA082069F7F7}" dt="2026-10-02T22:57:39.269" v="5273" actId="113"/>
          <ac:spMkLst>
            <pc:docMk/>
            <pc:sldMk cId="1391776189" sldId="360"/>
            <ac:spMk id="3" creationId="{14BA8619-880B-83A2-872A-08DCA3162269}"/>
          </ac:spMkLst>
        </pc:spChg>
      </pc:sldChg>
      <pc:sldChg chg="modSp mod">
        <pc:chgData name="Francesco Bellotti" userId="f453232b-f87d-4756-9d8b-c09bc835cc42" providerId="ADAL" clId="{C7FEA3FA-4936-41E1-B7FA-CA082069F7F7}" dt="2026-10-05T12:48:11.302" v="6264" actId="113"/>
        <pc:sldMkLst>
          <pc:docMk/>
          <pc:sldMk cId="1069973224" sldId="362"/>
        </pc:sldMkLst>
        <pc:spChg chg="mod">
          <ac:chgData name="Francesco Bellotti" userId="f453232b-f87d-4756-9d8b-c09bc835cc42" providerId="ADAL" clId="{C7FEA3FA-4936-41E1-B7FA-CA082069F7F7}" dt="2026-10-05T12:48:11.302" v="6264" actId="113"/>
          <ac:spMkLst>
            <pc:docMk/>
            <pc:sldMk cId="1069973224" sldId="362"/>
            <ac:spMk id="3" creationId="{9E191207-61BA-7F1C-753A-99042C183E57}"/>
          </ac:spMkLst>
        </pc:spChg>
        <pc:spChg chg="mod">
          <ac:chgData name="Francesco Bellotti" userId="f453232b-f87d-4756-9d8b-c09bc835cc42" providerId="ADAL" clId="{C7FEA3FA-4936-41E1-B7FA-CA082069F7F7}" dt="2026-10-03T06:23:47.253" v="5295" actId="13926"/>
          <ac:spMkLst>
            <pc:docMk/>
            <pc:sldMk cId="1069973224" sldId="362"/>
            <ac:spMk id="4" creationId="{521169BB-4247-4BC6-3F24-6636B3B52272}"/>
          </ac:spMkLst>
        </pc:spChg>
      </pc:sldChg>
      <pc:sldChg chg="modSp mod ord">
        <pc:chgData name="Francesco Bellotti" userId="f453232b-f87d-4756-9d8b-c09bc835cc42" providerId="ADAL" clId="{C7FEA3FA-4936-41E1-B7FA-CA082069F7F7}" dt="2026-10-03T06:22:37.703" v="5292" actId="113"/>
        <pc:sldMkLst>
          <pc:docMk/>
          <pc:sldMk cId="0" sldId="363"/>
        </pc:sldMkLst>
        <pc:spChg chg="mod">
          <ac:chgData name="Francesco Bellotti" userId="f453232b-f87d-4756-9d8b-c09bc835cc42" providerId="ADAL" clId="{C7FEA3FA-4936-41E1-B7FA-CA082069F7F7}" dt="2026-10-03T06:22:24.263" v="5289" actId="113"/>
          <ac:spMkLst>
            <pc:docMk/>
            <pc:sldMk cId="0" sldId="363"/>
            <ac:spMk id="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3T06:22:37.703" v="5292" actId="113"/>
          <ac:spMkLst>
            <pc:docMk/>
            <pc:sldMk cId="0" sldId="363"/>
            <ac:spMk id="32" creationId="{00000000-0000-0000-0000-000000000000}"/>
          </ac:spMkLst>
        </pc:spChg>
      </pc:sldChg>
      <pc:sldChg chg="delSp modSp mod ord">
        <pc:chgData name="Francesco Bellotti" userId="f453232b-f87d-4756-9d8b-c09bc835cc42" providerId="ADAL" clId="{C7FEA3FA-4936-41E1-B7FA-CA082069F7F7}" dt="2026-10-03T06:24:19.174" v="5299" actId="478"/>
        <pc:sldMkLst>
          <pc:docMk/>
          <pc:sldMk cId="0" sldId="364"/>
        </pc:sldMkLst>
        <pc:spChg chg="mod">
          <ac:chgData name="Francesco Bellotti" userId="f453232b-f87d-4756-9d8b-c09bc835cc42" providerId="ADAL" clId="{C7FEA3FA-4936-41E1-B7FA-CA082069F7F7}" dt="2026-10-03T06:24:14.847" v="5298" actId="113"/>
          <ac:spMkLst>
            <pc:docMk/>
            <pc:sldMk cId="0" sldId="364"/>
            <ac:spMk id="50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3T06:21:32.530" v="5284" actId="113"/>
        <pc:sldMkLst>
          <pc:docMk/>
          <pc:sldMk cId="0" sldId="365"/>
        </pc:sldMkLst>
        <pc:spChg chg="mod">
          <ac:chgData name="Francesco Bellotti" userId="f453232b-f87d-4756-9d8b-c09bc835cc42" providerId="ADAL" clId="{C7FEA3FA-4936-41E1-B7FA-CA082069F7F7}" dt="2026-10-03T06:21:16.360" v="5283" actId="113"/>
          <ac:spMkLst>
            <pc:docMk/>
            <pc:sldMk cId="0" sldId="365"/>
            <ac:spMk id="5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3T06:21:32.530" v="5284" actId="113"/>
          <ac:spMkLst>
            <pc:docMk/>
            <pc:sldMk cId="0" sldId="365"/>
            <ac:spMk id="78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7:24:13.548" v="5818" actId="13926"/>
        <pc:sldMkLst>
          <pc:docMk/>
          <pc:sldMk cId="0" sldId="366"/>
        </pc:sldMkLst>
        <pc:spChg chg="mod">
          <ac:chgData name="Francesco Bellotti" userId="f453232b-f87d-4756-9d8b-c09bc835cc42" providerId="ADAL" clId="{C7FEA3FA-4936-41E1-B7FA-CA082069F7F7}" dt="2026-10-05T07:24:13.548" v="5818" actId="13926"/>
          <ac:spMkLst>
            <pc:docMk/>
            <pc:sldMk cId="0" sldId="366"/>
            <ac:spMk id="8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3T06:25:53.838" v="5301" actId="13926"/>
          <ac:spMkLst>
            <pc:docMk/>
            <pc:sldMk cId="0" sldId="366"/>
            <ac:spMk id="10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3T06:25:58.233" v="5302" actId="13926"/>
          <ac:spMkLst>
            <pc:docMk/>
            <pc:sldMk cId="0" sldId="366"/>
            <ac:spMk id="102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3T06:35:26.670" v="5325" actId="113"/>
        <pc:sldMkLst>
          <pc:docMk/>
          <pc:sldMk cId="0" sldId="370"/>
        </pc:sldMkLst>
        <pc:spChg chg="mod">
          <ac:chgData name="Francesco Bellotti" userId="f453232b-f87d-4756-9d8b-c09bc835cc42" providerId="ADAL" clId="{C7FEA3FA-4936-41E1-B7FA-CA082069F7F7}" dt="2026-10-03T06:35:12.355" v="5324" actId="13926"/>
          <ac:spMkLst>
            <pc:docMk/>
            <pc:sldMk cId="0" sldId="370"/>
            <ac:spMk id="15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3T06:35:26.670" v="5325" actId="113"/>
          <ac:spMkLst>
            <pc:docMk/>
            <pc:sldMk cId="0" sldId="370"/>
            <ac:spMk id="15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3T06:35:07.851" v="5323" actId="113"/>
          <ac:spMkLst>
            <pc:docMk/>
            <pc:sldMk cId="0" sldId="370"/>
            <ac:spMk id="171" creationId="{00000000-0000-0000-0000-000000000000}"/>
          </ac:spMkLst>
        </pc:spChg>
      </pc:sldChg>
      <pc:sldChg chg="addSp delSp modSp mod">
        <pc:chgData name="Francesco Bellotti" userId="f453232b-f87d-4756-9d8b-c09bc835cc42" providerId="ADAL" clId="{C7FEA3FA-4936-41E1-B7FA-CA082069F7F7}" dt="2026-10-04T08:00:24.843" v="5624" actId="1076"/>
        <pc:sldMkLst>
          <pc:docMk/>
          <pc:sldMk cId="0" sldId="371"/>
        </pc:sldMkLst>
        <pc:spChg chg="add mod">
          <ac:chgData name="Francesco Bellotti" userId="f453232b-f87d-4756-9d8b-c09bc835cc42" providerId="ADAL" clId="{C7FEA3FA-4936-41E1-B7FA-CA082069F7F7}" dt="2026-10-04T08:00:24.843" v="5624" actId="1076"/>
          <ac:spMkLst>
            <pc:docMk/>
            <pc:sldMk cId="0" sldId="371"/>
            <ac:spMk id="5" creationId="{C3AF9C3A-D71C-6AB5-B240-9357021BBFC0}"/>
          </ac:spMkLst>
        </pc:spChg>
        <pc:spChg chg="mod">
          <ac:chgData name="Francesco Bellotti" userId="f453232b-f87d-4756-9d8b-c09bc835cc42" providerId="ADAL" clId="{C7FEA3FA-4936-41E1-B7FA-CA082069F7F7}" dt="2026-10-03T06:40:12.621" v="5336" actId="20577"/>
          <ac:spMkLst>
            <pc:docMk/>
            <pc:sldMk cId="0" sldId="371"/>
            <ac:spMk id="188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3T06:38:24.811" v="5326" actId="13926"/>
        <pc:sldMkLst>
          <pc:docMk/>
          <pc:sldMk cId="0" sldId="372"/>
        </pc:sldMkLst>
        <pc:spChg chg="mod">
          <ac:chgData name="Francesco Bellotti" userId="f453232b-f87d-4756-9d8b-c09bc835cc42" providerId="ADAL" clId="{C7FEA3FA-4936-41E1-B7FA-CA082069F7F7}" dt="2026-10-03T06:38:24.811" v="5326" actId="13926"/>
          <ac:spMkLst>
            <pc:docMk/>
            <pc:sldMk cId="0" sldId="372"/>
            <ac:spMk id="190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3T06:51:20.384" v="5350" actId="113"/>
        <pc:sldMkLst>
          <pc:docMk/>
          <pc:sldMk cId="0" sldId="373"/>
        </pc:sldMkLst>
        <pc:spChg chg="mod">
          <ac:chgData name="Francesco Bellotti" userId="f453232b-f87d-4756-9d8b-c09bc835cc42" providerId="ADAL" clId="{C7FEA3FA-4936-41E1-B7FA-CA082069F7F7}" dt="2026-10-03T06:51:20.384" v="5350" actId="113"/>
          <ac:spMkLst>
            <pc:docMk/>
            <pc:sldMk cId="0" sldId="373"/>
            <ac:spMk id="21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3T06:48:17.463" v="5345" actId="13926"/>
          <ac:spMkLst>
            <pc:docMk/>
            <pc:sldMk cId="0" sldId="373"/>
            <ac:spMk id="23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3T06:51:16.742" v="5349" actId="13926"/>
          <ac:spMkLst>
            <pc:docMk/>
            <pc:sldMk cId="0" sldId="373"/>
            <ac:spMk id="233" creationId="{00000000-0000-0000-0000-000000000000}"/>
          </ac:spMkLst>
        </pc:spChg>
      </pc:sldChg>
      <pc:sldChg chg="addSp modSp mod">
        <pc:chgData name="Francesco Bellotti" userId="f453232b-f87d-4756-9d8b-c09bc835cc42" providerId="ADAL" clId="{C7FEA3FA-4936-41E1-B7FA-CA082069F7F7}" dt="2026-10-03T17:55:26.017" v="5486" actId="166"/>
        <pc:sldMkLst>
          <pc:docMk/>
          <pc:sldMk cId="0" sldId="374"/>
        </pc:sldMkLst>
        <pc:spChg chg="add mod">
          <ac:chgData name="Francesco Bellotti" userId="f453232b-f87d-4756-9d8b-c09bc835cc42" providerId="ADAL" clId="{C7FEA3FA-4936-41E1-B7FA-CA082069F7F7}" dt="2026-10-03T17:53:04.446" v="5477" actId="14100"/>
          <ac:spMkLst>
            <pc:docMk/>
            <pc:sldMk cId="0" sldId="374"/>
            <ac:spMk id="3" creationId="{CA3F2B21-27E8-DC6E-F983-A88A59186C63}"/>
          </ac:spMkLst>
        </pc:spChg>
        <pc:spChg chg="add mod">
          <ac:chgData name="Francesco Bellotti" userId="f453232b-f87d-4756-9d8b-c09bc835cc42" providerId="ADAL" clId="{C7FEA3FA-4936-41E1-B7FA-CA082069F7F7}" dt="2026-10-03T17:53:16.289" v="5480" actId="14100"/>
          <ac:spMkLst>
            <pc:docMk/>
            <pc:sldMk cId="0" sldId="374"/>
            <ac:spMk id="5" creationId="{6DCAAD6C-B073-0828-EFAD-7588F36C4191}"/>
          </ac:spMkLst>
        </pc:spChg>
        <pc:spChg chg="add mod">
          <ac:chgData name="Francesco Bellotti" userId="f453232b-f87d-4756-9d8b-c09bc835cc42" providerId="ADAL" clId="{C7FEA3FA-4936-41E1-B7FA-CA082069F7F7}" dt="2026-10-03T17:53:27.222" v="5483" actId="14100"/>
          <ac:spMkLst>
            <pc:docMk/>
            <pc:sldMk cId="0" sldId="374"/>
            <ac:spMk id="7" creationId="{53B93FBD-7AC4-D606-B224-0E4A044038C7}"/>
          </ac:spMkLst>
        </pc:spChg>
        <pc:spChg chg="mod">
          <ac:chgData name="Francesco Bellotti" userId="f453232b-f87d-4756-9d8b-c09bc835cc42" providerId="ADAL" clId="{C7FEA3FA-4936-41E1-B7FA-CA082069F7F7}" dt="2026-10-03T17:52:50.857" v="5473" actId="1076"/>
          <ac:spMkLst>
            <pc:docMk/>
            <pc:sldMk cId="0" sldId="374"/>
            <ac:spMk id="24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3T17:52:56.562" v="5474" actId="14100"/>
          <ac:spMkLst>
            <pc:docMk/>
            <pc:sldMk cId="0" sldId="374"/>
            <ac:spMk id="242" creationId="{00000000-0000-0000-0000-000000000000}"/>
          </ac:spMkLst>
        </pc:spChg>
        <pc:spChg chg="ord">
          <ac:chgData name="Francesco Bellotti" userId="f453232b-f87d-4756-9d8b-c09bc835cc42" providerId="ADAL" clId="{C7FEA3FA-4936-41E1-B7FA-CA082069F7F7}" dt="2026-10-03T17:55:26.017" v="5486" actId="166"/>
          <ac:spMkLst>
            <pc:docMk/>
            <pc:sldMk cId="0" sldId="374"/>
            <ac:spMk id="24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3T17:53:51.052" v="5484" actId="1076"/>
          <ac:spMkLst>
            <pc:docMk/>
            <pc:sldMk cId="0" sldId="374"/>
            <ac:spMk id="25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3T17:53:54.931" v="5485" actId="1076"/>
          <ac:spMkLst>
            <pc:docMk/>
            <pc:sldMk cId="0" sldId="374"/>
            <ac:spMk id="25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3T06:58:45.575" v="5457" actId="20577"/>
          <ac:spMkLst>
            <pc:docMk/>
            <pc:sldMk cId="0" sldId="374"/>
            <ac:spMk id="25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3T07:02:00.425" v="5466" actId="20577"/>
          <ac:spMkLst>
            <pc:docMk/>
            <pc:sldMk cId="0" sldId="374"/>
            <ac:spMk id="254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4T08:17:30.150" v="5717" actId="1076"/>
        <pc:sldMkLst>
          <pc:docMk/>
          <pc:sldMk cId="0" sldId="375"/>
        </pc:sldMkLst>
        <pc:spChg chg="mod">
          <ac:chgData name="Francesco Bellotti" userId="f453232b-f87d-4756-9d8b-c09bc835cc42" providerId="ADAL" clId="{C7FEA3FA-4936-41E1-B7FA-CA082069F7F7}" dt="2026-10-04T08:17:30.150" v="5717" actId="1076"/>
          <ac:spMkLst>
            <pc:docMk/>
            <pc:sldMk cId="0" sldId="375"/>
            <ac:spMk id="4" creationId="{323614E6-CB93-4204-4F99-51E6E1DF5EEE}"/>
          </ac:spMkLst>
        </pc:spChg>
      </pc:sldChg>
      <pc:sldChg chg="modSp mod">
        <pc:chgData name="Francesco Bellotti" userId="f453232b-f87d-4756-9d8b-c09bc835cc42" providerId="ADAL" clId="{C7FEA3FA-4936-41E1-B7FA-CA082069F7F7}" dt="2026-10-04T08:24:31.831" v="5737" actId="113"/>
        <pc:sldMkLst>
          <pc:docMk/>
          <pc:sldMk cId="0" sldId="377"/>
        </pc:sldMkLst>
        <pc:spChg chg="mod">
          <ac:chgData name="Francesco Bellotti" userId="f453232b-f87d-4756-9d8b-c09bc835cc42" providerId="ADAL" clId="{C7FEA3FA-4936-41E1-B7FA-CA082069F7F7}" dt="2026-10-04T08:24:19.183" v="5736" actId="13926"/>
          <ac:spMkLst>
            <pc:docMk/>
            <pc:sldMk cId="0" sldId="377"/>
            <ac:spMk id="29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4T08:24:15.078" v="5735" actId="13926"/>
          <ac:spMkLst>
            <pc:docMk/>
            <pc:sldMk cId="0" sldId="377"/>
            <ac:spMk id="30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4T08:24:31.831" v="5737" actId="113"/>
          <ac:spMkLst>
            <pc:docMk/>
            <pc:sldMk cId="0" sldId="377"/>
            <ac:spMk id="321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3T06:25:21.900" v="5300" actId="13926"/>
        <pc:sldMkLst>
          <pc:docMk/>
          <pc:sldMk cId="2061011474" sldId="378"/>
        </pc:sldMkLst>
        <pc:spChg chg="mod">
          <ac:chgData name="Francesco Bellotti" userId="f453232b-f87d-4756-9d8b-c09bc835cc42" providerId="ADAL" clId="{C7FEA3FA-4936-41E1-B7FA-CA082069F7F7}" dt="2026-10-03T06:25:21.900" v="5300" actId="13926"/>
          <ac:spMkLst>
            <pc:docMk/>
            <pc:sldMk cId="2061011474" sldId="378"/>
            <ac:spMk id="4" creationId="{DCEFBEDC-5B8D-8478-30F3-9AC9DD1E3763}"/>
          </ac:spMkLst>
        </pc:spChg>
      </pc:sldChg>
      <pc:sldChg chg="modSp mod">
        <pc:chgData name="Francesco Bellotti" userId="f453232b-f87d-4756-9d8b-c09bc835cc42" providerId="ADAL" clId="{C7FEA3FA-4936-41E1-B7FA-CA082069F7F7}" dt="2026-10-03T06:26:37.915" v="5304" actId="13926"/>
        <pc:sldMkLst>
          <pc:docMk/>
          <pc:sldMk cId="2571445708" sldId="381"/>
        </pc:sldMkLst>
        <pc:spChg chg="mod">
          <ac:chgData name="Francesco Bellotti" userId="f453232b-f87d-4756-9d8b-c09bc835cc42" providerId="ADAL" clId="{C7FEA3FA-4936-41E1-B7FA-CA082069F7F7}" dt="2026-10-03T06:26:37.915" v="5304" actId="13926"/>
          <ac:spMkLst>
            <pc:docMk/>
            <pc:sldMk cId="2571445708" sldId="381"/>
            <ac:spMk id="4" creationId="{165515F1-DAFD-9563-BC3E-25683731FCD1}"/>
          </ac:spMkLst>
        </pc:spChg>
      </pc:sldChg>
      <pc:sldChg chg="modSp mod">
        <pc:chgData name="Francesco Bellotti" userId="f453232b-f87d-4756-9d8b-c09bc835cc42" providerId="ADAL" clId="{C7FEA3FA-4936-41E1-B7FA-CA082069F7F7}" dt="2026-10-03T06:27:05.196" v="5306" actId="13926"/>
        <pc:sldMkLst>
          <pc:docMk/>
          <pc:sldMk cId="2543991477" sldId="382"/>
        </pc:sldMkLst>
        <pc:spChg chg="mod">
          <ac:chgData name="Francesco Bellotti" userId="f453232b-f87d-4756-9d8b-c09bc835cc42" providerId="ADAL" clId="{C7FEA3FA-4936-41E1-B7FA-CA082069F7F7}" dt="2026-10-03T06:27:05.196" v="5306" actId="13926"/>
          <ac:spMkLst>
            <pc:docMk/>
            <pc:sldMk cId="2543991477" sldId="382"/>
            <ac:spMk id="4" creationId="{967CF606-7B1E-1028-0A14-1ADC18429627}"/>
          </ac:spMkLst>
        </pc:spChg>
      </pc:sldChg>
      <pc:sldChg chg="modSp mod">
        <pc:chgData name="Francesco Bellotti" userId="f453232b-f87d-4756-9d8b-c09bc835cc42" providerId="ADAL" clId="{C7FEA3FA-4936-41E1-B7FA-CA082069F7F7}" dt="2026-10-03T06:29:25.370" v="5311" actId="13926"/>
        <pc:sldMkLst>
          <pc:docMk/>
          <pc:sldMk cId="2973185606" sldId="383"/>
        </pc:sldMkLst>
        <pc:spChg chg="mod">
          <ac:chgData name="Francesco Bellotti" userId="f453232b-f87d-4756-9d8b-c09bc835cc42" providerId="ADAL" clId="{C7FEA3FA-4936-41E1-B7FA-CA082069F7F7}" dt="2026-10-03T06:28:59.631" v="5307" actId="113"/>
          <ac:spMkLst>
            <pc:docMk/>
            <pc:sldMk cId="2973185606" sldId="383"/>
            <ac:spMk id="2" creationId="{5C92C56C-87AB-7428-A238-AD2465A7A9C0}"/>
          </ac:spMkLst>
        </pc:spChg>
        <pc:spChg chg="mod">
          <ac:chgData name="Francesco Bellotti" userId="f453232b-f87d-4756-9d8b-c09bc835cc42" providerId="ADAL" clId="{C7FEA3FA-4936-41E1-B7FA-CA082069F7F7}" dt="2026-10-03T06:29:05.973" v="5308" actId="13926"/>
          <ac:spMkLst>
            <pc:docMk/>
            <pc:sldMk cId="2973185606" sldId="383"/>
            <ac:spMk id="3" creationId="{51BB8426-29A4-A997-9A51-634A1255D0B8}"/>
          </ac:spMkLst>
        </pc:spChg>
        <pc:spChg chg="mod">
          <ac:chgData name="Francesco Bellotti" userId="f453232b-f87d-4756-9d8b-c09bc835cc42" providerId="ADAL" clId="{C7FEA3FA-4936-41E1-B7FA-CA082069F7F7}" dt="2026-10-03T06:29:25.370" v="5311" actId="13926"/>
          <ac:spMkLst>
            <pc:docMk/>
            <pc:sldMk cId="2973185606" sldId="383"/>
            <ac:spMk id="4" creationId="{7271E47A-D351-7D13-A0CA-EEC85A58AFBF}"/>
          </ac:spMkLst>
        </pc:spChg>
      </pc:sldChg>
      <pc:sldChg chg="modSp mod">
        <pc:chgData name="Francesco Bellotti" userId="f453232b-f87d-4756-9d8b-c09bc835cc42" providerId="ADAL" clId="{C7FEA3FA-4936-41E1-B7FA-CA082069F7F7}" dt="2026-10-03T06:31:51.280" v="5316" actId="113"/>
        <pc:sldMkLst>
          <pc:docMk/>
          <pc:sldMk cId="1481618868" sldId="384"/>
        </pc:sldMkLst>
        <pc:spChg chg="mod">
          <ac:chgData name="Francesco Bellotti" userId="f453232b-f87d-4756-9d8b-c09bc835cc42" providerId="ADAL" clId="{C7FEA3FA-4936-41E1-B7FA-CA082069F7F7}" dt="2026-10-03T06:31:51.280" v="5316" actId="113"/>
          <ac:spMkLst>
            <pc:docMk/>
            <pc:sldMk cId="1481618868" sldId="384"/>
            <ac:spMk id="3" creationId="{6647D5B6-60A3-D90F-58C3-114C64E212E0}"/>
          </ac:spMkLst>
        </pc:spChg>
      </pc:sldChg>
      <pc:sldChg chg="modSp mod">
        <pc:chgData name="Francesco Bellotti" userId="f453232b-f87d-4756-9d8b-c09bc835cc42" providerId="ADAL" clId="{C7FEA3FA-4936-41E1-B7FA-CA082069F7F7}" dt="2026-10-03T06:32:57.249" v="5319" actId="13926"/>
        <pc:sldMkLst>
          <pc:docMk/>
          <pc:sldMk cId="57760005" sldId="385"/>
        </pc:sldMkLst>
        <pc:spChg chg="mod">
          <ac:chgData name="Francesco Bellotti" userId="f453232b-f87d-4756-9d8b-c09bc835cc42" providerId="ADAL" clId="{C7FEA3FA-4936-41E1-B7FA-CA082069F7F7}" dt="2026-10-03T06:32:57.249" v="5319" actId="13926"/>
          <ac:spMkLst>
            <pc:docMk/>
            <pc:sldMk cId="57760005" sldId="385"/>
            <ac:spMk id="3" creationId="{AE23F1EA-61F6-0BED-B6C2-5748E626B2DE}"/>
          </ac:spMkLst>
        </pc:spChg>
      </pc:sldChg>
      <pc:sldChg chg="modSp mod">
        <pc:chgData name="Francesco Bellotti" userId="f453232b-f87d-4756-9d8b-c09bc835cc42" providerId="ADAL" clId="{C7FEA3FA-4936-41E1-B7FA-CA082069F7F7}" dt="2026-10-03T06:34:11.346" v="5322" actId="113"/>
        <pc:sldMkLst>
          <pc:docMk/>
          <pc:sldMk cId="3193721450" sldId="386"/>
        </pc:sldMkLst>
        <pc:spChg chg="mod">
          <ac:chgData name="Francesco Bellotti" userId="f453232b-f87d-4756-9d8b-c09bc835cc42" providerId="ADAL" clId="{C7FEA3FA-4936-41E1-B7FA-CA082069F7F7}" dt="2026-10-03T06:34:11.346" v="5322" actId="113"/>
          <ac:spMkLst>
            <pc:docMk/>
            <pc:sldMk cId="3193721450" sldId="386"/>
            <ac:spMk id="3" creationId="{CD93A28D-DB92-C0F2-2DFD-61B9BE585B20}"/>
          </ac:spMkLst>
        </pc:spChg>
      </pc:sldChg>
      <pc:sldChg chg="modSp mod">
        <pc:chgData name="Francesco Bellotti" userId="f453232b-f87d-4756-9d8b-c09bc835cc42" providerId="ADAL" clId="{C7FEA3FA-4936-41E1-B7FA-CA082069F7F7}" dt="2026-10-03T06:33:15.689" v="5320" actId="13926"/>
        <pc:sldMkLst>
          <pc:docMk/>
          <pc:sldMk cId="763805033" sldId="390"/>
        </pc:sldMkLst>
        <pc:spChg chg="mod">
          <ac:chgData name="Francesco Bellotti" userId="f453232b-f87d-4756-9d8b-c09bc835cc42" providerId="ADAL" clId="{C7FEA3FA-4936-41E1-B7FA-CA082069F7F7}" dt="2026-10-03T06:33:15.689" v="5320" actId="13926"/>
          <ac:spMkLst>
            <pc:docMk/>
            <pc:sldMk cId="763805033" sldId="390"/>
            <ac:spMk id="4" creationId="{99A8C852-406D-0713-E0D9-236D46D3FD43}"/>
          </ac:spMkLst>
        </pc:spChg>
      </pc:sldChg>
      <pc:sldChg chg="modSp mod">
        <pc:chgData name="Francesco Bellotti" userId="f453232b-f87d-4756-9d8b-c09bc835cc42" providerId="ADAL" clId="{C7FEA3FA-4936-41E1-B7FA-CA082069F7F7}" dt="2026-10-03T06:40:47.006" v="5337" actId="13926"/>
        <pc:sldMkLst>
          <pc:docMk/>
          <pc:sldMk cId="3395069434" sldId="391"/>
        </pc:sldMkLst>
        <pc:spChg chg="mod">
          <ac:chgData name="Francesco Bellotti" userId="f453232b-f87d-4756-9d8b-c09bc835cc42" providerId="ADAL" clId="{C7FEA3FA-4936-41E1-B7FA-CA082069F7F7}" dt="2026-10-03T06:40:47.006" v="5337" actId="13926"/>
          <ac:spMkLst>
            <pc:docMk/>
            <pc:sldMk cId="3395069434" sldId="391"/>
            <ac:spMk id="3" creationId="{AC423431-038D-0035-EDB4-8C17A7A6A4D6}"/>
          </ac:spMkLst>
        </pc:spChg>
      </pc:sldChg>
      <pc:sldChg chg="addSp modSp mod">
        <pc:chgData name="Francesco Bellotti" userId="f453232b-f87d-4756-9d8b-c09bc835cc42" providerId="ADAL" clId="{C7FEA3FA-4936-41E1-B7FA-CA082069F7F7}" dt="2026-10-03T06:54:26.176" v="5409" actId="13926"/>
        <pc:sldMkLst>
          <pc:docMk/>
          <pc:sldMk cId="2108648852" sldId="392"/>
        </pc:sldMkLst>
        <pc:spChg chg="mod">
          <ac:chgData name="Francesco Bellotti" userId="f453232b-f87d-4756-9d8b-c09bc835cc42" providerId="ADAL" clId="{C7FEA3FA-4936-41E1-B7FA-CA082069F7F7}" dt="2026-10-03T06:53:49.625" v="5408" actId="13926"/>
          <ac:spMkLst>
            <pc:docMk/>
            <pc:sldMk cId="2108648852" sldId="392"/>
            <ac:spMk id="3" creationId="{E5C1BE2E-FDF3-12A3-D17D-5C86E1EFEFE8}"/>
          </ac:spMkLst>
        </pc:spChg>
        <pc:spChg chg="add mod">
          <ac:chgData name="Francesco Bellotti" userId="f453232b-f87d-4756-9d8b-c09bc835cc42" providerId="ADAL" clId="{C7FEA3FA-4936-41E1-B7FA-CA082069F7F7}" dt="2026-10-03T06:52:14.884" v="5402" actId="1076"/>
          <ac:spMkLst>
            <pc:docMk/>
            <pc:sldMk cId="2108648852" sldId="392"/>
            <ac:spMk id="4" creationId="{E31E006C-B3F8-5F0C-AC6A-CA2E7D5E36D1}"/>
          </ac:spMkLst>
        </pc:spChg>
        <pc:spChg chg="mod">
          <ac:chgData name="Francesco Bellotti" userId="f453232b-f87d-4756-9d8b-c09bc835cc42" providerId="ADAL" clId="{C7FEA3FA-4936-41E1-B7FA-CA082069F7F7}" dt="2026-10-03T06:54:26.176" v="5409" actId="13926"/>
          <ac:spMkLst>
            <pc:docMk/>
            <pc:sldMk cId="2108648852" sldId="392"/>
            <ac:spMk id="5" creationId="{D2081E54-2530-D9E6-DACD-97CE28ED4388}"/>
          </ac:spMkLst>
        </pc:spChg>
      </pc:sldChg>
      <pc:sldChg chg="addSp modSp mod">
        <pc:chgData name="Francesco Bellotti" userId="f453232b-f87d-4756-9d8b-c09bc835cc42" providerId="ADAL" clId="{C7FEA3FA-4936-41E1-B7FA-CA082069F7F7}" dt="2026-10-03T06:57:35.747" v="5454" actId="20577"/>
        <pc:sldMkLst>
          <pc:docMk/>
          <pc:sldMk cId="3606267218" sldId="393"/>
        </pc:sldMkLst>
        <pc:spChg chg="mod">
          <ac:chgData name="Francesco Bellotti" userId="f453232b-f87d-4756-9d8b-c09bc835cc42" providerId="ADAL" clId="{C7FEA3FA-4936-41E1-B7FA-CA082069F7F7}" dt="2026-10-03T06:55:57.663" v="5423" actId="947"/>
          <ac:spMkLst>
            <pc:docMk/>
            <pc:sldMk cId="3606267218" sldId="393"/>
            <ac:spMk id="5" creationId="{23826558-17D1-3562-8AC9-ED1C4836B106}"/>
          </ac:spMkLst>
        </pc:spChg>
        <pc:spChg chg="add mod">
          <ac:chgData name="Francesco Bellotti" userId="f453232b-f87d-4756-9d8b-c09bc835cc42" providerId="ADAL" clId="{C7FEA3FA-4936-41E1-B7FA-CA082069F7F7}" dt="2026-10-03T06:57:35.747" v="5454" actId="20577"/>
          <ac:spMkLst>
            <pc:docMk/>
            <pc:sldMk cId="3606267218" sldId="393"/>
            <ac:spMk id="6" creationId="{1AB1C052-C5F9-1BD7-C3D1-4F90E2CD52BD}"/>
          </ac:spMkLst>
        </pc:spChg>
      </pc:sldChg>
      <pc:sldChg chg="modSp mod">
        <pc:chgData name="Francesco Bellotti" userId="f453232b-f87d-4756-9d8b-c09bc835cc42" providerId="ADAL" clId="{C7FEA3FA-4936-41E1-B7FA-CA082069F7F7}" dt="2026-10-03T07:02:53.579" v="5468" actId="13926"/>
        <pc:sldMkLst>
          <pc:docMk/>
          <pc:sldMk cId="720071964" sldId="394"/>
        </pc:sldMkLst>
        <pc:spChg chg="mod">
          <ac:chgData name="Francesco Bellotti" userId="f453232b-f87d-4756-9d8b-c09bc835cc42" providerId="ADAL" clId="{C7FEA3FA-4936-41E1-B7FA-CA082069F7F7}" dt="2026-10-03T07:02:47.334" v="5467" actId="13926"/>
          <ac:spMkLst>
            <pc:docMk/>
            <pc:sldMk cId="720071964" sldId="394"/>
            <ac:spMk id="3" creationId="{F6CB9FFB-CCDA-3BAE-173C-4DB34B3C827D}"/>
          </ac:spMkLst>
        </pc:spChg>
        <pc:spChg chg="mod">
          <ac:chgData name="Francesco Bellotti" userId="f453232b-f87d-4756-9d8b-c09bc835cc42" providerId="ADAL" clId="{C7FEA3FA-4936-41E1-B7FA-CA082069F7F7}" dt="2026-10-03T07:02:53.579" v="5468" actId="13926"/>
          <ac:spMkLst>
            <pc:docMk/>
            <pc:sldMk cId="720071964" sldId="394"/>
            <ac:spMk id="4" creationId="{616332A0-F649-4427-6545-B6356C6551EC}"/>
          </ac:spMkLst>
        </pc:spChg>
      </pc:sldChg>
      <pc:sldChg chg="modSp mod">
        <pc:chgData name="Francesco Bellotti" userId="f453232b-f87d-4756-9d8b-c09bc835cc42" providerId="ADAL" clId="{C7FEA3FA-4936-41E1-B7FA-CA082069F7F7}" dt="2026-10-03T07:03:35.752" v="5472" actId="13926"/>
        <pc:sldMkLst>
          <pc:docMk/>
          <pc:sldMk cId="2167870426" sldId="395"/>
        </pc:sldMkLst>
        <pc:spChg chg="mod">
          <ac:chgData name="Francesco Bellotti" userId="f453232b-f87d-4756-9d8b-c09bc835cc42" providerId="ADAL" clId="{C7FEA3FA-4936-41E1-B7FA-CA082069F7F7}" dt="2026-10-03T07:03:21.760" v="5470" actId="13926"/>
          <ac:spMkLst>
            <pc:docMk/>
            <pc:sldMk cId="2167870426" sldId="395"/>
            <ac:spMk id="3" creationId="{AE87F618-3ED9-94C4-9AB2-51C07A22F2D8}"/>
          </ac:spMkLst>
        </pc:spChg>
        <pc:spChg chg="mod">
          <ac:chgData name="Francesco Bellotti" userId="f453232b-f87d-4756-9d8b-c09bc835cc42" providerId="ADAL" clId="{C7FEA3FA-4936-41E1-B7FA-CA082069F7F7}" dt="2026-10-03T07:03:35.752" v="5472" actId="13926"/>
          <ac:spMkLst>
            <pc:docMk/>
            <pc:sldMk cId="2167870426" sldId="395"/>
            <ac:spMk id="4" creationId="{D5B891A5-9E23-A77E-1B8E-A51C061CA098}"/>
          </ac:spMkLst>
        </pc:spChg>
        <pc:spChg chg="mod">
          <ac:chgData name="Francesco Bellotti" userId="f453232b-f87d-4756-9d8b-c09bc835cc42" providerId="ADAL" clId="{C7FEA3FA-4936-41E1-B7FA-CA082069F7F7}" dt="2026-10-03T06:58:06.702" v="5455" actId="13926"/>
          <ac:spMkLst>
            <pc:docMk/>
            <pc:sldMk cId="2167870426" sldId="395"/>
            <ac:spMk id="6" creationId="{9AC7B449-7C88-FD97-5E6C-359EA7375DFA}"/>
          </ac:spMkLst>
        </pc:spChg>
      </pc:sldChg>
      <pc:sldChg chg="addSp modSp mod">
        <pc:chgData name="Francesco Bellotti" userId="f453232b-f87d-4756-9d8b-c09bc835cc42" providerId="ADAL" clId="{C7FEA3FA-4936-41E1-B7FA-CA082069F7F7}" dt="2026-10-05T07:26:01.575" v="5821" actId="20577"/>
        <pc:sldMkLst>
          <pc:docMk/>
          <pc:sldMk cId="2729788019" sldId="396"/>
        </pc:sldMkLst>
        <pc:spChg chg="mod">
          <ac:chgData name="Francesco Bellotti" userId="f453232b-f87d-4756-9d8b-c09bc835cc42" providerId="ADAL" clId="{C7FEA3FA-4936-41E1-B7FA-CA082069F7F7}" dt="2026-10-04T07:55:24.501" v="5581" actId="20577"/>
          <ac:spMkLst>
            <pc:docMk/>
            <pc:sldMk cId="2729788019" sldId="396"/>
            <ac:spMk id="2" creationId="{A480D1D1-D7EB-D8DF-AAAA-615B59F93A43}"/>
          </ac:spMkLst>
        </pc:spChg>
        <pc:spChg chg="mod">
          <ac:chgData name="Francesco Bellotti" userId="f453232b-f87d-4756-9d8b-c09bc835cc42" providerId="ADAL" clId="{C7FEA3FA-4936-41E1-B7FA-CA082069F7F7}" dt="2026-10-04T07:57:11.439" v="5609" actId="15"/>
          <ac:spMkLst>
            <pc:docMk/>
            <pc:sldMk cId="2729788019" sldId="396"/>
            <ac:spMk id="3" creationId="{6F059BB8-0BC3-64E7-603D-2DE9AD8F6595}"/>
          </ac:spMkLst>
        </pc:spChg>
        <pc:spChg chg="add mod">
          <ac:chgData name="Francesco Bellotti" userId="f453232b-f87d-4756-9d8b-c09bc835cc42" providerId="ADAL" clId="{C7FEA3FA-4936-41E1-B7FA-CA082069F7F7}" dt="2026-10-05T07:26:01.575" v="5821" actId="20577"/>
          <ac:spMkLst>
            <pc:docMk/>
            <pc:sldMk cId="2729788019" sldId="396"/>
            <ac:spMk id="4" creationId="{EA639067-E113-864E-DD76-0ADD7C6C525D}"/>
          </ac:spMkLst>
        </pc:spChg>
        <pc:cxnChg chg="add mod">
          <ac:chgData name="Francesco Bellotti" userId="f453232b-f87d-4756-9d8b-c09bc835cc42" providerId="ADAL" clId="{C7FEA3FA-4936-41E1-B7FA-CA082069F7F7}" dt="2026-10-04T07:58:14.659" v="5619" actId="14100"/>
          <ac:cxnSpMkLst>
            <pc:docMk/>
            <pc:sldMk cId="2729788019" sldId="396"/>
            <ac:cxnSpMk id="5" creationId="{B410A88E-BBF2-849E-5165-514447E1979F}"/>
          </ac:cxnSpMkLst>
        </pc:cxnChg>
      </pc:sldChg>
      <pc:sldChg chg="modSp mod">
        <pc:chgData name="Francesco Bellotti" userId="f453232b-f87d-4756-9d8b-c09bc835cc42" providerId="ADAL" clId="{C7FEA3FA-4936-41E1-B7FA-CA082069F7F7}" dt="2026-10-05T12:51:51.782" v="6272" actId="20577"/>
        <pc:sldMkLst>
          <pc:docMk/>
          <pc:sldMk cId="401879742" sldId="399"/>
        </pc:sldMkLst>
        <pc:spChg chg="mod">
          <ac:chgData name="Francesco Bellotti" userId="f453232b-f87d-4756-9d8b-c09bc835cc42" providerId="ADAL" clId="{C7FEA3FA-4936-41E1-B7FA-CA082069F7F7}" dt="2026-10-05T12:51:51.782" v="6272" actId="20577"/>
          <ac:spMkLst>
            <pc:docMk/>
            <pc:sldMk cId="401879742" sldId="399"/>
            <ac:spMk id="3" creationId="{1BDD6070-6721-F6CF-AA74-3F6C0C6365D8}"/>
          </ac:spMkLst>
        </pc:spChg>
      </pc:sldChg>
      <pc:sldChg chg="modSp mod">
        <pc:chgData name="Francesco Bellotti" userId="f453232b-f87d-4756-9d8b-c09bc835cc42" providerId="ADAL" clId="{C7FEA3FA-4936-41E1-B7FA-CA082069F7F7}" dt="2026-10-04T08:20:07.658" v="5719" actId="113"/>
        <pc:sldMkLst>
          <pc:docMk/>
          <pc:sldMk cId="4141625997" sldId="400"/>
        </pc:sldMkLst>
        <pc:spChg chg="mod">
          <ac:chgData name="Francesco Bellotti" userId="f453232b-f87d-4756-9d8b-c09bc835cc42" providerId="ADAL" clId="{C7FEA3FA-4936-41E1-B7FA-CA082069F7F7}" dt="2026-10-04T08:20:07.658" v="5719" actId="113"/>
          <ac:spMkLst>
            <pc:docMk/>
            <pc:sldMk cId="4141625997" sldId="400"/>
            <ac:spMk id="3" creationId="{B1635006-5D1C-CD33-BE9F-94FD999DB305}"/>
          </ac:spMkLst>
        </pc:spChg>
      </pc:sldChg>
      <pc:sldChg chg="modSp mod">
        <pc:chgData name="Francesco Bellotti" userId="f453232b-f87d-4756-9d8b-c09bc835cc42" providerId="ADAL" clId="{C7FEA3FA-4936-41E1-B7FA-CA082069F7F7}" dt="2026-10-04T08:22:25.533" v="5725" actId="13926"/>
        <pc:sldMkLst>
          <pc:docMk/>
          <pc:sldMk cId="2444168057" sldId="401"/>
        </pc:sldMkLst>
        <pc:spChg chg="mod">
          <ac:chgData name="Francesco Bellotti" userId="f453232b-f87d-4756-9d8b-c09bc835cc42" providerId="ADAL" clId="{C7FEA3FA-4936-41E1-B7FA-CA082069F7F7}" dt="2026-10-04T08:22:25.533" v="5725" actId="13926"/>
          <ac:spMkLst>
            <pc:docMk/>
            <pc:sldMk cId="2444168057" sldId="401"/>
            <ac:spMk id="3" creationId="{460D5572-157B-84AF-0C70-7143339E4722}"/>
          </ac:spMkLst>
        </pc:spChg>
      </pc:sldChg>
      <pc:sldChg chg="modSp mod">
        <pc:chgData name="Francesco Bellotti" userId="f453232b-f87d-4756-9d8b-c09bc835cc42" providerId="ADAL" clId="{C7FEA3FA-4936-41E1-B7FA-CA082069F7F7}" dt="2026-10-04T08:23:35.171" v="5734" actId="13926"/>
        <pc:sldMkLst>
          <pc:docMk/>
          <pc:sldMk cId="213091564" sldId="402"/>
        </pc:sldMkLst>
        <pc:spChg chg="mod">
          <ac:chgData name="Francesco Bellotti" userId="f453232b-f87d-4756-9d8b-c09bc835cc42" providerId="ADAL" clId="{C7FEA3FA-4936-41E1-B7FA-CA082069F7F7}" dt="2026-10-04T08:23:35.171" v="5734" actId="13926"/>
          <ac:spMkLst>
            <pc:docMk/>
            <pc:sldMk cId="213091564" sldId="402"/>
            <ac:spMk id="3" creationId="{EB44C2F4-86DE-0F21-16A7-B31CEED9EE8C}"/>
          </ac:spMkLst>
        </pc:spChg>
      </pc:sldChg>
      <pc:sldChg chg="modSp mod">
        <pc:chgData name="Francesco Bellotti" userId="f453232b-f87d-4756-9d8b-c09bc835cc42" providerId="ADAL" clId="{C7FEA3FA-4936-41E1-B7FA-CA082069F7F7}" dt="2026-10-04T08:27:54.170" v="5808" actId="13926"/>
        <pc:sldMkLst>
          <pc:docMk/>
          <pc:sldMk cId="4070523788" sldId="403"/>
        </pc:sldMkLst>
        <pc:spChg chg="mod">
          <ac:chgData name="Francesco Bellotti" userId="f453232b-f87d-4756-9d8b-c09bc835cc42" providerId="ADAL" clId="{C7FEA3FA-4936-41E1-B7FA-CA082069F7F7}" dt="2026-10-04T08:27:54.170" v="5808" actId="13926"/>
          <ac:spMkLst>
            <pc:docMk/>
            <pc:sldMk cId="4070523788" sldId="403"/>
            <ac:spMk id="3" creationId="{7F4E6883-3A81-475E-9002-DEB4B07907DD}"/>
          </ac:spMkLst>
        </pc:spChg>
        <pc:spChg chg="mod">
          <ac:chgData name="Francesco Bellotti" userId="f453232b-f87d-4756-9d8b-c09bc835cc42" providerId="ADAL" clId="{C7FEA3FA-4936-41E1-B7FA-CA082069F7F7}" dt="2026-10-04T08:27:35.945" v="5807" actId="13926"/>
          <ac:spMkLst>
            <pc:docMk/>
            <pc:sldMk cId="4070523788" sldId="403"/>
            <ac:spMk id="4" creationId="{F3D71752-E60B-ACB4-47A2-7F34820FD0AE}"/>
          </ac:spMkLst>
        </pc:spChg>
      </pc:sldChg>
      <pc:sldChg chg="modSp mod">
        <pc:chgData name="Francesco Bellotti" userId="f453232b-f87d-4756-9d8b-c09bc835cc42" providerId="ADAL" clId="{C7FEA3FA-4936-41E1-B7FA-CA082069F7F7}" dt="2026-10-04T08:27:11.940" v="5806" actId="20577"/>
        <pc:sldMkLst>
          <pc:docMk/>
          <pc:sldMk cId="1344460300" sldId="404"/>
        </pc:sldMkLst>
        <pc:spChg chg="mod">
          <ac:chgData name="Francesco Bellotti" userId="f453232b-f87d-4756-9d8b-c09bc835cc42" providerId="ADAL" clId="{C7FEA3FA-4936-41E1-B7FA-CA082069F7F7}" dt="2026-10-04T08:27:11.940" v="5806" actId="20577"/>
          <ac:spMkLst>
            <pc:docMk/>
            <pc:sldMk cId="1344460300" sldId="404"/>
            <ac:spMk id="3" creationId="{E71109B2-A006-A6C4-9739-7DDB0E8E25B4}"/>
          </ac:spMkLst>
        </pc:spChg>
        <pc:spChg chg="mod">
          <ac:chgData name="Francesco Bellotti" userId="f453232b-f87d-4756-9d8b-c09bc835cc42" providerId="ADAL" clId="{C7FEA3FA-4936-41E1-B7FA-CA082069F7F7}" dt="2026-10-04T08:26:32.996" v="5744" actId="27636"/>
          <ac:spMkLst>
            <pc:docMk/>
            <pc:sldMk cId="1344460300" sldId="404"/>
            <ac:spMk id="4" creationId="{BB31595A-FAF5-3325-DD2E-81CBCB978820}"/>
          </ac:spMkLst>
        </pc:spChg>
      </pc:sldChg>
      <pc:sldChg chg="modSp mod">
        <pc:chgData name="Francesco Bellotti" userId="f453232b-f87d-4756-9d8b-c09bc835cc42" providerId="ADAL" clId="{C7FEA3FA-4936-41E1-B7FA-CA082069F7F7}" dt="2026-10-04T08:22:44.361" v="5727" actId="13926"/>
        <pc:sldMkLst>
          <pc:docMk/>
          <pc:sldMk cId="3955585117" sldId="406"/>
        </pc:sldMkLst>
        <pc:spChg chg="mod">
          <ac:chgData name="Francesco Bellotti" userId="f453232b-f87d-4756-9d8b-c09bc835cc42" providerId="ADAL" clId="{C7FEA3FA-4936-41E1-B7FA-CA082069F7F7}" dt="2026-10-04T08:22:44.361" v="5727" actId="13926"/>
          <ac:spMkLst>
            <pc:docMk/>
            <pc:sldMk cId="3955585117" sldId="406"/>
            <ac:spMk id="3" creationId="{69066EC0-744B-DE0E-ADF4-E96EDA6CAF83}"/>
          </ac:spMkLst>
        </pc:spChg>
      </pc:sldChg>
      <pc:sldChg chg="modSp mod">
        <pc:chgData name="Francesco Bellotti" userId="f453232b-f87d-4756-9d8b-c09bc835cc42" providerId="ADAL" clId="{C7FEA3FA-4936-41E1-B7FA-CA082069F7F7}" dt="2026-10-03T06:39:40.694" v="5329" actId="13926"/>
        <pc:sldMkLst>
          <pc:docMk/>
          <pc:sldMk cId="1936619331" sldId="407"/>
        </pc:sldMkLst>
        <pc:spChg chg="mod">
          <ac:chgData name="Francesco Bellotti" userId="f453232b-f87d-4756-9d8b-c09bc835cc42" providerId="ADAL" clId="{C7FEA3FA-4936-41E1-B7FA-CA082069F7F7}" dt="2026-10-03T06:39:40.694" v="5329" actId="13926"/>
          <ac:spMkLst>
            <pc:docMk/>
            <pc:sldMk cId="1936619331" sldId="407"/>
            <ac:spMk id="3" creationId="{17489E22-5305-6BA0-2A4A-2B6ADADB413E}"/>
          </ac:spMkLst>
        </pc:spChg>
      </pc:sldChg>
      <pc:sldChg chg="modSp mod">
        <pc:chgData name="Francesco Bellotti" userId="f453232b-f87d-4756-9d8b-c09bc835cc42" providerId="ADAL" clId="{C7FEA3FA-4936-41E1-B7FA-CA082069F7F7}" dt="2026-10-03T06:47:30.927" v="5344" actId="13926"/>
        <pc:sldMkLst>
          <pc:docMk/>
          <pc:sldMk cId="4198705206" sldId="408"/>
        </pc:sldMkLst>
        <pc:spChg chg="mod">
          <ac:chgData name="Francesco Bellotti" userId="f453232b-f87d-4756-9d8b-c09bc835cc42" providerId="ADAL" clId="{C7FEA3FA-4936-41E1-B7FA-CA082069F7F7}" dt="2026-10-03T06:47:30.927" v="5344" actId="13926"/>
          <ac:spMkLst>
            <pc:docMk/>
            <pc:sldMk cId="4198705206" sldId="408"/>
            <ac:spMk id="3" creationId="{8D0CEF4F-1F8A-6673-710C-72FAFE43793F}"/>
          </ac:spMkLst>
        </pc:spChg>
      </pc:sldChg>
      <pc:sldChg chg="modSp mod">
        <pc:chgData name="Francesco Bellotti" userId="f453232b-f87d-4756-9d8b-c09bc835cc42" providerId="ADAL" clId="{C7FEA3FA-4936-41E1-B7FA-CA082069F7F7}" dt="2026-10-03T06:53:33.773" v="5407" actId="13926"/>
        <pc:sldMkLst>
          <pc:docMk/>
          <pc:sldMk cId="1504871260" sldId="409"/>
        </pc:sldMkLst>
        <pc:spChg chg="mod">
          <ac:chgData name="Francesco Bellotti" userId="f453232b-f87d-4756-9d8b-c09bc835cc42" providerId="ADAL" clId="{C7FEA3FA-4936-41E1-B7FA-CA082069F7F7}" dt="2026-10-03T06:53:33.773" v="5407" actId="13926"/>
          <ac:spMkLst>
            <pc:docMk/>
            <pc:sldMk cId="1504871260" sldId="409"/>
            <ac:spMk id="3" creationId="{0BEC7A65-AEA2-9727-7394-6CAB50314097}"/>
          </ac:spMkLst>
        </pc:spChg>
      </pc:sldChg>
      <pc:sldChg chg="modSp mod">
        <pc:chgData name="Francesco Bellotti" userId="f453232b-f87d-4756-9d8b-c09bc835cc42" providerId="ADAL" clId="{C7FEA3FA-4936-41E1-B7FA-CA082069F7F7}" dt="2026-10-03T06:57:02.641" v="5426" actId="27636"/>
        <pc:sldMkLst>
          <pc:docMk/>
          <pc:sldMk cId="3314702659" sldId="410"/>
        </pc:sldMkLst>
        <pc:spChg chg="mod">
          <ac:chgData name="Francesco Bellotti" userId="f453232b-f87d-4756-9d8b-c09bc835cc42" providerId="ADAL" clId="{C7FEA3FA-4936-41E1-B7FA-CA082069F7F7}" dt="2026-10-03T06:57:02.641" v="5426" actId="27636"/>
          <ac:spMkLst>
            <pc:docMk/>
            <pc:sldMk cId="3314702659" sldId="410"/>
            <ac:spMk id="3" creationId="{2388619E-6359-4748-E29C-1ACBEFAE8BE5}"/>
          </ac:spMkLst>
        </pc:spChg>
      </pc:sldChg>
      <pc:sldChg chg="modSp mod">
        <pc:chgData name="Francesco Bellotti" userId="f453232b-f87d-4756-9d8b-c09bc835cc42" providerId="ADAL" clId="{C7FEA3FA-4936-41E1-B7FA-CA082069F7F7}" dt="2026-10-04T08:05:03.966" v="5655" actId="20577"/>
        <pc:sldMkLst>
          <pc:docMk/>
          <pc:sldMk cId="825909074" sldId="411"/>
        </pc:sldMkLst>
        <pc:spChg chg="mod">
          <ac:chgData name="Francesco Bellotti" userId="f453232b-f87d-4756-9d8b-c09bc835cc42" providerId="ADAL" clId="{C7FEA3FA-4936-41E1-B7FA-CA082069F7F7}" dt="2026-10-04T08:05:03.966" v="5655" actId="20577"/>
          <ac:spMkLst>
            <pc:docMk/>
            <pc:sldMk cId="825909074" sldId="411"/>
            <ac:spMk id="3" creationId="{87B1C6F0-7D63-2116-5818-879119011AF7}"/>
          </ac:spMkLst>
        </pc:spChg>
      </pc:sldChg>
      <pc:sldChg chg="modSp mod">
        <pc:chgData name="Francesco Bellotti" userId="f453232b-f87d-4756-9d8b-c09bc835cc42" providerId="ADAL" clId="{C7FEA3FA-4936-41E1-B7FA-CA082069F7F7}" dt="2026-10-04T08:03:11.319" v="5635" actId="20577"/>
        <pc:sldMkLst>
          <pc:docMk/>
          <pc:sldMk cId="1377670480" sldId="412"/>
        </pc:sldMkLst>
        <pc:spChg chg="mod">
          <ac:chgData name="Francesco Bellotti" userId="f453232b-f87d-4756-9d8b-c09bc835cc42" providerId="ADAL" clId="{C7FEA3FA-4936-41E1-B7FA-CA082069F7F7}" dt="2026-10-04T08:03:11.319" v="5635" actId="20577"/>
          <ac:spMkLst>
            <pc:docMk/>
            <pc:sldMk cId="1377670480" sldId="412"/>
            <ac:spMk id="3" creationId="{89C42AD5-84DB-2869-3845-99A16CA136F7}"/>
          </ac:spMkLst>
        </pc:spChg>
      </pc:sldChg>
      <pc:sldChg chg="addSp modSp mod">
        <pc:chgData name="Francesco Bellotti" userId="f453232b-f87d-4756-9d8b-c09bc835cc42" providerId="ADAL" clId="{C7FEA3FA-4936-41E1-B7FA-CA082069F7F7}" dt="2026-10-05T23:19:54.307" v="6284" actId="1076"/>
        <pc:sldMkLst>
          <pc:docMk/>
          <pc:sldMk cId="3737242312" sldId="413"/>
        </pc:sldMkLst>
        <pc:spChg chg="add mod">
          <ac:chgData name="Francesco Bellotti" userId="f453232b-f87d-4756-9d8b-c09bc835cc42" providerId="ADAL" clId="{C7FEA3FA-4936-41E1-B7FA-CA082069F7F7}" dt="2026-10-05T23:19:54.307" v="6284" actId="1076"/>
          <ac:spMkLst>
            <pc:docMk/>
            <pc:sldMk cId="3737242312" sldId="413"/>
            <ac:spMk id="3" creationId="{337613DC-2ECC-0B53-D993-5FB0CDE15CA6}"/>
          </ac:spMkLst>
        </pc:spChg>
      </pc:sldChg>
      <pc:sldChg chg="modSp mod">
        <pc:chgData name="Francesco Bellotti" userId="f453232b-f87d-4756-9d8b-c09bc835cc42" providerId="ADAL" clId="{C7FEA3FA-4936-41E1-B7FA-CA082069F7F7}" dt="2026-10-04T08:14:38.234" v="5657" actId="15"/>
        <pc:sldMkLst>
          <pc:docMk/>
          <pc:sldMk cId="2906817901" sldId="414"/>
        </pc:sldMkLst>
        <pc:spChg chg="mod">
          <ac:chgData name="Francesco Bellotti" userId="f453232b-f87d-4756-9d8b-c09bc835cc42" providerId="ADAL" clId="{C7FEA3FA-4936-41E1-B7FA-CA082069F7F7}" dt="2026-10-04T08:14:38.234" v="5657" actId="15"/>
          <ac:spMkLst>
            <pc:docMk/>
            <pc:sldMk cId="2906817901" sldId="414"/>
            <ac:spMk id="3" creationId="{16A1F9E6-2C41-52C6-58A8-FD6D7C82B11B}"/>
          </ac:spMkLst>
        </pc:spChg>
      </pc:sldChg>
      <pc:sldChg chg="modSp mod">
        <pc:chgData name="Francesco Bellotti" userId="f453232b-f87d-4756-9d8b-c09bc835cc42" providerId="ADAL" clId="{C7FEA3FA-4936-41E1-B7FA-CA082069F7F7}" dt="2026-10-04T08:02:40.413" v="5630" actId="20577"/>
        <pc:sldMkLst>
          <pc:docMk/>
          <pc:sldMk cId="1014797068" sldId="416"/>
        </pc:sldMkLst>
        <pc:spChg chg="mod">
          <ac:chgData name="Francesco Bellotti" userId="f453232b-f87d-4756-9d8b-c09bc835cc42" providerId="ADAL" clId="{C7FEA3FA-4936-41E1-B7FA-CA082069F7F7}" dt="2026-10-04T08:02:40.413" v="5630" actId="20577"/>
          <ac:spMkLst>
            <pc:docMk/>
            <pc:sldMk cId="1014797068" sldId="416"/>
            <ac:spMk id="29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4T08:16:46.407" v="5708" actId="13926"/>
        <pc:sldMkLst>
          <pc:docMk/>
          <pc:sldMk cId="1584243907" sldId="418"/>
        </pc:sldMkLst>
        <pc:spChg chg="mod">
          <ac:chgData name="Francesco Bellotti" userId="f453232b-f87d-4756-9d8b-c09bc835cc42" providerId="ADAL" clId="{C7FEA3FA-4936-41E1-B7FA-CA082069F7F7}" dt="2026-10-04T08:16:46.407" v="5708" actId="13926"/>
          <ac:spMkLst>
            <pc:docMk/>
            <pc:sldMk cId="1584243907" sldId="418"/>
            <ac:spMk id="3" creationId="{ECE1C242-82C4-8815-7996-175E5AAE4284}"/>
          </ac:spMkLst>
        </pc:spChg>
      </pc:sldChg>
      <pc:sldChg chg="modSp mod">
        <pc:chgData name="Francesco Bellotti" userId="f453232b-f87d-4756-9d8b-c09bc835cc42" providerId="ADAL" clId="{C7FEA3FA-4936-41E1-B7FA-CA082069F7F7}" dt="2026-10-04T08:20:49.318" v="5721" actId="13926"/>
        <pc:sldMkLst>
          <pc:docMk/>
          <pc:sldMk cId="174720288" sldId="419"/>
        </pc:sldMkLst>
        <pc:spChg chg="mod">
          <ac:chgData name="Francesco Bellotti" userId="f453232b-f87d-4756-9d8b-c09bc835cc42" providerId="ADAL" clId="{C7FEA3FA-4936-41E1-B7FA-CA082069F7F7}" dt="2026-10-04T08:20:49.318" v="5721" actId="13926"/>
          <ac:spMkLst>
            <pc:docMk/>
            <pc:sldMk cId="174720288" sldId="419"/>
            <ac:spMk id="3" creationId="{0A226AA6-8840-98D4-3EA5-18445AC95675}"/>
          </ac:spMkLst>
        </pc:spChg>
      </pc:sldChg>
      <pc:sldChg chg="modSp mod">
        <pc:chgData name="Francesco Bellotti" userId="f453232b-f87d-4756-9d8b-c09bc835cc42" providerId="ADAL" clId="{C7FEA3FA-4936-41E1-B7FA-CA082069F7F7}" dt="2026-10-05T07:14:45.398" v="5809" actId="13926"/>
        <pc:sldMkLst>
          <pc:docMk/>
          <pc:sldMk cId="618419378" sldId="420"/>
        </pc:sldMkLst>
        <pc:spChg chg="mod">
          <ac:chgData name="Francesco Bellotti" userId="f453232b-f87d-4756-9d8b-c09bc835cc42" providerId="ADAL" clId="{C7FEA3FA-4936-41E1-B7FA-CA082069F7F7}" dt="2026-10-05T07:14:45.398" v="5809" actId="13926"/>
          <ac:spMkLst>
            <pc:docMk/>
            <pc:sldMk cId="618419378" sldId="420"/>
            <ac:spMk id="3" creationId="{863ED242-B73D-1EE3-59E1-6CC3A8EBA387}"/>
          </ac:spMkLst>
        </pc:spChg>
      </pc:sldChg>
      <pc:sldChg chg="modSp mod">
        <pc:chgData name="Francesco Bellotti" userId="f453232b-f87d-4756-9d8b-c09bc835cc42" providerId="ADAL" clId="{C7FEA3FA-4936-41E1-B7FA-CA082069F7F7}" dt="2026-10-05T07:17:13.331" v="5811" actId="113"/>
        <pc:sldMkLst>
          <pc:docMk/>
          <pc:sldMk cId="627576606" sldId="421"/>
        </pc:sldMkLst>
        <pc:spChg chg="mod">
          <ac:chgData name="Francesco Bellotti" userId="f453232b-f87d-4756-9d8b-c09bc835cc42" providerId="ADAL" clId="{C7FEA3FA-4936-41E1-B7FA-CA082069F7F7}" dt="2026-10-05T07:17:13.331" v="5811" actId="113"/>
          <ac:spMkLst>
            <pc:docMk/>
            <pc:sldMk cId="627576606" sldId="421"/>
            <ac:spMk id="5" creationId="{1EFA7C56-C0CB-ADC6-297F-BB7F8BD5EB3E}"/>
          </ac:spMkLst>
        </pc:spChg>
      </pc:sldChg>
      <pc:sldChg chg="modSp mod">
        <pc:chgData name="Francesco Bellotti" userId="f453232b-f87d-4756-9d8b-c09bc835cc42" providerId="ADAL" clId="{C7FEA3FA-4936-41E1-B7FA-CA082069F7F7}" dt="2026-10-05T07:17:33.055" v="5812" actId="13926"/>
        <pc:sldMkLst>
          <pc:docMk/>
          <pc:sldMk cId="2405602411" sldId="422"/>
        </pc:sldMkLst>
        <pc:spChg chg="mod">
          <ac:chgData name="Francesco Bellotti" userId="f453232b-f87d-4756-9d8b-c09bc835cc42" providerId="ADAL" clId="{C7FEA3FA-4936-41E1-B7FA-CA082069F7F7}" dt="2026-10-05T07:17:33.055" v="5812" actId="13926"/>
          <ac:spMkLst>
            <pc:docMk/>
            <pc:sldMk cId="2405602411" sldId="422"/>
            <ac:spMk id="5" creationId="{A3F0E293-E178-D309-E377-FCFF41C4FB2D}"/>
          </ac:spMkLst>
        </pc:spChg>
      </pc:sldChg>
      <pc:sldChg chg="addSp modSp mod">
        <pc:chgData name="Francesco Bellotti" userId="f453232b-f87d-4756-9d8b-c09bc835cc42" providerId="ADAL" clId="{C7FEA3FA-4936-41E1-B7FA-CA082069F7F7}" dt="2026-10-05T08:04:55.138" v="5906" actId="1036"/>
        <pc:sldMkLst>
          <pc:docMk/>
          <pc:sldMk cId="1512713731" sldId="423"/>
        </pc:sldMkLst>
        <pc:spChg chg="mod">
          <ac:chgData name="Francesco Bellotti" userId="f453232b-f87d-4756-9d8b-c09bc835cc42" providerId="ADAL" clId="{C7FEA3FA-4936-41E1-B7FA-CA082069F7F7}" dt="2026-10-05T07:18:45.616" v="5815" actId="13926"/>
          <ac:spMkLst>
            <pc:docMk/>
            <pc:sldMk cId="1512713731" sldId="423"/>
            <ac:spMk id="3" creationId="{77A44BFD-4B53-A860-E64C-2586F0D09F20}"/>
          </ac:spMkLst>
        </pc:spChg>
        <pc:spChg chg="mod">
          <ac:chgData name="Francesco Bellotti" userId="f453232b-f87d-4756-9d8b-c09bc835cc42" providerId="ADAL" clId="{C7FEA3FA-4936-41E1-B7FA-CA082069F7F7}" dt="2026-10-05T07:18:15.934" v="5813" actId="113"/>
          <ac:spMkLst>
            <pc:docMk/>
            <pc:sldMk cId="1512713731" sldId="423"/>
            <ac:spMk id="4" creationId="{E98B348E-2D25-7AD0-1E43-6884D9866AB9}"/>
          </ac:spMkLst>
        </pc:spChg>
        <pc:spChg chg="add mod">
          <ac:chgData name="Francesco Bellotti" userId="f453232b-f87d-4756-9d8b-c09bc835cc42" providerId="ADAL" clId="{C7FEA3FA-4936-41E1-B7FA-CA082069F7F7}" dt="2026-10-05T08:04:55.138" v="5906" actId="1036"/>
          <ac:spMkLst>
            <pc:docMk/>
            <pc:sldMk cId="1512713731" sldId="423"/>
            <ac:spMk id="5" creationId="{6A63A7A4-AEC9-72EC-2E92-B678B759177B}"/>
          </ac:spMkLst>
        </pc:spChg>
      </pc:sldChg>
      <pc:sldChg chg="modSp mod">
        <pc:chgData name="Francesco Bellotti" userId="f453232b-f87d-4756-9d8b-c09bc835cc42" providerId="ADAL" clId="{C7FEA3FA-4936-41E1-B7FA-CA082069F7F7}" dt="2026-10-05T08:12:35.217" v="5912" actId="13926"/>
        <pc:sldMkLst>
          <pc:docMk/>
          <pc:sldMk cId="1761937363" sldId="431"/>
        </pc:sldMkLst>
        <pc:spChg chg="mod">
          <ac:chgData name="Francesco Bellotti" userId="f453232b-f87d-4756-9d8b-c09bc835cc42" providerId="ADAL" clId="{C7FEA3FA-4936-41E1-B7FA-CA082069F7F7}" dt="2026-10-05T08:12:35.217" v="5912" actId="13926"/>
          <ac:spMkLst>
            <pc:docMk/>
            <pc:sldMk cId="1761937363" sldId="431"/>
            <ac:spMk id="6" creationId="{8CD75473-DF81-1510-8AFF-388A6BBC12A2}"/>
          </ac:spMkLst>
        </pc:spChg>
      </pc:sldChg>
      <pc:sldChg chg="modSp mod">
        <pc:chgData name="Francesco Bellotti" userId="f453232b-f87d-4756-9d8b-c09bc835cc42" providerId="ADAL" clId="{C7FEA3FA-4936-41E1-B7FA-CA082069F7F7}" dt="2026-10-05T08:15:14.943" v="5946" actId="13926"/>
        <pc:sldMkLst>
          <pc:docMk/>
          <pc:sldMk cId="0" sldId="433"/>
        </pc:sldMkLst>
        <pc:spChg chg="mod">
          <ac:chgData name="Francesco Bellotti" userId="f453232b-f87d-4756-9d8b-c09bc835cc42" providerId="ADAL" clId="{C7FEA3FA-4936-41E1-B7FA-CA082069F7F7}" dt="2026-10-05T08:15:14.943" v="5946" actId="13926"/>
          <ac:spMkLst>
            <pc:docMk/>
            <pc:sldMk cId="0" sldId="433"/>
            <ac:spMk id="6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8:17:35.013" v="5949" actId="13926"/>
        <pc:sldMkLst>
          <pc:docMk/>
          <pc:sldMk cId="0" sldId="438"/>
        </pc:sldMkLst>
        <pc:spChg chg="mod">
          <ac:chgData name="Francesco Bellotti" userId="f453232b-f87d-4756-9d8b-c09bc835cc42" providerId="ADAL" clId="{C7FEA3FA-4936-41E1-B7FA-CA082069F7F7}" dt="2026-10-05T08:17:35.013" v="5949" actId="13926"/>
          <ac:spMkLst>
            <pc:docMk/>
            <pc:sldMk cId="0" sldId="438"/>
            <ac:spMk id="6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8:18:15.153" v="5950" actId="13926"/>
        <pc:sldMkLst>
          <pc:docMk/>
          <pc:sldMk cId="0" sldId="439"/>
        </pc:sldMkLst>
        <pc:spChg chg="mod">
          <ac:chgData name="Francesco Bellotti" userId="f453232b-f87d-4756-9d8b-c09bc835cc42" providerId="ADAL" clId="{C7FEA3FA-4936-41E1-B7FA-CA082069F7F7}" dt="2026-10-05T08:18:15.153" v="5950" actId="13926"/>
          <ac:spMkLst>
            <pc:docMk/>
            <pc:sldMk cId="0" sldId="439"/>
            <ac:spMk id="6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8:18:57.227" v="5951" actId="13926"/>
        <pc:sldMkLst>
          <pc:docMk/>
          <pc:sldMk cId="0" sldId="441"/>
        </pc:sldMkLst>
        <pc:spChg chg="mod">
          <ac:chgData name="Francesco Bellotti" userId="f453232b-f87d-4756-9d8b-c09bc835cc42" providerId="ADAL" clId="{C7FEA3FA-4936-41E1-B7FA-CA082069F7F7}" dt="2026-10-05T08:18:57.227" v="5951" actId="13926"/>
          <ac:spMkLst>
            <pc:docMk/>
            <pc:sldMk cId="0" sldId="441"/>
            <ac:spMk id="6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7:21:26.741" v="5817" actId="13926"/>
        <pc:sldMkLst>
          <pc:docMk/>
          <pc:sldMk cId="0" sldId="444"/>
        </pc:sldMkLst>
        <pc:spChg chg="mod">
          <ac:chgData name="Francesco Bellotti" userId="f453232b-f87d-4756-9d8b-c09bc835cc42" providerId="ADAL" clId="{C7FEA3FA-4936-41E1-B7FA-CA082069F7F7}" dt="2026-10-05T07:21:20.161" v="5816" actId="13926"/>
          <ac:spMkLst>
            <pc:docMk/>
            <pc:sldMk cId="0" sldId="444"/>
            <ac:spMk id="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7:21:26.741" v="5817" actId="13926"/>
          <ac:spMkLst>
            <pc:docMk/>
            <pc:sldMk cId="0" sldId="444"/>
            <ac:spMk id="26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8:16:04.310" v="5948" actId="13926"/>
        <pc:sldMkLst>
          <pc:docMk/>
          <pc:sldMk cId="214434621" sldId="452"/>
        </pc:sldMkLst>
        <pc:spChg chg="mod">
          <ac:chgData name="Francesco Bellotti" userId="f453232b-f87d-4756-9d8b-c09bc835cc42" providerId="ADAL" clId="{C7FEA3FA-4936-41E1-B7FA-CA082069F7F7}" dt="2026-10-05T08:16:04.310" v="5948" actId="13926"/>
          <ac:spMkLst>
            <pc:docMk/>
            <pc:sldMk cId="214434621" sldId="452"/>
            <ac:spMk id="4" creationId="{FB168494-E023-2A89-1779-418137A63F22}"/>
          </ac:spMkLst>
        </pc:spChg>
      </pc:sldChg>
      <pc:sldChg chg="modSp mod">
        <pc:chgData name="Francesco Bellotti" userId="f453232b-f87d-4756-9d8b-c09bc835cc42" providerId="ADAL" clId="{C7FEA3FA-4936-41E1-B7FA-CA082069F7F7}" dt="2026-10-05T08:20:38.748" v="5954" actId="13926"/>
        <pc:sldMkLst>
          <pc:docMk/>
          <pc:sldMk cId="3248485612" sldId="457"/>
        </pc:sldMkLst>
        <pc:spChg chg="mod">
          <ac:chgData name="Francesco Bellotti" userId="f453232b-f87d-4756-9d8b-c09bc835cc42" providerId="ADAL" clId="{C7FEA3FA-4936-41E1-B7FA-CA082069F7F7}" dt="2026-10-05T08:20:19.096" v="5952" actId="13926"/>
          <ac:spMkLst>
            <pc:docMk/>
            <pc:sldMk cId="3248485612" sldId="457"/>
            <ac:spMk id="2" creationId="{043CC9D5-F88B-5D6A-D179-2985D1F6ECF8}"/>
          </ac:spMkLst>
        </pc:spChg>
        <pc:spChg chg="mod">
          <ac:chgData name="Francesco Bellotti" userId="f453232b-f87d-4756-9d8b-c09bc835cc42" providerId="ADAL" clId="{C7FEA3FA-4936-41E1-B7FA-CA082069F7F7}" dt="2026-10-05T08:20:38.748" v="5954" actId="13926"/>
          <ac:spMkLst>
            <pc:docMk/>
            <pc:sldMk cId="3248485612" sldId="457"/>
            <ac:spMk id="3" creationId="{89C1107A-D802-C55C-A5B0-16A265DFC217}"/>
          </ac:spMkLst>
        </pc:spChg>
      </pc:sldChg>
      <pc:sldChg chg="modSp mod">
        <pc:chgData name="Francesco Bellotti" userId="f453232b-f87d-4756-9d8b-c09bc835cc42" providerId="ADAL" clId="{C7FEA3FA-4936-41E1-B7FA-CA082069F7F7}" dt="2026-10-05T08:21:05.880" v="5956" actId="13926"/>
        <pc:sldMkLst>
          <pc:docMk/>
          <pc:sldMk cId="2167621174" sldId="459"/>
        </pc:sldMkLst>
        <pc:spChg chg="mod">
          <ac:chgData name="Francesco Bellotti" userId="f453232b-f87d-4756-9d8b-c09bc835cc42" providerId="ADAL" clId="{C7FEA3FA-4936-41E1-B7FA-CA082069F7F7}" dt="2026-10-05T08:21:00.931" v="5955" actId="13926"/>
          <ac:spMkLst>
            <pc:docMk/>
            <pc:sldMk cId="2167621174" sldId="459"/>
            <ac:spMk id="2" creationId="{BD300140-CD7F-5315-CB13-B41DE162AE3F}"/>
          </ac:spMkLst>
        </pc:spChg>
        <pc:spChg chg="mod">
          <ac:chgData name="Francesco Bellotti" userId="f453232b-f87d-4756-9d8b-c09bc835cc42" providerId="ADAL" clId="{C7FEA3FA-4936-41E1-B7FA-CA082069F7F7}" dt="2026-10-05T08:21:05.880" v="5956" actId="13926"/>
          <ac:spMkLst>
            <pc:docMk/>
            <pc:sldMk cId="2167621174" sldId="459"/>
            <ac:spMk id="7" creationId="{7F8737D3-4FFA-70CF-523C-0983D337665E}"/>
          </ac:spMkLst>
        </pc:spChg>
      </pc:sldChg>
      <pc:sldChg chg="modSp mod">
        <pc:chgData name="Francesco Bellotti" userId="f453232b-f87d-4756-9d8b-c09bc835cc42" providerId="ADAL" clId="{C7FEA3FA-4936-41E1-B7FA-CA082069F7F7}" dt="2026-10-05T08:22:16.991" v="5960" actId="13926"/>
        <pc:sldMkLst>
          <pc:docMk/>
          <pc:sldMk cId="3434162336" sldId="460"/>
        </pc:sldMkLst>
        <pc:spChg chg="mod">
          <ac:chgData name="Francesco Bellotti" userId="f453232b-f87d-4756-9d8b-c09bc835cc42" providerId="ADAL" clId="{C7FEA3FA-4936-41E1-B7FA-CA082069F7F7}" dt="2026-10-05T08:22:16.991" v="5960" actId="13926"/>
          <ac:spMkLst>
            <pc:docMk/>
            <pc:sldMk cId="3434162336" sldId="460"/>
            <ac:spMk id="2" creationId="{FF95B863-5C7D-A17B-D237-77B3BC038825}"/>
          </ac:spMkLst>
        </pc:spChg>
        <pc:spChg chg="mod">
          <ac:chgData name="Francesco Bellotti" userId="f453232b-f87d-4756-9d8b-c09bc835cc42" providerId="ADAL" clId="{C7FEA3FA-4936-41E1-B7FA-CA082069F7F7}" dt="2026-10-05T08:22:07.312" v="5958" actId="13926"/>
          <ac:spMkLst>
            <pc:docMk/>
            <pc:sldMk cId="3434162336" sldId="460"/>
            <ac:spMk id="3" creationId="{1A510120-54C9-C84A-E7B5-98EF75D3EB39}"/>
          </ac:spMkLst>
        </pc:spChg>
        <pc:spChg chg="mod">
          <ac:chgData name="Francesco Bellotti" userId="f453232b-f87d-4756-9d8b-c09bc835cc42" providerId="ADAL" clId="{C7FEA3FA-4936-41E1-B7FA-CA082069F7F7}" dt="2026-10-05T08:22:12.405" v="5959" actId="13926"/>
          <ac:spMkLst>
            <pc:docMk/>
            <pc:sldMk cId="3434162336" sldId="460"/>
            <ac:spMk id="4" creationId="{6E1F1262-1B63-F298-AD4D-34331F7A74CA}"/>
          </ac:spMkLst>
        </pc:spChg>
      </pc:sldChg>
      <pc:sldChg chg="modSp mod">
        <pc:chgData name="Francesco Bellotti" userId="f453232b-f87d-4756-9d8b-c09bc835cc42" providerId="ADAL" clId="{C7FEA3FA-4936-41E1-B7FA-CA082069F7F7}" dt="2026-10-05T08:21:56.338" v="5957" actId="13926"/>
        <pc:sldMkLst>
          <pc:docMk/>
          <pc:sldMk cId="2494787735" sldId="461"/>
        </pc:sldMkLst>
        <pc:spChg chg="mod">
          <ac:chgData name="Francesco Bellotti" userId="f453232b-f87d-4756-9d8b-c09bc835cc42" providerId="ADAL" clId="{C7FEA3FA-4936-41E1-B7FA-CA082069F7F7}" dt="2026-10-05T08:21:56.338" v="5957" actId="13926"/>
          <ac:spMkLst>
            <pc:docMk/>
            <pc:sldMk cId="2494787735" sldId="461"/>
            <ac:spMk id="2" creationId="{1E2F910D-45CD-35B8-C5F5-E322A1AD649B}"/>
          </ac:spMkLst>
        </pc:spChg>
      </pc:sldChg>
      <pc:sldChg chg="modSp mod">
        <pc:chgData name="Francesco Bellotti" userId="f453232b-f87d-4756-9d8b-c09bc835cc42" providerId="ADAL" clId="{C7FEA3FA-4936-41E1-B7FA-CA082069F7F7}" dt="2026-10-05T07:15:11.538" v="5810" actId="13926"/>
        <pc:sldMkLst>
          <pc:docMk/>
          <pc:sldMk cId="939636573" sldId="462"/>
        </pc:sldMkLst>
        <pc:spChg chg="mod">
          <ac:chgData name="Francesco Bellotti" userId="f453232b-f87d-4756-9d8b-c09bc835cc42" providerId="ADAL" clId="{C7FEA3FA-4936-41E1-B7FA-CA082069F7F7}" dt="2026-10-05T07:15:11.538" v="5810" actId="13926"/>
          <ac:spMkLst>
            <pc:docMk/>
            <pc:sldMk cId="939636573" sldId="462"/>
            <ac:spMk id="3" creationId="{70864B43-F24C-82EC-E73F-B78B5B74C817}"/>
          </ac:spMkLst>
        </pc:spChg>
      </pc:sldChg>
      <pc:sldChg chg="modSp mod">
        <pc:chgData name="Francesco Bellotti" userId="f453232b-f87d-4756-9d8b-c09bc835cc42" providerId="ADAL" clId="{C7FEA3FA-4936-41E1-B7FA-CA082069F7F7}" dt="2026-10-05T08:14:16.759" v="5919" actId="113"/>
        <pc:sldMkLst>
          <pc:docMk/>
          <pc:sldMk cId="2368682330" sldId="463"/>
        </pc:sldMkLst>
        <pc:spChg chg="mod">
          <ac:chgData name="Francesco Bellotti" userId="f453232b-f87d-4756-9d8b-c09bc835cc42" providerId="ADAL" clId="{C7FEA3FA-4936-41E1-B7FA-CA082069F7F7}" dt="2026-10-05T08:14:05.996" v="5917" actId="13926"/>
          <ac:spMkLst>
            <pc:docMk/>
            <pc:sldMk cId="2368682330" sldId="463"/>
            <ac:spMk id="3" creationId="{33DAF4FB-B02F-AB23-CF7E-390E3491ACDB}"/>
          </ac:spMkLst>
        </pc:spChg>
        <pc:spChg chg="mod">
          <ac:chgData name="Francesco Bellotti" userId="f453232b-f87d-4756-9d8b-c09bc835cc42" providerId="ADAL" clId="{C7FEA3FA-4936-41E1-B7FA-CA082069F7F7}" dt="2026-10-05T08:14:16.759" v="5919" actId="113"/>
          <ac:spMkLst>
            <pc:docMk/>
            <pc:sldMk cId="2368682330" sldId="463"/>
            <ac:spMk id="5" creationId="{818D8E7F-6140-8D39-BDF4-24B9459B8695}"/>
          </ac:spMkLst>
        </pc:spChg>
      </pc:sldChg>
      <pc:sldChg chg="modSp mod">
        <pc:chgData name="Francesco Bellotti" userId="f453232b-f87d-4756-9d8b-c09bc835cc42" providerId="ADAL" clId="{C7FEA3FA-4936-41E1-B7FA-CA082069F7F7}" dt="2026-10-05T08:06:26.480" v="5910" actId="1036"/>
        <pc:sldMkLst>
          <pc:docMk/>
          <pc:sldMk cId="3717995182" sldId="464"/>
        </pc:sldMkLst>
        <pc:spChg chg="mod">
          <ac:chgData name="Francesco Bellotti" userId="f453232b-f87d-4756-9d8b-c09bc835cc42" providerId="ADAL" clId="{C7FEA3FA-4936-41E1-B7FA-CA082069F7F7}" dt="2026-10-05T08:06:26.480" v="5910" actId="1036"/>
          <ac:spMkLst>
            <pc:docMk/>
            <pc:sldMk cId="3717995182" sldId="464"/>
            <ac:spMk id="8" creationId="{D1993ACF-BE33-A078-15A2-5C291EDD177D}"/>
          </ac:spMkLst>
        </pc:spChg>
      </pc:sldChg>
      <pc:sldChg chg="modSp mod">
        <pc:chgData name="Francesco Bellotti" userId="f453232b-f87d-4756-9d8b-c09bc835cc42" providerId="ADAL" clId="{C7FEA3FA-4936-41E1-B7FA-CA082069F7F7}" dt="2026-10-05T08:34:05.258" v="6043" actId="13926"/>
        <pc:sldMkLst>
          <pc:docMk/>
          <pc:sldMk cId="0" sldId="466"/>
        </pc:sldMkLst>
        <pc:spChg chg="mod">
          <ac:chgData name="Francesco Bellotti" userId="f453232b-f87d-4756-9d8b-c09bc835cc42" providerId="ADAL" clId="{C7FEA3FA-4936-41E1-B7FA-CA082069F7F7}" dt="2026-10-05T08:34:05.258" v="6043" actId="13926"/>
          <ac:spMkLst>
            <pc:docMk/>
            <pc:sldMk cId="0" sldId="466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24:34.692" v="5961" actId="113"/>
          <ac:spMkLst>
            <pc:docMk/>
            <pc:sldMk cId="0" sldId="466"/>
            <ac:spMk id="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33:14.168" v="6010" actId="1076"/>
          <ac:spMkLst>
            <pc:docMk/>
            <pc:sldMk cId="0" sldId="466"/>
            <ac:spMk id="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33:53.611" v="6042" actId="403"/>
          <ac:spMkLst>
            <pc:docMk/>
            <pc:sldMk cId="0" sldId="466"/>
            <ac:spMk id="8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8:30:41.993" v="6005" actId="1076"/>
        <pc:sldMkLst>
          <pc:docMk/>
          <pc:sldMk cId="0" sldId="467"/>
        </pc:sldMkLst>
        <pc:spChg chg="mod">
          <ac:chgData name="Francesco Bellotti" userId="f453232b-f87d-4756-9d8b-c09bc835cc42" providerId="ADAL" clId="{C7FEA3FA-4936-41E1-B7FA-CA082069F7F7}" dt="2026-10-05T08:29:24.317" v="5995" actId="13926"/>
          <ac:spMkLst>
            <pc:docMk/>
            <pc:sldMk cId="0" sldId="467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30:41.993" v="6005" actId="1076"/>
          <ac:spMkLst>
            <pc:docMk/>
            <pc:sldMk cId="0" sldId="467"/>
            <ac:spMk id="2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30:33.485" v="6003" actId="14100"/>
          <ac:spMkLst>
            <pc:docMk/>
            <pc:sldMk cId="0" sldId="467"/>
            <ac:spMk id="2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30:37.208" v="6004" actId="1076"/>
          <ac:spMkLst>
            <pc:docMk/>
            <pc:sldMk cId="0" sldId="467"/>
            <ac:spMk id="2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30:11.181" v="6001" actId="1076"/>
          <ac:spMkLst>
            <pc:docMk/>
            <pc:sldMk cId="0" sldId="467"/>
            <ac:spMk id="2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30:05.504" v="6000" actId="1076"/>
          <ac:spMkLst>
            <pc:docMk/>
            <pc:sldMk cId="0" sldId="467"/>
            <ac:spMk id="2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30:05.504" v="6000" actId="1076"/>
          <ac:spMkLst>
            <pc:docMk/>
            <pc:sldMk cId="0" sldId="467"/>
            <ac:spMk id="3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29:50.508" v="5998" actId="1076"/>
          <ac:spMkLst>
            <pc:docMk/>
            <pc:sldMk cId="0" sldId="467"/>
            <ac:spMk id="3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29:50.508" v="5998" actId="1076"/>
          <ac:spMkLst>
            <pc:docMk/>
            <pc:sldMk cId="0" sldId="467"/>
            <ac:spMk id="3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29:50.508" v="5998" actId="1076"/>
          <ac:spMkLst>
            <pc:docMk/>
            <pc:sldMk cId="0" sldId="467"/>
            <ac:spMk id="3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29:50.508" v="5998" actId="1076"/>
          <ac:spMkLst>
            <pc:docMk/>
            <pc:sldMk cId="0" sldId="467"/>
            <ac:spMk id="3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29:50.508" v="5998" actId="1076"/>
          <ac:spMkLst>
            <pc:docMk/>
            <pc:sldMk cId="0" sldId="467"/>
            <ac:spMk id="3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29:55.532" v="5999" actId="1076"/>
          <ac:spMkLst>
            <pc:docMk/>
            <pc:sldMk cId="0" sldId="467"/>
            <ac:spMk id="36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8:32:54.894" v="6008" actId="1076"/>
        <pc:sldMkLst>
          <pc:docMk/>
          <pc:sldMk cId="0" sldId="468"/>
        </pc:sldMkLst>
        <pc:spChg chg="mod">
          <ac:chgData name="Francesco Bellotti" userId="f453232b-f87d-4756-9d8b-c09bc835cc42" providerId="ADAL" clId="{C7FEA3FA-4936-41E1-B7FA-CA082069F7F7}" dt="2026-10-05T08:32:54.894" v="6008" actId="1076"/>
          <ac:spMkLst>
            <pc:docMk/>
            <pc:sldMk cId="0" sldId="468"/>
            <ac:spMk id="22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8:37:39.992" v="6051" actId="13926"/>
        <pc:sldMkLst>
          <pc:docMk/>
          <pc:sldMk cId="0" sldId="469"/>
        </pc:sldMkLst>
        <pc:spChg chg="mod">
          <ac:chgData name="Francesco Bellotti" userId="f453232b-f87d-4756-9d8b-c09bc835cc42" providerId="ADAL" clId="{C7FEA3FA-4936-41E1-B7FA-CA082069F7F7}" dt="2026-10-05T08:37:39.992" v="6051" actId="13926"/>
          <ac:spMkLst>
            <pc:docMk/>
            <pc:sldMk cId="0" sldId="469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37:32.612" v="6050" actId="113"/>
          <ac:spMkLst>
            <pc:docMk/>
            <pc:sldMk cId="0" sldId="469"/>
            <ac:spMk id="6" creationId="{00000000-0000-0000-0000-000000000000}"/>
          </ac:spMkLst>
        </pc:spChg>
      </pc:sldChg>
      <pc:sldChg chg="addSp modSp mod">
        <pc:chgData name="Francesco Bellotti" userId="f453232b-f87d-4756-9d8b-c09bc835cc42" providerId="ADAL" clId="{C7FEA3FA-4936-41E1-B7FA-CA082069F7F7}" dt="2026-10-05T08:54:06.673" v="6142" actId="20577"/>
        <pc:sldMkLst>
          <pc:docMk/>
          <pc:sldMk cId="0" sldId="470"/>
        </pc:sldMkLst>
        <pc:spChg chg="add mod">
          <ac:chgData name="Francesco Bellotti" userId="f453232b-f87d-4756-9d8b-c09bc835cc42" providerId="ADAL" clId="{C7FEA3FA-4936-41E1-B7FA-CA082069F7F7}" dt="2026-10-05T08:54:06.673" v="6142" actId="20577"/>
          <ac:spMkLst>
            <pc:docMk/>
            <pc:sldMk cId="0" sldId="470"/>
            <ac:spMk id="31" creationId="{A0D2D7CD-33B9-600D-AF4A-C994467E264D}"/>
          </ac:spMkLst>
        </pc:spChg>
      </pc:sldChg>
      <pc:sldChg chg="delSp modSp mod">
        <pc:chgData name="Francesco Bellotti" userId="f453232b-f87d-4756-9d8b-c09bc835cc42" providerId="ADAL" clId="{C7FEA3FA-4936-41E1-B7FA-CA082069F7F7}" dt="2026-10-05T08:57:35.671" v="6164" actId="20577"/>
        <pc:sldMkLst>
          <pc:docMk/>
          <pc:sldMk cId="0" sldId="471"/>
        </pc:sldMkLst>
        <pc:spChg chg="mod">
          <ac:chgData name="Francesco Bellotti" userId="f453232b-f87d-4756-9d8b-c09bc835cc42" providerId="ADAL" clId="{C7FEA3FA-4936-41E1-B7FA-CA082069F7F7}" dt="2026-10-05T08:57:35.671" v="6164" actId="20577"/>
          <ac:spMkLst>
            <pc:docMk/>
            <pc:sldMk cId="0" sldId="471"/>
            <ac:spMk id="6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8:59:25.798" v="6169" actId="113"/>
        <pc:sldMkLst>
          <pc:docMk/>
          <pc:sldMk cId="0" sldId="472"/>
        </pc:sldMkLst>
        <pc:spChg chg="mod">
          <ac:chgData name="Francesco Bellotti" userId="f453232b-f87d-4756-9d8b-c09bc835cc42" providerId="ADAL" clId="{C7FEA3FA-4936-41E1-B7FA-CA082069F7F7}" dt="2026-10-05T08:59:25.798" v="6169" actId="113"/>
          <ac:spMkLst>
            <pc:docMk/>
            <pc:sldMk cId="0" sldId="472"/>
            <ac:spMk id="6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8:25:59.385" v="5965" actId="13926"/>
        <pc:sldMkLst>
          <pc:docMk/>
          <pc:sldMk cId="0" sldId="474"/>
        </pc:sldMkLst>
        <pc:spChg chg="mod">
          <ac:chgData name="Francesco Bellotti" userId="f453232b-f87d-4756-9d8b-c09bc835cc42" providerId="ADAL" clId="{C7FEA3FA-4936-41E1-B7FA-CA082069F7F7}" dt="2026-10-05T08:25:59.385" v="5965" actId="13926"/>
          <ac:spMkLst>
            <pc:docMk/>
            <pc:sldMk cId="0" sldId="474"/>
            <ac:spMk id="5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8:49:49.239" v="6114" actId="13926"/>
        <pc:sldMkLst>
          <pc:docMk/>
          <pc:sldMk cId="0" sldId="475"/>
        </pc:sldMkLst>
        <pc:spChg chg="mod">
          <ac:chgData name="Francesco Bellotti" userId="f453232b-f87d-4756-9d8b-c09bc835cc42" providerId="ADAL" clId="{C7FEA3FA-4936-41E1-B7FA-CA082069F7F7}" dt="2026-10-05T08:49:49.239" v="6114" actId="13926"/>
          <ac:spMkLst>
            <pc:docMk/>
            <pc:sldMk cId="0" sldId="475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49:43.055" v="6113" actId="113"/>
          <ac:spMkLst>
            <pc:docMk/>
            <pc:sldMk cId="0" sldId="475"/>
            <ac:spMk id="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48:31.728" v="6062" actId="1076"/>
          <ac:spMkLst>
            <pc:docMk/>
            <pc:sldMk cId="0" sldId="475"/>
            <ac:spMk id="14" creationId="{00000000-0000-0000-0000-000000000000}"/>
          </ac:spMkLst>
        </pc:spChg>
        <pc:spChg chg="mod ord">
          <ac:chgData name="Francesco Bellotti" userId="f453232b-f87d-4756-9d8b-c09bc835cc42" providerId="ADAL" clId="{C7FEA3FA-4936-41E1-B7FA-CA082069F7F7}" dt="2026-10-05T08:47:15.332" v="6056" actId="166"/>
          <ac:spMkLst>
            <pc:docMk/>
            <pc:sldMk cId="0" sldId="475"/>
            <ac:spMk id="1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8:48:56.129" v="6112" actId="20577"/>
          <ac:spMkLst>
            <pc:docMk/>
            <pc:sldMk cId="0" sldId="475"/>
            <ac:spMk id="20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9:00:22.739" v="6171" actId="403"/>
        <pc:sldMkLst>
          <pc:docMk/>
          <pc:sldMk cId="0" sldId="478"/>
        </pc:sldMkLst>
        <pc:spChg chg="mod">
          <ac:chgData name="Francesco Bellotti" userId="f453232b-f87d-4756-9d8b-c09bc835cc42" providerId="ADAL" clId="{C7FEA3FA-4936-41E1-B7FA-CA082069F7F7}" dt="2026-10-05T09:00:17.750" v="6170" actId="13926"/>
          <ac:spMkLst>
            <pc:docMk/>
            <pc:sldMk cId="0" sldId="478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5T09:00:22.739" v="6171" actId="403"/>
          <ac:spMkLst>
            <pc:docMk/>
            <pc:sldMk cId="0" sldId="478"/>
            <ac:spMk id="6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9:01:45.813" v="6174" actId="13926"/>
        <pc:sldMkLst>
          <pc:docMk/>
          <pc:sldMk cId="0" sldId="479"/>
        </pc:sldMkLst>
        <pc:spChg chg="mod">
          <ac:chgData name="Francesco Bellotti" userId="f453232b-f87d-4756-9d8b-c09bc835cc42" providerId="ADAL" clId="{C7FEA3FA-4936-41E1-B7FA-CA082069F7F7}" dt="2026-10-05T09:01:45.813" v="6174" actId="13926"/>
          <ac:spMkLst>
            <pc:docMk/>
            <pc:sldMk cId="0" sldId="479"/>
            <ac:spMk id="32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5T08:33:43.774" v="6036" actId="404"/>
        <pc:sldMkLst>
          <pc:docMk/>
          <pc:sldMk cId="2168125728" sldId="485"/>
        </pc:sldMkLst>
        <pc:spChg chg="mod">
          <ac:chgData name="Francesco Bellotti" userId="f453232b-f87d-4756-9d8b-c09bc835cc42" providerId="ADAL" clId="{C7FEA3FA-4936-41E1-B7FA-CA082069F7F7}" dt="2026-10-05T08:33:43.774" v="6036" actId="404"/>
          <ac:spMkLst>
            <pc:docMk/>
            <pc:sldMk cId="2168125728" sldId="485"/>
            <ac:spMk id="2" creationId="{1A38B43B-E016-01D8-DD98-A8DB96D5AAB1}"/>
          </ac:spMkLst>
        </pc:spChg>
        <pc:spChg chg="mod">
          <ac:chgData name="Francesco Bellotti" userId="f453232b-f87d-4756-9d8b-c09bc835cc42" providerId="ADAL" clId="{C7FEA3FA-4936-41E1-B7FA-CA082069F7F7}" dt="2026-10-05T08:27:59.840" v="5969" actId="113"/>
          <ac:spMkLst>
            <pc:docMk/>
            <pc:sldMk cId="2168125728" sldId="485"/>
            <ac:spMk id="3" creationId="{42FEFAD4-AD21-9064-5623-D59939619F71}"/>
          </ac:spMkLst>
        </pc:spChg>
        <pc:spChg chg="mod">
          <ac:chgData name="Francesco Bellotti" userId="f453232b-f87d-4756-9d8b-c09bc835cc42" providerId="ADAL" clId="{C7FEA3FA-4936-41E1-B7FA-CA082069F7F7}" dt="2026-10-05T08:24:50.616" v="5962" actId="13926"/>
          <ac:spMkLst>
            <pc:docMk/>
            <pc:sldMk cId="2168125728" sldId="485"/>
            <ac:spMk id="6" creationId="{3DEB03E0-C50F-F7EF-6E73-8EC6F22A28DE}"/>
          </ac:spMkLst>
        </pc:spChg>
      </pc:sldChg>
      <pc:sldChg chg="modSp mod">
        <pc:chgData name="Francesco Bellotti" userId="f453232b-f87d-4756-9d8b-c09bc835cc42" providerId="ADAL" clId="{C7FEA3FA-4936-41E1-B7FA-CA082069F7F7}" dt="2026-10-05T08:31:36.958" v="6007" actId="13926"/>
        <pc:sldMkLst>
          <pc:docMk/>
          <pc:sldMk cId="756132078" sldId="488"/>
        </pc:sldMkLst>
        <pc:spChg chg="mod">
          <ac:chgData name="Francesco Bellotti" userId="f453232b-f87d-4756-9d8b-c09bc835cc42" providerId="ADAL" clId="{C7FEA3FA-4936-41E1-B7FA-CA082069F7F7}" dt="2026-10-05T08:31:36.958" v="6007" actId="13926"/>
          <ac:spMkLst>
            <pc:docMk/>
            <pc:sldMk cId="756132078" sldId="488"/>
            <ac:spMk id="4" creationId="{4A076C11-D555-043B-7B7C-9951EE89C885}"/>
          </ac:spMkLst>
        </pc:spChg>
        <pc:spChg chg="mod">
          <ac:chgData name="Francesco Bellotti" userId="f453232b-f87d-4756-9d8b-c09bc835cc42" providerId="ADAL" clId="{C7FEA3FA-4936-41E1-B7FA-CA082069F7F7}" dt="2026-10-05T08:31:28.291" v="6006" actId="13926"/>
          <ac:spMkLst>
            <pc:docMk/>
            <pc:sldMk cId="756132078" sldId="488"/>
            <ac:spMk id="6" creationId="{4996A00E-F1C3-3193-0B7A-B558329519BF}"/>
          </ac:spMkLst>
        </pc:spChg>
      </pc:sldChg>
      <pc:sldChg chg="modSp mod">
        <pc:chgData name="Francesco Bellotti" userId="f453232b-f87d-4756-9d8b-c09bc835cc42" providerId="ADAL" clId="{C7FEA3FA-4936-41E1-B7FA-CA082069F7F7}" dt="2026-10-05T08:36:53.108" v="6047" actId="13926"/>
        <pc:sldMkLst>
          <pc:docMk/>
          <pc:sldMk cId="1685203333" sldId="489"/>
        </pc:sldMkLst>
        <pc:spChg chg="mod">
          <ac:chgData name="Francesco Bellotti" userId="f453232b-f87d-4756-9d8b-c09bc835cc42" providerId="ADAL" clId="{C7FEA3FA-4936-41E1-B7FA-CA082069F7F7}" dt="2026-10-05T08:36:53.108" v="6047" actId="13926"/>
          <ac:spMkLst>
            <pc:docMk/>
            <pc:sldMk cId="1685203333" sldId="489"/>
            <ac:spMk id="5" creationId="{46DE3000-31E5-B9FB-D70E-90CCC797B6AB}"/>
          </ac:spMkLst>
        </pc:spChg>
      </pc:sldChg>
      <pc:sldChg chg="modSp mod">
        <pc:chgData name="Francesco Bellotti" userId="f453232b-f87d-4756-9d8b-c09bc835cc42" providerId="ADAL" clId="{C7FEA3FA-4936-41E1-B7FA-CA082069F7F7}" dt="2026-10-05T08:37:23.498" v="6049" actId="13926"/>
        <pc:sldMkLst>
          <pc:docMk/>
          <pc:sldMk cId="1215547547" sldId="490"/>
        </pc:sldMkLst>
        <pc:spChg chg="mod">
          <ac:chgData name="Francesco Bellotti" userId="f453232b-f87d-4756-9d8b-c09bc835cc42" providerId="ADAL" clId="{C7FEA3FA-4936-41E1-B7FA-CA082069F7F7}" dt="2026-10-05T08:37:23.498" v="6049" actId="13926"/>
          <ac:spMkLst>
            <pc:docMk/>
            <pc:sldMk cId="1215547547" sldId="490"/>
            <ac:spMk id="3" creationId="{FF8CADD1-C39F-3194-B200-38544B290343}"/>
          </ac:spMkLst>
        </pc:spChg>
      </pc:sldChg>
      <pc:sldChg chg="modSp mod">
        <pc:chgData name="Francesco Bellotti" userId="f453232b-f87d-4756-9d8b-c09bc835cc42" providerId="ADAL" clId="{C7FEA3FA-4936-41E1-B7FA-CA082069F7F7}" dt="2026-10-05T08:52:08.233" v="6118" actId="13926"/>
        <pc:sldMkLst>
          <pc:docMk/>
          <pc:sldMk cId="1065167462" sldId="491"/>
        </pc:sldMkLst>
        <pc:spChg chg="mod">
          <ac:chgData name="Francesco Bellotti" userId="f453232b-f87d-4756-9d8b-c09bc835cc42" providerId="ADAL" clId="{C7FEA3FA-4936-41E1-B7FA-CA082069F7F7}" dt="2026-10-05T08:52:08.233" v="6118" actId="13926"/>
          <ac:spMkLst>
            <pc:docMk/>
            <pc:sldMk cId="1065167462" sldId="491"/>
            <ac:spMk id="2" creationId="{B1A11F27-0B21-B331-FA26-52ED80CF3812}"/>
          </ac:spMkLst>
        </pc:spChg>
        <pc:spChg chg="mod">
          <ac:chgData name="Francesco Bellotti" userId="f453232b-f87d-4756-9d8b-c09bc835cc42" providerId="ADAL" clId="{C7FEA3FA-4936-41E1-B7FA-CA082069F7F7}" dt="2026-10-05T08:51:39.974" v="6115" actId="13926"/>
          <ac:spMkLst>
            <pc:docMk/>
            <pc:sldMk cId="1065167462" sldId="491"/>
            <ac:spMk id="4" creationId="{60834984-826F-2097-6D9F-AC4B1AE37CAB}"/>
          </ac:spMkLst>
        </pc:spChg>
      </pc:sldChg>
      <pc:sldChg chg="modSp mod">
        <pc:chgData name="Francesco Bellotti" userId="f453232b-f87d-4756-9d8b-c09bc835cc42" providerId="ADAL" clId="{C7FEA3FA-4936-41E1-B7FA-CA082069F7F7}" dt="2026-10-05T09:56:59.200" v="6250" actId="113"/>
        <pc:sldMkLst>
          <pc:docMk/>
          <pc:sldMk cId="1034941155" sldId="492"/>
        </pc:sldMkLst>
        <pc:spChg chg="mod">
          <ac:chgData name="Francesco Bellotti" userId="f453232b-f87d-4756-9d8b-c09bc835cc42" providerId="ADAL" clId="{C7FEA3FA-4936-41E1-B7FA-CA082069F7F7}" dt="2026-10-05T08:52:00.437" v="6117" actId="113"/>
          <ac:spMkLst>
            <pc:docMk/>
            <pc:sldMk cId="1034941155" sldId="492"/>
            <ac:spMk id="3" creationId="{18299FCF-91B7-876D-DE0F-89976F742511}"/>
          </ac:spMkLst>
        </pc:spChg>
        <pc:spChg chg="mod">
          <ac:chgData name="Francesco Bellotti" userId="f453232b-f87d-4756-9d8b-c09bc835cc42" providerId="ADAL" clId="{C7FEA3FA-4936-41E1-B7FA-CA082069F7F7}" dt="2026-10-05T09:56:59.200" v="6250" actId="113"/>
          <ac:spMkLst>
            <pc:docMk/>
            <pc:sldMk cId="1034941155" sldId="492"/>
            <ac:spMk id="5" creationId="{5FA37973-0E89-DD36-F525-78602501B3B4}"/>
          </ac:spMkLst>
        </pc:spChg>
      </pc:sldChg>
      <pc:sldChg chg="modSp mod">
        <pc:chgData name="Francesco Bellotti" userId="f453232b-f87d-4756-9d8b-c09bc835cc42" providerId="ADAL" clId="{C7FEA3FA-4936-41E1-B7FA-CA082069F7F7}" dt="2026-10-05T09:58:16.040" v="6257" actId="20577"/>
        <pc:sldMkLst>
          <pc:docMk/>
          <pc:sldMk cId="2717450554" sldId="493"/>
        </pc:sldMkLst>
        <pc:spChg chg="mod">
          <ac:chgData name="Francesco Bellotti" userId="f453232b-f87d-4756-9d8b-c09bc835cc42" providerId="ADAL" clId="{C7FEA3FA-4936-41E1-B7FA-CA082069F7F7}" dt="2026-10-05T09:58:16.040" v="6257" actId="20577"/>
          <ac:spMkLst>
            <pc:docMk/>
            <pc:sldMk cId="2717450554" sldId="493"/>
            <ac:spMk id="3" creationId="{695E0632-1143-EA85-F94D-2F2E281E0769}"/>
          </ac:spMkLst>
        </pc:spChg>
      </pc:sldChg>
      <pc:sldChg chg="modSp mod">
        <pc:chgData name="Francesco Bellotti" userId="f453232b-f87d-4756-9d8b-c09bc835cc42" providerId="ADAL" clId="{C7FEA3FA-4936-41E1-B7FA-CA082069F7F7}" dt="2026-10-05T08:56:58.444" v="6152" actId="13926"/>
        <pc:sldMkLst>
          <pc:docMk/>
          <pc:sldMk cId="3018464808" sldId="494"/>
        </pc:sldMkLst>
        <pc:spChg chg="mod">
          <ac:chgData name="Francesco Bellotti" userId="f453232b-f87d-4756-9d8b-c09bc835cc42" providerId="ADAL" clId="{C7FEA3FA-4936-41E1-B7FA-CA082069F7F7}" dt="2026-10-05T08:56:58.444" v="6152" actId="13926"/>
          <ac:spMkLst>
            <pc:docMk/>
            <pc:sldMk cId="3018464808" sldId="494"/>
            <ac:spMk id="3" creationId="{FFD9AFC4-C224-AA6F-48FB-B40E44A299F4}"/>
          </ac:spMkLst>
        </pc:spChg>
      </pc:sldChg>
      <pc:sldChg chg="modSp mod">
        <pc:chgData name="Francesco Bellotti" userId="f453232b-f87d-4756-9d8b-c09bc835cc42" providerId="ADAL" clId="{C7FEA3FA-4936-41E1-B7FA-CA082069F7F7}" dt="2026-10-05T08:58:55.310" v="6168" actId="113"/>
        <pc:sldMkLst>
          <pc:docMk/>
          <pc:sldMk cId="2589900344" sldId="495"/>
        </pc:sldMkLst>
        <pc:spChg chg="mod">
          <ac:chgData name="Francesco Bellotti" userId="f453232b-f87d-4756-9d8b-c09bc835cc42" providerId="ADAL" clId="{C7FEA3FA-4936-41E1-B7FA-CA082069F7F7}" dt="2026-10-05T08:58:41.760" v="6166" actId="13926"/>
          <ac:spMkLst>
            <pc:docMk/>
            <pc:sldMk cId="2589900344" sldId="495"/>
            <ac:spMk id="3" creationId="{F515C29D-4AE6-1CC5-07FF-9A6BD12DA174}"/>
          </ac:spMkLst>
        </pc:spChg>
        <pc:spChg chg="mod">
          <ac:chgData name="Francesco Bellotti" userId="f453232b-f87d-4756-9d8b-c09bc835cc42" providerId="ADAL" clId="{C7FEA3FA-4936-41E1-B7FA-CA082069F7F7}" dt="2026-10-05T08:58:55.310" v="6168" actId="113"/>
          <ac:spMkLst>
            <pc:docMk/>
            <pc:sldMk cId="2589900344" sldId="495"/>
            <ac:spMk id="5" creationId="{21376499-F57C-3B0E-4E37-E96AC6BE10B6}"/>
          </ac:spMkLst>
        </pc:spChg>
      </pc:sldChg>
      <pc:sldChg chg="modSp mod">
        <pc:chgData name="Francesco Bellotti" userId="f453232b-f87d-4756-9d8b-c09bc835cc42" providerId="ADAL" clId="{C7FEA3FA-4936-41E1-B7FA-CA082069F7F7}" dt="2026-10-05T08:27:39.542" v="5968" actId="13926"/>
        <pc:sldMkLst>
          <pc:docMk/>
          <pc:sldMk cId="901735607" sldId="497"/>
        </pc:sldMkLst>
        <pc:spChg chg="mod">
          <ac:chgData name="Francesco Bellotti" userId="f453232b-f87d-4756-9d8b-c09bc835cc42" providerId="ADAL" clId="{C7FEA3FA-4936-41E1-B7FA-CA082069F7F7}" dt="2026-10-05T08:27:39.542" v="5968" actId="13926"/>
          <ac:spMkLst>
            <pc:docMk/>
            <pc:sldMk cId="901735607" sldId="497"/>
            <ac:spMk id="3" creationId="{49AC8421-A17C-78C5-93CA-B3EA432DAE45}"/>
          </ac:spMkLst>
        </pc:spChg>
      </pc:sldChg>
      <pc:sldChg chg="modSp mod">
        <pc:chgData name="Francesco Bellotti" userId="f453232b-f87d-4756-9d8b-c09bc835cc42" providerId="ADAL" clId="{C7FEA3FA-4936-41E1-B7FA-CA082069F7F7}" dt="2026-10-05T09:01:29.001" v="6173" actId="13926"/>
        <pc:sldMkLst>
          <pc:docMk/>
          <pc:sldMk cId="236114577" sldId="510"/>
        </pc:sldMkLst>
        <pc:spChg chg="mod">
          <ac:chgData name="Francesco Bellotti" userId="f453232b-f87d-4756-9d8b-c09bc835cc42" providerId="ADAL" clId="{C7FEA3FA-4936-41E1-B7FA-CA082069F7F7}" dt="2026-10-05T09:01:29.001" v="6173" actId="13926"/>
          <ac:spMkLst>
            <pc:docMk/>
            <pc:sldMk cId="236114577" sldId="510"/>
            <ac:spMk id="3" creationId="{79EEDB93-E4C4-75D8-F08E-A6B9A1421034}"/>
          </ac:spMkLst>
        </pc:spChg>
      </pc:sldChg>
      <pc:sldChg chg="modSp mod">
        <pc:chgData name="Francesco Bellotti" userId="f453232b-f87d-4756-9d8b-c09bc835cc42" providerId="ADAL" clId="{C7FEA3FA-4936-41E1-B7FA-CA082069F7F7}" dt="2026-10-05T09:02:04.809" v="6177" actId="13926"/>
        <pc:sldMkLst>
          <pc:docMk/>
          <pc:sldMk cId="3707949598" sldId="511"/>
        </pc:sldMkLst>
        <pc:spChg chg="mod">
          <ac:chgData name="Francesco Bellotti" userId="f453232b-f87d-4756-9d8b-c09bc835cc42" providerId="ADAL" clId="{C7FEA3FA-4936-41E1-B7FA-CA082069F7F7}" dt="2026-10-05T09:02:04.809" v="6177" actId="13926"/>
          <ac:spMkLst>
            <pc:docMk/>
            <pc:sldMk cId="3707949598" sldId="511"/>
            <ac:spMk id="3" creationId="{DD115AD0-8733-13F4-86ED-2C30414D5222}"/>
          </ac:spMkLst>
        </pc:spChg>
      </pc:sldChg>
      <pc:sldChg chg="addSp modSp new mod modClrScheme chgLayout">
        <pc:chgData name="Francesco Bellotti" userId="f453232b-f87d-4756-9d8b-c09bc835cc42" providerId="ADAL" clId="{C7FEA3FA-4936-41E1-B7FA-CA082069F7F7}" dt="2026-10-06T18:15:46.411" v="6346" actId="113"/>
        <pc:sldMkLst>
          <pc:docMk/>
          <pc:sldMk cId="3434210556" sldId="513"/>
        </pc:sldMkLst>
        <pc:spChg chg="add mod">
          <ac:chgData name="Francesco Bellotti" userId="f453232b-f87d-4756-9d8b-c09bc835cc42" providerId="ADAL" clId="{C7FEA3FA-4936-41E1-B7FA-CA082069F7F7}" dt="2026-10-06T18:15:46.411" v="6346" actId="113"/>
          <ac:spMkLst>
            <pc:docMk/>
            <pc:sldMk cId="3434210556" sldId="513"/>
            <ac:spMk id="2" creationId="{D4D13FBE-7FFF-601E-5B8D-16DC6D9B6445}"/>
          </ac:spMkLst>
        </pc:spChg>
        <pc:spChg chg="add mod">
          <ac:chgData name="Francesco Bellotti" userId="f453232b-f87d-4756-9d8b-c09bc835cc42" providerId="ADAL" clId="{C7FEA3FA-4936-41E1-B7FA-CA082069F7F7}" dt="2026-10-06T18:08:18.863" v="6286" actId="700"/>
          <ac:spMkLst>
            <pc:docMk/>
            <pc:sldMk cId="3434210556" sldId="513"/>
            <ac:spMk id="3" creationId="{6D5F7F39-5E98-B01F-1DA0-6D100757F0AD}"/>
          </ac:spMkLst>
        </pc:spChg>
      </pc:sldChg>
      <pc:sldChg chg="addSp modSp add mod">
        <pc:chgData name="Francesco Bellotti" userId="f453232b-f87d-4756-9d8b-c09bc835cc42" providerId="ADAL" clId="{C7FEA3FA-4936-41E1-B7FA-CA082069F7F7}" dt="2026-10-07T13:32:38.567" v="6602" actId="20577"/>
        <pc:sldMkLst>
          <pc:docMk/>
          <pc:sldMk cId="2144698701" sldId="514"/>
        </pc:sldMkLst>
        <pc:spChg chg="add mod">
          <ac:chgData name="Francesco Bellotti" userId="f453232b-f87d-4756-9d8b-c09bc835cc42" providerId="ADAL" clId="{C7FEA3FA-4936-41E1-B7FA-CA082069F7F7}" dt="2026-10-07T13:32:38.567" v="6602" actId="20577"/>
          <ac:spMkLst>
            <pc:docMk/>
            <pc:sldMk cId="2144698701" sldId="514"/>
            <ac:spMk id="11" creationId="{26CA0FCD-F207-2863-105F-04E467DBDBE1}"/>
          </ac:spMkLst>
        </pc:spChg>
      </pc:sldChg>
      <pc:sldChg chg="modSp add mod">
        <pc:chgData name="Francesco Bellotti" userId="f453232b-f87d-4756-9d8b-c09bc835cc42" providerId="ADAL" clId="{C7FEA3FA-4936-41E1-B7FA-CA082069F7F7}" dt="2026-10-06T18:10:44.632" v="6338" actId="27636"/>
        <pc:sldMkLst>
          <pc:docMk/>
          <pc:sldMk cId="2869444851" sldId="515"/>
        </pc:sldMkLst>
        <pc:spChg chg="mod">
          <ac:chgData name="Francesco Bellotti" userId="f453232b-f87d-4756-9d8b-c09bc835cc42" providerId="ADAL" clId="{C7FEA3FA-4936-41E1-B7FA-CA082069F7F7}" dt="2026-10-06T18:10:44.632" v="6338" actId="27636"/>
          <ac:spMkLst>
            <pc:docMk/>
            <pc:sldMk cId="2869444851" sldId="515"/>
            <ac:spMk id="3" creationId="{00000000-0000-0000-0000-000000000000}"/>
          </ac:spMkLst>
        </pc:spChg>
      </pc:sldChg>
      <pc:sldChg chg="addSp modSp add mod">
        <pc:chgData name="Francesco Bellotti" userId="f453232b-f87d-4756-9d8b-c09bc835cc42" providerId="ADAL" clId="{C7FEA3FA-4936-41E1-B7FA-CA082069F7F7}" dt="2026-10-07T13:53:55.261" v="6643" actId="20577"/>
        <pc:sldMkLst>
          <pc:docMk/>
          <pc:sldMk cId="2440312028" sldId="516"/>
        </pc:sldMkLst>
        <pc:spChg chg="mod">
          <ac:chgData name="Francesco Bellotti" userId="f453232b-f87d-4756-9d8b-c09bc835cc42" providerId="ADAL" clId="{C7FEA3FA-4936-41E1-B7FA-CA082069F7F7}" dt="2026-10-07T13:53:55.261" v="6643" actId="20577"/>
          <ac:spMkLst>
            <pc:docMk/>
            <pc:sldMk cId="2440312028" sldId="516"/>
            <ac:spMk id="3" creationId="{00000000-0000-0000-0000-000000000000}"/>
          </ac:spMkLst>
        </pc:spChg>
        <pc:picChg chg="add mod">
          <ac:chgData name="Francesco Bellotti" userId="f453232b-f87d-4756-9d8b-c09bc835cc42" providerId="ADAL" clId="{C7FEA3FA-4936-41E1-B7FA-CA082069F7F7}" dt="2026-10-07T13:45:33.985" v="6606" actId="1076"/>
          <ac:picMkLst>
            <pc:docMk/>
            <pc:sldMk cId="2440312028" sldId="516"/>
            <ac:picMk id="9" creationId="{E2277231-1329-2F7D-5478-38A07355D4C2}"/>
          </ac:picMkLst>
        </pc:picChg>
        <pc:cxnChg chg="mod">
          <ac:chgData name="Francesco Bellotti" userId="f453232b-f87d-4756-9d8b-c09bc835cc42" providerId="ADAL" clId="{C7FEA3FA-4936-41E1-B7FA-CA082069F7F7}" dt="2026-10-06T18:11:17.545" v="6341" actId="14100"/>
          <ac:cxnSpMkLst>
            <pc:docMk/>
            <pc:sldMk cId="2440312028" sldId="516"/>
            <ac:cxnSpMk id="7" creationId="{00000000-0000-0000-0000-000000000000}"/>
          </ac:cxnSpMkLst>
        </pc:cxnChg>
      </pc:sldChg>
      <pc:sldChg chg="addSp modSp add mod">
        <pc:chgData name="Francesco Bellotti" userId="f453232b-f87d-4756-9d8b-c09bc835cc42" providerId="ADAL" clId="{C7FEA3FA-4936-41E1-B7FA-CA082069F7F7}" dt="2026-10-07T15:10:16.013" v="6832" actId="1076"/>
        <pc:sldMkLst>
          <pc:docMk/>
          <pc:sldMk cId="3792371955" sldId="517"/>
        </pc:sldMkLst>
        <pc:spChg chg="add mod">
          <ac:chgData name="Francesco Bellotti" userId="f453232b-f87d-4756-9d8b-c09bc835cc42" providerId="ADAL" clId="{C7FEA3FA-4936-41E1-B7FA-CA082069F7F7}" dt="2026-10-06T18:30:45.306" v="6470" actId="14100"/>
          <ac:spMkLst>
            <pc:docMk/>
            <pc:sldMk cId="3792371955" sldId="517"/>
            <ac:spMk id="13" creationId="{1737D40C-EBD6-7C21-1E82-479133E121B8}"/>
          </ac:spMkLst>
        </pc:spChg>
        <pc:spChg chg="add mod">
          <ac:chgData name="Francesco Bellotti" userId="f453232b-f87d-4756-9d8b-c09bc835cc42" providerId="ADAL" clId="{C7FEA3FA-4936-41E1-B7FA-CA082069F7F7}" dt="2026-10-07T13:56:47.778" v="6721" actId="113"/>
          <ac:spMkLst>
            <pc:docMk/>
            <pc:sldMk cId="3792371955" sldId="517"/>
            <ac:spMk id="14" creationId="{9F9EDE09-5756-921C-47B2-21C5B62FB3C5}"/>
          </ac:spMkLst>
        </pc:spChg>
        <pc:picChg chg="add mod">
          <ac:chgData name="Francesco Bellotti" userId="f453232b-f87d-4756-9d8b-c09bc835cc42" providerId="ADAL" clId="{C7FEA3FA-4936-41E1-B7FA-CA082069F7F7}" dt="2026-10-07T15:10:16.013" v="6832" actId="1076"/>
          <ac:picMkLst>
            <pc:docMk/>
            <pc:sldMk cId="3792371955" sldId="517"/>
            <ac:picMk id="12" creationId="{4D28E333-F515-8ED2-F3AB-A5061FD01AE2}"/>
          </ac:picMkLst>
        </pc:picChg>
        <pc:picChg chg="add mod ord">
          <ac:chgData name="Francesco Bellotti" userId="f453232b-f87d-4756-9d8b-c09bc835cc42" providerId="ADAL" clId="{C7FEA3FA-4936-41E1-B7FA-CA082069F7F7}" dt="2026-10-07T15:10:08.942" v="6829" actId="14100"/>
          <ac:picMkLst>
            <pc:docMk/>
            <pc:sldMk cId="3792371955" sldId="517"/>
            <ac:picMk id="16" creationId="{D5D8747A-B565-1244-6F33-0134E5D49703}"/>
          </ac:picMkLst>
        </pc:picChg>
        <pc:cxnChg chg="add mod">
          <ac:chgData name="Francesco Bellotti" userId="f453232b-f87d-4756-9d8b-c09bc835cc42" providerId="ADAL" clId="{C7FEA3FA-4936-41E1-B7FA-CA082069F7F7}" dt="2026-10-06T18:27:29.595" v="6412" actId="14100"/>
          <ac:cxnSpMkLst>
            <pc:docMk/>
            <pc:sldMk cId="3792371955" sldId="517"/>
            <ac:cxnSpMk id="8" creationId="{9A983B8D-8353-970B-8421-22DAF4EDEF20}"/>
          </ac:cxnSpMkLst>
        </pc:cxnChg>
      </pc:sldChg>
      <pc:sldChg chg="addSp modSp add mod">
        <pc:chgData name="Francesco Bellotti" userId="f453232b-f87d-4756-9d8b-c09bc835cc42" providerId="ADAL" clId="{C7FEA3FA-4936-41E1-B7FA-CA082069F7F7}" dt="2026-10-07T13:58:32.068" v="6734" actId="14100"/>
        <pc:sldMkLst>
          <pc:docMk/>
          <pc:sldMk cId="111700830" sldId="518"/>
        </pc:sldMkLst>
        <pc:spChg chg="add mod">
          <ac:chgData name="Francesco Bellotti" userId="f453232b-f87d-4756-9d8b-c09bc835cc42" providerId="ADAL" clId="{C7FEA3FA-4936-41E1-B7FA-CA082069F7F7}" dt="2026-10-07T13:58:08.419" v="6733" actId="1076"/>
          <ac:spMkLst>
            <pc:docMk/>
            <pc:sldMk cId="111700830" sldId="518"/>
            <ac:spMk id="9" creationId="{D514307E-83CC-B38F-344E-3B3BC774755C}"/>
          </ac:spMkLst>
        </pc:spChg>
        <pc:cxnChg chg="mod">
          <ac:chgData name="Francesco Bellotti" userId="f453232b-f87d-4756-9d8b-c09bc835cc42" providerId="ADAL" clId="{C7FEA3FA-4936-41E1-B7FA-CA082069F7F7}" dt="2026-10-07T13:58:32.068" v="6734" actId="14100"/>
          <ac:cxnSpMkLst>
            <pc:docMk/>
            <pc:sldMk cId="111700830" sldId="518"/>
            <ac:cxnSpMk id="10" creationId="{00000000-0000-0000-0000-000000000000}"/>
          </ac:cxnSpMkLst>
        </pc:cxnChg>
      </pc:sldChg>
      <pc:sldChg chg="addSp modSp add mod">
        <pc:chgData name="Francesco Bellotti" userId="f453232b-f87d-4756-9d8b-c09bc835cc42" providerId="ADAL" clId="{C7FEA3FA-4936-41E1-B7FA-CA082069F7F7}" dt="2026-10-07T13:58:59.284" v="6735" actId="20577"/>
        <pc:sldMkLst>
          <pc:docMk/>
          <pc:sldMk cId="2941678497" sldId="519"/>
        </pc:sldMkLst>
        <pc:spChg chg="mod">
          <ac:chgData name="Francesco Bellotti" userId="f453232b-f87d-4756-9d8b-c09bc835cc42" providerId="ADAL" clId="{C7FEA3FA-4936-41E1-B7FA-CA082069F7F7}" dt="2026-10-07T13:58:59.284" v="6735" actId="20577"/>
          <ac:spMkLst>
            <pc:docMk/>
            <pc:sldMk cId="2941678497" sldId="519"/>
            <ac:spMk id="2" creationId="{00000000-0000-0000-0000-000000000000}"/>
          </ac:spMkLst>
        </pc:spChg>
        <pc:spChg chg="add mod">
          <ac:chgData name="Francesco Bellotti" userId="f453232b-f87d-4756-9d8b-c09bc835cc42" providerId="ADAL" clId="{C7FEA3FA-4936-41E1-B7FA-CA082069F7F7}" dt="2026-10-06T18:22:20.747" v="6402" actId="14100"/>
          <ac:spMkLst>
            <pc:docMk/>
            <pc:sldMk cId="2941678497" sldId="519"/>
            <ac:spMk id="6" creationId="{4E3AF685-48B8-224D-C934-824B0E607F9E}"/>
          </ac:spMkLst>
        </pc:spChg>
      </pc:sldChg>
      <pc:sldChg chg="modSp add mod">
        <pc:chgData name="Francesco Bellotti" userId="f453232b-f87d-4756-9d8b-c09bc835cc42" providerId="ADAL" clId="{C7FEA3FA-4936-41E1-B7FA-CA082069F7F7}" dt="2026-10-06T18:16:21.525" v="6348" actId="14100"/>
        <pc:sldMkLst>
          <pc:docMk/>
          <pc:sldMk cId="3126024066" sldId="520"/>
        </pc:sldMkLst>
        <pc:spChg chg="mod">
          <ac:chgData name="Francesco Bellotti" userId="f453232b-f87d-4756-9d8b-c09bc835cc42" providerId="ADAL" clId="{C7FEA3FA-4936-41E1-B7FA-CA082069F7F7}" dt="2026-10-06T18:16:21.525" v="6348" actId="14100"/>
          <ac:spMkLst>
            <pc:docMk/>
            <pc:sldMk cId="3126024066" sldId="520"/>
            <ac:spMk id="8" creationId="{00000000-0000-0000-0000-000000000000}"/>
          </ac:spMkLst>
        </pc:spChg>
      </pc:sldChg>
      <pc:sldChg chg="modSp add mod">
        <pc:chgData name="Francesco Bellotti" userId="f453232b-f87d-4756-9d8b-c09bc835cc42" providerId="ADAL" clId="{C7FEA3FA-4936-41E1-B7FA-CA082069F7F7}" dt="2026-10-06T18:32:01.398" v="6472" actId="27636"/>
        <pc:sldMkLst>
          <pc:docMk/>
          <pc:sldMk cId="3686991519" sldId="521"/>
        </pc:sldMkLst>
        <pc:spChg chg="mod">
          <ac:chgData name="Francesco Bellotti" userId="f453232b-f87d-4756-9d8b-c09bc835cc42" providerId="ADAL" clId="{C7FEA3FA-4936-41E1-B7FA-CA082069F7F7}" dt="2026-10-06T18:32:01.398" v="6472" actId="27636"/>
          <ac:spMkLst>
            <pc:docMk/>
            <pc:sldMk cId="3686991519" sldId="521"/>
            <ac:spMk id="3" creationId="{00000000-0000-0000-0000-000000000000}"/>
          </ac:spMkLst>
        </pc:spChg>
      </pc:sldChg>
      <pc:sldChg chg="addSp delSp modSp add mod">
        <pc:chgData name="Francesco Bellotti" userId="f453232b-f87d-4756-9d8b-c09bc835cc42" providerId="ADAL" clId="{C7FEA3FA-4936-41E1-B7FA-CA082069F7F7}" dt="2026-10-07T14:09:26.661" v="6817" actId="1076"/>
        <pc:sldMkLst>
          <pc:docMk/>
          <pc:sldMk cId="1550701218" sldId="522"/>
        </pc:sldMkLst>
        <pc:spChg chg="add mod">
          <ac:chgData name="Francesco Bellotti" userId="f453232b-f87d-4756-9d8b-c09bc835cc42" providerId="ADAL" clId="{C7FEA3FA-4936-41E1-B7FA-CA082069F7F7}" dt="2026-10-07T14:09:26.661" v="6817" actId="1076"/>
          <ac:spMkLst>
            <pc:docMk/>
            <pc:sldMk cId="1550701218" sldId="522"/>
            <ac:spMk id="3" creationId="{4EFCFBD1-A2B5-B804-E9C8-80DE20EFCFF5}"/>
          </ac:spMkLst>
        </pc:spChg>
        <pc:spChg chg="add mod">
          <ac:chgData name="Francesco Bellotti" userId="f453232b-f87d-4756-9d8b-c09bc835cc42" providerId="ADAL" clId="{C7FEA3FA-4936-41E1-B7FA-CA082069F7F7}" dt="2026-10-06T18:37:03.953" v="6522" actId="14100"/>
          <ac:spMkLst>
            <pc:docMk/>
            <pc:sldMk cId="1550701218" sldId="522"/>
            <ac:spMk id="11" creationId="{AFB44A9F-16C6-EF6E-3817-3C14B6311856}"/>
          </ac:spMkLst>
        </pc:spChg>
        <pc:cxnChg chg="add mod">
          <ac:chgData name="Francesco Bellotti" userId="f453232b-f87d-4756-9d8b-c09bc835cc42" providerId="ADAL" clId="{C7FEA3FA-4936-41E1-B7FA-CA082069F7F7}" dt="2026-10-06T18:35:35.610" v="6515" actId="14100"/>
          <ac:cxnSpMkLst>
            <pc:docMk/>
            <pc:sldMk cId="1550701218" sldId="522"/>
            <ac:cxnSpMk id="12" creationId="{A37D3628-DB02-D49E-BE62-12188BB0E324}"/>
          </ac:cxnSpMkLst>
        </pc:cxnChg>
      </pc:sldChg>
      <pc:sldChg chg="add">
        <pc:chgData name="Francesco Bellotti" userId="f453232b-f87d-4756-9d8b-c09bc835cc42" providerId="ADAL" clId="{C7FEA3FA-4936-41E1-B7FA-CA082069F7F7}" dt="2026-10-06T18:25:38.973" v="6409"/>
        <pc:sldMkLst>
          <pc:docMk/>
          <pc:sldMk cId="888223351" sldId="524"/>
        </pc:sldMkLst>
      </pc:sldChg>
      <pc:sldChg chg="modSp add mod">
        <pc:chgData name="Francesco Bellotti" userId="f453232b-f87d-4756-9d8b-c09bc835cc42" providerId="ADAL" clId="{C7FEA3FA-4936-41E1-B7FA-CA082069F7F7}" dt="2026-10-06T18:38:07.448" v="6523" actId="13926"/>
        <pc:sldMkLst>
          <pc:docMk/>
          <pc:sldMk cId="3980231179" sldId="525"/>
        </pc:sldMkLst>
        <pc:spChg chg="mod">
          <ac:chgData name="Francesco Bellotti" userId="f453232b-f87d-4756-9d8b-c09bc835cc42" providerId="ADAL" clId="{C7FEA3FA-4936-41E1-B7FA-CA082069F7F7}" dt="2026-10-06T18:38:07.448" v="6523" actId="13926"/>
          <ac:spMkLst>
            <pc:docMk/>
            <pc:sldMk cId="3980231179" sldId="525"/>
            <ac:spMk id="13" creationId="{00000000-0000-0000-0000-000000000000}"/>
          </ac:spMkLst>
        </pc:spChg>
      </pc:sldChg>
      <pc:sldChg chg="addSp delSp modSp add mod">
        <pc:chgData name="Francesco Bellotti" userId="f453232b-f87d-4756-9d8b-c09bc835cc42" providerId="ADAL" clId="{C7FEA3FA-4936-41E1-B7FA-CA082069F7F7}" dt="2026-10-06T18:43:41.839" v="6541" actId="1076"/>
        <pc:sldMkLst>
          <pc:docMk/>
          <pc:sldMk cId="4264616698" sldId="527"/>
        </pc:sldMkLst>
        <pc:spChg chg="add mod">
          <ac:chgData name="Francesco Bellotti" userId="f453232b-f87d-4756-9d8b-c09bc835cc42" providerId="ADAL" clId="{C7FEA3FA-4936-41E1-B7FA-CA082069F7F7}" dt="2026-10-06T18:43:38.639" v="6540" actId="1076"/>
          <ac:spMkLst>
            <pc:docMk/>
            <pc:sldMk cId="4264616698" sldId="527"/>
            <ac:spMk id="8" creationId="{B42B5FD8-03C3-BC7F-9813-A86EC1F585CA}"/>
          </ac:spMkLst>
        </pc:spChg>
        <pc:picChg chg="mod">
          <ac:chgData name="Francesco Bellotti" userId="f453232b-f87d-4756-9d8b-c09bc835cc42" providerId="ADAL" clId="{C7FEA3FA-4936-41E1-B7FA-CA082069F7F7}" dt="2026-10-06T18:43:41.839" v="6541" actId="1076"/>
          <ac:picMkLst>
            <pc:docMk/>
            <pc:sldMk cId="4264616698" sldId="527"/>
            <ac:picMk id="5" creationId="{00000000-0000-0000-0000-000000000000}"/>
          </ac:picMkLst>
        </pc:picChg>
      </pc:sldChg>
      <pc:sldChg chg="add">
        <pc:chgData name="Francesco Bellotti" userId="f453232b-f87d-4756-9d8b-c09bc835cc42" providerId="ADAL" clId="{C7FEA3FA-4936-41E1-B7FA-CA082069F7F7}" dt="2026-10-06T21:09:55.500" v="6542"/>
        <pc:sldMkLst>
          <pc:docMk/>
          <pc:sldMk cId="1773087450" sldId="528"/>
        </pc:sldMkLst>
      </pc:sldChg>
      <pc:sldChg chg="addSp modSp add mod">
        <pc:chgData name="Francesco Bellotti" userId="f453232b-f87d-4756-9d8b-c09bc835cc42" providerId="ADAL" clId="{C7FEA3FA-4936-41E1-B7FA-CA082069F7F7}" dt="2026-10-06T21:17:57.855" v="6587" actId="22"/>
        <pc:sldMkLst>
          <pc:docMk/>
          <pc:sldMk cId="790041323" sldId="529"/>
        </pc:sldMkLst>
        <pc:spChg chg="mod">
          <ac:chgData name="Francesco Bellotti" userId="f453232b-f87d-4756-9d8b-c09bc835cc42" providerId="ADAL" clId="{C7FEA3FA-4936-41E1-B7FA-CA082069F7F7}" dt="2026-10-06T21:12:40.015" v="6545" actId="27636"/>
          <ac:spMkLst>
            <pc:docMk/>
            <pc:sldMk cId="790041323" sldId="529"/>
            <ac:spMk id="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10-06T21:13:17.721" v="6585" actId="20577"/>
          <ac:spMkLst>
            <pc:docMk/>
            <pc:sldMk cId="790041323" sldId="529"/>
            <ac:spMk id="3" creationId="{00000000-0000-0000-0000-000000000000}"/>
          </ac:spMkLst>
        </pc:spChg>
        <pc:spChg chg="add">
          <ac:chgData name="Francesco Bellotti" userId="f453232b-f87d-4756-9d8b-c09bc835cc42" providerId="ADAL" clId="{C7FEA3FA-4936-41E1-B7FA-CA082069F7F7}" dt="2026-10-06T21:17:57.855" v="6587" actId="22"/>
          <ac:spMkLst>
            <pc:docMk/>
            <pc:sldMk cId="790041323" sldId="529"/>
            <ac:spMk id="6" creationId="{E9214296-E25F-2E2A-F462-3B2D8F91BA79}"/>
          </ac:spMkLst>
        </pc:spChg>
      </pc:sldChg>
      <pc:sldChg chg="add">
        <pc:chgData name="Francesco Bellotti" userId="f453232b-f87d-4756-9d8b-c09bc835cc42" providerId="ADAL" clId="{C7FEA3FA-4936-41E1-B7FA-CA082069F7F7}" dt="2026-10-06T21:12:39.886" v="6544"/>
        <pc:sldMkLst>
          <pc:docMk/>
          <pc:sldMk cId="2059907288" sldId="5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859E6-8308-4B9D-A3B0-160D0B3F584D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1A45F-E3E2-46D1-86FF-CE3F2A69908C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491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Original diagram created for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6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Original diagram created for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30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Original diagram created for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82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Original diagram created for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63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Original diagram created for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241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38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21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Original diagram created for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13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53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Original diagram created for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36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Original diagram created for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12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845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696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97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85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07F157-A544-4563-8C64-23085CEEF6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92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6366B9-B345-425A-9591-96CF49D24F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94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E6FB33-5A59-4936-9E8E-E75AC8DB4B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008644-3289-40D5-BDD1-8844343B38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98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D81F5C-8F55-48ED-82D9-3EA4C76A23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6F0EAA-52F5-4B59-9683-B44E18C157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103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A168E-D1FC-46F0-8F4B-5056A54EBF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108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E56E98-840A-46D2-912B-159A74E1E0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110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B7573B-8C60-4693-8EC5-F3ACAFB281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115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B58FA3-BEFD-4440-9417-7DAE21E5CC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118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952B7F-1CE6-4505-9604-20585DE945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125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2DB14C-601F-4117-ADB2-478EB163E3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132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F678C2-EC1B-4420-85E3-940490A60C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8196AE-90B8-418E-A330-DC6EEE8CD7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139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BE4D34-7C2A-492A-A002-4A5925D813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144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More </a:t>
            </a:r>
            <a:r>
              <a:rPr lang="it-IT" dirty="0" err="1"/>
              <a:t>flexible</a:t>
            </a:r>
            <a:r>
              <a:rPr lang="it-IT" dirty="0"/>
              <a:t>: </a:t>
            </a:r>
            <a:r>
              <a:rPr lang="en-GB" dirty="0"/>
              <a:t>https://www.tensorflow.org/api_docs/python/tf/keras/losses/MeanSquaredError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2A7BB-C806-408E-98F8-F94064009E3A}" type="slidenum">
              <a:rPr lang="en-US" smtClean="0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7602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https://medium.com/@hunterheidenreich/understanding-keras-dense-layers-2abadff9b990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12A7BB-C806-408E-98F8-F94064009E3A}" type="slidenum">
              <a:rPr lang="en-US" smtClean="0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3551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SimpleRNN also in the output layer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12A7BB-C806-408E-98F8-F94064009E3A}" type="slidenum">
              <a:rPr lang="en-US" smtClean="0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34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59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762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710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995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1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950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524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155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0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606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4101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439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6454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943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163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211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9157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3473D-FA1C-4F03-8DB8-4C6E7A1DB63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CC85E25-8F0E-4DAE-8756-6B9CA8E9F8CD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6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8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8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8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8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8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8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8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8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8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8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8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8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8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8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8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8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8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8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8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8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8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8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8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8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image" Target="../media/image24.emf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11BA33-52FB-53C1-947D-69D7BDFBDF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Lecture 4 — Recurrent Neural Networks for Temporal Data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446F503-E568-6D3E-CCB9-D6D51C0736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158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6BECED-FE97-4B6A-2A10-1761FC08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Outline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DB16E0-0243-6A32-7C07-606287D17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Block 4.A — From Engineered Temporal Features to Learned State</a:t>
            </a:r>
          </a:p>
          <a:p>
            <a:r>
              <a:rPr lang="en-GB" dirty="0"/>
              <a:t>Block 4.B — Simple Recurrent Neural Network</a:t>
            </a:r>
          </a:p>
          <a:p>
            <a:r>
              <a:rPr lang="en-GB" dirty="0"/>
              <a:t>Block 4.C — Recurrent Output Structures</a:t>
            </a:r>
          </a:p>
          <a:p>
            <a:r>
              <a:rPr lang="en-GB" dirty="0"/>
              <a:t>Block 4.D — Training Recurrent Networks Through Time</a:t>
            </a:r>
          </a:p>
          <a:p>
            <a:r>
              <a:rPr lang="en-GB" dirty="0"/>
              <a:t>Block 4.E — Why </a:t>
            </a:r>
            <a:r>
              <a:rPr lang="en-GB" dirty="0" err="1"/>
              <a:t>SimpleRNN</a:t>
            </a:r>
            <a:r>
              <a:rPr lang="en-GB" dirty="0"/>
              <a:t> Struggles with Long Dependencies</a:t>
            </a:r>
          </a:p>
          <a:p>
            <a:r>
              <a:rPr lang="en-GB" dirty="0"/>
              <a:t>Block 4.F — Long Short-Term Memory Networks</a:t>
            </a:r>
          </a:p>
          <a:p>
            <a:r>
              <a:rPr lang="en-GB" dirty="0"/>
              <a:t>Block 4.G — Gated Recurrent Unit</a:t>
            </a:r>
          </a:p>
          <a:p>
            <a:r>
              <a:rPr lang="en-GB" dirty="0"/>
              <a:t>Block 4.H — Recurrent Models for Forecasting</a:t>
            </a:r>
          </a:p>
          <a:p>
            <a:r>
              <a:rPr lang="en-GB" dirty="0"/>
              <a:t>Block 4.I — Practical Design Choices for Recurrent Models</a:t>
            </a:r>
          </a:p>
          <a:p>
            <a:r>
              <a:rPr lang="en-GB" dirty="0"/>
              <a:t>Block 4.J — </a:t>
            </a:r>
            <a:r>
              <a:rPr lang="en-GB" dirty="0" err="1"/>
              <a:t>SimpleRNN</a:t>
            </a:r>
            <a:r>
              <a:rPr lang="en-GB" dirty="0"/>
              <a:t>, LSTM or GRU?</a:t>
            </a:r>
          </a:p>
          <a:p>
            <a:r>
              <a:rPr lang="en-GB" dirty="0"/>
              <a:t>Block 4.K — Summary and Transition to Temporal Convolutions</a:t>
            </a:r>
          </a:p>
        </p:txBody>
      </p:sp>
    </p:spTree>
    <p:extLst>
      <p:ext uri="{BB962C8B-B14F-4D97-AF65-F5344CB8AC3E}">
        <p14:creationId xmlns:p14="http://schemas.microsoft.com/office/powerpoint/2010/main" val="921064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111339-6548-846D-E8A0-6B76E87E6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4.A — From Engineered Temporal Features to Learned State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F81A4F-EEBE-F90F-9433-D6BD28AA5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231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B88F4C-FD9C-3CFF-872A-2BD3AE103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manually designed features to learned temporal representations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2DEF73C-B6C7-9D25-8B25-5921A26F72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/>
              <a:t>In Lecture 3, temporal information was represented explicitly using:</a:t>
            </a:r>
          </a:p>
          <a:p>
            <a:pPr lvl="1"/>
            <a:r>
              <a:rPr lang="en-GB" dirty="0"/>
              <a:t>lagged observations; </a:t>
            </a:r>
          </a:p>
          <a:p>
            <a:pPr lvl="1"/>
            <a:r>
              <a:rPr lang="en-GB" dirty="0"/>
              <a:t>rolling statistics; </a:t>
            </a:r>
          </a:p>
          <a:p>
            <a:pPr lvl="1"/>
            <a:r>
              <a:rPr lang="en-GB" dirty="0"/>
              <a:t>trend features; </a:t>
            </a:r>
          </a:p>
          <a:p>
            <a:pPr lvl="1"/>
            <a:r>
              <a:rPr lang="en-GB" dirty="0"/>
              <a:t>spectral features; </a:t>
            </a:r>
          </a:p>
          <a:p>
            <a:pPr lvl="1"/>
            <a:r>
              <a:rPr lang="en-GB" dirty="0"/>
              <a:t>sequence distances. </a:t>
            </a:r>
          </a:p>
          <a:p>
            <a:r>
              <a:rPr lang="en-GB" dirty="0"/>
              <a:t>The predictive model then received a fixed-size representation.</a:t>
            </a:r>
          </a:p>
          <a:p>
            <a:r>
              <a:rPr lang="en-GB" b="1" dirty="0"/>
              <a:t>Feature-based approach</a:t>
            </a:r>
          </a:p>
          <a:p>
            <a:r>
              <a:rPr lang="en-GB" dirty="0"/>
              <a:t>temporal sequence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human-designed temporal features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fixed-size vector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regression / classification model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5562616-55BE-A8A0-DF9C-25D3D567B8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b="1" dirty="0"/>
              <a:t>Limitation</a:t>
            </a:r>
          </a:p>
          <a:p>
            <a:r>
              <a:rPr lang="en-GB" dirty="0"/>
              <a:t>The modeller must decide in advance:</a:t>
            </a:r>
          </a:p>
          <a:p>
            <a:pPr lvl="1"/>
            <a:r>
              <a:rPr lang="en-GB" dirty="0"/>
              <a:t>which lags matter; </a:t>
            </a:r>
          </a:p>
          <a:p>
            <a:pPr lvl="1"/>
            <a:r>
              <a:rPr lang="en-GB" dirty="0"/>
              <a:t>which window lengths matter; </a:t>
            </a:r>
          </a:p>
          <a:p>
            <a:pPr lvl="1"/>
            <a:r>
              <a:rPr lang="en-GB" dirty="0"/>
              <a:t>which statistics matter; </a:t>
            </a:r>
          </a:p>
          <a:p>
            <a:pPr lvl="1"/>
            <a:r>
              <a:rPr lang="en-GB" dirty="0"/>
              <a:t>which frequencies matter; </a:t>
            </a:r>
          </a:p>
          <a:p>
            <a:pPr lvl="1"/>
            <a:r>
              <a:rPr lang="en-GB" dirty="0"/>
              <a:t>which interactions matter. </a:t>
            </a:r>
          </a:p>
          <a:p>
            <a:r>
              <a:rPr lang="en-GB" b="1" dirty="0"/>
              <a:t>New question</a:t>
            </a:r>
          </a:p>
          <a:p>
            <a:r>
              <a:rPr lang="en-GB" dirty="0"/>
              <a:t>Can the model learn a useful representation of temporal history directly from the sequence?</a:t>
            </a:r>
          </a:p>
          <a:p>
            <a:r>
              <a:rPr lang="en-GB" dirty="0"/>
              <a:t>This motivates recurrent neural networks.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0281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 vs learned temporal representation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A recurrent model can learn a representation of history directly from the sequence.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Feature-based approach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828800"/>
            <a:ext cx="3474720" cy="502920"/>
          </a:xfrm>
          <a:prstGeom prst="roundRect">
            <a:avLst>
              <a:gd name="adj" fmla="val 12727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07592" y="1901952"/>
            <a:ext cx="3328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sequence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71800" y="2377440"/>
            <a:ext cx="0" cy="41148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234440" y="2834640"/>
            <a:ext cx="3474720" cy="6400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07592" y="2907792"/>
            <a:ext cx="3328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human-designed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71800" y="3547872"/>
            <a:ext cx="0" cy="429768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234440" y="4023360"/>
            <a:ext cx="3474720" cy="502920"/>
          </a:xfrm>
          <a:prstGeom prst="roundRect">
            <a:avLst>
              <a:gd name="adj" fmla="val 12727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07592" y="4096512"/>
            <a:ext cx="3328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fixed-size vector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71800" y="4572000"/>
            <a:ext cx="0" cy="41148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234440" y="5029200"/>
            <a:ext cx="3474720" cy="502920"/>
          </a:xfrm>
          <a:prstGeom prst="roundRect">
            <a:avLst>
              <a:gd name="adj" fmla="val 12727"/>
            </a:avLst>
          </a:prstGeom>
          <a:solidFill>
            <a:srgbClr val="F8FAFC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07592" y="5102352"/>
            <a:ext cx="3328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/ classification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representation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09360" y="1828800"/>
            <a:ext cx="3474720" cy="502920"/>
          </a:xfrm>
          <a:prstGeom prst="roundRect">
            <a:avLst>
              <a:gd name="adj" fmla="val 12727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382512" y="1901952"/>
            <a:ext cx="3328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sequence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2377440"/>
            <a:ext cx="0" cy="411480"/>
          </a:xfrm>
          <a:prstGeom prst="line">
            <a:avLst/>
          </a:prstGeom>
          <a:noFill/>
          <a:ln w="1905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309360" y="2834640"/>
            <a:ext cx="3474720" cy="685800"/>
          </a:xfrm>
          <a:prstGeom prst="roundRect">
            <a:avLst>
              <a:gd name="adj" fmla="val 9333"/>
            </a:avLst>
          </a:prstGeom>
          <a:solidFill>
            <a:srgbClr val="F0FDF4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382512" y="2907792"/>
            <a:ext cx="33284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learns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representation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46720" y="3584448"/>
            <a:ext cx="0" cy="393192"/>
          </a:xfrm>
          <a:prstGeom prst="line">
            <a:avLst/>
          </a:prstGeom>
          <a:noFill/>
          <a:ln w="1905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309360" y="4023360"/>
            <a:ext cx="3474720" cy="502920"/>
          </a:xfrm>
          <a:prstGeom prst="roundRect">
            <a:avLst>
              <a:gd name="adj" fmla="val 12727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382512" y="4096512"/>
            <a:ext cx="3328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state / learned features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46720" y="4572000"/>
            <a:ext cx="0" cy="411480"/>
          </a:xfrm>
          <a:prstGeom prst="line">
            <a:avLst/>
          </a:prstGeom>
          <a:noFill/>
          <a:ln w="1905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309360" y="5029200"/>
            <a:ext cx="3474720" cy="502920"/>
          </a:xfrm>
          <a:prstGeom prst="roundRect">
            <a:avLst>
              <a:gd name="adj" fmla="val 12727"/>
            </a:avLst>
          </a:prstGeom>
          <a:solidFill>
            <a:srgbClr val="F8FAFC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382512" y="5102352"/>
            <a:ext cx="3328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020"/>
                </a:solidFill>
              </a:rPr>
              <a:t>The key change concerns who designs the temporal representation: the engineer or the model.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567658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4EEB6C-2EF8-E447-E308-54C9F031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sequence contains information that evolves over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17FE89-4BE8-D23B-3BB4-95FCB2A50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418666" cy="3880772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Consider a multivariate sequence:</a:t>
            </a:r>
          </a:p>
          <a:p>
            <a:r>
              <a:rPr lang="en-GB" dirty="0"/>
              <a:t>x[1], x[2], ..., x[T]</a:t>
            </a:r>
          </a:p>
          <a:p>
            <a:r>
              <a:rPr lang="en-GB" dirty="0"/>
              <a:t>where each:</a:t>
            </a:r>
          </a:p>
          <a:p>
            <a:r>
              <a:rPr lang="en-GB" dirty="0"/>
              <a:t>x[t] is a vector of observations available at time t.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x[t] = [</a:t>
            </a:r>
          </a:p>
          <a:p>
            <a:pPr marL="457200" lvl="1" indent="0">
              <a:buNone/>
            </a:pPr>
            <a:r>
              <a:rPr lang="en-GB" dirty="0"/>
              <a:t>temperature[t],</a:t>
            </a:r>
          </a:p>
          <a:p>
            <a:pPr lvl="1"/>
            <a:r>
              <a:rPr lang="en-GB" dirty="0"/>
              <a:t>pressure[t],</a:t>
            </a:r>
          </a:p>
          <a:p>
            <a:pPr lvl="1"/>
            <a:r>
              <a:rPr lang="en-GB" dirty="0"/>
              <a:t>flow[t] ]</a:t>
            </a:r>
          </a:p>
          <a:p>
            <a:r>
              <a:rPr lang="en-GB" b="1" dirty="0"/>
              <a:t>A prediction at time t may depend not only on x[t], but also on what happened earlier.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24CFAA1-72C7-4F96-7E9F-AC009D40D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690" y="2160589"/>
            <a:ext cx="5527230" cy="3880773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/>
              <a:t>Example</a:t>
            </a:r>
          </a:p>
          <a:p>
            <a:r>
              <a:rPr lang="en-GB" b="1" dirty="0"/>
              <a:t>Current temperature alone</a:t>
            </a:r>
            <a:r>
              <a:rPr lang="en-GB" dirty="0"/>
              <a:t> may not distinguish:</a:t>
            </a:r>
          </a:p>
          <a:p>
            <a:pPr lvl="1"/>
            <a:r>
              <a:rPr lang="en-GB" dirty="0"/>
              <a:t>a stable operating condition; </a:t>
            </a:r>
          </a:p>
          <a:p>
            <a:pPr lvl="1"/>
            <a:r>
              <a:rPr lang="en-GB" dirty="0"/>
              <a:t>a rapidly heating machine. </a:t>
            </a:r>
          </a:p>
          <a:p>
            <a:r>
              <a:rPr lang="en-GB" dirty="0"/>
              <a:t>The difference depends on the previous evolution.</a:t>
            </a:r>
          </a:p>
          <a:p>
            <a:endParaRPr lang="en-GB" b="1" dirty="0"/>
          </a:p>
          <a:p>
            <a:r>
              <a:rPr lang="en-GB" b="1" dirty="0"/>
              <a:t>Therefore</a:t>
            </a:r>
          </a:p>
          <a:p>
            <a:r>
              <a:rPr lang="en-GB" dirty="0"/>
              <a:t>A temporal model needs some mechanism to represent history.</a:t>
            </a:r>
          </a:p>
          <a:p>
            <a:r>
              <a:rPr lang="en-GB" dirty="0"/>
              <a:t>A recurrent model introduces an internal variable: h[t]</a:t>
            </a:r>
          </a:p>
          <a:p>
            <a:pPr lvl="1"/>
            <a:r>
              <a:rPr lang="en-GB" dirty="0"/>
              <a:t>called the </a:t>
            </a:r>
            <a:r>
              <a:rPr lang="en-GB" b="1" dirty="0"/>
              <a:t>hidden state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h[t] summarizes information accumulated from observations up to time 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1318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B5AAEC-257B-6C17-55D2-C10AD0BF2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Sequential processing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2E9270-C200-5DED-AFAE-BDB4823B5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4641"/>
            <a:ext cx="8596668" cy="4476722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A recurrent model processes observations in temporal order.</a:t>
            </a:r>
          </a:p>
          <a:p>
            <a:r>
              <a:rPr lang="en-GB" dirty="0"/>
              <a:t>Conceptually:</a:t>
            </a:r>
          </a:p>
          <a:p>
            <a:pPr lvl="1"/>
            <a:r>
              <a:rPr lang="en-GB" dirty="0"/>
              <a:t>x[1] → state[1]</a:t>
            </a:r>
          </a:p>
          <a:p>
            <a:pPr lvl="1"/>
            <a:r>
              <a:rPr lang="en-GB" dirty="0"/>
              <a:t>          ↓</a:t>
            </a:r>
          </a:p>
          <a:p>
            <a:pPr lvl="1"/>
            <a:r>
              <a:rPr lang="en-GB" dirty="0"/>
              <a:t>x[2] → state[2]</a:t>
            </a:r>
          </a:p>
          <a:p>
            <a:pPr lvl="1"/>
            <a:r>
              <a:rPr lang="en-GB" dirty="0"/>
              <a:t>          ↓</a:t>
            </a:r>
          </a:p>
          <a:p>
            <a:pPr lvl="1"/>
            <a:r>
              <a:rPr lang="en-GB" dirty="0"/>
              <a:t>x[3] → state[3]</a:t>
            </a:r>
          </a:p>
          <a:p>
            <a:pPr lvl="1"/>
            <a:r>
              <a:rPr lang="en-GB" dirty="0"/>
              <a:t>          ↓</a:t>
            </a:r>
          </a:p>
          <a:p>
            <a:pPr lvl="1"/>
            <a:r>
              <a:rPr lang="en-GB" dirty="0"/>
              <a:t>...</a:t>
            </a:r>
          </a:p>
          <a:p>
            <a:pPr lvl="1"/>
            <a:r>
              <a:rPr lang="en-GB" dirty="0"/>
              <a:t>x[T] → state[T]</a:t>
            </a:r>
          </a:p>
          <a:p>
            <a:r>
              <a:rPr lang="en-GB" dirty="0"/>
              <a:t>At each time step, the state is updated using:</a:t>
            </a:r>
          </a:p>
          <a:p>
            <a:pPr lvl="1"/>
            <a:r>
              <a:rPr lang="en-GB" dirty="0"/>
              <a:t>the current observation; </a:t>
            </a:r>
          </a:p>
          <a:p>
            <a:pPr lvl="1"/>
            <a:r>
              <a:rPr lang="en-GB" dirty="0"/>
              <a:t>the previous state.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new state = function(current input, previous state)</a:t>
            </a:r>
          </a:p>
          <a:p>
            <a:r>
              <a:rPr lang="en-GB" dirty="0"/>
              <a:t>or:</a:t>
            </a:r>
          </a:p>
          <a:p>
            <a:r>
              <a:rPr lang="en-GB" dirty="0"/>
              <a:t>h[t] = f(x[t], h[t−1])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F1D1B61-F212-5645-ACAB-179EB002EE10}"/>
              </a:ext>
            </a:extLst>
          </p:cNvPr>
          <p:cNvSpPr txBox="1"/>
          <p:nvPr/>
        </p:nvSpPr>
        <p:spPr>
          <a:xfrm>
            <a:off x="5610860" y="4139197"/>
            <a:ext cx="63994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The state can progressively encode information such as:</a:t>
            </a:r>
          </a:p>
          <a:p>
            <a:pPr lvl="1"/>
            <a:r>
              <a:rPr lang="en-GB" dirty="0"/>
              <a:t>recent level; </a:t>
            </a:r>
          </a:p>
          <a:p>
            <a:pPr lvl="1"/>
            <a:r>
              <a:rPr lang="en-GB" dirty="0"/>
              <a:t>trend; </a:t>
            </a:r>
          </a:p>
          <a:p>
            <a:pPr lvl="1"/>
            <a:r>
              <a:rPr lang="en-GB" dirty="0"/>
              <a:t>previous events; </a:t>
            </a:r>
          </a:p>
          <a:p>
            <a:pPr lvl="1"/>
            <a:r>
              <a:rPr lang="en-GB" dirty="0"/>
              <a:t>operating regime; </a:t>
            </a:r>
          </a:p>
          <a:p>
            <a:pPr lvl="1"/>
            <a:r>
              <a:rPr lang="en-GB" dirty="0"/>
              <a:t>relevant long-term context. </a:t>
            </a:r>
          </a:p>
          <a:p>
            <a:r>
              <a:rPr lang="en-GB" sz="1800" b="1" dirty="0"/>
              <a:t>Unlike engineered features, these representations are learned from data.</a:t>
            </a:r>
          </a:p>
        </p:txBody>
      </p:sp>
    </p:spTree>
    <p:extLst>
      <p:ext uri="{BB962C8B-B14F-4D97-AF65-F5344CB8AC3E}">
        <p14:creationId xmlns:p14="http://schemas.microsoft.com/office/powerpoint/2010/main" val="3141139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Sequential processing and state update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At every time step, the new state combines the current observation and the previous state.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640080" cy="64008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30266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h[1]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54480" y="3337560"/>
            <a:ext cx="777240" cy="0"/>
          </a:xfrm>
          <a:prstGeom prst="line">
            <a:avLst/>
          </a:prstGeom>
          <a:noFill/>
          <a:ln w="2032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331720" y="3017520"/>
            <a:ext cx="640080" cy="64008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331720" y="30266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h[2]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71800" y="3337560"/>
            <a:ext cx="777240" cy="0"/>
          </a:xfrm>
          <a:prstGeom prst="line">
            <a:avLst/>
          </a:prstGeom>
          <a:noFill/>
          <a:ln w="2032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749040" y="3017520"/>
            <a:ext cx="640080" cy="64008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749040" y="30266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h[3]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3337560"/>
            <a:ext cx="777240" cy="0"/>
          </a:xfrm>
          <a:prstGeom prst="line">
            <a:avLst/>
          </a:prstGeom>
          <a:noFill/>
          <a:ln w="2032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166360" y="3017520"/>
            <a:ext cx="640080" cy="64008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166360" y="30266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h[4]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06440" y="3337560"/>
            <a:ext cx="777240" cy="0"/>
          </a:xfrm>
          <a:prstGeom prst="line">
            <a:avLst/>
          </a:prstGeom>
          <a:noFill/>
          <a:ln w="2032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583680" y="3017520"/>
            <a:ext cx="640080" cy="64008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583680" y="30266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h[5]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3337560"/>
            <a:ext cx="777240" cy="0"/>
          </a:xfrm>
          <a:prstGeom prst="line">
            <a:avLst/>
          </a:prstGeom>
          <a:noFill/>
          <a:ln w="2032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001000" y="3017520"/>
            <a:ext cx="640080" cy="64008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001000" y="30266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h[6]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1783080"/>
            <a:ext cx="91440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850392" y="1856232"/>
            <a:ext cx="768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x[1]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34440" y="2212848"/>
            <a:ext cx="0" cy="804672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194560" y="1783080"/>
            <a:ext cx="91440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267712" y="1856232"/>
            <a:ext cx="768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x[2]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51760" y="2212848"/>
            <a:ext cx="0" cy="804672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3611880" y="1783080"/>
            <a:ext cx="91440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685032" y="1856232"/>
            <a:ext cx="768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x[3]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069080" y="2212848"/>
            <a:ext cx="0" cy="804672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029200" y="1783080"/>
            <a:ext cx="91440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102352" y="1856232"/>
            <a:ext cx="768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x[4]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0" y="2212848"/>
            <a:ext cx="0" cy="804672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446520" y="1783080"/>
            <a:ext cx="91440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519672" y="1856232"/>
            <a:ext cx="768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x[5]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03720" y="2212848"/>
            <a:ext cx="0" cy="804672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863840" y="1783080"/>
            <a:ext cx="91440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7936992" y="1856232"/>
            <a:ext cx="768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x[6]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321040" y="2212848"/>
            <a:ext cx="0" cy="804672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800100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05840" y="4617720"/>
            <a:ext cx="374904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1078992" y="4690872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state = function(current input, previous state)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486400" y="4617720"/>
            <a:ext cx="32004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5559552" y="4690872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h[t] = f(x[t], h[t−1])</a:t>
            </a:r>
            <a:endParaRPr lang="en-US" sz="1500" dirty="0">
              <a:highlight>
                <a:srgbClr val="FFFF00"/>
              </a:highlight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020"/>
                </a:solidFill>
                <a:highlight>
                  <a:srgbClr val="FFFF00"/>
                </a:highlight>
              </a:rPr>
              <a:t>The hidden state acts as a running representation of what the model has read so far.</a:t>
            </a:r>
            <a:endParaRPr lang="en-US" sz="135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56432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A recurrent neuron </a:t>
            </a:r>
            <a:r>
              <a:rPr lang="en-US" i="1" dirty="0"/>
              <a:t>(left) </a:t>
            </a:r>
            <a:r>
              <a:rPr lang="en-US" b="1" i="1" dirty="0">
                <a:highlight>
                  <a:srgbClr val="FFFF00"/>
                </a:highlight>
              </a:rPr>
              <a:t>unrolled through time</a:t>
            </a:r>
            <a:r>
              <a:rPr lang="en-US" i="1" dirty="0">
                <a:highlight>
                  <a:srgbClr val="FFFF00"/>
                </a:highlight>
              </a:rPr>
              <a:t> </a:t>
            </a:r>
            <a:r>
              <a:rPr lang="en-US" i="1" dirty="0"/>
              <a:t>(right)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298" y="2247453"/>
            <a:ext cx="7665436" cy="350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66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 </a:t>
            </a:r>
            <a:r>
              <a:rPr lang="en-US" b="1" i="1" dirty="0"/>
              <a:t>layer</a:t>
            </a:r>
            <a:r>
              <a:rPr lang="en-US" i="1" dirty="0"/>
              <a:t> of recurrent neurons (left) unrolled through time (right)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easily create a </a:t>
            </a:r>
            <a:r>
              <a:rPr lang="en-US" b="1" dirty="0"/>
              <a:t>layer of recurrent neurons</a:t>
            </a:r>
            <a:r>
              <a:rPr lang="en-US" dirty="0"/>
              <a:t>. At each time step </a:t>
            </a:r>
            <a:r>
              <a:rPr lang="en-US" i="1" dirty="0"/>
              <a:t>t</a:t>
            </a:r>
            <a:r>
              <a:rPr lang="en-US" dirty="0"/>
              <a:t>, every neuron receives both </a:t>
            </a:r>
            <a:r>
              <a:rPr lang="en-US" b="1" dirty="0"/>
              <a:t>the input vector x </a:t>
            </a:r>
            <a:r>
              <a:rPr lang="en-US" dirty="0"/>
              <a:t>and the </a:t>
            </a:r>
            <a:r>
              <a:rPr lang="en-US" b="1" dirty="0"/>
              <a:t>output vector </a:t>
            </a:r>
            <a:r>
              <a:rPr lang="en-US" dirty="0"/>
              <a:t>from the previous time step </a:t>
            </a:r>
            <a:r>
              <a:rPr lang="en-US" b="1" dirty="0"/>
              <a:t>y</a:t>
            </a:r>
            <a:r>
              <a:rPr lang="en-US" b="1" baseline="-25000" dirty="0"/>
              <a:t>(t-1)</a:t>
            </a:r>
            <a:r>
              <a:rPr lang="en-US" dirty="0"/>
              <a:t>, as shown in Figure 15-2.</a:t>
            </a:r>
          </a:p>
          <a:p>
            <a:r>
              <a:rPr lang="en-US" dirty="0"/>
              <a:t>Note that both the </a:t>
            </a:r>
            <a:r>
              <a:rPr lang="en-US" b="1" dirty="0"/>
              <a:t>inputs and outputs are vectors now </a:t>
            </a:r>
            <a:r>
              <a:rPr lang="en-US" dirty="0"/>
              <a:t>(when there </a:t>
            </a:r>
            <a:r>
              <a:rPr lang="en-US" b="1" dirty="0"/>
              <a:t>was just a single neuron</a:t>
            </a:r>
            <a:r>
              <a:rPr lang="en-US" dirty="0"/>
              <a:t>, they were scalars).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524" y="4129625"/>
            <a:ext cx="5463076" cy="225577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90CFFD1-9436-16ED-5846-2A4183158868}"/>
              </a:ext>
            </a:extLst>
          </p:cNvPr>
          <p:cNvSpPr txBox="1"/>
          <p:nvPr/>
        </p:nvSpPr>
        <p:spPr>
          <a:xfrm>
            <a:off x="4932485" y="6232451"/>
            <a:ext cx="2963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neuron</a:t>
            </a:r>
            <a:r>
              <a:rPr lang="it-IT" dirty="0"/>
              <a:t> </a:t>
            </a:r>
            <a:r>
              <a:rPr lang="it-IT" dirty="0" err="1"/>
              <a:t>provides</a:t>
            </a:r>
            <a:r>
              <a:rPr lang="it-IT" dirty="0"/>
              <a:t> feedback to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neurons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3036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155225-99AA-5DCB-D81F-C0F3BF36A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hidden state?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C74805-C4E2-CD23-C17D-225A26A20B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6079066" cy="3880772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The hidden state is a vector:</a:t>
            </a:r>
          </a:p>
          <a:p>
            <a:pPr lvl="1"/>
            <a:r>
              <a:rPr lang="en-GB" dirty="0"/>
              <a:t>h[t] = [h1[t], h2[t], ..., </a:t>
            </a:r>
            <a:r>
              <a:rPr lang="en-GB" dirty="0" err="1"/>
              <a:t>hH</a:t>
            </a:r>
            <a:r>
              <a:rPr lang="en-GB" dirty="0"/>
              <a:t>[t]]</a:t>
            </a:r>
          </a:p>
          <a:p>
            <a:r>
              <a:rPr lang="en-GB" dirty="0"/>
              <a:t>where H is the hidden-state dimension = number of recurrent units in the layer.</a:t>
            </a:r>
          </a:p>
          <a:p>
            <a:r>
              <a:rPr lang="en-GB" dirty="0"/>
              <a:t>It is not usually assigned a predefined physical meaning.</a:t>
            </a:r>
          </a:p>
          <a:p>
            <a:r>
              <a:rPr lang="en-GB" dirty="0"/>
              <a:t>Instead, its components are learned during training.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A hidden state may implicitly encode combinations of:</a:t>
            </a:r>
          </a:p>
          <a:p>
            <a:pPr lvl="1"/>
            <a:r>
              <a:rPr lang="en-GB" dirty="0"/>
              <a:t>whether the signal has recently increased; </a:t>
            </a:r>
          </a:p>
          <a:p>
            <a:pPr lvl="1"/>
            <a:r>
              <a:rPr lang="en-GB" dirty="0"/>
              <a:t>whether a periodic pattern is present; </a:t>
            </a:r>
          </a:p>
          <a:p>
            <a:pPr lvl="1"/>
            <a:r>
              <a:rPr lang="en-GB" dirty="0"/>
              <a:t>whether a previous event occurred; </a:t>
            </a:r>
          </a:p>
          <a:p>
            <a:pPr lvl="1"/>
            <a:r>
              <a:rPr lang="en-GB" dirty="0"/>
              <a:t>whether the process appears close to a particular operating regime. </a:t>
            </a:r>
          </a:p>
          <a:p>
            <a:r>
              <a:rPr lang="en-GB" dirty="0"/>
              <a:t>But these properties are not manually programmed.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57D1A8-980E-9FCB-5967-13087662A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01650" y="2160588"/>
            <a:ext cx="4184034" cy="3880773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The hidden state is </a:t>
            </a:r>
            <a:r>
              <a:rPr lang="en-GB" b="1" dirty="0"/>
              <a:t>not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the last observation; </a:t>
            </a:r>
          </a:p>
          <a:p>
            <a:pPr lvl="1"/>
            <a:r>
              <a:rPr lang="en-GB" dirty="0"/>
              <a:t>a moving average; </a:t>
            </a:r>
          </a:p>
          <a:p>
            <a:pPr lvl="1"/>
            <a:r>
              <a:rPr lang="en-GB" dirty="0"/>
              <a:t>a list of manually selected statistics. </a:t>
            </a:r>
          </a:p>
          <a:p>
            <a:r>
              <a:rPr lang="en-GB" b="1" dirty="0">
                <a:highlight>
                  <a:srgbClr val="FFFF00"/>
                </a:highlight>
              </a:rPr>
              <a:t>It is a learned representation optimized for the prediction task.</a:t>
            </a:r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The recurrent model learns what information from the past should be represented in its internal state.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9811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hidden state as learned memory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hidden state is a vector optimized for the prediction task, not a manually defined statistic.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41832" y="1901952"/>
            <a:ext cx="16824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input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x[t]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291840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41832" y="3364992"/>
            <a:ext cx="16824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state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h[t−1]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2514600"/>
            <a:ext cx="2011680" cy="777240"/>
          </a:xfrm>
          <a:prstGeom prst="roundRect">
            <a:avLst>
              <a:gd name="adj" fmla="val 8235"/>
            </a:avLst>
          </a:prstGeom>
          <a:solidFill>
            <a:srgbClr val="F8FAFC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913632" y="2587752"/>
            <a:ext cx="18653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40880" y="2514600"/>
            <a:ext cx="2057400" cy="777240"/>
          </a:xfrm>
          <a:prstGeom prst="roundRect">
            <a:avLst>
              <a:gd name="adj" fmla="val 8235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114032" y="2587752"/>
            <a:ext cx="19110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state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97480" y="2121408"/>
            <a:ext cx="1143000" cy="621792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 flipV="1">
            <a:off x="2697480" y="3063240"/>
            <a:ext cx="1069848" cy="521208"/>
          </a:xfrm>
          <a:prstGeom prst="line">
            <a:avLst/>
          </a:prstGeom>
          <a:noFill/>
          <a:ln w="2286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852160" y="2898648"/>
            <a:ext cx="1188720" cy="0"/>
          </a:xfrm>
          <a:prstGeom prst="line">
            <a:avLst/>
          </a:prstGeom>
          <a:noFill/>
          <a:ln w="22860">
            <a:solidFill>
              <a:srgbClr val="0B102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949440" y="3977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 =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43800" y="3886200"/>
            <a:ext cx="320040" cy="4572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616952" y="3959352"/>
            <a:ext cx="173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55280" y="3886200"/>
            <a:ext cx="320040" cy="4572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028432" y="3959352"/>
            <a:ext cx="173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366760" y="3886200"/>
            <a:ext cx="320040" cy="4572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439912" y="3959352"/>
            <a:ext cx="173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78240" y="3886200"/>
            <a:ext cx="320040" cy="4572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851392" y="3959352"/>
            <a:ext cx="173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89720" y="3886200"/>
            <a:ext cx="320040" cy="4572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9262872" y="3959352"/>
            <a:ext cx="173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46920" y="4005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 hidden dimension 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4800600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987552" y="4873752"/>
            <a:ext cx="82661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components of h[t] are learned: they are not named features such as mean, slope or RMS.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020"/>
                </a:solidFill>
              </a:rPr>
              <a:t>The recurrent layer decides how the current input modifies the internal representation of the past.</a:t>
            </a:r>
            <a:endParaRPr 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191433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1539D4-F5A4-B9EF-05BB-AB930CE6A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Recurrent processing introduces memory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11A91E-734B-41D4-1AB0-88A4E6B9D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feedforward model applied independently at every time step computes:</a:t>
            </a:r>
          </a:p>
          <a:p>
            <a:r>
              <a:rPr lang="en-GB" dirty="0" err="1"/>
              <a:t>y_hat</a:t>
            </a:r>
            <a:r>
              <a:rPr lang="en-GB" dirty="0"/>
              <a:t>[t] = f(x[t])</a:t>
            </a:r>
          </a:p>
          <a:p>
            <a:r>
              <a:rPr lang="en-GB" dirty="0"/>
              <a:t>The prediction depends only on the current input.</a:t>
            </a:r>
          </a:p>
          <a:p>
            <a:r>
              <a:rPr lang="en-GB" dirty="0"/>
              <a:t>A recurrent model computes:</a:t>
            </a:r>
          </a:p>
          <a:p>
            <a:r>
              <a:rPr lang="en-GB" dirty="0"/>
              <a:t>h[t] = f(x[t], h[t−1])</a:t>
            </a:r>
          </a:p>
          <a:p>
            <a:r>
              <a:rPr lang="en-GB" dirty="0"/>
              <a:t>and then, if required:</a:t>
            </a:r>
          </a:p>
          <a:p>
            <a:r>
              <a:rPr lang="en-GB" dirty="0" err="1"/>
              <a:t>y_hat</a:t>
            </a:r>
            <a:r>
              <a:rPr lang="en-GB" dirty="0"/>
              <a:t>[t] = g(h[t])</a:t>
            </a:r>
          </a:p>
          <a:p>
            <a:r>
              <a:rPr lang="en-GB" dirty="0"/>
              <a:t>Because: </a:t>
            </a:r>
            <a:r>
              <a:rPr lang="en-GB" b="1" dirty="0"/>
              <a:t>h[t−1] depends on earlier states, the current output can indirectly depend on: x[t−1], x[t−2], ..., x[1]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0248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11E89-982A-BAD1-F650-50CAF0A48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326016-9016-136F-7326-D10E90A2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Recurrent processing introduces memory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AB0A96-0D04-9D5B-8693-BBF0F30D5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Conceptual dependency</a:t>
            </a:r>
          </a:p>
          <a:p>
            <a:r>
              <a:rPr lang="en-GB" dirty="0"/>
              <a:t>x[1] → h[1] </a:t>
            </a:r>
          </a:p>
          <a:p>
            <a:r>
              <a:rPr lang="en-GB" dirty="0"/>
              <a:t>                \</a:t>
            </a:r>
          </a:p>
          <a:p>
            <a:r>
              <a:rPr lang="en-GB" dirty="0"/>
              <a:t>         x[2] → h[2] → h[3] → ... → h[t]</a:t>
            </a:r>
          </a:p>
          <a:p>
            <a:r>
              <a:rPr lang="en-GB" dirty="0"/>
              <a:t>                            /</a:t>
            </a:r>
          </a:p>
          <a:p>
            <a:r>
              <a:rPr lang="en-GB" dirty="0"/>
              <a:t>                       x[3] ---------/</a:t>
            </a:r>
          </a:p>
          <a:p>
            <a:r>
              <a:rPr lang="en-GB" b="1" dirty="0"/>
              <a:t>This is the source of recurrent memory</a:t>
            </a:r>
          </a:p>
          <a:p>
            <a:r>
              <a:rPr lang="en-GB" dirty="0"/>
              <a:t>Information can propagate through the sequence via the hidden state.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A recurrent network has the </a:t>
            </a:r>
            <a:r>
              <a:rPr lang="en-GB" i="1" dirty="0"/>
              <a:t>capacity</a:t>
            </a:r>
            <a:r>
              <a:rPr lang="en-GB" dirty="0"/>
              <a:t> to represent long temporal context.</a:t>
            </a:r>
          </a:p>
          <a:p>
            <a:r>
              <a:rPr lang="en-GB" dirty="0"/>
              <a:t>Whether it can learn to preserve information over long intervals is a separate training question addressed later.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0149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Feedforward vs recurrent memory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A recurrent model can make the current prediction depend on earlier inputs through the state chain.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Feedforward at each time step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68580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87552" y="2084832"/>
            <a:ext cx="539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x[1]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61872" y="2450592"/>
            <a:ext cx="0" cy="38404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32688" y="2852928"/>
            <a:ext cx="658368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ŷ[1]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2011680"/>
            <a:ext cx="68580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039112" y="2084832"/>
            <a:ext cx="539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x[2]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13432" y="2450592"/>
            <a:ext cx="0" cy="38404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984248" y="2852928"/>
            <a:ext cx="658368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057400" y="2926080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ŷ[2]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2011680"/>
            <a:ext cx="68580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090672" y="2084832"/>
            <a:ext cx="539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x[3]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64992" y="2450592"/>
            <a:ext cx="0" cy="38404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035808" y="2852928"/>
            <a:ext cx="658368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108960" y="2926080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ŷ[3]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9080" y="2011680"/>
            <a:ext cx="68580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142232" y="2084832"/>
            <a:ext cx="539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x[4]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16552" y="2450592"/>
            <a:ext cx="0" cy="38404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087368" y="2852928"/>
            <a:ext cx="658368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160520" y="2926080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ŷ[4]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1417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 chain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0" y="2011680"/>
            <a:ext cx="68580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559552" y="2084832"/>
            <a:ext cx="539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x[1]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24728" y="2450592"/>
            <a:ext cx="0" cy="384048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5486400" y="2852928"/>
            <a:ext cx="685800" cy="68580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486400" y="2862072"/>
            <a:ext cx="685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h[1]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3191256"/>
            <a:ext cx="320040" cy="0"/>
          </a:xfrm>
          <a:prstGeom prst="line">
            <a:avLst/>
          </a:prstGeom>
          <a:noFill/>
          <a:ln w="1651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6492240" y="2011680"/>
            <a:ext cx="68580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565392" y="2084832"/>
            <a:ext cx="539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x[2]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30568" y="2450592"/>
            <a:ext cx="0" cy="384048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492240" y="2852928"/>
            <a:ext cx="685800" cy="68580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492240" y="2862072"/>
            <a:ext cx="685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h[2]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78040" y="3191256"/>
            <a:ext cx="320040" cy="0"/>
          </a:xfrm>
          <a:prstGeom prst="line">
            <a:avLst/>
          </a:prstGeom>
          <a:noFill/>
          <a:ln w="1651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498080" y="2011680"/>
            <a:ext cx="68580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7571232" y="2084832"/>
            <a:ext cx="539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x[3]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836408" y="2450592"/>
            <a:ext cx="0" cy="384048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498080" y="2852928"/>
            <a:ext cx="685800" cy="68580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7498080" y="2862072"/>
            <a:ext cx="685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h[3]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83880" y="3191256"/>
            <a:ext cx="320040" cy="0"/>
          </a:xfrm>
          <a:prstGeom prst="line">
            <a:avLst/>
          </a:prstGeom>
          <a:noFill/>
          <a:ln w="1651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8503920" y="2011680"/>
            <a:ext cx="68580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8577072" y="2084832"/>
            <a:ext cx="539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x[4]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842248" y="2450592"/>
            <a:ext cx="0" cy="384048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8503920" y="2852928"/>
            <a:ext cx="685800" cy="68580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8503920" y="2862072"/>
            <a:ext cx="685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h[4]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851392" y="3547872"/>
            <a:ext cx="0" cy="429768"/>
          </a:xfrm>
          <a:prstGeom prst="line">
            <a:avLst/>
          </a:prstGeom>
          <a:noFill/>
          <a:ln w="1397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8531352" y="4005072"/>
            <a:ext cx="685800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8604504" y="4078224"/>
            <a:ext cx="539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ŷ[4]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833872" y="4480560"/>
            <a:ext cx="3310128" cy="0"/>
          </a:xfrm>
          <a:prstGeom prst="line">
            <a:avLst/>
          </a:prstGeom>
          <a:noFill/>
          <a:ln w="15240">
            <a:solidFill>
              <a:srgbClr val="3F62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5669280" y="4645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ŷ[4] may depend on x[1], x[2], x[3], x[4] through h[4]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020"/>
                </a:solidFill>
              </a:rPr>
              <a:t>Memory is not an external database: it is the recurrent state propagated from one time step to the next.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301493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A7862D-09D8-BBF2-C635-D902ADEAE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Terminology used in recurrent networks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9669726-172A-BA64-66E9-4118C5243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598350" cy="3880772"/>
          </a:xfrm>
        </p:spPr>
        <p:txBody>
          <a:bodyPr>
            <a:normAutofit/>
          </a:bodyPr>
          <a:lstStyle/>
          <a:p>
            <a:r>
              <a:rPr lang="en-GB" b="1" dirty="0"/>
              <a:t>Time step</a:t>
            </a:r>
          </a:p>
          <a:p>
            <a:r>
              <a:rPr lang="en-GB" dirty="0"/>
              <a:t>One temporal position in the input sequence.</a:t>
            </a:r>
          </a:p>
          <a:p>
            <a:r>
              <a:rPr lang="en-GB" dirty="0"/>
              <a:t>t = 1, 2, ..., T</a:t>
            </a:r>
          </a:p>
          <a:p>
            <a:r>
              <a:rPr lang="en-GB" b="1" dirty="0"/>
              <a:t>Input vector</a:t>
            </a:r>
          </a:p>
          <a:p>
            <a:r>
              <a:rPr lang="en-GB" dirty="0"/>
              <a:t>Observations presented at one time step: x[t]</a:t>
            </a:r>
          </a:p>
          <a:p>
            <a:r>
              <a:rPr lang="en-GB" b="1" dirty="0"/>
              <a:t>Hidden state</a:t>
            </a:r>
          </a:p>
          <a:p>
            <a:r>
              <a:rPr lang="en-GB" dirty="0"/>
              <a:t>Internal representation </a:t>
            </a:r>
            <a:r>
              <a:rPr lang="en-GB" b="1" dirty="0"/>
              <a:t>after processing time step t</a:t>
            </a:r>
            <a:r>
              <a:rPr lang="en-GB" dirty="0"/>
              <a:t>: h[t]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4452184-7D4C-9093-C2BE-8B960E529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0450" y="2146938"/>
            <a:ext cx="5598350" cy="388077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Recurrent cell/layer</a:t>
            </a:r>
          </a:p>
          <a:p>
            <a:r>
              <a:rPr lang="en-GB" dirty="0">
                <a:solidFill>
                  <a:schemeClr val="tx1"/>
                </a:solidFill>
              </a:rPr>
              <a:t>The transformation used to update the hidden state:</a:t>
            </a:r>
          </a:p>
          <a:p>
            <a:r>
              <a:rPr lang="en-GB" dirty="0">
                <a:solidFill>
                  <a:schemeClr val="tx1"/>
                </a:solidFill>
              </a:rPr>
              <a:t>(x[t], h[t−1]) → h[t]</a:t>
            </a:r>
          </a:p>
          <a:p>
            <a:r>
              <a:rPr lang="en-GB" b="1" dirty="0"/>
              <a:t>Output</a:t>
            </a:r>
          </a:p>
          <a:p>
            <a:r>
              <a:rPr lang="en-GB" dirty="0"/>
              <a:t>A prediction generated from:</a:t>
            </a:r>
          </a:p>
          <a:p>
            <a:pPr lvl="1"/>
            <a:r>
              <a:rPr lang="en-GB" dirty="0"/>
              <a:t>the final hidden state; </a:t>
            </a:r>
          </a:p>
          <a:p>
            <a:pPr lvl="1"/>
            <a:r>
              <a:rPr lang="en-GB" dirty="0"/>
              <a:t>one or more intermediate hidden states.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9881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Terminology: cell, layer, state and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cell is the update rule; the recurrent layer applies it across all time steps.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41832" y="1993392"/>
            <a:ext cx="12710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x[t]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691640"/>
            <a:ext cx="210312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999232" y="1764792"/>
            <a:ext cx="19568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 cell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rule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0" y="1920240"/>
            <a:ext cx="1508760" cy="502920"/>
          </a:xfrm>
          <a:prstGeom prst="roundRect">
            <a:avLst>
              <a:gd name="adj" fmla="val 12727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742432" y="1993392"/>
            <a:ext cx="1362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state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920240"/>
            <a:ext cx="1508760" cy="502920"/>
          </a:xfrm>
          <a:prstGeom prst="roundRect">
            <a:avLst>
              <a:gd name="adj" fmla="val 12727"/>
            </a:avLst>
          </a:prstGeom>
          <a:solidFill>
            <a:srgbClr val="FFEDD5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028432" y="1993392"/>
            <a:ext cx="1362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ŷ[t]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0" y="2176272"/>
            <a:ext cx="64008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029200" y="2176272"/>
            <a:ext cx="640080" cy="0"/>
          </a:xfrm>
          <a:prstGeom prst="line">
            <a:avLst/>
          </a:prstGeom>
          <a:noFill/>
          <a:ln w="17780">
            <a:solidFill>
              <a:srgbClr val="0B102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178040" y="2176272"/>
            <a:ext cx="77724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355080" y="2761488"/>
            <a:ext cx="0" cy="0"/>
          </a:xfrm>
          <a:prstGeom prst="line">
            <a:avLst/>
          </a:prstGeom>
          <a:noFill/>
          <a:ln w="1524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72000" y="29077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h[t−1]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931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020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Recurrent layer = same cell applied repeatedly</a:t>
            </a:r>
            <a:endParaRPr lang="en-US" sz="1500" dirty="0">
              <a:highlight>
                <a:srgbClr val="FFFF00"/>
              </a:highlight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4400" y="443484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87552" y="4507992"/>
            <a:ext cx="9052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65960" y="4690872"/>
            <a:ext cx="594360" cy="0"/>
          </a:xfrm>
          <a:prstGeom prst="line">
            <a:avLst/>
          </a:prstGeom>
          <a:noFill/>
          <a:ln w="15240">
            <a:solidFill>
              <a:srgbClr val="0B102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560320" y="443484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633472" y="4507992"/>
            <a:ext cx="9052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11880" y="4690872"/>
            <a:ext cx="594360" cy="0"/>
          </a:xfrm>
          <a:prstGeom prst="line">
            <a:avLst/>
          </a:prstGeom>
          <a:noFill/>
          <a:ln w="15240">
            <a:solidFill>
              <a:srgbClr val="0B102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206240" y="443484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279392" y="4507992"/>
            <a:ext cx="9052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57800" y="4690872"/>
            <a:ext cx="594360" cy="0"/>
          </a:xfrm>
          <a:prstGeom prst="line">
            <a:avLst/>
          </a:prstGeom>
          <a:noFill/>
          <a:ln w="15240">
            <a:solidFill>
              <a:srgbClr val="0B102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852160" y="443484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925312" y="4507992"/>
            <a:ext cx="9052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5074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5074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5074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5074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020"/>
                </a:solidFill>
              </a:rPr>
              <a:t>Keeping the terminology clean avoids confusing the update function with the full sequence-processing layer.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423071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2572A2-5201-ACEA-A982-3909F17FC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4.B — Simple Recurrent Neural Network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771A68-F886-1C7B-13A9-E62F82891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895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003D08-03B5-09F4-2D88-D2B6ED9D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simplest recurrent neural network</a:t>
            </a:r>
            <a:br>
              <a:rPr lang="en-GB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95E7B5-7442-623C-D351-D5701532F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5761"/>
            <a:ext cx="8596668" cy="484632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A </a:t>
            </a:r>
            <a:r>
              <a:rPr lang="en-GB" dirty="0" err="1"/>
              <a:t>SimpleRNN</a:t>
            </a:r>
            <a:r>
              <a:rPr lang="en-GB" dirty="0"/>
              <a:t> updates its hidden state using:</a:t>
            </a:r>
          </a:p>
          <a:p>
            <a:pPr lvl="1"/>
            <a:r>
              <a:rPr lang="en-GB" dirty="0"/>
              <a:t>current input x[t]; </a:t>
            </a:r>
          </a:p>
          <a:p>
            <a:pPr lvl="1"/>
            <a:r>
              <a:rPr lang="en-GB" dirty="0"/>
              <a:t>previous hidden state h[t−1]. 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                 previous state</a:t>
            </a:r>
          </a:p>
          <a:p>
            <a:r>
              <a:rPr lang="en-GB" dirty="0"/>
              <a:t>                    h[t−1]</a:t>
            </a:r>
          </a:p>
          <a:p>
            <a:r>
              <a:rPr lang="en-GB" dirty="0"/>
              <a:t>                       ↓</a:t>
            </a:r>
          </a:p>
          <a:p>
            <a:r>
              <a:rPr lang="en-GB" dirty="0"/>
              <a:t>x[t] ─────────→ recurrent layer ─────────→ h[t]</a:t>
            </a:r>
          </a:p>
          <a:p>
            <a:r>
              <a:rPr lang="en-GB" dirty="0"/>
              <a:t>The state-update equation is:</a:t>
            </a:r>
          </a:p>
          <a:p>
            <a:r>
              <a:rPr lang="en-GB" dirty="0"/>
              <a:t>h[t] = activation(</a:t>
            </a:r>
            <a:r>
              <a:rPr lang="en-GB" dirty="0" err="1"/>
              <a:t>W_x</a:t>
            </a:r>
            <a:r>
              <a:rPr lang="en-GB" dirty="0"/>
              <a:t> x[t] + </a:t>
            </a:r>
            <a:r>
              <a:rPr lang="en-GB" dirty="0" err="1"/>
              <a:t>W_h</a:t>
            </a:r>
            <a:r>
              <a:rPr lang="en-GB" dirty="0"/>
              <a:t> h[t−1] + b)</a:t>
            </a:r>
          </a:p>
          <a:p>
            <a:r>
              <a:rPr lang="en-GB" dirty="0"/>
              <a:t>where:</a:t>
            </a:r>
          </a:p>
          <a:p>
            <a:pPr lvl="1"/>
            <a:r>
              <a:rPr lang="en-GB" dirty="0" err="1"/>
              <a:t>W_x</a:t>
            </a:r>
            <a:r>
              <a:rPr lang="en-GB" dirty="0"/>
              <a:t> maps the input into the hidden representation; </a:t>
            </a:r>
          </a:p>
          <a:p>
            <a:pPr lvl="1"/>
            <a:r>
              <a:rPr lang="en-GB" dirty="0" err="1"/>
              <a:t>W_h</a:t>
            </a:r>
            <a:r>
              <a:rPr lang="en-GB" dirty="0"/>
              <a:t> transforms the previous hidden state; </a:t>
            </a:r>
          </a:p>
          <a:p>
            <a:pPr lvl="1"/>
            <a:r>
              <a:rPr lang="en-GB" dirty="0"/>
              <a:t>b is a bias vector; </a:t>
            </a:r>
          </a:p>
          <a:p>
            <a:pPr lvl="1"/>
            <a:r>
              <a:rPr lang="en-GB" dirty="0"/>
              <a:t>activation is usually a nonlinear function. 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E0B5D84-17D4-989B-5907-F3ECC4676C9C}"/>
              </a:ext>
            </a:extLst>
          </p:cNvPr>
          <p:cNvSpPr txBox="1"/>
          <p:nvPr/>
        </p:nvSpPr>
        <p:spPr>
          <a:xfrm>
            <a:off x="5976620" y="4727755"/>
            <a:ext cx="61010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Typical activation</a:t>
            </a:r>
          </a:p>
          <a:p>
            <a:r>
              <a:rPr lang="en-GB" sz="1800" dirty="0"/>
              <a:t>Historically, tanh is commonly used:</a:t>
            </a:r>
          </a:p>
          <a:p>
            <a:r>
              <a:rPr lang="en-GB" sz="1800" dirty="0"/>
              <a:t>h[t] = tanh(...)</a:t>
            </a:r>
          </a:p>
          <a:p>
            <a:endParaRPr lang="en-GB" sz="1800" dirty="0"/>
          </a:p>
          <a:p>
            <a:r>
              <a:rPr lang="en-GB" sz="1800" b="1" dirty="0"/>
              <a:t>The new state combines new evidence with information propagated from the previous state.</a:t>
            </a:r>
          </a:p>
        </p:txBody>
      </p:sp>
    </p:spTree>
    <p:extLst>
      <p:ext uri="{BB962C8B-B14F-4D97-AF65-F5344CB8AC3E}">
        <p14:creationId xmlns:p14="http://schemas.microsoft.com/office/powerpoint/2010/main" val="3244509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SimpleRNN state update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new hidden state is a nonlinear function of the current input and previous hidden state.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41832" y="2130552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input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x[t]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41832" y="3730752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state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h[t−1]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86200" y="2331720"/>
            <a:ext cx="24688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959352" y="2404872"/>
            <a:ext cx="232257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combination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W_x x[t] + W_h h[t−1] + 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0" y="2606040"/>
            <a:ext cx="1417320" cy="594360"/>
          </a:xfrm>
          <a:prstGeom prst="roundRect">
            <a:avLst>
              <a:gd name="adj" fmla="val 10769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205472" y="2679192"/>
            <a:ext cx="1271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0" y="2606040"/>
            <a:ext cx="1234440" cy="594360"/>
          </a:xfrm>
          <a:prstGeom prst="roundRect">
            <a:avLst>
              <a:gd name="adj" fmla="val 10769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217152" y="2679192"/>
            <a:ext cx="1088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697480" y="2377440"/>
            <a:ext cx="118872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 flipV="1">
            <a:off x="2697480" y="3127248"/>
            <a:ext cx="1188720" cy="850392"/>
          </a:xfrm>
          <a:prstGeom prst="line">
            <a:avLst/>
          </a:prstGeom>
          <a:noFill/>
          <a:ln w="1905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355080" y="2907792"/>
            <a:ext cx="777240" cy="0"/>
          </a:xfrm>
          <a:prstGeom prst="line">
            <a:avLst/>
          </a:prstGeom>
          <a:noFill/>
          <a:ln w="19050">
            <a:solidFill>
              <a:srgbClr val="0B102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8549640" y="2907792"/>
            <a:ext cx="594360" cy="0"/>
          </a:xfrm>
          <a:prstGeom prst="line">
            <a:avLst/>
          </a:prstGeom>
          <a:noFill/>
          <a:ln w="19050">
            <a:solidFill>
              <a:srgbClr val="0B102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005840" y="5074920"/>
            <a:ext cx="9235440" cy="502920"/>
          </a:xfrm>
          <a:prstGeom prst="roundRect">
            <a:avLst>
              <a:gd name="adj" fmla="val 12727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078992" y="5148072"/>
            <a:ext cx="9089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h[t] = activation( W_x x[t] + W_h h[t−1] + b )</a:t>
            </a:r>
            <a:endParaRPr lang="en-US" sz="1500" dirty="0">
              <a:highlight>
                <a:srgbClr val="FFFF00"/>
              </a:highlight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020"/>
                </a:solidFill>
              </a:rPr>
              <a:t>This is the simplest recurrent update rule: combine new evidence with the propagated state.</a:t>
            </a:r>
            <a:endParaRPr 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3558646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D031B1-5A83-EDC9-F769-9008F52F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same parameters are reused at every time step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86EED4-A2D6-0BF0-F131-DE2EC6798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A defining property of recurrence is </a:t>
            </a:r>
            <a:r>
              <a:rPr lang="en-GB" b="1" dirty="0"/>
              <a:t>parameter sharing across time</a:t>
            </a:r>
            <a:r>
              <a:rPr lang="en-GB" dirty="0"/>
              <a:t>.</a:t>
            </a:r>
          </a:p>
          <a:p>
            <a:r>
              <a:rPr lang="en-GB" dirty="0">
                <a:highlight>
                  <a:srgbClr val="FFFF00"/>
                </a:highlight>
              </a:rPr>
              <a:t>Only one set of weights: </a:t>
            </a:r>
            <a:r>
              <a:rPr lang="en-GB" dirty="0" err="1">
                <a:highlight>
                  <a:srgbClr val="FFFF00"/>
                </a:highlight>
              </a:rPr>
              <a:t>W_x</a:t>
            </a:r>
            <a:r>
              <a:rPr lang="en-GB" dirty="0">
                <a:highlight>
                  <a:srgbClr val="FFFF00"/>
                </a:highlight>
              </a:rPr>
              <a:t>, </a:t>
            </a:r>
            <a:r>
              <a:rPr lang="en-GB" dirty="0" err="1">
                <a:highlight>
                  <a:srgbClr val="FFFF00"/>
                </a:highlight>
              </a:rPr>
              <a:t>W_h</a:t>
            </a:r>
            <a:r>
              <a:rPr lang="en-GB" dirty="0">
                <a:highlight>
                  <a:srgbClr val="FFFF00"/>
                </a:highlight>
              </a:rPr>
              <a:t>, b</a:t>
            </a:r>
          </a:p>
          <a:p>
            <a:r>
              <a:rPr lang="en-GB" dirty="0"/>
              <a:t>are used for: t = 1, 2, ..., T</a:t>
            </a:r>
          </a:p>
          <a:p>
            <a:r>
              <a:rPr lang="en-GB" b="1" dirty="0"/>
              <a:t>Why is this important?</a:t>
            </a:r>
          </a:p>
          <a:p>
            <a:r>
              <a:rPr lang="en-GB" dirty="0"/>
              <a:t>It allows the same temporal transformation to be applied regardless of when a pattern occurs.</a:t>
            </a:r>
          </a:p>
          <a:p>
            <a:endParaRPr lang="en-GB" dirty="0"/>
          </a:p>
          <a:p>
            <a:r>
              <a:rPr lang="en-GB" dirty="0"/>
              <a:t>Example:</a:t>
            </a:r>
          </a:p>
          <a:p>
            <a:r>
              <a:rPr lang="en-GB" dirty="0"/>
              <a:t>A rapid temperature increase occurring at:</a:t>
            </a:r>
          </a:p>
          <a:p>
            <a:r>
              <a:rPr lang="en-GB" dirty="0"/>
              <a:t>t = 20</a:t>
            </a:r>
          </a:p>
          <a:p>
            <a:r>
              <a:rPr lang="en-GB" dirty="0"/>
              <a:t>and the same increase occurring at:</a:t>
            </a:r>
          </a:p>
          <a:p>
            <a:r>
              <a:rPr lang="en-GB" dirty="0"/>
              <a:t>t = 80</a:t>
            </a:r>
          </a:p>
          <a:p>
            <a:r>
              <a:rPr lang="en-GB" dirty="0"/>
              <a:t>are processed using the same recurrent parameters.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4228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C8EAF1-C539-1C55-8CE9-FF728557B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Consequences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9296A7-1FF3-7E7B-B12D-F7B2DF3F3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Parameter sharing:</a:t>
            </a:r>
          </a:p>
          <a:p>
            <a:pPr lvl="1"/>
            <a:r>
              <a:rPr lang="en-GB" dirty="0"/>
              <a:t>reduces the number of parameters; </a:t>
            </a:r>
          </a:p>
          <a:p>
            <a:pPr lvl="1"/>
            <a:r>
              <a:rPr lang="en-GB" dirty="0"/>
              <a:t>allows variable-length sequences; </a:t>
            </a:r>
          </a:p>
          <a:p>
            <a:pPr lvl="1"/>
            <a:r>
              <a:rPr lang="en-GB" dirty="0"/>
              <a:t>introduces temporal consistency. </a:t>
            </a:r>
          </a:p>
          <a:p>
            <a:endParaRPr lang="en-GB" dirty="0"/>
          </a:p>
          <a:p>
            <a:r>
              <a:rPr lang="en-GB" dirty="0"/>
              <a:t>Without sharing:</a:t>
            </a:r>
          </a:p>
          <a:p>
            <a:pPr lvl="1"/>
            <a:r>
              <a:rPr lang="en-GB" dirty="0"/>
              <a:t>time 1 → parameters A</a:t>
            </a:r>
          </a:p>
          <a:p>
            <a:pPr lvl="1"/>
            <a:r>
              <a:rPr lang="en-GB" dirty="0"/>
              <a:t>time 2 → parameters B</a:t>
            </a:r>
          </a:p>
          <a:p>
            <a:pPr lvl="1"/>
            <a:r>
              <a:rPr lang="en-GB" dirty="0"/>
              <a:t>time 3 → parameters C</a:t>
            </a:r>
          </a:p>
          <a:p>
            <a:r>
              <a:rPr lang="en-GB" dirty="0"/>
              <a:t>With recurrence:</a:t>
            </a:r>
          </a:p>
          <a:p>
            <a:pPr lvl="1"/>
            <a:r>
              <a:rPr lang="en-GB" dirty="0"/>
              <a:t>time 1 → parameters W</a:t>
            </a:r>
          </a:p>
          <a:p>
            <a:pPr lvl="1"/>
            <a:r>
              <a:rPr lang="en-GB" dirty="0"/>
              <a:t>time 2 → parameters W</a:t>
            </a:r>
          </a:p>
          <a:p>
            <a:pPr lvl="1"/>
            <a:r>
              <a:rPr lang="en-GB" dirty="0"/>
              <a:t>time 3 → parameters W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5711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Parameter sharing across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same recurrent weights are reused at every position in the sequence.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sharing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731520" cy="457200"/>
          </a:xfrm>
          <a:prstGeom prst="roundRect">
            <a:avLst>
              <a:gd name="adj" fmla="val 14000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87552" y="208483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78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2011680"/>
            <a:ext cx="731520" cy="457200"/>
          </a:xfrm>
          <a:prstGeom prst="roundRect">
            <a:avLst>
              <a:gd name="adj" fmla="val 14000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039112" y="208483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75688" y="2578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2011680"/>
            <a:ext cx="731520" cy="457200"/>
          </a:xfrm>
          <a:prstGeom prst="roundRect">
            <a:avLst>
              <a:gd name="adj" fmla="val 14000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090672" y="208483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27248" y="2578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69080" y="2011680"/>
            <a:ext cx="731520" cy="457200"/>
          </a:xfrm>
          <a:prstGeom prst="roundRect">
            <a:avLst>
              <a:gd name="adj" fmla="val 14000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142232" y="208483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78808" y="2578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0120" y="3017520"/>
            <a:ext cx="4069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14400" y="31821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parameters at different times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recurrence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52160" y="2011680"/>
            <a:ext cx="731520" cy="457200"/>
          </a:xfrm>
          <a:prstGeom prst="roundRect">
            <a:avLst>
              <a:gd name="adj" fmla="val 14000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925312" y="208483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61888" y="2578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2011680"/>
            <a:ext cx="731520" cy="457200"/>
          </a:xfrm>
          <a:prstGeom prst="roundRect">
            <a:avLst>
              <a:gd name="adj" fmla="val 14000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976872" y="208483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13448" y="2578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55280" y="2011680"/>
            <a:ext cx="731520" cy="457200"/>
          </a:xfrm>
          <a:prstGeom prst="roundRect">
            <a:avLst>
              <a:gd name="adj" fmla="val 14000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028432" y="208483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65008" y="2578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06840" y="2011680"/>
            <a:ext cx="731520" cy="457200"/>
          </a:xfrm>
          <a:prstGeom prst="roundRect">
            <a:avLst>
              <a:gd name="adj" fmla="val 14000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9079992" y="208483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16568" y="2578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t=4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97880" y="3017520"/>
            <a:ext cx="4069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852160" y="31821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parameters reused across time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51560" y="4251960"/>
            <a:ext cx="38404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124712" y="4325112"/>
            <a:ext cx="3694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temporal pattern can occur at different positions.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4251960"/>
            <a:ext cx="38404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5971032" y="4325112"/>
            <a:ext cx="3694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update rule can process it wherever it occurs.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020"/>
                </a:solidFill>
                <a:highlight>
                  <a:srgbClr val="FFFF00"/>
                </a:highlight>
              </a:rPr>
              <a:t>Parameter sharing keeps the number of recurrent parameters independent of sequence length.</a:t>
            </a:r>
            <a:endParaRPr lang="en-US" sz="135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24315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Compact cell/layer vs unrolled 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Unrolling is a way to visualize repeated application of the same recurrent cell/layer.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91540" y="15773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representation</a:t>
            </a:r>
            <a:endParaRPr lang="en-US" sz="1600" dirty="0"/>
          </a:p>
        </p:txBody>
      </p: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D7CB7AF9-0916-24EB-43F4-ED7EF88193A9}"/>
              </a:ext>
            </a:extLst>
          </p:cNvPr>
          <p:cNvGrpSpPr/>
          <p:nvPr/>
        </p:nvGrpSpPr>
        <p:grpSpPr>
          <a:xfrm>
            <a:off x="186309" y="2014012"/>
            <a:ext cx="4652010" cy="1430302"/>
            <a:chOff x="217170" y="1838678"/>
            <a:chExt cx="4652010" cy="1430302"/>
          </a:xfrm>
        </p:grpSpPr>
        <p:sp>
          <p:nvSpPr>
            <p:cNvPr id="6" name="Shape 4"/>
            <p:cNvSpPr/>
            <p:nvPr/>
          </p:nvSpPr>
          <p:spPr>
            <a:xfrm>
              <a:off x="1805940" y="2491740"/>
              <a:ext cx="2057400" cy="777240"/>
            </a:xfrm>
            <a:prstGeom prst="roundRect">
              <a:avLst>
                <a:gd name="adj" fmla="val 8235"/>
              </a:avLst>
            </a:prstGeom>
            <a:solidFill>
              <a:srgbClr val="F8FAFC"/>
            </a:solidFill>
            <a:ln w="15240">
              <a:solidFill>
                <a:srgbClr val="475569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 5"/>
            <p:cNvSpPr/>
            <p:nvPr/>
          </p:nvSpPr>
          <p:spPr>
            <a:xfrm>
              <a:off x="1879092" y="2564892"/>
              <a:ext cx="1911096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recurrent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cell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510029" y="1838678"/>
              <a:ext cx="731520" cy="411480"/>
            </a:xfrm>
            <a:prstGeom prst="roundRect">
              <a:avLst>
                <a:gd name="adj" fmla="val 15556"/>
              </a:avLst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 7"/>
            <p:cNvSpPr/>
            <p:nvPr/>
          </p:nvSpPr>
          <p:spPr>
            <a:xfrm>
              <a:off x="2583181" y="1911830"/>
              <a:ext cx="585216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x[t]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2889857" y="2262819"/>
              <a:ext cx="0" cy="250726"/>
            </a:xfrm>
            <a:prstGeom prst="line">
              <a:avLst/>
            </a:prstGeom>
            <a:noFill/>
            <a:ln w="15240">
              <a:solidFill>
                <a:srgbClr val="2563E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Shape 9"/>
            <p:cNvSpPr/>
            <p:nvPr/>
          </p:nvSpPr>
          <p:spPr>
            <a:xfrm>
              <a:off x="217170" y="2656011"/>
              <a:ext cx="1325880" cy="411480"/>
            </a:xfrm>
            <a:prstGeom prst="roundRect">
              <a:avLst>
                <a:gd name="adj" fmla="val 15556"/>
              </a:avLst>
            </a:prstGeom>
            <a:solidFill>
              <a:srgbClr val="DCFCE7"/>
            </a:solidFill>
            <a:ln w="15240">
              <a:solidFill>
                <a:srgbClr val="65A30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 10"/>
            <p:cNvSpPr/>
            <p:nvPr/>
          </p:nvSpPr>
          <p:spPr>
            <a:xfrm>
              <a:off x="290322" y="2729163"/>
              <a:ext cx="1179576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h[t−1]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568724" y="2838891"/>
              <a:ext cx="237216" cy="9144"/>
            </a:xfrm>
            <a:prstGeom prst="line">
              <a:avLst/>
            </a:prstGeom>
            <a:noFill/>
            <a:ln w="15240">
              <a:solidFill>
                <a:srgbClr val="3F6212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Shape 12"/>
            <p:cNvSpPr/>
            <p:nvPr/>
          </p:nvSpPr>
          <p:spPr>
            <a:xfrm>
              <a:off x="4137660" y="2674620"/>
              <a:ext cx="731520" cy="411480"/>
            </a:xfrm>
            <a:prstGeom prst="roundRect">
              <a:avLst>
                <a:gd name="adj" fmla="val 15556"/>
              </a:avLst>
            </a:prstGeom>
            <a:solidFill>
              <a:srgbClr val="DCFCE7"/>
            </a:solidFill>
            <a:ln w="15240">
              <a:solidFill>
                <a:srgbClr val="65A30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 13"/>
            <p:cNvSpPr/>
            <p:nvPr/>
          </p:nvSpPr>
          <p:spPr>
            <a:xfrm>
              <a:off x="4210812" y="2747772"/>
              <a:ext cx="585216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h[t]</a:t>
              </a:r>
              <a:endParaRPr lang="en-US" sz="1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863340" y="2884932"/>
              <a:ext cx="274320" cy="0"/>
            </a:xfrm>
            <a:prstGeom prst="line">
              <a:avLst/>
            </a:prstGeom>
            <a:noFill/>
            <a:ln w="15240">
              <a:solidFill>
                <a:srgbClr val="0B102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7" name="Text 15"/>
          <p:cNvSpPr/>
          <p:nvPr/>
        </p:nvSpPr>
        <p:spPr>
          <a:xfrm>
            <a:off x="6103620" y="1558731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Unrolled through time</a:t>
            </a:r>
            <a:endParaRPr lang="en-US" sz="1600" dirty="0"/>
          </a:p>
        </p:txBody>
      </p:sp>
      <p:grpSp>
        <p:nvGrpSpPr>
          <p:cNvPr id="53" name="Gruppo 52">
            <a:extLst>
              <a:ext uri="{FF2B5EF4-FFF2-40B4-BE49-F238E27FC236}">
                <a16:creationId xmlns:a16="http://schemas.microsoft.com/office/drawing/2014/main" id="{67E340C5-D942-C9DC-D232-8290514CD53B}"/>
              </a:ext>
            </a:extLst>
          </p:cNvPr>
          <p:cNvGrpSpPr/>
          <p:nvPr/>
        </p:nvGrpSpPr>
        <p:grpSpPr>
          <a:xfrm>
            <a:off x="5679567" y="2099091"/>
            <a:ext cx="5577840" cy="1234440"/>
            <a:chOff x="5875020" y="1924491"/>
            <a:chExt cx="5577840" cy="1234440"/>
          </a:xfrm>
        </p:grpSpPr>
        <p:sp>
          <p:nvSpPr>
            <p:cNvPr id="18" name="Shape 16"/>
            <p:cNvSpPr/>
            <p:nvPr/>
          </p:nvSpPr>
          <p:spPr>
            <a:xfrm>
              <a:off x="6423660" y="2656011"/>
              <a:ext cx="822960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5240">
              <a:solidFill>
                <a:srgbClr val="475569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 17"/>
            <p:cNvSpPr/>
            <p:nvPr/>
          </p:nvSpPr>
          <p:spPr>
            <a:xfrm>
              <a:off x="6496812" y="2729163"/>
              <a:ext cx="676656" cy="3566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cell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469380" y="1924491"/>
              <a:ext cx="731520" cy="411480"/>
            </a:xfrm>
            <a:prstGeom prst="roundRect">
              <a:avLst>
                <a:gd name="adj" fmla="val 15556"/>
              </a:avLst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 19"/>
            <p:cNvSpPr/>
            <p:nvPr/>
          </p:nvSpPr>
          <p:spPr>
            <a:xfrm>
              <a:off x="6542532" y="1997643"/>
              <a:ext cx="585216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x[1]</a:t>
              </a:r>
              <a:endParaRPr lang="en-US" sz="11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835140" y="2335971"/>
              <a:ext cx="0" cy="320040"/>
            </a:xfrm>
            <a:prstGeom prst="line">
              <a:avLst/>
            </a:prstGeom>
            <a:noFill/>
            <a:ln w="13970">
              <a:solidFill>
                <a:srgbClr val="2563E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Shape 21"/>
            <p:cNvSpPr/>
            <p:nvPr/>
          </p:nvSpPr>
          <p:spPr>
            <a:xfrm>
              <a:off x="7246620" y="2912043"/>
              <a:ext cx="365760" cy="0"/>
            </a:xfrm>
            <a:prstGeom prst="line">
              <a:avLst/>
            </a:prstGeom>
            <a:noFill/>
            <a:ln w="15240">
              <a:solidFill>
                <a:srgbClr val="3F6212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Shape 22"/>
            <p:cNvSpPr/>
            <p:nvPr/>
          </p:nvSpPr>
          <p:spPr>
            <a:xfrm>
              <a:off x="7612380" y="2656011"/>
              <a:ext cx="822960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5240">
              <a:solidFill>
                <a:srgbClr val="475569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Text 23"/>
            <p:cNvSpPr/>
            <p:nvPr/>
          </p:nvSpPr>
          <p:spPr>
            <a:xfrm>
              <a:off x="7685532" y="2729163"/>
              <a:ext cx="676656" cy="3566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cell</a:t>
              </a:r>
              <a:endParaRPr lang="en-US" sz="11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7658100" y="1924491"/>
              <a:ext cx="731520" cy="411480"/>
            </a:xfrm>
            <a:prstGeom prst="roundRect">
              <a:avLst>
                <a:gd name="adj" fmla="val 15556"/>
              </a:avLst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Text 25"/>
            <p:cNvSpPr/>
            <p:nvPr/>
          </p:nvSpPr>
          <p:spPr>
            <a:xfrm>
              <a:off x="7731252" y="1997643"/>
              <a:ext cx="585216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x[2]</a:t>
              </a:r>
              <a:endParaRPr lang="en-US" sz="11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8023860" y="2335971"/>
              <a:ext cx="0" cy="320040"/>
            </a:xfrm>
            <a:prstGeom prst="line">
              <a:avLst/>
            </a:prstGeom>
            <a:noFill/>
            <a:ln w="13970">
              <a:solidFill>
                <a:srgbClr val="2563E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Shape 27"/>
            <p:cNvSpPr/>
            <p:nvPr/>
          </p:nvSpPr>
          <p:spPr>
            <a:xfrm>
              <a:off x="8435340" y="2912043"/>
              <a:ext cx="365760" cy="0"/>
            </a:xfrm>
            <a:prstGeom prst="line">
              <a:avLst/>
            </a:prstGeom>
            <a:noFill/>
            <a:ln w="15240">
              <a:solidFill>
                <a:srgbClr val="3F6212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Shape 28"/>
            <p:cNvSpPr/>
            <p:nvPr/>
          </p:nvSpPr>
          <p:spPr>
            <a:xfrm>
              <a:off x="8801100" y="2656011"/>
              <a:ext cx="822960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5240">
              <a:solidFill>
                <a:srgbClr val="475569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Text 29"/>
            <p:cNvSpPr/>
            <p:nvPr/>
          </p:nvSpPr>
          <p:spPr>
            <a:xfrm>
              <a:off x="8874252" y="2729163"/>
              <a:ext cx="676656" cy="3566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cell</a:t>
              </a:r>
              <a:endParaRPr lang="en-US" sz="11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846820" y="1924491"/>
              <a:ext cx="731520" cy="411480"/>
            </a:xfrm>
            <a:prstGeom prst="roundRect">
              <a:avLst>
                <a:gd name="adj" fmla="val 15556"/>
              </a:avLst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Text 31"/>
            <p:cNvSpPr/>
            <p:nvPr/>
          </p:nvSpPr>
          <p:spPr>
            <a:xfrm>
              <a:off x="8919972" y="1997643"/>
              <a:ext cx="585216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x[3]</a:t>
              </a:r>
              <a:endParaRPr lang="en-US" sz="11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9212580" y="2335971"/>
              <a:ext cx="0" cy="320040"/>
            </a:xfrm>
            <a:prstGeom prst="line">
              <a:avLst/>
            </a:prstGeom>
            <a:noFill/>
            <a:ln w="13970">
              <a:solidFill>
                <a:srgbClr val="2563E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Shape 33"/>
            <p:cNvSpPr/>
            <p:nvPr/>
          </p:nvSpPr>
          <p:spPr>
            <a:xfrm>
              <a:off x="9624060" y="2912043"/>
              <a:ext cx="365760" cy="0"/>
            </a:xfrm>
            <a:prstGeom prst="line">
              <a:avLst/>
            </a:prstGeom>
            <a:noFill/>
            <a:ln w="15240">
              <a:solidFill>
                <a:srgbClr val="3F6212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Shape 34"/>
            <p:cNvSpPr/>
            <p:nvPr/>
          </p:nvSpPr>
          <p:spPr>
            <a:xfrm>
              <a:off x="9989820" y="2656011"/>
              <a:ext cx="822960" cy="502920"/>
            </a:xfrm>
            <a:prstGeom prst="roundRect">
              <a:avLst>
                <a:gd name="adj" fmla="val 12727"/>
              </a:avLst>
            </a:prstGeom>
            <a:solidFill>
              <a:srgbClr val="FFFFFF"/>
            </a:solidFill>
            <a:ln w="15240">
              <a:solidFill>
                <a:srgbClr val="475569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Text 35"/>
            <p:cNvSpPr/>
            <p:nvPr/>
          </p:nvSpPr>
          <p:spPr>
            <a:xfrm>
              <a:off x="10062972" y="2729163"/>
              <a:ext cx="676656" cy="3566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cell</a:t>
              </a:r>
              <a:endParaRPr lang="en-US" sz="11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0035540" y="1924491"/>
              <a:ext cx="731520" cy="411480"/>
            </a:xfrm>
            <a:prstGeom prst="roundRect">
              <a:avLst>
                <a:gd name="adj" fmla="val 15556"/>
              </a:avLst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Text 37"/>
            <p:cNvSpPr/>
            <p:nvPr/>
          </p:nvSpPr>
          <p:spPr>
            <a:xfrm>
              <a:off x="10108692" y="1997643"/>
              <a:ext cx="585216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x[4]</a:t>
              </a:r>
              <a:endParaRPr lang="en-US" sz="11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10401300" y="2335971"/>
              <a:ext cx="0" cy="320040"/>
            </a:xfrm>
            <a:prstGeom prst="line">
              <a:avLst/>
            </a:prstGeom>
            <a:noFill/>
            <a:ln w="13970">
              <a:solidFill>
                <a:srgbClr val="2563E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Shape 39"/>
            <p:cNvSpPr/>
            <p:nvPr/>
          </p:nvSpPr>
          <p:spPr>
            <a:xfrm>
              <a:off x="5875020" y="2774883"/>
              <a:ext cx="502920" cy="320040"/>
            </a:xfrm>
            <a:prstGeom prst="roundRect">
              <a:avLst>
                <a:gd name="adj" fmla="val 20000"/>
              </a:avLst>
            </a:prstGeom>
            <a:solidFill>
              <a:srgbClr val="DCFCE7"/>
            </a:solidFill>
            <a:ln w="15240">
              <a:solidFill>
                <a:srgbClr val="65A30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Text 40"/>
            <p:cNvSpPr/>
            <p:nvPr/>
          </p:nvSpPr>
          <p:spPr>
            <a:xfrm>
              <a:off x="5948172" y="2848035"/>
              <a:ext cx="356616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h[0]</a:t>
              </a:r>
              <a:endParaRPr lang="en-US" sz="9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6377940" y="2930331"/>
              <a:ext cx="45720" cy="0"/>
            </a:xfrm>
            <a:prstGeom prst="line">
              <a:avLst/>
            </a:prstGeom>
            <a:noFill/>
            <a:ln w="13970">
              <a:solidFill>
                <a:srgbClr val="3F6212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Shape 42"/>
            <p:cNvSpPr/>
            <p:nvPr/>
          </p:nvSpPr>
          <p:spPr>
            <a:xfrm>
              <a:off x="10949940" y="2774883"/>
              <a:ext cx="502920" cy="320040"/>
            </a:xfrm>
            <a:prstGeom prst="roundRect">
              <a:avLst>
                <a:gd name="adj" fmla="val 20000"/>
              </a:avLst>
            </a:prstGeom>
            <a:solidFill>
              <a:srgbClr val="DCFCE7"/>
            </a:solidFill>
            <a:ln w="15240">
              <a:solidFill>
                <a:srgbClr val="65A30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Text 43"/>
            <p:cNvSpPr/>
            <p:nvPr/>
          </p:nvSpPr>
          <p:spPr>
            <a:xfrm>
              <a:off x="11023092" y="2848035"/>
              <a:ext cx="356616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h[4]</a:t>
              </a:r>
              <a:endParaRPr lang="en-US" sz="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10812780" y="2930331"/>
              <a:ext cx="137160" cy="0"/>
            </a:xfrm>
            <a:prstGeom prst="line">
              <a:avLst/>
            </a:prstGeom>
            <a:noFill/>
            <a:ln w="13970">
              <a:solidFill>
                <a:srgbClr val="3F6212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7" name="Shape 45"/>
          <p:cNvSpPr/>
          <p:nvPr/>
        </p:nvSpPr>
        <p:spPr>
          <a:xfrm>
            <a:off x="2377440" y="4389120"/>
            <a:ext cx="7173468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2450592" y="4462272"/>
            <a:ext cx="67619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“cell” in the unrolled diagram is the same operation with the same parameters.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020"/>
                </a:solidFill>
              </a:rPr>
              <a:t>The unrolled view will be useful later for understanding training through time.</a:t>
            </a:r>
            <a:endParaRPr lang="en-US" sz="1350" dirty="0"/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55E0A02D-3A2F-0FB3-65DB-FABCB16F2A9D}"/>
              </a:ext>
            </a:extLst>
          </p:cNvPr>
          <p:cNvSpPr txBox="1"/>
          <p:nvPr/>
        </p:nvSpPr>
        <p:spPr>
          <a:xfrm>
            <a:off x="7955280" y="136436"/>
            <a:ext cx="42336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One recurrent cell/layer, many time steps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953291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4B9DAC-491F-6E41-4A8A-9DFD6CB47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 hidden state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48C9EA-DAA6-B883-134E-B1ABC10CD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616026" cy="3880772"/>
          </a:xfrm>
        </p:spPr>
        <p:txBody>
          <a:bodyPr>
            <a:normAutofit fontScale="92500"/>
          </a:bodyPr>
          <a:lstStyle/>
          <a:p>
            <a:r>
              <a:rPr lang="en-GB" dirty="0"/>
              <a:t>The first time step requires a previous state: h[0]</a:t>
            </a:r>
          </a:p>
          <a:p>
            <a:r>
              <a:rPr lang="en-GB" b="1" dirty="0"/>
              <a:t>A common choice is: h[0] = 0</a:t>
            </a:r>
          </a:p>
          <a:p>
            <a:r>
              <a:rPr lang="en-GB" dirty="0"/>
              <a:t>Then:</a:t>
            </a:r>
          </a:p>
          <a:p>
            <a:r>
              <a:rPr lang="en-GB" dirty="0"/>
              <a:t>h[1] = f(x[1], h[0])</a:t>
            </a:r>
          </a:p>
          <a:p>
            <a:r>
              <a:rPr lang="en-GB" dirty="0"/>
              <a:t>and subsequently:</a:t>
            </a:r>
          </a:p>
          <a:p>
            <a:r>
              <a:rPr lang="en-GB" dirty="0"/>
              <a:t>h[2] = f(x[2], h[1])</a:t>
            </a:r>
          </a:p>
          <a:p>
            <a:r>
              <a:rPr lang="en-GB" dirty="0"/>
              <a:t>h[3] = f(x[3], h[2])</a:t>
            </a:r>
          </a:p>
          <a:p>
            <a:r>
              <a:rPr lang="en-GB" dirty="0"/>
              <a:t>...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FCFEB9D-92BE-135E-C1A6-09BEF6FD7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5600" y="2038669"/>
            <a:ext cx="6441440" cy="3880773"/>
          </a:xfrm>
        </p:spPr>
        <p:txBody>
          <a:bodyPr>
            <a:normAutofit fontScale="92500"/>
          </a:bodyPr>
          <a:lstStyle/>
          <a:p>
            <a:r>
              <a:rPr lang="en-GB" b="1" dirty="0"/>
              <a:t>Interpretation</a:t>
            </a:r>
          </a:p>
          <a:p>
            <a:r>
              <a:rPr lang="en-GB" dirty="0"/>
              <a:t>At the beginning of the sequence, the model has no historical information.</a:t>
            </a:r>
          </a:p>
          <a:p>
            <a:r>
              <a:rPr lang="en-GB" dirty="0"/>
              <a:t>As observations arrive, the state progressively incorporates temporal context.</a:t>
            </a:r>
          </a:p>
          <a:p>
            <a:r>
              <a:rPr lang="en-GB" b="1" dirty="0"/>
              <a:t>Alternative situations</a:t>
            </a:r>
          </a:p>
          <a:p>
            <a:r>
              <a:rPr lang="en-GB" dirty="0"/>
              <a:t>In some applications, the state may be:</a:t>
            </a:r>
          </a:p>
          <a:p>
            <a:pPr lvl="1"/>
            <a:r>
              <a:rPr lang="en-GB" dirty="0"/>
              <a:t>initialized from another model; </a:t>
            </a:r>
          </a:p>
          <a:p>
            <a:pPr lvl="1"/>
            <a:r>
              <a:rPr lang="en-GB" dirty="0"/>
              <a:t>carried forward from previous data; </a:t>
            </a:r>
          </a:p>
          <a:p>
            <a:pPr lvl="1"/>
            <a:r>
              <a:rPr lang="en-GB" dirty="0"/>
              <a:t>learned. </a:t>
            </a:r>
          </a:p>
          <a:p>
            <a:r>
              <a:rPr lang="en-GB" dirty="0"/>
              <a:t>For the basic architecture, zero initialization is sufficient.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1183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state and progressive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At the beginning, the recurrent model has no accumulated history.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2880360"/>
            <a:ext cx="777240" cy="502920"/>
          </a:xfrm>
          <a:prstGeom prst="roundRect">
            <a:avLst>
              <a:gd name="adj" fmla="val 12727"/>
            </a:avLst>
          </a:prstGeom>
          <a:solidFill>
            <a:srgbClr val="F8FAFC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41832" y="2953512"/>
            <a:ext cx="630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h[0]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2011680"/>
            <a:ext cx="73152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039112" y="2084832"/>
            <a:ext cx="585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x[1]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2432304"/>
            <a:ext cx="0" cy="448056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965960" y="2880360"/>
            <a:ext cx="731520" cy="73152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965960" y="288950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h[1]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3246120"/>
            <a:ext cx="640080" cy="0"/>
          </a:xfrm>
          <a:prstGeom prst="line">
            <a:avLst/>
          </a:prstGeom>
          <a:noFill/>
          <a:ln w="1524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73152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410712" y="2084832"/>
            <a:ext cx="585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x[2]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03320" y="2432304"/>
            <a:ext cx="0" cy="448056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337560" y="2880360"/>
            <a:ext cx="731520" cy="73152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37560" y="288950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h[2]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69080" y="3246120"/>
            <a:ext cx="640080" cy="0"/>
          </a:xfrm>
          <a:prstGeom prst="line">
            <a:avLst/>
          </a:prstGeom>
          <a:noFill/>
          <a:ln w="1524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709160" y="2011680"/>
            <a:ext cx="73152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782312" y="2084832"/>
            <a:ext cx="585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x[3]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74920" y="2432304"/>
            <a:ext cx="0" cy="448056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731520" cy="73152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709160" y="288950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h[3]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40680" y="3246120"/>
            <a:ext cx="640080" cy="0"/>
          </a:xfrm>
          <a:prstGeom prst="line">
            <a:avLst/>
          </a:prstGeom>
          <a:noFill/>
          <a:ln w="1524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080760" y="2011680"/>
            <a:ext cx="73152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153912" y="2084832"/>
            <a:ext cx="585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x[4]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2432304"/>
            <a:ext cx="0" cy="448056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080760" y="2880360"/>
            <a:ext cx="731520" cy="73152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080760" y="288950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h[4]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3246120"/>
            <a:ext cx="640080" cy="0"/>
          </a:xfrm>
          <a:prstGeom prst="line">
            <a:avLst/>
          </a:prstGeom>
          <a:noFill/>
          <a:ln w="1524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452360" y="2011680"/>
            <a:ext cx="73152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525512" y="2084832"/>
            <a:ext cx="585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x[5]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18120" y="2432304"/>
            <a:ext cx="0" cy="448056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452360" y="2880360"/>
            <a:ext cx="731520" cy="73152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7452360" y="288950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h[5]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45920" y="3154680"/>
            <a:ext cx="320040" cy="0"/>
          </a:xfrm>
          <a:prstGeom prst="line">
            <a:avLst/>
          </a:prstGeom>
          <a:noFill/>
          <a:ln w="1524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2011680" y="4160520"/>
            <a:ext cx="146304" cy="0"/>
          </a:xfrm>
          <a:prstGeom prst="line">
            <a:avLst/>
          </a:prstGeom>
          <a:noFill/>
          <a:ln w="50800">
            <a:solidFill>
              <a:srgbClr val="3F62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1874520" y="4389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step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83280" y="4160520"/>
            <a:ext cx="292608" cy="0"/>
          </a:xfrm>
          <a:prstGeom prst="line">
            <a:avLst/>
          </a:prstGeom>
          <a:noFill/>
          <a:ln w="50800">
            <a:solidFill>
              <a:srgbClr val="3F62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3246120" y="4389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steps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4160520"/>
            <a:ext cx="438912" cy="0"/>
          </a:xfrm>
          <a:prstGeom prst="line">
            <a:avLst/>
          </a:prstGeom>
          <a:noFill/>
          <a:ln w="50800">
            <a:solidFill>
              <a:srgbClr val="3F62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617720" y="4389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steps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4160520"/>
            <a:ext cx="585216" cy="0"/>
          </a:xfrm>
          <a:prstGeom prst="line">
            <a:avLst/>
          </a:prstGeom>
          <a:noFill/>
          <a:ln w="50800">
            <a:solidFill>
              <a:srgbClr val="3F62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5989320" y="4389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steps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98080" y="4160520"/>
            <a:ext cx="731520" cy="0"/>
          </a:xfrm>
          <a:prstGeom prst="line">
            <a:avLst/>
          </a:prstGeom>
          <a:noFill/>
          <a:ln w="50800">
            <a:solidFill>
              <a:srgbClr val="3F62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7360920" y="4389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steps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108960" y="4846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 of history encoded in the state</a:t>
            </a:r>
            <a:endParaRPr lang="en-US" sz="1300" b="1" dirty="0"/>
          </a:p>
        </p:txBody>
      </p:sp>
      <p:sp>
        <p:nvSpPr>
          <p:cNvPr id="48" name="Shape 46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020"/>
                </a:solidFill>
              </a:rPr>
              <a:t>Later hidden states can represent a longer context because more observations have been processed.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1827344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49B54F-62B2-7525-FBCE-AC472572D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hidden state to prediction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9EE84D-7A47-AE6F-2FD0-2EA73106B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hidden state does not necessarily equal the desired prediction.</a:t>
            </a:r>
          </a:p>
          <a:p>
            <a:r>
              <a:rPr lang="en-GB" b="1" dirty="0"/>
              <a:t>A separate output transformation can map: h[t] to </a:t>
            </a:r>
            <a:r>
              <a:rPr lang="en-GB" b="1" dirty="0" err="1"/>
              <a:t>y_hat</a:t>
            </a:r>
            <a:r>
              <a:rPr lang="en-GB" b="1" dirty="0"/>
              <a:t>[t]</a:t>
            </a:r>
          </a:p>
          <a:p>
            <a:endParaRPr lang="en-GB" dirty="0"/>
          </a:p>
          <a:p>
            <a:r>
              <a:rPr lang="en-GB" dirty="0" err="1"/>
              <a:t>y_hat</a:t>
            </a:r>
            <a:r>
              <a:rPr lang="en-GB" dirty="0"/>
              <a:t>[t] = W_y h[t] + </a:t>
            </a:r>
            <a:r>
              <a:rPr lang="en-GB" dirty="0" err="1"/>
              <a:t>b_y</a:t>
            </a:r>
            <a:endParaRPr lang="en-GB" dirty="0"/>
          </a:p>
          <a:p>
            <a:endParaRPr lang="en-GB" dirty="0"/>
          </a:p>
          <a:p>
            <a:r>
              <a:rPr lang="en-GB" dirty="0"/>
              <a:t>For classification, the final transformation may produce class scores or probabilities.</a:t>
            </a:r>
          </a:p>
          <a:p>
            <a:endParaRPr lang="en-GB" b="1" dirty="0"/>
          </a:p>
          <a:p>
            <a:r>
              <a:rPr lang="en-GB" b="1" dirty="0"/>
              <a:t>Example</a:t>
            </a:r>
          </a:p>
          <a:p>
            <a:r>
              <a:rPr lang="en-GB" dirty="0"/>
              <a:t>Input: x[t] = [sensor1[t], sensor2[t], sensor3[t]]</a:t>
            </a:r>
          </a:p>
          <a:p>
            <a:r>
              <a:rPr lang="en-GB" dirty="0"/>
              <a:t>Hidden state: h[t]</a:t>
            </a:r>
          </a:p>
          <a:p>
            <a:r>
              <a:rPr lang="en-GB" dirty="0"/>
              <a:t>Prediction:</a:t>
            </a:r>
          </a:p>
          <a:p>
            <a:r>
              <a:rPr lang="en-GB" dirty="0"/>
              <a:t>P(fault at time t)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2161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D7A7D7-8513-C690-6D25-AB39F0831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hidden state to prediction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45DB47-F739-1143-1CBD-1C8106CDC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General structure</a:t>
            </a:r>
          </a:p>
          <a:p>
            <a:r>
              <a:rPr lang="en-GB" dirty="0"/>
              <a:t>input sequence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recurrent state evolution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hidden representation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output layer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prediction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5DF9788-F611-7744-0244-AC3BFD481119}"/>
              </a:ext>
            </a:extLst>
          </p:cNvPr>
          <p:cNvSpPr txBox="1"/>
          <p:nvPr/>
        </p:nvSpPr>
        <p:spPr>
          <a:xfrm>
            <a:off x="4734560" y="4403388"/>
            <a:ext cx="7670800" cy="785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/>
              <a:t>The recurrent layer learns a temporal representation.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The output layer converts that representation into the required target.</a:t>
            </a:r>
          </a:p>
        </p:txBody>
      </p:sp>
    </p:spTree>
    <p:extLst>
      <p:ext uri="{BB962C8B-B14F-4D97-AF65-F5344CB8AC3E}">
        <p14:creationId xmlns:p14="http://schemas.microsoft.com/office/powerpoint/2010/main" val="1329962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hidden state to prediction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</a:rPr>
              <a:t>The recurrent layer learns a temporal representation; the output layer maps it to the target.</a:t>
            </a:r>
            <a:endParaRPr lang="en-US" sz="1600" b="1" dirty="0"/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A7477B31-112D-D136-83A3-AD194F0DCDD5}"/>
              </a:ext>
            </a:extLst>
          </p:cNvPr>
          <p:cNvGrpSpPr/>
          <p:nvPr/>
        </p:nvGrpSpPr>
        <p:grpSpPr>
          <a:xfrm>
            <a:off x="1563624" y="1783080"/>
            <a:ext cx="3611880" cy="384048"/>
            <a:chOff x="914400" y="1828800"/>
            <a:chExt cx="3611880" cy="384048"/>
          </a:xfrm>
        </p:grpSpPr>
        <p:sp>
          <p:nvSpPr>
            <p:cNvPr id="5" name="Shape 3"/>
            <p:cNvSpPr/>
            <p:nvPr/>
          </p:nvSpPr>
          <p:spPr>
            <a:xfrm>
              <a:off x="914400" y="1828800"/>
              <a:ext cx="502920" cy="384048"/>
            </a:xfrm>
            <a:prstGeom prst="roundRect">
              <a:avLst>
                <a:gd name="adj" fmla="val 16667"/>
              </a:avLst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 4"/>
            <p:cNvSpPr/>
            <p:nvPr/>
          </p:nvSpPr>
          <p:spPr>
            <a:xfrm>
              <a:off x="987552" y="1901952"/>
              <a:ext cx="3566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x1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1691640" y="1828800"/>
              <a:ext cx="502920" cy="384048"/>
            </a:xfrm>
            <a:prstGeom prst="roundRect">
              <a:avLst>
                <a:gd name="adj" fmla="val 16667"/>
              </a:avLst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 6"/>
            <p:cNvSpPr/>
            <p:nvPr/>
          </p:nvSpPr>
          <p:spPr>
            <a:xfrm>
              <a:off x="1764792" y="1901952"/>
              <a:ext cx="3566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x2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468880" y="1828800"/>
              <a:ext cx="502920" cy="384048"/>
            </a:xfrm>
            <a:prstGeom prst="roundRect">
              <a:avLst>
                <a:gd name="adj" fmla="val 16667"/>
              </a:avLst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 8"/>
            <p:cNvSpPr/>
            <p:nvPr/>
          </p:nvSpPr>
          <p:spPr>
            <a:xfrm>
              <a:off x="2542032" y="1901952"/>
              <a:ext cx="3566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x3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246120" y="1828800"/>
              <a:ext cx="502920" cy="384048"/>
            </a:xfrm>
            <a:prstGeom prst="roundRect">
              <a:avLst>
                <a:gd name="adj" fmla="val 16667"/>
              </a:avLst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 10"/>
            <p:cNvSpPr/>
            <p:nvPr/>
          </p:nvSpPr>
          <p:spPr>
            <a:xfrm>
              <a:off x="3319272" y="1901952"/>
              <a:ext cx="3566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x4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023360" y="1828800"/>
              <a:ext cx="502920" cy="384048"/>
            </a:xfrm>
            <a:prstGeom prst="roundRect">
              <a:avLst>
                <a:gd name="adj" fmla="val 16667"/>
              </a:avLst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 12"/>
            <p:cNvSpPr/>
            <p:nvPr/>
          </p:nvSpPr>
          <p:spPr>
            <a:xfrm>
              <a:off x="4096512" y="1901952"/>
              <a:ext cx="3566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x5</a:t>
              </a:r>
              <a:endParaRPr lang="en-US" sz="1000" dirty="0"/>
            </a:p>
          </p:txBody>
        </p:sp>
      </p:grp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1C2E94D8-11CA-45A8-8CD8-A9E4E16D1E4E}"/>
              </a:ext>
            </a:extLst>
          </p:cNvPr>
          <p:cNvGrpSpPr/>
          <p:nvPr/>
        </p:nvGrpSpPr>
        <p:grpSpPr>
          <a:xfrm>
            <a:off x="1677924" y="2695194"/>
            <a:ext cx="6309360" cy="822960"/>
            <a:chOff x="1677924" y="2695194"/>
            <a:chExt cx="6309360" cy="822960"/>
          </a:xfrm>
        </p:grpSpPr>
        <p:sp>
          <p:nvSpPr>
            <p:cNvPr id="15" name="Shape 13"/>
            <p:cNvSpPr/>
            <p:nvPr/>
          </p:nvSpPr>
          <p:spPr>
            <a:xfrm>
              <a:off x="1677924" y="3115818"/>
              <a:ext cx="685800" cy="0"/>
            </a:xfrm>
            <a:prstGeom prst="line">
              <a:avLst/>
            </a:prstGeom>
            <a:noFill/>
            <a:ln w="16510">
              <a:solidFill>
                <a:srgbClr val="2563E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Shape 14"/>
            <p:cNvSpPr/>
            <p:nvPr/>
          </p:nvSpPr>
          <p:spPr>
            <a:xfrm>
              <a:off x="2363724" y="2695194"/>
              <a:ext cx="2011680" cy="822960"/>
            </a:xfrm>
            <a:prstGeom prst="roundRect">
              <a:avLst>
                <a:gd name="adj" fmla="val 7778"/>
              </a:avLst>
            </a:prstGeom>
            <a:solidFill>
              <a:srgbClr val="DCFCE7"/>
            </a:solidFill>
            <a:ln w="15240">
              <a:solidFill>
                <a:srgbClr val="65A30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 15"/>
            <p:cNvSpPr/>
            <p:nvPr/>
          </p:nvSpPr>
          <p:spPr>
            <a:xfrm>
              <a:off x="2436876" y="2768346"/>
              <a:ext cx="1865376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recurrent state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evolution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375404" y="3115818"/>
              <a:ext cx="640080" cy="0"/>
            </a:xfrm>
            <a:prstGeom prst="line">
              <a:avLst/>
            </a:prstGeom>
            <a:noFill/>
            <a:ln w="16510">
              <a:solidFill>
                <a:srgbClr val="3F6212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Shape 17"/>
            <p:cNvSpPr/>
            <p:nvPr/>
          </p:nvSpPr>
          <p:spPr>
            <a:xfrm>
              <a:off x="5015484" y="2695194"/>
              <a:ext cx="1280160" cy="822960"/>
            </a:xfrm>
            <a:prstGeom prst="roundRect">
              <a:avLst>
                <a:gd name="adj" fmla="val 7778"/>
              </a:avLst>
            </a:prstGeom>
            <a:solidFill>
              <a:srgbClr val="DCFCE7"/>
            </a:solidFill>
            <a:ln w="15240">
              <a:solidFill>
                <a:srgbClr val="65A30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 18"/>
            <p:cNvSpPr/>
            <p:nvPr/>
          </p:nvSpPr>
          <p:spPr>
            <a:xfrm>
              <a:off x="5088636" y="2768346"/>
              <a:ext cx="1133856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h[L]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295644" y="3115818"/>
              <a:ext cx="594360" cy="0"/>
            </a:xfrm>
            <a:prstGeom prst="line">
              <a:avLst/>
            </a:prstGeom>
            <a:noFill/>
            <a:ln w="16510">
              <a:solidFill>
                <a:srgbClr val="0B102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Shape 20"/>
            <p:cNvSpPr/>
            <p:nvPr/>
          </p:nvSpPr>
          <p:spPr>
            <a:xfrm>
              <a:off x="6890004" y="2695194"/>
              <a:ext cx="1097280" cy="822960"/>
            </a:xfrm>
            <a:prstGeom prst="roundRect">
              <a:avLst>
                <a:gd name="adj" fmla="val 7778"/>
              </a:avLst>
            </a:prstGeom>
            <a:solidFill>
              <a:srgbClr val="FFEDD5"/>
            </a:solidFill>
            <a:ln w="15240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 21"/>
            <p:cNvSpPr/>
            <p:nvPr/>
          </p:nvSpPr>
          <p:spPr>
            <a:xfrm>
              <a:off x="6963156" y="2768346"/>
              <a:ext cx="950976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0B102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ŷ</a:t>
              </a:r>
              <a:endParaRPr lang="en-US" sz="1700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914400" y="3881627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layer can produce: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51560" y="4384547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124712" y="4457699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value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29000" y="4384547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502152" y="4457699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probabilities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06440" y="4384547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879592" y="4457699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vector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83880" y="4384547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8257032" y="4457699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label per step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020"/>
                </a:solidFill>
                <a:highlight>
                  <a:srgbClr val="FFFF00"/>
                </a:highlight>
              </a:rPr>
              <a:t>The target type determines the output layer; the recurrent layer supplies the learned temporal representation</a:t>
            </a:r>
            <a:r>
              <a:rPr lang="en-US" sz="1350" dirty="0">
                <a:solidFill>
                  <a:srgbClr val="0B1020"/>
                </a:solidFill>
              </a:rPr>
              <a:t>.</a:t>
            </a:r>
            <a:endParaRPr lang="en-US" sz="1350" dirty="0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79549E27-1480-3CE1-45B3-726CFEC2858C}"/>
              </a:ext>
            </a:extLst>
          </p:cNvPr>
          <p:cNvSpPr txBox="1"/>
          <p:nvPr/>
        </p:nvSpPr>
        <p:spPr>
          <a:xfrm>
            <a:off x="5636342" y="1828801"/>
            <a:ext cx="1587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L=5, in </a:t>
            </a:r>
            <a:r>
              <a:rPr lang="it-IT" sz="1400" dirty="0" err="1"/>
              <a:t>this</a:t>
            </a:r>
            <a:r>
              <a:rPr lang="it-IT" sz="1400" dirty="0"/>
              <a:t> case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9812332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23DB63-0BCB-EE43-F677-3A1C17D55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 tensor shape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1DE359-BD09-6E25-AD51-C13E4EFBD2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418666" cy="3880772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A batch of fixed-length sequences is commonly represented as:</a:t>
            </a:r>
          </a:p>
          <a:p>
            <a:r>
              <a:rPr lang="en-GB" dirty="0"/>
              <a:t>[N, L, d]</a:t>
            </a:r>
          </a:p>
          <a:p>
            <a:r>
              <a:rPr lang="en-GB" dirty="0"/>
              <a:t>where:</a:t>
            </a:r>
          </a:p>
          <a:p>
            <a:pPr lvl="1"/>
            <a:r>
              <a:rPr lang="en-GB" dirty="0"/>
              <a:t>N = number of samples in the batch; </a:t>
            </a:r>
          </a:p>
          <a:p>
            <a:pPr lvl="1"/>
            <a:r>
              <a:rPr lang="en-GB" dirty="0"/>
              <a:t>L = number of time steps; </a:t>
            </a:r>
          </a:p>
          <a:p>
            <a:pPr lvl="1"/>
            <a:r>
              <a:rPr lang="en-GB" dirty="0"/>
              <a:t>d = number of input variables per time step. </a:t>
            </a:r>
          </a:p>
          <a:p>
            <a:r>
              <a:rPr lang="en-GB" b="1" dirty="0"/>
              <a:t>Example</a:t>
            </a:r>
          </a:p>
          <a:p>
            <a:pPr lvl="1"/>
            <a:r>
              <a:rPr lang="en-GB" dirty="0"/>
              <a:t>64 windows per batch; </a:t>
            </a:r>
          </a:p>
          <a:p>
            <a:pPr lvl="1"/>
            <a:r>
              <a:rPr lang="en-GB" dirty="0"/>
              <a:t>120 time steps per window; </a:t>
            </a:r>
          </a:p>
          <a:p>
            <a:pPr lvl="1"/>
            <a:r>
              <a:rPr lang="en-GB" dirty="0"/>
              <a:t>8 sensor variables. </a:t>
            </a:r>
          </a:p>
          <a:p>
            <a:r>
              <a:rPr lang="en-GB" dirty="0"/>
              <a:t>Then:</a:t>
            </a:r>
          </a:p>
          <a:p>
            <a:pPr lvl="1"/>
            <a:r>
              <a:rPr lang="en-GB" dirty="0"/>
              <a:t>input shape = [64, 120, 8]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C95DC9D-9FD6-DAE4-3711-288B5BEB4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1090" y="2160589"/>
            <a:ext cx="5445950" cy="3880773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At one time step:</a:t>
            </a:r>
          </a:p>
          <a:p>
            <a:r>
              <a:rPr lang="en-GB" dirty="0"/>
              <a:t>x[t] shape = [64, 8]</a:t>
            </a:r>
          </a:p>
          <a:p>
            <a:r>
              <a:rPr lang="en-GB" dirty="0"/>
              <a:t>because all 64 sequences are processed in parallel for that time position.</a:t>
            </a:r>
          </a:p>
          <a:p>
            <a:endParaRPr lang="en-GB" dirty="0"/>
          </a:p>
          <a:p>
            <a:r>
              <a:rPr lang="en-GB" dirty="0"/>
              <a:t>The dimensions represent:</a:t>
            </a:r>
          </a:p>
          <a:p>
            <a:pPr lvl="1"/>
            <a:r>
              <a:rPr lang="en-GB" dirty="0"/>
              <a:t>samples × time × features</a:t>
            </a:r>
          </a:p>
          <a:p>
            <a:r>
              <a:rPr lang="en-GB" dirty="0"/>
              <a:t>not:</a:t>
            </a:r>
          </a:p>
          <a:p>
            <a:pPr lvl="1"/>
            <a:r>
              <a:rPr lang="en-GB" dirty="0"/>
              <a:t>samples × features × time</a:t>
            </a:r>
          </a:p>
          <a:p>
            <a:r>
              <a:rPr lang="en-GB" dirty="0"/>
              <a:t>unless a particular software library explicitly uses a different convention.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C40083D-13A3-2F21-8777-1B135BF5F453}"/>
              </a:ext>
            </a:extLst>
          </p:cNvPr>
          <p:cNvSpPr txBox="1"/>
          <p:nvPr/>
        </p:nvSpPr>
        <p:spPr>
          <a:xfrm>
            <a:off x="5413490" y="5519629"/>
            <a:ext cx="6341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Tensorflow</a:t>
            </a:r>
            <a:r>
              <a:rPr lang="en-GB" dirty="0"/>
              <a:t>/</a:t>
            </a:r>
            <a:r>
              <a:rPr lang="en-GB" dirty="0" err="1"/>
              <a:t>Keras</a:t>
            </a:r>
            <a:r>
              <a:rPr lang="en-GB" dirty="0"/>
              <a:t>: [</a:t>
            </a:r>
            <a:r>
              <a:rPr lang="en-GB" dirty="0" err="1"/>
              <a:t>batch_size</a:t>
            </a:r>
            <a:r>
              <a:rPr lang="en-GB" dirty="0"/>
              <a:t>, </a:t>
            </a:r>
            <a:r>
              <a:rPr lang="en-GB" dirty="0" err="1"/>
              <a:t>seq_length</a:t>
            </a:r>
            <a:r>
              <a:rPr lang="en-GB" dirty="0"/>
              <a:t>, </a:t>
            </a:r>
            <a:r>
              <a:rPr lang="en-GB" dirty="0" err="1"/>
              <a:t>num_features</a:t>
            </a:r>
            <a:r>
              <a:rPr lang="en-GB" dirty="0"/>
              <a:t>]</a:t>
            </a:r>
          </a:p>
          <a:p>
            <a:endParaRPr lang="en-GB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97D6A73-838C-BF95-6B04-A203D23B57B9}"/>
              </a:ext>
            </a:extLst>
          </p:cNvPr>
          <p:cNvSpPr txBox="1"/>
          <p:nvPr/>
        </p:nvSpPr>
        <p:spPr>
          <a:xfrm>
            <a:off x="7835900" y="6165960"/>
            <a:ext cx="3919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Also </a:t>
            </a:r>
            <a:r>
              <a:rPr lang="en-GB" dirty="0" err="1"/>
              <a:t>PyTorch</a:t>
            </a:r>
            <a:r>
              <a:rPr lang="en-GB" dirty="0"/>
              <a:t> with </a:t>
            </a:r>
            <a:r>
              <a:rPr lang="en-GB" dirty="0" err="1"/>
              <a:t>batch_first</a:t>
            </a:r>
            <a:r>
              <a:rPr lang="en-GB" dirty="0"/>
              <a:t>=True</a:t>
            </a:r>
          </a:p>
        </p:txBody>
      </p:sp>
    </p:spTree>
    <p:extLst>
      <p:ext uri="{BB962C8B-B14F-4D97-AF65-F5344CB8AC3E}">
        <p14:creationId xmlns:p14="http://schemas.microsoft.com/office/powerpoint/2010/main" val="3981051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tensor shape: samples × time ×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A recurrent layer processes a batch of sequences as a three-dimensional tensor.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0" y="1783080"/>
            <a:ext cx="329184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120640" y="1783080"/>
            <a:ext cx="0" cy="2240280"/>
          </a:xfrm>
          <a:prstGeom prst="line">
            <a:avLst/>
          </a:prstGeom>
          <a:noFill/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669280" y="1783080"/>
            <a:ext cx="0" cy="2240280"/>
          </a:xfrm>
          <a:prstGeom prst="line">
            <a:avLst/>
          </a:prstGeom>
          <a:noFill/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0" cy="2240280"/>
          </a:xfrm>
          <a:prstGeom prst="line">
            <a:avLst/>
          </a:prstGeom>
          <a:noFill/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766560" y="1783080"/>
            <a:ext cx="0" cy="2240280"/>
          </a:xfrm>
          <a:prstGeom prst="line">
            <a:avLst/>
          </a:prstGeom>
          <a:noFill/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315200" y="1783080"/>
            <a:ext cx="0" cy="2240280"/>
          </a:xfrm>
          <a:prstGeom prst="line">
            <a:avLst/>
          </a:prstGeom>
          <a:noFill/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572000" y="2343150"/>
            <a:ext cx="3291840" cy="0"/>
          </a:xfrm>
          <a:prstGeom prst="line">
            <a:avLst/>
          </a:prstGeom>
          <a:noFill/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572000" y="2903220"/>
            <a:ext cx="3291840" cy="0"/>
          </a:xfrm>
          <a:prstGeom prst="line">
            <a:avLst/>
          </a:prstGeom>
          <a:noFill/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572000" y="3463290"/>
            <a:ext cx="3291840" cy="0"/>
          </a:xfrm>
          <a:prstGeom prst="line">
            <a:avLst/>
          </a:prstGeom>
          <a:noFill/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00600" y="1490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sample matrix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4279392"/>
            <a:ext cx="3291840" cy="0"/>
          </a:xfrm>
          <a:prstGeom prst="line">
            <a:avLst/>
          </a:prstGeom>
          <a:noFill/>
          <a:ln w="1524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53212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783080"/>
            <a:ext cx="0" cy="2240280"/>
          </a:xfrm>
          <a:prstGeom prst="line">
            <a:avLst/>
          </a:prstGeom>
          <a:noFill/>
          <a:ln w="1524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275320" y="2788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2423160"/>
            <a:ext cx="822960" cy="594360"/>
          </a:xfrm>
          <a:prstGeom prst="roundRect">
            <a:avLst>
              <a:gd name="adj" fmla="val 10769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87552" y="2496312"/>
            <a:ext cx="6766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38528" y="2423160"/>
            <a:ext cx="822960" cy="594360"/>
          </a:xfrm>
          <a:prstGeom prst="roundRect">
            <a:avLst>
              <a:gd name="adj" fmla="val 10769"/>
            </a:avLst>
          </a:prstGeom>
          <a:solidFill>
            <a:srgbClr val="EEF6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011680" y="2496312"/>
            <a:ext cx="6766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62656" y="2423160"/>
            <a:ext cx="822960" cy="594360"/>
          </a:xfrm>
          <a:prstGeom prst="roundRect">
            <a:avLst>
              <a:gd name="adj" fmla="val 10769"/>
            </a:avLst>
          </a:prstGeom>
          <a:solidFill>
            <a:srgbClr val="EEF6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035808" y="2496312"/>
            <a:ext cx="6766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2588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samples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77640" y="2743200"/>
            <a:ext cx="45720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914400" y="1508760"/>
            <a:ext cx="25146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87552" y="1581912"/>
            <a:ext cx="23682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shape = [N, L, d]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14400" y="434340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987552" y="4416552"/>
            <a:ext cx="23682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batch samples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= time steps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input features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020"/>
                </a:solidFill>
              </a:rPr>
              <a:t>The time dimension is explicit: a sample is not just a flat list of features.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1211201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BAC5D7-3C27-4997-B3D8-A753A13E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Hidden-state shape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43C951-48F4-E301-AAFF-A0CE7BF2F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727786" cy="388077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Suppose the recurrent layer contains: H = 32 hidden units.</a:t>
            </a:r>
          </a:p>
          <a:p>
            <a:r>
              <a:rPr lang="en-GB" dirty="0"/>
              <a:t>At one time step: h[t] shape = [N, 32]</a:t>
            </a:r>
          </a:p>
          <a:p>
            <a:r>
              <a:rPr lang="en-GB" dirty="0"/>
              <a:t>For the previous example with: N = 64</a:t>
            </a:r>
          </a:p>
          <a:p>
            <a:r>
              <a:rPr lang="en-GB" dirty="0"/>
              <a:t>we obtain: h[t] shape = [64, 32]</a:t>
            </a:r>
          </a:p>
          <a:p>
            <a:endParaRPr lang="en-GB" b="1" dirty="0"/>
          </a:p>
          <a:p>
            <a:r>
              <a:rPr lang="en-GB" b="1" dirty="0"/>
              <a:t>If the state from every time step is retained</a:t>
            </a:r>
          </a:p>
          <a:p>
            <a:r>
              <a:rPr lang="en-GB" dirty="0"/>
              <a:t>The recurrent output has shape: [N, L, H]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4D65100-25B9-3501-B02B-5CF791CF7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1810" y="2177418"/>
            <a:ext cx="6350190" cy="388077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Example: [64, 120, 32]</a:t>
            </a:r>
          </a:p>
          <a:p>
            <a:r>
              <a:rPr lang="en-GB" b="1" dirty="0"/>
              <a:t>If only the final state is retained</a:t>
            </a:r>
          </a:p>
          <a:p>
            <a:r>
              <a:rPr lang="en-GB" dirty="0"/>
              <a:t>The output is: [N, H]</a:t>
            </a:r>
          </a:p>
          <a:p>
            <a:r>
              <a:rPr lang="en-GB" dirty="0"/>
              <a:t>Example: [64, 32]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The hidden dimension H controls the size of the learned temporal representation.</a:t>
            </a:r>
          </a:p>
          <a:p>
            <a:r>
              <a:rPr lang="en-GB" dirty="0"/>
              <a:t>A larger H provides more representational capacity but also increases:</a:t>
            </a:r>
          </a:p>
          <a:p>
            <a:pPr lvl="1"/>
            <a:r>
              <a:rPr lang="en-GB" dirty="0"/>
              <a:t>number of parameters; </a:t>
            </a:r>
          </a:p>
          <a:p>
            <a:pPr lvl="1"/>
            <a:r>
              <a:rPr lang="en-GB" dirty="0"/>
              <a:t>computational cost; </a:t>
            </a:r>
          </a:p>
          <a:p>
            <a:pPr lvl="1"/>
            <a:r>
              <a:rPr lang="en-GB" dirty="0"/>
              <a:t>overfitting risk.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88253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Hidden-state outputs: full sequence or final 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recurrent layer may return a representation for every time step or only the final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59436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87552" y="1901952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x[1]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828800"/>
            <a:ext cx="59436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901952" y="1901952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x[2]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828800"/>
            <a:ext cx="59436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816352" y="1901952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x[3]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1828800"/>
            <a:ext cx="59436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730752" y="1901952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x[4]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2039112"/>
            <a:ext cx="82296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212080" y="1600200"/>
            <a:ext cx="1645920" cy="822960"/>
          </a:xfrm>
          <a:prstGeom prst="roundRect">
            <a:avLst>
              <a:gd name="adj" fmla="val 7778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285232" y="1673352"/>
            <a:ext cx="1499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0" y="2039112"/>
            <a:ext cx="731520" cy="0"/>
          </a:xfrm>
          <a:prstGeom prst="line">
            <a:avLst/>
          </a:prstGeom>
          <a:noFill/>
          <a:ln w="1651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589520" y="1737360"/>
            <a:ext cx="502920" cy="50292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589520" y="174650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75320" y="1737360"/>
            <a:ext cx="502920" cy="50292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275320" y="174650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61120" y="1737360"/>
            <a:ext cx="502920" cy="50292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961120" y="174650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646920" y="1737360"/>
            <a:ext cx="502920" cy="502920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646920" y="1746504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2423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full sequence: [N, L, H]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3840480"/>
            <a:ext cx="731520" cy="0"/>
          </a:xfrm>
          <a:prstGeom prst="line">
            <a:avLst/>
          </a:prstGeom>
          <a:noFill/>
          <a:ln w="1651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212080" y="3429000"/>
            <a:ext cx="1645920" cy="822960"/>
          </a:xfrm>
          <a:prstGeom prst="roundRect">
            <a:avLst>
              <a:gd name="adj" fmla="val 7778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285232" y="3502152"/>
            <a:ext cx="1499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35240" y="3520440"/>
            <a:ext cx="1005840" cy="594360"/>
          </a:xfrm>
          <a:prstGeom prst="roundRect">
            <a:avLst>
              <a:gd name="adj" fmla="val 10769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708392" y="3593592"/>
            <a:ext cx="859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h[L]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final state only: [N, H]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86365" y="2782590"/>
            <a:ext cx="2268415" cy="2567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input shape: [N, L, d]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020"/>
                </a:solidFill>
              </a:rPr>
              <a:t>Output shape depends on whether the task needs one representation or one representation per time step.</a:t>
            </a:r>
            <a:endParaRPr lang="en-US" sz="135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066B7AB8-6C0C-3BDE-2A74-C6939C228A97}"/>
              </a:ext>
            </a:extLst>
          </p:cNvPr>
          <p:cNvSpPr/>
          <p:nvPr/>
        </p:nvSpPr>
        <p:spPr>
          <a:xfrm>
            <a:off x="914400" y="3596757"/>
            <a:ext cx="59436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F4799B04-D5ED-6E13-E768-123B71CA20D3}"/>
              </a:ext>
            </a:extLst>
          </p:cNvPr>
          <p:cNvSpPr/>
          <p:nvPr/>
        </p:nvSpPr>
        <p:spPr>
          <a:xfrm>
            <a:off x="987552" y="3669909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x[1]</a:t>
            </a:r>
            <a:endParaRPr lang="en-US" sz="1000" dirty="0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7D968CA1-D1E3-7ACF-0A1F-83CC6C755FC8}"/>
              </a:ext>
            </a:extLst>
          </p:cNvPr>
          <p:cNvSpPr/>
          <p:nvPr/>
        </p:nvSpPr>
        <p:spPr>
          <a:xfrm>
            <a:off x="1828800" y="3596757"/>
            <a:ext cx="59436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CE669E64-7802-432B-CAD3-356679E0C8D1}"/>
              </a:ext>
            </a:extLst>
          </p:cNvPr>
          <p:cNvSpPr/>
          <p:nvPr/>
        </p:nvSpPr>
        <p:spPr>
          <a:xfrm>
            <a:off x="1901952" y="3669909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x[2]</a:t>
            </a:r>
            <a:endParaRPr lang="en-US" sz="1000" dirty="0"/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01A26E75-0BA6-06CD-3B8D-016147AAA1B5}"/>
              </a:ext>
            </a:extLst>
          </p:cNvPr>
          <p:cNvSpPr/>
          <p:nvPr/>
        </p:nvSpPr>
        <p:spPr>
          <a:xfrm>
            <a:off x="2743200" y="3596757"/>
            <a:ext cx="59436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592D2AF8-BBA6-6125-8F61-ADE527FD4B57}"/>
              </a:ext>
            </a:extLst>
          </p:cNvPr>
          <p:cNvSpPr/>
          <p:nvPr/>
        </p:nvSpPr>
        <p:spPr>
          <a:xfrm>
            <a:off x="2816352" y="3669909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x[3]</a:t>
            </a:r>
            <a:endParaRPr lang="en-US" sz="1000" dirty="0"/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82515742-F59E-99BE-587D-FAEA9C2C68C7}"/>
              </a:ext>
            </a:extLst>
          </p:cNvPr>
          <p:cNvSpPr/>
          <p:nvPr/>
        </p:nvSpPr>
        <p:spPr>
          <a:xfrm>
            <a:off x="3657600" y="3596757"/>
            <a:ext cx="59436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951A5CBE-970A-FF94-CE21-706B94F951FB}"/>
              </a:ext>
            </a:extLst>
          </p:cNvPr>
          <p:cNvSpPr/>
          <p:nvPr/>
        </p:nvSpPr>
        <p:spPr>
          <a:xfrm>
            <a:off x="3730752" y="3669909"/>
            <a:ext cx="448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x[4]</a:t>
            </a:r>
            <a:endParaRPr lang="en-US" sz="1000" dirty="0"/>
          </a:p>
        </p:txBody>
      </p:sp>
      <p:sp>
        <p:nvSpPr>
          <p:cNvPr id="52" name="Shape 11">
            <a:extLst>
              <a:ext uri="{FF2B5EF4-FFF2-40B4-BE49-F238E27FC236}">
                <a16:creationId xmlns:a16="http://schemas.microsoft.com/office/drawing/2014/main" id="{B063527C-F19D-4491-35C8-A0B693E2E83A}"/>
              </a:ext>
            </a:extLst>
          </p:cNvPr>
          <p:cNvSpPr/>
          <p:nvPr/>
        </p:nvSpPr>
        <p:spPr>
          <a:xfrm>
            <a:off x="4389120" y="3842707"/>
            <a:ext cx="822960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7C1E4809-7A35-1B6C-6C1C-4BBF4BA0C58A}"/>
              </a:ext>
            </a:extLst>
          </p:cNvPr>
          <p:cNvSpPr txBox="1"/>
          <p:nvPr/>
        </p:nvSpPr>
        <p:spPr>
          <a:xfrm>
            <a:off x="9186906" y="3003911"/>
            <a:ext cx="1438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H </a:t>
            </a:r>
            <a:r>
              <a:rPr lang="it-IT" sz="1200" dirty="0" err="1"/>
              <a:t>dimension</a:t>
            </a:r>
            <a:r>
              <a:rPr lang="it-IT" sz="1200" dirty="0"/>
              <a:t> of the </a:t>
            </a:r>
            <a:r>
              <a:rPr lang="it-IT" sz="1200" dirty="0" err="1"/>
              <a:t>hidden</a:t>
            </a:r>
            <a:r>
              <a:rPr lang="it-IT" sz="1200" dirty="0"/>
              <a:t> state</a:t>
            </a:r>
            <a:endParaRPr lang="en-GB" sz="1200" dirty="0"/>
          </a:p>
        </p:txBody>
      </p: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5425067F-B4DE-23AE-9E57-869F1886E6AF}"/>
              </a:ext>
            </a:extLst>
          </p:cNvPr>
          <p:cNvCxnSpPr/>
          <p:nvPr/>
        </p:nvCxnSpPr>
        <p:spPr>
          <a:xfrm flipH="1" flipV="1">
            <a:off x="9212580" y="2651760"/>
            <a:ext cx="434340" cy="387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544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142ADA-AB60-8C7E-D1B8-5CCA0765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Parameter dimensions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AC9EE3-6012-CE16-1FA7-BB16E5AAD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930986" cy="3880772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Suppose:</a:t>
            </a:r>
          </a:p>
          <a:p>
            <a:pPr lvl="1"/>
            <a:r>
              <a:rPr lang="en-GB" dirty="0"/>
              <a:t>input dimension = d</a:t>
            </a:r>
          </a:p>
          <a:p>
            <a:pPr lvl="1"/>
            <a:r>
              <a:rPr lang="en-GB" dirty="0"/>
              <a:t>hidden dimension = H</a:t>
            </a:r>
          </a:p>
          <a:p>
            <a:r>
              <a:rPr lang="en-GB" dirty="0"/>
              <a:t>The </a:t>
            </a:r>
            <a:r>
              <a:rPr lang="en-GB" dirty="0" err="1"/>
              <a:t>SimpleRNN</a:t>
            </a:r>
            <a:r>
              <a:rPr lang="en-GB" dirty="0"/>
              <a:t> uses:</a:t>
            </a:r>
          </a:p>
          <a:p>
            <a:r>
              <a:rPr lang="en-GB" b="1" dirty="0"/>
              <a:t>Input-to-hidden matrix</a:t>
            </a:r>
          </a:p>
          <a:p>
            <a:pPr lvl="1"/>
            <a:r>
              <a:rPr lang="en-GB" dirty="0" err="1"/>
              <a:t>W_x</a:t>
            </a:r>
            <a:r>
              <a:rPr lang="en-GB" dirty="0"/>
              <a:t> shape = [d, H]</a:t>
            </a:r>
          </a:p>
          <a:p>
            <a:r>
              <a:rPr lang="en-GB" b="1" dirty="0"/>
              <a:t>Hidden-to-hidden matrix</a:t>
            </a:r>
          </a:p>
          <a:p>
            <a:pPr lvl="1"/>
            <a:r>
              <a:rPr lang="en-GB" dirty="0" err="1"/>
              <a:t>W_h</a:t>
            </a:r>
            <a:r>
              <a:rPr lang="en-GB" dirty="0"/>
              <a:t> shape = [H, H]</a:t>
            </a:r>
          </a:p>
          <a:p>
            <a:r>
              <a:rPr lang="en-GB" b="1" dirty="0"/>
              <a:t>Bias</a:t>
            </a:r>
          </a:p>
          <a:p>
            <a:pPr lvl="1"/>
            <a:r>
              <a:rPr lang="en-GB" dirty="0"/>
              <a:t>b shape = [H]</a:t>
            </a:r>
          </a:p>
          <a:p>
            <a:r>
              <a:rPr lang="en-GB" dirty="0"/>
              <a:t>Therefore the number of recurrent parameters is approximately:</a:t>
            </a:r>
          </a:p>
          <a:p>
            <a:r>
              <a:rPr lang="en-GB" dirty="0"/>
              <a:t>d × H + H × H + H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4F3B435-739D-39C8-565F-EB4F734C8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3090" y="2160588"/>
            <a:ext cx="6055550" cy="3880773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For:</a:t>
            </a:r>
          </a:p>
          <a:p>
            <a:pPr lvl="1"/>
            <a:r>
              <a:rPr lang="en-GB" dirty="0"/>
              <a:t>d = 8</a:t>
            </a:r>
          </a:p>
          <a:p>
            <a:pPr lvl="1"/>
            <a:r>
              <a:rPr lang="en-GB" dirty="0"/>
              <a:t>H = 32</a:t>
            </a:r>
          </a:p>
          <a:p>
            <a:r>
              <a:rPr lang="en-GB" dirty="0"/>
              <a:t>we have:</a:t>
            </a:r>
          </a:p>
          <a:p>
            <a:pPr lvl="1"/>
            <a:r>
              <a:rPr lang="en-GB" dirty="0"/>
              <a:t>8 × 32   = 256</a:t>
            </a:r>
          </a:p>
          <a:p>
            <a:pPr lvl="1"/>
            <a:r>
              <a:rPr lang="en-GB" dirty="0"/>
              <a:t>32 × 32  = 1024</a:t>
            </a:r>
          </a:p>
          <a:p>
            <a:pPr lvl="1"/>
            <a:r>
              <a:rPr lang="en-GB" dirty="0"/>
              <a:t>bias     = 32</a:t>
            </a:r>
            <a:br>
              <a:rPr lang="en-GB" dirty="0"/>
            </a:br>
            <a:endParaRPr lang="en-GB" dirty="0"/>
          </a:p>
          <a:p>
            <a:r>
              <a:rPr lang="en-GB" dirty="0"/>
              <a:t>total recurrent parameters = 1312</a:t>
            </a:r>
          </a:p>
          <a:p>
            <a:r>
              <a:rPr lang="en-GB" dirty="0"/>
              <a:t>The same 1,312 parameters are reused at all 120 time steps.</a:t>
            </a:r>
          </a:p>
          <a:p>
            <a:endParaRPr lang="en-GB" dirty="0"/>
          </a:p>
          <a:p>
            <a:r>
              <a:rPr lang="en-GB" dirty="0"/>
              <a:t>Sequence length changes computation, but not the number of recurrent parameters.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9670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SimpleRNN parameter dimensions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highlight>
                  <a:srgbClr val="FFFF00"/>
                </a:highlight>
              </a:rPr>
              <a:t>The number of recurrent parameters depends on input and hidden dimensions, not on sequence length.</a:t>
            </a:r>
            <a:endParaRPr lang="en-US" sz="1350" dirty="0">
              <a:highlight>
                <a:srgbClr val="FFFF00"/>
              </a:highlight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5840" y="1920240"/>
            <a:ext cx="1645920" cy="1097280"/>
          </a:xfrm>
          <a:prstGeom prst="roundRect">
            <a:avLst>
              <a:gd name="adj" fmla="val 5833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78992" y="1993392"/>
            <a:ext cx="14996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W_x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[d, H]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1691640"/>
            <a:ext cx="1645920" cy="1554480"/>
          </a:xfrm>
          <a:prstGeom prst="roundRect">
            <a:avLst>
              <a:gd name="adj" fmla="val 4118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730752" y="1764792"/>
            <a:ext cx="14996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W_h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[H, H]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084832"/>
            <a:ext cx="1188720" cy="777240"/>
          </a:xfrm>
          <a:prstGeom prst="roundRect">
            <a:avLst>
              <a:gd name="adj" fmla="val 8235"/>
            </a:avLst>
          </a:prstGeom>
          <a:solidFill>
            <a:srgbClr val="FFEDD5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382512" y="2157984"/>
            <a:ext cx="1042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[H]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0" y="1737360"/>
            <a:ext cx="182880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302752" y="1810512"/>
            <a:ext cx="168249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# parameters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d×H + H×H + 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3886200"/>
            <a:ext cx="9052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0584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d = 8, H = 32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74720" y="416052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547872" y="423367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8×32 = 256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57800" y="4160520"/>
            <a:ext cx="1691640" cy="457200"/>
          </a:xfrm>
          <a:prstGeom prst="roundRect">
            <a:avLst>
              <a:gd name="adj" fmla="val 14000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30952" y="423367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32×32 = 1024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78040" y="4160520"/>
            <a:ext cx="1051560" cy="457200"/>
          </a:xfrm>
          <a:prstGeom prst="roundRect">
            <a:avLst>
              <a:gd name="adj" fmla="val 14000"/>
            </a:avLst>
          </a:prstGeom>
          <a:solidFill>
            <a:srgbClr val="FFEDD5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251192" y="423367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+ 32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58200" y="4160520"/>
            <a:ext cx="141732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531352" y="4233672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1312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020"/>
                </a:solidFill>
                <a:highlight>
                  <a:srgbClr val="FFFF00"/>
                </a:highlight>
              </a:rPr>
              <a:t>The same parameters are reused at every time step, so longer sequences increase computation but not parameter count</a:t>
            </a:r>
            <a:r>
              <a:rPr lang="en-US" sz="1350" dirty="0">
                <a:solidFill>
                  <a:srgbClr val="0B1020"/>
                </a:solidFill>
              </a:rPr>
              <a:t>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17819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481AF5-8008-763C-A5C4-F50F84C27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can the hidden state learn?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5C646D-E672-8CAF-1274-52B021615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Consider a machine-monitoring sequence.</a:t>
            </a:r>
          </a:p>
          <a:p>
            <a:r>
              <a:rPr lang="en-GB" dirty="0"/>
              <a:t>At each time step the model receives:</a:t>
            </a:r>
          </a:p>
          <a:p>
            <a:pPr lvl="1"/>
            <a:r>
              <a:rPr lang="en-GB" dirty="0"/>
              <a:t>temperature</a:t>
            </a:r>
          </a:p>
          <a:p>
            <a:pPr lvl="1"/>
            <a:r>
              <a:rPr lang="en-GB" dirty="0"/>
              <a:t>vibration</a:t>
            </a:r>
          </a:p>
          <a:p>
            <a:pPr lvl="1"/>
            <a:r>
              <a:rPr lang="en-GB" dirty="0"/>
              <a:t>current</a:t>
            </a:r>
          </a:p>
          <a:p>
            <a:pPr lvl="1"/>
            <a:r>
              <a:rPr lang="en-GB" dirty="0"/>
              <a:t>load</a:t>
            </a:r>
          </a:p>
          <a:p>
            <a:r>
              <a:rPr lang="en-GB" dirty="0"/>
              <a:t>As the sequence progresses, the hidden state may learn to represent patterns such as:</a:t>
            </a:r>
          </a:p>
          <a:p>
            <a:pPr lvl="1"/>
            <a:r>
              <a:rPr lang="en-GB" dirty="0"/>
              <a:t>persistent high load; </a:t>
            </a:r>
          </a:p>
          <a:p>
            <a:pPr lvl="1"/>
            <a:r>
              <a:rPr lang="en-GB" dirty="0"/>
              <a:t>gradual temperature increase; </a:t>
            </a:r>
          </a:p>
          <a:p>
            <a:pPr lvl="1"/>
            <a:r>
              <a:rPr lang="en-GB" dirty="0"/>
              <a:t>repeated vibration bursts; </a:t>
            </a:r>
          </a:p>
          <a:p>
            <a:pPr lvl="1"/>
            <a:r>
              <a:rPr lang="en-GB" dirty="0"/>
              <a:t>recent transition between operating regimes.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92605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73690A-FEEB-9D42-E811-3B1E2470D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can the hidden state learn?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66E044-A7A3-924E-02A1-9E518E53F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Contrast with engineered features</a:t>
            </a:r>
          </a:p>
          <a:p>
            <a:r>
              <a:rPr lang="en-GB" dirty="0"/>
              <a:t>In Lecture 3 we might explicitly create:</a:t>
            </a:r>
          </a:p>
          <a:p>
            <a:pPr lvl="1"/>
            <a:r>
              <a:rPr lang="en-GB" dirty="0"/>
              <a:t>temperature slope</a:t>
            </a:r>
          </a:p>
          <a:p>
            <a:pPr lvl="1"/>
            <a:r>
              <a:rPr lang="en-GB" dirty="0"/>
              <a:t>mean vibration</a:t>
            </a:r>
          </a:p>
          <a:p>
            <a:pPr lvl="1"/>
            <a:r>
              <a:rPr lang="en-GB" dirty="0"/>
              <a:t>maximum current</a:t>
            </a:r>
          </a:p>
          <a:p>
            <a:r>
              <a:rPr lang="en-GB" dirty="0"/>
              <a:t>In an RNN, similar useful temporal descriptors may be encoded internally without specifying their exact mathematical form.</a:t>
            </a:r>
          </a:p>
          <a:p>
            <a:endParaRPr lang="en-GB" dirty="0"/>
          </a:p>
          <a:p>
            <a:r>
              <a:rPr lang="en-GB" b="1" dirty="0"/>
              <a:t>This does not guarantee that the model will learn the correct representation.</a:t>
            </a:r>
          </a:p>
          <a:p>
            <a:r>
              <a:rPr lang="en-GB" dirty="0"/>
              <a:t>The representation is determined by:</a:t>
            </a:r>
          </a:p>
          <a:p>
            <a:pPr lvl="1"/>
            <a:r>
              <a:rPr lang="en-GB" dirty="0"/>
              <a:t>training data; </a:t>
            </a:r>
          </a:p>
          <a:p>
            <a:pPr lvl="1"/>
            <a:r>
              <a:rPr lang="en-GB" dirty="0"/>
              <a:t>objective function; </a:t>
            </a:r>
          </a:p>
          <a:p>
            <a:pPr lvl="1"/>
            <a:r>
              <a:rPr lang="en-GB" dirty="0"/>
              <a:t>model capacity; </a:t>
            </a:r>
          </a:p>
          <a:p>
            <a:pPr lvl="1"/>
            <a:r>
              <a:rPr lang="en-GB" dirty="0"/>
              <a:t>optimization. </a:t>
            </a:r>
          </a:p>
          <a:p>
            <a:pPr marL="0" indent="0">
              <a:buNone/>
            </a:pPr>
            <a:endParaRPr lang="en-GB" b="1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5DDE4F7-5240-3844-2802-A351D7F1FAF8}"/>
              </a:ext>
            </a:extLst>
          </p:cNvPr>
          <p:cNvSpPr txBox="1"/>
          <p:nvPr/>
        </p:nvSpPr>
        <p:spPr>
          <a:xfrm>
            <a:off x="6989884" y="5467647"/>
            <a:ext cx="45247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Recurrent learning moves part of the representation-design problem from the engineer to the optimization process</a:t>
            </a:r>
          </a:p>
        </p:txBody>
      </p:sp>
    </p:spTree>
    <p:extLst>
      <p:ext uri="{BB962C8B-B14F-4D97-AF65-F5344CB8AC3E}">
        <p14:creationId xmlns:p14="http://schemas.microsoft.com/office/powerpoint/2010/main" val="32399393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Learned state vs engineered descriptors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75569"/>
                </a:solidFill>
              </a:rPr>
              <a:t>The RNN may learn internal descriptors that play roles similar to manually designed temporal features.</a:t>
            </a:r>
            <a:endParaRPr lang="en-US" sz="1350" b="1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Engineered 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1874520"/>
            <a:ext cx="329184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78992" y="1947672"/>
            <a:ext cx="3145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 slope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2468880"/>
            <a:ext cx="329184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78992" y="2542032"/>
            <a:ext cx="3145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vibration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3063240"/>
            <a:ext cx="329184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78992" y="3136392"/>
            <a:ext cx="3145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current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3657600"/>
            <a:ext cx="3291840" cy="411480"/>
          </a:xfrm>
          <a:prstGeom prst="roundRect">
            <a:avLst>
              <a:gd name="adj" fmla="val 1555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78992" y="3730752"/>
            <a:ext cx="3145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frequency-band energy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F6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state components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0" y="2011680"/>
            <a:ext cx="365760" cy="502920"/>
          </a:xfrm>
          <a:prstGeom prst="roundRect">
            <a:avLst>
              <a:gd name="adj" fmla="val 17500"/>
            </a:avLst>
          </a:prstGeom>
          <a:solidFill>
            <a:srgbClr val="F0FDF4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42432" y="2084832"/>
            <a:ext cx="219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2011680"/>
            <a:ext cx="365760" cy="502920"/>
          </a:xfrm>
          <a:prstGeom prst="roundRect">
            <a:avLst>
              <a:gd name="adj" fmla="val 17500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245352" y="2084832"/>
            <a:ext cx="219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2011680"/>
            <a:ext cx="365760" cy="502920"/>
          </a:xfrm>
          <a:prstGeom prst="roundRect">
            <a:avLst>
              <a:gd name="adj" fmla="val 17500"/>
            </a:avLst>
          </a:prstGeom>
          <a:solidFill>
            <a:srgbClr val="F0FDF4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748272" y="2084832"/>
            <a:ext cx="219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78040" y="2011680"/>
            <a:ext cx="365760" cy="502920"/>
          </a:xfrm>
          <a:prstGeom prst="roundRect">
            <a:avLst>
              <a:gd name="adj" fmla="val 17500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251192" y="2084832"/>
            <a:ext cx="219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80960" y="2011680"/>
            <a:ext cx="365760" cy="502920"/>
          </a:xfrm>
          <a:prstGeom prst="roundRect">
            <a:avLst>
              <a:gd name="adj" fmla="val 17500"/>
            </a:avLst>
          </a:prstGeom>
          <a:solidFill>
            <a:srgbClr val="F0FDF4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754112" y="2084832"/>
            <a:ext cx="219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83880" y="2011680"/>
            <a:ext cx="365760" cy="502920"/>
          </a:xfrm>
          <a:prstGeom prst="roundRect">
            <a:avLst>
              <a:gd name="adj" fmla="val 17500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257032" y="2084832"/>
            <a:ext cx="219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686800" y="2011680"/>
            <a:ext cx="365760" cy="502920"/>
          </a:xfrm>
          <a:prstGeom prst="roundRect">
            <a:avLst>
              <a:gd name="adj" fmla="val 17500"/>
            </a:avLst>
          </a:prstGeom>
          <a:solidFill>
            <a:srgbClr val="F0FDF4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759952" y="2084832"/>
            <a:ext cx="219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89720" y="2011680"/>
            <a:ext cx="365760" cy="502920"/>
          </a:xfrm>
          <a:prstGeom prst="roundRect">
            <a:avLst>
              <a:gd name="adj" fmla="val 17500"/>
            </a:avLst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9262872" y="2084832"/>
            <a:ext cx="219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0" y="2971800"/>
            <a:ext cx="384048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742432" y="3044952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high load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3474720"/>
            <a:ext cx="384048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742432" y="3547872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gradual increase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0" y="3977640"/>
            <a:ext cx="384048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742432" y="4050792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bursts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0" y="4480560"/>
            <a:ext cx="384048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5742432" y="4553712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regime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0560" y="2880360"/>
            <a:ext cx="914400" cy="0"/>
          </a:xfrm>
          <a:prstGeom prst="line">
            <a:avLst/>
          </a:prstGeom>
          <a:noFill/>
          <a:ln w="1651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343400" y="30906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roles, learned from data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020"/>
                </a:solidFill>
                <a:highlight>
                  <a:srgbClr val="FFFF00"/>
                </a:highlight>
              </a:rPr>
              <a:t>The learned representation is useful only if the data and training objective provide the right learning signal.</a:t>
            </a:r>
            <a:endParaRPr lang="en-US" sz="135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127835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74DE6B-B525-4ADB-7C64-AC5EF9B0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SimpleRNN</a:t>
            </a:r>
            <a:r>
              <a:rPr lang="en-GB" dirty="0"/>
              <a:t> creates a chain of temporal dependence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FAD227-6C87-DD03-77AA-7C9D801CF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/>
              <a:t>Because:</a:t>
            </a:r>
          </a:p>
          <a:p>
            <a:r>
              <a:rPr lang="en-GB" dirty="0"/>
              <a:t>h[t] depends on h[t−1]</a:t>
            </a:r>
          </a:p>
          <a:p>
            <a:r>
              <a:rPr lang="en-GB" dirty="0"/>
              <a:t>and:</a:t>
            </a:r>
          </a:p>
          <a:p>
            <a:r>
              <a:rPr lang="en-GB" dirty="0"/>
              <a:t>h[t−1] depends on h[t−2]</a:t>
            </a:r>
          </a:p>
          <a:p>
            <a:r>
              <a:rPr lang="en-GB" dirty="0"/>
              <a:t>the current state indirectly depends on all earlier inputs:</a:t>
            </a:r>
          </a:p>
          <a:p>
            <a:r>
              <a:rPr lang="en-GB" dirty="0"/>
              <a:t>h[t]</a:t>
            </a:r>
          </a:p>
          <a:p>
            <a:r>
              <a:rPr lang="en-GB" dirty="0"/>
              <a:t>← x[t]</a:t>
            </a:r>
          </a:p>
          <a:p>
            <a:r>
              <a:rPr lang="en-GB" dirty="0"/>
              <a:t>← h[t−1]</a:t>
            </a:r>
          </a:p>
          <a:p>
            <a:r>
              <a:rPr lang="en-GB" dirty="0"/>
              <a:t>← x[t−1]</a:t>
            </a:r>
          </a:p>
          <a:p>
            <a:r>
              <a:rPr lang="en-GB" dirty="0"/>
              <a:t>← h[t−2]</a:t>
            </a:r>
          </a:p>
          <a:p>
            <a:r>
              <a:rPr lang="en-GB" dirty="0"/>
              <a:t>← ...</a:t>
            </a:r>
          </a:p>
          <a:p>
            <a:r>
              <a:rPr lang="en-GB" b="1" dirty="0"/>
              <a:t>Potential advantage</a:t>
            </a:r>
          </a:p>
          <a:p>
            <a:r>
              <a:rPr lang="en-GB" dirty="0"/>
              <a:t>The model can, in principle, use information from far into the past.</a:t>
            </a:r>
          </a:p>
          <a:p>
            <a:r>
              <a:rPr lang="en-GB" b="1" dirty="0"/>
              <a:t>But there is an important consequence</a:t>
            </a:r>
          </a:p>
          <a:p>
            <a:r>
              <a:rPr lang="en-GB" dirty="0"/>
              <a:t>Information and training signals must pass through a long sequence of recurrent transformations.</a:t>
            </a:r>
          </a:p>
          <a:p>
            <a:r>
              <a:rPr lang="en-GB" dirty="0"/>
              <a:t>For long sequences, this can make learning difficult.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32736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84B91A"/>
          </a:solidFill>
          <a:ln w="12700">
            <a:solidFill>
              <a:srgbClr val="84B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chain of temporal dependence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8686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The current state depends on earlier states, which depend on earlier inputs.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621792" cy="621792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2843784"/>
            <a:ext cx="621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h[1]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86968" y="1691640"/>
            <a:ext cx="676656" cy="384048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60120" y="176479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x[1]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25296" y="2093976"/>
            <a:ext cx="0" cy="74066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536192" y="3145536"/>
            <a:ext cx="612648" cy="0"/>
          </a:xfrm>
          <a:prstGeom prst="line">
            <a:avLst/>
          </a:prstGeom>
          <a:noFill/>
          <a:ln w="1524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148840" y="2834640"/>
            <a:ext cx="621792" cy="621792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148840" y="2843784"/>
            <a:ext cx="621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h[2]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21408" y="1691640"/>
            <a:ext cx="676656" cy="384048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194560" y="176479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x[2]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59736" y="2093976"/>
            <a:ext cx="0" cy="74066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770632" y="3145536"/>
            <a:ext cx="612648" cy="0"/>
          </a:xfrm>
          <a:prstGeom prst="line">
            <a:avLst/>
          </a:prstGeom>
          <a:noFill/>
          <a:ln w="1524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383280" y="2834640"/>
            <a:ext cx="621792" cy="621792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383280" y="2843784"/>
            <a:ext cx="621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h[3]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55848" y="1691640"/>
            <a:ext cx="676656" cy="384048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429000" y="176479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x[3]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94176" y="2093976"/>
            <a:ext cx="0" cy="74066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005072" y="3145536"/>
            <a:ext cx="612648" cy="0"/>
          </a:xfrm>
          <a:prstGeom prst="line">
            <a:avLst/>
          </a:prstGeom>
          <a:noFill/>
          <a:ln w="1524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617720" y="2834640"/>
            <a:ext cx="621792" cy="621792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617720" y="2843784"/>
            <a:ext cx="621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h[4]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90288" y="1691640"/>
            <a:ext cx="676656" cy="384048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663440" y="176479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x[4]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28616" y="2093976"/>
            <a:ext cx="0" cy="74066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239512" y="3145536"/>
            <a:ext cx="612648" cy="0"/>
          </a:xfrm>
          <a:prstGeom prst="line">
            <a:avLst/>
          </a:prstGeom>
          <a:noFill/>
          <a:ln w="1524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852160" y="2834640"/>
            <a:ext cx="621792" cy="621792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852160" y="2843784"/>
            <a:ext cx="621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h[5]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24728" y="1691640"/>
            <a:ext cx="676656" cy="384048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897880" y="176479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x[5]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63056" y="2093976"/>
            <a:ext cx="0" cy="74066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473952" y="3145536"/>
            <a:ext cx="612648" cy="0"/>
          </a:xfrm>
          <a:prstGeom prst="line">
            <a:avLst/>
          </a:prstGeom>
          <a:noFill/>
          <a:ln w="1524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086600" y="2834640"/>
            <a:ext cx="621792" cy="621792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7086600" y="2843784"/>
            <a:ext cx="621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h[6]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059168" y="1691640"/>
            <a:ext cx="676656" cy="384048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7132320" y="176479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x[6]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97496" y="2093976"/>
            <a:ext cx="0" cy="74066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7708392" y="3145536"/>
            <a:ext cx="612648" cy="0"/>
          </a:xfrm>
          <a:prstGeom prst="line">
            <a:avLst/>
          </a:prstGeom>
          <a:noFill/>
          <a:ln w="15240">
            <a:solidFill>
              <a:srgbClr val="3F62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8321040" y="2834640"/>
            <a:ext cx="621792" cy="621792"/>
          </a:xfrm>
          <a:prstGeom prst="ellipse">
            <a:avLst/>
          </a:prstGeom>
          <a:solidFill>
            <a:srgbClr val="DCFCE7"/>
          </a:solidFill>
          <a:ln w="1524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8321040" y="2843784"/>
            <a:ext cx="621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h[7]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93608" y="1691640"/>
            <a:ext cx="676656" cy="384048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8366760" y="176479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x[7]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631936" y="2093976"/>
            <a:ext cx="0" cy="74066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9098280" y="2834640"/>
            <a:ext cx="731520" cy="621792"/>
          </a:xfrm>
          <a:prstGeom prst="roundRect">
            <a:avLst>
              <a:gd name="adj" fmla="val 10294"/>
            </a:avLst>
          </a:prstGeom>
          <a:solidFill>
            <a:srgbClr val="FFEDD5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9171432" y="2907792"/>
            <a:ext cx="585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ŷ[t]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942832" y="3145536"/>
            <a:ext cx="155448" cy="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9464040" y="4251960"/>
            <a:ext cx="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9464040" y="4251960"/>
            <a:ext cx="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1901952" y="4096511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2626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training signal for early steps must travel through many recurrent transformations</a:t>
            </a:r>
            <a:endParaRPr lang="en-US" sz="1250" dirty="0">
              <a:highlight>
                <a:srgbClr val="FFFF00"/>
              </a:highlight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85800" y="59436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914400" y="6099048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020"/>
                </a:solidFill>
              </a:rPr>
              <a:t>This chain is the basis of recurrent memory and also the source of long-sequence training difficulties.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9043742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77A2F6-FFD3-2736-211A-48F83583A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Next questions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B4947D-93CB-1F8D-810E-D94B0BAD5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How do we train the shared recurrent parameters? </a:t>
            </a:r>
          </a:p>
          <a:p>
            <a:pPr lvl="0"/>
            <a:r>
              <a:rPr lang="en-GB" dirty="0"/>
              <a:t>How does the prediction error propagate to earlier time steps? </a:t>
            </a:r>
          </a:p>
          <a:p>
            <a:pPr lvl="0"/>
            <a:r>
              <a:rPr lang="en-GB" dirty="0"/>
              <a:t>Why does this propagation become unstable for long sequences? </a:t>
            </a:r>
          </a:p>
          <a:p>
            <a:endParaRPr lang="en-GB" dirty="0"/>
          </a:p>
          <a:p>
            <a:r>
              <a:rPr lang="en-GB" dirty="0"/>
              <a:t>These questions lead to:</a:t>
            </a:r>
          </a:p>
          <a:p>
            <a:r>
              <a:rPr lang="en-GB" b="1" dirty="0"/>
              <a:t>Backpropagation Through Time</a:t>
            </a:r>
            <a:r>
              <a:rPr lang="en-GB" dirty="0"/>
              <a:t> and the </a:t>
            </a:r>
            <a:r>
              <a:rPr lang="en-GB" b="1" dirty="0"/>
              <a:t>vanishing/exploding gradient problem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43218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1DC5C0-F851-CD94-6265-EC400999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4.C — Recurrent Output Structures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2BBDEF-35EB-7B35-BCE6-5BD3E75F0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2423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0E0A4D-5404-79F3-DF98-13041FDC7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recurrent layer can produce different output structures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6A3E35-D5F2-E34D-3DE3-1F498A870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After processing a sequence, a recurrent layer can provide:</a:t>
            </a:r>
          </a:p>
          <a:p>
            <a:pPr lvl="1"/>
            <a:r>
              <a:rPr lang="en-GB" dirty="0"/>
              <a:t>only the final hidden state; </a:t>
            </a:r>
          </a:p>
          <a:p>
            <a:pPr lvl="1"/>
            <a:r>
              <a:rPr lang="en-GB" dirty="0"/>
              <a:t>the hidden state at every time step. </a:t>
            </a:r>
          </a:p>
          <a:p>
            <a:r>
              <a:rPr lang="en-GB" dirty="0"/>
              <a:t>These two possibilities support different prediction problems.</a:t>
            </a:r>
          </a:p>
          <a:p>
            <a:r>
              <a:rPr lang="en-GB" b="1" dirty="0"/>
              <a:t>1. Final-state output</a:t>
            </a:r>
          </a:p>
          <a:p>
            <a:r>
              <a:rPr lang="en-GB" dirty="0"/>
              <a:t>x[1] → h[1]</a:t>
            </a:r>
          </a:p>
          <a:p>
            <a:r>
              <a:rPr lang="en-GB" dirty="0"/>
              <a:t>x[2] → h[2]</a:t>
            </a:r>
          </a:p>
          <a:p>
            <a:r>
              <a:rPr lang="en-GB" dirty="0"/>
              <a:t>...</a:t>
            </a:r>
          </a:p>
          <a:p>
            <a:r>
              <a:rPr lang="en-GB" dirty="0"/>
              <a:t>x[L] → h[L]</a:t>
            </a:r>
          </a:p>
          <a:p>
            <a:r>
              <a:rPr lang="en-GB" dirty="0"/>
              <a:t>          ↓</a:t>
            </a:r>
          </a:p>
          <a:p>
            <a:r>
              <a:rPr lang="en-GB" dirty="0"/>
              <a:t>      prediction </a:t>
            </a:r>
          </a:p>
          <a:p>
            <a:pPr lvl="1"/>
            <a:r>
              <a:rPr lang="en-GB" dirty="0"/>
              <a:t>only h[L] is passed to the output layer.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47A0431-F6B2-9F3F-D46A-EBBDF4315817}"/>
              </a:ext>
            </a:extLst>
          </p:cNvPr>
          <p:cNvSpPr txBox="1"/>
          <p:nvPr/>
        </p:nvSpPr>
        <p:spPr>
          <a:xfrm>
            <a:off x="6743699" y="4647723"/>
            <a:ext cx="45100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Typical use:</a:t>
            </a:r>
          </a:p>
          <a:p>
            <a:pPr lvl="0"/>
            <a:r>
              <a:rPr lang="en-GB" sz="1800" dirty="0"/>
              <a:t>sequence classification; </a:t>
            </a:r>
          </a:p>
          <a:p>
            <a:pPr lvl="0"/>
            <a:r>
              <a:rPr lang="en-GB" sz="1800" dirty="0"/>
              <a:t>regression from a sequence; </a:t>
            </a:r>
          </a:p>
          <a:p>
            <a:pPr lvl="0"/>
            <a:r>
              <a:rPr lang="en-GB" sz="1800" dirty="0"/>
              <a:t>one-step forecasting; </a:t>
            </a:r>
          </a:p>
          <a:p>
            <a:pPr lvl="0"/>
            <a:r>
              <a:rPr lang="en-GB" sz="1800" dirty="0"/>
              <a:t>direct multi-horizon forecasting. </a:t>
            </a:r>
          </a:p>
        </p:txBody>
      </p:sp>
    </p:spTree>
    <p:extLst>
      <p:ext uri="{BB962C8B-B14F-4D97-AF65-F5344CB8AC3E}">
        <p14:creationId xmlns:p14="http://schemas.microsoft.com/office/powerpoint/2010/main" val="3554220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34C0D1-15BE-1D14-2291-4E946BE4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recurrent layer can produce different output structures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B90279-11A4-F572-EC26-B8706EE9D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2. Full-sequence output</a:t>
            </a:r>
          </a:p>
          <a:p>
            <a:r>
              <a:rPr lang="en-GB" dirty="0"/>
              <a:t>h[1], h[2], ..., h[L]</a:t>
            </a:r>
          </a:p>
          <a:p>
            <a:r>
              <a:rPr lang="en-GB" dirty="0"/>
              <a:t> ↓     ↓           ↓</a:t>
            </a:r>
          </a:p>
          <a:p>
            <a:r>
              <a:rPr lang="en-GB" dirty="0"/>
              <a:t>out1  out2        </a:t>
            </a:r>
            <a:r>
              <a:rPr lang="en-GB" dirty="0" err="1"/>
              <a:t>outL</a:t>
            </a:r>
            <a:endParaRPr lang="en-GB" dirty="0"/>
          </a:p>
          <a:p>
            <a:r>
              <a:rPr lang="en-GB" dirty="0"/>
              <a:t>Typical use:</a:t>
            </a:r>
          </a:p>
          <a:p>
            <a:pPr lvl="1"/>
            <a:r>
              <a:rPr lang="en-GB" dirty="0"/>
              <a:t>sequence labelling; </a:t>
            </a:r>
          </a:p>
          <a:p>
            <a:pPr lvl="1"/>
            <a:r>
              <a:rPr lang="en-GB" dirty="0"/>
              <a:t>state estimation; </a:t>
            </a:r>
          </a:p>
          <a:p>
            <a:pPr lvl="1"/>
            <a:r>
              <a:rPr lang="en-GB" dirty="0"/>
              <a:t>anomaly probability at every time step. </a:t>
            </a:r>
          </a:p>
          <a:p>
            <a:endParaRPr lang="en-GB" dirty="0"/>
          </a:p>
          <a:p>
            <a:r>
              <a:rPr lang="en-GB" dirty="0"/>
              <a:t>The recurrent state evolution may be the same, while the way hidden states are used depends on the prediction task.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35223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Final-state output vs full-sequence output</a:t>
            </a:r>
            <a:endParaRPr lang="en-US" sz="2300" dirty="0">
              <a:highlight>
                <a:srgbClr val="FFFF00"/>
              </a:highlight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recurrent state evolution can support different target structures.</a:t>
            </a:r>
            <a:endParaRPr lang="en-US" sz="1050" b="1" dirty="0"/>
          </a:p>
        </p:txBody>
      </p:sp>
      <p:sp>
        <p:nvSpPr>
          <p:cNvPr id="5" name="Text 3"/>
          <p:cNvSpPr/>
          <p:nvPr/>
        </p:nvSpPr>
        <p:spPr>
          <a:xfrm>
            <a:off x="12344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Final-state output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Full-sequence output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69264" y="163677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x[1]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2176272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41832" y="22494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h[1]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1106424" y="1828800"/>
            <a:ext cx="0" cy="3291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28800" y="160020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883664" y="163677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x[2]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0" y="2176272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856232" y="22494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h[2]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1298448" y="2322576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020824" y="1828800"/>
            <a:ext cx="0" cy="3291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743200" y="160020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798064" y="163677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x[3]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0" y="2176272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770632" y="22494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h[3]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2212848" y="2322576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935224" y="1828800"/>
            <a:ext cx="0" cy="3291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657600" y="160020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712464" y="163677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x[4]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0" y="2176272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685032" y="22494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h[4]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3127248" y="2322576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849624" y="1828800"/>
            <a:ext cx="0" cy="3291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572000" y="160020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626864" y="163677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x[5]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0" y="2176272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599432" y="22494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h[5]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4041648" y="2322576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764024" y="1828800"/>
            <a:ext cx="0" cy="3291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4956048" y="2322576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5486400" y="219456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5541264" y="223113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343400" y="2697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only h[L] is used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400800" y="160020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455664" y="163677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x[1]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0" y="2176272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428232" y="22494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h[1]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6364224" y="288036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419088" y="291693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ŷ[1]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592824" y="1828800"/>
            <a:ext cx="0" cy="3291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6592824" y="2468880"/>
            <a:ext cx="0" cy="402336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7315200" y="160020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7370064" y="163677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x[2]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315200" y="2176272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7342632" y="22494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h[2]</a:t>
            </a:r>
            <a:endParaRPr lang="en-US" sz="730" dirty="0"/>
          </a:p>
        </p:txBody>
      </p:sp>
      <p:sp>
        <p:nvSpPr>
          <p:cNvPr id="52" name="Shape 50"/>
          <p:cNvSpPr/>
          <p:nvPr/>
        </p:nvSpPr>
        <p:spPr>
          <a:xfrm>
            <a:off x="7278624" y="288036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7333488" y="291693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ŷ[2]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784848" y="2322576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7507224" y="1828800"/>
            <a:ext cx="0" cy="3291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7507224" y="2468880"/>
            <a:ext cx="0" cy="402336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8229600" y="160020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8284464" y="163677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x[3]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229600" y="2176272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8257032" y="22494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h[3]</a:t>
            </a:r>
            <a:endParaRPr lang="en-US" sz="730" dirty="0"/>
          </a:p>
        </p:txBody>
      </p:sp>
      <p:sp>
        <p:nvSpPr>
          <p:cNvPr id="61" name="Shape 59"/>
          <p:cNvSpPr/>
          <p:nvPr/>
        </p:nvSpPr>
        <p:spPr>
          <a:xfrm>
            <a:off x="8193024" y="288036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8247888" y="291693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ŷ[3]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99248" y="2322576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8421624" y="1828800"/>
            <a:ext cx="0" cy="3291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8421624" y="2468880"/>
            <a:ext cx="0" cy="402336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9144000" y="160020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9198864" y="163677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x[4]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144000" y="2176272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9171432" y="22494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h[4]</a:t>
            </a:r>
            <a:endParaRPr lang="en-US" sz="730" dirty="0"/>
          </a:p>
        </p:txBody>
      </p:sp>
      <p:sp>
        <p:nvSpPr>
          <p:cNvPr id="70" name="Shape 68"/>
          <p:cNvSpPr/>
          <p:nvPr/>
        </p:nvSpPr>
        <p:spPr>
          <a:xfrm>
            <a:off x="9107424" y="288036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9162288" y="291693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ŷ[4]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613648" y="2322576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9336024" y="1828800"/>
            <a:ext cx="0" cy="3291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9336024" y="2468880"/>
            <a:ext cx="0" cy="402336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10058400" y="160020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/>
          <p:nvPr/>
        </p:nvSpPr>
        <p:spPr>
          <a:xfrm>
            <a:off x="10113264" y="163677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x[5]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0058400" y="2176272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10085832" y="22494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h[5]</a:t>
            </a:r>
            <a:endParaRPr lang="en-US" sz="730" dirty="0"/>
          </a:p>
        </p:txBody>
      </p:sp>
      <p:sp>
        <p:nvSpPr>
          <p:cNvPr id="79" name="Shape 77"/>
          <p:cNvSpPr/>
          <p:nvPr/>
        </p:nvSpPr>
        <p:spPr>
          <a:xfrm>
            <a:off x="10021824" y="288036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10076688" y="291693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ŷ[5]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9528048" y="2322576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10250424" y="1828800"/>
            <a:ext cx="0" cy="3291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10250424" y="2468880"/>
            <a:ext cx="0" cy="402336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82"/>
          <p:cNvSpPr/>
          <p:nvPr/>
        </p:nvSpPr>
        <p:spPr>
          <a:xfrm>
            <a:off x="7132320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all hidden states are mapped to outputs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1188720" y="3931920"/>
            <a:ext cx="3840480" cy="109728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4"/>
          <p:cNvSpPr/>
          <p:nvPr/>
        </p:nvSpPr>
        <p:spPr>
          <a:xfrm>
            <a:off x="1243584" y="3968496"/>
            <a:ext cx="37307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Typical tasks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• sequence classification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• regression from sequence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• one-step or multi-horizon forecasting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720840" y="3931920"/>
            <a:ext cx="3474720" cy="1097280"/>
          </a:xfrm>
          <a:prstGeom prst="roundRect">
            <a:avLst>
              <a:gd name="adj" fmla="val 333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/>
          <p:nvPr/>
        </p:nvSpPr>
        <p:spPr>
          <a:xfrm>
            <a:off x="6775704" y="3968496"/>
            <a:ext cx="33649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Typical tasks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• sequence labelling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• state estimation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• anomaly probability over time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02920" y="6199632"/>
            <a:ext cx="10195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8"/>
          <p:cNvSpPr/>
          <p:nvPr/>
        </p:nvSpPr>
        <p:spPr>
          <a:xfrm>
            <a:off x="676656" y="6318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The recurrent computation may be the same; the output structure changes according to the task</a:t>
            </a:r>
            <a:r>
              <a:rPr lang="en-US" sz="800" dirty="0">
                <a:solidFill>
                  <a:srgbClr val="111827"/>
                </a:solidFill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8ECA3E-9124-BB49-722A-66409C1C1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Sequence-to-vector: one prediction from a sequence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D94CEC-7017-06CA-9767-DE3693F97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In a sequence-to-vector problem, the complete input sequence produces one output.</a:t>
            </a:r>
          </a:p>
          <a:p>
            <a:r>
              <a:rPr lang="en-GB" dirty="0"/>
              <a:t>[x[1], x[2], ..., x[L]]</a:t>
            </a:r>
          </a:p>
          <a:p>
            <a:r>
              <a:rPr lang="en-GB" dirty="0"/>
              <a:t>             ↓</a:t>
            </a:r>
          </a:p>
          <a:p>
            <a:r>
              <a:rPr lang="en-GB" dirty="0"/>
              <a:t>        recurrent layer</a:t>
            </a:r>
          </a:p>
          <a:p>
            <a:r>
              <a:rPr lang="en-GB" dirty="0"/>
              <a:t>             ↓</a:t>
            </a:r>
          </a:p>
          <a:p>
            <a:r>
              <a:rPr lang="en-GB" dirty="0"/>
              <a:t>            h[L]</a:t>
            </a:r>
          </a:p>
          <a:p>
            <a:r>
              <a:rPr lang="en-GB" dirty="0"/>
              <a:t>             ↓</a:t>
            </a:r>
          </a:p>
          <a:p>
            <a:r>
              <a:rPr lang="en-GB" dirty="0"/>
              <a:t>        output layer</a:t>
            </a:r>
          </a:p>
          <a:p>
            <a:r>
              <a:rPr lang="en-GB" dirty="0"/>
              <a:t>             ↓</a:t>
            </a:r>
          </a:p>
          <a:p>
            <a:r>
              <a:rPr lang="en-GB" dirty="0"/>
              <a:t>          </a:t>
            </a:r>
            <a:r>
              <a:rPr lang="en-GB" dirty="0" err="1"/>
              <a:t>y_hat</a:t>
            </a:r>
            <a:endParaRPr lang="en-GB" dirty="0"/>
          </a:p>
          <a:p>
            <a:r>
              <a:rPr lang="en-GB" b="1" dirty="0"/>
              <a:t>Examples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75948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030CB43-9923-7C00-F533-279EB7885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Sequence-to-vector: one prediction from a sequence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C4565E-1A3C-C24E-4665-C6D677F5B3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Classification</a:t>
            </a:r>
          </a:p>
          <a:p>
            <a:r>
              <a:rPr lang="en-GB" dirty="0"/>
              <a:t>Input: one machine operating cycle. </a:t>
            </a:r>
          </a:p>
          <a:p>
            <a:r>
              <a:rPr lang="en-GB" dirty="0"/>
              <a:t>Output:</a:t>
            </a:r>
          </a:p>
          <a:p>
            <a:pPr lvl="1"/>
            <a:r>
              <a:rPr lang="en-GB" dirty="0"/>
              <a:t>P(normal)</a:t>
            </a:r>
          </a:p>
          <a:p>
            <a:pPr lvl="1"/>
            <a:r>
              <a:rPr lang="en-GB" dirty="0"/>
              <a:t>P(imbalance)</a:t>
            </a:r>
          </a:p>
          <a:p>
            <a:pPr lvl="1"/>
            <a:r>
              <a:rPr lang="en-GB" dirty="0"/>
              <a:t>P(bearing fault)</a:t>
            </a:r>
          </a:p>
          <a:p>
            <a:endParaRPr lang="en-GB" dirty="0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9E9C71B7-8E0B-381E-1C19-6EF0FA5FD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282880" cy="3880773"/>
          </a:xfrm>
        </p:spPr>
        <p:txBody>
          <a:bodyPr>
            <a:normAutofit/>
          </a:bodyPr>
          <a:lstStyle/>
          <a:p>
            <a:r>
              <a:rPr lang="en-GB" b="1" dirty="0"/>
              <a:t>Regression</a:t>
            </a:r>
          </a:p>
          <a:p>
            <a:r>
              <a:rPr lang="en-GB" dirty="0"/>
              <a:t>Input: sensor history over the previous 60 seconds. </a:t>
            </a:r>
          </a:p>
          <a:p>
            <a:r>
              <a:rPr lang="en-GB" dirty="0"/>
              <a:t>Output: estimated product quality</a:t>
            </a:r>
          </a:p>
          <a:p>
            <a:r>
              <a:rPr lang="en-GB" b="1" dirty="0"/>
              <a:t>One-step forecasting</a:t>
            </a:r>
          </a:p>
          <a:p>
            <a:r>
              <a:rPr lang="en-GB" dirty="0"/>
              <a:t>Input: [x[t−L+1], ..., x[t]]</a:t>
            </a:r>
          </a:p>
          <a:p>
            <a:r>
              <a:rPr lang="en-GB" dirty="0"/>
              <a:t>Output: </a:t>
            </a:r>
            <a:r>
              <a:rPr lang="en-GB" dirty="0" err="1"/>
              <a:t>y_hat</a:t>
            </a:r>
            <a:r>
              <a:rPr lang="en-GB" dirty="0"/>
              <a:t>[t+1]</a:t>
            </a:r>
          </a:p>
          <a:p>
            <a:endParaRPr lang="en-GB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585C461-163F-EC8D-0FA0-FEE431F23186}"/>
              </a:ext>
            </a:extLst>
          </p:cNvPr>
          <p:cNvSpPr txBox="1"/>
          <p:nvPr/>
        </p:nvSpPr>
        <p:spPr>
          <a:xfrm>
            <a:off x="3833813" y="4927601"/>
            <a:ext cx="61055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Tensor shapes</a:t>
            </a:r>
          </a:p>
          <a:p>
            <a:r>
              <a:rPr lang="en-GB" sz="1800" dirty="0"/>
              <a:t>Input: [N, L, d]</a:t>
            </a:r>
          </a:p>
          <a:p>
            <a:r>
              <a:rPr lang="en-GB" sz="1800" dirty="0"/>
              <a:t>Final recurrent representation: [N, H]</a:t>
            </a:r>
          </a:p>
          <a:p>
            <a:r>
              <a:rPr lang="en-GB" sz="1800" dirty="0"/>
              <a:t>If the target is scalar regression: output shape = [N, 1]</a:t>
            </a:r>
          </a:p>
          <a:p>
            <a:r>
              <a:rPr lang="en-GB" sz="1800" dirty="0"/>
              <a:t>For K classes: output shape = [N, K]</a:t>
            </a:r>
          </a:p>
        </p:txBody>
      </p:sp>
    </p:spTree>
    <p:extLst>
      <p:ext uri="{BB962C8B-B14F-4D97-AF65-F5344CB8AC3E}">
        <p14:creationId xmlns:p14="http://schemas.microsoft.com/office/powerpoint/2010/main" val="36439265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Sequence-to-vector recurrent model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temporal input is transformed into one fixed-size prediction.</a:t>
            </a:r>
            <a:endParaRPr lang="en-US" sz="900" b="1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9264" y="195681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x[1]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41832" y="26791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h[1]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106424" y="2148840"/>
            <a:ext cx="0" cy="44805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828800" y="192024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883664" y="195681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x[2]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0" y="260604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856232" y="26791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h[2]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1298448" y="275234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020824" y="2148840"/>
            <a:ext cx="0" cy="44805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743200" y="192024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798064" y="195681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x[3]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0" y="260604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770632" y="26791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h[3]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2212848" y="275234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935224" y="2148840"/>
            <a:ext cx="0" cy="44805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657600" y="192024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712464" y="195681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x[4]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0" y="260604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685032" y="26791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h[4]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3127248" y="275234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849624" y="2148840"/>
            <a:ext cx="0" cy="44805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572000" y="192024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626864" y="195681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x[5]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0" y="260604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599432" y="26791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h[5]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4041648" y="275234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764024" y="2148840"/>
            <a:ext cx="0" cy="44805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5486400" y="192024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541264" y="195681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x[6]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0" y="260604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513832" y="26791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h[6]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4956048" y="275234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5678424" y="2148840"/>
            <a:ext cx="0" cy="44805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5870448" y="2752344"/>
            <a:ext cx="7589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6629400" y="2450592"/>
            <a:ext cx="1234440" cy="59436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684264" y="2487168"/>
            <a:ext cx="11247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final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state h[L]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863840" y="2752344"/>
            <a:ext cx="777240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8641080" y="2450592"/>
            <a:ext cx="1325880" cy="594360"/>
          </a:xfrm>
          <a:prstGeom prst="roundRect">
            <a:avLst>
              <a:gd name="adj" fmla="val 6154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8695944" y="2487168"/>
            <a:ext cx="1216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output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layer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966960" y="2752344"/>
            <a:ext cx="777240" cy="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10744200" y="2633472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10799064" y="2670048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" y="4069080"/>
            <a:ext cx="2423160" cy="777240"/>
          </a:xfrm>
          <a:prstGeom prst="roundRect">
            <a:avLst>
              <a:gd name="adj" fmla="val 470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969264" y="4105656"/>
            <a:ext cx="2313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classification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class probabilities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749040" y="4069080"/>
            <a:ext cx="2423160" cy="777240"/>
          </a:xfrm>
          <a:prstGeom prst="roundRect">
            <a:avLst>
              <a:gd name="adj" fmla="val 4706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3803904" y="4105656"/>
            <a:ext cx="2313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regression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scalar or vector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46520" y="4069080"/>
            <a:ext cx="2423160" cy="777240"/>
          </a:xfrm>
          <a:prstGeom prst="roundRect">
            <a:avLst>
              <a:gd name="adj" fmla="val 4706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6501384" y="4105656"/>
            <a:ext cx="2313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forecasting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future value/vector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098280" y="4069080"/>
            <a:ext cx="1737360" cy="77724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9153144" y="4105656"/>
            <a:ext cx="16276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Input [N,L,d]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Output [N,q]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02920" y="6199632"/>
            <a:ext cx="10195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676656" y="6318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The final recurrent representation is treated as a learned summary of the input sequence.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7A2696-FC12-91E0-C996-1FF9C50C3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the final hidden state a summary of the sequence?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596964-F7DC-8981-560D-BEE26FB45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184035" cy="4240211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For sequence-to-vector tasks, the final hidden state: h[L] is expected to contain information useful for the final prediction.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x[1]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h[1]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x[2]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h[2]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...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x[L]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h[L] → prediction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D8F3DD1-7A42-BAD9-AA0B-5833DE688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69" y="2160589"/>
            <a:ext cx="6635305" cy="4459286"/>
          </a:xfrm>
        </p:spPr>
        <p:txBody>
          <a:bodyPr>
            <a:normAutofit fontScale="62500" lnSpcReduction="20000"/>
          </a:bodyPr>
          <a:lstStyle/>
          <a:p>
            <a:r>
              <a:rPr lang="en-GB" b="1" dirty="0"/>
              <a:t>Interpretation</a:t>
            </a:r>
          </a:p>
          <a:p>
            <a:r>
              <a:rPr lang="en-GB" dirty="0"/>
              <a:t>h[L] may represent information accumulated from: x[1], x[2], ..., x[L]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For machine-condition classification, h[L] may encode evidence about:</a:t>
            </a:r>
          </a:p>
          <a:p>
            <a:pPr lvl="1"/>
            <a:r>
              <a:rPr lang="en-GB" dirty="0"/>
              <a:t>earlier vibration bursts; </a:t>
            </a:r>
          </a:p>
          <a:p>
            <a:pPr lvl="1"/>
            <a:r>
              <a:rPr lang="en-GB" dirty="0"/>
              <a:t>recent temperature trend; </a:t>
            </a:r>
          </a:p>
          <a:p>
            <a:pPr lvl="1"/>
            <a:r>
              <a:rPr lang="en-GB" dirty="0"/>
              <a:t>transitions between operating regimes; </a:t>
            </a:r>
          </a:p>
          <a:p>
            <a:pPr lvl="1"/>
            <a:r>
              <a:rPr lang="en-GB" dirty="0"/>
              <a:t>persistent abnormal behaviour. 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All information needed for the prediction must effectively survive until the final state.</a:t>
            </a:r>
          </a:p>
          <a:p>
            <a:r>
              <a:rPr lang="en-GB" b="1" dirty="0"/>
              <a:t>For very long sequences, this can be difficult.</a:t>
            </a:r>
          </a:p>
          <a:p>
            <a:r>
              <a:rPr lang="en-GB" b="1" dirty="0"/>
              <a:t>This issue motivates gated recurrent networks later in the lecture.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10457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hidden state as a sequence summary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relevant evidence must survive until the final state.</a:t>
            </a:r>
            <a:endParaRPr lang="en-US" sz="900" b="1" dirty="0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41832" y="23134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h[1]</a:t>
            </a:r>
            <a:endParaRPr lang="en-US" sz="730" dirty="0"/>
          </a:p>
        </p:txBody>
      </p:sp>
      <p:sp>
        <p:nvSpPr>
          <p:cNvPr id="7" name="Shape 5"/>
          <p:cNvSpPr/>
          <p:nvPr/>
        </p:nvSpPr>
        <p:spPr>
          <a:xfrm>
            <a:off x="1920240" y="22402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947672" y="23134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h[2]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298448" y="238658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926080" y="22402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953512" y="23134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h[3]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2304288" y="238658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931920" y="22402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959352" y="23134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h[4]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3310128" y="238658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937760" y="22402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965192" y="23134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h[5]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315968" y="238658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943600" y="22402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71032" y="23134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h[6]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5321808" y="238658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949440" y="22402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976872" y="23134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h[7]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327648" y="238658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960120" y="1325880"/>
            <a:ext cx="822960" cy="329184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014984" y="13624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event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371600" y="1655064"/>
            <a:ext cx="0" cy="5577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606040" y="1325880"/>
            <a:ext cx="822960" cy="329184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660904" y="13624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trend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017520" y="1655064"/>
            <a:ext cx="0" cy="5577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251960" y="1325880"/>
            <a:ext cx="822960" cy="329184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306824" y="13624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regime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1655064"/>
            <a:ext cx="0" cy="5577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5760720" y="1325880"/>
            <a:ext cx="822960" cy="329184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815584" y="13624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burst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72200" y="1655064"/>
            <a:ext cx="0" cy="5577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360920" y="2386584"/>
            <a:ext cx="868680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8229600" y="2057400"/>
            <a:ext cx="1463040" cy="658368"/>
          </a:xfrm>
          <a:prstGeom prst="roundRect">
            <a:avLst>
              <a:gd name="adj" fmla="val 5556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8284464" y="2093976"/>
            <a:ext cx="1353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h[L]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summary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692640" y="2386584"/>
            <a:ext cx="868680" cy="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10561320" y="2267712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10616184" y="2304288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05840" y="3657600"/>
            <a:ext cx="2834640" cy="9144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1060704" y="3694176"/>
            <a:ext cx="2724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Potential content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• earlier events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• recent trend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• operating regime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480560" y="3657600"/>
            <a:ext cx="2834640" cy="91440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4535424" y="3694176"/>
            <a:ext cx="2724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Information bottleneck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Long sequences require useful details to be retained through many updates.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955280" y="3657600"/>
            <a:ext cx="2560320" cy="9144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8010144" y="3694176"/>
            <a:ext cx="2450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Motivation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Gated recurrent units improve memory control.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920" y="6199632"/>
            <a:ext cx="10195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76656" y="6318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highlight>
                  <a:srgbClr val="FFFF00"/>
                </a:highlight>
              </a:rPr>
              <a:t>For sequence-to-vector tasks, the final state is expected to encode what the output layer needs.</a:t>
            </a:r>
            <a:endParaRPr lang="en-US" sz="105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D1A6F0-33AB-5A0D-618F-1EAF0A7E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Sequence-to-sequence: one output at every time step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40D33F-02D8-AA58-EC67-81BDC05BF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Some tasks require a prediction for every temporal position.</a:t>
            </a:r>
          </a:p>
          <a:p>
            <a:r>
              <a:rPr lang="en-GB" dirty="0"/>
              <a:t>Input: [x[1], x[2], ..., x[L]]</a:t>
            </a:r>
          </a:p>
          <a:p>
            <a:r>
              <a:rPr lang="en-GB" dirty="0"/>
              <a:t>Output: [</a:t>
            </a:r>
            <a:r>
              <a:rPr lang="en-GB" dirty="0" err="1"/>
              <a:t>y_hat</a:t>
            </a:r>
            <a:r>
              <a:rPr lang="en-GB" dirty="0"/>
              <a:t>[1], </a:t>
            </a:r>
            <a:r>
              <a:rPr lang="en-GB" dirty="0" err="1"/>
              <a:t>y_hat</a:t>
            </a:r>
            <a:r>
              <a:rPr lang="en-GB" dirty="0"/>
              <a:t>[2], ..., </a:t>
            </a:r>
            <a:r>
              <a:rPr lang="en-GB" dirty="0" err="1"/>
              <a:t>y_hat</a:t>
            </a:r>
            <a:r>
              <a:rPr lang="en-GB" dirty="0"/>
              <a:t>[L]]</a:t>
            </a:r>
          </a:p>
          <a:p>
            <a:r>
              <a:rPr lang="en-GB" dirty="0"/>
              <a:t>The recurrent layer returns:</a:t>
            </a:r>
          </a:p>
          <a:p>
            <a:r>
              <a:rPr lang="en-GB" dirty="0"/>
              <a:t>[h[1], h[2], ..., h[L]]</a:t>
            </a:r>
          </a:p>
          <a:p>
            <a:r>
              <a:rPr lang="en-GB" dirty="0"/>
              <a:t>and the same output transformation can be applied to every hidden state.</a:t>
            </a:r>
          </a:p>
          <a:p>
            <a:endParaRPr lang="en-GB" b="1" dirty="0"/>
          </a:p>
          <a:p>
            <a:r>
              <a:rPr lang="en-GB" b="1" dirty="0"/>
              <a:t>Example: sequence labelling</a:t>
            </a:r>
          </a:p>
          <a:p>
            <a:pPr lvl="1"/>
            <a:r>
              <a:rPr lang="en-GB" dirty="0"/>
              <a:t>x[1] → h[1] → operating state at time 1</a:t>
            </a:r>
          </a:p>
          <a:p>
            <a:pPr lvl="1"/>
            <a:r>
              <a:rPr lang="en-GB" dirty="0"/>
              <a:t>x[2] → h[2] → operating state at time 2</a:t>
            </a:r>
          </a:p>
          <a:p>
            <a:pPr lvl="1"/>
            <a:r>
              <a:rPr lang="en-GB" dirty="0"/>
              <a:t>...</a:t>
            </a:r>
          </a:p>
          <a:p>
            <a:pPr lvl="1"/>
            <a:r>
              <a:rPr lang="en-GB" dirty="0"/>
              <a:t>x[L] → h[L] → operating state at time 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38710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D629C0-5022-9B0F-7761-FF22F964E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Sequence-to-sequence: one output at every time step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4D9E73-4137-E858-F48B-DE316EE56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Applications</a:t>
            </a:r>
          </a:p>
          <a:p>
            <a:pPr lvl="1"/>
            <a:r>
              <a:rPr lang="en-GB" dirty="0"/>
              <a:t>activity recognition over time; </a:t>
            </a:r>
          </a:p>
          <a:p>
            <a:pPr lvl="1"/>
            <a:r>
              <a:rPr lang="en-GB" dirty="0"/>
              <a:t>machine-state identification; </a:t>
            </a:r>
          </a:p>
          <a:p>
            <a:pPr lvl="1"/>
            <a:r>
              <a:rPr lang="en-GB" dirty="0"/>
              <a:t>anomaly probability; </a:t>
            </a:r>
          </a:p>
          <a:p>
            <a:pPr lvl="1"/>
            <a:r>
              <a:rPr lang="en-GB" dirty="0"/>
              <a:t>process-phase classification; </a:t>
            </a:r>
          </a:p>
          <a:p>
            <a:pPr lvl="1"/>
            <a:r>
              <a:rPr lang="en-GB" dirty="0"/>
              <a:t>continuous state estimation. </a:t>
            </a:r>
          </a:p>
          <a:p>
            <a:r>
              <a:rPr lang="en-GB" b="1" dirty="0"/>
              <a:t>Tensor shapes</a:t>
            </a:r>
          </a:p>
          <a:p>
            <a:r>
              <a:rPr lang="en-GB" dirty="0"/>
              <a:t>Recurrent output: [N, L, H]</a:t>
            </a:r>
          </a:p>
          <a:p>
            <a:r>
              <a:rPr lang="en-GB" dirty="0"/>
              <a:t>For K classes at every time step: [N, L, K]</a:t>
            </a:r>
          </a:p>
          <a:p>
            <a:r>
              <a:rPr lang="en-GB" dirty="0"/>
              <a:t>For one continuous quantity at every time step: [N, L, 1]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31736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Sequence-to-sequence recurrent model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prediction is produced at every temporal position</a:t>
            </a: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88720" y="150876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243584" y="154533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x[1]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0" y="23317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216152" y="24048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h[1]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143000" y="315468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197864" y="319125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ŷ[1]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80744" y="1737360"/>
            <a:ext cx="0" cy="58521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380744" y="2624328"/>
            <a:ext cx="0" cy="521208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377440" y="150876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432304" y="154533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x[2]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77440" y="23317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404872" y="24048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h[2]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2331720" y="315468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386584" y="319125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ŷ[2]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572768" y="2478024"/>
            <a:ext cx="80467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569464" y="1737360"/>
            <a:ext cx="0" cy="58521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569464" y="2624328"/>
            <a:ext cx="0" cy="521208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566160" y="150876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621024" y="154533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x[3]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566160" y="23317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593592" y="24048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h[3]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3520440" y="315468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575304" y="319125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ŷ[3]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61488" y="2478024"/>
            <a:ext cx="80467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758184" y="1737360"/>
            <a:ext cx="0" cy="58521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758184" y="2624328"/>
            <a:ext cx="0" cy="521208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754880" y="150876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809744" y="154533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x[4]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23317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782312" y="24048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h[4]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4709160" y="315468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764024" y="319125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ŷ[4]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950208" y="2478024"/>
            <a:ext cx="80467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946904" y="1737360"/>
            <a:ext cx="0" cy="58521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4946904" y="2624328"/>
            <a:ext cx="0" cy="521208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5943600" y="150876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5998464" y="154533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x[5]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23317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5971032" y="24048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h[5]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5897880" y="315468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5952744" y="319125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ŷ[5]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138928" y="2478024"/>
            <a:ext cx="80467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6135624" y="1737360"/>
            <a:ext cx="0" cy="58521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6135624" y="2624328"/>
            <a:ext cx="0" cy="521208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7132320" y="150876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7187184" y="154533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x[6]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132320" y="23317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7159752" y="24048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h[6]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7086600" y="315468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7141464" y="319125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ŷ[6]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327648" y="2478024"/>
            <a:ext cx="80467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7324344" y="1737360"/>
            <a:ext cx="0" cy="58521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7324344" y="2624328"/>
            <a:ext cx="0" cy="521208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8321040" y="150876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8375904" y="154533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x[7]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321040" y="23317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8348472" y="24048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h[7]</a:t>
            </a:r>
            <a:endParaRPr lang="en-US" sz="730" dirty="0"/>
          </a:p>
        </p:txBody>
      </p:sp>
      <p:sp>
        <p:nvSpPr>
          <p:cNvPr id="62" name="Shape 60"/>
          <p:cNvSpPr/>
          <p:nvPr/>
        </p:nvSpPr>
        <p:spPr>
          <a:xfrm>
            <a:off x="8275320" y="315468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8330184" y="319125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ŷ[7]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516368" y="2478024"/>
            <a:ext cx="80467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8513064" y="1737360"/>
            <a:ext cx="0" cy="58521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8513064" y="2624328"/>
            <a:ext cx="0" cy="521208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310896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input sequence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10896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hidden-state sequence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10896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</a:rPr>
              <a:t>output sequence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14400" y="4572000"/>
            <a:ext cx="2743200" cy="54864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969264" y="460857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Sequence labelling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class per time step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114800" y="4572000"/>
            <a:ext cx="2743200" cy="54864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4169664" y="460857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State estimation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value per time step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315200" y="4572000"/>
            <a:ext cx="2743200" cy="548640"/>
          </a:xfrm>
          <a:prstGeom prst="roundRect">
            <a:avLst>
              <a:gd name="adj" fmla="val 6667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7370064" y="460857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Anomaly score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probability per time step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02920" y="6199632"/>
            <a:ext cx="10195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676656" y="6318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In sequence-to-sequence tasks, the temporal dimension is preserved in the output</a:t>
            </a:r>
            <a:r>
              <a:rPr lang="en-US" sz="800" b="1" dirty="0">
                <a:solidFill>
                  <a:srgbClr val="111827"/>
                </a:solidFill>
              </a:rPr>
              <a:t>.</a:t>
            </a:r>
            <a:endParaRPr lang="en-US" sz="800" b="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B57363-F5FB-FBCF-AF88-5F36A19C5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Causal sequence labelling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48F827-6CC9-7CB0-469D-187F8E8B1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In a standard forward recurrent network: h[t] = f(x[t], h[t−1])</a:t>
            </a:r>
          </a:p>
          <a:p>
            <a:r>
              <a:rPr lang="en-GB" dirty="0"/>
              <a:t>Therefore h[t] depends only on: x[1], ..., x[t] and not on future observations.</a:t>
            </a:r>
          </a:p>
          <a:p>
            <a:r>
              <a:rPr lang="en-GB" dirty="0"/>
              <a:t>A prediction: </a:t>
            </a:r>
            <a:r>
              <a:rPr lang="en-GB" dirty="0" err="1"/>
              <a:t>y_hat</a:t>
            </a:r>
            <a:r>
              <a:rPr lang="en-GB" dirty="0"/>
              <a:t>[t] = g(h[t]) is therefore naturally causal.</a:t>
            </a:r>
          </a:p>
          <a:p>
            <a:endParaRPr lang="en-GB" b="1" dirty="0"/>
          </a:p>
          <a:p>
            <a:r>
              <a:rPr lang="en-GB" b="1" dirty="0"/>
              <a:t>Appropriate applications</a:t>
            </a:r>
          </a:p>
          <a:p>
            <a:pPr lvl="1"/>
            <a:r>
              <a:rPr lang="en-GB" dirty="0"/>
              <a:t>real-time monitoring; </a:t>
            </a:r>
          </a:p>
          <a:p>
            <a:pPr lvl="1"/>
            <a:r>
              <a:rPr lang="en-GB" dirty="0"/>
              <a:t>online fault detection; </a:t>
            </a:r>
          </a:p>
          <a:p>
            <a:pPr lvl="1"/>
            <a:r>
              <a:rPr lang="en-GB" dirty="0"/>
              <a:t>live activity recognition; </a:t>
            </a:r>
          </a:p>
          <a:p>
            <a:pPr lvl="1"/>
            <a:r>
              <a:rPr lang="en-GB" dirty="0"/>
              <a:t>real-time process-state estimation.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76493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3BFC-5B21-E63B-5273-0BF009C10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A33159-4831-FA4D-1B73-114BC3CEC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Causal sequence labelling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4240DF-95A8-B8AD-DB25-9D0261559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Prediction at time t</a:t>
            </a:r>
          </a:p>
          <a:p>
            <a:r>
              <a:rPr lang="en-GB" dirty="0"/>
              <a:t>past                       now</a:t>
            </a:r>
          </a:p>
          <a:p>
            <a:r>
              <a:rPr lang="en-GB" dirty="0"/>
              <a:t>x[1] ... x[t−2] x[t−1] x[t]</a:t>
            </a:r>
          </a:p>
          <a:p>
            <a:r>
              <a:rPr lang="en-GB" dirty="0"/>
              <a:t>                       ↓</a:t>
            </a:r>
          </a:p>
          <a:p>
            <a:r>
              <a:rPr lang="en-GB" dirty="0"/>
              <a:t>                    </a:t>
            </a:r>
            <a:r>
              <a:rPr lang="en-GB" dirty="0" err="1"/>
              <a:t>y_hat</a:t>
            </a:r>
            <a:r>
              <a:rPr lang="en-GB" dirty="0"/>
              <a:t>[t]</a:t>
            </a:r>
          </a:p>
          <a:p>
            <a:r>
              <a:rPr lang="en-GB" dirty="0"/>
              <a:t>No observations after t are required.</a:t>
            </a:r>
          </a:p>
          <a:p>
            <a:r>
              <a:rPr lang="en-GB" b="1" dirty="0"/>
              <a:t>Important connection to Lecture 1</a:t>
            </a:r>
          </a:p>
          <a:p>
            <a:r>
              <a:rPr lang="en-GB" dirty="0"/>
              <a:t>The architecture respects the prediction-time constraint only if the </a:t>
            </a:r>
            <a:r>
              <a:rPr lang="en-GB" b="1" dirty="0"/>
              <a:t>input construction and preprocessing are also causal</a:t>
            </a:r>
            <a:r>
              <a:rPr lang="en-GB" dirty="0"/>
              <a:t>.</a:t>
            </a:r>
          </a:p>
          <a:p>
            <a:r>
              <a:rPr lang="en-GB" dirty="0"/>
              <a:t>An RNN cannot correct leakage already introduced into its input features.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805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sequence labelling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forward RNN prediction at time t uses only present and previous observations.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243584" y="20482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x[1]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0" y="274320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216152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h[1]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380744" y="2240280"/>
            <a:ext cx="0" cy="48463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194560" y="201168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249424" y="20482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x[2]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94560" y="274320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221992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h[2]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1572768" y="288950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386584" y="2240280"/>
            <a:ext cx="0" cy="48463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200400" y="201168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255264" y="20482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x[3]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274320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227832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h[3]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2578608" y="288950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392424" y="2240280"/>
            <a:ext cx="0" cy="48463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206240" y="201168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261104" y="20482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x[4]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06240" y="274320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233672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h[4]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3584448" y="288950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398264" y="2240280"/>
            <a:ext cx="0" cy="48463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212080" y="201168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266944" y="20482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x[5]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212080" y="274320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239512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h[5]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4590288" y="288950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404104" y="2240280"/>
            <a:ext cx="0" cy="48463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217920" y="201168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272784" y="20482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x[6]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23760" y="201168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7278624" y="20482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x[7]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229600" y="201168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8284464" y="20482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x[8]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66360" y="365760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5221224" y="369417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ŷ[5]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04104" y="3035808"/>
            <a:ext cx="0" cy="603504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5687568" y="1508760"/>
            <a:ext cx="0" cy="2743200"/>
          </a:xfrm>
          <a:prstGeom prst="line">
            <a:avLst/>
          </a:prstGeom>
          <a:noFill/>
          <a:ln w="1524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1188720" y="1417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past and present available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0644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future not used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897880" y="2743200"/>
            <a:ext cx="2560320" cy="566928"/>
          </a:xfrm>
          <a:prstGeom prst="roundRect">
            <a:avLst>
              <a:gd name="adj" fmla="val 645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952744" y="2779776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x[6], x[7], x[8] are not required for ŷ[5]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02920" y="6199632"/>
            <a:ext cx="10195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76656" y="6318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A causal architecture is valid only if input construction and preprocessing are causal as well.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1BEDD3-94F3-D3D4-9CC5-74D1623C0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Multi-horizon forecasting from a recurrent representation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10ACF4-BC4F-2402-0057-34013EA24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A recurrent model can produce several future predictions simultaneously.</a:t>
            </a:r>
          </a:p>
          <a:p>
            <a:r>
              <a:rPr lang="en-GB" dirty="0"/>
              <a:t>Input: [x[t−L+1], ..., x[t]]</a:t>
            </a:r>
          </a:p>
          <a:p>
            <a:r>
              <a:rPr lang="en-GB" dirty="0"/>
              <a:t>Recurrent representation:</a:t>
            </a:r>
          </a:p>
          <a:p>
            <a:r>
              <a:rPr lang="en-GB" dirty="0"/>
              <a:t>h[t]</a:t>
            </a:r>
          </a:p>
          <a:p>
            <a:r>
              <a:rPr lang="en-GB" dirty="0"/>
              <a:t>Output layer:</a:t>
            </a:r>
          </a:p>
          <a:p>
            <a:r>
              <a:rPr lang="en-GB" dirty="0"/>
              <a:t>[</a:t>
            </a:r>
            <a:r>
              <a:rPr lang="en-GB" dirty="0" err="1"/>
              <a:t>y_hat</a:t>
            </a:r>
            <a:r>
              <a:rPr lang="en-GB" dirty="0"/>
              <a:t>[t+1], </a:t>
            </a:r>
            <a:r>
              <a:rPr lang="en-GB" dirty="0" err="1"/>
              <a:t>y_hat</a:t>
            </a:r>
            <a:r>
              <a:rPr lang="en-GB" dirty="0"/>
              <a:t>[t+2], ..., </a:t>
            </a:r>
            <a:r>
              <a:rPr lang="en-GB" dirty="0" err="1"/>
              <a:t>y_hat</a:t>
            </a:r>
            <a:r>
              <a:rPr lang="en-GB" dirty="0"/>
              <a:t>[</a:t>
            </a:r>
            <a:r>
              <a:rPr lang="en-GB" dirty="0" err="1"/>
              <a:t>t+H</a:t>
            </a:r>
            <a:r>
              <a:rPr lang="en-GB" dirty="0"/>
              <a:t>]]</a:t>
            </a:r>
          </a:p>
          <a:p>
            <a:endParaRPr lang="en-GB" b="1" dirty="0"/>
          </a:p>
          <a:p>
            <a:r>
              <a:rPr lang="en-GB" b="1" dirty="0"/>
              <a:t>Tensor shapes</a:t>
            </a:r>
          </a:p>
          <a:p>
            <a:r>
              <a:rPr lang="en-GB" dirty="0"/>
              <a:t>Input: [N, L, d]</a:t>
            </a:r>
          </a:p>
          <a:p>
            <a:r>
              <a:rPr lang="en-GB" dirty="0"/>
              <a:t>Final recurrent state: [N, </a:t>
            </a:r>
            <a:r>
              <a:rPr lang="en-GB" dirty="0" err="1"/>
              <a:t>H_hidden</a:t>
            </a:r>
            <a:r>
              <a:rPr lang="en-GB" dirty="0"/>
              <a:t>]</a:t>
            </a:r>
          </a:p>
          <a:p>
            <a:r>
              <a:rPr lang="en-GB" dirty="0"/>
              <a:t>For a univariate forecast with </a:t>
            </a:r>
            <a:r>
              <a:rPr lang="en-GB" dirty="0" err="1"/>
              <a:t>H_forecast</a:t>
            </a:r>
            <a:r>
              <a:rPr lang="en-GB" dirty="0"/>
              <a:t> horizons: output shape = [N, </a:t>
            </a:r>
            <a:r>
              <a:rPr lang="en-GB" dirty="0" err="1"/>
              <a:t>H_forecast</a:t>
            </a:r>
            <a:r>
              <a:rPr lang="en-GB" dirty="0"/>
              <a:t>]</a:t>
            </a:r>
          </a:p>
          <a:p>
            <a:r>
              <a:rPr lang="en-GB" dirty="0"/>
              <a:t>For q target variables: output shape = [N, </a:t>
            </a:r>
            <a:r>
              <a:rPr lang="en-GB" dirty="0" err="1"/>
              <a:t>H_forecast</a:t>
            </a:r>
            <a:r>
              <a:rPr lang="en-GB" dirty="0"/>
              <a:t>, q]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01926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B9D4BF-221A-9147-2687-2593D71D7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Multi-horizon forecasting from a recurrent representation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D1F58E-102B-CB35-CC49-CEB4EEDA1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Do not confuse:</a:t>
            </a:r>
          </a:p>
          <a:p>
            <a:pPr lvl="1"/>
            <a:r>
              <a:rPr lang="en-GB" dirty="0"/>
              <a:t>hidden-state dimension </a:t>
            </a:r>
            <a:r>
              <a:rPr lang="en-GB" dirty="0" err="1"/>
              <a:t>H_hidden</a:t>
            </a:r>
            <a:r>
              <a:rPr lang="en-GB" dirty="0"/>
              <a:t>; </a:t>
            </a:r>
          </a:p>
          <a:p>
            <a:pPr lvl="1"/>
            <a:r>
              <a:rPr lang="en-GB" dirty="0"/>
              <a:t>forecast horizon </a:t>
            </a:r>
            <a:r>
              <a:rPr lang="en-GB" dirty="0" err="1"/>
              <a:t>H_forecast</a:t>
            </a:r>
            <a:r>
              <a:rPr lang="en-GB" dirty="0"/>
              <a:t>. </a:t>
            </a:r>
          </a:p>
          <a:p>
            <a:r>
              <a:rPr lang="en-GB" dirty="0"/>
              <a:t>They are unrelated design quantities.</a:t>
            </a:r>
          </a:p>
          <a:p>
            <a:endParaRPr lang="en-GB" b="1" dirty="0"/>
          </a:p>
          <a:p>
            <a:r>
              <a:rPr lang="en-GB" b="1" dirty="0"/>
              <a:t>Advantage</a:t>
            </a:r>
          </a:p>
          <a:p>
            <a:pPr lvl="0"/>
            <a:r>
              <a:rPr lang="en-GB" b="1" dirty="0"/>
              <a:t>All forecast horizons are generated jointly from the same representation of the past.</a:t>
            </a:r>
            <a:r>
              <a:rPr lang="en-GB" dirty="0"/>
              <a:t> </a:t>
            </a:r>
          </a:p>
          <a:p>
            <a:pPr lvl="0"/>
            <a:r>
              <a:rPr lang="en-GB" b="1" dirty="0"/>
              <a:t>Earlier predicted values are not reused as inputs for later horizons, avoiding recursive error accumulation.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24605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Multi-horizon forecasting from a recurrent state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final recurrent representation can be mapped to a vector of future predictions.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9264" y="218541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x[t-4]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27889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41832" y="28620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h1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106424" y="2377440"/>
            <a:ext cx="0" cy="39319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828800" y="214884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883664" y="218541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x[t-3]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0" y="27889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856232" y="28620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h2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1298448" y="293522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020824" y="2377440"/>
            <a:ext cx="0" cy="39319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743200" y="214884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798064" y="218541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x[t-2]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0" y="27889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770632" y="28620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h3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2212848" y="293522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935224" y="2377440"/>
            <a:ext cx="0" cy="39319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657600" y="214884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712464" y="218541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x[t-1]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0" y="27889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685032" y="28620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h4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3127248" y="293522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849624" y="2377440"/>
            <a:ext cx="0" cy="39319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572000" y="214884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626864" y="218541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x[t-0]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0" y="27889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599432" y="28620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h5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4041648" y="293522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764024" y="2377440"/>
            <a:ext cx="0" cy="39319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4956048" y="2935224"/>
            <a:ext cx="8503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5806440" y="2615184"/>
            <a:ext cx="1143000" cy="64008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861304" y="2651760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h[t]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state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49440" y="2935224"/>
            <a:ext cx="685800" cy="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635240" y="2542032"/>
            <a:ext cx="1325880" cy="786384"/>
          </a:xfrm>
          <a:prstGeom prst="roundRect">
            <a:avLst>
              <a:gd name="adj" fmla="val 4651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7690104" y="2578608"/>
            <a:ext cx="1216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output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layer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189720" y="269748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9244584" y="273405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ŷ[t+1]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961120" y="2935224"/>
            <a:ext cx="228600" cy="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9829800" y="269748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9884664" y="273405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ŷ[t+2]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961120" y="2935224"/>
            <a:ext cx="868680" cy="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10469880" y="269748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10524744" y="273405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ŷ[t+H]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961120" y="2935224"/>
            <a:ext cx="1508760" cy="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1463040" y="16276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history window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256776" y="2231137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forecast vector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14400" y="4206240"/>
            <a:ext cx="2926080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969264" y="424281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Input shape: [N, L, d]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89120" y="4206240"/>
            <a:ext cx="2926080" cy="64008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4443984" y="424281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Hidden state: [N, H_hidden]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863840" y="4206240"/>
            <a:ext cx="2926080" cy="640080"/>
          </a:xfrm>
          <a:prstGeom prst="roundRect">
            <a:avLst>
              <a:gd name="adj" fmla="val 5714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7918704" y="4242816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Forecast output: [N, H_forecast]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02920" y="6199632"/>
            <a:ext cx="10195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676656" y="6318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Hidden-state dimension and forecast horizon are different design quantities.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42E988-124A-0E5B-9F8B-84357DEAE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 structure should follow the task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5F10303-56D0-48FF-0587-5A6F389DA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334" y="1577179"/>
            <a:ext cx="6492803" cy="370364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3E2CBB-D14C-5EF5-56B6-F98C131B935C}"/>
              </a:ext>
            </a:extLst>
          </p:cNvPr>
          <p:cNvSpPr txBox="1"/>
          <p:nvPr/>
        </p:nvSpPr>
        <p:spPr>
          <a:xfrm>
            <a:off x="7139048" y="3071908"/>
            <a:ext cx="489102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Design principle</a:t>
            </a:r>
          </a:p>
          <a:p>
            <a:pPr>
              <a:buNone/>
            </a:pPr>
            <a:r>
              <a:rPr lang="en-GB" b="1" dirty="0"/>
              <a:t>First define the target structure: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prediction time;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target;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output frequency;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forecast horizon. </a:t>
            </a:r>
          </a:p>
          <a:p>
            <a:pPr>
              <a:buNone/>
            </a:pPr>
            <a:r>
              <a:rPr lang="en-GB" dirty="0"/>
              <a:t>Then choose how the recurrent states are connected to the output.</a:t>
            </a:r>
          </a:p>
          <a:p>
            <a:pPr>
              <a:buNone/>
            </a:pPr>
            <a:endParaRPr lang="en-GB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4C28A8F-0F30-50A6-0429-7F4C2E37DCE5}"/>
              </a:ext>
            </a:extLst>
          </p:cNvPr>
          <p:cNvSpPr txBox="1"/>
          <p:nvPr/>
        </p:nvSpPr>
        <p:spPr>
          <a:xfrm>
            <a:off x="8620125" y="1476375"/>
            <a:ext cx="3057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highlight>
                  <a:srgbClr val="FFFF00"/>
                </a:highlight>
              </a:rPr>
              <a:t>Summarizing</a:t>
            </a:r>
            <a:endParaRPr lang="en-GB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37711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A350D6-232B-E19C-DAED-6AFDF8E78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4.D — Training Recurrent Networks Through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59B6D7-54C4-2A7F-507F-F0E5C9F75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2844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1F8035-6F04-5DFE-20CC-1B0D8E765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still starts from a loss function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074285-7231-7BE6-4E18-4EBA25EA34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418666" cy="388077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 recurrent network is trained by comparing its predictions with the target.</a:t>
            </a:r>
          </a:p>
          <a:p>
            <a:r>
              <a:rPr lang="en-GB" b="1" dirty="0"/>
              <a:t>Sequence-to-vector example</a:t>
            </a:r>
          </a:p>
          <a:p>
            <a:r>
              <a:rPr lang="en-GB" dirty="0"/>
              <a:t>input sequence</a:t>
            </a:r>
          </a:p>
          <a:p>
            <a:r>
              <a:rPr lang="en-GB" dirty="0"/>
              <a:t>     ↓</a:t>
            </a:r>
          </a:p>
          <a:p>
            <a:r>
              <a:rPr lang="en-GB" dirty="0"/>
              <a:t>recurrent model</a:t>
            </a:r>
          </a:p>
          <a:p>
            <a:r>
              <a:rPr lang="en-GB" dirty="0"/>
              <a:t>     ↓</a:t>
            </a:r>
          </a:p>
          <a:p>
            <a:r>
              <a:rPr lang="en-GB" dirty="0" err="1"/>
              <a:t>y_hat</a:t>
            </a:r>
            <a:endParaRPr lang="en-GB" dirty="0"/>
          </a:p>
          <a:p>
            <a:r>
              <a:rPr lang="en-GB" dirty="0"/>
              <a:t>     ↓</a:t>
            </a:r>
          </a:p>
          <a:p>
            <a:r>
              <a:rPr lang="en-GB" dirty="0"/>
              <a:t>compare with y</a:t>
            </a:r>
          </a:p>
          <a:p>
            <a:r>
              <a:rPr lang="en-GB" dirty="0"/>
              <a:t>     ↓</a:t>
            </a:r>
          </a:p>
          <a:p>
            <a:r>
              <a:rPr lang="en-GB" dirty="0"/>
              <a:t>loss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CDC6111-09FA-E4B8-02B6-ACAC7D14D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5420" y="2160589"/>
            <a:ext cx="5025580" cy="388077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For regression, a possible loss is squared error:</a:t>
            </a:r>
          </a:p>
          <a:p>
            <a:r>
              <a:rPr lang="en-GB" dirty="0"/>
              <a:t>loss = (y − </a:t>
            </a:r>
            <a:r>
              <a:rPr lang="en-GB" dirty="0" err="1"/>
              <a:t>y_hat</a:t>
            </a:r>
            <a:r>
              <a:rPr lang="en-GB" dirty="0"/>
              <a:t>)^2</a:t>
            </a:r>
          </a:p>
          <a:p>
            <a:r>
              <a:rPr lang="en-GB" dirty="0"/>
              <a:t>For classification, a classification loss such as cross-entropy can be used.</a:t>
            </a:r>
          </a:p>
          <a:p>
            <a:endParaRPr lang="en-GB" dirty="0"/>
          </a:p>
          <a:p>
            <a:r>
              <a:rPr lang="en-GB" dirty="0"/>
              <a:t>The loss may be produced at:</a:t>
            </a:r>
          </a:p>
          <a:p>
            <a:pPr lvl="1"/>
            <a:r>
              <a:rPr lang="en-GB" dirty="0"/>
              <a:t>one time step; </a:t>
            </a:r>
          </a:p>
          <a:p>
            <a:pPr lvl="1"/>
            <a:r>
              <a:rPr lang="en-GB" dirty="0"/>
              <a:t>several time steps; </a:t>
            </a:r>
          </a:p>
          <a:p>
            <a:pPr lvl="1"/>
            <a:r>
              <a:rPr lang="en-GB" dirty="0"/>
              <a:t>all time steps. </a:t>
            </a:r>
          </a:p>
          <a:p>
            <a:r>
              <a:rPr lang="en-GB" b="1" dirty="0"/>
              <a:t>The gradient propagates backward through time to assign credit or blame to the recurrent weights used at each step.</a:t>
            </a:r>
          </a:p>
        </p:txBody>
      </p:sp>
    </p:spTree>
    <p:extLst>
      <p:ext uri="{BB962C8B-B14F-4D97-AF65-F5344CB8AC3E}">
        <p14:creationId xmlns:p14="http://schemas.microsoft.com/office/powerpoint/2010/main" val="28046521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loss computed?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structure determines which outputs contribute to training.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344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Sequence-to-vector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41832" y="21762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h[1]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1828800" y="21031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856232" y="21762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h[2]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1298448" y="224942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0" y="21031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770632" y="21762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h[3]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2212848" y="224942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657600" y="21031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685032" y="21762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h[4]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3127248" y="224942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572000" y="21031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599432" y="21762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h[5]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4041648" y="224942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956048" y="224942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577840" y="2130552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632704" y="2167128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35040" y="2249424"/>
            <a:ext cx="54864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583680" y="2011680"/>
            <a:ext cx="731520" cy="4572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638544" y="2048256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loss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0" y="2788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one loss after the final output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344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Sequence-to-sequence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443484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941832" y="45079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h[1]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877824" y="507492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932688" y="511149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ŷ[1]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22960" y="5623560"/>
            <a:ext cx="566928" cy="292608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877824" y="56601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loss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106424" y="4727448"/>
            <a:ext cx="0" cy="338328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1106424" y="5303520"/>
            <a:ext cx="0" cy="310896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1828800" y="443484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1856232" y="45079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h[2]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1792224" y="507492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1847088" y="511149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ŷ[2]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737360" y="5623560"/>
            <a:ext cx="566928" cy="292608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1792224" y="56601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loss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298448" y="458114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2020824" y="4727448"/>
            <a:ext cx="0" cy="338328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2020824" y="5303520"/>
            <a:ext cx="0" cy="310896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2743200" y="443484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2770632" y="45079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h[3]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2706624" y="507492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2761488" y="511149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ŷ[3]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651760" y="5623560"/>
            <a:ext cx="566928" cy="292608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2706624" y="56601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loss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212848" y="458114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2935224" y="4727448"/>
            <a:ext cx="0" cy="338328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2935224" y="5303520"/>
            <a:ext cx="0" cy="310896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3657600" y="443484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3685032" y="45079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h[4]</a:t>
            </a:r>
            <a:endParaRPr lang="en-US" sz="730" dirty="0"/>
          </a:p>
        </p:txBody>
      </p:sp>
      <p:sp>
        <p:nvSpPr>
          <p:cNvPr id="56" name="Shape 54"/>
          <p:cNvSpPr/>
          <p:nvPr/>
        </p:nvSpPr>
        <p:spPr>
          <a:xfrm>
            <a:off x="3621024" y="507492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3675888" y="511149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ŷ[4]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566160" y="5623560"/>
            <a:ext cx="566928" cy="292608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3621024" y="56601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loss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127248" y="458114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3849624" y="4727448"/>
            <a:ext cx="0" cy="338328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3849624" y="5303520"/>
            <a:ext cx="0" cy="310896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4572000" y="443484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4599432" y="45079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h[5]</a:t>
            </a:r>
            <a:endParaRPr lang="en-US" sz="730" dirty="0"/>
          </a:p>
        </p:txBody>
      </p:sp>
      <p:sp>
        <p:nvSpPr>
          <p:cNvPr id="65" name="Shape 63"/>
          <p:cNvSpPr/>
          <p:nvPr/>
        </p:nvSpPr>
        <p:spPr>
          <a:xfrm>
            <a:off x="4535424" y="507492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4590288" y="511149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ŷ[5]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480560" y="5623560"/>
            <a:ext cx="566928" cy="292608"/>
          </a:xfrm>
          <a:prstGeom prst="roundRect">
            <a:avLst>
              <a:gd name="adj" fmla="val 125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4535424" y="56601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loss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041648" y="458114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4764024" y="4727448"/>
            <a:ext cx="0" cy="338328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4764024" y="5303520"/>
            <a:ext cx="0" cy="310896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7772400" y="4206240"/>
            <a:ext cx="2560320" cy="109728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7827264" y="4242816"/>
            <a:ext cx="24505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total loss =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loss[1] + loss[2] + ... + loss[L]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02920" y="6199632"/>
            <a:ext cx="10195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676656" y="6318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</a:rPr>
              <a:t>The same recurrent parameters receive learning signals from the selected output positions.</a:t>
            </a:r>
            <a:endParaRPr lang="en-US" sz="900" b="1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020FCF-4171-36EB-FC40-A07719A7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Loss for sequence-to-vector tasks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1F45F2-4903-90D8-F556-EC0A49218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Consider sequence classification.</a:t>
            </a:r>
          </a:p>
          <a:p>
            <a:r>
              <a:rPr lang="en-GB" dirty="0"/>
              <a:t>x[1] → h[1] → h[2] → ... → h[L]</a:t>
            </a:r>
          </a:p>
          <a:p>
            <a:r>
              <a:rPr lang="en-GB" dirty="0"/>
              <a:t>                     			         ↓</a:t>
            </a:r>
          </a:p>
          <a:p>
            <a:r>
              <a:rPr lang="en-GB" dirty="0"/>
              <a:t>                  			         </a:t>
            </a:r>
            <a:r>
              <a:rPr lang="en-GB" dirty="0" err="1"/>
              <a:t>y_hat</a:t>
            </a:r>
            <a:endParaRPr lang="en-GB" dirty="0"/>
          </a:p>
          <a:p>
            <a:r>
              <a:rPr lang="en-GB" dirty="0"/>
              <a:t>              			                ↓</a:t>
            </a:r>
          </a:p>
          <a:p>
            <a:r>
              <a:rPr lang="en-GB" dirty="0"/>
              <a:t>        			                     loss</a:t>
            </a:r>
          </a:p>
          <a:p>
            <a:r>
              <a:rPr lang="en-GB" b="1" dirty="0"/>
              <a:t>The loss is evaluated only after the complete input sequence has been processed.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85480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4E6B-CF5D-9486-E4FF-414D16ABB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DB5631-50AC-2D8C-7764-620B9D6E0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Loss for sequence-to-vector tasks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87FA71-7DCD-561A-E94C-30A5BE758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However, t</a:t>
            </a:r>
            <a:r>
              <a:rPr lang="en-GB" dirty="0">
                <a:highlight>
                  <a:srgbClr val="FFFF00"/>
                </a:highlight>
              </a:rPr>
              <a:t>he final prediction depends indirectly on all earlier recurrent computations:</a:t>
            </a:r>
          </a:p>
          <a:p>
            <a:r>
              <a:rPr lang="en-GB" dirty="0"/>
              <a:t>loss depends on h[L]</a:t>
            </a:r>
          </a:p>
          <a:p>
            <a:r>
              <a:rPr lang="en-GB" dirty="0"/>
              <a:t>h[L] depends on h[L−1] and x[L]</a:t>
            </a:r>
          </a:p>
          <a:p>
            <a:r>
              <a:rPr lang="en-GB" dirty="0"/>
              <a:t>h[L−1] depends on h[L−2] and x[L−1]</a:t>
            </a:r>
          </a:p>
          <a:p>
            <a:r>
              <a:rPr lang="en-GB" dirty="0"/>
              <a:t>...</a:t>
            </a:r>
          </a:p>
          <a:p>
            <a:r>
              <a:rPr lang="en-GB" b="1" dirty="0"/>
              <a:t>Therefore the training signal must propagate backward through the entire sequence.</a:t>
            </a:r>
          </a:p>
          <a:p>
            <a:endParaRPr lang="en-GB" b="1" dirty="0"/>
          </a:p>
          <a:p>
            <a:r>
              <a:rPr lang="en-GB" dirty="0"/>
              <a:t>How did an early state such as h[2] contribute to the final prediction error?</a:t>
            </a:r>
          </a:p>
          <a:p>
            <a:r>
              <a:rPr lang="en-GB" dirty="0"/>
              <a:t>This is answered by </a:t>
            </a:r>
            <a:r>
              <a:rPr lang="en-GB" b="1" dirty="0"/>
              <a:t>Backpropagation Through Time.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92769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F4B636-86BA-F804-0D40-D37708A0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Backpropagation Through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87E271-4835-BFB4-90BC-7B05E222B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7111" y="2237501"/>
            <a:ext cx="5679639" cy="360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888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921335-D6A9-F5BA-A827-151C9663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Loss for sequence-to-sequence tasks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7DC755-979B-DB85-63C8-0E2B49ABB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For sequence labelling, a prediction can be produced at every time step.</a:t>
            </a:r>
          </a:p>
          <a:p>
            <a:r>
              <a:rPr lang="en-GB" dirty="0"/>
              <a:t>x[1] → h[1] → </a:t>
            </a:r>
            <a:r>
              <a:rPr lang="en-GB" dirty="0" err="1"/>
              <a:t>y_hat</a:t>
            </a:r>
            <a:r>
              <a:rPr lang="en-GB" dirty="0"/>
              <a:t>[1] → loss[1]</a:t>
            </a:r>
          </a:p>
          <a:p>
            <a:r>
              <a:rPr lang="en-GB" dirty="0"/>
              <a:t>x[2] → h[2] → </a:t>
            </a:r>
            <a:r>
              <a:rPr lang="en-GB" dirty="0" err="1"/>
              <a:t>y_hat</a:t>
            </a:r>
            <a:r>
              <a:rPr lang="en-GB" dirty="0"/>
              <a:t>[2] → loss[2]</a:t>
            </a:r>
          </a:p>
          <a:p>
            <a:r>
              <a:rPr lang="en-GB" dirty="0"/>
              <a:t>x[3] → h[3] → </a:t>
            </a:r>
            <a:r>
              <a:rPr lang="en-GB" dirty="0" err="1"/>
              <a:t>y_hat</a:t>
            </a:r>
            <a:r>
              <a:rPr lang="en-GB" dirty="0"/>
              <a:t>[3] → loss[3]</a:t>
            </a:r>
          </a:p>
          <a:p>
            <a:r>
              <a:rPr lang="en-GB" dirty="0"/>
              <a:t>...</a:t>
            </a:r>
          </a:p>
          <a:p>
            <a:r>
              <a:rPr lang="en-GB" dirty="0"/>
              <a:t>x[L] → h[L] → </a:t>
            </a:r>
            <a:r>
              <a:rPr lang="en-GB" dirty="0" err="1"/>
              <a:t>y_hat</a:t>
            </a:r>
            <a:r>
              <a:rPr lang="en-GB" dirty="0"/>
              <a:t>[L] → loss[L]</a:t>
            </a:r>
          </a:p>
          <a:p>
            <a:r>
              <a:rPr lang="en-GB" dirty="0"/>
              <a:t>The total loss may combine errors over all time steps.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total loss = loss[1] + loss[2] + ... + loss[L]</a:t>
            </a:r>
          </a:p>
          <a:p>
            <a:pPr lvl="1"/>
            <a:r>
              <a:rPr lang="en-GB" dirty="0"/>
              <a:t>or their average.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45114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6A5589-2CDA-C933-D8FA-B5ED26A20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Loss for sequence-to-sequence tasks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DCD68B-D4B0-6C8F-641B-A81A4EE4A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Consequence</a:t>
            </a:r>
          </a:p>
          <a:p>
            <a:r>
              <a:rPr lang="en-GB" dirty="0">
                <a:highlight>
                  <a:srgbClr val="FFFF00"/>
                </a:highlight>
              </a:rPr>
              <a:t>The recurrent parameters receive learning signals from many temporal positions.</a:t>
            </a:r>
          </a:p>
          <a:p>
            <a:r>
              <a:rPr lang="en-GB" b="1" dirty="0"/>
              <a:t>Optional weighting</a:t>
            </a:r>
          </a:p>
          <a:p>
            <a:r>
              <a:rPr lang="en-GB" dirty="0"/>
              <a:t>Some applications may assign different importance to:</a:t>
            </a:r>
          </a:p>
          <a:p>
            <a:pPr lvl="1"/>
            <a:r>
              <a:rPr lang="en-GB" dirty="0"/>
              <a:t>different time steps; </a:t>
            </a:r>
          </a:p>
          <a:p>
            <a:pPr lvl="1"/>
            <a:r>
              <a:rPr lang="en-GB" dirty="0"/>
              <a:t>different events; </a:t>
            </a:r>
          </a:p>
          <a:p>
            <a:pPr lvl="1"/>
            <a:r>
              <a:rPr lang="en-GB" dirty="0"/>
              <a:t>different forecast horizons. </a:t>
            </a:r>
          </a:p>
          <a:p>
            <a:r>
              <a:rPr lang="en-GB" dirty="0"/>
              <a:t>But the basic principle is the same.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36579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2E0DCA-4C7F-FFCB-1A69-BAC06F601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Unrolling converts recurrence into a computational graph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A4F626-A4CF-27CD-80DE-EC6507772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compact recurrent representation: h[t] = f(x[t], h[t−1])</a:t>
            </a:r>
          </a:p>
          <a:p>
            <a:r>
              <a:rPr lang="en-GB" dirty="0"/>
              <a:t>can be expanded across time.</a:t>
            </a:r>
          </a:p>
          <a:p>
            <a:r>
              <a:rPr lang="en-GB" dirty="0"/>
              <a:t>For four steps:</a:t>
            </a:r>
          </a:p>
          <a:p>
            <a:r>
              <a:rPr lang="en-GB" dirty="0"/>
              <a:t>h[0] → [cell] → h[1] → [cell] → h[2] → [cell] → h[3] → [cell] → h[4]</a:t>
            </a:r>
          </a:p>
          <a:p>
            <a:r>
              <a:rPr lang="en-GB" dirty="0"/>
              <a:t>           ↑                       ↑                       ↑                       ↑</a:t>
            </a:r>
          </a:p>
          <a:p>
            <a:r>
              <a:rPr lang="en-GB" dirty="0"/>
              <a:t>          x[1]                  x[2]                   x[3]                   x[4]</a:t>
            </a:r>
          </a:p>
          <a:p>
            <a:r>
              <a:rPr lang="en-GB" dirty="0"/>
              <a:t>Although four cells are drawn, they all share the same parameters:</a:t>
            </a:r>
          </a:p>
          <a:p>
            <a:pPr lvl="1"/>
            <a:r>
              <a:rPr lang="en-GB" dirty="0" err="1"/>
              <a:t>W_x</a:t>
            </a:r>
            <a:endParaRPr lang="en-GB" dirty="0"/>
          </a:p>
          <a:p>
            <a:pPr lvl="1"/>
            <a:r>
              <a:rPr lang="en-GB" dirty="0" err="1"/>
              <a:t>W_h</a:t>
            </a:r>
            <a:endParaRPr lang="en-GB" dirty="0"/>
          </a:p>
          <a:p>
            <a:pPr lvl="1"/>
            <a:r>
              <a:rPr lang="en-GB" dirty="0"/>
              <a:t>b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82309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FED12-0BE4-74FC-7FC7-BD6CADD26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5A6F16-2B46-4A13-93FA-5F5F0115B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Unrolling converts recurrence into a computational graph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F73F03-314A-8F83-B790-67FF3F055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Forward pass</a:t>
            </a:r>
          </a:p>
          <a:p>
            <a:r>
              <a:rPr lang="en-GB" dirty="0"/>
              <a:t>Computation proceeds:</a:t>
            </a:r>
          </a:p>
          <a:p>
            <a:r>
              <a:rPr lang="en-GB" dirty="0"/>
              <a:t>1 → 2 → 3 → 4</a:t>
            </a:r>
          </a:p>
          <a:p>
            <a:r>
              <a:rPr lang="en-GB" b="1" dirty="0"/>
              <a:t>Backward pass</a:t>
            </a:r>
          </a:p>
          <a:p>
            <a:r>
              <a:rPr lang="en-GB" dirty="0"/>
              <a:t>The prediction error propagates in the opposite direction:</a:t>
            </a:r>
          </a:p>
          <a:p>
            <a:r>
              <a:rPr lang="en-GB" dirty="0"/>
              <a:t>4 → 3 → 2 → 1</a:t>
            </a:r>
          </a:p>
          <a:p>
            <a:endParaRPr lang="en-GB" b="1" dirty="0"/>
          </a:p>
          <a:p>
            <a:r>
              <a:rPr lang="en-GB" b="1" dirty="0"/>
              <a:t>This procedure is called</a:t>
            </a:r>
          </a:p>
          <a:p>
            <a:r>
              <a:rPr lang="en-GB" b="1" dirty="0">
                <a:highlight>
                  <a:srgbClr val="FFFF00"/>
                </a:highlight>
              </a:rPr>
              <a:t>Backpropagation Through Time — BPTT</a:t>
            </a:r>
            <a:endParaRPr lang="en-GB" dirty="0">
              <a:highlight>
                <a:srgbClr val="FFFF00"/>
              </a:highlight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00703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1FE3FA-A1DB-1627-F9EC-2F57476F4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Backpropagation Through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8CF8E7-FE37-44A0-C669-81DB096FF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/>
              <a:t>BPTT applies ordinary backpropagation to the recurrent network after it has been unrolled in time.</a:t>
            </a:r>
          </a:p>
          <a:p>
            <a:r>
              <a:rPr lang="en-GB" b="1" dirty="0"/>
              <a:t>Forward direction</a:t>
            </a:r>
          </a:p>
          <a:p>
            <a:r>
              <a:rPr lang="en-GB" dirty="0"/>
              <a:t>x[1] → h[1] → h[2] → h[3] → ... → h[L] → loss</a:t>
            </a:r>
          </a:p>
          <a:p>
            <a:r>
              <a:rPr lang="en-GB" b="1" dirty="0"/>
              <a:t>Gradient direction</a:t>
            </a:r>
          </a:p>
          <a:p>
            <a:r>
              <a:rPr lang="en-GB" dirty="0"/>
              <a:t>loss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h[L]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h[L−1]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h[L−2]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...</a:t>
            </a:r>
          </a:p>
          <a:p>
            <a:r>
              <a:rPr lang="en-GB" dirty="0"/>
              <a:t>  ↓</a:t>
            </a:r>
          </a:p>
          <a:p>
            <a:r>
              <a:rPr lang="en-GB" dirty="0"/>
              <a:t>h[1]</a:t>
            </a:r>
          </a:p>
          <a:p>
            <a:r>
              <a:rPr lang="en-GB" dirty="0"/>
              <a:t>At each step, the gradient passes through the recurrent transformation.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41503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BA94-40EE-FAC7-E121-9C6E0BE65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071F74-503A-DD04-6859-07A89D6F7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Backpropagation Through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443928-CB28-A077-F88F-0F864620E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Because the same parameters are used at every time step, the gradient for a recurrent weight receives contributions from multiple temporal positions.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gradient for </a:t>
            </a:r>
            <a:r>
              <a:rPr lang="en-GB" dirty="0" err="1"/>
              <a:t>W_h</a:t>
            </a:r>
            <a:r>
              <a:rPr lang="en-GB" dirty="0"/>
              <a:t> = contribution from step 1 + contribution from step 2 + ... + contribution from step L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/>
              <a:t>Shared parameters are updated using evidence accumulated across the sequence.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89878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Backpropagation Through Time: forward and backward views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applies backpropagation to the unrolled recurrent computation graph.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9264" y="15910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x[1]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41832" y="24048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h[1]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106424" y="1783080"/>
            <a:ext cx="0" cy="53035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103120" y="155448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157984" y="15910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x[2]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03120" y="23317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130552" y="24048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h[2]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1298448" y="2478024"/>
            <a:ext cx="80467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295144" y="1783080"/>
            <a:ext cx="0" cy="53035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291840" y="155448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46704" y="15910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x[3]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91840" y="23317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319272" y="24048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h[3]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2487168" y="2478024"/>
            <a:ext cx="80467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483864" y="1783080"/>
            <a:ext cx="0" cy="53035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480560" y="155448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535424" y="15910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x[4]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80560" y="23317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507992" y="24048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h[4]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3675888" y="2478024"/>
            <a:ext cx="80467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72584" y="1783080"/>
            <a:ext cx="0" cy="53035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669280" y="155448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724144" y="15910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x[5]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69280" y="23317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696712" y="24048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h[5]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4864608" y="2478024"/>
            <a:ext cx="80467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861304" y="1783080"/>
            <a:ext cx="0" cy="53035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858000" y="1554480"/>
            <a:ext cx="384048" cy="2286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912864" y="1591056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x[6]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58000" y="233172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885432" y="24048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h[6]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6053328" y="2478024"/>
            <a:ext cx="80467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050024" y="1783080"/>
            <a:ext cx="0" cy="53035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7242048" y="2478024"/>
            <a:ext cx="804672" cy="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8046720" y="2359152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8101584" y="2395728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503920" y="2478024"/>
            <a:ext cx="64008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9144000" y="2240280"/>
            <a:ext cx="731520" cy="4572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9198864" y="2276856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loss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14400" y="3657600"/>
            <a:ext cx="630936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3200400" y="3776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forward pass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875520" y="4251960"/>
            <a:ext cx="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4754880" y="43708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backward pass through time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5840" y="4983480"/>
            <a:ext cx="2926080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1060704" y="5020056"/>
            <a:ext cx="28163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Same parameters at every step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W_x, W_h, b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389120" y="4983480"/>
            <a:ext cx="3657600" cy="685800"/>
          </a:xfrm>
          <a:prstGeom prst="roundRect">
            <a:avLst>
              <a:gd name="adj" fmla="val 533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4443984" y="5020056"/>
            <a:ext cx="354787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Gradient contributions are summed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over time for shared weights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2920" y="6199632"/>
            <a:ext cx="10195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676656" y="6318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  <a:highlight>
                  <a:srgbClr val="FFFF00"/>
                </a:highlight>
              </a:rPr>
              <a:t>BPTT is ordinary backpropagation applied to the time-unrolled recurrent network</a:t>
            </a:r>
            <a:r>
              <a:rPr lang="en-US" sz="800" dirty="0">
                <a:solidFill>
                  <a:srgbClr val="111827"/>
                </a:solidFill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contributions from multiple time steps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recurrent weights are updated using evidence accumulated across the sequence.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41832" y="20848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h[1]</a:t>
            </a:r>
            <a:endParaRPr lang="en-US" sz="730" dirty="0"/>
          </a:p>
        </p:txBody>
      </p:sp>
      <p:sp>
        <p:nvSpPr>
          <p:cNvPr id="7" name="Shape 5"/>
          <p:cNvSpPr/>
          <p:nvPr/>
        </p:nvSpPr>
        <p:spPr>
          <a:xfrm>
            <a:off x="877824" y="274320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32688" y="277977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ŷ[1]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41248" y="3337560"/>
            <a:ext cx="530352" cy="32004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96112" y="3374136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06424" y="2304288"/>
            <a:ext cx="0" cy="420624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106424" y="2971800"/>
            <a:ext cx="0" cy="347472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920240" y="20116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947672" y="20848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h[2]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1883664" y="274320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938528" y="277977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ŷ[2]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47088" y="3337560"/>
            <a:ext cx="530352" cy="32004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901952" y="3374136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298448" y="215798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112264" y="2304288"/>
            <a:ext cx="0" cy="420624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112264" y="2971800"/>
            <a:ext cx="0" cy="347472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926080" y="20116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953512" y="20848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h[3]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2889504" y="274320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944368" y="277977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ŷ[3]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852928" y="3337560"/>
            <a:ext cx="530352" cy="32004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907792" y="3374136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304288" y="215798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118104" y="2304288"/>
            <a:ext cx="0" cy="420624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118104" y="2971800"/>
            <a:ext cx="0" cy="347472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931920" y="20116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959352" y="20848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h[4]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3895344" y="274320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3950208" y="277977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ŷ[4]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858768" y="3337560"/>
            <a:ext cx="530352" cy="32004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913632" y="3374136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L4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10128" y="215798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123944" y="2304288"/>
            <a:ext cx="0" cy="420624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4123944" y="2971800"/>
            <a:ext cx="0" cy="347472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4937760" y="20116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965192" y="20848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h[5]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4901184" y="274320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956048" y="277977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ŷ[5]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64608" y="3337560"/>
            <a:ext cx="530352" cy="32004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919472" y="3374136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L5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315968" y="215798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5129784" y="2304288"/>
            <a:ext cx="0" cy="420624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5129784" y="2971800"/>
            <a:ext cx="0" cy="347472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5943600" y="20116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5971032" y="20848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h[6]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5907024" y="274320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5961888" y="277977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ŷ[6]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870448" y="3337560"/>
            <a:ext cx="530352" cy="32004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5925312" y="3374136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L6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21808" y="2157984"/>
            <a:ext cx="62179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6135624" y="2304288"/>
            <a:ext cx="0" cy="420624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6135624" y="2971800"/>
            <a:ext cx="0" cy="347472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7680960" y="1554480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7735824" y="159105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step 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contribution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680960" y="2148840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7735824" y="218541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step 2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contribution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680960" y="2743200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7735824" y="277977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...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680960" y="3337560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7735824" y="337413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step 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contribution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961120" y="1783080"/>
            <a:ext cx="685800" cy="86868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8961120" y="2377440"/>
            <a:ext cx="685800" cy="27432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 flipV="1">
            <a:off x="8961120" y="2651760"/>
            <a:ext cx="685800" cy="32004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 flipV="1">
            <a:off x="8961120" y="2651760"/>
            <a:ext cx="685800" cy="91440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9646920" y="2331720"/>
            <a:ext cx="1143000" cy="64008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9701784" y="2368296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update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W_h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02920" y="6199632"/>
            <a:ext cx="10195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676656" y="6318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When loss is computed at many time steps, the recurrent weights receive many learning signals.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088ADC-DCA0-D2C0-DC4B-2C276175C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early observations can influence the final loss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A1D934-2100-39A6-98E6-CC4E1ADCF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426" y="2160588"/>
            <a:ext cx="5124450" cy="4506911"/>
          </a:xfrm>
        </p:spPr>
        <p:txBody>
          <a:bodyPr>
            <a:normAutofit fontScale="40000" lnSpcReduction="20000"/>
          </a:bodyPr>
          <a:lstStyle/>
          <a:p>
            <a:r>
              <a:rPr lang="en-GB" sz="2500" dirty="0"/>
              <a:t>Suppose the final prediction depends on an observation x[2] occurring far before x[L]</a:t>
            </a:r>
          </a:p>
          <a:p>
            <a:r>
              <a:rPr lang="en-GB" sz="2500" dirty="0"/>
              <a:t>The influence must travel through:</a:t>
            </a:r>
          </a:p>
          <a:p>
            <a:r>
              <a:rPr lang="en-GB" sz="2500" dirty="0"/>
              <a:t>x[2]</a:t>
            </a:r>
          </a:p>
          <a:p>
            <a:r>
              <a:rPr lang="en-GB" sz="2500" dirty="0"/>
              <a:t> ↓</a:t>
            </a:r>
          </a:p>
          <a:p>
            <a:r>
              <a:rPr lang="en-GB" sz="2500" dirty="0"/>
              <a:t>h[2]</a:t>
            </a:r>
          </a:p>
          <a:p>
            <a:r>
              <a:rPr lang="en-GB" sz="2500" dirty="0"/>
              <a:t> ↓</a:t>
            </a:r>
          </a:p>
          <a:p>
            <a:r>
              <a:rPr lang="en-GB" sz="2500" dirty="0"/>
              <a:t>h[3]</a:t>
            </a:r>
          </a:p>
          <a:p>
            <a:r>
              <a:rPr lang="en-GB" sz="2500" dirty="0"/>
              <a:t> ↓</a:t>
            </a:r>
          </a:p>
          <a:p>
            <a:r>
              <a:rPr lang="en-GB" sz="2500" dirty="0"/>
              <a:t>h[4]</a:t>
            </a:r>
          </a:p>
          <a:p>
            <a:r>
              <a:rPr lang="en-GB" sz="2500" dirty="0"/>
              <a:t> ↓</a:t>
            </a:r>
          </a:p>
          <a:p>
            <a:r>
              <a:rPr lang="en-GB" sz="2500" dirty="0"/>
              <a:t>...</a:t>
            </a:r>
          </a:p>
          <a:p>
            <a:r>
              <a:rPr lang="en-GB" sz="2800" dirty="0"/>
              <a:t> ↓</a:t>
            </a:r>
          </a:p>
          <a:p>
            <a:r>
              <a:rPr lang="en-GB" sz="2800" dirty="0"/>
              <a:t>h[L]</a:t>
            </a:r>
          </a:p>
          <a:p>
            <a:r>
              <a:rPr lang="en-GB" sz="2800" dirty="0"/>
              <a:t> ↓</a:t>
            </a:r>
          </a:p>
          <a:p>
            <a:r>
              <a:rPr lang="en-GB" sz="2800" dirty="0"/>
              <a:t>prediction</a:t>
            </a:r>
          </a:p>
          <a:p>
            <a:r>
              <a:rPr lang="en-GB" sz="2800" dirty="0"/>
              <a:t> ↓</a:t>
            </a:r>
          </a:p>
          <a:p>
            <a:r>
              <a:rPr lang="en-GB" sz="2800" dirty="0"/>
              <a:t>loss</a:t>
            </a:r>
          </a:p>
          <a:p>
            <a:endParaRPr lang="en-GB" sz="2500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F8B4982-4EDF-967E-64B4-968554730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720" y="2160589"/>
            <a:ext cx="5920930" cy="4421186"/>
          </a:xfrm>
        </p:spPr>
        <p:txBody>
          <a:bodyPr>
            <a:normAutofit fontScale="40000" lnSpcReduction="20000"/>
          </a:bodyPr>
          <a:lstStyle/>
          <a:p>
            <a:r>
              <a:rPr lang="en-GB" sz="2200" b="1" dirty="0">
                <a:highlight>
                  <a:srgbClr val="FFFF00"/>
                </a:highlight>
              </a:rPr>
              <a:t>During training, the gradient follows the reverse path.</a:t>
            </a:r>
          </a:p>
          <a:p>
            <a:r>
              <a:rPr lang="en-GB" sz="2200" dirty="0"/>
              <a:t>loss</a:t>
            </a:r>
          </a:p>
          <a:p>
            <a:r>
              <a:rPr lang="en-GB" sz="2200" dirty="0"/>
              <a:t> ↓</a:t>
            </a:r>
          </a:p>
          <a:p>
            <a:r>
              <a:rPr lang="en-GB" sz="2200" dirty="0"/>
              <a:t>h[L]</a:t>
            </a:r>
          </a:p>
          <a:p>
            <a:r>
              <a:rPr lang="en-GB" sz="2200" dirty="0"/>
              <a:t> ↓</a:t>
            </a:r>
          </a:p>
          <a:p>
            <a:r>
              <a:rPr lang="en-GB" sz="2200" dirty="0"/>
              <a:t>...</a:t>
            </a:r>
          </a:p>
          <a:p>
            <a:r>
              <a:rPr lang="en-GB" sz="2200" dirty="0"/>
              <a:t> ↓</a:t>
            </a:r>
          </a:p>
          <a:p>
            <a:r>
              <a:rPr lang="en-GB" sz="2200" dirty="0"/>
              <a:t>h[3]</a:t>
            </a:r>
          </a:p>
          <a:p>
            <a:r>
              <a:rPr lang="en-GB" sz="2200" dirty="0"/>
              <a:t> ↓</a:t>
            </a:r>
          </a:p>
          <a:p>
            <a:r>
              <a:rPr lang="en-GB" sz="2200" dirty="0"/>
              <a:t>h[2]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856490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175F94-C8A4-6413-909D-EB555339D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early observations can influence the final loss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CED42D-C69D-0E2C-DA69-FC592612B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Long-range dependency</a:t>
            </a:r>
          </a:p>
          <a:p>
            <a:r>
              <a:rPr lang="en-GB" dirty="0"/>
              <a:t>The greater the distance between:</a:t>
            </a:r>
          </a:p>
          <a:p>
            <a:pPr lvl="1"/>
            <a:r>
              <a:rPr lang="en-GB" dirty="0"/>
              <a:t>the observation carrying useful information; </a:t>
            </a:r>
          </a:p>
          <a:p>
            <a:pPr lvl="1"/>
            <a:r>
              <a:rPr lang="en-GB" dirty="0"/>
              <a:t>the prediction that needs that information; </a:t>
            </a:r>
          </a:p>
          <a:p>
            <a:r>
              <a:rPr lang="en-GB" b="1" dirty="0"/>
              <a:t>the more recurrent transformations lie between them.</a:t>
            </a:r>
          </a:p>
          <a:p>
            <a:r>
              <a:rPr lang="en-GB" b="1" dirty="0">
                <a:highlight>
                  <a:srgbClr val="FFFF00"/>
                </a:highlight>
              </a:rPr>
              <a:t>Example</a:t>
            </a:r>
          </a:p>
          <a:p>
            <a:r>
              <a:rPr lang="en-GB" dirty="0">
                <a:highlight>
                  <a:srgbClr val="FFFF00"/>
                </a:highlight>
              </a:rPr>
              <a:t>A machine fault at the end of a 1,000-step window may depend on a weak event occurring near step 50.</a:t>
            </a:r>
          </a:p>
          <a:p>
            <a:r>
              <a:rPr lang="en-GB" dirty="0">
                <a:highlight>
                  <a:srgbClr val="FFFF00"/>
                </a:highlight>
              </a:rPr>
              <a:t>The model must learn to retain that information across hundreds of state updates.</a:t>
            </a:r>
          </a:p>
          <a:p>
            <a:r>
              <a:rPr lang="en-GB" b="1" dirty="0">
                <a:highlight>
                  <a:srgbClr val="FFFF00"/>
                </a:highlight>
              </a:rPr>
              <a:t>This is where </a:t>
            </a:r>
            <a:r>
              <a:rPr lang="en-GB" b="1" dirty="0" err="1">
                <a:highlight>
                  <a:srgbClr val="FFFF00"/>
                </a:highlight>
              </a:rPr>
              <a:t>SimpleRNN</a:t>
            </a:r>
            <a:r>
              <a:rPr lang="en-GB" b="1" dirty="0">
                <a:highlight>
                  <a:srgbClr val="FFFF00"/>
                </a:highlight>
              </a:rPr>
              <a:t> encounters difficulty.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95810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 long-range dependency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early information must influence a much later loss.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41832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h[1]</a:t>
            </a:r>
            <a:endParaRPr lang="en-US" sz="730" dirty="0"/>
          </a:p>
        </p:txBody>
      </p:sp>
      <p:sp>
        <p:nvSpPr>
          <p:cNvPr id="7" name="Shape 5"/>
          <p:cNvSpPr/>
          <p:nvPr/>
        </p:nvSpPr>
        <p:spPr>
          <a:xfrm>
            <a:off x="1828800" y="274320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856232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h[2]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298448" y="288950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743200" y="274320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770632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h[3]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2212848" y="288950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657600" y="274320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685032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h[4]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3127248" y="288950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572000" y="274320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99432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h[5]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41648" y="288950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486400" y="274320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513832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h[6]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4956048" y="288950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400800" y="274320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428232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h[7]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5870448" y="288950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315200" y="274320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342632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h[8]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6784848" y="288950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8229600" y="274320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257032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h[9]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7699248" y="288950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914400" y="1554480"/>
            <a:ext cx="914400" cy="384048"/>
          </a:xfrm>
          <a:prstGeom prst="roundRect">
            <a:avLst>
              <a:gd name="adj" fmla="val 952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969264" y="1591056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weak early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event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371600" y="1938528"/>
            <a:ext cx="0" cy="78638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8869680" y="2770632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8924544" y="2807208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613648" y="2889504"/>
            <a:ext cx="256032" cy="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9646920" y="2651760"/>
            <a:ext cx="640080" cy="4572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9701784" y="2688336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loss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326880" y="2889504"/>
            <a:ext cx="32004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9966960" y="3977640"/>
            <a:ext cx="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2926080" y="3707893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</a:rPr>
              <a:t>training signal must travel backward through many recurrent transformations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194560" y="5029200"/>
            <a:ext cx="5486400" cy="7315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2249424" y="5065776"/>
            <a:ext cx="5376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The longer the time distance, the more transformations separate evidence from the loss.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6199632"/>
            <a:ext cx="10195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76656" y="6318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highlight>
                  <a:srgbClr val="FFFF00"/>
                </a:highlight>
              </a:rPr>
              <a:t>Long-range dependencies are training problems.</a:t>
            </a:r>
            <a:endParaRPr lang="en-US" sz="105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8FA750-25D2-341A-7A1D-AE399EDA4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Repeated multiplication occurs during gradient propagation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D9EE89-2642-AD7C-E434-D6164BCA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Consider the recurrent contribution:</a:t>
            </a:r>
          </a:p>
          <a:p>
            <a:r>
              <a:rPr lang="en-GB" dirty="0"/>
              <a:t>h[t] = activation(... + </a:t>
            </a:r>
            <a:r>
              <a:rPr lang="en-GB" dirty="0" err="1"/>
              <a:t>W_h</a:t>
            </a:r>
            <a:r>
              <a:rPr lang="en-GB" dirty="0"/>
              <a:t> h[t−1])</a:t>
            </a:r>
          </a:p>
          <a:p>
            <a:r>
              <a:rPr lang="en-GB" dirty="0">
                <a:highlight>
                  <a:srgbClr val="FFFF00"/>
                </a:highlight>
              </a:rPr>
              <a:t>When a gradient moves backward from h[t] toward h[t−1]</a:t>
            </a:r>
          </a:p>
          <a:p>
            <a:r>
              <a:rPr lang="en-GB" dirty="0">
                <a:highlight>
                  <a:srgbClr val="FFFF00"/>
                </a:highlight>
              </a:rPr>
              <a:t>it is transformed by quantities related to </a:t>
            </a:r>
          </a:p>
          <a:p>
            <a:pPr lvl="1"/>
            <a:r>
              <a:rPr lang="en-GB" dirty="0" err="1">
                <a:highlight>
                  <a:srgbClr val="FFFF00"/>
                </a:highlight>
              </a:rPr>
              <a:t>W_h</a:t>
            </a:r>
            <a:r>
              <a:rPr lang="en-GB" dirty="0">
                <a:highlight>
                  <a:srgbClr val="FFFF00"/>
                </a:highlight>
              </a:rPr>
              <a:t>; 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the derivative of the activation function. </a:t>
            </a:r>
          </a:p>
          <a:p>
            <a:r>
              <a:rPr lang="en-GB" dirty="0"/>
              <a:t>For a dependency spanning many time steps, similar transformations are repeatedly applied.</a:t>
            </a:r>
          </a:p>
          <a:p>
            <a:r>
              <a:rPr lang="en-GB" dirty="0"/>
              <a:t>Conceptually:</a:t>
            </a:r>
          </a:p>
          <a:p>
            <a:pPr lvl="1"/>
            <a:r>
              <a:rPr lang="en-GB" dirty="0"/>
              <a:t>gradient</a:t>
            </a:r>
          </a:p>
          <a:p>
            <a:pPr lvl="1"/>
            <a:r>
              <a:rPr lang="en-GB" dirty="0"/>
              <a:t> × recurrent transformation</a:t>
            </a:r>
          </a:p>
          <a:p>
            <a:pPr lvl="1"/>
            <a:r>
              <a:rPr lang="en-GB" dirty="0"/>
              <a:t> × recurrent transformation</a:t>
            </a:r>
          </a:p>
          <a:p>
            <a:pPr lvl="1"/>
            <a:r>
              <a:rPr lang="en-GB" dirty="0"/>
              <a:t> × recurrent transformation</a:t>
            </a:r>
          </a:p>
          <a:p>
            <a:pPr lvl="1"/>
            <a:r>
              <a:rPr lang="en-GB" dirty="0"/>
              <a:t> × ...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162624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B78668-7225-9ADF-CD5D-294932ED4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Repeated multiplication occurs during gradient propagation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A13C5B-6E81-6155-A8AA-D2E392C27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Why is this important?</a:t>
            </a:r>
          </a:p>
          <a:p>
            <a:r>
              <a:rPr lang="en-GB" dirty="0"/>
              <a:t>Repeated multiplication can cause the gradient magnitude to:</a:t>
            </a:r>
          </a:p>
          <a:p>
            <a:pPr lvl="1"/>
            <a:r>
              <a:rPr lang="en-GB" dirty="0"/>
              <a:t>progressively decrease; </a:t>
            </a:r>
          </a:p>
          <a:p>
            <a:pPr lvl="1"/>
            <a:r>
              <a:rPr lang="en-GB" dirty="0"/>
              <a:t>progressively increase. </a:t>
            </a:r>
          </a:p>
          <a:p>
            <a:r>
              <a:rPr lang="en-GB" dirty="0"/>
              <a:t>This leads to two major problems:</a:t>
            </a:r>
          </a:p>
          <a:p>
            <a:pPr lvl="1"/>
            <a:r>
              <a:rPr lang="en-GB" b="1" dirty="0"/>
              <a:t>vanishing gradients</a:t>
            </a:r>
            <a:r>
              <a:rPr lang="en-GB" dirty="0"/>
              <a:t>; </a:t>
            </a:r>
          </a:p>
          <a:p>
            <a:pPr lvl="1"/>
            <a:r>
              <a:rPr lang="en-GB" b="1" dirty="0"/>
              <a:t>exploding gradients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They arise from the long chain of recurrent computations.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872182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multiplication during gradient propagation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gradient is transformed again and again as it moves backward through time.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05840" y="2148840"/>
            <a:ext cx="713232" cy="384048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60704" y="2185416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step 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57400" y="2148840"/>
            <a:ext cx="713232" cy="384048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112264" y="2185416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step 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19072" y="2340864"/>
            <a:ext cx="338328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108960" y="2148840"/>
            <a:ext cx="713232" cy="384048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163824" y="2185416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step 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70632" y="2340864"/>
            <a:ext cx="338328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160520" y="2148840"/>
            <a:ext cx="713232" cy="384048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215384" y="2185416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step 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22192" y="2340864"/>
            <a:ext cx="338328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212080" y="2148840"/>
            <a:ext cx="713232" cy="384048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266944" y="2185416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step 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73752" y="2340864"/>
            <a:ext cx="338328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263640" y="2148840"/>
            <a:ext cx="713232" cy="384048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318504" y="2185416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step 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25312" y="2340864"/>
            <a:ext cx="338328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315200" y="2148840"/>
            <a:ext cx="713232" cy="384048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370064" y="2185416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step 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76872" y="2340864"/>
            <a:ext cx="338328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8366760" y="2148840"/>
            <a:ext cx="731520" cy="384048"/>
          </a:xfrm>
          <a:prstGeom prst="roundRect">
            <a:avLst>
              <a:gd name="adj" fmla="val 952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421624" y="218541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loss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28432" y="2340864"/>
            <a:ext cx="338328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8321040" y="3337560"/>
            <a:ext cx="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2004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gradient × transform × transform × transform × ...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80160" y="4617720"/>
            <a:ext cx="237744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335024" y="465429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Vanishing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progressively smaller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60520" y="4617720"/>
            <a:ext cx="2377440" cy="73152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215384" y="465429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Stable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useful signal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40880" y="4617720"/>
            <a:ext cx="2377440" cy="7315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7095744" y="465429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Exploding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progressively larger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" y="6199632"/>
            <a:ext cx="10195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76656" y="6318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Repeated transformations </a:t>
            </a:r>
            <a:r>
              <a:rPr lang="en-US" sz="1000" dirty="0">
                <a:solidFill>
                  <a:srgbClr val="111827"/>
                </a:solidFill>
              </a:rPr>
              <a:t>can shrink or amplify gradients over long time spans.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Vanishing gradient issue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81</a:t>
            </a:fld>
            <a:endParaRPr lang="en-US"/>
          </a:p>
        </p:txBody>
      </p:sp>
      <p:pic>
        <p:nvPicPr>
          <p:cNvPr id="5" name="Picture 2" descr="memorization-rn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845" y="2378074"/>
            <a:ext cx="10010775" cy="393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537F42E-D5E4-1A9F-E41A-F027D92AC8C2}"/>
              </a:ext>
            </a:extLst>
          </p:cNvPr>
          <p:cNvSpPr txBox="1"/>
          <p:nvPr/>
        </p:nvSpPr>
        <p:spPr>
          <a:xfrm>
            <a:off x="10529045" y="1986517"/>
            <a:ext cx="17315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/>
              <a:t>If</a:t>
            </a:r>
            <a:r>
              <a:rPr lang="it-IT" sz="1400" dirty="0"/>
              <a:t> the cost </a:t>
            </a:r>
            <a:r>
              <a:rPr lang="it-IT" sz="1400" dirty="0" err="1"/>
              <a:t>function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evaluated</a:t>
            </a:r>
            <a:r>
              <a:rPr lang="it-IT" sz="1400" dirty="0"/>
              <a:t> </a:t>
            </a:r>
            <a:r>
              <a:rPr lang="it-IT" sz="1400" dirty="0" err="1"/>
              <a:t>at</a:t>
            </a:r>
            <a:r>
              <a:rPr lang="it-IT" sz="1400" dirty="0"/>
              <a:t> the end </a:t>
            </a:r>
            <a:r>
              <a:rPr lang="it-IT" sz="1400" dirty="0" err="1"/>
              <a:t>only</a:t>
            </a:r>
            <a:r>
              <a:rPr lang="it-IT" sz="1400" dirty="0"/>
              <a:t> (seq-2-vect)</a:t>
            </a:r>
            <a:endParaRPr lang="en-GB" sz="1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5D98CFF-A763-07B8-68C1-872EBC7F6A64}"/>
              </a:ext>
            </a:extLst>
          </p:cNvPr>
          <p:cNvSpPr txBox="1"/>
          <p:nvPr/>
        </p:nvSpPr>
        <p:spPr>
          <a:xfrm>
            <a:off x="7561094" y="6031210"/>
            <a:ext cx="3115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For </a:t>
            </a:r>
            <a:r>
              <a:rPr lang="it-IT" b="1" dirty="0" err="1"/>
              <a:t>each</a:t>
            </a:r>
            <a:r>
              <a:rPr lang="it-IT" b="1" dirty="0"/>
              <a:t> sample </a:t>
            </a:r>
            <a:r>
              <a:rPr lang="it-IT" b="1" dirty="0" err="1"/>
              <a:t>prediction</a:t>
            </a:r>
            <a:r>
              <a:rPr lang="it-IT" b="1" dirty="0"/>
              <a:t>, </a:t>
            </a:r>
            <a:r>
              <a:rPr lang="it-IT" b="1" dirty="0" err="1"/>
              <a:t>each</a:t>
            </a:r>
            <a:r>
              <a:rPr lang="it-IT" b="1" dirty="0"/>
              <a:t> weight </a:t>
            </a:r>
            <a:r>
              <a:rPr lang="it-IT" b="1" dirty="0" err="1"/>
              <a:t>contributes</a:t>
            </a:r>
            <a:r>
              <a:rPr lang="it-IT" b="1" dirty="0"/>
              <a:t> to the </a:t>
            </a:r>
            <a:r>
              <a:rPr lang="it-IT" b="1" dirty="0" err="1"/>
              <a:t>error</a:t>
            </a:r>
            <a:r>
              <a:rPr lang="it-IT" b="1" dirty="0"/>
              <a:t> </a:t>
            </a:r>
            <a:r>
              <a:rPr lang="it-IT" b="1" dirty="0" err="1"/>
              <a:t>at</a:t>
            </a:r>
            <a:r>
              <a:rPr lang="it-IT" b="1" dirty="0"/>
              <a:t> </a:t>
            </a:r>
            <a:r>
              <a:rPr lang="it-IT" b="1" dirty="0" err="1"/>
              <a:t>each</a:t>
            </a:r>
            <a:r>
              <a:rPr lang="it-IT" b="1" dirty="0"/>
              <a:t> time step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77308745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11C547-1232-AC12-2E90-F6D78B0CA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919546" cy="1320800"/>
          </a:xfrm>
        </p:spPr>
        <p:txBody>
          <a:bodyPr/>
          <a:lstStyle/>
          <a:p>
            <a:r>
              <a:rPr lang="en-GB" dirty="0"/>
              <a:t>Sequence length affects computational depth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368B30-C1D7-6A63-0084-F9192E879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7330" y="1838960"/>
            <a:ext cx="5456110" cy="4409440"/>
          </a:xfrm>
        </p:spPr>
        <p:txBody>
          <a:bodyPr>
            <a:normAutofit/>
          </a:bodyPr>
          <a:lstStyle/>
          <a:p>
            <a:r>
              <a:rPr lang="en-GB" dirty="0"/>
              <a:t>The number of model parameters does not depend on sequence length.</a:t>
            </a:r>
          </a:p>
          <a:p>
            <a:r>
              <a:rPr lang="en-GB" dirty="0"/>
              <a:t>However, the number of sequential recurrent operations does.</a:t>
            </a:r>
          </a:p>
          <a:p>
            <a:r>
              <a:rPr lang="en-GB" dirty="0"/>
              <a:t>For L = 20</a:t>
            </a:r>
          </a:p>
          <a:p>
            <a:r>
              <a:rPr lang="en-GB" dirty="0"/>
              <a:t>the model applies the recurrent transformation 20 times.</a:t>
            </a:r>
          </a:p>
          <a:p>
            <a:r>
              <a:rPr lang="en-GB" dirty="0"/>
              <a:t>For L = 1000</a:t>
            </a:r>
          </a:p>
          <a:p>
            <a:r>
              <a:rPr lang="en-GB" dirty="0"/>
              <a:t>it applies it 1,000 times.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434B429-82DB-2AD9-CFF5-295A6C855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838960"/>
            <a:ext cx="5770880" cy="4517361"/>
          </a:xfrm>
        </p:spPr>
        <p:txBody>
          <a:bodyPr>
            <a:normAutofit/>
          </a:bodyPr>
          <a:lstStyle/>
          <a:p>
            <a:r>
              <a:rPr lang="en-GB" b="1" dirty="0"/>
              <a:t>Consequences of longer sequences</a:t>
            </a:r>
          </a:p>
          <a:p>
            <a:pPr lvl="1"/>
            <a:r>
              <a:rPr lang="en-GB" dirty="0"/>
              <a:t>more computation; </a:t>
            </a:r>
          </a:p>
          <a:p>
            <a:pPr lvl="1"/>
            <a:r>
              <a:rPr lang="en-GB" dirty="0"/>
              <a:t>more memory during training; </a:t>
            </a:r>
          </a:p>
          <a:p>
            <a:pPr lvl="1"/>
            <a:r>
              <a:rPr lang="en-GB" dirty="0"/>
              <a:t>longer gradient paths; </a:t>
            </a:r>
          </a:p>
          <a:p>
            <a:pPr lvl="1"/>
            <a:r>
              <a:rPr lang="en-GB" dirty="0"/>
              <a:t>greater difficulty learning distant dependencies. </a:t>
            </a:r>
          </a:p>
          <a:p>
            <a:endParaRPr lang="en-GB" dirty="0"/>
          </a:p>
          <a:p>
            <a:r>
              <a:rPr lang="en-GB" dirty="0"/>
              <a:t>Increasing L does not create new recurrent weights.</a:t>
            </a:r>
          </a:p>
          <a:p>
            <a:r>
              <a:rPr lang="en-GB" dirty="0"/>
              <a:t>It creates a </a:t>
            </a:r>
            <a:r>
              <a:rPr lang="en-GB" b="1" dirty="0"/>
              <a:t>deeper unrolled computational graph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8FD7927-0E83-A606-F574-0324D4E6CEE0}"/>
              </a:ext>
            </a:extLst>
          </p:cNvPr>
          <p:cNvSpPr txBox="1"/>
          <p:nvPr/>
        </p:nvSpPr>
        <p:spPr>
          <a:xfrm>
            <a:off x="2039524" y="5879068"/>
            <a:ext cx="7787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An RNN is shallow in parameters but potentially very deep in time.</a:t>
            </a:r>
          </a:p>
        </p:txBody>
      </p:sp>
    </p:spTree>
    <p:extLst>
      <p:ext uri="{BB962C8B-B14F-4D97-AF65-F5344CB8AC3E}">
        <p14:creationId xmlns:p14="http://schemas.microsoft.com/office/powerpoint/2010/main" val="3981609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length creates computational depth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sequences do not add parameters, but they add recurrent operations.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Short sequence: L = 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365760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41832" y="203911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600200" y="196596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627632" y="203911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2286000" y="196596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313432" y="203911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2971800" y="196596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999232" y="203911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3657600" y="196596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85032" y="203911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4343400" y="196596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370832" y="203911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182880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20 recurrent updates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Long sequence: L = 1000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4297680"/>
            <a:ext cx="82296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914400" y="416052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41832" y="4206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1481328" y="416052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508760" y="4206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2048256" y="416052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075688" y="4206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2615184" y="416052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642616" y="4206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3182112" y="416052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209544" y="4206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3749040" y="416052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776472" y="4206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4315968" y="416052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343400" y="4206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36" name="Shape 34"/>
          <p:cNvSpPr/>
          <p:nvPr/>
        </p:nvSpPr>
        <p:spPr>
          <a:xfrm>
            <a:off x="4882896" y="416052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910328" y="4206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5449824" y="416052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477256" y="4206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6016752" y="416052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044184" y="4206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6583680" y="416052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611112" y="4206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7150608" y="416052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7178040" y="4206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46" name="Shape 44"/>
          <p:cNvSpPr/>
          <p:nvPr/>
        </p:nvSpPr>
        <p:spPr>
          <a:xfrm>
            <a:off x="7717536" y="416052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7744968" y="4206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8284464" y="4160520"/>
            <a:ext cx="237744" cy="23774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8311896" y="42062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50" name="Text 48"/>
          <p:cNvSpPr/>
          <p:nvPr/>
        </p:nvSpPr>
        <p:spPr>
          <a:xfrm>
            <a:off x="3657600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1000 recurrent updates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406640" y="1600200"/>
            <a:ext cx="2468880" cy="1005840"/>
          </a:xfrm>
          <a:prstGeom prst="roundRect">
            <a:avLst>
              <a:gd name="adj" fmla="val 363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7461504" y="1636776"/>
            <a:ext cx="2359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Parameters stay the same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W_x, W_h, b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06640" y="3063240"/>
            <a:ext cx="2468880" cy="1005840"/>
          </a:xfrm>
          <a:prstGeom prst="roundRect">
            <a:avLst>
              <a:gd name="adj" fmla="val 3636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7461504" y="3099816"/>
            <a:ext cx="2359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Computation and gradient path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become much longer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" y="6199632"/>
            <a:ext cx="10195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676656" y="6318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An RNN is shallow in parameters but potentially very deep when unrolled through time.</a:t>
            </a:r>
            <a:endParaRPr lang="en-US" sz="1100" b="1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286D80-FD35-FF57-F14C-0B9AF8488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Truncated Backpropagation Through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30A9F4-4073-C4C1-6D51-D4F3A1A4C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For very long streams, backpropagating through the complete history can be computationally expensive.</a:t>
            </a:r>
          </a:p>
          <a:p>
            <a:r>
              <a:rPr lang="en-GB" dirty="0"/>
              <a:t>One practical strategy is </a:t>
            </a:r>
            <a:r>
              <a:rPr lang="en-GB" b="1" dirty="0"/>
              <a:t>truncated BPTT</a:t>
            </a:r>
            <a:r>
              <a:rPr lang="en-GB" dirty="0"/>
              <a:t>.</a:t>
            </a:r>
          </a:p>
          <a:p>
            <a:r>
              <a:rPr lang="en-GB" dirty="0"/>
              <a:t>Instead of propagating gradients through the full sequence:</a:t>
            </a:r>
          </a:p>
          <a:p>
            <a:r>
              <a:rPr lang="en-GB" dirty="0"/>
              <a:t>1 → 2 → 3 → ... → 1000</a:t>
            </a:r>
          </a:p>
          <a:p>
            <a:r>
              <a:rPr lang="en-GB" b="1" dirty="0"/>
              <a:t>training may operate over shorter segments:</a:t>
            </a:r>
          </a:p>
          <a:p>
            <a:pPr lvl="1"/>
            <a:r>
              <a:rPr lang="en-GB" dirty="0"/>
              <a:t>1–100</a:t>
            </a:r>
          </a:p>
          <a:p>
            <a:pPr lvl="1"/>
            <a:r>
              <a:rPr lang="en-GB" dirty="0"/>
              <a:t>101–200</a:t>
            </a:r>
          </a:p>
          <a:p>
            <a:pPr lvl="1"/>
            <a:r>
              <a:rPr lang="en-GB" dirty="0"/>
              <a:t>201–300</a:t>
            </a:r>
          </a:p>
          <a:p>
            <a:pPr lvl="1"/>
            <a:r>
              <a:rPr lang="en-GB" dirty="0"/>
              <a:t>...</a:t>
            </a:r>
          </a:p>
          <a:p>
            <a:r>
              <a:rPr lang="en-GB" dirty="0"/>
              <a:t>The hidden state may continue between segments, while gradient propagation is limited to a finite temporal range.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154837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1D113F-13A8-8254-4BCE-7CCBA7EEB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Truncated Backpropagation Through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BA8619-880B-83A2-872A-08DCA3162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Benefits</a:t>
            </a:r>
          </a:p>
          <a:p>
            <a:pPr lvl="1"/>
            <a:r>
              <a:rPr lang="en-GB" dirty="0"/>
              <a:t>lower memory requirement; </a:t>
            </a:r>
          </a:p>
          <a:p>
            <a:pPr lvl="1"/>
            <a:r>
              <a:rPr lang="en-GB" dirty="0"/>
              <a:t>reduced computational cost; </a:t>
            </a:r>
          </a:p>
          <a:p>
            <a:pPr lvl="1"/>
            <a:r>
              <a:rPr lang="en-GB" dirty="0"/>
              <a:t>practical training on long continuous sequences. </a:t>
            </a:r>
          </a:p>
          <a:p>
            <a:r>
              <a:rPr lang="en-GB" b="1" dirty="0"/>
              <a:t>Limitation</a:t>
            </a:r>
          </a:p>
          <a:p>
            <a:pPr lvl="1"/>
            <a:r>
              <a:rPr lang="en-GB" dirty="0"/>
              <a:t>Dependencies extending beyond the truncation interval become more difficult to learn through gradient propagation.</a:t>
            </a:r>
          </a:p>
          <a:p>
            <a:endParaRPr lang="en-GB" dirty="0"/>
          </a:p>
          <a:p>
            <a:r>
              <a:rPr lang="en-GB" b="1" dirty="0"/>
              <a:t>We can limit how far the training gradient is propagated even when the recurrent state continues forward.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177618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Truncated Backpropagation Through Time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forward state can continue, while gradient propagation is limited to shorter segments.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Full stream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914400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41832" y="16733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737360" y="160020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764792" y="16733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2560320" y="160020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587752" y="16733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3383280" y="160020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410712" y="16733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4206240" y="160020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233672" y="16733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5029200" y="160020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056632" y="16733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5852160" y="160020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879592" y="16733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6675120" y="160020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702552" y="16733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7498080" y="160020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525512" y="16733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8321040" y="160020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348472" y="16733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9144000" y="160020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171432" y="16733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3840480" y="2057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hidden state continues forward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14400" y="2834640"/>
            <a:ext cx="2377440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969264" y="287121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segment 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forward + local backward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91840" y="3154680"/>
            <a:ext cx="502920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3063240" y="3794760"/>
            <a:ext cx="0" cy="0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417320" y="3931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C2626"/>
                </a:solidFill>
              </a:rPr>
              <a:t>gradient limited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840480" y="2834640"/>
            <a:ext cx="2377440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895344" y="287121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segment 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forward + local backward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17920" y="3154680"/>
            <a:ext cx="502920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5989320" y="3794760"/>
            <a:ext cx="0" cy="0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343400" y="3931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C2626"/>
                </a:solidFill>
              </a:rPr>
              <a:t>gradient limited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766560" y="2834640"/>
            <a:ext cx="2377440" cy="64008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821424" y="287121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segment 3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</a:rPr>
              <a:t>forward + local backward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144000" y="3154680"/>
            <a:ext cx="502920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8915400" y="3794760"/>
            <a:ext cx="0" cy="0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7269480" y="3931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C2626"/>
                </a:solidFill>
              </a:rPr>
              <a:t>gradient limited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14400" y="4892040"/>
            <a:ext cx="2926080" cy="777240"/>
          </a:xfrm>
          <a:prstGeom prst="roundRect">
            <a:avLst>
              <a:gd name="adj" fmla="val 4706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969264" y="4928616"/>
            <a:ext cx="28163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Benefit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lower memory and compute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89120" y="4892040"/>
            <a:ext cx="2926080" cy="777240"/>
          </a:xfrm>
          <a:prstGeom prst="roundRect">
            <a:avLst>
              <a:gd name="adj" fmla="val 4706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4443984" y="4928616"/>
            <a:ext cx="28163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Limitation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</a:rPr>
              <a:t>longer dependencies are harder to train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2920" y="6199632"/>
            <a:ext cx="10195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76656" y="6318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Truncated BPTT is a training strategy for long streams; it limits how far the error signal is propagated.</a:t>
            </a:r>
            <a:endParaRPr lang="en-US" sz="1000" b="1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26137E-BB3A-D8D3-49B9-B516923FD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BPTT does not solve the long-memory problem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9099AB-F8CC-F4A0-F0EA-37575A875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Backpropagation Through Time tells us </a:t>
            </a:r>
            <a:r>
              <a:rPr lang="en-GB" b="1" dirty="0"/>
              <a:t>how</a:t>
            </a:r>
            <a:r>
              <a:rPr lang="en-GB" dirty="0"/>
              <a:t> recurrent networks are trained.</a:t>
            </a:r>
          </a:p>
          <a:p>
            <a:r>
              <a:rPr lang="en-GB" b="1" dirty="0"/>
              <a:t>It does not guarantee that useful information can be learned across arbitrarily long intervals.</a:t>
            </a:r>
          </a:p>
          <a:p>
            <a:r>
              <a:rPr lang="en-GB" dirty="0"/>
              <a:t>For long sequences, the training signal repeatedly passes through:</a:t>
            </a:r>
          </a:p>
          <a:p>
            <a:pPr lvl="1"/>
            <a:r>
              <a:rPr lang="en-GB" dirty="0"/>
              <a:t>h[L]</a:t>
            </a:r>
          </a:p>
          <a:p>
            <a:pPr lvl="1"/>
            <a:r>
              <a:rPr lang="en-GB" dirty="0"/>
              <a:t>h[L−1]</a:t>
            </a:r>
          </a:p>
          <a:p>
            <a:pPr lvl="1"/>
            <a:r>
              <a:rPr lang="en-GB" dirty="0"/>
              <a:t>h[L−2]</a:t>
            </a:r>
          </a:p>
          <a:p>
            <a:pPr lvl="1"/>
            <a:r>
              <a:rPr lang="en-GB" dirty="0"/>
              <a:t>...</a:t>
            </a:r>
          </a:p>
          <a:p>
            <a:pPr lvl="1"/>
            <a:r>
              <a:rPr lang="en-GB" dirty="0"/>
              <a:t>h[1]</a:t>
            </a:r>
          </a:p>
          <a:p>
            <a:r>
              <a:rPr lang="en-GB" b="1" dirty="0"/>
              <a:t>This repeated transformation may make the gradient:</a:t>
            </a:r>
          </a:p>
          <a:p>
            <a:pPr lvl="1"/>
            <a:r>
              <a:rPr lang="en-GB" dirty="0"/>
              <a:t>very small</a:t>
            </a:r>
          </a:p>
          <a:p>
            <a:pPr lvl="1"/>
            <a:r>
              <a:rPr lang="en-GB" dirty="0"/>
              <a:t>or:</a:t>
            </a:r>
          </a:p>
          <a:p>
            <a:pPr lvl="1"/>
            <a:r>
              <a:rPr lang="en-GB" dirty="0"/>
              <a:t>very large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A1E542D-4379-30AC-7479-3285085424B4}"/>
              </a:ext>
            </a:extLst>
          </p:cNvPr>
          <p:cNvSpPr txBox="1"/>
          <p:nvPr/>
        </p:nvSpPr>
        <p:spPr>
          <a:xfrm>
            <a:off x="6223462" y="4240226"/>
            <a:ext cx="61010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Consequences</a:t>
            </a:r>
          </a:p>
          <a:p>
            <a:r>
              <a:rPr lang="en-GB" sz="1800" dirty="0"/>
              <a:t>If the gradient becomes very small:</a:t>
            </a:r>
          </a:p>
          <a:p>
            <a:pPr lvl="1"/>
            <a:r>
              <a:rPr lang="en-GB" dirty="0"/>
              <a:t>early observations receive almost no learning signal; </a:t>
            </a:r>
          </a:p>
          <a:p>
            <a:pPr lvl="1"/>
            <a:r>
              <a:rPr lang="en-GB" dirty="0"/>
              <a:t>=&gt; long-range dependencies are difficult to learn. </a:t>
            </a:r>
          </a:p>
          <a:p>
            <a:r>
              <a:rPr lang="en-GB" sz="1800" dirty="0"/>
              <a:t>If it becomes very large:</a:t>
            </a:r>
          </a:p>
          <a:p>
            <a:pPr lvl="1"/>
            <a:r>
              <a:rPr lang="en-GB" dirty="0"/>
              <a:t>parameter updates can become unstable; </a:t>
            </a:r>
          </a:p>
          <a:p>
            <a:pPr lvl="1"/>
            <a:r>
              <a:rPr lang="en-GB" dirty="0"/>
              <a:t>=&gt; training may diverge. </a:t>
            </a:r>
          </a:p>
        </p:txBody>
      </p:sp>
    </p:spTree>
    <p:extLst>
      <p:ext uri="{BB962C8B-B14F-4D97-AF65-F5344CB8AC3E}">
        <p14:creationId xmlns:p14="http://schemas.microsoft.com/office/powerpoint/2010/main" val="37221668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0"/>
            <a:ext cx="713232" cy="68580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BPTT explains training, not long-memory success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tells us how to compute gradients, but not whether they remain useful over long distances.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33272" y="20848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h[1]</a:t>
            </a:r>
            <a:endParaRPr lang="en-US" sz="730" dirty="0"/>
          </a:p>
        </p:txBody>
      </p:sp>
      <p:sp>
        <p:nvSpPr>
          <p:cNvPr id="7" name="Shape 5"/>
          <p:cNvSpPr/>
          <p:nvPr/>
        </p:nvSpPr>
        <p:spPr>
          <a:xfrm>
            <a:off x="1920240" y="20116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947672" y="20848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h[2]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1389888" y="215798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834640" y="20116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862072" y="20848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h[3]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2304288" y="215798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749040" y="20116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776472" y="20848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h[4]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3218688" y="215798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663440" y="20116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690872" y="20848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h[5]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133088" y="215798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577840" y="20116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605272" y="20848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h[6]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5047488" y="215798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492240" y="2011680"/>
            <a:ext cx="38404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519672" y="20848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11827"/>
                </a:solidFill>
              </a:rPr>
              <a:t>h[7]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5961888" y="2157984"/>
            <a:ext cx="530352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086600" y="2039112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141464" y="2075688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ŷ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76288" y="2157984"/>
            <a:ext cx="210312" cy="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7863840" y="192024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918704" y="1956816"/>
            <a:ext cx="576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loss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543800" y="2157984"/>
            <a:ext cx="32004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8046720" y="3291840"/>
            <a:ext cx="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044952" y="31135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gradient path becomes long and fragile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280160" y="4526280"/>
            <a:ext cx="2377440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335024" y="4562856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Too small gradients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early steps learn little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0" y="4526280"/>
            <a:ext cx="2377440" cy="68580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169664" y="4562856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  <a:highlight>
                  <a:srgbClr val="FFFF00"/>
                </a:highlight>
              </a:rPr>
              <a:t>Too large gradients</a:t>
            </a:r>
            <a:endParaRPr lang="en-US" sz="800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  <a:highlight>
                  <a:srgbClr val="FFFF00"/>
                </a:highlight>
              </a:rPr>
              <a:t>training unstable</a:t>
            </a:r>
            <a:endParaRPr lang="en-US" sz="800" dirty="0">
              <a:highlight>
                <a:srgbClr val="FFFF00"/>
              </a:highlight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949440" y="4526280"/>
            <a:ext cx="2377440" cy="685800"/>
          </a:xfrm>
          <a:prstGeom prst="roundRect">
            <a:avLst>
              <a:gd name="adj" fmla="val 5333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7004304" y="4562856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Next block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</a:rPr>
              <a:t>vanishing/exploding gradients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2920" y="6199632"/>
            <a:ext cx="101955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76656" y="63185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This motivates gradient-stabilization techniques and gated recurrent architectures.</a:t>
            </a:r>
            <a:endParaRPr lang="en-US" sz="1050" b="1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71091B-32FD-93AF-CFFC-642B2DD5D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Next block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F3AD41-97BE-509D-4A08-186FC993C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therefore need to understand:</a:t>
            </a:r>
          </a:p>
          <a:p>
            <a:r>
              <a:rPr lang="en-GB" b="1" dirty="0"/>
              <a:t>Why do gradients vanish or explode, and what can we do about it?</a:t>
            </a:r>
            <a:endParaRPr lang="en-GB" dirty="0"/>
          </a:p>
          <a:p>
            <a:r>
              <a:rPr lang="en-GB" dirty="0"/>
              <a:t>This leads to </a:t>
            </a:r>
            <a:r>
              <a:rPr lang="en-GB" b="1" dirty="0"/>
              <a:t>Block 4.E — Why </a:t>
            </a:r>
            <a:r>
              <a:rPr lang="en-GB" b="1" dirty="0" err="1"/>
              <a:t>SimpleRNN</a:t>
            </a:r>
            <a:r>
              <a:rPr lang="en-GB" b="1" dirty="0"/>
              <a:t> Struggles with Long Dependencies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58917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85AE3D-310E-3007-70EA-2E63468EE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4.E — Why </a:t>
            </a:r>
            <a:r>
              <a:rPr lang="en-GB" dirty="0" err="1"/>
              <a:t>SimpleRNN</a:t>
            </a:r>
            <a:r>
              <a:rPr lang="en-GB" dirty="0"/>
              <a:t> Struggles with Long Dependencies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FD6919-BB3B-73E3-941A-8E48791CB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78254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34C272-FE75-52D8-7DA0-43F89957A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Long dependencies require information to survive many state updates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1F4CA5-F754-09C6-EB2A-04AC5EA70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A </a:t>
            </a:r>
            <a:r>
              <a:rPr lang="en-GB" dirty="0" err="1"/>
              <a:t>SimpleRNN</a:t>
            </a:r>
            <a:r>
              <a:rPr lang="en-GB" dirty="0"/>
              <a:t> updates its hidden state repeatedly: h[t] = f(x[t], h[t−1])</a:t>
            </a:r>
          </a:p>
          <a:p>
            <a:r>
              <a:rPr lang="en-GB" dirty="0"/>
              <a:t>Suppose a prediction at time t = 500 depends on an event observed at: t = 20</a:t>
            </a:r>
          </a:p>
          <a:p>
            <a:r>
              <a:rPr lang="en-GB" dirty="0"/>
              <a:t>The relevant information must influence: h[20] → h[21] → ... → h[500]</a:t>
            </a:r>
          </a:p>
          <a:p>
            <a:r>
              <a:rPr lang="en-GB" b="1" dirty="0"/>
              <a:t>During the forward pass</a:t>
            </a:r>
          </a:p>
          <a:p>
            <a:r>
              <a:rPr lang="en-GB" dirty="0"/>
              <a:t>The information must remain represented across hundreds of state updates.</a:t>
            </a:r>
          </a:p>
          <a:p>
            <a:r>
              <a:rPr lang="en-GB" b="1" dirty="0"/>
              <a:t>During training</a:t>
            </a:r>
          </a:p>
          <a:p>
            <a:r>
              <a:rPr lang="en-GB" dirty="0"/>
              <a:t>The error signal must propagate backward through the same chain:</a:t>
            </a:r>
          </a:p>
          <a:p>
            <a:r>
              <a:rPr lang="en-GB" dirty="0"/>
              <a:t>loss → h[500] → h[499] → ... → h[20]</a:t>
            </a:r>
          </a:p>
          <a:p>
            <a:r>
              <a:rPr lang="en-GB" b="1" dirty="0"/>
              <a:t>The difficulty</a:t>
            </a:r>
          </a:p>
          <a:p>
            <a:r>
              <a:rPr lang="en-GB" dirty="0"/>
              <a:t>Each recurrent step transforms both:</a:t>
            </a:r>
          </a:p>
          <a:p>
            <a:pPr lvl="1"/>
            <a:r>
              <a:rPr lang="en-GB" dirty="0"/>
              <a:t>the hidden information during the forward pass; </a:t>
            </a:r>
          </a:p>
          <a:p>
            <a:pPr lvl="1"/>
            <a:r>
              <a:rPr lang="en-GB" dirty="0"/>
              <a:t>the gradient during the backward pass. </a:t>
            </a:r>
          </a:p>
          <a:p>
            <a:r>
              <a:rPr lang="en-GB" dirty="0"/>
              <a:t>For long sequences, many transformations are composed.</a:t>
            </a:r>
          </a:p>
          <a:p>
            <a:endParaRPr lang="en-GB" dirty="0"/>
          </a:p>
          <a:p>
            <a:r>
              <a:rPr lang="en-GB" b="1" dirty="0"/>
              <a:t>Long-term memory requires both information and learning signals to survive repeated recurrent transformations.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608287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Long dependencies require long information paths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 dirty="0">
                <a:solidFill>
                  <a:srgbClr val="475467"/>
                </a:solidFill>
                <a:effectLst/>
                <a:uFillTx/>
                <a:latin typeface="Aptos"/>
              </a:rPr>
              <a:t>Information and learning signals must survive many recurrent state updates.</a:t>
            </a:r>
            <a:endParaRPr lang="it-IT" sz="14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914400" y="2834640"/>
            <a:ext cx="658080" cy="43848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h[20]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572480" y="3053880"/>
            <a:ext cx="48492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2057400" y="2834640"/>
            <a:ext cx="658080" cy="438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h[90]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715480" y="3053880"/>
            <a:ext cx="48492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3200400" y="2834640"/>
            <a:ext cx="658080" cy="438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h[160]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858480" y="3053880"/>
            <a:ext cx="48492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343400" y="2834640"/>
            <a:ext cx="658080" cy="438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h[230]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001480" y="3053880"/>
            <a:ext cx="48492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5486400" y="2834640"/>
            <a:ext cx="658080" cy="438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h[300]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144480" y="3053880"/>
            <a:ext cx="48492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629400" y="2834640"/>
            <a:ext cx="658080" cy="438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h[370]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287480" y="3053880"/>
            <a:ext cx="48492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7772400" y="2834640"/>
            <a:ext cx="658080" cy="438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h[440]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430480" y="3053880"/>
            <a:ext cx="484920" cy="3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8915400" y="2834640"/>
            <a:ext cx="658080" cy="438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h[510]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859680" y="2148840"/>
            <a:ext cx="1416960" cy="34704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AB308"/>
                </a:solidFill>
                <a:effectLst/>
                <a:uFillTx/>
                <a:latin typeface="Aptos"/>
              </a:rPr>
              <a:t>event at t=20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188720" y="2514600"/>
            <a:ext cx="45720" cy="301680"/>
          </a:xfrm>
          <a:prstGeom prst="line">
            <a:avLst/>
          </a:prstGeom>
          <a:ln w="17780">
            <a:solidFill>
              <a:srgbClr val="EAB30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8641080" y="2148840"/>
            <a:ext cx="1782720" cy="3470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prediction at t=500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9235440" y="2514600"/>
            <a:ext cx="360" cy="301680"/>
          </a:xfrm>
          <a:prstGeom prst="line">
            <a:avLst/>
          </a:prstGeom>
          <a:ln w="1778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 flipH="1">
            <a:off x="1005840" y="3429000"/>
            <a:ext cx="8321040" cy="360"/>
          </a:xfrm>
          <a:prstGeom prst="line">
            <a:avLst/>
          </a:prstGeom>
          <a:ln w="2032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3931920" y="354780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backward gradient path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914400" y="4224600"/>
            <a:ext cx="86864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Hundreds of recurrent transformations may separate the useful observation from the final loss.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841320" y="6053400"/>
            <a:ext cx="98568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Long-term memory requires both forward information and backward gradients to survive the chain.</a:t>
            </a:r>
            <a:endParaRPr lang="it-IT" sz="13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B8CEEC-5D78-54C7-F699-DB6F880AC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gradient is repeatedly transformed through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191207-61BA-7F1C-753A-99042C183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6742641" cy="3880772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Consider the </a:t>
            </a:r>
            <a:r>
              <a:rPr lang="en-GB" b="1" dirty="0" err="1">
                <a:highlight>
                  <a:srgbClr val="FFFF00"/>
                </a:highlight>
              </a:rPr>
              <a:t>SimpleRNN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/>
              <a:t>update:</a:t>
            </a:r>
          </a:p>
          <a:p>
            <a:r>
              <a:rPr lang="en-GB" b="1" dirty="0">
                <a:highlight>
                  <a:srgbClr val="FFFF00"/>
                </a:highlight>
              </a:rPr>
              <a:t>h[t] = tanh(</a:t>
            </a:r>
            <a:r>
              <a:rPr lang="en-GB" b="1" dirty="0" err="1">
                <a:highlight>
                  <a:srgbClr val="FFFF00"/>
                </a:highlight>
              </a:rPr>
              <a:t>W_x</a:t>
            </a:r>
            <a:r>
              <a:rPr lang="en-GB" b="1" dirty="0">
                <a:highlight>
                  <a:srgbClr val="FFFF00"/>
                </a:highlight>
              </a:rPr>
              <a:t> x[t] + </a:t>
            </a:r>
            <a:r>
              <a:rPr lang="en-GB" b="1" dirty="0" err="1">
                <a:highlight>
                  <a:srgbClr val="FFFF00"/>
                </a:highlight>
              </a:rPr>
              <a:t>W_h</a:t>
            </a:r>
            <a:r>
              <a:rPr lang="en-GB" b="1" dirty="0">
                <a:highlight>
                  <a:srgbClr val="FFFF00"/>
                </a:highlight>
              </a:rPr>
              <a:t> h[t−1] + b)</a:t>
            </a:r>
          </a:p>
          <a:p>
            <a:r>
              <a:rPr lang="en-GB" dirty="0">
                <a:highlight>
                  <a:srgbClr val="FFFF00"/>
                </a:highlight>
              </a:rPr>
              <a:t>During BPTT, the gradient passed from h[t] to h[t−1] depends on:</a:t>
            </a:r>
          </a:p>
          <a:p>
            <a:pPr lvl="1"/>
            <a:r>
              <a:rPr lang="en-GB" dirty="0"/>
              <a:t>the recurrent weights </a:t>
            </a:r>
            <a:r>
              <a:rPr lang="en-GB" dirty="0" err="1"/>
              <a:t>W_h</a:t>
            </a:r>
            <a:r>
              <a:rPr lang="en-GB" dirty="0"/>
              <a:t>; </a:t>
            </a:r>
          </a:p>
          <a:p>
            <a:pPr lvl="1"/>
            <a:r>
              <a:rPr lang="en-GB" dirty="0"/>
              <a:t>the local derivative of the activation function. </a:t>
            </a:r>
          </a:p>
          <a:p>
            <a:r>
              <a:rPr lang="en-GB" b="1" dirty="0">
                <a:highlight>
                  <a:srgbClr val="FFFF00"/>
                </a:highlight>
              </a:rPr>
              <a:t>For a dependency spanning many time steps, these terms are repeatedly combined.</a:t>
            </a:r>
          </a:p>
          <a:p>
            <a:r>
              <a:rPr lang="en-GB" dirty="0"/>
              <a:t>Conceptually:</a:t>
            </a:r>
          </a:p>
          <a:p>
            <a:r>
              <a:rPr lang="en-GB" dirty="0">
                <a:highlight>
                  <a:srgbClr val="FFFF00"/>
                </a:highlight>
              </a:rPr>
              <a:t>gradient at late time</a:t>
            </a:r>
          </a:p>
          <a:p>
            <a:r>
              <a:rPr lang="en-GB" dirty="0"/>
              <a:t>      × recurrent transformation</a:t>
            </a:r>
          </a:p>
          <a:p>
            <a:r>
              <a:rPr lang="en-GB" dirty="0"/>
              <a:t>      × recurrent transformation</a:t>
            </a:r>
          </a:p>
          <a:p>
            <a:r>
              <a:rPr lang="en-GB" dirty="0"/>
              <a:t>      × recurrent transformation</a:t>
            </a:r>
          </a:p>
          <a:p>
            <a:r>
              <a:rPr lang="en-GB" dirty="0"/>
              <a:t>      × ...</a:t>
            </a:r>
          </a:p>
          <a:p>
            <a:r>
              <a:rPr lang="en-GB" dirty="0"/>
              <a:t>      → gradient at early time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21169BB-4247-4BC6-3F24-6636B3B52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3620" y="2160588"/>
            <a:ext cx="4184034" cy="3880773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Two possible outcomes:</a:t>
            </a:r>
          </a:p>
          <a:p>
            <a:r>
              <a:rPr lang="en-GB" dirty="0"/>
              <a:t>The gradient magnitude can progressively become:</a:t>
            </a:r>
          </a:p>
          <a:p>
            <a:pPr lvl="1"/>
            <a:r>
              <a:rPr lang="en-GB" dirty="0"/>
              <a:t>very small; </a:t>
            </a:r>
          </a:p>
          <a:p>
            <a:pPr lvl="1"/>
            <a:r>
              <a:rPr lang="en-GB" dirty="0"/>
              <a:t>very large. </a:t>
            </a:r>
          </a:p>
          <a:p>
            <a:r>
              <a:rPr lang="en-GB" dirty="0"/>
              <a:t>These produce:</a:t>
            </a:r>
          </a:p>
          <a:p>
            <a:pPr lvl="1"/>
            <a:r>
              <a:rPr lang="en-GB" b="1" dirty="0"/>
              <a:t>vanishing gradients</a:t>
            </a:r>
            <a:r>
              <a:rPr lang="en-GB" dirty="0"/>
              <a:t>; </a:t>
            </a:r>
          </a:p>
          <a:p>
            <a:pPr lvl="1"/>
            <a:r>
              <a:rPr lang="en-GB" b="1" dirty="0"/>
              <a:t>exploding gradients</a:t>
            </a:r>
            <a:r>
              <a:rPr lang="en-GB" dirty="0"/>
              <a:t>. </a:t>
            </a:r>
          </a:p>
          <a:p>
            <a:pPr lvl="1"/>
            <a:endParaRPr lang="en-GB" b="1" dirty="0"/>
          </a:p>
          <a:p>
            <a:r>
              <a:rPr lang="en-GB" dirty="0">
                <a:highlight>
                  <a:srgbClr val="FFFF00"/>
                </a:highlight>
              </a:rPr>
              <a:t>The problem becomes more severe as the temporal distance increases.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997322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The gradient is repeatedly transformed through time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Repeated multiplication can shrink or amplify the training signal.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1051560" y="2788920"/>
            <a:ext cx="914040" cy="6580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late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gradient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1965960" y="3117960"/>
            <a:ext cx="365760" cy="360"/>
          </a:xfrm>
          <a:prstGeom prst="line">
            <a:avLst/>
          </a:prstGeom>
          <a:ln w="1778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2331720" y="2788920"/>
            <a:ext cx="914040" cy="658080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× transform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3246120" y="3117960"/>
            <a:ext cx="365760" cy="360"/>
          </a:xfrm>
          <a:prstGeom prst="line">
            <a:avLst/>
          </a:prstGeom>
          <a:ln w="1778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3611880" y="2788920"/>
            <a:ext cx="914040" cy="658080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× transform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7"/>
          <p:cNvSpPr/>
          <p:nvPr/>
        </p:nvSpPr>
        <p:spPr>
          <a:xfrm>
            <a:off x="4526280" y="3117960"/>
            <a:ext cx="365760" cy="360"/>
          </a:xfrm>
          <a:prstGeom prst="line">
            <a:avLst/>
          </a:prstGeom>
          <a:ln w="1778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4892040" y="2788920"/>
            <a:ext cx="914040" cy="658080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× transform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5806440" y="3117960"/>
            <a:ext cx="365760" cy="360"/>
          </a:xfrm>
          <a:prstGeom prst="line">
            <a:avLst/>
          </a:prstGeom>
          <a:ln w="1778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6172200" y="2788920"/>
            <a:ext cx="914040" cy="658080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× transform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1"/>
          <p:cNvSpPr/>
          <p:nvPr/>
        </p:nvSpPr>
        <p:spPr>
          <a:xfrm>
            <a:off x="7086600" y="3117960"/>
            <a:ext cx="365760" cy="360"/>
          </a:xfrm>
          <a:prstGeom prst="line">
            <a:avLst/>
          </a:prstGeom>
          <a:ln w="1778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7452360" y="2788920"/>
            <a:ext cx="914040" cy="658080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× transform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3"/>
          <p:cNvSpPr/>
          <p:nvPr/>
        </p:nvSpPr>
        <p:spPr>
          <a:xfrm>
            <a:off x="8366760" y="3117960"/>
            <a:ext cx="365760" cy="360"/>
          </a:xfrm>
          <a:prstGeom prst="line">
            <a:avLst/>
          </a:prstGeom>
          <a:ln w="1778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8732520" y="2788920"/>
            <a:ext cx="914040" cy="65808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early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gradient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3566160" y="3886200"/>
            <a:ext cx="3108600" cy="6854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depends on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W_h and activation derivatives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6"/>
          <p:cNvSpPr/>
          <p:nvPr/>
        </p:nvSpPr>
        <p:spPr>
          <a:xfrm flipV="1">
            <a:off x="5120640" y="3492720"/>
            <a:ext cx="360" cy="365760"/>
          </a:xfrm>
          <a:prstGeom prst="line">
            <a:avLst/>
          </a:prstGeom>
          <a:ln w="17780">
            <a:solidFill>
              <a:srgbClr val="7C3AE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1280160" y="489204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The longer the temporal distance, the more transformations affect the gradient.</a:t>
            </a:r>
            <a:endParaRPr lang="it-IT" sz="1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2651760" y="5413320"/>
            <a:ext cx="1279800" cy="3470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vanishing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6355080" y="5413320"/>
            <a:ext cx="1279800" cy="3470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exploding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8B0DBA8-15C5-9C5E-E0F2-CE0B863247F3}"/>
              </a:ext>
            </a:extLst>
          </p:cNvPr>
          <p:cNvSpPr txBox="1"/>
          <p:nvPr/>
        </p:nvSpPr>
        <p:spPr>
          <a:xfrm>
            <a:off x="554715" y="3627647"/>
            <a:ext cx="1594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Later in time, close to the output</a:t>
            </a:r>
            <a:endParaRPr lang="en-GB" sz="12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AACA8FA-DAA2-AAAC-B12E-7B4906CEFD9A}"/>
              </a:ext>
            </a:extLst>
          </p:cNvPr>
          <p:cNvSpPr txBox="1"/>
          <p:nvPr/>
        </p:nvSpPr>
        <p:spPr>
          <a:xfrm>
            <a:off x="6086476" y="1343880"/>
            <a:ext cx="6105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“× transform”</a:t>
            </a:r>
            <a:r>
              <a:rPr lang="en-GB" dirty="0"/>
              <a:t> means approximately:</a:t>
            </a:r>
          </a:p>
          <a:p>
            <a:pPr>
              <a:buNone/>
            </a:pPr>
            <a:r>
              <a:rPr lang="en-GB" dirty="0"/>
              <a:t>recurrent weights </a:t>
            </a:r>
            <a:r>
              <a:rPr lang="en-GB" dirty="0" err="1"/>
              <a:t>W</a:t>
            </a:r>
            <a:r>
              <a:rPr lang="en-GB" baseline="-25000" dirty="0" err="1"/>
              <a:t>h</a:t>
            </a:r>
            <a:r>
              <a:rPr lang="en-GB" baseline="-25000" dirty="0"/>
              <a:t> </a:t>
            </a:r>
            <a:r>
              <a:rPr lang="en-GB" dirty="0"/>
              <a:t>​+ activation derivatives​ </a:t>
            </a:r>
          </a:p>
          <a:p>
            <a:pPr>
              <a:buNone/>
            </a:pPr>
            <a:r>
              <a:rPr lang="en-GB" dirty="0"/>
              <a:t>repeated at every time step.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D60C1AC-D777-9748-96AC-FFFD556A3676}"/>
              </a:ext>
            </a:extLst>
          </p:cNvPr>
          <p:cNvSpPr txBox="1"/>
          <p:nvPr/>
        </p:nvSpPr>
        <p:spPr>
          <a:xfrm>
            <a:off x="7801864" y="2404370"/>
            <a:ext cx="36893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that are the derivatives of the linear combinations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C6052BFE-234D-D382-1B7E-ED59F0AF8B9F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7269480" y="1914525"/>
            <a:ext cx="532384" cy="628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1F1C08-85A4-3481-3466-4FBEC5F7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Vanishing gradients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9C346C-423F-504A-1C39-9ED61FCDD8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A gradient vanishes when its magnitude becomes progressively smaller as it propagates backward through time.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1.0</a:t>
            </a:r>
          </a:p>
          <a:p>
            <a:r>
              <a:rPr lang="en-GB" dirty="0"/>
              <a:t> ↓</a:t>
            </a:r>
          </a:p>
          <a:p>
            <a:r>
              <a:rPr lang="en-GB" dirty="0"/>
              <a:t>0.4</a:t>
            </a:r>
          </a:p>
          <a:p>
            <a:r>
              <a:rPr lang="en-GB" dirty="0"/>
              <a:t> ↓</a:t>
            </a:r>
          </a:p>
          <a:p>
            <a:r>
              <a:rPr lang="en-GB" dirty="0"/>
              <a:t>0.16</a:t>
            </a:r>
          </a:p>
          <a:p>
            <a:r>
              <a:rPr lang="en-GB" dirty="0"/>
              <a:t> ↓</a:t>
            </a:r>
          </a:p>
          <a:p>
            <a:r>
              <a:rPr lang="en-GB" dirty="0"/>
              <a:t>0.064</a:t>
            </a:r>
          </a:p>
          <a:p>
            <a:r>
              <a:rPr lang="en-GB" dirty="0"/>
              <a:t> ↓</a:t>
            </a:r>
          </a:p>
          <a:p>
            <a:r>
              <a:rPr lang="en-GB" dirty="0"/>
              <a:t>0.026</a:t>
            </a:r>
          </a:p>
          <a:p>
            <a:r>
              <a:rPr lang="en-GB" dirty="0"/>
              <a:t> ↓</a:t>
            </a:r>
          </a:p>
          <a:p>
            <a:r>
              <a:rPr lang="en-GB" dirty="0"/>
              <a:t>...</a:t>
            </a:r>
          </a:p>
          <a:p>
            <a:r>
              <a:rPr lang="en-GB" dirty="0"/>
              <a:t>After many steps, the gradient reaching an early state may be almost zero.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CEFBEDC-5B8D-8478-30F3-9AC9DD1E3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740080" cy="3880773"/>
          </a:xfrm>
        </p:spPr>
        <p:txBody>
          <a:bodyPr>
            <a:normAutofit fontScale="550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Consequence</a:t>
            </a:r>
          </a:p>
          <a:p>
            <a:r>
              <a:rPr lang="en-GB" dirty="0"/>
              <a:t>Parameters receive very little information about how early observations affected the final error.</a:t>
            </a:r>
          </a:p>
          <a:p>
            <a:r>
              <a:rPr lang="en-GB" dirty="0"/>
              <a:t>The network can therefore struggle to learn relationships such as:</a:t>
            </a:r>
          </a:p>
          <a:p>
            <a:pPr lvl="1"/>
            <a:r>
              <a:rPr lang="en-GB" dirty="0"/>
              <a:t>an event occurring far in the past is important for the current prediction.</a:t>
            </a:r>
          </a:p>
          <a:p>
            <a:r>
              <a:rPr lang="en-GB" b="1" dirty="0"/>
              <a:t>Typical behaviour</a:t>
            </a:r>
          </a:p>
          <a:p>
            <a:r>
              <a:rPr lang="en-GB" b="1" dirty="0"/>
              <a:t>The model becomes biased toward:</a:t>
            </a:r>
          </a:p>
          <a:p>
            <a:pPr lvl="1"/>
            <a:r>
              <a:rPr lang="en-GB" dirty="0"/>
              <a:t>recent observations; </a:t>
            </a:r>
          </a:p>
          <a:p>
            <a:pPr lvl="1"/>
            <a:r>
              <a:rPr lang="en-GB" dirty="0"/>
              <a:t>short-term dependencies. </a:t>
            </a:r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If the gradient disappears before reaching early time steps, the network cannot effectively learn how those time steps should influence later predictions.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10114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Vanishing and exploding gradients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 dirty="0">
                <a:solidFill>
                  <a:srgbClr val="475467"/>
                </a:solidFill>
                <a:effectLst/>
                <a:uFillTx/>
                <a:latin typeface="Aptos"/>
              </a:rPr>
              <a:t>The same recurrent chain can make gradients disappear or become unstable.</a:t>
            </a:r>
            <a:endParaRPr lang="it-IT" sz="14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1051560" y="1810440"/>
            <a:ext cx="3885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Vanishing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1417320" y="2743200"/>
            <a:ext cx="164556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1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1815465" y="2944440"/>
            <a:ext cx="394335" cy="200880"/>
          </a:xfrm>
          <a:prstGeom prst="line">
            <a:avLst/>
          </a:prstGeom>
          <a:ln w="1524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2011680" y="2971800"/>
            <a:ext cx="82260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0.5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2606040" y="3145320"/>
            <a:ext cx="228240" cy="200880"/>
          </a:xfrm>
          <a:prstGeom prst="line">
            <a:avLst/>
          </a:prstGeom>
          <a:ln w="1524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2606040" y="3200400"/>
            <a:ext cx="41112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0.25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2924175" y="3429000"/>
            <a:ext cx="352905" cy="191880"/>
          </a:xfrm>
          <a:prstGeom prst="line">
            <a:avLst/>
          </a:prstGeom>
          <a:ln w="1524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3200400" y="3429000"/>
            <a:ext cx="19728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0.12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3308145" y="3584520"/>
            <a:ext cx="418935" cy="255600"/>
          </a:xfrm>
          <a:prstGeom prst="line">
            <a:avLst/>
          </a:prstGeom>
          <a:ln w="1524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3794760" y="3657600"/>
            <a:ext cx="9828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7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0.06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1143000" y="496512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Early time steps receive almost no learning signal.</a:t>
            </a:r>
            <a:endParaRPr lang="it-I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5760720" y="1810440"/>
            <a:ext cx="3885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Exploding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6035040" y="4224600"/>
            <a:ext cx="32868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1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 flipV="1">
            <a:off x="6296025" y="4224600"/>
            <a:ext cx="328681" cy="209520"/>
          </a:xfrm>
          <a:prstGeom prst="line">
            <a:avLst/>
          </a:prstGeom>
          <a:ln w="1524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000" rIns="90000" bIns="-27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6537960" y="3877200"/>
            <a:ext cx="47520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2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 flipV="1">
            <a:off x="6867360" y="3776400"/>
            <a:ext cx="609765" cy="191880"/>
          </a:xfrm>
          <a:prstGeom prst="line">
            <a:avLst/>
          </a:prstGeom>
          <a:ln w="1524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8"/>
          <p:cNvSpPr/>
          <p:nvPr/>
        </p:nvSpPr>
        <p:spPr>
          <a:xfrm>
            <a:off x="7040880" y="3529440"/>
            <a:ext cx="76788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4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 flipV="1">
            <a:off x="7477125" y="3429000"/>
            <a:ext cx="609765" cy="191880"/>
          </a:xfrm>
          <a:prstGeom prst="line">
            <a:avLst/>
          </a:prstGeom>
          <a:ln w="1524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7543800" y="3182040"/>
            <a:ext cx="135288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8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 flipV="1">
            <a:off x="8313420" y="2989980"/>
            <a:ext cx="373380" cy="155340"/>
          </a:xfrm>
          <a:prstGeom prst="line">
            <a:avLst/>
          </a:prstGeom>
          <a:ln w="1524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2"/>
          <p:cNvSpPr/>
          <p:nvPr/>
        </p:nvSpPr>
        <p:spPr>
          <a:xfrm>
            <a:off x="8542020" y="2679300"/>
            <a:ext cx="2422800" cy="31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16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3"/>
          <p:cNvSpPr/>
          <p:nvPr/>
        </p:nvSpPr>
        <p:spPr>
          <a:xfrm>
            <a:off x="5870520" y="496512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Training becomes unstable or diverges.</a:t>
            </a:r>
            <a:endParaRPr lang="it-IT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4"/>
          <p:cNvSpPr/>
          <p:nvPr/>
        </p:nvSpPr>
        <p:spPr>
          <a:xfrm>
            <a:off x="841320" y="6053400"/>
            <a:ext cx="98568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Vanishing gradients hinder long-range learning; exploding gradients destabilize optimization.</a:t>
            </a:r>
            <a:endParaRPr lang="it-IT" sz="13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C9B8E8-23FF-6DA7-C78A-EA9E405AA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tanh contributes to vanishing gradients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1FCC34-2229-9E11-8E7C-ACC66918A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The tanh activation maps values into approximately: −1 to +1</a:t>
            </a:r>
          </a:p>
          <a:p>
            <a:r>
              <a:rPr lang="en-GB" dirty="0"/>
              <a:t>Its derivative is largest around zero and becomes small when the activation approaches its limits.</a:t>
            </a:r>
          </a:p>
          <a:p>
            <a:pPr lvl="1"/>
            <a:r>
              <a:rPr lang="en-GB" dirty="0"/>
              <a:t>large positive input → tanh ≈ +1 → small derivative</a:t>
            </a:r>
          </a:p>
          <a:p>
            <a:pPr lvl="1"/>
            <a:r>
              <a:rPr lang="en-GB" dirty="0"/>
              <a:t>large negative input → tanh ≈ −1 → small derivative</a:t>
            </a:r>
          </a:p>
          <a:p>
            <a:r>
              <a:rPr lang="en-GB" dirty="0"/>
              <a:t>During BPTT, derivatives from many time steps are multiplied together.</a:t>
            </a:r>
          </a:p>
          <a:p>
            <a:r>
              <a:rPr lang="en-GB" dirty="0"/>
              <a:t>If many of them are smaller than 1:</a:t>
            </a:r>
          </a:p>
          <a:p>
            <a:r>
              <a:rPr lang="en-GB" dirty="0"/>
              <a:t>0.7 × 0.7 × 0.7 × ... </a:t>
            </a:r>
          </a:p>
          <a:p>
            <a:r>
              <a:rPr lang="en-GB" dirty="0"/>
              <a:t>the product can become extremely small.</a:t>
            </a:r>
          </a:p>
          <a:p>
            <a:r>
              <a:rPr lang="en-GB" b="1" dirty="0"/>
              <a:t>This is only part of the problem</a:t>
            </a:r>
          </a:p>
          <a:p>
            <a:r>
              <a:rPr lang="en-GB" dirty="0"/>
              <a:t>Gradient behaviour also depends on:</a:t>
            </a:r>
          </a:p>
          <a:p>
            <a:pPr lvl="1"/>
            <a:r>
              <a:rPr lang="en-GB" dirty="0"/>
              <a:t>recurrent weights; </a:t>
            </a:r>
          </a:p>
          <a:p>
            <a:pPr lvl="1"/>
            <a:r>
              <a:rPr lang="en-GB" dirty="0"/>
              <a:t>sequence length; </a:t>
            </a:r>
          </a:p>
          <a:p>
            <a:pPr lvl="1"/>
            <a:r>
              <a:rPr lang="en-GB" dirty="0"/>
              <a:t>hidden-state dynamics. </a:t>
            </a:r>
          </a:p>
          <a:p>
            <a:endParaRPr lang="en-GB" dirty="0"/>
          </a:p>
          <a:p>
            <a:r>
              <a:rPr lang="en-GB" dirty="0"/>
              <a:t>Saturating nonlinearities make it difficult for gradients to pass unchanged through many recurrent steps.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115044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Saturating activations can weaken gradients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 dirty="0">
                <a:solidFill>
                  <a:srgbClr val="475467"/>
                </a:solidFill>
                <a:effectLst/>
                <a:uFillTx/>
                <a:latin typeface="Aptos"/>
              </a:rPr>
              <a:t>When </a:t>
            </a:r>
            <a:r>
              <a:rPr lang="en-US" sz="1450" b="0" u="none" strike="noStrike" dirty="0">
                <a:solidFill>
                  <a:srgbClr val="475467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tanh approaches -1 or +1</a:t>
            </a:r>
            <a:r>
              <a:rPr lang="en-US" sz="1450" b="0" u="none" strike="noStrike" dirty="0">
                <a:solidFill>
                  <a:srgbClr val="475467"/>
                </a:solidFill>
                <a:effectLst/>
                <a:uFillTx/>
                <a:latin typeface="Aptos"/>
              </a:rPr>
              <a:t>, its derivative becomes small.</a:t>
            </a:r>
            <a:endParaRPr lang="it-IT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1234440" y="3931920"/>
            <a:ext cx="6446520" cy="360"/>
          </a:xfrm>
          <a:prstGeom prst="line">
            <a:avLst/>
          </a:prstGeom>
          <a:ln w="15240">
            <a:solidFill>
              <a:srgbClr val="10182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 flipV="1">
            <a:off x="4389120" y="1508760"/>
            <a:ext cx="360" cy="3474720"/>
          </a:xfrm>
          <a:prstGeom prst="line">
            <a:avLst/>
          </a:prstGeom>
          <a:ln w="15240">
            <a:solidFill>
              <a:srgbClr val="10182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7818120" y="382212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input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3657600" y="1225440"/>
            <a:ext cx="1508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475467"/>
                </a:solidFill>
                <a:effectLst/>
                <a:uFillTx/>
                <a:latin typeface="Aptos"/>
              </a:rPr>
              <a:t>tanh(input)</a:t>
            </a:r>
            <a:endParaRPr lang="it-IT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6"/>
          <p:cNvSpPr/>
          <p:nvPr/>
        </p:nvSpPr>
        <p:spPr>
          <a:xfrm flipV="1">
            <a:off x="1417320" y="4526280"/>
            <a:ext cx="685800" cy="6372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720" rIns="90000" bIns="1872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7"/>
          <p:cNvSpPr/>
          <p:nvPr/>
        </p:nvSpPr>
        <p:spPr>
          <a:xfrm flipV="1">
            <a:off x="2103120" y="4343400"/>
            <a:ext cx="640080" cy="18288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8"/>
          <p:cNvSpPr/>
          <p:nvPr/>
        </p:nvSpPr>
        <p:spPr>
          <a:xfrm flipV="1">
            <a:off x="2743200" y="3886200"/>
            <a:ext cx="594360" cy="45720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9"/>
          <p:cNvSpPr/>
          <p:nvPr/>
        </p:nvSpPr>
        <p:spPr>
          <a:xfrm flipV="1">
            <a:off x="3337560" y="3200400"/>
            <a:ext cx="594360" cy="68580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 flipV="1">
            <a:off x="3931920" y="2926080"/>
            <a:ext cx="457200" cy="27432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1"/>
          <p:cNvSpPr/>
          <p:nvPr/>
        </p:nvSpPr>
        <p:spPr>
          <a:xfrm flipV="1">
            <a:off x="4389120" y="2651760"/>
            <a:ext cx="457200" cy="27432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2"/>
          <p:cNvSpPr/>
          <p:nvPr/>
        </p:nvSpPr>
        <p:spPr>
          <a:xfrm flipV="1">
            <a:off x="4846320" y="1965960"/>
            <a:ext cx="594360" cy="68580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3"/>
          <p:cNvSpPr/>
          <p:nvPr/>
        </p:nvSpPr>
        <p:spPr>
          <a:xfrm flipV="1">
            <a:off x="5440680" y="1581840"/>
            <a:ext cx="594360" cy="38412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4"/>
          <p:cNvSpPr/>
          <p:nvPr/>
        </p:nvSpPr>
        <p:spPr>
          <a:xfrm flipV="1">
            <a:off x="6035040" y="1417320"/>
            <a:ext cx="640080" cy="16452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5"/>
          <p:cNvSpPr/>
          <p:nvPr/>
        </p:nvSpPr>
        <p:spPr>
          <a:xfrm flipV="1">
            <a:off x="6675120" y="1371600"/>
            <a:ext cx="731520" cy="4572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6"/>
          <p:cNvSpPr/>
          <p:nvPr/>
        </p:nvSpPr>
        <p:spPr>
          <a:xfrm>
            <a:off x="1325880" y="4709160"/>
            <a:ext cx="1965600" cy="475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small derivative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(saturated)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3657600" y="4709160"/>
            <a:ext cx="1965600" cy="47520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large derivative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(central region)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8"/>
          <p:cNvSpPr/>
          <p:nvPr/>
        </p:nvSpPr>
        <p:spPr>
          <a:xfrm>
            <a:off x="6309360" y="4709160"/>
            <a:ext cx="1965600" cy="475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small derivative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(saturated)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9"/>
          <p:cNvSpPr/>
          <p:nvPr/>
        </p:nvSpPr>
        <p:spPr>
          <a:xfrm flipV="1">
            <a:off x="2331720" y="4434840"/>
            <a:ext cx="45720" cy="210240"/>
          </a:xfrm>
          <a:prstGeom prst="line">
            <a:avLst/>
          </a:prstGeom>
          <a:ln w="1524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0"/>
          <p:cNvSpPr/>
          <p:nvPr/>
        </p:nvSpPr>
        <p:spPr>
          <a:xfrm flipV="1">
            <a:off x="4617720" y="3108960"/>
            <a:ext cx="360" cy="1536120"/>
          </a:xfrm>
          <a:prstGeom prst="line">
            <a:avLst/>
          </a:prstGeom>
          <a:ln w="1524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1"/>
          <p:cNvSpPr/>
          <p:nvPr/>
        </p:nvSpPr>
        <p:spPr>
          <a:xfrm flipH="1" flipV="1">
            <a:off x="7040880" y="1508760"/>
            <a:ext cx="137160" cy="3136320"/>
          </a:xfrm>
          <a:prstGeom prst="line">
            <a:avLst/>
          </a:prstGeom>
          <a:ln w="1524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2"/>
          <p:cNvSpPr/>
          <p:nvPr/>
        </p:nvSpPr>
        <p:spPr>
          <a:xfrm>
            <a:off x="1188720" y="550476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101828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When many derivatives smaller than 1 are multiplied, the gradient can become very small.</a:t>
            </a:r>
            <a:endParaRPr lang="it-IT" sz="15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102" name="Text 23"/>
          <p:cNvSpPr/>
          <p:nvPr/>
        </p:nvSpPr>
        <p:spPr>
          <a:xfrm>
            <a:off x="841320" y="6053400"/>
            <a:ext cx="98568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 dirty="0">
                <a:solidFill>
                  <a:srgbClr val="101828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Saturation </a:t>
            </a:r>
            <a:r>
              <a:rPr lang="en-US" sz="1350" b="0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is one contributor to vanishing gradients; weights and sequence length also matter.</a:t>
            </a:r>
            <a:endParaRPr lang="it-IT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58AF84-D979-BD40-BF24-375D3BFE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Exploding gradients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42F19C-5F0F-E9EE-5E9A-0B437EC66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980516" cy="4611686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The opposite problem occurs when the gradient grows rapidly while propagating backward.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1</a:t>
            </a:r>
          </a:p>
          <a:p>
            <a:r>
              <a:rPr lang="en-GB" dirty="0"/>
              <a:t> ↓</a:t>
            </a:r>
          </a:p>
          <a:p>
            <a:r>
              <a:rPr lang="en-GB" dirty="0"/>
              <a:t>2</a:t>
            </a:r>
          </a:p>
          <a:p>
            <a:r>
              <a:rPr lang="en-GB" dirty="0"/>
              <a:t> ↓</a:t>
            </a:r>
          </a:p>
          <a:p>
            <a:r>
              <a:rPr lang="en-GB" dirty="0"/>
              <a:t>4</a:t>
            </a:r>
          </a:p>
          <a:p>
            <a:r>
              <a:rPr lang="en-GB" dirty="0"/>
              <a:t> ↓</a:t>
            </a:r>
          </a:p>
          <a:p>
            <a:r>
              <a:rPr lang="en-GB" dirty="0"/>
              <a:t>8</a:t>
            </a:r>
          </a:p>
          <a:p>
            <a:r>
              <a:rPr lang="en-GB" dirty="0"/>
              <a:t> ↓</a:t>
            </a:r>
          </a:p>
          <a:p>
            <a:r>
              <a:rPr lang="en-GB" dirty="0"/>
              <a:t>16</a:t>
            </a:r>
          </a:p>
          <a:p>
            <a:r>
              <a:rPr lang="en-GB" dirty="0"/>
              <a:t> ↓</a:t>
            </a:r>
          </a:p>
          <a:p>
            <a:r>
              <a:rPr lang="en-GB" dirty="0"/>
              <a:t>...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65515F1-DAFD-9563-BC3E-25683731F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3124" y="2160589"/>
            <a:ext cx="5686425" cy="4535486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Consequences</a:t>
            </a:r>
          </a:p>
          <a:p>
            <a:r>
              <a:rPr lang="en-GB" dirty="0"/>
              <a:t>Very large gradients can produce:</a:t>
            </a:r>
          </a:p>
          <a:p>
            <a:pPr lvl="1"/>
            <a:r>
              <a:rPr lang="en-GB" dirty="0"/>
              <a:t>extremely large parameter updates; </a:t>
            </a:r>
          </a:p>
          <a:p>
            <a:pPr lvl="1"/>
            <a:r>
              <a:rPr lang="en-GB" dirty="0"/>
              <a:t>unstable loss; </a:t>
            </a:r>
          </a:p>
          <a:p>
            <a:pPr lvl="1"/>
            <a:r>
              <a:rPr lang="en-GB" dirty="0"/>
              <a:t>oscillating training; </a:t>
            </a:r>
          </a:p>
          <a:p>
            <a:pPr lvl="1"/>
            <a:r>
              <a:rPr lang="en-GB" dirty="0"/>
              <a:t>numerical overflow; </a:t>
            </a:r>
          </a:p>
          <a:p>
            <a:pPr lvl="1"/>
            <a:r>
              <a:rPr lang="en-GB" dirty="0"/>
              <a:t>divergence. </a:t>
            </a:r>
          </a:p>
          <a:p>
            <a:r>
              <a:rPr lang="en-GB" b="1" dirty="0">
                <a:highlight>
                  <a:srgbClr val="FFFF00"/>
                </a:highlight>
              </a:rPr>
              <a:t>Observable symptoms</a:t>
            </a:r>
          </a:p>
          <a:p>
            <a:r>
              <a:rPr lang="en-GB" dirty="0"/>
              <a:t>During training we may see:</a:t>
            </a:r>
          </a:p>
          <a:p>
            <a:pPr lvl="1"/>
            <a:r>
              <a:rPr lang="en-GB" dirty="0"/>
              <a:t>loss suddenly becoming extremely large; </a:t>
            </a:r>
          </a:p>
          <a:p>
            <a:pPr lvl="1"/>
            <a:r>
              <a:rPr lang="en-GB" dirty="0"/>
              <a:t>parameters becoming </a:t>
            </a:r>
            <a:r>
              <a:rPr lang="en-GB" dirty="0" err="1"/>
              <a:t>NaN</a:t>
            </a:r>
            <a:r>
              <a:rPr lang="en-GB" dirty="0"/>
              <a:t>; </a:t>
            </a:r>
          </a:p>
          <a:p>
            <a:pPr lvl="1"/>
            <a:r>
              <a:rPr lang="en-GB" dirty="0"/>
              <a:t>unstable validation performance. </a:t>
            </a:r>
          </a:p>
          <a:p>
            <a:r>
              <a:rPr lang="en-GB" b="1" dirty="0"/>
              <a:t>Difference from vanishing gradients</a:t>
            </a:r>
          </a:p>
          <a:p>
            <a:pPr lvl="1"/>
            <a:r>
              <a:rPr lang="en-GB" dirty="0"/>
              <a:t>Vanishing gradients make learning ineffective.</a:t>
            </a:r>
          </a:p>
          <a:p>
            <a:pPr lvl="1"/>
            <a:r>
              <a:rPr lang="en-GB" dirty="0"/>
              <a:t>Exploding gradients make learning unstable.</a:t>
            </a:r>
          </a:p>
          <a:p>
            <a:r>
              <a:rPr lang="en-GB" dirty="0"/>
              <a:t>Both arise from repeatedly propagating through the recurrent chain.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144570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9C5F99-1C74-5458-80F6-B16E5555F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clipping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258824-56EB-6C71-0984-A5141D1BF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1633" y="1495425"/>
            <a:ext cx="5304367" cy="495299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 common practical solution for exploding gradients is </a:t>
            </a:r>
            <a:r>
              <a:rPr lang="en-GB" b="1" dirty="0"/>
              <a:t>gradient clipping</a:t>
            </a:r>
            <a:r>
              <a:rPr lang="en-GB" dirty="0"/>
              <a:t>.</a:t>
            </a:r>
          </a:p>
          <a:p>
            <a:r>
              <a:rPr lang="en-GB" dirty="0"/>
              <a:t>Suppose a gradient becomes excessively large.</a:t>
            </a:r>
          </a:p>
          <a:p>
            <a:r>
              <a:rPr lang="en-GB" dirty="0"/>
              <a:t>Instead of applying it directly, its magnitude is limited.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computed gradient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is magnitude too large?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     yes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reduce to maximum allowed magnitude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parameter update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67CF606-7B1E-1028-0A14-1ADC18429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0619" y="1495425"/>
            <a:ext cx="5416105" cy="4952999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Purpose of </a:t>
            </a:r>
            <a:r>
              <a:rPr lang="en-GB" dirty="0">
                <a:highlight>
                  <a:srgbClr val="FFFF00"/>
                </a:highlight>
              </a:rPr>
              <a:t>Gradient clipping:</a:t>
            </a:r>
          </a:p>
          <a:p>
            <a:pPr lvl="1"/>
            <a:r>
              <a:rPr lang="en-GB" dirty="0"/>
              <a:t>prevents extreme updates; </a:t>
            </a:r>
          </a:p>
          <a:p>
            <a:pPr lvl="1"/>
            <a:r>
              <a:rPr lang="en-GB" dirty="0"/>
              <a:t>improves numerical stability; </a:t>
            </a:r>
          </a:p>
          <a:p>
            <a:pPr lvl="1"/>
            <a:r>
              <a:rPr lang="en-GB" dirty="0"/>
              <a:t>allows training to continue. </a:t>
            </a:r>
          </a:p>
          <a:p>
            <a:r>
              <a:rPr lang="en-GB" b="1" dirty="0"/>
              <a:t>Important limitation</a:t>
            </a:r>
          </a:p>
          <a:p>
            <a:pPr lvl="1"/>
            <a:r>
              <a:rPr lang="en-GB" dirty="0"/>
              <a:t>Gradient clipping primarily addresses </a:t>
            </a:r>
            <a:r>
              <a:rPr lang="en-GB" b="1" dirty="0"/>
              <a:t>exploding gradients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It does not solve the fundamental problem of vanishing gradients or long-term memory.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Clipping controls instability; it does not create a better memory mechanism.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399147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Gradient clipping controls exploding gradients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Very large gradients are reduced before the parameter update.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1051560" y="2743200"/>
            <a:ext cx="1234080" cy="6854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computed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gradient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2286000" y="3090600"/>
            <a:ext cx="640080" cy="360"/>
          </a:xfrm>
          <a:prstGeom prst="line">
            <a:avLst/>
          </a:prstGeom>
          <a:ln w="1905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2926080" y="2743200"/>
            <a:ext cx="1234080" cy="68544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too large?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4160520" y="3090600"/>
            <a:ext cx="685800" cy="360"/>
          </a:xfrm>
          <a:prstGeom prst="line">
            <a:avLst/>
          </a:prstGeom>
          <a:ln w="1905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4846320" y="2743200"/>
            <a:ext cx="1325520" cy="6854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clip to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max norm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6172200" y="3090600"/>
            <a:ext cx="685800" cy="360"/>
          </a:xfrm>
          <a:prstGeom prst="line">
            <a:avLst/>
          </a:prstGeom>
          <a:ln w="1905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6858000" y="2743200"/>
            <a:ext cx="1234080" cy="68544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stable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update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1234440" y="4160520"/>
            <a:ext cx="1554120" cy="319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before clipping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3017520" y="4224600"/>
            <a:ext cx="3062880" cy="164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1234440" y="4690800"/>
            <a:ext cx="1554120" cy="319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after clipping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2"/>
          <p:cNvSpPr/>
          <p:nvPr/>
        </p:nvSpPr>
        <p:spPr>
          <a:xfrm>
            <a:off x="3017520" y="4754880"/>
            <a:ext cx="1234080" cy="16416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3"/>
          <p:cNvSpPr/>
          <p:nvPr/>
        </p:nvSpPr>
        <p:spPr>
          <a:xfrm>
            <a:off x="4251960" y="3977640"/>
            <a:ext cx="360" cy="1005840"/>
          </a:xfrm>
          <a:prstGeom prst="line">
            <a:avLst/>
          </a:prstGeom>
          <a:ln w="15240">
            <a:solidFill>
              <a:srgbClr val="1018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3794760" y="50749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maximum allowed magnitude</a:t>
            </a: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841320" y="6053400"/>
            <a:ext cx="98568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Clipping improves stability, but it does not solve vanishing gradients or long-memory learning.</a:t>
            </a:r>
            <a:endParaRPr lang="it-I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92C56C-87AB-7428-A238-AD2465A7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Truncated BPTT reduces computational depth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BB8426-29A4-A997-9A51-634A1255D0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For very long sequences, gradients may be propagated only across a limited number of time steps.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full sequence:</a:t>
            </a:r>
          </a:p>
          <a:p>
            <a:r>
              <a:rPr lang="en-GB" dirty="0"/>
              <a:t>1 ----------------------------- 1000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gradient segments:</a:t>
            </a:r>
          </a:p>
          <a:p>
            <a:r>
              <a:rPr lang="en-GB" dirty="0"/>
              <a:t>1–100</a:t>
            </a:r>
          </a:p>
          <a:p>
            <a:r>
              <a:rPr lang="en-GB" dirty="0"/>
              <a:t>101–200</a:t>
            </a:r>
          </a:p>
          <a:p>
            <a:r>
              <a:rPr lang="en-GB" dirty="0"/>
              <a:t>201–300</a:t>
            </a:r>
          </a:p>
          <a:p>
            <a:r>
              <a:rPr lang="en-GB" dirty="0"/>
              <a:t>...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271E47A-D351-7D13-A0CA-EEC85A58AF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Advantages</a:t>
            </a:r>
          </a:p>
          <a:p>
            <a:pPr lvl="1"/>
            <a:r>
              <a:rPr lang="en-GB" dirty="0"/>
              <a:t>lower memory usage; </a:t>
            </a:r>
          </a:p>
          <a:p>
            <a:pPr lvl="1"/>
            <a:r>
              <a:rPr lang="en-GB" dirty="0"/>
              <a:t>lower computational cost; </a:t>
            </a:r>
          </a:p>
          <a:p>
            <a:pPr lvl="1"/>
            <a:r>
              <a:rPr lang="en-GB" dirty="0"/>
              <a:t>easier training on long streams. </a:t>
            </a:r>
          </a:p>
          <a:p>
            <a:r>
              <a:rPr lang="en-GB" b="1" dirty="0">
                <a:highlight>
                  <a:srgbClr val="FFFF00"/>
                </a:highlight>
              </a:rPr>
              <a:t>Limitation</a:t>
            </a:r>
          </a:p>
          <a:p>
            <a:r>
              <a:rPr lang="en-GB" dirty="0"/>
              <a:t>If an important dependency spans more than the truncation length, the gradient cannot connect the two events directly.</a:t>
            </a:r>
          </a:p>
          <a:p>
            <a:r>
              <a:rPr lang="en-GB" b="1" dirty="0">
                <a:highlight>
                  <a:srgbClr val="FFFF00"/>
                </a:highlight>
              </a:rPr>
              <a:t>Therefore</a:t>
            </a:r>
          </a:p>
          <a:p>
            <a:pPr lvl="1"/>
            <a:r>
              <a:rPr lang="en-GB" dirty="0"/>
              <a:t>Truncated BPTT is mainly a computational strategy.</a:t>
            </a:r>
          </a:p>
          <a:p>
            <a:pPr lvl="1"/>
            <a:r>
              <a:rPr lang="en-GB" dirty="0"/>
              <a:t>It does not fundamentally solve long-range dependency learning.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318560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Truncated BPTT limits how far gradients are propagated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Useful for long streams, but long dependencies beyond the segment remain harder to learn.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"/>
          <p:cNvSpPr/>
          <p:nvPr/>
        </p:nvSpPr>
        <p:spPr>
          <a:xfrm>
            <a:off x="960120" y="2606040"/>
            <a:ext cx="8549640" cy="360"/>
          </a:xfrm>
          <a:prstGeom prst="line">
            <a:avLst/>
          </a:prstGeom>
          <a:ln w="20320">
            <a:solidFill>
              <a:srgbClr val="10182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3840480" y="214884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full sequence: 1 → 1000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1051560" y="3063240"/>
            <a:ext cx="1645560" cy="475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1–100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5"/>
          <p:cNvSpPr/>
          <p:nvPr/>
        </p:nvSpPr>
        <p:spPr>
          <a:xfrm flipH="1">
            <a:off x="1234440" y="3620880"/>
            <a:ext cx="1371600" cy="360"/>
          </a:xfrm>
          <a:prstGeom prst="line">
            <a:avLst/>
          </a:prstGeom>
          <a:ln w="1905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1307520" y="376740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gradient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within segment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3063240" y="3063240"/>
            <a:ext cx="1645560" cy="475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101–200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8"/>
          <p:cNvSpPr/>
          <p:nvPr/>
        </p:nvSpPr>
        <p:spPr>
          <a:xfrm flipH="1">
            <a:off x="3246120" y="3620880"/>
            <a:ext cx="1371600" cy="360"/>
          </a:xfrm>
          <a:prstGeom prst="line">
            <a:avLst/>
          </a:prstGeom>
          <a:ln w="1905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3319200" y="376740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gradient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within segment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5074920" y="3063240"/>
            <a:ext cx="1645560" cy="475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201–300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1"/>
          <p:cNvSpPr/>
          <p:nvPr/>
        </p:nvSpPr>
        <p:spPr>
          <a:xfrm flipH="1">
            <a:off x="5257800" y="3620880"/>
            <a:ext cx="1371600" cy="360"/>
          </a:xfrm>
          <a:prstGeom prst="line">
            <a:avLst/>
          </a:prstGeom>
          <a:ln w="1905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5330880" y="376740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gradient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within segment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7086600" y="3063240"/>
            <a:ext cx="1645560" cy="475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301–400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4"/>
          <p:cNvSpPr/>
          <p:nvPr/>
        </p:nvSpPr>
        <p:spPr>
          <a:xfrm flipH="1">
            <a:off x="7269480" y="3620880"/>
            <a:ext cx="1371600" cy="360"/>
          </a:xfrm>
          <a:prstGeom prst="line">
            <a:avLst/>
          </a:prstGeom>
          <a:ln w="1905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5"/>
          <p:cNvSpPr/>
          <p:nvPr/>
        </p:nvSpPr>
        <p:spPr>
          <a:xfrm>
            <a:off x="7342560" y="3767400"/>
            <a:ext cx="1234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gradient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within segment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6"/>
          <p:cNvSpPr/>
          <p:nvPr/>
        </p:nvSpPr>
        <p:spPr>
          <a:xfrm>
            <a:off x="2697480" y="3300840"/>
            <a:ext cx="365760" cy="360"/>
          </a:xfrm>
          <a:prstGeom prst="line">
            <a:avLst/>
          </a:prstGeom>
          <a:ln w="1778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7"/>
          <p:cNvSpPr/>
          <p:nvPr/>
        </p:nvSpPr>
        <p:spPr>
          <a:xfrm>
            <a:off x="4709160" y="3300840"/>
            <a:ext cx="365760" cy="360"/>
          </a:xfrm>
          <a:prstGeom prst="line">
            <a:avLst/>
          </a:prstGeom>
          <a:ln w="1778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8"/>
          <p:cNvSpPr/>
          <p:nvPr/>
        </p:nvSpPr>
        <p:spPr>
          <a:xfrm>
            <a:off x="6720840" y="3300840"/>
            <a:ext cx="365760" cy="360"/>
          </a:xfrm>
          <a:prstGeom prst="line">
            <a:avLst/>
          </a:prstGeom>
          <a:ln w="1778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9"/>
          <p:cNvSpPr/>
          <p:nvPr/>
        </p:nvSpPr>
        <p:spPr>
          <a:xfrm>
            <a:off x="4434840" y="272484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65A30D"/>
                </a:solidFill>
                <a:effectLst/>
                <a:uFillTx/>
                <a:latin typeface="Aptos"/>
              </a:rPr>
              <a:t>state can continue forward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0"/>
          <p:cNvSpPr/>
          <p:nvPr/>
        </p:nvSpPr>
        <p:spPr>
          <a:xfrm>
            <a:off x="2332080" y="5329986"/>
            <a:ext cx="2285640" cy="50256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Memory / computation benefit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1"/>
          <p:cNvSpPr/>
          <p:nvPr/>
        </p:nvSpPr>
        <p:spPr>
          <a:xfrm>
            <a:off x="5436870" y="5356654"/>
            <a:ext cx="2285640" cy="5025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Limited gradient horizon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2"/>
          <p:cNvSpPr/>
          <p:nvPr/>
        </p:nvSpPr>
        <p:spPr>
          <a:xfrm>
            <a:off x="841320" y="6053400"/>
            <a:ext cx="98568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Input-window length and BPTT truncation length are related, but not identical.</a:t>
            </a:r>
            <a:endParaRPr lang="it-I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5943991-AFAB-5F63-EE67-3B21BE06EC9C}"/>
              </a:ext>
            </a:extLst>
          </p:cNvPr>
          <p:cNvSpPr txBox="1"/>
          <p:nvPr/>
        </p:nvSpPr>
        <p:spPr>
          <a:xfrm>
            <a:off x="5583555" y="4123588"/>
            <a:ext cx="4408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In full BPTT, the gradient at h300​ could contain contributions from losses at 301,302,…,1000. In truncated BPTT, those future contributions are deliberately cut off.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9D17E92-5502-DC11-255A-D1668EBD4E58}"/>
              </a:ext>
            </a:extLst>
          </p:cNvPr>
          <p:cNvSpPr txBox="1"/>
          <p:nvPr/>
        </p:nvSpPr>
        <p:spPr>
          <a:xfrm>
            <a:off x="6564959" y="4779067"/>
            <a:ext cx="49126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Truncated BPTT is straightforward for </a:t>
            </a:r>
            <a:r>
              <a:rPr lang="en-GB" sz="1100" dirty="0" err="1"/>
              <a:t>seq</a:t>
            </a:r>
            <a:r>
              <a:rPr lang="en-GB" sz="1100" dirty="0"/>
              <a:t>-to-</a:t>
            </a:r>
            <a:r>
              <a:rPr lang="en-GB" sz="1100" dirty="0" err="1"/>
              <a:t>seq</a:t>
            </a:r>
            <a:r>
              <a:rPr lang="en-GB" sz="1100" dirty="0"/>
              <a:t>; for </a:t>
            </a:r>
            <a:r>
              <a:rPr lang="en-GB" sz="1100" dirty="0" err="1"/>
              <a:t>seq</a:t>
            </a:r>
            <a:r>
              <a:rPr lang="en-GB" sz="1100" dirty="0"/>
              <a:t>-to-vector with only an end-of-sequence loss, truncation is much more problematic.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0FC6FA-2ED8-22A4-856F-359E99836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Regularization and normalization can improve training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47D5B6-60A3-D90F-58C3-114C64E21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Other techniques can improve recurrent-network training.</a:t>
            </a:r>
          </a:p>
          <a:p>
            <a:r>
              <a:rPr lang="en-GB" b="1" dirty="0">
                <a:highlight>
                  <a:srgbClr val="FFFF00"/>
                </a:highlight>
              </a:rPr>
              <a:t>Dropout</a:t>
            </a:r>
          </a:p>
          <a:p>
            <a:pPr lvl="1"/>
            <a:r>
              <a:rPr lang="en-GB" dirty="0"/>
              <a:t>Randomly suppresses some activations during training.</a:t>
            </a:r>
          </a:p>
          <a:p>
            <a:pPr lvl="1"/>
            <a:r>
              <a:rPr lang="en-GB" dirty="0"/>
              <a:t>Purpose:</a:t>
            </a:r>
          </a:p>
          <a:p>
            <a:pPr lvl="2"/>
            <a:r>
              <a:rPr lang="en-GB" dirty="0"/>
              <a:t>reduce overfitting; </a:t>
            </a:r>
          </a:p>
          <a:p>
            <a:pPr lvl="2"/>
            <a:r>
              <a:rPr lang="en-GB" dirty="0"/>
              <a:t>encourage robust representations. </a:t>
            </a:r>
          </a:p>
          <a:p>
            <a:r>
              <a:rPr lang="en-GB" b="1" dirty="0">
                <a:highlight>
                  <a:srgbClr val="FFFF00"/>
                </a:highlight>
              </a:rPr>
              <a:t>Recurrent dropout</a:t>
            </a:r>
          </a:p>
          <a:p>
            <a:r>
              <a:rPr lang="en-GB" dirty="0"/>
              <a:t>Can be applied to recurrent transformations, depending on the architecture and implementation.</a:t>
            </a:r>
          </a:p>
          <a:p>
            <a:r>
              <a:rPr lang="en-GB" b="1" dirty="0">
                <a:highlight>
                  <a:srgbClr val="FFFF00"/>
                </a:highlight>
              </a:rPr>
              <a:t>Normalization</a:t>
            </a:r>
          </a:p>
          <a:p>
            <a:r>
              <a:rPr lang="en-GB" dirty="0"/>
              <a:t>Normalization techniques can help stabilize activation distributions.</a:t>
            </a:r>
          </a:p>
          <a:p>
            <a:r>
              <a:rPr lang="en-GB" dirty="0"/>
              <a:t>Possible approaches include:</a:t>
            </a:r>
          </a:p>
          <a:p>
            <a:pPr lvl="1"/>
            <a:r>
              <a:rPr lang="en-GB" b="1" dirty="0"/>
              <a:t>batch normalization </a:t>
            </a:r>
            <a:r>
              <a:rPr lang="en-GB" dirty="0"/>
              <a:t>in selected parts of the network; </a:t>
            </a:r>
          </a:p>
          <a:p>
            <a:pPr lvl="1"/>
            <a:r>
              <a:rPr lang="en-GB" b="1" dirty="0"/>
              <a:t>layer normalization.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161886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995334-D0F1-1AF4-B095-A7201DDAC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Regularization and normalization can improve training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9A1544-70F8-73B2-0831-2D1E401FC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N.B.</a:t>
            </a:r>
          </a:p>
          <a:p>
            <a:r>
              <a:rPr lang="en-GB" dirty="0"/>
              <a:t>These methods improve:</a:t>
            </a:r>
          </a:p>
          <a:p>
            <a:pPr lvl="1"/>
            <a:r>
              <a:rPr lang="en-GB" dirty="0"/>
              <a:t>optimization; </a:t>
            </a:r>
          </a:p>
          <a:p>
            <a:pPr lvl="1"/>
            <a:r>
              <a:rPr lang="en-GB" dirty="0"/>
              <a:t>generalization; </a:t>
            </a:r>
          </a:p>
          <a:p>
            <a:pPr lvl="1"/>
            <a:r>
              <a:rPr lang="en-GB" dirty="0"/>
              <a:t>numerical stability. </a:t>
            </a:r>
          </a:p>
          <a:p>
            <a:r>
              <a:rPr lang="en-GB" dirty="0"/>
              <a:t>They do not fundamentally replace the recurrent memory mechanism.</a:t>
            </a:r>
          </a:p>
          <a:p>
            <a:r>
              <a:rPr lang="en-GB" b="1" dirty="0"/>
              <a:t>The central problem remains</a:t>
            </a:r>
          </a:p>
          <a:p>
            <a:r>
              <a:rPr lang="en-GB" dirty="0"/>
              <a:t>How can the architecture allow useful information to be retained or forgotten deliberately over long temporal intervals?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830318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5F4241-80E9-17B3-4584-879C7E66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SimpleRNN</a:t>
            </a:r>
            <a:r>
              <a:rPr lang="en-GB" dirty="0"/>
              <a:t> memory is overwritten at every step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23F1EA-61F6-0BED-B6C2-5748E626B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 a </a:t>
            </a:r>
            <a:r>
              <a:rPr lang="en-GB" dirty="0" err="1"/>
              <a:t>SimpleRNN</a:t>
            </a:r>
            <a:r>
              <a:rPr lang="en-GB" dirty="0"/>
              <a:t>: h[t] = f(x[t], h[t−1])</a:t>
            </a:r>
          </a:p>
          <a:p>
            <a:r>
              <a:rPr lang="en-GB" b="1" dirty="0">
                <a:highlight>
                  <a:srgbClr val="FFFF00"/>
                </a:highlight>
              </a:rPr>
              <a:t>The same hidden state must simultaneously:</a:t>
            </a:r>
          </a:p>
          <a:p>
            <a:pPr lvl="1"/>
            <a:r>
              <a:rPr lang="en-GB" dirty="0"/>
              <a:t>preserve useful old information; </a:t>
            </a:r>
          </a:p>
          <a:p>
            <a:pPr lvl="1"/>
            <a:r>
              <a:rPr lang="en-GB" dirty="0"/>
              <a:t>incorporate new information; </a:t>
            </a:r>
          </a:p>
          <a:p>
            <a:pPr lvl="1"/>
            <a:r>
              <a:rPr lang="en-GB" dirty="0"/>
              <a:t>discard irrelevant information; </a:t>
            </a:r>
          </a:p>
          <a:p>
            <a:pPr lvl="1"/>
            <a:r>
              <a:rPr lang="en-GB" dirty="0"/>
              <a:t>support the current prediction. </a:t>
            </a:r>
          </a:p>
          <a:p>
            <a:r>
              <a:rPr lang="en-GB" dirty="0">
                <a:highlight>
                  <a:srgbClr val="FFFF00"/>
                </a:highlight>
              </a:rPr>
              <a:t>Every time step produces a complete new hidden state.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76000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FF662-5414-09C5-4537-CFADBE904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BB93A3-47A5-AB66-6D2B-CED6940B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SimpleRNN</a:t>
            </a:r>
            <a:r>
              <a:rPr lang="en-GB" dirty="0"/>
              <a:t> memory is overwritten at every step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BAA7F31-582F-DC9E-77C6-4BFE504F29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Conceptual problem</a:t>
            </a:r>
          </a:p>
          <a:p>
            <a:r>
              <a:rPr lang="en-GB" dirty="0"/>
              <a:t>Suppose the state contains useful information from time t−100.</a:t>
            </a:r>
          </a:p>
          <a:p>
            <a:r>
              <a:rPr lang="en-GB" dirty="0"/>
              <a:t>A new observation arrives.</a:t>
            </a:r>
          </a:p>
          <a:p>
            <a:r>
              <a:rPr lang="en-GB" dirty="0"/>
              <a:t>The model must learn whether to:</a:t>
            </a:r>
          </a:p>
          <a:p>
            <a:pPr lvl="1"/>
            <a:r>
              <a:rPr lang="en-GB" dirty="0"/>
              <a:t>retain that old information; </a:t>
            </a:r>
          </a:p>
          <a:p>
            <a:pPr lvl="1"/>
            <a:r>
              <a:rPr lang="en-GB" dirty="0"/>
              <a:t>modify it; </a:t>
            </a:r>
          </a:p>
          <a:p>
            <a:pPr lvl="1"/>
            <a:r>
              <a:rPr lang="en-GB" dirty="0"/>
              <a:t>completely replace it. </a:t>
            </a:r>
          </a:p>
          <a:p>
            <a:r>
              <a:rPr lang="en-GB" dirty="0" err="1"/>
              <a:t>SimpleRNN</a:t>
            </a:r>
            <a:r>
              <a:rPr lang="en-GB" dirty="0"/>
              <a:t> has no explicit mechanism controlling these operations.</a:t>
            </a:r>
          </a:p>
          <a:p>
            <a:endParaRPr lang="en-GB" b="1" dirty="0"/>
          </a:p>
          <a:p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9A8C852-406D-0713-E0D9-236D46D3FD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Desired capability</a:t>
            </a:r>
          </a:p>
          <a:p>
            <a:r>
              <a:rPr lang="en-GB" dirty="0">
                <a:highlight>
                  <a:srgbClr val="FFFF00"/>
                </a:highlight>
              </a:rPr>
              <a:t>A more effective recurrent architecture should learn explicitly:</a:t>
            </a:r>
          </a:p>
          <a:p>
            <a:pPr lvl="1"/>
            <a:r>
              <a:rPr lang="en-GB" dirty="0"/>
              <a:t>what to keep; </a:t>
            </a:r>
          </a:p>
          <a:p>
            <a:pPr lvl="1"/>
            <a:r>
              <a:rPr lang="en-GB" dirty="0"/>
              <a:t>what to forget; </a:t>
            </a:r>
          </a:p>
          <a:p>
            <a:pPr lvl="1"/>
            <a:r>
              <a:rPr lang="en-GB" dirty="0"/>
              <a:t>what new information to store; </a:t>
            </a:r>
          </a:p>
          <a:p>
            <a:pPr lvl="1"/>
            <a:r>
              <a:rPr lang="en-GB" dirty="0"/>
              <a:t>what information to expose to the output. </a:t>
            </a:r>
          </a:p>
          <a:p>
            <a:r>
              <a:rPr lang="en-GB" dirty="0"/>
              <a:t>This is the motivation for </a:t>
            </a:r>
            <a:r>
              <a:rPr lang="en-GB" b="1" dirty="0"/>
              <a:t>gated recurrent networks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380503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SimpleRNN has no explicit memory-control mechanism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The same state must preserve, update, discard and support prediction at each step.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1097280" y="2743200"/>
            <a:ext cx="1828440" cy="77688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h[t−1]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useful old information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1097280" y="4206240"/>
            <a:ext cx="1828440" cy="7768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x[t]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new observation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4"/>
          <p:cNvSpPr/>
          <p:nvPr/>
        </p:nvSpPr>
        <p:spPr>
          <a:xfrm>
            <a:off x="2926080" y="3126960"/>
            <a:ext cx="1051560" cy="484920"/>
          </a:xfrm>
          <a:prstGeom prst="line">
            <a:avLst/>
          </a:prstGeom>
          <a:ln w="2032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5"/>
          <p:cNvSpPr/>
          <p:nvPr/>
        </p:nvSpPr>
        <p:spPr>
          <a:xfrm flipV="1">
            <a:off x="2926080" y="3977640"/>
            <a:ext cx="1051560" cy="621720"/>
          </a:xfrm>
          <a:prstGeom prst="line">
            <a:avLst/>
          </a:prstGeom>
          <a:ln w="2032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3977640" y="3429000"/>
            <a:ext cx="1919880" cy="868320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one nonlinear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state update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5897880" y="3867840"/>
            <a:ext cx="1005840" cy="360"/>
          </a:xfrm>
          <a:prstGeom prst="line">
            <a:avLst/>
          </a:prstGeom>
          <a:ln w="2032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6903720" y="3474720"/>
            <a:ext cx="1828440" cy="7768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h[t]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new hidden state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1234440" y="16916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No separate controls for: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3977640" y="1627560"/>
            <a:ext cx="868320" cy="34704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65A30D"/>
                </a:solidFill>
                <a:effectLst/>
                <a:uFillTx/>
                <a:latin typeface="Aptos"/>
              </a:rPr>
              <a:t>keep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5010840" y="1627560"/>
            <a:ext cx="959760" cy="3470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forget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2"/>
          <p:cNvSpPr/>
          <p:nvPr/>
        </p:nvSpPr>
        <p:spPr>
          <a:xfrm>
            <a:off x="6172200" y="1627560"/>
            <a:ext cx="868320" cy="3470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write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7178040" y="1627560"/>
            <a:ext cx="1005480" cy="34704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97316"/>
                </a:solidFill>
                <a:effectLst/>
                <a:uFillTx/>
                <a:latin typeface="Aptos"/>
              </a:rPr>
              <a:t>expose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4"/>
          <p:cNvSpPr/>
          <p:nvPr/>
        </p:nvSpPr>
        <p:spPr>
          <a:xfrm>
            <a:off x="841320" y="6053400"/>
            <a:ext cx="98568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This motivates gated recurrent architectures with explicit information-flow controls</a:t>
            </a:r>
            <a:r>
              <a:rPr lang="en-US" sz="1350" b="0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.</a:t>
            </a:r>
            <a:endParaRPr lang="it-IT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FE7E88-9344-07FA-5BDE-AFC218FDE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</a:t>
            </a:r>
            <a:r>
              <a:rPr lang="en-GB" dirty="0" err="1"/>
              <a:t>SimpleRNN</a:t>
            </a:r>
            <a:r>
              <a:rPr lang="en-GB" dirty="0"/>
              <a:t> to gated memory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93A28D-DB92-C0F2-2DFD-61B9BE585B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10647891" cy="4449761"/>
          </a:xfrm>
        </p:spPr>
        <p:txBody>
          <a:bodyPr>
            <a:normAutofit/>
          </a:bodyPr>
          <a:lstStyle/>
          <a:p>
            <a:r>
              <a:rPr lang="en-GB" dirty="0"/>
              <a:t>The limitations of </a:t>
            </a:r>
            <a:r>
              <a:rPr lang="en-GB" dirty="0" err="1"/>
              <a:t>SimpleRNN</a:t>
            </a:r>
            <a:r>
              <a:rPr lang="en-GB" dirty="0"/>
              <a:t> motivate a different design.</a:t>
            </a:r>
          </a:p>
          <a:p>
            <a:r>
              <a:rPr lang="en-GB" dirty="0"/>
              <a:t>Instead of updating memory through one unrestricted nonlinear transformation, </a:t>
            </a:r>
            <a:r>
              <a:rPr lang="en-GB" b="1" dirty="0"/>
              <a:t>introduce gates that regulate information flow.</a:t>
            </a:r>
          </a:p>
          <a:p>
            <a:r>
              <a:rPr lang="en-GB" dirty="0"/>
              <a:t>A gate produces values approximately between 0 and 1, allowing the model to </a:t>
            </a:r>
            <a:r>
              <a:rPr lang="en-GB" b="1" dirty="0"/>
              <a:t>control how much information passes through.</a:t>
            </a:r>
          </a:p>
          <a:p>
            <a:r>
              <a:rPr lang="en-GB" b="1" dirty="0"/>
              <a:t>Two major gated architectures</a:t>
            </a:r>
          </a:p>
          <a:p>
            <a:pPr lvl="1"/>
            <a:r>
              <a:rPr lang="en-GB" dirty="0"/>
              <a:t>Long Short-Term Memory — </a:t>
            </a:r>
            <a:r>
              <a:rPr lang="en-GB" b="1" dirty="0"/>
              <a:t>LSTM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Gated Recurrent Unit — </a:t>
            </a:r>
            <a:r>
              <a:rPr lang="en-GB" b="1" dirty="0"/>
              <a:t>GRU</a:t>
            </a:r>
            <a:r>
              <a:rPr lang="en-GB" dirty="0"/>
              <a:t> </a:t>
            </a:r>
          </a:p>
          <a:p>
            <a:endParaRPr lang="en-GB" b="1" dirty="0"/>
          </a:p>
          <a:p>
            <a:r>
              <a:rPr lang="en-GB" b="1" dirty="0"/>
              <a:t>Next block</a:t>
            </a:r>
          </a:p>
          <a:p>
            <a:r>
              <a:rPr lang="en-GB" dirty="0"/>
              <a:t>We begin with LSTM, which introduces an explicit memory state and several learned gates.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372145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From </a:t>
            </a:r>
            <a:r>
              <a:rPr lang="en-US" sz="2800" b="1" u="none" strike="noStrike" dirty="0" err="1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SimpleRNN</a:t>
            </a:r>
            <a:r>
              <a:rPr lang="en-US" sz="2800" b="1" u="none" strike="noStrike" dirty="0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 to </a:t>
            </a:r>
            <a:r>
              <a:rPr lang="en-US" sz="2800" b="1" u="none" strike="noStrike" dirty="0">
                <a:solidFill>
                  <a:srgbClr val="101828"/>
                </a:solidFill>
                <a:effectLst/>
                <a:highlight>
                  <a:srgbClr val="FFFF00"/>
                </a:highlight>
                <a:uFillTx/>
                <a:latin typeface="Aptos Display"/>
                <a:ea typeface="Aptos Display"/>
              </a:rPr>
              <a:t>gated memory</a:t>
            </a:r>
            <a:endParaRPr lang="it-IT" sz="28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 dirty="0">
                <a:solidFill>
                  <a:srgbClr val="475467"/>
                </a:solidFill>
                <a:effectLst/>
                <a:uFillTx/>
                <a:latin typeface="Aptos"/>
              </a:rPr>
              <a:t>Gates regulate how much information is kept, written and exposed.</a:t>
            </a:r>
            <a:endParaRPr lang="it-IT" sz="14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914400" y="2743200"/>
            <a:ext cx="1371240" cy="65808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previous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memory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"/>
          <p:cNvSpPr/>
          <p:nvPr/>
        </p:nvSpPr>
        <p:spPr>
          <a:xfrm>
            <a:off x="2286000" y="3072240"/>
            <a:ext cx="960120" cy="360"/>
          </a:xfrm>
          <a:prstGeom prst="line">
            <a:avLst/>
          </a:prstGeom>
          <a:ln w="2032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3246120" y="2743200"/>
            <a:ext cx="1051200" cy="65808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keep?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5"/>
          <p:cNvSpPr/>
          <p:nvPr/>
        </p:nvSpPr>
        <p:spPr>
          <a:xfrm>
            <a:off x="4297680" y="3072240"/>
            <a:ext cx="1234440" cy="360"/>
          </a:xfrm>
          <a:prstGeom prst="line">
            <a:avLst/>
          </a:prstGeom>
          <a:ln w="2032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5532120" y="2743200"/>
            <a:ext cx="1371240" cy="6580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updated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memory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7"/>
          <p:cNvSpPr/>
          <p:nvPr/>
        </p:nvSpPr>
        <p:spPr>
          <a:xfrm>
            <a:off x="6903720" y="3072240"/>
            <a:ext cx="1051560" cy="360"/>
          </a:xfrm>
          <a:prstGeom prst="line">
            <a:avLst/>
          </a:prstGeom>
          <a:ln w="2032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8"/>
          <p:cNvSpPr/>
          <p:nvPr/>
        </p:nvSpPr>
        <p:spPr>
          <a:xfrm>
            <a:off x="7955280" y="2743200"/>
            <a:ext cx="1051200" cy="65808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expose?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9"/>
          <p:cNvSpPr/>
          <p:nvPr/>
        </p:nvSpPr>
        <p:spPr>
          <a:xfrm>
            <a:off x="9006840" y="3072240"/>
            <a:ext cx="868680" cy="360"/>
          </a:xfrm>
          <a:prstGeom prst="line">
            <a:avLst/>
          </a:prstGeom>
          <a:ln w="2032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0"/>
          <p:cNvSpPr/>
          <p:nvPr/>
        </p:nvSpPr>
        <p:spPr>
          <a:xfrm>
            <a:off x="9875520" y="2743200"/>
            <a:ext cx="1188360" cy="658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hidden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output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3246120" y="4160520"/>
            <a:ext cx="1371240" cy="658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new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information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2"/>
          <p:cNvSpPr/>
          <p:nvPr/>
        </p:nvSpPr>
        <p:spPr>
          <a:xfrm flipV="1">
            <a:off x="4617720" y="3429000"/>
            <a:ext cx="914400" cy="1060560"/>
          </a:xfrm>
          <a:prstGeom prst="line">
            <a:avLst/>
          </a:prstGeom>
          <a:ln w="2032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3"/>
          <p:cNvSpPr/>
          <p:nvPr/>
        </p:nvSpPr>
        <p:spPr>
          <a:xfrm>
            <a:off x="4663440" y="3977640"/>
            <a:ext cx="959760" cy="50256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write?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4"/>
          <p:cNvSpPr/>
          <p:nvPr/>
        </p:nvSpPr>
        <p:spPr>
          <a:xfrm>
            <a:off x="2194560" y="525780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Gate values are between 0 and 1: 0 blocks, 1 passes.</a:t>
            </a:r>
            <a:endParaRPr lang="it-IT" sz="1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5"/>
          <p:cNvSpPr/>
          <p:nvPr/>
        </p:nvSpPr>
        <p:spPr>
          <a:xfrm>
            <a:off x="841320" y="6053400"/>
            <a:ext cx="98568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LSTM and GRU are recurrent architectures built around learned gates.</a:t>
            </a:r>
            <a:endParaRPr lang="it-I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2762B3-5D50-C374-1521-B518A803F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4.F — Long Short-Term Memory Networks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3BC9C7-C3C1-E228-9828-8D977CA78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62718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31EC3D-DC92-9305-EF88-C6E10298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LSTM introduces a controlled memory pathway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0727B7-26CE-FA05-EDAF-E1CFCB762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647266" cy="3880772"/>
          </a:xfrm>
        </p:spPr>
        <p:txBody>
          <a:bodyPr>
            <a:normAutofit/>
          </a:bodyPr>
          <a:lstStyle/>
          <a:p>
            <a:r>
              <a:rPr lang="en-GB" dirty="0"/>
              <a:t>Long Short-Term Memory networks were designed to make long-range information easier to preserve and learn.</a:t>
            </a:r>
          </a:p>
          <a:p>
            <a:endParaRPr lang="en-GB" dirty="0"/>
          </a:p>
          <a:p>
            <a:r>
              <a:rPr lang="en-GB" dirty="0"/>
              <a:t>An LSTM maintains two recurrent vectors:</a:t>
            </a:r>
          </a:p>
          <a:p>
            <a:r>
              <a:rPr lang="en-GB" b="1" dirty="0"/>
              <a:t>Hidden state: </a:t>
            </a:r>
            <a:r>
              <a:rPr lang="en-GB" dirty="0"/>
              <a:t>h[t]</a:t>
            </a:r>
          </a:p>
          <a:p>
            <a:pPr lvl="1"/>
            <a:r>
              <a:rPr lang="en-GB" dirty="0"/>
              <a:t>Used as the visible recurrent representation.</a:t>
            </a:r>
          </a:p>
          <a:p>
            <a:r>
              <a:rPr lang="en-GB" b="1" dirty="0"/>
              <a:t>Cell state: </a:t>
            </a:r>
            <a:r>
              <a:rPr lang="en-GB" dirty="0"/>
              <a:t>c[t]</a:t>
            </a:r>
          </a:p>
          <a:p>
            <a:pPr lvl="1"/>
            <a:r>
              <a:rPr lang="en-GB" dirty="0"/>
              <a:t>Acts as an </a:t>
            </a:r>
            <a:r>
              <a:rPr lang="en-GB" b="1" dirty="0"/>
              <a:t>internal memory pathway.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0C2672F-92B0-1DD7-60DB-35CA33AD1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81985" y="2160589"/>
            <a:ext cx="4184034" cy="3880773"/>
          </a:xfrm>
        </p:spPr>
        <p:txBody>
          <a:bodyPr>
            <a:normAutofit/>
          </a:bodyPr>
          <a:lstStyle/>
          <a:p>
            <a:r>
              <a:rPr lang="en-GB" dirty="0"/>
              <a:t>At each time step:</a:t>
            </a:r>
          </a:p>
          <a:p>
            <a:r>
              <a:rPr lang="en-GB" dirty="0"/>
              <a:t>x[t]</a:t>
            </a:r>
          </a:p>
          <a:p>
            <a:r>
              <a:rPr lang="en-GB" dirty="0"/>
              <a:t>h[t−1]</a:t>
            </a:r>
          </a:p>
          <a:p>
            <a:r>
              <a:rPr lang="en-GB" dirty="0"/>
              <a:t>c[t−1]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 LSTM cell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h[t]</a:t>
            </a:r>
          </a:p>
          <a:p>
            <a:r>
              <a:rPr lang="en-GB" dirty="0"/>
              <a:t>c[t]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8E4F755-B898-5F63-6A9A-1F1AE5618BD6}"/>
              </a:ext>
            </a:extLst>
          </p:cNvPr>
          <p:cNvSpPr txBox="1"/>
          <p:nvPr/>
        </p:nvSpPr>
        <p:spPr>
          <a:xfrm>
            <a:off x="747713" y="5796647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LSTM propagates an exposed hidden state </a:t>
            </a:r>
            <a:r>
              <a:rPr lang="en-GB" dirty="0">
                <a:latin typeface="Courier New" panose="02070309020205020404" pitchFamily="49" charset="0"/>
              </a:rPr>
              <a:t>h[t]</a:t>
            </a:r>
            <a:r>
              <a:rPr lang="en-GB" dirty="0"/>
              <a:t> and an internal cell state </a:t>
            </a:r>
            <a:r>
              <a:rPr lang="en-GB" dirty="0">
                <a:latin typeface="Courier New" panose="02070309020205020404" pitchFamily="49" charset="0"/>
              </a:rPr>
              <a:t>c[t]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598282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1BB83A5F-A8A2-B5B2-F7D3-124255630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Exposed hidden state </a:t>
            </a:r>
            <a:r>
              <a:rPr lang="en-GB" dirty="0">
                <a:latin typeface="Courier New" panose="02070309020205020404" pitchFamily="49" charset="0"/>
              </a:rPr>
              <a:t>h[t]</a:t>
            </a:r>
            <a:r>
              <a:rPr lang="en-GB" dirty="0"/>
              <a:t> and internal </a:t>
            </a:r>
            <a:r>
              <a:rPr lang="en-GB" dirty="0">
                <a:highlight>
                  <a:srgbClr val="FFFF00"/>
                </a:highlight>
              </a:rPr>
              <a:t>cell state </a:t>
            </a:r>
            <a:r>
              <a:rPr lang="en-GB" dirty="0">
                <a:latin typeface="Courier New" panose="02070309020205020404" pitchFamily="49" charset="0"/>
              </a:rPr>
              <a:t>c[t]</a:t>
            </a:r>
            <a:endParaRPr lang="en-GB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444D51E-D739-49BA-BDCC-DAD4BF6AF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LSTM has two recurrent states</a:t>
            </a:r>
            <a:endParaRPr lang="en-GB" dirty="0"/>
          </a:p>
          <a:p>
            <a:pPr lvl="0"/>
            <a:r>
              <a:rPr lang="en-GB" dirty="0"/>
              <a:t>Unlike a </a:t>
            </a:r>
            <a:r>
              <a:rPr lang="en-GB" dirty="0" err="1"/>
              <a:t>SimpleRNN</a:t>
            </a:r>
            <a:r>
              <a:rPr lang="en-GB" dirty="0"/>
              <a:t>, an LSTM propagates two state vectors through time. </a:t>
            </a:r>
          </a:p>
          <a:p>
            <a:pPr lvl="0"/>
            <a:r>
              <a:rPr lang="en-GB" b="1" dirty="0"/>
              <a:t>Hidden state h[t]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exposed representation at time t; </a:t>
            </a:r>
          </a:p>
          <a:p>
            <a:pPr lvl="1"/>
            <a:r>
              <a:rPr lang="en-GB" dirty="0"/>
              <a:t>used to generate outputs; </a:t>
            </a:r>
          </a:p>
          <a:p>
            <a:pPr lvl="1"/>
            <a:r>
              <a:rPr lang="en-GB" dirty="0"/>
              <a:t>used together with x[t+1] to compute the next LSTM update. </a:t>
            </a:r>
          </a:p>
          <a:p>
            <a:pPr lvl="0"/>
            <a:r>
              <a:rPr lang="en-GB" b="1" dirty="0"/>
              <a:t>Cell state c[t]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internal </a:t>
            </a:r>
            <a:r>
              <a:rPr lang="en-GB" b="1" dirty="0"/>
              <a:t>memory pathway; </a:t>
            </a:r>
          </a:p>
          <a:p>
            <a:pPr lvl="1"/>
            <a:r>
              <a:rPr lang="en-GB" dirty="0"/>
              <a:t>designed to </a:t>
            </a:r>
            <a:r>
              <a:rPr lang="en-GB" b="1" dirty="0"/>
              <a:t>preserve selected information over longer intervals; </a:t>
            </a:r>
          </a:p>
          <a:p>
            <a:pPr lvl="1"/>
            <a:r>
              <a:rPr lang="en-GB" dirty="0"/>
              <a:t>modified through learned gates.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At time t, the LSTM receives:</a:t>
            </a:r>
          </a:p>
          <a:p>
            <a:pPr lvl="1"/>
            <a:r>
              <a:rPr lang="en-GB" dirty="0"/>
              <a:t>x[t], h[t−1], c[t−1]</a:t>
            </a:r>
          </a:p>
          <a:p>
            <a:pPr lvl="0"/>
            <a:r>
              <a:rPr lang="en-GB" dirty="0"/>
              <a:t>and produces:</a:t>
            </a:r>
          </a:p>
          <a:p>
            <a:pPr lvl="1"/>
            <a:r>
              <a:rPr lang="en-GB" dirty="0"/>
              <a:t>h[t], c[t]</a:t>
            </a:r>
          </a:p>
          <a:p>
            <a:endParaRPr lang="en-GB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37613DC-2ECC-0B53-D993-5FB0CDE15CA6}"/>
              </a:ext>
            </a:extLst>
          </p:cNvPr>
          <p:cNvSpPr txBox="1"/>
          <p:nvPr/>
        </p:nvSpPr>
        <p:spPr>
          <a:xfrm>
            <a:off x="6650963" y="2782669"/>
            <a:ext cx="52460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c[t] is often informally called long-term memory</a:t>
            </a:r>
          </a:p>
          <a:p>
            <a:r>
              <a:rPr lang="en-GB" dirty="0">
                <a:highlight>
                  <a:srgbClr val="FFFF00"/>
                </a:highlight>
              </a:rPr>
              <a:t>h[t] is sometimes called short-term memory.</a:t>
            </a:r>
          </a:p>
          <a:p>
            <a:endParaRPr lang="en-GB" dirty="0"/>
          </a:p>
          <a:p>
            <a:r>
              <a:rPr lang="en-GB" b="1" dirty="0">
                <a:highlight>
                  <a:srgbClr val="00FF00"/>
                </a:highlight>
              </a:rPr>
              <a:t>c[t]: persistent cell memory</a:t>
            </a:r>
            <a:br>
              <a:rPr lang="en-GB" dirty="0">
                <a:highlight>
                  <a:srgbClr val="00FF00"/>
                </a:highlight>
              </a:rPr>
            </a:br>
            <a:r>
              <a:rPr lang="en-GB" b="1" dirty="0">
                <a:highlight>
                  <a:srgbClr val="00FF00"/>
                </a:highlight>
              </a:rPr>
              <a:t>h[t]: current hidden representation</a:t>
            </a:r>
            <a:endParaRPr lang="en-GB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3724231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CE4364-68E5-408D-A917-3581FB5FB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LSTM introduces a controlled memory pathway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489E22-5305-6BA0-2A4A-2B6ADADB4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Main idea</a:t>
            </a:r>
          </a:p>
          <a:p>
            <a:r>
              <a:rPr lang="en-GB" dirty="0"/>
              <a:t>Instead of replacing memory completely at every step, the LSTM learns how much information should:</a:t>
            </a:r>
          </a:p>
          <a:p>
            <a:pPr lvl="1"/>
            <a:r>
              <a:rPr lang="en-GB" dirty="0"/>
              <a:t>remain in memory; </a:t>
            </a:r>
          </a:p>
          <a:p>
            <a:pPr lvl="1"/>
            <a:r>
              <a:rPr lang="en-GB" dirty="0"/>
              <a:t>be removed; </a:t>
            </a:r>
          </a:p>
          <a:p>
            <a:pPr lvl="1"/>
            <a:r>
              <a:rPr lang="en-GB" dirty="0"/>
              <a:t>be added; </a:t>
            </a:r>
          </a:p>
          <a:p>
            <a:pPr lvl="1"/>
            <a:r>
              <a:rPr lang="en-GB" dirty="0"/>
              <a:t>be exposed. </a:t>
            </a:r>
          </a:p>
          <a:p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LSTM turns </a:t>
            </a:r>
            <a:r>
              <a:rPr lang="en-GB" b="1" dirty="0">
                <a:highlight>
                  <a:srgbClr val="FFFF00"/>
                </a:highlight>
              </a:rPr>
              <a:t>memory management</a:t>
            </a:r>
            <a:r>
              <a:rPr lang="en-GB" dirty="0">
                <a:highlight>
                  <a:srgbClr val="FFFF00"/>
                </a:highlight>
              </a:rPr>
              <a:t> into a </a:t>
            </a:r>
            <a:r>
              <a:rPr lang="en-GB" b="1" dirty="0">
                <a:highlight>
                  <a:srgbClr val="FFFF00"/>
                </a:highlight>
              </a:rPr>
              <a:t>learned</a:t>
            </a:r>
            <a:r>
              <a:rPr lang="en-GB" dirty="0">
                <a:highlight>
                  <a:srgbClr val="FFFF00"/>
                </a:highlight>
              </a:rPr>
              <a:t>, </a:t>
            </a:r>
            <a:r>
              <a:rPr lang="en-GB" b="1" dirty="0">
                <a:highlight>
                  <a:srgbClr val="FFFF00"/>
                </a:highlight>
              </a:rPr>
              <a:t>explicit</a:t>
            </a:r>
            <a:r>
              <a:rPr lang="en-GB" dirty="0">
                <a:highlight>
                  <a:srgbClr val="FFFF00"/>
                </a:highlight>
              </a:rPr>
              <a:t> part of the architecture.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661933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LSTM introduces a controlled memory pathway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The cell state c[t] is an internal memory path distinct from the hidden state h[t].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"/>
          <p:cNvSpPr/>
          <p:nvPr/>
        </p:nvSpPr>
        <p:spPr>
          <a:xfrm>
            <a:off x="1188720" y="2926080"/>
            <a:ext cx="914040" cy="4568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x[t]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1188720" y="3657600"/>
            <a:ext cx="914040" cy="456840"/>
          </a:xfrm>
          <a:prstGeom prst="rect">
            <a:avLst/>
          </a:prstGeom>
          <a:solidFill>
            <a:srgbClr val="F2F4F7"/>
          </a:solidFill>
          <a:ln w="12700">
            <a:solidFill>
              <a:srgbClr val="47546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h[t−1]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1188720" y="2194560"/>
            <a:ext cx="914040" cy="45684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c[t−1]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3931920" y="2541960"/>
            <a:ext cx="2102760" cy="141696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LSTM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cell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6"/>
          <p:cNvSpPr/>
          <p:nvPr/>
        </p:nvSpPr>
        <p:spPr>
          <a:xfrm>
            <a:off x="2103120" y="3154680"/>
            <a:ext cx="1828800" cy="360"/>
          </a:xfrm>
          <a:prstGeom prst="line">
            <a:avLst/>
          </a:prstGeom>
          <a:ln w="2286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 flipV="1">
            <a:off x="2103120" y="3520440"/>
            <a:ext cx="1828800" cy="365760"/>
          </a:xfrm>
          <a:prstGeom prst="line">
            <a:avLst/>
          </a:prstGeom>
          <a:ln w="2286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8"/>
          <p:cNvSpPr/>
          <p:nvPr/>
        </p:nvSpPr>
        <p:spPr>
          <a:xfrm>
            <a:off x="2103120" y="2423160"/>
            <a:ext cx="1828800" cy="365760"/>
          </a:xfrm>
          <a:prstGeom prst="line">
            <a:avLst/>
          </a:prstGeom>
          <a:ln w="22860">
            <a:solidFill>
              <a:srgbClr val="EAB30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7406640" y="3657600"/>
            <a:ext cx="914040" cy="456840"/>
          </a:xfrm>
          <a:prstGeom prst="rect">
            <a:avLst/>
          </a:prstGeom>
          <a:solidFill>
            <a:srgbClr val="F2F4F7"/>
          </a:solidFill>
          <a:ln w="12700">
            <a:solidFill>
              <a:srgbClr val="47546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h[t]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0"/>
          <p:cNvSpPr/>
          <p:nvPr/>
        </p:nvSpPr>
        <p:spPr>
          <a:xfrm>
            <a:off x="7406640" y="2194560"/>
            <a:ext cx="914040" cy="45684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c[t]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1"/>
          <p:cNvSpPr/>
          <p:nvPr/>
        </p:nvSpPr>
        <p:spPr>
          <a:xfrm>
            <a:off x="6035040" y="3520440"/>
            <a:ext cx="1371600" cy="365760"/>
          </a:xfrm>
          <a:prstGeom prst="line">
            <a:avLst/>
          </a:prstGeom>
          <a:ln w="2286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2"/>
          <p:cNvSpPr/>
          <p:nvPr/>
        </p:nvSpPr>
        <p:spPr>
          <a:xfrm flipV="1">
            <a:off x="6035040" y="2423160"/>
            <a:ext cx="1371600" cy="365760"/>
          </a:xfrm>
          <a:prstGeom prst="line">
            <a:avLst/>
          </a:prstGeom>
          <a:ln w="22860">
            <a:solidFill>
              <a:srgbClr val="EAB30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3"/>
          <p:cNvSpPr/>
          <p:nvPr/>
        </p:nvSpPr>
        <p:spPr>
          <a:xfrm>
            <a:off x="2331720" y="2395440"/>
            <a:ext cx="4800600" cy="360"/>
          </a:xfrm>
          <a:prstGeom prst="line">
            <a:avLst/>
          </a:prstGeom>
          <a:ln w="50800">
            <a:solidFill>
              <a:srgbClr val="EAB308">
                <a:alpha val="85000"/>
              </a:srgbClr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4"/>
          <p:cNvSpPr/>
          <p:nvPr/>
        </p:nvSpPr>
        <p:spPr>
          <a:xfrm>
            <a:off x="4343400" y="205740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AB308"/>
                </a:solidFill>
                <a:effectLst/>
                <a:uFillTx/>
                <a:latin typeface="Aptos"/>
              </a:rPr>
              <a:t>memory pathway</a:t>
            </a: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5"/>
          <p:cNvSpPr/>
          <p:nvPr/>
        </p:nvSpPr>
        <p:spPr>
          <a:xfrm>
            <a:off x="841320" y="6053400"/>
            <a:ext cx="98568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LSTM controls what is kept in memory, what is added, and what is exposed.</a:t>
            </a:r>
            <a:endParaRPr lang="it-IT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3AF9C3A-D71C-6AB5-B240-9357021BBFC0}"/>
              </a:ext>
            </a:extLst>
          </p:cNvPr>
          <p:cNvSpPr txBox="1"/>
          <p:nvPr/>
        </p:nvSpPr>
        <p:spPr>
          <a:xfrm>
            <a:off x="3215838" y="4813069"/>
            <a:ext cx="4431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cₜ = what the LSTM stores</a:t>
            </a:r>
          </a:p>
          <a:p>
            <a:pPr>
              <a:buNone/>
            </a:pPr>
            <a:r>
              <a:rPr lang="en-GB" dirty="0"/>
              <a:t>hₜ = what the LSTM makes available now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2969AC-1B65-C7F2-9CF0-1F5AC51BA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gate?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423431-038D-0035-EDB4-8C17A7A6A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 gate controls how much information passes through a connection.</a:t>
            </a:r>
          </a:p>
          <a:p>
            <a:r>
              <a:rPr lang="en-GB" dirty="0"/>
              <a:t>A typical gate uses a </a:t>
            </a:r>
            <a:r>
              <a:rPr lang="en-GB" b="1" dirty="0"/>
              <a:t>sigmoid activation</a:t>
            </a:r>
            <a:r>
              <a:rPr lang="en-GB" dirty="0"/>
              <a:t>: sigmoid(...), which produces values approximately between: 0 and 1</a:t>
            </a:r>
          </a:p>
          <a:p>
            <a:r>
              <a:rPr lang="en-GB" b="1" dirty="0"/>
              <a:t>Interpretation</a:t>
            </a:r>
          </a:p>
          <a:p>
            <a:r>
              <a:rPr lang="en-GB" dirty="0"/>
              <a:t>For one component:</a:t>
            </a:r>
          </a:p>
          <a:p>
            <a:pPr lvl="1"/>
            <a:r>
              <a:rPr lang="en-GB" dirty="0"/>
              <a:t>0 → block information</a:t>
            </a:r>
          </a:p>
          <a:p>
            <a:pPr lvl="1"/>
            <a:r>
              <a:rPr lang="en-GB" dirty="0"/>
              <a:t>1 → pass information</a:t>
            </a:r>
          </a:p>
          <a:p>
            <a:pPr lvl="1"/>
            <a:r>
              <a:rPr lang="en-GB" dirty="0"/>
              <a:t>Values between 0 and 1 allow partial transmission.</a:t>
            </a:r>
          </a:p>
          <a:p>
            <a:r>
              <a:rPr lang="en-GB" b="1" dirty="0">
                <a:highlight>
                  <a:srgbClr val="FFFF00"/>
                </a:highlight>
              </a:rPr>
              <a:t>Vector-valued gates</a:t>
            </a:r>
          </a:p>
          <a:p>
            <a:pPr lvl="1"/>
            <a:r>
              <a:rPr lang="en-GB" dirty="0"/>
              <a:t>In practice, a </a:t>
            </a:r>
            <a:r>
              <a:rPr lang="en-GB" b="1" dirty="0"/>
              <a:t>gate is a vector.</a:t>
            </a:r>
          </a:p>
          <a:p>
            <a:pPr lvl="1"/>
            <a:r>
              <a:rPr lang="en-GB" b="1" dirty="0"/>
              <a:t>Different components of the memory can therefore be controlled independently.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506943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BF7024-C7C5-A88F-6BDC-BF2AC675D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gate?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0CEF4F-1F8A-6673-710C-72FAFE43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Example:</a:t>
            </a:r>
          </a:p>
          <a:p>
            <a:r>
              <a:rPr lang="en-GB" dirty="0"/>
              <a:t>gate = [0.95, 0.10, 0.72, 0.02]</a:t>
            </a:r>
          </a:p>
          <a:p>
            <a:r>
              <a:rPr lang="en-GB" dirty="0"/>
              <a:t>This may indicate:</a:t>
            </a:r>
          </a:p>
          <a:p>
            <a:pPr lvl="1"/>
            <a:r>
              <a:rPr lang="en-GB" dirty="0"/>
              <a:t>strongly retain one memory component; </a:t>
            </a:r>
          </a:p>
          <a:p>
            <a:pPr lvl="1"/>
            <a:r>
              <a:rPr lang="en-GB" dirty="0"/>
              <a:t>almost remove another; </a:t>
            </a:r>
          </a:p>
          <a:p>
            <a:pPr lvl="1"/>
            <a:r>
              <a:rPr lang="en-GB" dirty="0"/>
              <a:t>partially retain another. 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Gate values are input-dependent</a:t>
            </a:r>
            <a:r>
              <a:rPr lang="en-GB" b="1" dirty="0"/>
              <a:t>. </a:t>
            </a:r>
          </a:p>
          <a:p>
            <a:pPr lvl="1"/>
            <a:r>
              <a:rPr lang="en-GB" b="1" dirty="0"/>
              <a:t>Their computation is controlled by learned weights and biases.</a:t>
            </a:r>
          </a:p>
        </p:txBody>
      </p:sp>
    </p:spTree>
    <p:extLst>
      <p:ext uri="{BB962C8B-B14F-4D97-AF65-F5344CB8AC3E}">
        <p14:creationId xmlns:p14="http://schemas.microsoft.com/office/powerpoint/2010/main" val="419870520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A gate controls information flow component by component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 dirty="0">
                <a:solidFill>
                  <a:srgbClr val="475467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Sigmoid gates </a:t>
            </a:r>
            <a:r>
              <a:rPr lang="en-US" sz="1450" b="0" u="none" strike="noStrike" dirty="0">
                <a:solidFill>
                  <a:srgbClr val="475467"/>
                </a:solidFill>
                <a:effectLst/>
                <a:uFillTx/>
                <a:latin typeface="Aptos"/>
              </a:rPr>
              <a:t>produce values between 0 and 1.</a:t>
            </a:r>
            <a:endParaRPr lang="it-IT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1234440" y="1920240"/>
            <a:ext cx="959760" cy="56664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g1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0.95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"/>
          <p:cNvSpPr/>
          <p:nvPr/>
        </p:nvSpPr>
        <p:spPr>
          <a:xfrm>
            <a:off x="1709640" y="2578320"/>
            <a:ext cx="360" cy="667800"/>
          </a:xfrm>
          <a:prstGeom prst="line">
            <a:avLst/>
          </a:prstGeom>
          <a:ln w="1397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4"/>
          <p:cNvSpPr/>
          <p:nvPr/>
        </p:nvSpPr>
        <p:spPr>
          <a:xfrm>
            <a:off x="1398960" y="3454200"/>
            <a:ext cx="621360" cy="134604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1325880" y="491940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pass</a:t>
            </a: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6"/>
          <p:cNvSpPr/>
          <p:nvPr/>
        </p:nvSpPr>
        <p:spPr>
          <a:xfrm>
            <a:off x="2926080" y="1920240"/>
            <a:ext cx="959760" cy="5666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g2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0.10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7"/>
          <p:cNvSpPr/>
          <p:nvPr/>
        </p:nvSpPr>
        <p:spPr>
          <a:xfrm>
            <a:off x="3401280" y="2578320"/>
            <a:ext cx="360" cy="667800"/>
          </a:xfrm>
          <a:prstGeom prst="line">
            <a:avLst/>
          </a:prstGeom>
          <a:ln w="1397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8"/>
          <p:cNvSpPr/>
          <p:nvPr/>
        </p:nvSpPr>
        <p:spPr>
          <a:xfrm>
            <a:off x="3090600" y="4658760"/>
            <a:ext cx="621360" cy="14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9"/>
          <p:cNvSpPr/>
          <p:nvPr/>
        </p:nvSpPr>
        <p:spPr>
          <a:xfrm>
            <a:off x="3017520" y="491940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block</a:t>
            </a: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0"/>
          <p:cNvSpPr/>
          <p:nvPr/>
        </p:nvSpPr>
        <p:spPr>
          <a:xfrm>
            <a:off x="4617720" y="1920240"/>
            <a:ext cx="959760" cy="56664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g3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0.72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1"/>
          <p:cNvSpPr/>
          <p:nvPr/>
        </p:nvSpPr>
        <p:spPr>
          <a:xfrm>
            <a:off x="5092920" y="2578320"/>
            <a:ext cx="360" cy="667800"/>
          </a:xfrm>
          <a:prstGeom prst="line">
            <a:avLst/>
          </a:prstGeom>
          <a:ln w="1397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2"/>
          <p:cNvSpPr/>
          <p:nvPr/>
        </p:nvSpPr>
        <p:spPr>
          <a:xfrm>
            <a:off x="4782240" y="3780000"/>
            <a:ext cx="621360" cy="1020240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3"/>
          <p:cNvSpPr/>
          <p:nvPr/>
        </p:nvSpPr>
        <p:spPr>
          <a:xfrm>
            <a:off x="4709160" y="491940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pass</a:t>
            </a: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4"/>
          <p:cNvSpPr/>
          <p:nvPr/>
        </p:nvSpPr>
        <p:spPr>
          <a:xfrm>
            <a:off x="6309360" y="1920240"/>
            <a:ext cx="959760" cy="5666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g4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0.02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5"/>
          <p:cNvSpPr/>
          <p:nvPr/>
        </p:nvSpPr>
        <p:spPr>
          <a:xfrm>
            <a:off x="6784560" y="2578320"/>
            <a:ext cx="360" cy="667800"/>
          </a:xfrm>
          <a:prstGeom prst="line">
            <a:avLst/>
          </a:prstGeom>
          <a:ln w="1397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6"/>
          <p:cNvSpPr/>
          <p:nvPr/>
        </p:nvSpPr>
        <p:spPr>
          <a:xfrm>
            <a:off x="6473880" y="4772160"/>
            <a:ext cx="621360" cy="28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6560" rIns="90000" bIns="-1656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7"/>
          <p:cNvSpPr/>
          <p:nvPr/>
        </p:nvSpPr>
        <p:spPr>
          <a:xfrm>
            <a:off x="6400800" y="491940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block</a:t>
            </a: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8"/>
          <p:cNvSpPr/>
          <p:nvPr/>
        </p:nvSpPr>
        <p:spPr>
          <a:xfrm>
            <a:off x="8001000" y="1920240"/>
            <a:ext cx="959760" cy="56664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g5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0.55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9"/>
          <p:cNvSpPr/>
          <p:nvPr/>
        </p:nvSpPr>
        <p:spPr>
          <a:xfrm>
            <a:off x="8476200" y="2578320"/>
            <a:ext cx="360" cy="667800"/>
          </a:xfrm>
          <a:prstGeom prst="line">
            <a:avLst/>
          </a:prstGeom>
          <a:ln w="1397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0"/>
          <p:cNvSpPr/>
          <p:nvPr/>
        </p:nvSpPr>
        <p:spPr>
          <a:xfrm>
            <a:off x="8165520" y="4021200"/>
            <a:ext cx="621360" cy="7790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1"/>
          <p:cNvSpPr/>
          <p:nvPr/>
        </p:nvSpPr>
        <p:spPr>
          <a:xfrm>
            <a:off x="8092440" y="4919400"/>
            <a:ext cx="776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partial</a:t>
            </a: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2"/>
          <p:cNvSpPr/>
          <p:nvPr/>
        </p:nvSpPr>
        <p:spPr>
          <a:xfrm>
            <a:off x="777240" y="4526280"/>
            <a:ext cx="9052560" cy="360"/>
          </a:xfrm>
          <a:prstGeom prst="line">
            <a:avLst/>
          </a:prstGeom>
          <a:ln w="12700">
            <a:solidFill>
              <a:srgbClr val="10182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3"/>
          <p:cNvSpPr/>
          <p:nvPr/>
        </p:nvSpPr>
        <p:spPr>
          <a:xfrm>
            <a:off x="685800" y="461772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0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4"/>
          <p:cNvSpPr/>
          <p:nvPr/>
        </p:nvSpPr>
        <p:spPr>
          <a:xfrm>
            <a:off x="9875520" y="461772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1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5"/>
          <p:cNvSpPr/>
          <p:nvPr/>
        </p:nvSpPr>
        <p:spPr>
          <a:xfrm>
            <a:off x="4297680" y="510228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transmission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6"/>
          <p:cNvSpPr/>
          <p:nvPr/>
        </p:nvSpPr>
        <p:spPr>
          <a:xfrm>
            <a:off x="841320" y="6053400"/>
            <a:ext cx="98568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Different memory components can be retained, removed or partially transmitted independently.</a:t>
            </a:r>
            <a:endParaRPr lang="it-I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63A5E3-42AE-25E6-290C-99108A4F1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forget gate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C1BE2E-FDF3-12A3-D17D-5C86E1EFE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first question is:</a:t>
            </a:r>
          </a:p>
          <a:p>
            <a:r>
              <a:rPr lang="en-GB" dirty="0"/>
              <a:t>Which parts of the previous memory should be retained?</a:t>
            </a:r>
          </a:p>
          <a:p>
            <a:r>
              <a:rPr lang="en-GB" dirty="0"/>
              <a:t>The LSTM computes a forget gate: f[t]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x[t]</a:t>
            </a:r>
          </a:p>
          <a:p>
            <a:r>
              <a:rPr lang="en-GB" dirty="0"/>
              <a:t>h[t−1]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forget gate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f[t]</a:t>
            </a:r>
          </a:p>
          <a:p>
            <a:r>
              <a:rPr lang="en-GB" b="1" dirty="0">
                <a:highlight>
                  <a:srgbClr val="FFFF00"/>
                </a:highlight>
              </a:rPr>
              <a:t>Then the previous memory is multiplied by the gate:</a:t>
            </a:r>
          </a:p>
          <a:p>
            <a:r>
              <a:rPr lang="en-GB" dirty="0">
                <a:highlight>
                  <a:srgbClr val="FFFF00"/>
                </a:highlight>
              </a:rPr>
              <a:t>f[t] * c[t−1]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2081E54-2530-D9E6-DACD-97CE28ED4388}"/>
              </a:ext>
            </a:extLst>
          </p:cNvPr>
          <p:cNvSpPr txBox="1"/>
          <p:nvPr/>
        </p:nvSpPr>
        <p:spPr>
          <a:xfrm>
            <a:off x="4643438" y="4477821"/>
            <a:ext cx="2405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f</a:t>
            </a:r>
            <a:r>
              <a:rPr lang="en-GB" baseline="-25000" dirty="0">
                <a:highlight>
                  <a:srgbClr val="FFFF00"/>
                </a:highlight>
              </a:rPr>
              <a:t>t​</a:t>
            </a:r>
            <a:r>
              <a:rPr lang="en-GB" dirty="0">
                <a:highlight>
                  <a:srgbClr val="FFFF00"/>
                </a:highlight>
              </a:rPr>
              <a:t>=σ(</a:t>
            </a:r>
            <a:r>
              <a:rPr lang="en-GB" dirty="0" err="1">
                <a:highlight>
                  <a:srgbClr val="FFFF00"/>
                </a:highlight>
              </a:rPr>
              <a:t>W</a:t>
            </a:r>
            <a:r>
              <a:rPr lang="en-GB" baseline="-25000" dirty="0" err="1">
                <a:highlight>
                  <a:srgbClr val="FFFF00"/>
                </a:highlight>
              </a:rPr>
              <a:t>f</a:t>
            </a:r>
            <a:r>
              <a:rPr lang="en-GB" dirty="0">
                <a:highlight>
                  <a:srgbClr val="FFFF00"/>
                </a:highlight>
              </a:rPr>
              <a:t>​</a:t>
            </a:r>
            <a:r>
              <a:rPr lang="en-GB" dirty="0" err="1">
                <a:highlight>
                  <a:srgbClr val="FFFF00"/>
                </a:highlight>
              </a:rPr>
              <a:t>x</a:t>
            </a:r>
            <a:r>
              <a:rPr lang="en-GB" baseline="-25000" dirty="0" err="1">
                <a:highlight>
                  <a:srgbClr val="FFFF00"/>
                </a:highlight>
              </a:rPr>
              <a:t>t</a:t>
            </a:r>
            <a:r>
              <a:rPr lang="en-GB" dirty="0">
                <a:highlight>
                  <a:srgbClr val="FFFF00"/>
                </a:highlight>
              </a:rPr>
              <a:t>​+</a:t>
            </a:r>
            <a:r>
              <a:rPr lang="en-GB" dirty="0" err="1">
                <a:highlight>
                  <a:srgbClr val="FFFF00"/>
                </a:highlight>
              </a:rPr>
              <a:t>U</a:t>
            </a:r>
            <a:r>
              <a:rPr lang="en-GB" baseline="-25000" dirty="0" err="1">
                <a:highlight>
                  <a:srgbClr val="FFFF00"/>
                </a:highlight>
              </a:rPr>
              <a:t>f</a:t>
            </a:r>
            <a:r>
              <a:rPr lang="en-GB" baseline="-25000" dirty="0">
                <a:highlight>
                  <a:srgbClr val="FFFF00"/>
                </a:highlight>
              </a:rPr>
              <a:t>​</a:t>
            </a:r>
            <a:r>
              <a:rPr lang="en-GB" dirty="0">
                <a:highlight>
                  <a:srgbClr val="FFFF00"/>
                </a:highlight>
              </a:rPr>
              <a:t>h</a:t>
            </a:r>
            <a:r>
              <a:rPr lang="en-GB" baseline="-25000" dirty="0">
                <a:highlight>
                  <a:srgbClr val="FFFF00"/>
                </a:highlight>
              </a:rPr>
              <a:t>t−1</a:t>
            </a:r>
            <a:r>
              <a:rPr lang="en-GB" dirty="0">
                <a:highlight>
                  <a:srgbClr val="FFFF00"/>
                </a:highlight>
              </a:rPr>
              <a:t>​+b</a:t>
            </a:r>
            <a:r>
              <a:rPr lang="en-GB" baseline="-25000" dirty="0">
                <a:highlight>
                  <a:srgbClr val="FFFF00"/>
                </a:highlight>
              </a:rPr>
              <a:t>f</a:t>
            </a:r>
            <a:r>
              <a:rPr lang="en-GB" dirty="0">
                <a:highlight>
                  <a:srgbClr val="FFFF00"/>
                </a:highlight>
              </a:rPr>
              <a:t>​)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1E006C-B3F8-5F0C-AC6A-CA2E7D5E36D1}"/>
              </a:ext>
            </a:extLst>
          </p:cNvPr>
          <p:cNvSpPr txBox="1"/>
          <p:nvPr/>
        </p:nvSpPr>
        <p:spPr>
          <a:xfrm>
            <a:off x="6699738" y="194101"/>
            <a:ext cx="3121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</a:rPr>
              <a:t>Now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</a:rPr>
              <a:t>we’ll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</a:rPr>
              <a:t>have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</a:rPr>
              <a:t> a look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</a:rPr>
              <a:t>at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it-IT" sz="2400" b="1" dirty="0" err="1">
                <a:solidFill>
                  <a:schemeClr val="accent1">
                    <a:lumMod val="75000"/>
                  </a:schemeClr>
                </a:solidFill>
              </a:rPr>
              <a:t>all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</a:rPr>
              <a:t> the gates</a:t>
            </a:r>
            <a:endParaRPr lang="en-GB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64885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A5F321-3B68-2384-E140-35FF6070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forget gate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EC7A65-AEA2-9727-7394-6CAB50314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Interpretation</a:t>
            </a:r>
          </a:p>
          <a:p>
            <a:r>
              <a:rPr lang="en-GB" dirty="0"/>
              <a:t>For each memory component:</a:t>
            </a:r>
          </a:p>
          <a:p>
            <a:pPr lvl="1"/>
            <a:r>
              <a:rPr lang="en-GB" dirty="0"/>
              <a:t>value near 1 → keep it; </a:t>
            </a:r>
          </a:p>
          <a:p>
            <a:pPr lvl="1"/>
            <a:r>
              <a:rPr lang="en-GB" dirty="0"/>
              <a:t>value near 0 → forget it. </a:t>
            </a:r>
          </a:p>
          <a:p>
            <a:r>
              <a:rPr lang="en-GB" b="1" dirty="0"/>
              <a:t>Example</a:t>
            </a:r>
          </a:p>
          <a:p>
            <a:pPr lvl="1"/>
            <a:r>
              <a:rPr lang="en-GB" dirty="0"/>
              <a:t>The network may learn to forget:</a:t>
            </a:r>
          </a:p>
          <a:p>
            <a:pPr lvl="2"/>
            <a:r>
              <a:rPr lang="en-GB" dirty="0"/>
              <a:t>information from a previous operating cycle; </a:t>
            </a:r>
          </a:p>
          <a:p>
            <a:pPr lvl="2"/>
            <a:r>
              <a:rPr lang="en-GB" dirty="0"/>
              <a:t>obsolete trend information; </a:t>
            </a:r>
          </a:p>
          <a:p>
            <a:pPr lvl="2"/>
            <a:r>
              <a:rPr lang="en-GB" dirty="0"/>
              <a:t>a temporary event no longer relevant. </a:t>
            </a:r>
          </a:p>
          <a:p>
            <a:r>
              <a:rPr lang="en-GB" b="1" dirty="0">
                <a:highlight>
                  <a:srgbClr val="FFFF00"/>
                </a:highlight>
              </a:rPr>
              <a:t>Functional role</a:t>
            </a:r>
          </a:p>
          <a:p>
            <a:pPr lvl="1"/>
            <a:r>
              <a:rPr lang="en-GB" dirty="0"/>
              <a:t>The forget gate allows memory to persist without being completely rewritten at every step.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487126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7B814C-DA4B-91F4-A977-A15059168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input gate: should new information be stored?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7E8427-FF35-B87F-3FD5-B02CBD392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next question is:</a:t>
            </a:r>
          </a:p>
          <a:p>
            <a:r>
              <a:rPr lang="en-GB" dirty="0"/>
              <a:t>Which information from the current input should be written into memory?</a:t>
            </a:r>
          </a:p>
          <a:p>
            <a:r>
              <a:rPr lang="en-GB" dirty="0"/>
              <a:t>The LSTM computes an input gate: i[t]</a:t>
            </a:r>
          </a:p>
          <a:p>
            <a:r>
              <a:rPr lang="en-GB" dirty="0"/>
              <a:t>The input gate determines how strongly new candidate information is written.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current input x[t]</a:t>
            </a:r>
          </a:p>
          <a:p>
            <a:r>
              <a:rPr lang="en-GB" dirty="0"/>
              <a:t>previous hidden state h[t−1]</a:t>
            </a:r>
          </a:p>
          <a:p>
            <a:r>
              <a:rPr lang="en-GB" dirty="0"/>
              <a:t>          ↓</a:t>
            </a:r>
          </a:p>
          <a:p>
            <a:r>
              <a:rPr lang="en-GB" dirty="0"/>
              <a:t>      input gate</a:t>
            </a:r>
          </a:p>
          <a:p>
            <a:r>
              <a:rPr lang="en-GB" dirty="0"/>
              <a:t>          ↓</a:t>
            </a:r>
          </a:p>
          <a:p>
            <a:r>
              <a:rPr lang="en-GB" dirty="0"/>
              <a:t>         i[t]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3826558-17D1-3562-8AC9-ED1C4836B106}"/>
              </a:ext>
            </a:extLst>
          </p:cNvPr>
          <p:cNvSpPr txBox="1"/>
          <p:nvPr/>
        </p:nvSpPr>
        <p:spPr>
          <a:xfrm>
            <a:off x="3852863" y="5011221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i</a:t>
            </a:r>
            <a:r>
              <a:rPr lang="en-GB" baseline="-25000" dirty="0">
                <a:highlight>
                  <a:srgbClr val="FFFF00"/>
                </a:highlight>
              </a:rPr>
              <a:t>t</a:t>
            </a:r>
            <a:r>
              <a:rPr lang="en-GB" dirty="0">
                <a:highlight>
                  <a:srgbClr val="FFFF00"/>
                </a:highlight>
              </a:rPr>
              <a:t>​=σ(W</a:t>
            </a:r>
            <a:r>
              <a:rPr lang="en-GB" baseline="-25000" dirty="0">
                <a:highlight>
                  <a:srgbClr val="FFFF00"/>
                </a:highlight>
              </a:rPr>
              <a:t>i​</a:t>
            </a:r>
            <a:r>
              <a:rPr lang="en-GB" dirty="0" err="1">
                <a:highlight>
                  <a:srgbClr val="FFFF00"/>
                </a:highlight>
              </a:rPr>
              <a:t>x</a:t>
            </a:r>
            <a:r>
              <a:rPr lang="en-GB" baseline="-25000" dirty="0" err="1">
                <a:highlight>
                  <a:srgbClr val="FFFF00"/>
                </a:highlight>
              </a:rPr>
              <a:t>t</a:t>
            </a:r>
            <a:r>
              <a:rPr lang="en-GB" dirty="0">
                <a:highlight>
                  <a:srgbClr val="FFFF00"/>
                </a:highlight>
              </a:rPr>
              <a:t>​+U</a:t>
            </a:r>
            <a:r>
              <a:rPr lang="en-GB" baseline="-25000" dirty="0">
                <a:highlight>
                  <a:srgbClr val="FFFF00"/>
                </a:highlight>
              </a:rPr>
              <a:t>i</a:t>
            </a:r>
            <a:r>
              <a:rPr lang="en-GB" dirty="0">
                <a:highlight>
                  <a:srgbClr val="FFFF00"/>
                </a:highlight>
              </a:rPr>
              <a:t>​h</a:t>
            </a:r>
            <a:r>
              <a:rPr lang="en-GB" baseline="-25000" dirty="0">
                <a:highlight>
                  <a:srgbClr val="FFFF00"/>
                </a:highlight>
              </a:rPr>
              <a:t>t−1</a:t>
            </a:r>
            <a:r>
              <a:rPr lang="en-GB" dirty="0">
                <a:highlight>
                  <a:srgbClr val="FFFF00"/>
                </a:highlight>
              </a:rPr>
              <a:t>​+b</a:t>
            </a:r>
            <a:r>
              <a:rPr lang="en-GB" baseline="-25000" dirty="0">
                <a:highlight>
                  <a:srgbClr val="FFFF00"/>
                </a:highlight>
              </a:rPr>
              <a:t>i</a:t>
            </a:r>
            <a:r>
              <a:rPr lang="en-GB" dirty="0">
                <a:highlight>
                  <a:srgbClr val="FFFF00"/>
                </a:highlight>
              </a:rPr>
              <a:t>​)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AB1C052-C5F9-1BD7-C3D1-4F90E2CD52BD}"/>
              </a:ext>
            </a:extLst>
          </p:cNvPr>
          <p:cNvSpPr txBox="1"/>
          <p:nvPr/>
        </p:nvSpPr>
        <p:spPr>
          <a:xfrm>
            <a:off x="2435470" y="5925234"/>
            <a:ext cx="6101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Then the </a:t>
            </a:r>
            <a:r>
              <a:rPr lang="en-GB" b="1" dirty="0">
                <a:highlight>
                  <a:srgbClr val="FFFF00"/>
                </a:highlight>
              </a:rPr>
              <a:t>input</a:t>
            </a:r>
            <a:r>
              <a:rPr lang="en-GB" sz="1800" b="1" dirty="0">
                <a:highlight>
                  <a:srgbClr val="FFFF00"/>
                </a:highlight>
              </a:rPr>
              <a:t> is multiplied by the gate:</a:t>
            </a:r>
          </a:p>
          <a:p>
            <a:r>
              <a:rPr lang="en-GB" dirty="0">
                <a:highlight>
                  <a:srgbClr val="FFFF00"/>
                </a:highlight>
              </a:rPr>
              <a:t>i</a:t>
            </a:r>
            <a:r>
              <a:rPr lang="en-GB" sz="1800" dirty="0">
                <a:highlight>
                  <a:srgbClr val="FFFF00"/>
                </a:highlight>
              </a:rPr>
              <a:t>[t] * x[t]</a:t>
            </a:r>
          </a:p>
        </p:txBody>
      </p:sp>
    </p:spTree>
    <p:extLst>
      <p:ext uri="{BB962C8B-B14F-4D97-AF65-F5344CB8AC3E}">
        <p14:creationId xmlns:p14="http://schemas.microsoft.com/office/powerpoint/2010/main" val="360626721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89512-556B-192C-5121-6030B3D4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3D1B20-AA28-411E-67DD-8D7F44168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input gate: should new information be stored?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88619E-6359-4748-E29C-1ACBEFAE8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Interpretation</a:t>
            </a:r>
          </a:p>
          <a:p>
            <a:r>
              <a:rPr lang="en-GB" dirty="0"/>
              <a:t>If: i[t] ≈ 0</a:t>
            </a:r>
          </a:p>
          <a:p>
            <a:pPr lvl="1"/>
            <a:r>
              <a:rPr lang="en-GB" dirty="0"/>
              <a:t>new information is mostly ignored.</a:t>
            </a:r>
          </a:p>
          <a:p>
            <a:r>
              <a:rPr lang="en-GB" dirty="0"/>
              <a:t>If: i[t] ≈ 1</a:t>
            </a:r>
          </a:p>
          <a:p>
            <a:pPr lvl="1"/>
            <a:r>
              <a:rPr lang="en-GB" dirty="0"/>
              <a:t>new information can strongly modify memory.</a:t>
            </a:r>
          </a:p>
          <a:p>
            <a:endParaRPr lang="en-GB" b="1" dirty="0">
              <a:highlight>
                <a:srgbClr val="FFFF00"/>
              </a:highlight>
            </a:endParaRPr>
          </a:p>
          <a:p>
            <a:r>
              <a:rPr lang="en-GB" b="1" dirty="0">
                <a:highlight>
                  <a:srgbClr val="FFFF00"/>
                </a:highlight>
              </a:rPr>
              <a:t>Example</a:t>
            </a:r>
          </a:p>
          <a:p>
            <a:r>
              <a:rPr lang="en-GB" dirty="0"/>
              <a:t>A short sensor spike may be irrelevant.</a:t>
            </a:r>
          </a:p>
          <a:p>
            <a:pPr lvl="1"/>
            <a:r>
              <a:rPr lang="en-GB" dirty="0"/>
              <a:t>The network can learn to assign it a low input-gate value.</a:t>
            </a:r>
          </a:p>
          <a:p>
            <a:r>
              <a:rPr lang="en-GB" dirty="0"/>
              <a:t>A persistent abnormal transition may be important and receive a high value.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470265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7DDD85-8FFF-B9FA-CEEE-A430466B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Candidate memory (g[t])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CB9FFB-CCDA-3BAE-173C-4DB34B3C8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235130" cy="3880772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The network also computes candidate information that could be added to the memory.</a:t>
            </a:r>
          </a:p>
          <a:p>
            <a:r>
              <a:rPr lang="en-GB" dirty="0"/>
              <a:t>Denote it: g[t] or, in some texts: </a:t>
            </a:r>
            <a:r>
              <a:rPr lang="en-GB" dirty="0" err="1"/>
              <a:t>c_tilde</a:t>
            </a:r>
            <a:r>
              <a:rPr lang="en-GB" dirty="0"/>
              <a:t>[t]</a:t>
            </a:r>
          </a:p>
          <a:p>
            <a:r>
              <a:rPr lang="en-GB" dirty="0"/>
              <a:t>The candidate is computed from:</a:t>
            </a:r>
          </a:p>
          <a:p>
            <a:pPr lvl="1"/>
            <a:r>
              <a:rPr lang="en-GB" dirty="0"/>
              <a:t>current input; </a:t>
            </a:r>
          </a:p>
          <a:p>
            <a:pPr lvl="1"/>
            <a:r>
              <a:rPr lang="en-GB" dirty="0"/>
              <a:t>previous hidden state. </a:t>
            </a:r>
          </a:p>
          <a:p>
            <a:r>
              <a:rPr lang="en-GB" dirty="0">
                <a:highlight>
                  <a:srgbClr val="FFFF00"/>
                </a:highlight>
              </a:rPr>
              <a:t>Conceptually:</a:t>
            </a:r>
          </a:p>
          <a:p>
            <a:r>
              <a:rPr lang="en-GB" dirty="0"/>
              <a:t>x[t]</a:t>
            </a:r>
          </a:p>
          <a:p>
            <a:r>
              <a:rPr lang="en-GB" dirty="0"/>
              <a:t>h[t−1]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candidate transformation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g[t]</a:t>
            </a:r>
          </a:p>
          <a:p>
            <a:r>
              <a:rPr lang="en-GB" dirty="0"/>
              <a:t>Typically a tanh activation is used.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16332A0-F649-4427-6545-B6356C655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4420" y="2160588"/>
            <a:ext cx="5235130" cy="3880773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Important distinction</a:t>
            </a:r>
          </a:p>
          <a:p>
            <a:r>
              <a:rPr lang="en-GB" dirty="0"/>
              <a:t>The candidate answers:</a:t>
            </a:r>
          </a:p>
          <a:p>
            <a:pPr lvl="1"/>
            <a:r>
              <a:rPr lang="en-GB" dirty="0"/>
              <a:t>What new information could be stored?</a:t>
            </a:r>
          </a:p>
          <a:p>
            <a:r>
              <a:rPr lang="en-GB" dirty="0"/>
              <a:t>The input gate answers:</a:t>
            </a:r>
          </a:p>
          <a:p>
            <a:pPr lvl="1"/>
            <a:r>
              <a:rPr lang="en-GB" dirty="0"/>
              <a:t>How much of that information should actually be stored?</a:t>
            </a:r>
          </a:p>
          <a:p>
            <a:r>
              <a:rPr lang="en-GB" dirty="0">
                <a:highlight>
                  <a:srgbClr val="FFFF00"/>
                </a:highlight>
              </a:rPr>
              <a:t>Therefore the contribution of new information is:</a:t>
            </a:r>
          </a:p>
          <a:p>
            <a:r>
              <a:rPr lang="en-GB" dirty="0">
                <a:highlight>
                  <a:srgbClr val="FFFF00"/>
                </a:highlight>
              </a:rPr>
              <a:t>i[t] * g[t]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07196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45A836-B69D-3038-3B1B-F439FA91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Updating the cell state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87F618-3ED9-94C4-9AB2-51C07A22F2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930401"/>
            <a:ext cx="4818591" cy="3880772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The new cell state combines:</a:t>
            </a:r>
          </a:p>
          <a:p>
            <a:pPr lvl="1"/>
            <a:r>
              <a:rPr lang="en-GB" b="1" dirty="0"/>
              <a:t>retained old memory; </a:t>
            </a:r>
          </a:p>
          <a:p>
            <a:pPr lvl="1"/>
            <a:r>
              <a:rPr lang="en-GB" b="1" dirty="0"/>
              <a:t>selected new information. </a:t>
            </a:r>
          </a:p>
          <a:p>
            <a:r>
              <a:rPr lang="en-GB" b="1" dirty="0"/>
              <a:t>The update is:</a:t>
            </a:r>
          </a:p>
          <a:p>
            <a:pPr lvl="1"/>
            <a:r>
              <a:rPr lang="en-GB" b="1" dirty="0"/>
              <a:t>c[t] = f[t] * c[t−1] + i[t] * g[t]</a:t>
            </a:r>
          </a:p>
          <a:p>
            <a:r>
              <a:rPr lang="en-GB" b="1" dirty="0"/>
              <a:t>First term</a:t>
            </a:r>
          </a:p>
          <a:p>
            <a:pPr lvl="1"/>
            <a:r>
              <a:rPr lang="en-GB" dirty="0"/>
              <a:t>f[t] * c[t−1]</a:t>
            </a:r>
          </a:p>
          <a:p>
            <a:pPr lvl="1"/>
            <a:r>
              <a:rPr lang="en-GB" dirty="0"/>
              <a:t>represents previous memory that is retained.</a:t>
            </a:r>
          </a:p>
          <a:p>
            <a:r>
              <a:rPr lang="en-GB" b="1" dirty="0"/>
              <a:t>Second term</a:t>
            </a:r>
          </a:p>
          <a:p>
            <a:pPr lvl="1"/>
            <a:r>
              <a:rPr lang="en-GB" dirty="0"/>
              <a:t>i[t] * g[t]</a:t>
            </a:r>
          </a:p>
          <a:p>
            <a:pPr lvl="1"/>
            <a:r>
              <a:rPr lang="en-GB" dirty="0"/>
              <a:t>represents new information written into memory.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5B891A5-9E23-A77E-1B8E-A51C061C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930400"/>
            <a:ext cx="5502104" cy="3880773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Conceptual form</a:t>
            </a:r>
          </a:p>
          <a:p>
            <a:r>
              <a:rPr lang="en-GB" dirty="0"/>
              <a:t>new memory = retained old memory + selected new information</a:t>
            </a:r>
          </a:p>
          <a:p>
            <a:endParaRPr lang="en-GB" dirty="0"/>
          </a:p>
          <a:p>
            <a:r>
              <a:rPr lang="en-GB" b="1" dirty="0"/>
              <a:t>Why is this important?</a:t>
            </a:r>
          </a:p>
          <a:p>
            <a:r>
              <a:rPr lang="en-GB" b="1" dirty="0"/>
              <a:t>The cell state contains an </a:t>
            </a:r>
            <a:r>
              <a:rPr lang="en-GB" b="1" dirty="0">
                <a:highlight>
                  <a:srgbClr val="FFFF00"/>
                </a:highlight>
              </a:rPr>
              <a:t>additive update path.</a:t>
            </a:r>
          </a:p>
          <a:p>
            <a:r>
              <a:rPr lang="en-GB" b="1" dirty="0"/>
              <a:t>Useful information can potentially propagate across many time steps without being completely reconstructed at every recurrent step.</a:t>
            </a:r>
          </a:p>
          <a:p>
            <a:pPr marL="0" indent="0">
              <a:buNone/>
            </a:pPr>
            <a:endParaRPr lang="en-GB" b="1" dirty="0"/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AC7B449-7C88-FD97-5E6C-359EA7375DFA}"/>
              </a:ext>
            </a:extLst>
          </p:cNvPr>
          <p:cNvSpPr txBox="1"/>
          <p:nvPr/>
        </p:nvSpPr>
        <p:spPr>
          <a:xfrm>
            <a:off x="7962900" y="5811173"/>
            <a:ext cx="4100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LSTM memory is updated selectively rather than entirely overwritten.</a:t>
            </a:r>
          </a:p>
        </p:txBody>
      </p:sp>
    </p:spTree>
    <p:extLst>
      <p:ext uri="{BB962C8B-B14F-4D97-AF65-F5344CB8AC3E}">
        <p14:creationId xmlns:p14="http://schemas.microsoft.com/office/powerpoint/2010/main" val="216787042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LSTM cell state update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 dirty="0">
                <a:solidFill>
                  <a:srgbClr val="475467"/>
                </a:solidFill>
                <a:effectLst/>
                <a:uFillTx/>
                <a:latin typeface="Aptos"/>
              </a:rPr>
              <a:t>New memory combines retained old memory with selected new information.</a:t>
            </a:r>
            <a:endParaRPr lang="it-IT" sz="14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"/>
          <p:cNvSpPr/>
          <p:nvPr/>
        </p:nvSpPr>
        <p:spPr>
          <a:xfrm>
            <a:off x="914400" y="2788920"/>
            <a:ext cx="1325520" cy="71280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old memory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c[t−1]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"/>
          <p:cNvSpPr/>
          <p:nvPr/>
        </p:nvSpPr>
        <p:spPr>
          <a:xfrm>
            <a:off x="4064400" y="3124530"/>
            <a:ext cx="434160" cy="12150"/>
          </a:xfrm>
          <a:prstGeom prst="line">
            <a:avLst/>
          </a:prstGeom>
          <a:ln w="1905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"/>
          <p:cNvSpPr/>
          <p:nvPr/>
        </p:nvSpPr>
        <p:spPr>
          <a:xfrm>
            <a:off x="2834640" y="2788920"/>
            <a:ext cx="1234080" cy="71280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forget gate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f[t]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2532960" y="29629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×</a:t>
            </a:r>
            <a:endParaRPr lang="it-IT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4526280" y="2788920"/>
            <a:ext cx="1325520" cy="71280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retained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old memory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914400" y="4251960"/>
            <a:ext cx="1325520" cy="7128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candidate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g[t]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8"/>
          <p:cNvSpPr/>
          <p:nvPr/>
        </p:nvSpPr>
        <p:spPr>
          <a:xfrm>
            <a:off x="3906105" y="4544280"/>
            <a:ext cx="594360" cy="360"/>
          </a:xfrm>
          <a:prstGeom prst="line">
            <a:avLst/>
          </a:prstGeom>
          <a:ln w="1905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9"/>
          <p:cNvSpPr/>
          <p:nvPr/>
        </p:nvSpPr>
        <p:spPr>
          <a:xfrm>
            <a:off x="2834640" y="4251960"/>
            <a:ext cx="1234080" cy="71280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input gate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i[t]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0"/>
          <p:cNvSpPr/>
          <p:nvPr/>
        </p:nvSpPr>
        <p:spPr>
          <a:xfrm>
            <a:off x="2468880" y="44260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×</a:t>
            </a:r>
            <a:endParaRPr lang="it-IT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1"/>
          <p:cNvSpPr/>
          <p:nvPr/>
        </p:nvSpPr>
        <p:spPr>
          <a:xfrm>
            <a:off x="4526280" y="4251960"/>
            <a:ext cx="1325520" cy="7128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selected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new information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2"/>
          <p:cNvSpPr/>
          <p:nvPr/>
        </p:nvSpPr>
        <p:spPr>
          <a:xfrm>
            <a:off x="6309360" y="38037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+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3"/>
          <p:cNvSpPr/>
          <p:nvPr/>
        </p:nvSpPr>
        <p:spPr>
          <a:xfrm>
            <a:off x="5852160" y="3145320"/>
            <a:ext cx="685800" cy="649440"/>
          </a:xfrm>
          <a:prstGeom prst="line">
            <a:avLst/>
          </a:prstGeom>
          <a:ln w="1651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4"/>
          <p:cNvSpPr/>
          <p:nvPr/>
        </p:nvSpPr>
        <p:spPr>
          <a:xfrm flipV="1">
            <a:off x="5852160" y="3977640"/>
            <a:ext cx="685800" cy="630720"/>
          </a:xfrm>
          <a:prstGeom prst="line">
            <a:avLst/>
          </a:prstGeom>
          <a:ln w="16510">
            <a:solidFill>
              <a:srgbClr val="475467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5"/>
          <p:cNvSpPr/>
          <p:nvPr/>
        </p:nvSpPr>
        <p:spPr>
          <a:xfrm>
            <a:off x="6583680" y="3566160"/>
            <a:ext cx="1508400" cy="7768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new memory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c[t]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6"/>
          <p:cNvSpPr/>
          <p:nvPr/>
        </p:nvSpPr>
        <p:spPr>
          <a:xfrm>
            <a:off x="1828800" y="169164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01828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c[t] = f[t] * c[t−1] + i[t] * g[t]</a:t>
            </a:r>
            <a:endParaRPr lang="it-IT" sz="20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233" name="Text 17"/>
          <p:cNvSpPr/>
          <p:nvPr/>
        </p:nvSpPr>
        <p:spPr>
          <a:xfrm>
            <a:off x="841320" y="6053400"/>
            <a:ext cx="98568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 dirty="0">
                <a:solidFill>
                  <a:srgbClr val="101828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LSTM memory is updated selectively rather than entirely overwritten.</a:t>
            </a:r>
            <a:endParaRPr lang="it-IT" sz="1350" b="1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80D1D1-D7EB-D8DF-AAAA-615B59F9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output (of an LSTM state) gate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059BB8-0BC3-64E7-603D-2DE9AD8F6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LSTM maintains a cell state cₜ that stores information over time.</a:t>
            </a:r>
          </a:p>
          <a:p>
            <a:r>
              <a:rPr lang="en-GB" dirty="0"/>
              <a:t>The output gate oₜ controls which components of the cell state contribute to the hidden state hₜ.</a:t>
            </a:r>
          </a:p>
          <a:p>
            <a:r>
              <a:rPr lang="en-GB" b="1" dirty="0"/>
              <a:t>oₜ = σ(</a:t>
            </a:r>
            <a:r>
              <a:rPr lang="en-GB" b="1" dirty="0" err="1"/>
              <a:t>Wₒx</a:t>
            </a:r>
            <a:r>
              <a:rPr lang="en-GB" b="1" dirty="0"/>
              <a:t>ₜ + </a:t>
            </a:r>
            <a:r>
              <a:rPr lang="en-GB" b="1" dirty="0" err="1"/>
              <a:t>Uₒh</a:t>
            </a:r>
            <a:r>
              <a:rPr lang="en-GB" b="1" dirty="0"/>
              <a:t>ₜ₋₁ + bₒ)</a:t>
            </a:r>
          </a:p>
          <a:p>
            <a:r>
              <a:rPr lang="en-GB" b="1" dirty="0"/>
              <a:t>The hidden state is: hₜ = oₜ ⊙ tanh(cₜ)</a:t>
            </a:r>
          </a:p>
          <a:p>
            <a:endParaRPr lang="en-GB" dirty="0"/>
          </a:p>
          <a:p>
            <a:r>
              <a:rPr lang="en-GB" b="1" dirty="0"/>
              <a:t>The cell state cₜ represents the LSTM's persistent memory.</a:t>
            </a:r>
          </a:p>
          <a:p>
            <a:r>
              <a:rPr lang="en-GB" dirty="0"/>
              <a:t>The output gate determines:</a:t>
            </a:r>
          </a:p>
          <a:p>
            <a:pPr lvl="1"/>
            <a:r>
              <a:rPr lang="en-GB" dirty="0"/>
              <a:t>Which information from cₜ should contribute to hₜ at the current time step?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A639067-E113-864E-DD76-0ADD7C6C525D}"/>
              </a:ext>
            </a:extLst>
          </p:cNvPr>
          <p:cNvSpPr txBox="1"/>
          <p:nvPr/>
        </p:nvSpPr>
        <p:spPr>
          <a:xfrm>
            <a:off x="7288458" y="3226818"/>
            <a:ext cx="341178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dirty="0"/>
              <a:t>tanh(</a:t>
            </a:r>
            <a:r>
              <a:rPr lang="en-GB" sz="1400" dirty="0" err="1"/>
              <a:t>c</a:t>
            </a:r>
            <a:r>
              <a:rPr lang="en-GB" sz="1400" baseline="-25000" dirty="0" err="1"/>
              <a:t>t</a:t>
            </a:r>
            <a:r>
              <a:rPr lang="en-GB" sz="1400" dirty="0"/>
              <a:t>​)=normalized (tanh ∈ [-1:1]) candidate output from memory​ </a:t>
            </a:r>
            <a:r>
              <a:rPr lang="en-GB" sz="1400" dirty="0" err="1"/>
              <a:t>o</a:t>
            </a:r>
            <a:r>
              <a:rPr lang="en-GB" sz="1400" baseline="-25000" dirty="0" err="1"/>
              <a:t>t</a:t>
            </a:r>
            <a:r>
              <a:rPr lang="en-GB" sz="1400" dirty="0"/>
              <a:t>​=how much of that output to expose​ 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B410A88E-BBF2-849E-5165-514447E1979F}"/>
              </a:ext>
            </a:extLst>
          </p:cNvPr>
          <p:cNvCxnSpPr>
            <a:cxnSpLocks/>
          </p:cNvCxnSpPr>
          <p:nvPr/>
        </p:nvCxnSpPr>
        <p:spPr>
          <a:xfrm flipV="1">
            <a:off x="4725866" y="3323492"/>
            <a:ext cx="2457084" cy="272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78801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093772-9DC6-3C95-5BE8-C11E27135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output gate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B1C6F0-7D63-2116-5818-879119011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The cell state may retain information about an earlier event even when it is not useful at the current time step.</a:t>
            </a:r>
          </a:p>
          <a:p>
            <a:r>
              <a:rPr lang="en-GB" dirty="0"/>
              <a:t>At a later time, the output gate can allow that stored information to contribute to hₜ and therefore influence the prediction.</a:t>
            </a:r>
          </a:p>
          <a:p>
            <a:r>
              <a:rPr lang="en-GB" b="1" dirty="0">
                <a:highlight>
                  <a:srgbClr val="FFFF00"/>
                </a:highlight>
              </a:rPr>
              <a:t>Two memory types</a:t>
            </a:r>
          </a:p>
          <a:p>
            <a:r>
              <a:rPr lang="en-GB" b="1" dirty="0"/>
              <a:t>c[t] and h[t] have related but different roles:</a:t>
            </a:r>
          </a:p>
          <a:p>
            <a:pPr lvl="1"/>
            <a:r>
              <a:rPr lang="en-GB" b="1" dirty="0"/>
              <a:t>c[t] → internal memory; </a:t>
            </a:r>
          </a:p>
          <a:p>
            <a:pPr lvl="1"/>
            <a:r>
              <a:rPr lang="en-GB" b="1" dirty="0"/>
              <a:t>h[t] → exposed recurrent representation.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590907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D209B1-487F-5BB3-7EBF-A8A234C1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Complete LSTM update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814609-EBCA-349A-6985-ECDE632C9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At every time step, the LSTM receives:</a:t>
            </a:r>
          </a:p>
          <a:p>
            <a:pPr lvl="0"/>
            <a:r>
              <a:rPr lang="en-GB" dirty="0"/>
              <a:t>current input x[t]; </a:t>
            </a:r>
          </a:p>
          <a:p>
            <a:pPr lvl="0"/>
            <a:r>
              <a:rPr lang="en-GB" dirty="0"/>
              <a:t>previous hidden state h[t−1]; </a:t>
            </a:r>
          </a:p>
          <a:p>
            <a:pPr lvl="0"/>
            <a:r>
              <a:rPr lang="en-GB" dirty="0"/>
              <a:t>previous cell state c[t−1]. </a:t>
            </a:r>
          </a:p>
          <a:p>
            <a:r>
              <a:rPr lang="en-GB" dirty="0"/>
              <a:t>It computes:</a:t>
            </a:r>
          </a:p>
          <a:p>
            <a:r>
              <a:rPr lang="en-GB" dirty="0"/>
              <a:t>f[t] = sigmoid(...)</a:t>
            </a:r>
          </a:p>
          <a:p>
            <a:r>
              <a:rPr lang="en-GB" dirty="0"/>
              <a:t>i[t] = sigmoid(...)</a:t>
            </a:r>
          </a:p>
          <a:p>
            <a:r>
              <a:rPr lang="en-GB" dirty="0"/>
              <a:t>g[t] = tanh(...)</a:t>
            </a:r>
          </a:p>
          <a:p>
            <a:r>
              <a:rPr lang="en-GB" dirty="0"/>
              <a:t>o[t] = sigmoid(...)</a:t>
            </a:r>
          </a:p>
          <a:p>
            <a:r>
              <a:rPr lang="en-GB" dirty="0"/>
              <a:t>Then:</a:t>
            </a:r>
          </a:p>
          <a:p>
            <a:r>
              <a:rPr lang="en-GB" dirty="0"/>
              <a:t>c[t] = f[t] * c[t−1] + i[t] * g[t]</a:t>
            </a:r>
          </a:p>
          <a:p>
            <a:r>
              <a:rPr lang="en-GB" dirty="0"/>
              <a:t>and:</a:t>
            </a:r>
          </a:p>
          <a:p>
            <a:r>
              <a:rPr lang="en-GB" dirty="0"/>
              <a:t>h[t] = o[t] * tanh(c[t])</a:t>
            </a:r>
          </a:p>
          <a:p>
            <a:endParaRPr lang="en-GB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0AF4C7A-2E72-C95B-2D92-E60FF69DD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697" y="3258892"/>
            <a:ext cx="3063505" cy="168416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ACE997B-6B46-1154-DB9F-B3264CA74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039" y="5173247"/>
            <a:ext cx="2072820" cy="38103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D091655-99F8-F393-6B69-DC0C9BF98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883" y="5647775"/>
            <a:ext cx="1653683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47667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0745-1E93-8160-4E82-7C1BFB457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9B88BE-2D09-6DEB-1E8B-B7BD5B7E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Complete LSTM update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C42AD5-84DB-2869-3845-99A16CA1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Functional interpretation</a:t>
            </a:r>
          </a:p>
          <a:p>
            <a:r>
              <a:rPr lang="en-GB" dirty="0"/>
              <a:t>f[t] — what should I forget?</a:t>
            </a:r>
          </a:p>
          <a:p>
            <a:r>
              <a:rPr lang="en-GB" dirty="0"/>
              <a:t>g[t] — what new content is available?</a:t>
            </a:r>
          </a:p>
          <a:p>
            <a:r>
              <a:rPr lang="en-GB" dirty="0"/>
              <a:t>i[t] — what should I write?</a:t>
            </a:r>
          </a:p>
          <a:p>
            <a:r>
              <a:rPr lang="en-GB" dirty="0"/>
              <a:t>o[t] — what should I expose?</a:t>
            </a:r>
          </a:p>
          <a:p>
            <a:endParaRPr lang="en-GB" dirty="0"/>
          </a:p>
          <a:p>
            <a:r>
              <a:rPr lang="en-GB" dirty="0"/>
              <a:t>The equations are easier to remember by understanding the information-flow decisions they implement.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767048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84A0ED-BB93-DD2C-5599-43BB311E3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LSTM information flow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1ADA63-9D02-4D35-E68F-6C3CC18D8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GB" dirty="0"/>
              <a:t>A useful conceptual representation is:</a:t>
            </a:r>
          </a:p>
          <a:p>
            <a:r>
              <a:rPr lang="en-GB" dirty="0"/>
              <a:t>                previous cell state c[t−1]</a:t>
            </a:r>
          </a:p>
          <a:p>
            <a:r>
              <a:rPr lang="en-GB" dirty="0"/>
              <a:t>                         │</a:t>
            </a:r>
          </a:p>
          <a:p>
            <a:r>
              <a:rPr lang="en-GB" dirty="0"/>
              <a:t>                    forget gate</a:t>
            </a:r>
          </a:p>
          <a:p>
            <a:r>
              <a:rPr lang="en-GB" dirty="0"/>
              <a:t>                         │</a:t>
            </a:r>
          </a:p>
          <a:p>
            <a:r>
              <a:rPr lang="en-GB" dirty="0"/>
              <a:t>                         ├───────────────┐</a:t>
            </a:r>
          </a:p>
          <a:p>
            <a:r>
              <a:rPr lang="en-GB" dirty="0"/>
              <a:t>                         ↓               │</a:t>
            </a:r>
          </a:p>
          <a:p>
            <a:r>
              <a:rPr lang="en-GB" dirty="0"/>
              <a:t>                   retained memory       │</a:t>
            </a:r>
          </a:p>
          <a:p>
            <a:r>
              <a:rPr lang="en-GB" dirty="0"/>
              <a:t>                                         +</a:t>
            </a:r>
          </a:p>
          <a:p>
            <a:r>
              <a:rPr lang="en-GB" dirty="0"/>
              <a:t>x[t], h[t−1] → candidate information → input gate</a:t>
            </a:r>
          </a:p>
          <a:p>
            <a:r>
              <a:rPr lang="en-GB" dirty="0"/>
              <a:t>                                         │</a:t>
            </a:r>
          </a:p>
          <a:p>
            <a:r>
              <a:rPr lang="en-GB" dirty="0"/>
              <a:t>                                         ↓</a:t>
            </a:r>
          </a:p>
          <a:p>
            <a:r>
              <a:rPr lang="en-GB" dirty="0"/>
              <a:t>                                  new cell state c[t]</a:t>
            </a:r>
          </a:p>
          <a:p>
            <a:r>
              <a:rPr lang="en-GB" dirty="0"/>
              <a:t>                                         │</a:t>
            </a:r>
          </a:p>
          <a:p>
            <a:r>
              <a:rPr lang="en-GB" dirty="0"/>
              <a:t>                                    output gate</a:t>
            </a:r>
          </a:p>
          <a:p>
            <a:r>
              <a:rPr lang="en-GB" dirty="0"/>
              <a:t>                                         │</a:t>
            </a:r>
          </a:p>
          <a:p>
            <a:r>
              <a:rPr lang="en-GB" dirty="0"/>
              <a:t>                                         ↓</a:t>
            </a:r>
          </a:p>
          <a:p>
            <a:r>
              <a:rPr lang="en-GB" dirty="0"/>
              <a:t>                                  hidden state h[t]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623758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935B97-0A6B-579B-66A2-E3597D61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LSTM information flow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A1F9E6-2C41-52C6-58A8-FD6D7C82B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Three central decisions</a:t>
            </a:r>
          </a:p>
          <a:p>
            <a:pPr lvl="1"/>
            <a:r>
              <a:rPr lang="en-GB" dirty="0"/>
              <a:t>What old information is kept? </a:t>
            </a:r>
          </a:p>
          <a:p>
            <a:pPr lvl="1"/>
            <a:r>
              <a:rPr lang="en-GB" dirty="0"/>
              <a:t>What new information is stored? </a:t>
            </a:r>
          </a:p>
          <a:p>
            <a:pPr lvl="1"/>
            <a:r>
              <a:rPr lang="en-GB" dirty="0"/>
              <a:t>What stored information is exposed? </a:t>
            </a:r>
          </a:p>
          <a:p>
            <a:r>
              <a:rPr lang="en-GB" b="1" dirty="0"/>
              <a:t>This structure provides</a:t>
            </a:r>
          </a:p>
          <a:p>
            <a:pPr lvl="1"/>
            <a:r>
              <a:rPr lang="en-GB" dirty="0"/>
              <a:t>selective retention and forgetting of information;</a:t>
            </a:r>
          </a:p>
          <a:p>
            <a:pPr lvl="1"/>
            <a:r>
              <a:rPr lang="en-GB" dirty="0"/>
              <a:t>variable memory duration across time;</a:t>
            </a:r>
          </a:p>
          <a:p>
            <a:pPr lvl="1"/>
            <a:r>
              <a:rPr lang="en-GB" dirty="0"/>
              <a:t>improved learning of long-range dependencies.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681790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LSTM information flow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Three decisions: keep old information, write new information, expose stored information.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914400" y="2788920"/>
            <a:ext cx="914040" cy="43848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c[t−1]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3"/>
          <p:cNvSpPr/>
          <p:nvPr/>
        </p:nvSpPr>
        <p:spPr>
          <a:xfrm>
            <a:off x="1828800" y="3008160"/>
            <a:ext cx="1417320" cy="360"/>
          </a:xfrm>
          <a:prstGeom prst="line">
            <a:avLst/>
          </a:prstGeom>
          <a:ln w="27940">
            <a:solidFill>
              <a:srgbClr val="EAB30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3246120" y="2697480"/>
            <a:ext cx="914040" cy="62136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forget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gate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5"/>
          <p:cNvSpPr/>
          <p:nvPr/>
        </p:nvSpPr>
        <p:spPr>
          <a:xfrm>
            <a:off x="4160520" y="3008160"/>
            <a:ext cx="1508760" cy="360"/>
          </a:xfrm>
          <a:prstGeom prst="line">
            <a:avLst/>
          </a:prstGeom>
          <a:ln w="27940">
            <a:solidFill>
              <a:srgbClr val="EAB30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6"/>
          <p:cNvSpPr/>
          <p:nvPr/>
        </p:nvSpPr>
        <p:spPr>
          <a:xfrm>
            <a:off x="5669280" y="2788920"/>
            <a:ext cx="914040" cy="43848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c[t]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7"/>
          <p:cNvSpPr/>
          <p:nvPr/>
        </p:nvSpPr>
        <p:spPr>
          <a:xfrm>
            <a:off x="914400" y="4258191"/>
            <a:ext cx="1371240" cy="475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x[t], h[t−1]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8"/>
          <p:cNvSpPr/>
          <p:nvPr/>
        </p:nvSpPr>
        <p:spPr>
          <a:xfrm flipV="1">
            <a:off x="2347546" y="4069080"/>
            <a:ext cx="2041574" cy="381960"/>
          </a:xfrm>
          <a:prstGeom prst="line">
            <a:avLst/>
          </a:prstGeom>
          <a:ln w="1905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0"/>
          <p:cNvSpPr/>
          <p:nvPr/>
        </p:nvSpPr>
        <p:spPr>
          <a:xfrm>
            <a:off x="4389120" y="4617720"/>
            <a:ext cx="1096920" cy="56664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input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gate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1"/>
          <p:cNvSpPr/>
          <p:nvPr/>
        </p:nvSpPr>
        <p:spPr>
          <a:xfrm flipV="1">
            <a:off x="5486400" y="3246120"/>
            <a:ext cx="383760" cy="740520"/>
          </a:xfrm>
          <a:prstGeom prst="line">
            <a:avLst/>
          </a:prstGeom>
          <a:ln w="1778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2"/>
          <p:cNvSpPr/>
          <p:nvPr/>
        </p:nvSpPr>
        <p:spPr>
          <a:xfrm flipV="1">
            <a:off x="5486400" y="3246120"/>
            <a:ext cx="502920" cy="1654920"/>
          </a:xfrm>
          <a:prstGeom prst="line">
            <a:avLst/>
          </a:prstGeom>
          <a:ln w="1778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3"/>
          <p:cNvSpPr/>
          <p:nvPr/>
        </p:nvSpPr>
        <p:spPr>
          <a:xfrm>
            <a:off x="6583680" y="3008160"/>
            <a:ext cx="777240" cy="360"/>
          </a:xfrm>
          <a:prstGeom prst="line">
            <a:avLst/>
          </a:prstGeom>
          <a:ln w="20320">
            <a:solidFill>
              <a:srgbClr val="EAB30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4"/>
          <p:cNvSpPr/>
          <p:nvPr/>
        </p:nvSpPr>
        <p:spPr>
          <a:xfrm>
            <a:off x="7360920" y="2697480"/>
            <a:ext cx="1005480" cy="62136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output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gate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5"/>
          <p:cNvSpPr/>
          <p:nvPr/>
        </p:nvSpPr>
        <p:spPr>
          <a:xfrm>
            <a:off x="8366760" y="3008160"/>
            <a:ext cx="914400" cy="360"/>
          </a:xfrm>
          <a:prstGeom prst="line">
            <a:avLst/>
          </a:prstGeom>
          <a:ln w="20320">
            <a:solidFill>
              <a:srgbClr val="F9731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6"/>
          <p:cNvSpPr/>
          <p:nvPr/>
        </p:nvSpPr>
        <p:spPr>
          <a:xfrm>
            <a:off x="9281160" y="2788920"/>
            <a:ext cx="868320" cy="438480"/>
          </a:xfrm>
          <a:prstGeom prst="rect">
            <a:avLst/>
          </a:prstGeom>
          <a:solidFill>
            <a:srgbClr val="F2F4F7"/>
          </a:solidFill>
          <a:ln w="12700">
            <a:solidFill>
              <a:srgbClr val="47546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h[t]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7"/>
          <p:cNvSpPr/>
          <p:nvPr/>
        </p:nvSpPr>
        <p:spPr>
          <a:xfrm>
            <a:off x="3246119" y="1846371"/>
            <a:ext cx="1005480" cy="34704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65A30D"/>
                </a:solidFill>
                <a:effectLst/>
                <a:uFillTx/>
                <a:latin typeface="Aptos"/>
              </a:rPr>
              <a:t>1) keep?</a:t>
            </a:r>
            <a:endParaRPr lang="it-IT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8"/>
          <p:cNvSpPr/>
          <p:nvPr/>
        </p:nvSpPr>
        <p:spPr>
          <a:xfrm>
            <a:off x="4434840" y="5440085"/>
            <a:ext cx="1005480" cy="3470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2563EB"/>
                </a:solidFill>
                <a:effectLst/>
                <a:uFillTx/>
                <a:latin typeface="Aptos"/>
              </a:rPr>
              <a:t>2) write?</a:t>
            </a:r>
            <a:endParaRPr lang="it-IT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9"/>
          <p:cNvSpPr/>
          <p:nvPr/>
        </p:nvSpPr>
        <p:spPr>
          <a:xfrm>
            <a:off x="7360920" y="1828800"/>
            <a:ext cx="1096920" cy="34704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F97316"/>
                </a:solidFill>
                <a:effectLst/>
                <a:uFillTx/>
                <a:latin typeface="Aptos"/>
              </a:rPr>
              <a:t>3) expose?</a:t>
            </a:r>
            <a:endParaRPr lang="it-IT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0"/>
          <p:cNvSpPr/>
          <p:nvPr/>
        </p:nvSpPr>
        <p:spPr>
          <a:xfrm>
            <a:off x="841320" y="6053400"/>
            <a:ext cx="98568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600" dirty="0"/>
              <a:t>The gates are learned functions of the current input x[t] and the previous hidden state h[t−1]</a:t>
            </a:r>
            <a:r>
              <a:rPr lang="en-US" sz="1350" b="0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.</a:t>
            </a:r>
            <a:endParaRPr lang="it-IT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CA3F2B21-27E8-DC6E-F983-A88A59186C63}"/>
              </a:ext>
            </a:extLst>
          </p:cNvPr>
          <p:cNvSpPr/>
          <p:nvPr/>
        </p:nvSpPr>
        <p:spPr>
          <a:xfrm>
            <a:off x="2362133" y="4542840"/>
            <a:ext cx="1981267" cy="449280"/>
          </a:xfrm>
          <a:prstGeom prst="line">
            <a:avLst/>
          </a:prstGeom>
          <a:ln w="1905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6DCAAD6C-B073-0828-EFAD-7588F36C4191}"/>
              </a:ext>
            </a:extLst>
          </p:cNvPr>
          <p:cNvSpPr/>
          <p:nvPr/>
        </p:nvSpPr>
        <p:spPr>
          <a:xfrm flipV="1">
            <a:off x="2362132" y="3191580"/>
            <a:ext cx="883987" cy="1187100"/>
          </a:xfrm>
          <a:prstGeom prst="line">
            <a:avLst/>
          </a:prstGeom>
          <a:ln w="1905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53B93FBD-7AC4-D606-B224-0E4A044038C7}"/>
              </a:ext>
            </a:extLst>
          </p:cNvPr>
          <p:cNvSpPr/>
          <p:nvPr/>
        </p:nvSpPr>
        <p:spPr>
          <a:xfrm flipV="1">
            <a:off x="2372681" y="3227400"/>
            <a:ext cx="4924933" cy="1159920"/>
          </a:xfrm>
          <a:prstGeom prst="line">
            <a:avLst/>
          </a:prstGeom>
          <a:ln w="1905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9"/>
          <p:cNvSpPr/>
          <p:nvPr/>
        </p:nvSpPr>
        <p:spPr>
          <a:xfrm>
            <a:off x="4389120" y="3703320"/>
            <a:ext cx="1096920" cy="566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candidate</a:t>
            </a:r>
            <a:endParaRPr lang="it-IT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g[t]</a:t>
            </a:r>
            <a:endParaRPr lang="it-IT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LSTM cell (flow of memories)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133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547" y="1690688"/>
            <a:ext cx="7335813" cy="4502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80734" y="2394621"/>
            <a:ext cx="1440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Cell state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38243" y="4602482"/>
            <a:ext cx="1662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Hidden state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475913" y="1529542"/>
            <a:ext cx="1734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To the next layer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666509" y="5760121"/>
            <a:ext cx="1734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From the previous layer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336174" y="2549356"/>
            <a:ext cx="925484" cy="269686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530435" y="3061974"/>
            <a:ext cx="925484" cy="269686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170814" y="3807033"/>
            <a:ext cx="925484" cy="269686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165799" y="5451368"/>
            <a:ext cx="19755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Main layer</a:t>
            </a:r>
            <a:r>
              <a:rPr lang="it-IT" sz="1600" dirty="0"/>
              <a:t> (produces new mem)</a:t>
            </a:r>
          </a:p>
          <a:p>
            <a:r>
              <a:rPr lang="it-IT" sz="1600" dirty="0"/>
              <a:t>The other three are the gate controllers</a:t>
            </a:r>
            <a:endParaRPr lang="en-US" sz="1600" dirty="0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4153593" y="4389120"/>
            <a:ext cx="277090" cy="13546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33798" y="6215746"/>
            <a:ext cx="1457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Forget </a:t>
            </a:r>
            <a:r>
              <a:rPr lang="it-IT" b="1" dirty="0"/>
              <a:t>filter</a:t>
            </a:r>
            <a:r>
              <a:rPr lang="it-IT" dirty="0"/>
              <a:t> (logistic: 0,1)</a:t>
            </a:r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2446743" y="4389120"/>
            <a:ext cx="978101" cy="19106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48764" y="6343389"/>
            <a:ext cx="31338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Input filter </a:t>
            </a:r>
            <a:r>
              <a:rPr lang="it-IT" sz="1400" dirty="0"/>
              <a:t>(</a:t>
            </a:r>
            <a:r>
              <a:rPr lang="it-IT" sz="1400" dirty="0" err="1"/>
              <a:t>what</a:t>
            </a:r>
            <a:r>
              <a:rPr lang="it-IT" sz="1400" dirty="0"/>
              <a:t> new </a:t>
            </a:r>
            <a:r>
              <a:rPr lang="it-IT" sz="1400" dirty="0" err="1"/>
              <a:t>mem</a:t>
            </a:r>
            <a:r>
              <a:rPr lang="it-IT" sz="1400" dirty="0"/>
              <a:t> </a:t>
            </a:r>
            <a:r>
              <a:rPr lang="it-IT" sz="1400" dirty="0" err="1"/>
              <a:t>should</a:t>
            </a:r>
            <a:r>
              <a:rPr lang="it-IT" sz="1400" dirty="0"/>
              <a:t> be </a:t>
            </a:r>
            <a:r>
              <a:rPr lang="it-IT" sz="1400" dirty="0" err="1"/>
              <a:t>added</a:t>
            </a:r>
            <a:r>
              <a:rPr lang="it-IT" sz="1400" dirty="0"/>
              <a:t> to the </a:t>
            </a:r>
            <a:r>
              <a:rPr lang="it-IT" sz="1400" dirty="0" err="1"/>
              <a:t>old</a:t>
            </a:r>
            <a:r>
              <a:rPr lang="it-IT" sz="1400" dirty="0"/>
              <a:t> one)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7401098" y="6300255"/>
            <a:ext cx="1457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Output filter</a:t>
            </a:r>
            <a:endParaRPr lang="en-US" dirty="0"/>
          </a:p>
        </p:txBody>
      </p:sp>
      <p:cxnSp>
        <p:nvCxnSpPr>
          <p:cNvPr id="24" name="Straight Arrow Connector 23"/>
          <p:cNvCxnSpPr>
            <a:cxnSpLocks/>
          </p:cNvCxnSpPr>
          <p:nvPr/>
        </p:nvCxnSpPr>
        <p:spPr>
          <a:xfrm flipV="1">
            <a:off x="4993177" y="4356855"/>
            <a:ext cx="0" cy="2095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3" idx="0"/>
          </p:cNvCxnSpPr>
          <p:nvPr/>
        </p:nvCxnSpPr>
        <p:spPr>
          <a:xfrm flipH="1" flipV="1">
            <a:off x="5930453" y="4602482"/>
            <a:ext cx="2199394" cy="16977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6533803" y="3600998"/>
            <a:ext cx="1467197" cy="17434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7107" y="3807033"/>
            <a:ext cx="175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Fully </a:t>
            </a:r>
            <a:r>
              <a:rPr lang="it-IT" dirty="0" err="1"/>
              <a:t>Connected</a:t>
            </a:r>
            <a:r>
              <a:rPr lang="it-IT" dirty="0"/>
              <a:t> </a:t>
            </a:r>
            <a:r>
              <a:rPr lang="it-IT" b="1" dirty="0" err="1"/>
              <a:t>layer</a:t>
            </a:r>
            <a:endParaRPr lang="en-US" b="1" dirty="0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1400891" y="4239986"/>
            <a:ext cx="2023953" cy="56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62304" y="5081591"/>
            <a:ext cx="2142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Output and state </a:t>
            </a:r>
            <a:r>
              <a:rPr lang="it-IT" dirty="0" err="1"/>
              <a:t>gen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9067122" y="5344439"/>
            <a:ext cx="795182" cy="603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053145" y="6036143"/>
            <a:ext cx="1608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Logistic for the gates</a:t>
            </a:r>
            <a:endParaRPr lang="en-US" b="1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9210502" y="5081591"/>
            <a:ext cx="784836" cy="9545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407104" y="994534"/>
            <a:ext cx="27848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Hidden state is combined with the input to get the updates, that are put in the (</a:t>
            </a:r>
            <a:r>
              <a:rPr lang="it-IT" sz="1600" dirty="0" err="1"/>
              <a:t>next</a:t>
            </a:r>
            <a:r>
              <a:rPr lang="it-IT" sz="1600" dirty="0"/>
              <a:t>) </a:t>
            </a:r>
            <a:r>
              <a:rPr lang="it-IT" sz="1600" dirty="0" err="1"/>
              <a:t>cell</a:t>
            </a:r>
            <a:r>
              <a:rPr lang="it-IT" sz="1600" dirty="0"/>
              <a:t> state, from which the (</a:t>
            </a:r>
            <a:r>
              <a:rPr lang="it-IT" sz="1600" dirty="0" err="1"/>
              <a:t>next</a:t>
            </a:r>
            <a:r>
              <a:rPr lang="it-IT" sz="1600" dirty="0"/>
              <a:t>) </a:t>
            </a:r>
            <a:r>
              <a:rPr lang="it-IT" sz="1600" dirty="0" err="1"/>
              <a:t>hidden</a:t>
            </a:r>
            <a:r>
              <a:rPr lang="it-IT" sz="1600" dirty="0"/>
              <a:t> state (= output) is extracted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1479706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EF098D-8D9C-40E4-FB9E-6A2915B5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LSTM helps with long-term dependencies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DD6070-6721-F6CF-AA74-3F6C0C636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 a </a:t>
            </a:r>
            <a:r>
              <a:rPr lang="en-GB" b="1" dirty="0" err="1">
                <a:highlight>
                  <a:srgbClr val="FFFF00"/>
                </a:highlight>
              </a:rPr>
              <a:t>SimpleRNN</a:t>
            </a:r>
            <a:r>
              <a:rPr lang="en-GB" dirty="0">
                <a:highlight>
                  <a:srgbClr val="FFFF00"/>
                </a:highlight>
              </a:rPr>
              <a:t>,</a:t>
            </a:r>
            <a:r>
              <a:rPr lang="en-GB" dirty="0"/>
              <a:t> the hidden state is repeatedly transformed:</a:t>
            </a:r>
          </a:p>
          <a:p>
            <a:pPr lvl="1"/>
            <a:r>
              <a:rPr lang="en-GB" b="1" dirty="0">
                <a:highlight>
                  <a:srgbClr val="FFFF00"/>
                </a:highlight>
              </a:rPr>
              <a:t>h[t−1], x[t] → nonlinear transformation → h[t]</a:t>
            </a:r>
          </a:p>
          <a:p>
            <a:r>
              <a:rPr lang="en-GB" b="1" dirty="0"/>
              <a:t>In an LSTM, the cell state contains a more direct update pathway: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c[t] = retained c[t−1] + new information</a:t>
            </a:r>
          </a:p>
          <a:p>
            <a:r>
              <a:rPr lang="en-GB" b="1" dirty="0"/>
              <a:t>If the </a:t>
            </a:r>
            <a:r>
              <a:rPr lang="en-GB" b="1" dirty="0">
                <a:highlight>
                  <a:srgbClr val="FFFF00"/>
                </a:highlight>
              </a:rPr>
              <a:t>forget gate is close to 1</a:t>
            </a:r>
          </a:p>
          <a:p>
            <a:r>
              <a:rPr lang="en-GB" b="1" dirty="0">
                <a:highlight>
                  <a:srgbClr val="FFFF00"/>
                </a:highlight>
              </a:rPr>
              <a:t>and</a:t>
            </a:r>
            <a:r>
              <a:rPr lang="en-GB" dirty="0"/>
              <a:t> the </a:t>
            </a:r>
            <a:r>
              <a:rPr lang="en-GB" b="1" dirty="0">
                <a:highlight>
                  <a:srgbClr val="FFFF00"/>
                </a:highlight>
              </a:rPr>
              <a:t>input gate is close to 0:</a:t>
            </a:r>
          </a:p>
          <a:p>
            <a:pPr lvl="1"/>
            <a:r>
              <a:rPr lang="en-GB" dirty="0">
                <a:highlight>
                  <a:srgbClr val="FFFF00"/>
                </a:highlight>
              </a:rPr>
              <a:t>c[t] ≈ c[t−1]</a:t>
            </a:r>
          </a:p>
          <a:p>
            <a:r>
              <a:rPr lang="en-GB" b="1" dirty="0"/>
              <a:t>Memory substantially does not change.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7974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8EDFF8-D151-A4ED-8A8D-39E6755D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LSTM helps with long-term dependencies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E1C242-82C4-8815-7996-175E5AAE4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Suppose an important </a:t>
            </a:r>
            <a:r>
              <a:rPr lang="en-GB" b="1" dirty="0"/>
              <a:t>event occurs at time 20.</a:t>
            </a:r>
          </a:p>
          <a:p>
            <a:r>
              <a:rPr lang="en-GB" dirty="0"/>
              <a:t>The LSTM may learn to preserve evidence of that event through:</a:t>
            </a:r>
          </a:p>
          <a:p>
            <a:r>
              <a:rPr lang="en-GB" dirty="0"/>
              <a:t>t = 21, 22, ..., 200</a:t>
            </a:r>
          </a:p>
          <a:p>
            <a:r>
              <a:rPr lang="en-GB" dirty="0"/>
              <a:t>until it becomes relevant for prediction.</a:t>
            </a:r>
          </a:p>
          <a:p>
            <a:r>
              <a:rPr lang="en-GB" b="1" dirty="0">
                <a:highlight>
                  <a:srgbClr val="FFFF00"/>
                </a:highlight>
              </a:rPr>
              <a:t>Gradient implication</a:t>
            </a:r>
          </a:p>
          <a:p>
            <a:r>
              <a:rPr lang="en-GB" b="1" dirty="0">
                <a:highlight>
                  <a:srgbClr val="FFFF00"/>
                </a:highlight>
              </a:rPr>
              <a:t>The additive memory path provides a more favourable route for gradient propagation.</a:t>
            </a:r>
          </a:p>
          <a:p>
            <a:r>
              <a:rPr lang="en-GB" dirty="0"/>
              <a:t>This reduces—but does not completely eliminate—the difficulty of learning long dependencies.</a:t>
            </a:r>
          </a:p>
          <a:p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LSTM provides a </a:t>
            </a:r>
            <a:r>
              <a:rPr lang="en-GB" b="1" dirty="0">
                <a:highlight>
                  <a:srgbClr val="FFFF00"/>
                </a:highlight>
              </a:rPr>
              <a:t>learned mechanism for controlling memory retention</a:t>
            </a:r>
            <a:r>
              <a:rPr lang="en-GB" dirty="0">
                <a:highlight>
                  <a:srgbClr val="FFFF00"/>
                </a:highlight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424390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Why LSTM helps with long-term dependencies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The cell state can preserve information through a near-identity path.</a:t>
            </a:r>
            <a:endParaRPr lang="it-I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"/>
          <p:cNvSpPr/>
          <p:nvPr/>
        </p:nvSpPr>
        <p:spPr>
          <a:xfrm>
            <a:off x="1005840" y="164592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SimpleRNN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3"/>
          <p:cNvSpPr/>
          <p:nvPr/>
        </p:nvSpPr>
        <p:spPr>
          <a:xfrm>
            <a:off x="1005840" y="2331720"/>
            <a:ext cx="529920" cy="4111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h[0]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4"/>
          <p:cNvSpPr/>
          <p:nvPr/>
        </p:nvSpPr>
        <p:spPr>
          <a:xfrm>
            <a:off x="1536120" y="2541960"/>
            <a:ext cx="228600" cy="360"/>
          </a:xfrm>
          <a:prstGeom prst="line">
            <a:avLst/>
          </a:prstGeom>
          <a:ln w="1524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5"/>
          <p:cNvSpPr/>
          <p:nvPr/>
        </p:nvSpPr>
        <p:spPr>
          <a:xfrm>
            <a:off x="1764720" y="2331720"/>
            <a:ext cx="529920" cy="4111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h[1]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6"/>
          <p:cNvSpPr/>
          <p:nvPr/>
        </p:nvSpPr>
        <p:spPr>
          <a:xfrm>
            <a:off x="2295000" y="2541960"/>
            <a:ext cx="228600" cy="360"/>
          </a:xfrm>
          <a:prstGeom prst="line">
            <a:avLst/>
          </a:prstGeom>
          <a:ln w="1524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7"/>
          <p:cNvSpPr/>
          <p:nvPr/>
        </p:nvSpPr>
        <p:spPr>
          <a:xfrm>
            <a:off x="2523600" y="2331720"/>
            <a:ext cx="529920" cy="4111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h[2]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8"/>
          <p:cNvSpPr/>
          <p:nvPr/>
        </p:nvSpPr>
        <p:spPr>
          <a:xfrm>
            <a:off x="3053880" y="2541960"/>
            <a:ext cx="228600" cy="360"/>
          </a:xfrm>
          <a:prstGeom prst="line">
            <a:avLst/>
          </a:prstGeom>
          <a:ln w="1524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9"/>
          <p:cNvSpPr/>
          <p:nvPr/>
        </p:nvSpPr>
        <p:spPr>
          <a:xfrm>
            <a:off x="3282840" y="2331720"/>
            <a:ext cx="529920" cy="4111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h[3]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0"/>
          <p:cNvSpPr/>
          <p:nvPr/>
        </p:nvSpPr>
        <p:spPr>
          <a:xfrm>
            <a:off x="3812760" y="2541960"/>
            <a:ext cx="228600" cy="360"/>
          </a:xfrm>
          <a:prstGeom prst="line">
            <a:avLst/>
          </a:prstGeom>
          <a:ln w="1524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1"/>
          <p:cNvSpPr/>
          <p:nvPr/>
        </p:nvSpPr>
        <p:spPr>
          <a:xfrm>
            <a:off x="4041720" y="2331720"/>
            <a:ext cx="529920" cy="4111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h[4]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2"/>
          <p:cNvSpPr/>
          <p:nvPr/>
        </p:nvSpPr>
        <p:spPr>
          <a:xfrm>
            <a:off x="1005840" y="30632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repeated nonlinear transformations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3"/>
          <p:cNvSpPr/>
          <p:nvPr/>
        </p:nvSpPr>
        <p:spPr>
          <a:xfrm>
            <a:off x="5486400" y="16459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65A30D"/>
                </a:solidFill>
                <a:effectLst/>
                <a:uFillTx/>
                <a:latin typeface="Aptos"/>
              </a:rPr>
              <a:t>LSTM cell state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4"/>
          <p:cNvSpPr/>
          <p:nvPr/>
        </p:nvSpPr>
        <p:spPr>
          <a:xfrm>
            <a:off x="5486400" y="2331720"/>
            <a:ext cx="529920" cy="41112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c[0]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5"/>
          <p:cNvSpPr/>
          <p:nvPr/>
        </p:nvSpPr>
        <p:spPr>
          <a:xfrm>
            <a:off x="6016680" y="2541960"/>
            <a:ext cx="228600" cy="360"/>
          </a:xfrm>
          <a:prstGeom prst="line">
            <a:avLst/>
          </a:prstGeom>
          <a:ln w="2540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6"/>
          <p:cNvSpPr/>
          <p:nvPr/>
        </p:nvSpPr>
        <p:spPr>
          <a:xfrm>
            <a:off x="6245280" y="2331720"/>
            <a:ext cx="529920" cy="41112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c[1]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7"/>
          <p:cNvSpPr/>
          <p:nvPr/>
        </p:nvSpPr>
        <p:spPr>
          <a:xfrm>
            <a:off x="6775560" y="2541960"/>
            <a:ext cx="228600" cy="360"/>
          </a:xfrm>
          <a:prstGeom prst="line">
            <a:avLst/>
          </a:prstGeom>
          <a:ln w="2540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8"/>
          <p:cNvSpPr/>
          <p:nvPr/>
        </p:nvSpPr>
        <p:spPr>
          <a:xfrm>
            <a:off x="7004160" y="2331720"/>
            <a:ext cx="529920" cy="41112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c[2]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9"/>
          <p:cNvSpPr/>
          <p:nvPr/>
        </p:nvSpPr>
        <p:spPr>
          <a:xfrm>
            <a:off x="7534440" y="2541960"/>
            <a:ext cx="228600" cy="360"/>
          </a:xfrm>
          <a:prstGeom prst="line">
            <a:avLst/>
          </a:prstGeom>
          <a:ln w="2540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0"/>
          <p:cNvSpPr/>
          <p:nvPr/>
        </p:nvSpPr>
        <p:spPr>
          <a:xfrm>
            <a:off x="7763400" y="2331720"/>
            <a:ext cx="529920" cy="41112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c[3]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1"/>
          <p:cNvSpPr/>
          <p:nvPr/>
        </p:nvSpPr>
        <p:spPr>
          <a:xfrm>
            <a:off x="8293320" y="2541960"/>
            <a:ext cx="228600" cy="360"/>
          </a:xfrm>
          <a:prstGeom prst="line">
            <a:avLst/>
          </a:prstGeom>
          <a:ln w="2540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2"/>
          <p:cNvSpPr/>
          <p:nvPr/>
        </p:nvSpPr>
        <p:spPr>
          <a:xfrm>
            <a:off x="8522280" y="2331720"/>
            <a:ext cx="529920" cy="41112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c[4]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3"/>
          <p:cNvSpPr/>
          <p:nvPr/>
        </p:nvSpPr>
        <p:spPr>
          <a:xfrm>
            <a:off x="5486400" y="30632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5A30D"/>
                </a:solidFill>
                <a:effectLst/>
                <a:uFillTx/>
                <a:latin typeface="Aptos"/>
              </a:rPr>
              <a:t>controlled additive memory path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4"/>
          <p:cNvSpPr/>
          <p:nvPr/>
        </p:nvSpPr>
        <p:spPr>
          <a:xfrm>
            <a:off x="2743200" y="4316040"/>
            <a:ext cx="4663080" cy="56664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if f[t] ≈ 1 and i[t] ≈ 0, then c[t] ≈ c[t−1]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5"/>
          <p:cNvSpPr/>
          <p:nvPr/>
        </p:nvSpPr>
        <p:spPr>
          <a:xfrm>
            <a:off x="841320" y="6053400"/>
            <a:ext cx="98568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LSTM reduces, but does not eliminate, the difficulty of learning long dependencies.</a:t>
            </a:r>
            <a:endParaRPr lang="it-I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84829BA-4C9C-7C22-C681-8F3EEFC77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380" y="4408843"/>
            <a:ext cx="2072820" cy="38103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323614E6-CB93-4204-4F99-51E6E1DF5EEE}"/>
              </a:ext>
            </a:extLst>
          </p:cNvPr>
          <p:cNvSpPr txBox="1"/>
          <p:nvPr/>
        </p:nvSpPr>
        <p:spPr>
          <a:xfrm>
            <a:off x="3328795" y="4956120"/>
            <a:ext cx="1745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dirty="0" err="1"/>
              <a:t>forget</a:t>
            </a:r>
            <a:r>
              <a:rPr lang="it-IT" sz="1200" b="1" dirty="0"/>
              <a:t> and input gate</a:t>
            </a:r>
            <a:endParaRPr lang="en-GB" sz="1200" b="1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AE8FD9-FB0A-2EA5-1CD6-99F153813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predictive maintenance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635006-5D1C-CD33-BE9F-94FD999DB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Suppose </a:t>
            </a:r>
            <a:r>
              <a:rPr lang="en-GB" b="1" dirty="0"/>
              <a:t>an input sequence contains:</a:t>
            </a:r>
          </a:p>
          <a:p>
            <a:pPr lvl="1"/>
            <a:r>
              <a:rPr lang="en-GB" dirty="0"/>
              <a:t>temperature[t]</a:t>
            </a:r>
          </a:p>
          <a:p>
            <a:pPr lvl="1"/>
            <a:r>
              <a:rPr lang="en-GB" dirty="0"/>
              <a:t>vibration[t]</a:t>
            </a:r>
          </a:p>
          <a:p>
            <a:pPr lvl="1"/>
            <a:r>
              <a:rPr lang="en-GB" dirty="0"/>
              <a:t>motor current[t]</a:t>
            </a:r>
          </a:p>
          <a:p>
            <a:pPr lvl="1"/>
            <a:r>
              <a:rPr lang="en-GB" dirty="0"/>
              <a:t>load[t]</a:t>
            </a:r>
          </a:p>
          <a:p>
            <a:r>
              <a:rPr lang="en-GB" dirty="0"/>
              <a:t>An early vibration event may indicate developing damage.</a:t>
            </a:r>
          </a:p>
          <a:p>
            <a:r>
              <a:rPr lang="en-GB" dirty="0"/>
              <a:t>However, </a:t>
            </a:r>
            <a:r>
              <a:rPr lang="en-GB" b="1" dirty="0"/>
              <a:t>the final failure risk depends on what happens over the following minutes.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162599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F7FD4-FF7D-9E26-9191-A5044B196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4113B1-D598-EB94-647A-73C357FDE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predictive maintenance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226AA6-8840-98D4-3EA5-18445AC95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Possible LSTM behaviour</a:t>
            </a:r>
          </a:p>
          <a:p>
            <a:r>
              <a:rPr lang="en-GB" dirty="0"/>
              <a:t>At the early event:</a:t>
            </a:r>
          </a:p>
          <a:p>
            <a:pPr lvl="1"/>
            <a:r>
              <a:rPr lang="en-GB" dirty="0"/>
              <a:t>candidate memory identifies the vibration anomaly; </a:t>
            </a:r>
          </a:p>
          <a:p>
            <a:pPr lvl="1"/>
            <a:r>
              <a:rPr lang="en-GB" dirty="0"/>
              <a:t>input gate stores relevant information. </a:t>
            </a:r>
          </a:p>
          <a:p>
            <a:r>
              <a:rPr lang="en-GB" dirty="0"/>
              <a:t>During normal observations:</a:t>
            </a:r>
          </a:p>
          <a:p>
            <a:pPr lvl="1"/>
            <a:r>
              <a:rPr lang="en-GB" dirty="0"/>
              <a:t>forget gate keeps the anomaly-related memory; </a:t>
            </a:r>
          </a:p>
          <a:p>
            <a:pPr lvl="1"/>
            <a:r>
              <a:rPr lang="en-GB" dirty="0"/>
              <a:t>input gate prevents irrelevant fluctuations from overwriting it. </a:t>
            </a:r>
          </a:p>
          <a:p>
            <a:r>
              <a:rPr lang="en-GB" dirty="0"/>
              <a:t>Later:</a:t>
            </a:r>
          </a:p>
          <a:p>
            <a:pPr lvl="1"/>
            <a:r>
              <a:rPr lang="en-GB" dirty="0"/>
              <a:t>additional temperature increase reinforces the stored evidence. </a:t>
            </a:r>
          </a:p>
          <a:p>
            <a:r>
              <a:rPr lang="en-GB" dirty="0"/>
              <a:t>At prediction time:</a:t>
            </a:r>
          </a:p>
          <a:p>
            <a:pPr lvl="1"/>
            <a:r>
              <a:rPr lang="en-GB" dirty="0"/>
              <a:t>output gate exposes the relevant state; </a:t>
            </a:r>
          </a:p>
          <a:p>
            <a:pPr lvl="1"/>
            <a:r>
              <a:rPr lang="en-GB" dirty="0"/>
              <a:t>output layer produces high fault probability. </a:t>
            </a:r>
          </a:p>
          <a:p>
            <a:r>
              <a:rPr lang="en-GB" b="1" dirty="0">
                <a:highlight>
                  <a:srgbClr val="FFFF00"/>
                </a:highlight>
              </a:rPr>
              <a:t>Important point</a:t>
            </a:r>
          </a:p>
          <a:p>
            <a:r>
              <a:rPr lang="en-GB" b="1" dirty="0">
                <a:highlight>
                  <a:srgbClr val="FFFF00"/>
                </a:highlight>
              </a:rPr>
              <a:t>These gate behaviours are not manually programmed.</a:t>
            </a:r>
          </a:p>
          <a:p>
            <a:r>
              <a:rPr lang="en-GB" b="1" dirty="0">
                <a:highlight>
                  <a:srgbClr val="FFFF00"/>
                </a:highlight>
              </a:rPr>
              <a:t>They are learned from the prediction objective.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72028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Example: LSTM memory in predictive maintenance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 dirty="0">
                <a:solidFill>
                  <a:srgbClr val="475467"/>
                </a:solidFill>
                <a:effectLst/>
                <a:uFillTx/>
                <a:latin typeface="Aptos"/>
              </a:rPr>
              <a:t>A weak early anomaly can be stored and later combined with new evidence.</a:t>
            </a:r>
            <a:endParaRPr lang="it-IT" sz="14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"/>
          <p:cNvSpPr/>
          <p:nvPr/>
        </p:nvSpPr>
        <p:spPr>
          <a:xfrm>
            <a:off x="960120" y="3154680"/>
            <a:ext cx="8732520" cy="360"/>
          </a:xfrm>
          <a:prstGeom prst="line">
            <a:avLst/>
          </a:prstGeom>
          <a:ln w="19050">
            <a:solidFill>
              <a:srgbClr val="10182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"/>
          <p:cNvSpPr/>
          <p:nvPr/>
        </p:nvSpPr>
        <p:spPr>
          <a:xfrm>
            <a:off x="9738360" y="301752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time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4"/>
          <p:cNvSpPr/>
          <p:nvPr/>
        </p:nvSpPr>
        <p:spPr>
          <a:xfrm>
            <a:off x="1371600" y="2331720"/>
            <a:ext cx="1828440" cy="347040"/>
          </a:xfrm>
          <a:prstGeom prst="rect">
            <a:avLst/>
          </a:prstGeom>
          <a:solidFill>
            <a:srgbClr val="FEF9C3"/>
          </a:solidFill>
          <a:ln w="12700">
            <a:solidFill>
              <a:srgbClr val="EAB30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AB308"/>
                </a:solidFill>
                <a:effectLst/>
                <a:uFillTx/>
                <a:latin typeface="Aptos"/>
              </a:rPr>
              <a:t>early vibration event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5"/>
          <p:cNvSpPr/>
          <p:nvPr/>
        </p:nvSpPr>
        <p:spPr>
          <a:xfrm>
            <a:off x="2286000" y="2697480"/>
            <a:ext cx="360" cy="374760"/>
          </a:xfrm>
          <a:prstGeom prst="line">
            <a:avLst/>
          </a:prstGeom>
          <a:ln w="17780">
            <a:solidFill>
              <a:srgbClr val="EAB30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6"/>
          <p:cNvSpPr/>
          <p:nvPr/>
        </p:nvSpPr>
        <p:spPr>
          <a:xfrm>
            <a:off x="3886200" y="2331720"/>
            <a:ext cx="1691280" cy="3470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normal fluctuations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7"/>
          <p:cNvSpPr/>
          <p:nvPr/>
        </p:nvSpPr>
        <p:spPr>
          <a:xfrm>
            <a:off x="4709160" y="2697480"/>
            <a:ext cx="360" cy="374760"/>
          </a:xfrm>
          <a:prstGeom prst="line">
            <a:avLst/>
          </a:prstGeom>
          <a:ln w="1778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8"/>
          <p:cNvSpPr/>
          <p:nvPr/>
        </p:nvSpPr>
        <p:spPr>
          <a:xfrm>
            <a:off x="6492240" y="2331720"/>
            <a:ext cx="1645560" cy="34704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97316"/>
                </a:solidFill>
                <a:effectLst/>
                <a:uFillTx/>
                <a:latin typeface="Aptos"/>
              </a:rPr>
              <a:t>temperature rise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9"/>
          <p:cNvSpPr/>
          <p:nvPr/>
        </p:nvSpPr>
        <p:spPr>
          <a:xfrm>
            <a:off x="7315200" y="2697480"/>
            <a:ext cx="360" cy="374760"/>
          </a:xfrm>
          <a:prstGeom prst="line">
            <a:avLst/>
          </a:prstGeom>
          <a:ln w="17780">
            <a:solidFill>
              <a:srgbClr val="F9731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0"/>
          <p:cNvSpPr/>
          <p:nvPr/>
        </p:nvSpPr>
        <p:spPr>
          <a:xfrm>
            <a:off x="8366760" y="3703320"/>
            <a:ext cx="1645560" cy="3470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fault risk output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1"/>
          <p:cNvSpPr/>
          <p:nvPr/>
        </p:nvSpPr>
        <p:spPr>
          <a:xfrm>
            <a:off x="8869680" y="3246120"/>
            <a:ext cx="45720" cy="411480"/>
          </a:xfrm>
          <a:prstGeom prst="line">
            <a:avLst/>
          </a:prstGeom>
          <a:ln w="17780">
            <a:solidFill>
              <a:srgbClr val="DC262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2"/>
          <p:cNvSpPr/>
          <p:nvPr/>
        </p:nvSpPr>
        <p:spPr>
          <a:xfrm>
            <a:off x="1600200" y="4480560"/>
            <a:ext cx="1279800" cy="50256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store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anomaly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3"/>
          <p:cNvSpPr/>
          <p:nvPr/>
        </p:nvSpPr>
        <p:spPr>
          <a:xfrm>
            <a:off x="4069080" y="4480560"/>
            <a:ext cx="1279800" cy="50256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keep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memory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4"/>
          <p:cNvSpPr/>
          <p:nvPr/>
        </p:nvSpPr>
        <p:spPr>
          <a:xfrm>
            <a:off x="6583680" y="4480560"/>
            <a:ext cx="1279800" cy="50256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reinforce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evidence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5"/>
          <p:cNvSpPr/>
          <p:nvPr/>
        </p:nvSpPr>
        <p:spPr>
          <a:xfrm>
            <a:off x="2880360" y="4736520"/>
            <a:ext cx="1188720" cy="360"/>
          </a:xfrm>
          <a:prstGeom prst="line">
            <a:avLst/>
          </a:prstGeom>
          <a:ln w="1905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6"/>
          <p:cNvSpPr/>
          <p:nvPr/>
        </p:nvSpPr>
        <p:spPr>
          <a:xfrm>
            <a:off x="5349240" y="4736520"/>
            <a:ext cx="1234440" cy="360"/>
          </a:xfrm>
          <a:prstGeom prst="line">
            <a:avLst/>
          </a:prstGeom>
          <a:ln w="1905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7"/>
          <p:cNvSpPr/>
          <p:nvPr/>
        </p:nvSpPr>
        <p:spPr>
          <a:xfrm>
            <a:off x="841320" y="6053400"/>
            <a:ext cx="98568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Gate behaviours are learned from data; they are not manually programmed.</a:t>
            </a:r>
            <a:endParaRPr lang="it-I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29908C-DA3E-CACD-28B3-58188409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LSTM still uses shared parameters across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0D5572-157B-84AF-0C70-7143339E4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Although the LSTM cell </a:t>
            </a:r>
            <a:r>
              <a:rPr lang="en-GB" b="1" dirty="0"/>
              <a:t>is more complex than a </a:t>
            </a:r>
            <a:r>
              <a:rPr lang="en-GB" b="1" dirty="0" err="1"/>
              <a:t>SimpleRNN</a:t>
            </a:r>
            <a:r>
              <a:rPr lang="en-GB" b="1" dirty="0"/>
              <a:t>, it preserves the core recurrent principle.</a:t>
            </a:r>
          </a:p>
          <a:p>
            <a:r>
              <a:rPr lang="en-GB" dirty="0"/>
              <a:t>The </a:t>
            </a:r>
            <a:r>
              <a:rPr lang="en-GB" b="1" dirty="0"/>
              <a:t>same LSTM parameters are applied at: t = 1, 2, ..., T</a:t>
            </a:r>
          </a:p>
          <a:p>
            <a:r>
              <a:rPr lang="en-GB" b="1" dirty="0"/>
              <a:t>Therefore</a:t>
            </a:r>
          </a:p>
          <a:p>
            <a:r>
              <a:rPr lang="en-GB" dirty="0"/>
              <a:t>A sequence of length 200 does not require 200 different LSTM cells.</a:t>
            </a:r>
          </a:p>
          <a:p>
            <a:r>
              <a:rPr lang="en-GB" dirty="0"/>
              <a:t>The unrolled diagram shows multiple copies only for visualization.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LSTM → LSTM → LSTM → ... → LSTM</a:t>
            </a:r>
          </a:p>
          <a:p>
            <a:r>
              <a:rPr lang="en-GB" dirty="0"/>
              <a:t> ↑          ↑           ↑                    ↑</a:t>
            </a:r>
          </a:p>
          <a:p>
            <a:r>
              <a:rPr lang="en-GB" dirty="0"/>
              <a:t>x[1]       x[2]       x[3]                x[T]</a:t>
            </a:r>
          </a:p>
          <a:p>
            <a:r>
              <a:rPr lang="en-GB" b="1" dirty="0">
                <a:highlight>
                  <a:srgbClr val="FFFF00"/>
                </a:highlight>
              </a:rPr>
              <a:t>All cells share the same weights.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416805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0537F5-4372-6A68-E12C-71FF4A1EB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LSTM still uses shared parameters across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066EC0-744B-DE0E-ADF4-E96EDA6CA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Difference from </a:t>
            </a:r>
            <a:r>
              <a:rPr lang="en-GB" b="1" dirty="0" err="1"/>
              <a:t>SimpleRNN</a:t>
            </a:r>
            <a:endParaRPr lang="en-GB" b="1" dirty="0"/>
          </a:p>
          <a:p>
            <a:r>
              <a:rPr lang="en-GB" dirty="0"/>
              <a:t>The LSTM cell contains several internal transformations:</a:t>
            </a:r>
          </a:p>
          <a:p>
            <a:pPr lvl="1"/>
            <a:r>
              <a:rPr lang="en-GB" dirty="0"/>
              <a:t>forget gate; </a:t>
            </a:r>
          </a:p>
          <a:p>
            <a:pPr lvl="1"/>
            <a:r>
              <a:rPr lang="en-GB" dirty="0"/>
              <a:t>input gate; </a:t>
            </a:r>
          </a:p>
          <a:p>
            <a:pPr lvl="1"/>
            <a:r>
              <a:rPr lang="en-GB" dirty="0"/>
              <a:t>candidate state; </a:t>
            </a:r>
          </a:p>
          <a:p>
            <a:pPr lvl="1"/>
            <a:r>
              <a:rPr lang="en-GB" dirty="0"/>
              <a:t>output gate. </a:t>
            </a:r>
          </a:p>
          <a:p>
            <a:r>
              <a:rPr lang="en-GB" dirty="0"/>
              <a:t>Therefore </a:t>
            </a:r>
            <a:r>
              <a:rPr lang="en-GB" b="1" dirty="0">
                <a:highlight>
                  <a:srgbClr val="FFFF00"/>
                </a:highlight>
              </a:rPr>
              <a:t>it requires more parameters and computation per time step.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558511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8053BB-3974-48E1-7E38-1623B0785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LSTM parameter cost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44C2F4-86DE-0F21-16A7-B31CEED9E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</a:t>
            </a:r>
            <a:r>
              <a:rPr lang="en-GB" b="1" dirty="0" err="1">
                <a:highlight>
                  <a:srgbClr val="FFFF00"/>
                </a:highlight>
              </a:rPr>
              <a:t>SimpleRNN</a:t>
            </a:r>
            <a:r>
              <a:rPr lang="en-GB" dirty="0"/>
              <a:t> computes </a:t>
            </a:r>
            <a:r>
              <a:rPr lang="en-GB" b="1" dirty="0">
                <a:highlight>
                  <a:srgbClr val="FFFF00"/>
                </a:highlight>
              </a:rPr>
              <a:t>one main recurrent </a:t>
            </a:r>
            <a:r>
              <a:rPr lang="en-GB" dirty="0">
                <a:highlight>
                  <a:srgbClr val="FFFF00"/>
                </a:highlight>
              </a:rPr>
              <a:t>transformation.</a:t>
            </a:r>
          </a:p>
          <a:p>
            <a:r>
              <a:rPr lang="en-GB" dirty="0"/>
              <a:t>An </a:t>
            </a:r>
            <a:r>
              <a:rPr lang="en-GB" b="1" dirty="0">
                <a:highlight>
                  <a:srgbClr val="FFFF00"/>
                </a:highlight>
              </a:rPr>
              <a:t>LSTM</a:t>
            </a:r>
            <a:r>
              <a:rPr lang="en-GB" dirty="0"/>
              <a:t> computes approximately </a:t>
            </a:r>
            <a:r>
              <a:rPr lang="en-GB" dirty="0">
                <a:highlight>
                  <a:srgbClr val="FFFF00"/>
                </a:highlight>
              </a:rPr>
              <a:t>four related transformations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forget gate; </a:t>
            </a:r>
          </a:p>
          <a:p>
            <a:pPr lvl="1"/>
            <a:r>
              <a:rPr lang="en-GB" dirty="0"/>
              <a:t>input gate; </a:t>
            </a:r>
          </a:p>
          <a:p>
            <a:pPr lvl="1"/>
            <a:r>
              <a:rPr lang="en-GB" dirty="0"/>
              <a:t>candidate state; </a:t>
            </a:r>
          </a:p>
          <a:p>
            <a:pPr lvl="1"/>
            <a:r>
              <a:rPr lang="en-GB" dirty="0"/>
              <a:t>output gate. </a:t>
            </a:r>
          </a:p>
          <a:p>
            <a:r>
              <a:rPr lang="en-GB" dirty="0"/>
              <a:t>Therefore, for the same:</a:t>
            </a:r>
          </a:p>
          <a:p>
            <a:pPr lvl="1"/>
            <a:r>
              <a:rPr lang="en-GB" dirty="0"/>
              <a:t>input dimension d; </a:t>
            </a:r>
          </a:p>
          <a:p>
            <a:pPr lvl="1"/>
            <a:r>
              <a:rPr lang="en-GB" dirty="0"/>
              <a:t>hidden dimension H; </a:t>
            </a:r>
          </a:p>
          <a:p>
            <a:pPr lvl="1"/>
            <a:r>
              <a:rPr lang="en-GB" dirty="0"/>
              <a:t>an LSTM generally has </a:t>
            </a:r>
            <a:r>
              <a:rPr lang="en-GB" dirty="0">
                <a:highlight>
                  <a:srgbClr val="FFFF00"/>
                </a:highlight>
              </a:rPr>
              <a:t>substantially </a:t>
            </a:r>
            <a:r>
              <a:rPr lang="en-GB" b="1" dirty="0">
                <a:highlight>
                  <a:srgbClr val="FFFF00"/>
                </a:highlight>
              </a:rPr>
              <a:t>more parameters than a </a:t>
            </a:r>
            <a:r>
              <a:rPr lang="en-GB" b="1" dirty="0" err="1">
                <a:highlight>
                  <a:srgbClr val="FFFF00"/>
                </a:highlight>
              </a:rPr>
              <a:t>SimpleRNN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09156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84B4A6-BE30-5FEE-7BA5-28598F057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LSTM parameter cost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295742-B3F3-1C78-24D8-893BDDE20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Practical consequence</a:t>
            </a:r>
          </a:p>
          <a:p>
            <a:r>
              <a:rPr lang="en-GB" dirty="0"/>
              <a:t>Compared with </a:t>
            </a:r>
            <a:r>
              <a:rPr lang="en-GB" dirty="0" err="1"/>
              <a:t>SimpleRNN</a:t>
            </a:r>
            <a:r>
              <a:rPr lang="en-GB" dirty="0"/>
              <a:t>, LSTM typically requires:</a:t>
            </a:r>
          </a:p>
          <a:p>
            <a:pPr lvl="1"/>
            <a:r>
              <a:rPr lang="en-GB" dirty="0"/>
              <a:t>more memory; </a:t>
            </a:r>
          </a:p>
          <a:p>
            <a:pPr lvl="1"/>
            <a:r>
              <a:rPr lang="en-GB" dirty="0"/>
              <a:t>more computation per time step; </a:t>
            </a:r>
          </a:p>
          <a:p>
            <a:pPr lvl="1"/>
            <a:r>
              <a:rPr lang="en-GB" dirty="0"/>
              <a:t>longer training time. </a:t>
            </a:r>
          </a:p>
          <a:p>
            <a:r>
              <a:rPr lang="en-GB" b="1" dirty="0"/>
              <a:t>Potential benefit</a:t>
            </a:r>
          </a:p>
          <a:p>
            <a:r>
              <a:rPr lang="en-GB" dirty="0"/>
              <a:t>It often provides:</a:t>
            </a:r>
          </a:p>
          <a:p>
            <a:pPr lvl="1"/>
            <a:r>
              <a:rPr lang="en-GB" dirty="0"/>
              <a:t>better training stability; </a:t>
            </a:r>
          </a:p>
          <a:p>
            <a:pPr lvl="1"/>
            <a:r>
              <a:rPr lang="en-GB" dirty="0"/>
              <a:t>stronger long-range dependency modelling; </a:t>
            </a:r>
          </a:p>
          <a:p>
            <a:pPr lvl="1"/>
            <a:r>
              <a:rPr lang="en-GB" dirty="0"/>
              <a:t>more flexible memory control. </a:t>
            </a:r>
          </a:p>
          <a:p>
            <a:r>
              <a:rPr lang="en-GB" b="1" dirty="0"/>
              <a:t>Engineering question</a:t>
            </a:r>
          </a:p>
          <a:p>
            <a:pPr lvl="1"/>
            <a:r>
              <a:rPr lang="en-GB" dirty="0"/>
              <a:t>Does the improvement in predictive performance justify the additional computational cost?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582659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/>
          <p:nvPr/>
        </p:nvSpPr>
        <p:spPr>
          <a:xfrm>
            <a:off x="658440" y="384120"/>
            <a:ext cx="9417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101828"/>
                </a:solidFill>
                <a:effectLst/>
                <a:uFillTx/>
                <a:latin typeface="Aptos Display"/>
                <a:ea typeface="Aptos Display"/>
              </a:rPr>
              <a:t>LSTM is recurrent but </a:t>
            </a:r>
            <a:r>
              <a:rPr lang="en-US" sz="2800" b="1" u="none" strike="noStrike" dirty="0">
                <a:solidFill>
                  <a:srgbClr val="101828"/>
                </a:solidFill>
                <a:effectLst/>
                <a:highlight>
                  <a:srgbClr val="FFFF00"/>
                </a:highlight>
                <a:uFillTx/>
                <a:latin typeface="Aptos Display"/>
                <a:ea typeface="Aptos Display"/>
              </a:rPr>
              <a:t>more expensive per step</a:t>
            </a:r>
            <a:endParaRPr lang="it-IT" sz="280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676800" y="932760"/>
            <a:ext cx="9509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 dirty="0">
                <a:solidFill>
                  <a:srgbClr val="475467"/>
                </a:solidFill>
                <a:effectLst/>
                <a:highlight>
                  <a:srgbClr val="FFFF00"/>
                </a:highlight>
                <a:uFillTx/>
                <a:latin typeface="Aptos"/>
              </a:rPr>
              <a:t>The same LSTM cell is reused, but each cell contains several transformations.</a:t>
            </a:r>
            <a:endParaRPr lang="it-IT" sz="1450" b="1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</a:endParaRPr>
          </a:p>
        </p:txBody>
      </p:sp>
      <p:sp>
        <p:nvSpPr>
          <p:cNvPr id="301" name="Text 2"/>
          <p:cNvSpPr/>
          <p:nvPr/>
        </p:nvSpPr>
        <p:spPr>
          <a:xfrm>
            <a:off x="914400" y="2286000"/>
            <a:ext cx="804240" cy="50256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LSTM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3"/>
          <p:cNvSpPr/>
          <p:nvPr/>
        </p:nvSpPr>
        <p:spPr>
          <a:xfrm>
            <a:off x="914400" y="2926080"/>
            <a:ext cx="804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x[1]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"/>
          <p:cNvSpPr/>
          <p:nvPr/>
        </p:nvSpPr>
        <p:spPr>
          <a:xfrm>
            <a:off x="1719000" y="2541960"/>
            <a:ext cx="338400" cy="360"/>
          </a:xfrm>
          <a:prstGeom prst="line">
            <a:avLst/>
          </a:prstGeom>
          <a:ln w="1778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5"/>
          <p:cNvSpPr/>
          <p:nvPr/>
        </p:nvSpPr>
        <p:spPr>
          <a:xfrm>
            <a:off x="2057400" y="2286000"/>
            <a:ext cx="804240" cy="50256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LSTM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6"/>
          <p:cNvSpPr/>
          <p:nvPr/>
        </p:nvSpPr>
        <p:spPr>
          <a:xfrm>
            <a:off x="2057400" y="2926080"/>
            <a:ext cx="804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x[2]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7"/>
          <p:cNvSpPr/>
          <p:nvPr/>
        </p:nvSpPr>
        <p:spPr>
          <a:xfrm>
            <a:off x="2862000" y="2541960"/>
            <a:ext cx="338400" cy="360"/>
          </a:xfrm>
          <a:prstGeom prst="line">
            <a:avLst/>
          </a:prstGeom>
          <a:ln w="1778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8"/>
          <p:cNvSpPr/>
          <p:nvPr/>
        </p:nvSpPr>
        <p:spPr>
          <a:xfrm>
            <a:off x="3200400" y="2286000"/>
            <a:ext cx="804240" cy="50256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LSTM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9"/>
          <p:cNvSpPr/>
          <p:nvPr/>
        </p:nvSpPr>
        <p:spPr>
          <a:xfrm>
            <a:off x="3200400" y="2926080"/>
            <a:ext cx="804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x[3]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0"/>
          <p:cNvSpPr/>
          <p:nvPr/>
        </p:nvSpPr>
        <p:spPr>
          <a:xfrm>
            <a:off x="4005000" y="2541960"/>
            <a:ext cx="338400" cy="360"/>
          </a:xfrm>
          <a:prstGeom prst="line">
            <a:avLst/>
          </a:prstGeom>
          <a:ln w="1778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1"/>
          <p:cNvSpPr/>
          <p:nvPr/>
        </p:nvSpPr>
        <p:spPr>
          <a:xfrm>
            <a:off x="4343400" y="2286000"/>
            <a:ext cx="804240" cy="50256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LSTM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2"/>
          <p:cNvSpPr/>
          <p:nvPr/>
        </p:nvSpPr>
        <p:spPr>
          <a:xfrm>
            <a:off x="4343400" y="2926080"/>
            <a:ext cx="804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x[4]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3"/>
          <p:cNvSpPr/>
          <p:nvPr/>
        </p:nvSpPr>
        <p:spPr>
          <a:xfrm>
            <a:off x="5148000" y="2541960"/>
            <a:ext cx="338400" cy="360"/>
          </a:xfrm>
          <a:prstGeom prst="line">
            <a:avLst/>
          </a:prstGeom>
          <a:ln w="17780">
            <a:solidFill>
              <a:srgbClr val="65A30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4"/>
          <p:cNvSpPr/>
          <p:nvPr/>
        </p:nvSpPr>
        <p:spPr>
          <a:xfrm>
            <a:off x="5486400" y="2286000"/>
            <a:ext cx="804240" cy="502560"/>
          </a:xfrm>
          <a:prstGeom prst="rect">
            <a:avLst/>
          </a:prstGeom>
          <a:solidFill>
            <a:srgbClr val="ECFCCB"/>
          </a:solidFill>
          <a:ln w="12700">
            <a:solidFill>
              <a:srgbClr val="65A3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LSTM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5"/>
          <p:cNvSpPr/>
          <p:nvPr/>
        </p:nvSpPr>
        <p:spPr>
          <a:xfrm>
            <a:off x="5486400" y="2926080"/>
            <a:ext cx="804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467"/>
                </a:solidFill>
                <a:effectLst/>
                <a:uFillTx/>
                <a:latin typeface="Aptos"/>
              </a:rPr>
              <a:t>x[5]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6"/>
          <p:cNvSpPr/>
          <p:nvPr/>
        </p:nvSpPr>
        <p:spPr>
          <a:xfrm>
            <a:off x="1463040" y="1691640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5A30D"/>
                </a:solidFill>
                <a:effectLst/>
                <a:uFillTx/>
                <a:latin typeface="Aptos"/>
              </a:rPr>
              <a:t>same weights at every time step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7"/>
          <p:cNvSpPr/>
          <p:nvPr/>
        </p:nvSpPr>
        <p:spPr>
          <a:xfrm>
            <a:off x="6446520" y="1508760"/>
            <a:ext cx="3474360" cy="3382920"/>
          </a:xfrm>
          <a:prstGeom prst="roundRect">
            <a:avLst>
              <a:gd name="adj" fmla="val 2162"/>
            </a:avLst>
          </a:prstGeom>
          <a:solidFill>
            <a:srgbClr val="F2F4F7"/>
          </a:solidFill>
          <a:ln w="12700">
            <a:solidFill>
              <a:srgbClr val="E4E7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8"/>
          <p:cNvSpPr/>
          <p:nvPr/>
        </p:nvSpPr>
        <p:spPr>
          <a:xfrm>
            <a:off x="6720840" y="17830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Approximate cell complexity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9"/>
          <p:cNvSpPr/>
          <p:nvPr/>
        </p:nvSpPr>
        <p:spPr>
          <a:xfrm>
            <a:off x="6903720" y="2331720"/>
            <a:ext cx="2559960" cy="566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SimpleRNN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one main transformation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0"/>
          <p:cNvSpPr/>
          <p:nvPr/>
        </p:nvSpPr>
        <p:spPr>
          <a:xfrm>
            <a:off x="6903720" y="3246120"/>
            <a:ext cx="2559960" cy="56664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LSTM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1828"/>
                </a:solidFill>
                <a:effectLst/>
                <a:uFillTx/>
                <a:latin typeface="Aptos"/>
              </a:rPr>
              <a:t>four related transformations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1"/>
          <p:cNvSpPr/>
          <p:nvPr/>
        </p:nvSpPr>
        <p:spPr>
          <a:xfrm>
            <a:off x="6903720" y="38862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97316"/>
                </a:solidFill>
                <a:effectLst/>
                <a:uFillTx/>
                <a:latin typeface="Aptos"/>
              </a:rPr>
              <a:t>forget + input + candidate + output</a:t>
            </a: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2"/>
          <p:cNvSpPr/>
          <p:nvPr/>
        </p:nvSpPr>
        <p:spPr>
          <a:xfrm>
            <a:off x="841320" y="6053400"/>
            <a:ext cx="985680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 dirty="0">
                <a:solidFill>
                  <a:srgbClr val="101828"/>
                </a:solidFill>
                <a:effectLst/>
                <a:uFillTx/>
                <a:latin typeface="Aptos"/>
              </a:rPr>
              <a:t>The engineering question is whether the memory benefit justifies the additional computation.</a:t>
            </a:r>
            <a:endParaRPr lang="it-IT" sz="135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91D79C-6F4B-BED4-4687-D25372B4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LSTM output structures remain the same as for </a:t>
            </a:r>
            <a:r>
              <a:rPr lang="en-GB" dirty="0" err="1"/>
              <a:t>SimpleRNN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4E6883-3A81-475E-9002-DEB4B07907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418666" cy="4383086"/>
          </a:xfrm>
        </p:spPr>
        <p:txBody>
          <a:bodyPr>
            <a:normAutofit fontScale="85000" lnSpcReduction="2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Changing the recurrent cell does not change the fundamental task structures.</a:t>
            </a:r>
          </a:p>
          <a:p>
            <a:r>
              <a:rPr lang="en-GB" b="1" dirty="0"/>
              <a:t>Sequence-to-vector</a:t>
            </a:r>
          </a:p>
          <a:p>
            <a:r>
              <a:rPr lang="en-GB" dirty="0"/>
              <a:t>input sequence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LSTM states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final h[L]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classification / regression / forecasting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D71752-E60B-ACB4-47A2-7F34820FD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2995" y="2159002"/>
            <a:ext cx="5425630" cy="4184648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Sequence-to-sequence</a:t>
            </a:r>
          </a:p>
          <a:p>
            <a:r>
              <a:rPr lang="en-GB" dirty="0"/>
              <a:t>h[1] → output[1]</a:t>
            </a:r>
          </a:p>
          <a:p>
            <a:r>
              <a:rPr lang="en-GB" dirty="0"/>
              <a:t>h[2] → output[2]</a:t>
            </a:r>
          </a:p>
          <a:p>
            <a:r>
              <a:rPr lang="en-GB" dirty="0"/>
              <a:t>...</a:t>
            </a:r>
          </a:p>
          <a:p>
            <a:r>
              <a:rPr lang="en-GB" dirty="0"/>
              <a:t>h[L] → output[L]</a:t>
            </a:r>
          </a:p>
          <a:p>
            <a:r>
              <a:rPr lang="en-GB" b="1" dirty="0"/>
              <a:t>Multi-horizon forecasting</a:t>
            </a:r>
          </a:p>
          <a:p>
            <a:r>
              <a:rPr lang="en-GB" dirty="0"/>
              <a:t>final LSTM representation</a:t>
            </a:r>
          </a:p>
          <a:p>
            <a:r>
              <a:rPr lang="en-GB" dirty="0"/>
              <a:t>       ↓</a:t>
            </a:r>
          </a:p>
          <a:p>
            <a:r>
              <a:rPr lang="en-GB" dirty="0"/>
              <a:t>[</a:t>
            </a:r>
            <a:r>
              <a:rPr lang="en-GB" dirty="0" err="1"/>
              <a:t>y_hat</a:t>
            </a:r>
            <a:r>
              <a:rPr lang="en-GB" dirty="0"/>
              <a:t>[t+1], ..., </a:t>
            </a:r>
            <a:r>
              <a:rPr lang="en-GB" dirty="0" err="1"/>
              <a:t>y_hat</a:t>
            </a:r>
            <a:r>
              <a:rPr lang="en-GB" dirty="0"/>
              <a:t>[</a:t>
            </a:r>
            <a:r>
              <a:rPr lang="en-GB" dirty="0" err="1"/>
              <a:t>t+H</a:t>
            </a:r>
            <a:r>
              <a:rPr lang="en-GB" dirty="0"/>
              <a:t>]]</a:t>
            </a:r>
          </a:p>
          <a:p>
            <a:endParaRPr lang="en-GB" dirty="0"/>
          </a:p>
          <a:p>
            <a:r>
              <a:rPr lang="en-GB" dirty="0" err="1">
                <a:highlight>
                  <a:srgbClr val="FFFF00"/>
                </a:highlight>
              </a:rPr>
              <a:t>SimpleRNN</a:t>
            </a:r>
            <a:r>
              <a:rPr lang="en-GB" dirty="0">
                <a:highlight>
                  <a:srgbClr val="FFFF00"/>
                </a:highlight>
              </a:rPr>
              <a:t>, LSTM and GRU differ mainly in </a:t>
            </a:r>
            <a:r>
              <a:rPr lang="en-GB" b="1" dirty="0">
                <a:highlight>
                  <a:srgbClr val="FFFF00"/>
                </a:highlight>
              </a:rPr>
              <a:t>how the recurrent state is updated</a:t>
            </a:r>
            <a:r>
              <a:rPr lang="en-GB" dirty="0">
                <a:highlight>
                  <a:srgbClr val="FFFF00"/>
                </a:highlight>
              </a:rPr>
              <a:t>.</a:t>
            </a:r>
          </a:p>
          <a:p>
            <a:r>
              <a:rPr lang="en-GB" b="1" dirty="0">
                <a:highlight>
                  <a:srgbClr val="FFFF00"/>
                </a:highlight>
              </a:rPr>
              <a:t>The output structure is determined by the prediction problem.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052378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3900AB-0510-99D9-520D-3311F318D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LSTM does and does not solve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1109B2-A006-A6C4-9739-7DDB0E8E2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418666" cy="4478336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LSTM helps with</a:t>
            </a:r>
          </a:p>
          <a:p>
            <a:pPr lvl="1"/>
            <a:r>
              <a:rPr lang="en-GB" dirty="0"/>
              <a:t>vanishing-gradient problems; </a:t>
            </a:r>
          </a:p>
          <a:p>
            <a:pPr lvl="1"/>
            <a:r>
              <a:rPr lang="en-GB" dirty="0"/>
              <a:t>selective long-term memory; </a:t>
            </a:r>
          </a:p>
          <a:p>
            <a:pPr lvl="2"/>
            <a:r>
              <a:rPr lang="en-GB" dirty="0"/>
              <a:t>retaining important information; </a:t>
            </a:r>
          </a:p>
          <a:p>
            <a:pPr lvl="2"/>
            <a:r>
              <a:rPr lang="en-GB" dirty="0"/>
              <a:t>discarding irrelevant history. </a:t>
            </a:r>
          </a:p>
          <a:p>
            <a:endParaRPr lang="en-GB" b="1" dirty="0"/>
          </a:p>
          <a:p>
            <a:r>
              <a:rPr lang="en-GB" b="1" dirty="0"/>
              <a:t>LSTM does not address: (model-</a:t>
            </a:r>
            <a:r>
              <a:rPr lang="en-GB" b="1" dirty="0" err="1"/>
              <a:t>indep</a:t>
            </a:r>
            <a:r>
              <a:rPr lang="en-GB" b="1" dirty="0"/>
              <a:t> aspects)</a:t>
            </a:r>
          </a:p>
          <a:p>
            <a:pPr lvl="1"/>
            <a:r>
              <a:rPr lang="en-GB" dirty="0"/>
              <a:t>poor train/test splitting; </a:t>
            </a:r>
          </a:p>
          <a:p>
            <a:pPr lvl="1"/>
            <a:r>
              <a:rPr lang="en-GB" dirty="0"/>
              <a:t>leakage; </a:t>
            </a:r>
          </a:p>
          <a:p>
            <a:pPr lvl="1"/>
            <a:r>
              <a:rPr lang="en-GB" dirty="0"/>
              <a:t>inappropriate window length; </a:t>
            </a:r>
          </a:p>
          <a:p>
            <a:pPr lvl="1"/>
            <a:r>
              <a:rPr lang="en-GB" dirty="0"/>
              <a:t>irrelevant input variables; </a:t>
            </a:r>
          </a:p>
          <a:p>
            <a:pPr lvl="1"/>
            <a:r>
              <a:rPr lang="en-GB" dirty="0"/>
              <a:t>inadequate training data; </a:t>
            </a:r>
          </a:p>
          <a:p>
            <a:pPr lvl="1"/>
            <a:r>
              <a:rPr lang="en-GB" dirty="0"/>
              <a:t>distribution shift; </a:t>
            </a:r>
          </a:p>
          <a:p>
            <a:pPr lvl="1"/>
            <a:r>
              <a:rPr lang="en-GB" dirty="0"/>
              <a:t>badly chosen loss functions.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B31595A-FAF5-3325-DD2E-81CBCB978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9195" y="2160589"/>
            <a:ext cx="5197030" cy="4478336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It also remains sequential</a:t>
            </a:r>
          </a:p>
          <a:p>
            <a:r>
              <a:rPr lang="en-GB" dirty="0"/>
              <a:t>To compute h[t] the model requires h[t−1]</a:t>
            </a:r>
          </a:p>
          <a:p>
            <a:r>
              <a:rPr lang="en-GB" dirty="0"/>
              <a:t>Therefore recurrent processing </a:t>
            </a:r>
            <a:r>
              <a:rPr lang="en-GB" b="1" dirty="0"/>
              <a:t>has </a:t>
            </a:r>
            <a:r>
              <a:rPr lang="en-GB" b="1" dirty="0">
                <a:highlight>
                  <a:srgbClr val="FFFF00"/>
                </a:highlight>
              </a:rPr>
              <a:t>limited parallelism</a:t>
            </a:r>
            <a:r>
              <a:rPr lang="en-GB" b="1" dirty="0"/>
              <a:t> across time steps.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Can we obtain gated recurrence with a somewhat simpler architecture?</a:t>
            </a:r>
          </a:p>
          <a:p>
            <a:r>
              <a:rPr lang="en-GB" dirty="0"/>
              <a:t>This leads to the </a:t>
            </a:r>
            <a:r>
              <a:rPr lang="en-GB" b="1" dirty="0"/>
              <a:t>Gated Recurrent Unit — GRU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446030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C2DF4589-E756-3730-0258-97C741DC5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4.G — Gated Recurrent Unit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9403F5B-3D00-8A94-2CFC-49C75B181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34862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2038CA-FE52-F15C-C964-A6F589024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GRU: a simpler gated recurrent architecture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3ED242-B73D-1EE3-59E1-6CC3A8EB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Gated Recurrent Unit, or </a:t>
            </a:r>
            <a:r>
              <a:rPr lang="en-GB" b="1" dirty="0"/>
              <a:t>GRU</a:t>
            </a:r>
            <a:r>
              <a:rPr lang="en-GB" dirty="0"/>
              <a:t>, is another recurrent architecture designed to improve learning over long temporal dependencies.</a:t>
            </a:r>
          </a:p>
          <a:p>
            <a:r>
              <a:rPr lang="en-GB" dirty="0"/>
              <a:t>Like the LSTM, it uses gates to control information flow.</a:t>
            </a:r>
          </a:p>
          <a:p>
            <a:r>
              <a:rPr lang="en-GB" dirty="0"/>
              <a:t>However, the GRU is structurally simpler.</a:t>
            </a:r>
          </a:p>
          <a:p>
            <a:r>
              <a:rPr lang="en-GB" b="1" dirty="0">
                <a:highlight>
                  <a:srgbClr val="FFFF00"/>
                </a:highlight>
              </a:rPr>
              <a:t>Main difference from LSTM</a:t>
            </a:r>
          </a:p>
          <a:p>
            <a:r>
              <a:rPr lang="en-GB" dirty="0"/>
              <a:t>The LSTM propagates:</a:t>
            </a:r>
          </a:p>
          <a:p>
            <a:pPr lvl="1"/>
            <a:r>
              <a:rPr lang="en-GB" dirty="0"/>
              <a:t>hidden state h[t]; </a:t>
            </a:r>
          </a:p>
          <a:p>
            <a:pPr lvl="1"/>
            <a:r>
              <a:rPr lang="en-GB" dirty="0"/>
              <a:t>cell state c[t]. </a:t>
            </a:r>
          </a:p>
          <a:p>
            <a:r>
              <a:rPr lang="en-GB" dirty="0"/>
              <a:t>The GRU propagates only one recurrent state:</a:t>
            </a:r>
          </a:p>
          <a:p>
            <a:pPr lvl="1"/>
            <a:r>
              <a:rPr lang="en-GB" dirty="0"/>
              <a:t>h[t]	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841937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35448-0AE0-D602-44F6-704E51BF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84B673-CAE0-74AA-3CDC-93E877F96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GRU: a simpler gated recurrent architecture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864B43-F24C-82EC-E73F-B78B5B74C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Therefore</a:t>
            </a:r>
          </a:p>
          <a:p>
            <a:r>
              <a:rPr lang="en-GB" dirty="0"/>
              <a:t>The GRU has:</a:t>
            </a:r>
          </a:p>
          <a:p>
            <a:pPr lvl="1"/>
            <a:r>
              <a:rPr lang="en-GB" dirty="0"/>
              <a:t>no separate cell state; </a:t>
            </a:r>
          </a:p>
          <a:p>
            <a:pPr lvl="1"/>
            <a:r>
              <a:rPr lang="en-GB" dirty="0"/>
              <a:t>fewer gates; </a:t>
            </a:r>
          </a:p>
          <a:p>
            <a:pPr lvl="1"/>
            <a:r>
              <a:rPr lang="en-GB" dirty="0"/>
              <a:t>fewer internal transformations. </a:t>
            </a:r>
          </a:p>
          <a:p>
            <a:r>
              <a:rPr lang="en-GB" b="1" dirty="0"/>
              <a:t>Main idea</a:t>
            </a:r>
          </a:p>
          <a:p>
            <a:r>
              <a:rPr lang="en-GB" dirty="0"/>
              <a:t>At every time step, the GRU decides:</a:t>
            </a:r>
          </a:p>
          <a:p>
            <a:pPr lvl="1"/>
            <a:r>
              <a:rPr lang="en-GB" dirty="0"/>
              <a:t>how much previous state should be preserved; </a:t>
            </a:r>
          </a:p>
          <a:p>
            <a:pPr lvl="1"/>
            <a:r>
              <a:rPr lang="en-GB" dirty="0"/>
              <a:t>how much new information should replace it. </a:t>
            </a:r>
          </a:p>
          <a:p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GRU provides gated memory without maintaining a separate cell state.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963657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GRU vs LSTM: state interface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GRU keeps gated memory in a single recurrent state.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51560" y="2743200"/>
            <a:ext cx="178308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51560" y="3657600"/>
            <a:ext cx="178308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051560" y="4572000"/>
            <a:ext cx="1783080" cy="0"/>
          </a:xfrm>
          <a:prstGeom prst="line">
            <a:avLst/>
          </a:prstGeom>
          <a:noFill/>
          <a:ln w="2794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983480" y="2926080"/>
            <a:ext cx="150876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983480" y="4343400"/>
            <a:ext cx="1508760" cy="0"/>
          </a:xfrm>
          <a:prstGeom prst="line">
            <a:avLst/>
          </a:prstGeom>
          <a:noFill/>
          <a:ln w="2794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94944" y="2523744"/>
            <a:ext cx="80467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x[t]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94944" y="3438144"/>
            <a:ext cx="80467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h[t−1]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94944" y="4352544"/>
            <a:ext cx="80467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c[t−1]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80360" y="2606040"/>
            <a:ext cx="2148840" cy="2057400"/>
          </a:xfrm>
          <a:prstGeom prst="roundRect">
            <a:avLst>
              <a:gd name="adj" fmla="val 3556"/>
            </a:avLst>
          </a:prstGeom>
          <a:solidFill>
            <a:srgbClr val="E8F6D0"/>
          </a:solidFill>
          <a:ln w="1524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935224" y="2660904"/>
            <a:ext cx="2039112" cy="1947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LSTM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92240" y="265176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547104" y="2706624"/>
            <a:ext cx="89611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406908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547104" y="4123944"/>
            <a:ext cx="89611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c[t]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80760" y="32735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hidden / exposed state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0" y="4690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B308"/>
                </a:solidFill>
              </a:rPr>
              <a:t>cell / internal memory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51560" y="1645920"/>
            <a:ext cx="178308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051560" y="2057400"/>
            <a:ext cx="178308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983480" y="1847088"/>
            <a:ext cx="150876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40080" y="141732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94944" y="1472184"/>
            <a:ext cx="80467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x[t]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187452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94944" y="1929384"/>
            <a:ext cx="80467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h[t−1]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880360" y="13716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CCFBF1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2935224" y="1426464"/>
            <a:ext cx="2039112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492240" y="1572768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547104" y="1627632"/>
            <a:ext cx="89611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" y="5715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No separate cell state: </a:t>
            </a:r>
            <a:r>
              <a:rPr lang="en-US" sz="1400" b="1" dirty="0">
                <a:solidFill>
                  <a:srgbClr val="111827"/>
                </a:solidFill>
                <a:highlight>
                  <a:srgbClr val="FFFF00"/>
                </a:highlight>
              </a:rPr>
              <a:t>h[t] is both recurrent memory and exposed representation.</a:t>
            </a:r>
            <a:endParaRPr lang="en-US" sz="14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DEEF95-DF33-4A3D-E869-E30ABB35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recurrent state in a GRU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F0A4C5-8F7D-8CBD-585F-4E17141C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990166" cy="388077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At time t, the GRU receives:</a:t>
            </a:r>
          </a:p>
          <a:p>
            <a:pPr lvl="1"/>
            <a:r>
              <a:rPr lang="en-GB" dirty="0"/>
              <a:t>current input x[t]; </a:t>
            </a:r>
          </a:p>
          <a:p>
            <a:pPr lvl="1"/>
            <a:r>
              <a:rPr lang="en-GB" dirty="0"/>
              <a:t>previous hidden state h[t−1]. </a:t>
            </a:r>
          </a:p>
          <a:p>
            <a:r>
              <a:rPr lang="en-GB" dirty="0"/>
              <a:t>It produces:</a:t>
            </a:r>
          </a:p>
          <a:p>
            <a:pPr lvl="1"/>
            <a:r>
              <a:rPr lang="en-GB" dirty="0"/>
              <a:t>h[t]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x[t]</a:t>
            </a:r>
          </a:p>
          <a:p>
            <a:r>
              <a:rPr lang="en-GB" dirty="0"/>
              <a:t>   \</a:t>
            </a:r>
          </a:p>
          <a:p>
            <a:r>
              <a:rPr lang="en-GB" dirty="0"/>
              <a:t>    → GRU cell → h[t]</a:t>
            </a:r>
          </a:p>
          <a:p>
            <a:r>
              <a:rPr lang="en-GB" dirty="0"/>
              <a:t>   /</a:t>
            </a:r>
          </a:p>
          <a:p>
            <a:r>
              <a:rPr lang="en-GB" dirty="0"/>
              <a:t>h[t−1]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EFA7C56-C0CB-ADC6-297F-BB7F8BD5EB3E}"/>
              </a:ext>
            </a:extLst>
          </p:cNvPr>
          <p:cNvSpPr txBox="1"/>
          <p:nvPr/>
        </p:nvSpPr>
        <p:spPr>
          <a:xfrm>
            <a:off x="5053013" y="4393525"/>
            <a:ext cx="610552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The hidden state serves simultaneously as:</a:t>
            </a:r>
          </a:p>
          <a:p>
            <a:pPr lvl="1"/>
            <a:r>
              <a:rPr lang="en-GB" sz="1600" b="1" dirty="0"/>
              <a:t>recurrent memory; </a:t>
            </a:r>
          </a:p>
          <a:p>
            <a:pPr lvl="1"/>
            <a:r>
              <a:rPr lang="en-GB" sz="1600" b="1" dirty="0"/>
              <a:t>representation available to the output layer. </a:t>
            </a:r>
          </a:p>
        </p:txBody>
      </p:sp>
    </p:spTree>
    <p:extLst>
      <p:ext uri="{BB962C8B-B14F-4D97-AF65-F5344CB8AC3E}">
        <p14:creationId xmlns:p14="http://schemas.microsoft.com/office/powerpoint/2010/main" val="62757660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2681B-4066-37C3-2B2B-C1C3C240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98C1C1-8895-C4E2-7979-4C64EC60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recurrent state in a GRU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B502F6-2752-3E36-2011-43A10C6E4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Compare with LSTM</a:t>
            </a:r>
          </a:p>
          <a:p>
            <a:r>
              <a:rPr lang="en-GB" dirty="0"/>
              <a:t>LSTM:</a:t>
            </a:r>
          </a:p>
          <a:p>
            <a:r>
              <a:rPr lang="en-GB" dirty="0"/>
              <a:t>x[t], h[t−1], c[t−1]</a:t>
            </a:r>
          </a:p>
          <a:p>
            <a:r>
              <a:rPr lang="en-GB" dirty="0"/>
              <a:t>          ↓</a:t>
            </a:r>
          </a:p>
          <a:p>
            <a:r>
              <a:rPr lang="en-GB" dirty="0"/>
              <a:t>       LSTM</a:t>
            </a:r>
          </a:p>
          <a:p>
            <a:r>
              <a:rPr lang="en-GB" dirty="0"/>
              <a:t>          ↓</a:t>
            </a:r>
          </a:p>
          <a:p>
            <a:r>
              <a:rPr lang="en-GB" dirty="0"/>
              <a:t>      h[t], c[t]</a:t>
            </a:r>
          </a:p>
          <a:p>
            <a:r>
              <a:rPr lang="en-GB" dirty="0"/>
              <a:t>GRU:</a:t>
            </a:r>
          </a:p>
          <a:p>
            <a:r>
              <a:rPr lang="en-GB" dirty="0"/>
              <a:t>x[t], h[t−1]</a:t>
            </a:r>
          </a:p>
          <a:p>
            <a:r>
              <a:rPr lang="en-GB" dirty="0"/>
              <a:t>       ↓</a:t>
            </a:r>
          </a:p>
          <a:p>
            <a:r>
              <a:rPr lang="en-GB" dirty="0"/>
              <a:t>      GRU</a:t>
            </a:r>
          </a:p>
          <a:p>
            <a:r>
              <a:rPr lang="en-GB" dirty="0"/>
              <a:t>       ↓</a:t>
            </a:r>
          </a:p>
          <a:p>
            <a:r>
              <a:rPr lang="en-GB" dirty="0"/>
              <a:t>      h[t]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3F0E293-E178-D309-E377-FCFF41C4FB2D}"/>
              </a:ext>
            </a:extLst>
          </p:cNvPr>
          <p:cNvSpPr txBox="1"/>
          <p:nvPr/>
        </p:nvSpPr>
        <p:spPr>
          <a:xfrm>
            <a:off x="4205288" y="4033748"/>
            <a:ext cx="61055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C</a:t>
            </a:r>
            <a:r>
              <a:rPr lang="en-GB" sz="1800" b="1" dirty="0">
                <a:highlight>
                  <a:srgbClr val="FFFF00"/>
                </a:highlight>
              </a:rPr>
              <a:t>onsequence</a:t>
            </a:r>
          </a:p>
          <a:p>
            <a:r>
              <a:rPr lang="en-GB" sz="1800" dirty="0"/>
              <a:t>The GRU cell usually requires fewer parameters and less computation than an LSTM with the same hidden dimension.</a:t>
            </a:r>
          </a:p>
        </p:txBody>
      </p:sp>
    </p:spTree>
    <p:extLst>
      <p:ext uri="{BB962C8B-B14F-4D97-AF65-F5344CB8AC3E}">
        <p14:creationId xmlns:p14="http://schemas.microsoft.com/office/powerpoint/2010/main" val="2405602411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481B3C-9DAE-D69D-FF08-FB0195C0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GRU uses two gates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A44BFD-4B53-A860-E64C-2586F0D09F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6875991" cy="3880772"/>
          </a:xfrm>
        </p:spPr>
        <p:txBody>
          <a:bodyPr>
            <a:normAutofit fontScale="92500"/>
          </a:bodyPr>
          <a:lstStyle/>
          <a:p>
            <a:r>
              <a:rPr lang="en-GB" dirty="0"/>
              <a:t>The GRU typically contains two main gates:</a:t>
            </a:r>
          </a:p>
          <a:p>
            <a:pPr lvl="1"/>
            <a:r>
              <a:rPr lang="en-GB" b="1" dirty="0"/>
              <a:t>update gate</a:t>
            </a:r>
            <a:r>
              <a:rPr lang="en-GB" dirty="0"/>
              <a:t>; </a:t>
            </a:r>
          </a:p>
          <a:p>
            <a:pPr lvl="1"/>
            <a:r>
              <a:rPr lang="en-GB" b="1" dirty="0"/>
              <a:t>reset gate</a:t>
            </a:r>
            <a:r>
              <a:rPr lang="en-GB" dirty="0"/>
              <a:t>. </a:t>
            </a:r>
          </a:p>
          <a:p>
            <a:r>
              <a:rPr lang="en-GB" dirty="0"/>
              <a:t>Both are usually produced using a sigmoid function.</a:t>
            </a:r>
          </a:p>
          <a:p>
            <a:r>
              <a:rPr lang="en-GB" dirty="0"/>
              <a:t>Therefore their components are approximately between: 0 and 1</a:t>
            </a:r>
          </a:p>
          <a:p>
            <a:r>
              <a:rPr lang="en-GB" b="1" dirty="0">
                <a:highlight>
                  <a:srgbClr val="FFFF00"/>
                </a:highlight>
              </a:rPr>
              <a:t>Reset gate</a:t>
            </a:r>
          </a:p>
          <a:p>
            <a:pPr lvl="1"/>
            <a:r>
              <a:rPr lang="en-GB" dirty="0"/>
              <a:t>controls how much previous-state information is used to construct the candidate state</a:t>
            </a:r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Update gate</a:t>
            </a:r>
          </a:p>
          <a:p>
            <a:pPr lvl="1"/>
            <a:r>
              <a:rPr lang="en-GB" dirty="0"/>
              <a:t>controls how much of the </a:t>
            </a:r>
            <a:r>
              <a:rPr lang="en-GB" b="1" dirty="0"/>
              <a:t>previous state versus candidate state becomes the final new state</a:t>
            </a:r>
            <a:r>
              <a:rPr lang="en-GB" dirty="0"/>
              <a:t>. 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98B348E-2D25-7AD0-1E43-6884D9866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18870" y="2074864"/>
            <a:ext cx="4184034" cy="3880773"/>
          </a:xfrm>
        </p:spPr>
        <p:txBody>
          <a:bodyPr>
            <a:normAutofit fontScale="92500"/>
          </a:bodyPr>
          <a:lstStyle/>
          <a:p>
            <a:r>
              <a:rPr lang="en-GB" dirty="0"/>
              <a:t>The GRU does not separately ask:</a:t>
            </a:r>
          </a:p>
          <a:p>
            <a:pPr lvl="1"/>
            <a:r>
              <a:rPr lang="en-GB" dirty="0"/>
              <a:t>what should I forget? </a:t>
            </a:r>
          </a:p>
          <a:p>
            <a:pPr lvl="1"/>
            <a:r>
              <a:rPr lang="en-GB" dirty="0"/>
              <a:t>what should I write? </a:t>
            </a:r>
          </a:p>
          <a:p>
            <a:pPr lvl="1"/>
            <a:r>
              <a:rPr lang="en-GB" dirty="0"/>
              <a:t>what should I expose? </a:t>
            </a:r>
          </a:p>
          <a:p>
            <a:r>
              <a:rPr lang="en-GB" dirty="0"/>
              <a:t>Instead, </a:t>
            </a:r>
            <a:r>
              <a:rPr lang="en-GB" b="1" dirty="0"/>
              <a:t>some of these functions are combined into fewer mechanisms.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A63A7A4-AEC9-72EC-2E92-B678B759177B}"/>
              </a:ext>
            </a:extLst>
          </p:cNvPr>
          <p:cNvSpPr txBox="1"/>
          <p:nvPr/>
        </p:nvSpPr>
        <p:spPr>
          <a:xfrm>
            <a:off x="8385981" y="5851365"/>
            <a:ext cx="35169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Jump to the slide with the </a:t>
            </a:r>
            <a:r>
              <a:rPr lang="it-IT" b="1" dirty="0" err="1">
                <a:solidFill>
                  <a:srgbClr val="FF0000"/>
                </a:solidFill>
              </a:rPr>
              <a:t>cell</a:t>
            </a:r>
            <a:r>
              <a:rPr lang="it-IT" b="1" dirty="0">
                <a:solidFill>
                  <a:srgbClr val="FF0000"/>
                </a:solidFill>
              </a:rPr>
              <a:t> schema and </a:t>
            </a:r>
            <a:r>
              <a:rPr lang="it-IT" b="1" dirty="0" err="1">
                <a:solidFill>
                  <a:srgbClr val="FF0000"/>
                </a:solidFill>
              </a:rPr>
              <a:t>equations</a:t>
            </a:r>
            <a:r>
              <a:rPr lang="it-IT" b="1" dirty="0">
                <a:solidFill>
                  <a:srgbClr val="FF0000"/>
                </a:solidFill>
              </a:rPr>
              <a:t>, skip the </a:t>
            </a:r>
            <a:r>
              <a:rPr lang="it-IT" b="1" dirty="0" err="1">
                <a:solidFill>
                  <a:srgbClr val="FF0000"/>
                </a:solidFill>
              </a:rPr>
              <a:t>others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71373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GRU cell: two gates control state update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Update gate </a:t>
            </a:r>
            <a:r>
              <a:rPr lang="en-US" sz="1450" b="1" dirty="0">
                <a:solidFill>
                  <a:srgbClr val="475569"/>
                </a:solidFill>
              </a:rPr>
              <a:t>controls persistence</a:t>
            </a:r>
            <a:r>
              <a:rPr lang="en-US" sz="1450" dirty="0">
                <a:solidFill>
                  <a:srgbClr val="475569"/>
                </a:solidFill>
              </a:rPr>
              <a:t>; reset gate </a:t>
            </a:r>
            <a:r>
              <a:rPr lang="en-US" sz="1450" b="1" dirty="0">
                <a:solidFill>
                  <a:srgbClr val="475569"/>
                </a:solidFill>
              </a:rPr>
              <a:t>controls candidate construction.</a:t>
            </a:r>
            <a:endParaRPr lang="en-US" sz="1450" b="1" dirty="0"/>
          </a:p>
        </p:txBody>
      </p:sp>
      <p:sp>
        <p:nvSpPr>
          <p:cNvPr id="8" name="Shape 6"/>
          <p:cNvSpPr/>
          <p:nvPr/>
        </p:nvSpPr>
        <p:spPr>
          <a:xfrm>
            <a:off x="960120" y="2743200"/>
            <a:ext cx="14173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60120" y="3886200"/>
            <a:ext cx="141732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657600" y="3063240"/>
            <a:ext cx="3337560" cy="82296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 flipV="1">
            <a:off x="3747516" y="3823335"/>
            <a:ext cx="998220" cy="18288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 flipV="1">
            <a:off x="6336792" y="3337560"/>
            <a:ext cx="658368" cy="502920"/>
          </a:xfrm>
          <a:prstGeom prst="line">
            <a:avLst/>
          </a:prstGeom>
          <a:noFill/>
          <a:ln w="2794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183880" y="3337560"/>
            <a:ext cx="105156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48640" y="2487168"/>
            <a:ext cx="868680" cy="512064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03504" y="2542032"/>
            <a:ext cx="75895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x[t]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30168"/>
            <a:ext cx="868680" cy="51206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03504" y="3685032"/>
            <a:ext cx="75895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h[t−1]</a:t>
            </a:r>
            <a:endParaRPr lang="en-US" sz="1400" dirty="0"/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EAF6F355-B230-6AA4-B722-20854C101962}"/>
              </a:ext>
            </a:extLst>
          </p:cNvPr>
          <p:cNvGrpSpPr/>
          <p:nvPr/>
        </p:nvGrpSpPr>
        <p:grpSpPr>
          <a:xfrm>
            <a:off x="2414016" y="2487168"/>
            <a:ext cx="1325880" cy="868680"/>
            <a:chOff x="2414016" y="2487168"/>
            <a:chExt cx="1325880" cy="868680"/>
          </a:xfrm>
        </p:grpSpPr>
        <p:sp>
          <p:nvSpPr>
            <p:cNvPr id="18" name="Shape 16"/>
            <p:cNvSpPr/>
            <p:nvPr/>
          </p:nvSpPr>
          <p:spPr>
            <a:xfrm>
              <a:off x="2414016" y="2487168"/>
              <a:ext cx="1325880" cy="868680"/>
            </a:xfrm>
            <a:prstGeom prst="roundRect">
              <a:avLst>
                <a:gd name="adj" fmla="val 8421"/>
              </a:avLst>
            </a:prstGeom>
            <a:solidFill>
              <a:srgbClr val="EDE9FE"/>
            </a:solidFill>
            <a:ln w="1524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 17"/>
            <p:cNvSpPr/>
            <p:nvPr/>
          </p:nvSpPr>
          <p:spPr>
            <a:xfrm>
              <a:off x="2432304" y="2596896"/>
              <a:ext cx="1216152" cy="75895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Update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gate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z[t]</a:t>
              </a:r>
              <a:endParaRPr lang="en-US" sz="120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2377440" y="36118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CCFBF1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432304" y="3666744"/>
            <a:ext cx="121615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r[t]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73168" y="3575304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828032" y="3630168"/>
            <a:ext cx="1399032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h_tilde[t]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95160" y="283464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E8F6D0"/>
          </a:solidFill>
          <a:ln w="1524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050024" y="2889504"/>
            <a:ext cx="1216152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Update gate mixes old (h[t-1])</a:t>
            </a:r>
            <a:endParaRPr lang="en-US" sz="1300" dirty="0"/>
          </a:p>
          <a:p>
            <a:pPr algn="ctr"/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new (</a:t>
            </a:r>
            <a:r>
              <a:rPr lang="en-US" sz="1400" b="1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h_tilde</a:t>
            </a: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[t]</a:t>
            </a: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89720" y="306324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244584" y="3118104"/>
            <a:ext cx="89611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263640"/>
            <a:ext cx="8412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highlight>
                  <a:srgbClr val="FFFF00"/>
                </a:highlight>
              </a:rPr>
              <a:t>The GRU learns when to preserve the previous state and when to replace it with candidate information.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C3247E3D-B4E5-0563-84D3-5766CBCA6120}"/>
              </a:ext>
            </a:extLst>
          </p:cNvPr>
          <p:cNvSpPr/>
          <p:nvPr/>
        </p:nvSpPr>
        <p:spPr>
          <a:xfrm>
            <a:off x="1417320" y="2889503"/>
            <a:ext cx="950976" cy="923541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5BD2B396-9C3C-9976-B44C-1B2080967C33}"/>
              </a:ext>
            </a:extLst>
          </p:cNvPr>
          <p:cNvSpPr/>
          <p:nvPr/>
        </p:nvSpPr>
        <p:spPr>
          <a:xfrm flipV="1">
            <a:off x="1318641" y="2971800"/>
            <a:ext cx="1095375" cy="813435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55288E-7054-9048-250D-4FF99DB26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Candidate state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1A79C3-D968-DB9D-C161-A4FA47523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6704541" cy="4173536"/>
          </a:xfrm>
        </p:spPr>
        <p:txBody>
          <a:bodyPr>
            <a:normAutofit/>
          </a:bodyPr>
          <a:lstStyle/>
          <a:p>
            <a:r>
              <a:rPr lang="en-GB" dirty="0"/>
              <a:t>The GRU computes a candidate state, often denoted:</a:t>
            </a:r>
          </a:p>
          <a:p>
            <a:r>
              <a:rPr lang="en-GB" dirty="0" err="1"/>
              <a:t>h_tilde</a:t>
            </a:r>
            <a:r>
              <a:rPr lang="en-GB" dirty="0"/>
              <a:t>[t]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current input x[t] + selected previous state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candidate transformation</a:t>
            </a:r>
          </a:p>
          <a:p>
            <a:r>
              <a:rPr lang="en-GB" dirty="0"/>
              <a:t>        ↓</a:t>
            </a:r>
          </a:p>
          <a:p>
            <a:r>
              <a:rPr lang="en-GB" dirty="0" err="1"/>
              <a:t>h_tilde</a:t>
            </a:r>
            <a:r>
              <a:rPr lang="en-GB" dirty="0"/>
              <a:t>[t]</a:t>
            </a:r>
          </a:p>
          <a:p>
            <a:r>
              <a:rPr lang="en-GB" dirty="0"/>
              <a:t>A typical form is: </a:t>
            </a:r>
            <a:r>
              <a:rPr lang="en-GB" dirty="0" err="1"/>
              <a:t>h_tilde</a:t>
            </a:r>
            <a:r>
              <a:rPr lang="en-GB" dirty="0"/>
              <a:t>[t] = tanh(...)</a:t>
            </a:r>
          </a:p>
          <a:p>
            <a:r>
              <a:rPr lang="en-GB" dirty="0"/>
              <a:t>The previous state is first modulated by the reset gate.</a:t>
            </a:r>
          </a:p>
          <a:p>
            <a:endParaRPr lang="en-GB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961FBEB-F229-B51C-52AE-E3E75DA81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4095" y="2160588"/>
            <a:ext cx="4184034" cy="4316412"/>
          </a:xfrm>
        </p:spPr>
        <p:txBody>
          <a:bodyPr>
            <a:normAutofit/>
          </a:bodyPr>
          <a:lstStyle/>
          <a:p>
            <a:r>
              <a:rPr lang="en-GB" b="1" dirty="0"/>
              <a:t>Interpretation</a:t>
            </a:r>
          </a:p>
          <a:p>
            <a:r>
              <a:rPr lang="en-GB" dirty="0"/>
              <a:t>The candidate represents:</a:t>
            </a:r>
          </a:p>
          <a:p>
            <a:pPr lvl="1"/>
            <a:r>
              <a:rPr lang="en-GB" dirty="0"/>
              <a:t>What should the new state look like if we decide to update it?</a:t>
            </a:r>
          </a:p>
          <a:p>
            <a:r>
              <a:rPr lang="en-GB" dirty="0"/>
              <a:t>It combines:</a:t>
            </a:r>
          </a:p>
          <a:p>
            <a:pPr lvl="1"/>
            <a:r>
              <a:rPr lang="en-GB" dirty="0"/>
              <a:t>new input information; </a:t>
            </a:r>
          </a:p>
          <a:p>
            <a:pPr lvl="1"/>
            <a:r>
              <a:rPr lang="en-GB" dirty="0"/>
              <a:t>selected historical information.</a:t>
            </a:r>
          </a:p>
          <a:p>
            <a:endParaRPr lang="en-GB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FC793A7-03E2-3CAD-9573-EB2B18019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327" y="4927601"/>
            <a:ext cx="3520745" cy="1333616"/>
          </a:xfrm>
          <a:prstGeom prst="rect">
            <a:avLst/>
          </a:prstGeom>
        </p:spPr>
      </p:pic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FDAEBCAF-C690-1302-A722-46EA528F33B8}"/>
              </a:ext>
            </a:extLst>
          </p:cNvPr>
          <p:cNvCxnSpPr/>
          <p:nvPr/>
        </p:nvCxnSpPr>
        <p:spPr>
          <a:xfrm flipV="1">
            <a:off x="5286375" y="5210175"/>
            <a:ext cx="1952625" cy="390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A30F938-C6BF-9696-345E-ECAFB2E79D6F}"/>
              </a:ext>
            </a:extLst>
          </p:cNvPr>
          <p:cNvSpPr txBox="1"/>
          <p:nvPr/>
        </p:nvSpPr>
        <p:spPr>
          <a:xfrm>
            <a:off x="8393277" y="5449928"/>
            <a:ext cx="1857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Reset gate</a:t>
            </a:r>
            <a:endParaRPr lang="en-GB" sz="1400" dirty="0"/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2BC24108-C7F2-F66A-522D-F79958BD4F7C}"/>
              </a:ext>
            </a:extLst>
          </p:cNvPr>
          <p:cNvCxnSpPr/>
          <p:nvPr/>
        </p:nvCxnSpPr>
        <p:spPr>
          <a:xfrm flipH="1">
            <a:off x="8039100" y="5314950"/>
            <a:ext cx="1485900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30637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8204AF-C616-A336-9376-B12B2E0F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reset gate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4262F2-CCEF-D460-8282-AA5295A09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171016" cy="4525960"/>
          </a:xfrm>
        </p:spPr>
        <p:txBody>
          <a:bodyPr>
            <a:normAutofit fontScale="92500"/>
          </a:bodyPr>
          <a:lstStyle/>
          <a:p>
            <a:r>
              <a:rPr lang="en-GB" dirty="0"/>
              <a:t>The reset gate is usually denoted: r[t]</a:t>
            </a:r>
          </a:p>
          <a:p>
            <a:r>
              <a:rPr lang="en-GB" dirty="0"/>
              <a:t>It controls how strongly the previous state contributes when computing the candidate new state.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previous state h[t−1]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    reset gate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selected previous information</a:t>
            </a:r>
          </a:p>
          <a:p>
            <a:r>
              <a:rPr lang="en-GB" dirty="0"/>
              <a:t>        ↓</a:t>
            </a:r>
          </a:p>
          <a:p>
            <a:r>
              <a:rPr lang="en-GB" b="1" dirty="0"/>
              <a:t>candidate state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C207B64-D64B-8B55-F70A-3EB037891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160589"/>
            <a:ext cx="5816155" cy="4525961"/>
          </a:xfrm>
        </p:spPr>
        <p:txBody>
          <a:bodyPr>
            <a:normAutofit fontScale="92500"/>
          </a:bodyPr>
          <a:lstStyle/>
          <a:p>
            <a:r>
              <a:rPr lang="en-GB" b="1" dirty="0"/>
              <a:t>If the reset gate suppresses previous-state information</a:t>
            </a:r>
          </a:p>
          <a:p>
            <a:pPr lvl="1"/>
            <a:r>
              <a:rPr lang="en-GB" dirty="0"/>
              <a:t>The candidate can depend mainly on the current input.</a:t>
            </a:r>
          </a:p>
          <a:p>
            <a:pPr lvl="1"/>
            <a:r>
              <a:rPr lang="en-GB" dirty="0"/>
              <a:t>This is useful when:</a:t>
            </a:r>
          </a:p>
          <a:p>
            <a:pPr lvl="2"/>
            <a:r>
              <a:rPr lang="en-GB" dirty="0"/>
              <a:t>a new regime begins; </a:t>
            </a:r>
          </a:p>
          <a:p>
            <a:pPr lvl="2"/>
            <a:r>
              <a:rPr lang="en-GB" dirty="0"/>
              <a:t>previous context becomes irrelevant; </a:t>
            </a:r>
          </a:p>
          <a:p>
            <a:pPr lvl="2"/>
            <a:r>
              <a:rPr lang="en-GB" dirty="0"/>
              <a:t>the sequence contains a clear transition. </a:t>
            </a:r>
          </a:p>
          <a:p>
            <a:r>
              <a:rPr lang="en-GB" b="1" dirty="0"/>
              <a:t>If the reset gate preserves previous-state information</a:t>
            </a:r>
          </a:p>
          <a:p>
            <a:pPr lvl="1"/>
            <a:r>
              <a:rPr lang="en-GB" dirty="0"/>
              <a:t>The candidate can strongly depend on temporal context.</a:t>
            </a:r>
          </a:p>
          <a:p>
            <a:r>
              <a:rPr lang="en-GB" b="1" dirty="0"/>
              <a:t>Functional question</a:t>
            </a:r>
          </a:p>
          <a:p>
            <a:pPr lvl="1"/>
            <a:r>
              <a:rPr lang="en-GB" b="1" dirty="0"/>
              <a:t>Should the </a:t>
            </a:r>
            <a:r>
              <a:rPr lang="en-GB" b="1" dirty="0">
                <a:highlight>
                  <a:srgbClr val="FFFF00"/>
                </a:highlight>
              </a:rPr>
              <a:t>candidate state </a:t>
            </a:r>
            <a:r>
              <a:rPr lang="en-GB" b="1" dirty="0"/>
              <a:t>continue using the previous history, or partially reset it?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171317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Reset gate: how much </a:t>
            </a:r>
            <a:r>
              <a:rPr lang="en-US" sz="2800" b="1" dirty="0">
                <a:solidFill>
                  <a:srgbClr val="111827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previous history enters the candidate?</a:t>
            </a:r>
            <a:endParaRPr lang="en-US" sz="2800" dirty="0">
              <a:highlight>
                <a:srgbClr val="FFFF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r[t] decides whether the </a:t>
            </a:r>
            <a:r>
              <a:rPr lang="en-US" sz="1450" b="1" dirty="0">
                <a:solidFill>
                  <a:srgbClr val="475569"/>
                </a:solidFill>
              </a:rPr>
              <a:t>candidate state uses or ignores past context.</a:t>
            </a:r>
            <a:endParaRPr lang="en-US" sz="1450" b="1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69264" y="2798064"/>
            <a:ext cx="1444752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h[t−1]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63240" y="274320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118104" y="2798064"/>
            <a:ext cx="1216152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r[t]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4920" y="260604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CCFBF1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129784" y="2660904"/>
            <a:ext cx="1581912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4920" y="43434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129784" y="4398264"/>
            <a:ext cx="1581912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x[t]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06640" y="315468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461504" y="3209544"/>
            <a:ext cx="1581912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h_tilde[t]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87168" y="3154680"/>
            <a:ext cx="576072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370832" y="3154680"/>
            <a:ext cx="704088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766560" y="3154680"/>
            <a:ext cx="640080" cy="338328"/>
          </a:xfrm>
          <a:prstGeom prst="line">
            <a:avLst/>
          </a:prstGeom>
          <a:noFill/>
          <a:ln w="2794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 flipV="1">
            <a:off x="6766560" y="3648456"/>
            <a:ext cx="640080" cy="1088136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005840" y="146304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CCFBF1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042416" y="151790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</a:rPr>
              <a:t>near 0: reset context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146304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236976" y="1517904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75569"/>
                </a:solidFill>
              </a:rPr>
              <a:t>near 1: use context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" y="5623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highlight>
                  <a:srgbClr val="FFFF00"/>
                </a:highlight>
              </a:rPr>
              <a:t>The reset gate is useful when the sequence enters a new regime or previous context becomes irrelevant.</a:t>
            </a:r>
            <a:endParaRPr lang="en-US" sz="1400" dirty="0">
              <a:highlight>
                <a:srgbClr val="FFFF00"/>
              </a:highlight>
            </a:endParaRP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CB457DFB-CD31-2280-3A07-29F9451A6075}"/>
              </a:ext>
            </a:extLst>
          </p:cNvPr>
          <p:cNvCxnSpPr/>
          <p:nvPr/>
        </p:nvCxnSpPr>
        <p:spPr>
          <a:xfrm flipV="1">
            <a:off x="2487168" y="552450"/>
            <a:ext cx="2505456" cy="965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379F2B-21EE-9D64-EF53-2952CF18C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update gate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5EFE00-49F0-B726-8ADB-F456E04D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update gate is usually denoted: z[t]</a:t>
            </a:r>
          </a:p>
          <a:p>
            <a:r>
              <a:rPr lang="en-GB" dirty="0"/>
              <a:t>It is computed from:</a:t>
            </a:r>
          </a:p>
          <a:p>
            <a:pPr lvl="1"/>
            <a:r>
              <a:rPr lang="en-GB" dirty="0"/>
              <a:t>x[t]; </a:t>
            </a:r>
          </a:p>
          <a:p>
            <a:pPr lvl="1"/>
            <a:r>
              <a:rPr lang="en-GB" dirty="0"/>
              <a:t>h[t−1]. </a:t>
            </a:r>
          </a:p>
          <a:p>
            <a:r>
              <a:rPr lang="en-GB" dirty="0"/>
              <a:t>Conceptually:</a:t>
            </a:r>
          </a:p>
          <a:p>
            <a:pPr lvl="1"/>
            <a:r>
              <a:rPr lang="en-GB" dirty="0"/>
              <a:t>x[t]</a:t>
            </a:r>
          </a:p>
          <a:p>
            <a:pPr lvl="1"/>
            <a:r>
              <a:rPr lang="en-GB" dirty="0"/>
              <a:t>h[t−1]</a:t>
            </a:r>
          </a:p>
          <a:p>
            <a:pPr lvl="1"/>
            <a:r>
              <a:rPr lang="en-GB" dirty="0"/>
              <a:t>   ↓</a:t>
            </a:r>
          </a:p>
          <a:p>
            <a:pPr lvl="1"/>
            <a:r>
              <a:rPr lang="en-GB" dirty="0"/>
              <a:t>update gate</a:t>
            </a:r>
          </a:p>
          <a:p>
            <a:pPr lvl="1"/>
            <a:r>
              <a:rPr lang="en-GB" dirty="0"/>
              <a:t>   ↓</a:t>
            </a:r>
          </a:p>
          <a:p>
            <a:pPr lvl="1"/>
            <a:r>
              <a:rPr lang="en-GB" dirty="0"/>
              <a:t>z[t]</a:t>
            </a:r>
          </a:p>
          <a:p>
            <a:endParaRPr lang="en-GB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CB3D330-F042-361A-03B3-1D05DCE6DA81}"/>
              </a:ext>
            </a:extLst>
          </p:cNvPr>
          <p:cNvSpPr txBox="1"/>
          <p:nvPr/>
        </p:nvSpPr>
        <p:spPr>
          <a:xfrm>
            <a:off x="6019800" y="466725"/>
            <a:ext cx="47910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After computing the candidate state, the update gate controls how much of the previous state is retained and how much is replaced by the candidate</a:t>
            </a:r>
          </a:p>
        </p:txBody>
      </p:sp>
    </p:spTree>
    <p:extLst>
      <p:ext uri="{BB962C8B-B14F-4D97-AF65-F5344CB8AC3E}">
        <p14:creationId xmlns:p14="http://schemas.microsoft.com/office/powerpoint/2010/main" val="2411131468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308268-2370-EB8E-4819-557F4ED8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update gate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6C2A0F-0301-DA32-9003-F77E9F412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Functional question</a:t>
            </a:r>
          </a:p>
          <a:p>
            <a:r>
              <a:rPr lang="en-GB" dirty="0"/>
              <a:t>How much of the previous state should be retained, and how much should be replaced?</a:t>
            </a:r>
          </a:p>
          <a:p>
            <a:pPr lvl="1"/>
            <a:r>
              <a:rPr lang="en-GB" dirty="0"/>
              <a:t>If one component of z[t] is close to one end of its range, the model </a:t>
            </a:r>
            <a:r>
              <a:rPr lang="en-GB" dirty="0" err="1"/>
              <a:t>favors</a:t>
            </a:r>
            <a:r>
              <a:rPr lang="en-GB" dirty="0"/>
              <a:t> keeping more old-state information.</a:t>
            </a:r>
          </a:p>
          <a:p>
            <a:pPr lvl="1"/>
            <a:r>
              <a:rPr lang="en-GB" dirty="0"/>
              <a:t>At the other end, it </a:t>
            </a:r>
            <a:r>
              <a:rPr lang="en-GB" dirty="0" err="1"/>
              <a:t>favors</a:t>
            </a:r>
            <a:r>
              <a:rPr lang="en-GB" dirty="0"/>
              <a:t> incorporating more of the candidate state.</a:t>
            </a:r>
          </a:p>
          <a:p>
            <a:r>
              <a:rPr lang="en-GB" b="1" dirty="0"/>
              <a:t>Interpretation</a:t>
            </a:r>
          </a:p>
          <a:p>
            <a:r>
              <a:rPr lang="en-GB" dirty="0"/>
              <a:t>The update gate plays a role similar to a combination of:</a:t>
            </a:r>
          </a:p>
          <a:p>
            <a:pPr lvl="1"/>
            <a:r>
              <a:rPr lang="en-GB" dirty="0"/>
              <a:t>memory retention; </a:t>
            </a:r>
          </a:p>
          <a:p>
            <a:pPr lvl="1"/>
            <a:r>
              <a:rPr lang="en-GB" dirty="0"/>
              <a:t>memory writing. </a:t>
            </a:r>
          </a:p>
          <a:p>
            <a:endParaRPr lang="en-GB" dirty="0"/>
          </a:p>
          <a:p>
            <a:r>
              <a:rPr lang="en-GB" dirty="0"/>
              <a:t>Exact conventions can differ slightly across formulations, but the conceptual function remains the same:</a:t>
            </a:r>
          </a:p>
          <a:p>
            <a:pPr lvl="1"/>
            <a:r>
              <a:rPr lang="en-GB" dirty="0"/>
              <a:t>control the trade-off between old and new information.</a:t>
            </a:r>
          </a:p>
          <a:p>
            <a:endParaRPr lang="en-GB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5FC14E0-AB4F-A945-F1AB-BBA8FA4D7A77}"/>
              </a:ext>
            </a:extLst>
          </p:cNvPr>
          <p:cNvSpPr txBox="1"/>
          <p:nvPr/>
        </p:nvSpPr>
        <p:spPr>
          <a:xfrm>
            <a:off x="3371850" y="4324350"/>
            <a:ext cx="2381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 err="1"/>
              <a:t>These</a:t>
            </a:r>
            <a:r>
              <a:rPr lang="it-IT" sz="1100" dirty="0"/>
              <a:t> are </a:t>
            </a:r>
            <a:r>
              <a:rPr lang="it-IT" sz="1100" dirty="0" err="1"/>
              <a:t>two</a:t>
            </a:r>
            <a:r>
              <a:rPr lang="it-IT" sz="1100" dirty="0"/>
              <a:t> alternative </a:t>
            </a:r>
            <a:r>
              <a:rPr lang="it-IT" sz="1100" dirty="0" err="1"/>
              <a:t>choices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269816218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 gate: keep old state or write new state?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75569"/>
                </a:solidFill>
              </a:rPr>
              <a:t>z[t] controls the balance between h[t−1] and h_tilde[t].</a:t>
            </a:r>
            <a:endParaRPr lang="en-US" sz="1450" b="1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69264" y="1975104"/>
            <a:ext cx="1444752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h[t−1]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886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69264" y="3941064"/>
            <a:ext cx="1444752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h_tilde[t]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87168" y="2377440"/>
            <a:ext cx="2084832" cy="64008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 flipV="1">
            <a:off x="2487168" y="3291840"/>
            <a:ext cx="2084831" cy="1051560"/>
          </a:xfrm>
          <a:prstGeom prst="line">
            <a:avLst/>
          </a:prstGeom>
          <a:noFill/>
          <a:ln w="2794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572000" y="27432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E8F6D0"/>
          </a:solidFill>
          <a:ln w="1524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626864" y="2798064"/>
            <a:ext cx="162763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172968"/>
            <a:ext cx="1280160" cy="0"/>
          </a:xfrm>
          <a:prstGeom prst="line">
            <a:avLst/>
          </a:prstGeom>
          <a:noFill/>
          <a:ln w="27940">
            <a:solidFill>
              <a:srgbClr val="84B82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589520" y="27432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644384" y="2798064"/>
            <a:ext cx="121615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update gate z[t]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0120" y="1691640"/>
            <a:ext cx="7909560" cy="0"/>
          </a:xfrm>
          <a:prstGeom prst="line">
            <a:avLst/>
          </a:prstGeom>
          <a:noFill/>
          <a:ln w="889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960120" y="1691640"/>
            <a:ext cx="3246120" cy="0"/>
          </a:xfrm>
          <a:prstGeom prst="line">
            <a:avLst/>
          </a:prstGeom>
          <a:noFill/>
          <a:ln w="889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069080" y="1536192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40080" y="6263640"/>
            <a:ext cx="8412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Exact algebra may vary across references; conceptually, the update gate controls old-vs-new state mixing.</a:t>
            </a:r>
            <a:endParaRPr lang="en-US" sz="13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63A7D2-1C6C-EE0D-64CC-EED5D0F2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Updating the GRU hidden state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CDCD06-7AC7-D987-AB27-D28B46F8CC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final GRU state combines:</a:t>
            </a:r>
          </a:p>
          <a:p>
            <a:pPr lvl="1"/>
            <a:r>
              <a:rPr lang="en-GB" dirty="0"/>
              <a:t>previous state h[t−1]; </a:t>
            </a:r>
          </a:p>
          <a:p>
            <a:pPr lvl="1"/>
            <a:r>
              <a:rPr lang="en-GB" dirty="0"/>
              <a:t>candidate state </a:t>
            </a:r>
            <a:r>
              <a:rPr lang="en-GB" dirty="0" err="1"/>
              <a:t>h_tilde</a:t>
            </a:r>
            <a:r>
              <a:rPr lang="en-GB" dirty="0"/>
              <a:t>[t]. </a:t>
            </a:r>
          </a:p>
          <a:p>
            <a:r>
              <a:rPr lang="en-GB" dirty="0"/>
              <a:t>The update gate determines the mixture.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new state</a:t>
            </a:r>
          </a:p>
          <a:p>
            <a:r>
              <a:rPr lang="en-GB" dirty="0"/>
              <a:t>=</a:t>
            </a:r>
          </a:p>
          <a:p>
            <a:r>
              <a:rPr lang="en-GB" dirty="0"/>
              <a:t>retained previous state</a:t>
            </a:r>
          </a:p>
          <a:p>
            <a:r>
              <a:rPr lang="en-GB" dirty="0"/>
              <a:t>+</a:t>
            </a:r>
          </a:p>
          <a:p>
            <a:r>
              <a:rPr lang="en-GB" dirty="0"/>
              <a:t>selected candidate state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B9327F-C278-6F83-3C41-F0E59EE718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A common formulation is:</a:t>
            </a:r>
          </a:p>
          <a:p>
            <a:r>
              <a:rPr lang="en-GB" dirty="0"/>
              <a:t>h[t] = z[t] * h[t−1] + (1 − z[t]) * </a:t>
            </a:r>
            <a:r>
              <a:rPr lang="en-GB" dirty="0" err="1"/>
              <a:t>h_tilde</a:t>
            </a:r>
            <a:r>
              <a:rPr lang="en-GB" dirty="0"/>
              <a:t>[t]</a:t>
            </a:r>
          </a:p>
          <a:p>
            <a:pPr lvl="1"/>
            <a:r>
              <a:rPr lang="en-GB" dirty="0"/>
              <a:t>Some references reverse the role of z[t] and 1−z[t], but the principle is unchanged.</a:t>
            </a:r>
          </a:p>
          <a:p>
            <a:r>
              <a:rPr lang="en-GB" b="1" dirty="0"/>
              <a:t>Interpretation</a:t>
            </a:r>
          </a:p>
          <a:p>
            <a:r>
              <a:rPr lang="en-GB" dirty="0"/>
              <a:t>If the GRU decides that old information remains useful:</a:t>
            </a:r>
          </a:p>
          <a:p>
            <a:pPr lvl="1"/>
            <a:r>
              <a:rPr lang="en-GB" dirty="0"/>
              <a:t>h[t] ≈ h[t−1]</a:t>
            </a:r>
          </a:p>
          <a:p>
            <a:r>
              <a:rPr lang="en-GB" dirty="0"/>
              <a:t>If new information is more important:</a:t>
            </a:r>
          </a:p>
          <a:p>
            <a:pPr lvl="1"/>
            <a:r>
              <a:rPr lang="en-GB" dirty="0"/>
              <a:t>h[t] ≈ </a:t>
            </a:r>
            <a:r>
              <a:rPr lang="en-GB" dirty="0" err="1"/>
              <a:t>h_tilde</a:t>
            </a:r>
            <a:r>
              <a:rPr lang="en-GB" dirty="0"/>
              <a:t>[t]</a:t>
            </a:r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The update gate directly controls the persistence of the recurrent state.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416AEA6-2B12-4966-A134-827B33F22045}"/>
              </a:ext>
            </a:extLst>
          </p:cNvPr>
          <p:cNvSpPr txBox="1"/>
          <p:nvPr/>
        </p:nvSpPr>
        <p:spPr>
          <a:xfrm>
            <a:off x="6677025" y="1581150"/>
            <a:ext cx="1076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Update gate</a:t>
            </a:r>
            <a:endParaRPr lang="en-GB" sz="1200" dirty="0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D4EA0C70-DF26-F32A-EE10-CB82122276B6}"/>
              </a:ext>
            </a:extLst>
          </p:cNvPr>
          <p:cNvCxnSpPr/>
          <p:nvPr/>
        </p:nvCxnSpPr>
        <p:spPr>
          <a:xfrm flipH="1">
            <a:off x="6181725" y="1752600"/>
            <a:ext cx="361950" cy="714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88002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51B373-716A-0094-3320-9B7AF1741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Complete GRU update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3A77FA-BBF3-9167-5847-84CA94636A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342466" cy="4354511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At every time step, the GRU receives:</a:t>
            </a:r>
          </a:p>
          <a:p>
            <a:pPr lvl="0"/>
            <a:r>
              <a:rPr lang="en-GB" dirty="0"/>
              <a:t>x[t]; </a:t>
            </a:r>
          </a:p>
          <a:p>
            <a:pPr lvl="0"/>
            <a:r>
              <a:rPr lang="en-GB" dirty="0"/>
              <a:t>h[t−1]. </a:t>
            </a:r>
          </a:p>
          <a:p>
            <a:r>
              <a:rPr lang="en-GB" dirty="0"/>
              <a:t>It computes:</a:t>
            </a:r>
          </a:p>
          <a:p>
            <a:r>
              <a:rPr lang="en-GB" dirty="0"/>
              <a:t>z[t] = sigmoid(...)</a:t>
            </a:r>
          </a:p>
          <a:p>
            <a:r>
              <a:rPr lang="en-GB" dirty="0"/>
              <a:t>r[t] = sigmoid(...)</a:t>
            </a:r>
          </a:p>
          <a:p>
            <a:r>
              <a:rPr lang="en-GB" dirty="0"/>
              <a:t>Then the candidate state:</a:t>
            </a:r>
          </a:p>
          <a:p>
            <a:r>
              <a:rPr lang="en-GB" dirty="0" err="1"/>
              <a:t>h_tilde</a:t>
            </a:r>
            <a:r>
              <a:rPr lang="en-GB" dirty="0"/>
              <a:t>[t] = tanh(...)</a:t>
            </a:r>
          </a:p>
          <a:p>
            <a:r>
              <a:rPr lang="en-GB" dirty="0"/>
              <a:t>Finally:</a:t>
            </a:r>
          </a:p>
          <a:p>
            <a:r>
              <a:rPr lang="en-GB" dirty="0"/>
              <a:t>h[t] = combination of h[t−1] and </a:t>
            </a:r>
            <a:r>
              <a:rPr lang="en-GB" dirty="0" err="1"/>
              <a:t>h_tilde</a:t>
            </a:r>
            <a:r>
              <a:rPr lang="en-GB" dirty="0"/>
              <a:t>[t]</a:t>
            </a:r>
          </a:p>
          <a:p>
            <a:r>
              <a:rPr lang="en-GB" dirty="0"/>
              <a:t>controlled by z[t].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8A35DA8-07F8-8B30-AF8A-D33AECAB6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2995" y="2160588"/>
            <a:ext cx="5444680" cy="4354512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Functional interpretation</a:t>
            </a:r>
          </a:p>
          <a:p>
            <a:r>
              <a:rPr lang="en-GB" dirty="0"/>
              <a:t>z[t]</a:t>
            </a:r>
          </a:p>
          <a:p>
            <a:pPr lvl="1"/>
            <a:r>
              <a:rPr lang="en-GB" dirty="0"/>
              <a:t>How much should the state be updated?</a:t>
            </a:r>
          </a:p>
          <a:p>
            <a:r>
              <a:rPr lang="en-GB" dirty="0"/>
              <a:t>r[t]</a:t>
            </a:r>
          </a:p>
          <a:p>
            <a:pPr lvl="1"/>
            <a:r>
              <a:rPr lang="en-GB" dirty="0"/>
              <a:t>How much previous-state information should influence the candidate?</a:t>
            </a:r>
          </a:p>
          <a:p>
            <a:r>
              <a:rPr lang="en-GB" b="1" dirty="0"/>
              <a:t>Compared with LSTM</a:t>
            </a:r>
          </a:p>
          <a:p>
            <a:r>
              <a:rPr lang="en-GB" dirty="0"/>
              <a:t>The GRU removes:</a:t>
            </a:r>
          </a:p>
          <a:p>
            <a:pPr lvl="1"/>
            <a:r>
              <a:rPr lang="en-GB" dirty="0"/>
              <a:t>separate cell state; </a:t>
            </a:r>
          </a:p>
          <a:p>
            <a:pPr lvl="1"/>
            <a:r>
              <a:rPr lang="en-GB" dirty="0"/>
              <a:t>explicit output gate. </a:t>
            </a:r>
          </a:p>
          <a:p>
            <a:r>
              <a:rPr lang="en-GB" dirty="0"/>
              <a:t>This makes the architecture more compact.</a:t>
            </a:r>
          </a:p>
          <a:p>
            <a:endParaRPr lang="en-GB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78DC1CC-BC19-B195-5B70-B2435B0F7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769" y="4753982"/>
            <a:ext cx="2747433" cy="34723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1AF14E5D-D716-EBCF-BCB2-78A9286CB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567" y="3994913"/>
            <a:ext cx="2461473" cy="34293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E31F1E5-5B28-329E-33BB-8A9704614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463" y="3645862"/>
            <a:ext cx="2537680" cy="281964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E33A8BC4-7DA2-A8EF-3F37-0B59D495E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121" y="6004539"/>
            <a:ext cx="2682472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3549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GRU update: compact gated memory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Two gates, one recurrent state.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866328" y="5916164"/>
            <a:ext cx="7220522" cy="5943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b="1" dirty="0">
                <a:solidFill>
                  <a:srgbClr val="111827"/>
                </a:solidFill>
              </a:rPr>
              <a:t>The reset gate controls </a:t>
            </a:r>
            <a:r>
              <a:rPr lang="en-US" b="1" dirty="0"/>
              <a:t>how history contributes to the candidate; </a:t>
            </a:r>
            <a:r>
              <a:rPr lang="en-US" b="1" dirty="0">
                <a:solidFill>
                  <a:srgbClr val="111827"/>
                </a:solidFill>
              </a:rPr>
              <a:t>the update gate controls state persistence </a:t>
            </a:r>
            <a:endParaRPr lang="en-US" b="1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657C5729-FE72-818C-CF06-16F615E75BF3}"/>
              </a:ext>
            </a:extLst>
          </p:cNvPr>
          <p:cNvSpPr/>
          <p:nvPr/>
        </p:nvSpPr>
        <p:spPr>
          <a:xfrm>
            <a:off x="960120" y="2743200"/>
            <a:ext cx="14173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18065264-92A5-1A56-C7DA-C6AE706B85E8}"/>
              </a:ext>
            </a:extLst>
          </p:cNvPr>
          <p:cNvSpPr/>
          <p:nvPr/>
        </p:nvSpPr>
        <p:spPr>
          <a:xfrm>
            <a:off x="960120" y="3886200"/>
            <a:ext cx="141732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4D4BEE4F-ED31-C498-A182-D8A3077DDDE4}"/>
              </a:ext>
            </a:extLst>
          </p:cNvPr>
          <p:cNvSpPr/>
          <p:nvPr/>
        </p:nvSpPr>
        <p:spPr>
          <a:xfrm>
            <a:off x="3657600" y="3063240"/>
            <a:ext cx="3337560" cy="82296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12C1042A-B3F0-7E7C-D4D7-86F0FFED758E}"/>
              </a:ext>
            </a:extLst>
          </p:cNvPr>
          <p:cNvSpPr/>
          <p:nvPr/>
        </p:nvSpPr>
        <p:spPr>
          <a:xfrm flipV="1">
            <a:off x="3747516" y="3823335"/>
            <a:ext cx="998220" cy="18288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7C4B8677-1E89-D84F-1667-D8367FB6A948}"/>
              </a:ext>
            </a:extLst>
          </p:cNvPr>
          <p:cNvSpPr/>
          <p:nvPr/>
        </p:nvSpPr>
        <p:spPr>
          <a:xfrm flipV="1">
            <a:off x="6336792" y="3337560"/>
            <a:ext cx="658368" cy="502920"/>
          </a:xfrm>
          <a:prstGeom prst="line">
            <a:avLst/>
          </a:prstGeom>
          <a:noFill/>
          <a:ln w="2794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41555568-A4F7-2F9C-DF34-A717B96F38BD}"/>
              </a:ext>
            </a:extLst>
          </p:cNvPr>
          <p:cNvSpPr/>
          <p:nvPr/>
        </p:nvSpPr>
        <p:spPr>
          <a:xfrm>
            <a:off x="8183880" y="3337560"/>
            <a:ext cx="105156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D2E15D63-8997-6954-97FA-7D440B2A83E0}"/>
              </a:ext>
            </a:extLst>
          </p:cNvPr>
          <p:cNvSpPr/>
          <p:nvPr/>
        </p:nvSpPr>
        <p:spPr>
          <a:xfrm>
            <a:off x="548640" y="2487168"/>
            <a:ext cx="868680" cy="512064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7280D46E-78AA-2C38-85C6-F8C0BAD89377}"/>
              </a:ext>
            </a:extLst>
          </p:cNvPr>
          <p:cNvSpPr/>
          <p:nvPr/>
        </p:nvSpPr>
        <p:spPr>
          <a:xfrm>
            <a:off x="603504" y="2542032"/>
            <a:ext cx="75895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x[t]</a:t>
            </a:r>
            <a:endParaRPr lang="en-US" sz="140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0030C8EB-ACCE-5E69-DCAB-68529ABD0CD3}"/>
              </a:ext>
            </a:extLst>
          </p:cNvPr>
          <p:cNvSpPr/>
          <p:nvPr/>
        </p:nvSpPr>
        <p:spPr>
          <a:xfrm>
            <a:off x="548640" y="3630168"/>
            <a:ext cx="868680" cy="51206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D3B0ABFC-4488-5306-EC13-B73D2D96036B}"/>
              </a:ext>
            </a:extLst>
          </p:cNvPr>
          <p:cNvSpPr/>
          <p:nvPr/>
        </p:nvSpPr>
        <p:spPr>
          <a:xfrm>
            <a:off x="603504" y="3685032"/>
            <a:ext cx="75895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h[t−1]</a:t>
            </a:r>
            <a:endParaRPr lang="en-US" sz="1400" dirty="0"/>
          </a:p>
        </p:txBody>
      </p: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FA074EDF-51D3-A41F-7549-275B85029526}"/>
              </a:ext>
            </a:extLst>
          </p:cNvPr>
          <p:cNvGrpSpPr/>
          <p:nvPr/>
        </p:nvGrpSpPr>
        <p:grpSpPr>
          <a:xfrm>
            <a:off x="2414016" y="2487168"/>
            <a:ext cx="1325880" cy="868680"/>
            <a:chOff x="2414016" y="2487168"/>
            <a:chExt cx="1325880" cy="868680"/>
          </a:xfrm>
        </p:grpSpPr>
        <p:sp>
          <p:nvSpPr>
            <p:cNvPr id="41" name="Shape 16">
              <a:extLst>
                <a:ext uri="{FF2B5EF4-FFF2-40B4-BE49-F238E27FC236}">
                  <a16:creationId xmlns:a16="http://schemas.microsoft.com/office/drawing/2014/main" id="{FE4527BA-AABF-52D6-DAD4-E32C260F2C63}"/>
                </a:ext>
              </a:extLst>
            </p:cNvPr>
            <p:cNvSpPr/>
            <p:nvPr/>
          </p:nvSpPr>
          <p:spPr>
            <a:xfrm>
              <a:off x="2414016" y="2487168"/>
              <a:ext cx="1325880" cy="868680"/>
            </a:xfrm>
            <a:prstGeom prst="roundRect">
              <a:avLst>
                <a:gd name="adj" fmla="val 8421"/>
              </a:avLst>
            </a:prstGeom>
            <a:solidFill>
              <a:srgbClr val="EDE9FE"/>
            </a:solidFill>
            <a:ln w="1524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Text 17">
              <a:extLst>
                <a:ext uri="{FF2B5EF4-FFF2-40B4-BE49-F238E27FC236}">
                  <a16:creationId xmlns:a16="http://schemas.microsoft.com/office/drawing/2014/main" id="{CAA514A7-4936-5B05-4836-53E493D2FBBD}"/>
                </a:ext>
              </a:extLst>
            </p:cNvPr>
            <p:cNvSpPr/>
            <p:nvPr/>
          </p:nvSpPr>
          <p:spPr>
            <a:xfrm>
              <a:off x="2432304" y="2596896"/>
              <a:ext cx="1216152" cy="75895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Update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gate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1182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z[t]</a:t>
              </a:r>
              <a:endParaRPr lang="en-US" sz="1200" dirty="0"/>
            </a:p>
          </p:txBody>
        </p:sp>
      </p:grpSp>
      <p:sp>
        <p:nvSpPr>
          <p:cNvPr id="43" name="Shape 18">
            <a:extLst>
              <a:ext uri="{FF2B5EF4-FFF2-40B4-BE49-F238E27FC236}">
                <a16:creationId xmlns:a16="http://schemas.microsoft.com/office/drawing/2014/main" id="{21B98108-4FD2-4767-1752-ECA4D4215B3B}"/>
              </a:ext>
            </a:extLst>
          </p:cNvPr>
          <p:cNvSpPr/>
          <p:nvPr/>
        </p:nvSpPr>
        <p:spPr>
          <a:xfrm>
            <a:off x="2377440" y="36118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CCFBF1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DEF656E2-017E-4369-7F80-499CA1CEB02E}"/>
              </a:ext>
            </a:extLst>
          </p:cNvPr>
          <p:cNvSpPr/>
          <p:nvPr/>
        </p:nvSpPr>
        <p:spPr>
          <a:xfrm>
            <a:off x="2432304" y="3666744"/>
            <a:ext cx="121615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r[t]</a:t>
            </a:r>
            <a:endParaRPr lang="en-US" sz="1200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96654785-57A1-CA39-89CE-6E1E3B4CE3CF}"/>
              </a:ext>
            </a:extLst>
          </p:cNvPr>
          <p:cNvSpPr/>
          <p:nvPr/>
        </p:nvSpPr>
        <p:spPr>
          <a:xfrm>
            <a:off x="4773168" y="3575304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C27E59AE-4851-979C-375A-EB7134DDB302}"/>
              </a:ext>
            </a:extLst>
          </p:cNvPr>
          <p:cNvSpPr/>
          <p:nvPr/>
        </p:nvSpPr>
        <p:spPr>
          <a:xfrm>
            <a:off x="4828032" y="3630168"/>
            <a:ext cx="1399032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h_tilde[t]</a:t>
            </a:r>
            <a:endParaRPr lang="en-US" sz="1200" dirty="0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01440A05-E9BC-3554-E313-1341825EE75A}"/>
              </a:ext>
            </a:extLst>
          </p:cNvPr>
          <p:cNvSpPr/>
          <p:nvPr/>
        </p:nvSpPr>
        <p:spPr>
          <a:xfrm>
            <a:off x="6995160" y="283464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E8F6D0"/>
          </a:solidFill>
          <a:ln w="1524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66CE2742-F4EF-FF0A-3248-4B0479DA13FC}"/>
              </a:ext>
            </a:extLst>
          </p:cNvPr>
          <p:cNvSpPr/>
          <p:nvPr/>
        </p:nvSpPr>
        <p:spPr>
          <a:xfrm>
            <a:off x="7050024" y="2889504"/>
            <a:ext cx="1216152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Update gate mixes old (h[t-1])</a:t>
            </a:r>
            <a:endParaRPr lang="en-US" sz="1300" dirty="0"/>
          </a:p>
          <a:p>
            <a:pPr algn="ctr"/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new (</a:t>
            </a:r>
            <a:r>
              <a:rPr lang="en-US" sz="1400" b="1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h_tilde</a:t>
            </a: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[t]</a:t>
            </a: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1300" dirty="0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FB27DB95-BF38-52E5-F797-5174161713C5}"/>
              </a:ext>
            </a:extLst>
          </p:cNvPr>
          <p:cNvSpPr/>
          <p:nvPr/>
        </p:nvSpPr>
        <p:spPr>
          <a:xfrm>
            <a:off x="9189720" y="306324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E7FA787B-E455-E7EE-C1AF-A2A813BC938A}"/>
              </a:ext>
            </a:extLst>
          </p:cNvPr>
          <p:cNvSpPr/>
          <p:nvPr/>
        </p:nvSpPr>
        <p:spPr>
          <a:xfrm>
            <a:off x="9244584" y="3118104"/>
            <a:ext cx="896112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400" dirty="0"/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DA6DE492-88B0-60BD-DEE3-48D2193CA680}"/>
              </a:ext>
            </a:extLst>
          </p:cNvPr>
          <p:cNvSpPr/>
          <p:nvPr/>
        </p:nvSpPr>
        <p:spPr>
          <a:xfrm>
            <a:off x="1417320" y="2889503"/>
            <a:ext cx="950976" cy="923541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A186DE1A-5393-9BE6-4697-DBFB2B1BF89D}"/>
              </a:ext>
            </a:extLst>
          </p:cNvPr>
          <p:cNvSpPr/>
          <p:nvPr/>
        </p:nvSpPr>
        <p:spPr>
          <a:xfrm flipV="1">
            <a:off x="1318641" y="2971800"/>
            <a:ext cx="1095375" cy="813435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GRU cells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i="1" dirty="0"/>
              <a:t>Gated Recurrent Unit </a:t>
            </a:r>
            <a:r>
              <a:rPr lang="en-US" dirty="0"/>
              <a:t>(GRU) cell was proposed by </a:t>
            </a:r>
            <a:r>
              <a:rPr lang="en-US" dirty="0" err="1"/>
              <a:t>Kyunghyun</a:t>
            </a:r>
            <a:r>
              <a:rPr lang="en-US" dirty="0"/>
              <a:t> Cho et al. in a 2014 paper that also introduced the Encoder–Decoder network we discussed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164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649" y="3103821"/>
            <a:ext cx="4804959" cy="33651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65342" y="4355671"/>
            <a:ext cx="621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tanh</a:t>
            </a:r>
            <a:endParaRPr lang="en-US" sz="14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037" y="111502"/>
            <a:ext cx="5829150" cy="17562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75060" y="203835"/>
            <a:ext cx="1994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Update </a:t>
            </a:r>
            <a:r>
              <a:rPr lang="it-IT" dirty="0"/>
              <a:t>gate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697787" y="595336"/>
            <a:ext cx="177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Reset </a:t>
            </a:r>
            <a:r>
              <a:rPr lang="it-IT" dirty="0"/>
              <a:t>gate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590925" y="989648"/>
            <a:ext cx="195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Candidate mem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775060" y="1410427"/>
            <a:ext cx="177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New state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376759" y="3468380"/>
            <a:ext cx="134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Out = state</a:t>
            </a:r>
            <a:endParaRPr lang="en-US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1993ACF-BE33-A078-15A2-5C291EDD177D}"/>
              </a:ext>
            </a:extLst>
          </p:cNvPr>
          <p:cNvSpPr txBox="1"/>
          <p:nvPr/>
        </p:nvSpPr>
        <p:spPr>
          <a:xfrm>
            <a:off x="3232480" y="5149844"/>
            <a:ext cx="839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/>
              <a:t>logistic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1799518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LSTM vs GRU: conceptual comparison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Both are gated recurrent architectures; they differ in how memory is represented.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84B82A"/>
          </a:solidFill>
          <a:ln w="1524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32104" y="1472184"/>
            <a:ext cx="235915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Aspect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84B82A"/>
          </a:solidFill>
          <a:ln w="1524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300984" y="1472184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LSTM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84B82A"/>
          </a:solidFill>
          <a:ln w="1524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9944" y="1472184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1856232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F4FAEA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32104" y="1911096"/>
            <a:ext cx="235915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 states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856232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00984" y="1911096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 and c[t]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856232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09944" y="1911096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2295144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F4FAEA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32104" y="2350008"/>
            <a:ext cx="235915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gates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295144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300984" y="2350008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forget, input, output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2295144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409944" y="2350008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update, reset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2734056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F4FAEA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32104" y="2788920"/>
            <a:ext cx="235915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memory path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2734056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300984" y="2788920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2734056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409944" y="2788920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" y="3172968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F4FAEA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832104" y="3227832"/>
            <a:ext cx="235915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 count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46120" y="3172968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300984" y="3227832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3172968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409944" y="3227832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lower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7240" y="3611880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F4FAEA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832104" y="3666744"/>
            <a:ext cx="235915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 per step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46120" y="3611880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3300984" y="3666744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3611880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409944" y="3666744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lower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77240" y="4050792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F4FAEA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832104" y="4105656"/>
            <a:ext cx="235915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Long-dependency learning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46120" y="4050792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3300984" y="4105656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55080" y="4050792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409944" y="4105656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77240" y="4489704"/>
            <a:ext cx="2468880" cy="438912"/>
          </a:xfrm>
          <a:prstGeom prst="roundRect">
            <a:avLst>
              <a:gd name="adj" fmla="val 16667"/>
            </a:avLst>
          </a:prstGeom>
          <a:solidFill>
            <a:srgbClr val="F4FAEA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832104" y="4544568"/>
            <a:ext cx="235915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processing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46120" y="4489704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3300984" y="4544568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55080" y="4489704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6409944" y="4544568"/>
            <a:ext cx="2999232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77239" y="5234940"/>
            <a:ext cx="94049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Do not assume one is universally better. Compare performance and cost under the same evaluation protocol.</a:t>
            </a:r>
            <a:endParaRPr lang="en-US" sz="1400" dirty="0"/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1EEA1E67-07E5-413D-77D1-23F4BE5C3810}"/>
              </a:ext>
            </a:extLst>
          </p:cNvPr>
          <p:cNvSpPr txBox="1"/>
          <p:nvPr/>
        </p:nvSpPr>
        <p:spPr>
          <a:xfrm>
            <a:off x="3043238" y="5578614"/>
            <a:ext cx="2719383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Performance depends 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200" dirty="0"/>
              <a:t>dataset;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200" dirty="0"/>
              <a:t>sequence length;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200" dirty="0"/>
              <a:t>task;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200" dirty="0"/>
              <a:t>hidden dimension;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200" dirty="0"/>
              <a:t>training procedure;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200" dirty="0"/>
              <a:t>computational constraints. 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9D46A3-D3FC-E5F9-521A-DE16DEF24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might GRU be attractive?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07DF5C-3583-7A32-6C50-786D32C4B7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GRU can be a useful choice when:</a:t>
            </a:r>
          </a:p>
          <a:p>
            <a:pPr lvl="1"/>
            <a:r>
              <a:rPr lang="en-GB" dirty="0"/>
              <a:t>computational resources are limited; </a:t>
            </a:r>
          </a:p>
          <a:p>
            <a:pPr lvl="1"/>
            <a:r>
              <a:rPr lang="en-GB" dirty="0"/>
              <a:t>inference latency matters; </a:t>
            </a:r>
          </a:p>
          <a:p>
            <a:pPr lvl="1"/>
            <a:r>
              <a:rPr lang="en-GB" dirty="0"/>
              <a:t>the dataset is not extremely large; </a:t>
            </a:r>
          </a:p>
          <a:p>
            <a:pPr lvl="1"/>
            <a:r>
              <a:rPr lang="en-GB" dirty="0"/>
              <a:t>a gated recurrent architecture is needed; </a:t>
            </a:r>
          </a:p>
          <a:p>
            <a:pPr lvl="1"/>
            <a:r>
              <a:rPr lang="en-GB" dirty="0"/>
              <a:t>a simpler recurrent model is preferred. </a:t>
            </a:r>
          </a:p>
          <a:p>
            <a:r>
              <a:rPr lang="en-GB" b="1" dirty="0"/>
              <a:t>Potential advantages</a:t>
            </a:r>
          </a:p>
          <a:p>
            <a:r>
              <a:rPr lang="en-GB" dirty="0"/>
              <a:t>Compared with LSTM:</a:t>
            </a:r>
          </a:p>
          <a:p>
            <a:pPr lvl="1"/>
            <a:r>
              <a:rPr lang="en-GB" dirty="0"/>
              <a:t>fewer parameters; </a:t>
            </a:r>
          </a:p>
          <a:p>
            <a:pPr lvl="1"/>
            <a:r>
              <a:rPr lang="en-GB" dirty="0"/>
              <a:t>lower memory consumption; </a:t>
            </a:r>
          </a:p>
          <a:p>
            <a:pPr lvl="1"/>
            <a:r>
              <a:rPr lang="en-GB" dirty="0"/>
              <a:t>potentially faster training; </a:t>
            </a:r>
          </a:p>
          <a:p>
            <a:pPr lvl="1"/>
            <a:r>
              <a:rPr lang="en-GB" dirty="0"/>
              <a:t>potentially faster inference.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240F283-A715-B00C-FD9F-6F64ADF3A9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Potential limitation</a:t>
            </a:r>
          </a:p>
          <a:p>
            <a:r>
              <a:rPr lang="en-GB" dirty="0"/>
              <a:t>The simpler memory structure may not always match the flexibility of an LSTM.</a:t>
            </a:r>
          </a:p>
          <a:p>
            <a:r>
              <a:rPr lang="en-GB" b="1" dirty="0"/>
              <a:t>Engineering approach</a:t>
            </a:r>
          </a:p>
          <a:p>
            <a:r>
              <a:rPr lang="en-GB" dirty="0"/>
              <a:t>Instead of choosing from architecture reputation alone:</a:t>
            </a:r>
          </a:p>
          <a:p>
            <a:pPr lvl="1"/>
            <a:r>
              <a:rPr lang="en-GB" dirty="0"/>
              <a:t>use the same evaluation protocol; </a:t>
            </a:r>
          </a:p>
          <a:p>
            <a:pPr lvl="1"/>
            <a:r>
              <a:rPr lang="en-GB" dirty="0"/>
              <a:t>use comparable hidden dimensions or parameter budgets; </a:t>
            </a:r>
          </a:p>
          <a:p>
            <a:pPr lvl="1"/>
            <a:r>
              <a:rPr lang="en-GB" dirty="0"/>
              <a:t>compare validation performance; </a:t>
            </a:r>
          </a:p>
          <a:p>
            <a:pPr lvl="1"/>
            <a:r>
              <a:rPr lang="en-GB" dirty="0"/>
              <a:t>compare training and inference cost.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CD75473-DF81-1510-8AFF-388A6BBC12A2}"/>
              </a:ext>
            </a:extLst>
          </p:cNvPr>
          <p:cNvSpPr txBox="1"/>
          <p:nvPr/>
        </p:nvSpPr>
        <p:spPr>
          <a:xfrm>
            <a:off x="5089970" y="5925234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LSTM and GRU should be treated </a:t>
            </a:r>
            <a:r>
              <a:rPr lang="en-GB" sz="1800" b="1" dirty="0">
                <a:highlight>
                  <a:srgbClr val="FFFF00"/>
                </a:highlight>
              </a:rPr>
              <a:t>as alternative gated recurrent designs </a:t>
            </a:r>
            <a:r>
              <a:rPr lang="en-GB" sz="1800" b="1" dirty="0"/>
              <a:t>to be validated experimentally.</a:t>
            </a:r>
          </a:p>
        </p:txBody>
      </p:sp>
    </p:spTree>
    <p:extLst>
      <p:ext uri="{BB962C8B-B14F-4D97-AF65-F5344CB8AC3E}">
        <p14:creationId xmlns:p14="http://schemas.microsoft.com/office/powerpoint/2010/main" val="176193736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2A8AD3-0BA1-5C40-23DD-56585510C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4.H — Recurrent Models for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2161D9-FFAE-F8E2-4BEC-4BD789438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30532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528F3A-E858-5837-5EEC-550FADE71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Recurrent networks can transform history into a forecasting representation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1401F4-DFBF-4BA8-A5B1-B22EA1C05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For forecasting, the input is a sequence of observations available up to prediction time t.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[x[t−L+1], ..., x[t]]</a:t>
            </a:r>
          </a:p>
          <a:p>
            <a:r>
              <a:rPr lang="en-GB" dirty="0"/>
              <a:t>A recurrent network processes that history and produces </a:t>
            </a:r>
            <a:r>
              <a:rPr lang="en-GB" b="1" dirty="0"/>
              <a:t>a final representation: h[t]</a:t>
            </a:r>
          </a:p>
          <a:p>
            <a:r>
              <a:rPr lang="en-GB" dirty="0"/>
              <a:t>The </a:t>
            </a:r>
            <a:r>
              <a:rPr lang="en-GB" b="1" dirty="0"/>
              <a:t>forecasting layer </a:t>
            </a:r>
            <a:r>
              <a:rPr lang="en-GB" dirty="0"/>
              <a:t>then maps that representation to one or more future targets.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557185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074EB-14D4-7BE0-0BA0-9F202415C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BC2E06-39C7-F2EF-90BA-5B23F8CB9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Recurrent networks can transform history into a forecasting representation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DAF4FB-B02F-AB23-CF7E-390E3491A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General structure</a:t>
            </a:r>
          </a:p>
          <a:p>
            <a:r>
              <a:rPr lang="en-GB" dirty="0"/>
              <a:t>past observations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recurrent layer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final recurrent representation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forecasting layer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future prediction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18D8E7F-6140-8D39-BDF4-24B9459B8695}"/>
              </a:ext>
            </a:extLst>
          </p:cNvPr>
          <p:cNvSpPr txBox="1"/>
          <p:nvPr/>
        </p:nvSpPr>
        <p:spPr>
          <a:xfrm>
            <a:off x="5205413" y="4688741"/>
            <a:ext cx="610552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Possible recurrent cells</a:t>
            </a:r>
          </a:p>
          <a:p>
            <a:pPr lvl="1"/>
            <a:r>
              <a:rPr lang="en-GB" sz="1600" dirty="0" err="1"/>
              <a:t>SimpleRNN</a:t>
            </a:r>
            <a:r>
              <a:rPr lang="en-GB" sz="1600" dirty="0"/>
              <a:t>; </a:t>
            </a:r>
          </a:p>
          <a:p>
            <a:pPr lvl="1"/>
            <a:r>
              <a:rPr lang="en-GB" sz="1600" dirty="0"/>
              <a:t>LSTM; </a:t>
            </a:r>
          </a:p>
          <a:p>
            <a:pPr lvl="1"/>
            <a:r>
              <a:rPr lang="en-GB" sz="1600" dirty="0"/>
              <a:t>GRU. </a:t>
            </a:r>
          </a:p>
          <a:p>
            <a:r>
              <a:rPr lang="en-GB" sz="1800" b="1" dirty="0"/>
              <a:t>The forecasting structure can stay the same while the recurrent cell changes.</a:t>
            </a:r>
          </a:p>
        </p:txBody>
      </p:sp>
    </p:spTree>
    <p:extLst>
      <p:ext uri="{BB962C8B-B14F-4D97-AF65-F5344CB8AC3E}">
        <p14:creationId xmlns:p14="http://schemas.microsoft.com/office/powerpoint/2010/main" val="236868233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Recurrent forecasting: </a:t>
            </a: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history → representation → forecast/estimation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The recurrent layer turns the observed history into a forecasting representation.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417320" y="292608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011680" y="292608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606040" y="292608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00400" y="292608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794760" y="292608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96112" y="3008376"/>
            <a:ext cx="2834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85800" y="2057400"/>
            <a:ext cx="333756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40664" y="2112264"/>
            <a:ext cx="322783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observations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[x[t−L+1], ..., x[t]]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60520" y="2395728"/>
            <a:ext cx="91440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074920" y="20574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8F6D0"/>
          </a:solidFill>
          <a:ln w="1524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129784" y="2112264"/>
            <a:ext cx="181051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 / LSTM / GRU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95160" y="2395728"/>
            <a:ext cx="96012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955280" y="205740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010144" y="2112264"/>
            <a:ext cx="121615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state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41080" y="2788920"/>
            <a:ext cx="0" cy="91440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955280" y="370332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010144" y="3758184"/>
            <a:ext cx="121615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81160" y="4041648"/>
            <a:ext cx="411480" cy="0"/>
          </a:xfrm>
          <a:prstGeom prst="line">
            <a:avLst/>
          </a:prstGeom>
          <a:noFill/>
          <a:ln w="2794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9692640" y="370332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747504" y="3758184"/>
            <a:ext cx="94183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263640"/>
            <a:ext cx="8412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The forecasting head can produce one future value or an entire future vector.</a:t>
            </a:r>
            <a:endParaRPr lang="en-US" sz="13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27AC35-768C-B1AF-C783-89C987AD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One-step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DE979E-681C-68DA-409C-2F98B1D12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676400"/>
            <a:ext cx="5656791" cy="5019675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The simplest recurrent forecasting problem predicts one future value.</a:t>
            </a:r>
          </a:p>
          <a:p>
            <a:r>
              <a:rPr lang="en-GB" dirty="0"/>
              <a:t>Input: [x[t−L+1], ..., x[t]]</a:t>
            </a:r>
          </a:p>
          <a:p>
            <a:r>
              <a:rPr lang="en-GB" dirty="0"/>
              <a:t>Output: </a:t>
            </a:r>
            <a:r>
              <a:rPr lang="en-GB" dirty="0" err="1"/>
              <a:t>y_hat</a:t>
            </a:r>
            <a:r>
              <a:rPr lang="en-GB" dirty="0"/>
              <a:t>[t+1]</a:t>
            </a:r>
          </a:p>
          <a:p>
            <a:r>
              <a:rPr lang="en-GB" b="1" dirty="0"/>
              <a:t>Architecture</a:t>
            </a:r>
          </a:p>
          <a:p>
            <a:r>
              <a:rPr lang="en-GB" dirty="0"/>
              <a:t>x[t−L+1]</a:t>
            </a:r>
          </a:p>
          <a:p>
            <a:r>
              <a:rPr lang="en-GB" dirty="0"/>
              <a:t>     ↓</a:t>
            </a:r>
          </a:p>
          <a:p>
            <a:r>
              <a:rPr lang="en-GB" dirty="0"/>
              <a:t>    RNN</a:t>
            </a:r>
          </a:p>
          <a:p>
            <a:r>
              <a:rPr lang="en-GB" dirty="0"/>
              <a:t>     ↓</a:t>
            </a:r>
          </a:p>
          <a:p>
            <a:r>
              <a:rPr lang="en-GB" dirty="0"/>
              <a:t>    ...</a:t>
            </a:r>
          </a:p>
          <a:p>
            <a:r>
              <a:rPr lang="en-GB" dirty="0"/>
              <a:t>     ↓</a:t>
            </a:r>
          </a:p>
          <a:p>
            <a:r>
              <a:rPr lang="en-GB" dirty="0"/>
              <a:t>x[t] → h[t]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    output layer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   </a:t>
            </a:r>
            <a:r>
              <a:rPr lang="en-GB" dirty="0" err="1"/>
              <a:t>y_hat</a:t>
            </a:r>
            <a:r>
              <a:rPr lang="en-GB" dirty="0"/>
              <a:t>[t+1]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FB4D50F-F56A-AF92-B64B-817973097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820" y="2036764"/>
            <a:ext cx="5025580" cy="3880773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Use: previous 24 hourly demand values; </a:t>
            </a:r>
          </a:p>
          <a:p>
            <a:r>
              <a:rPr lang="en-GB" dirty="0"/>
              <a:t>to predict: demand for the next hour. </a:t>
            </a:r>
          </a:p>
          <a:p>
            <a:r>
              <a:rPr lang="en-GB" b="1" dirty="0"/>
              <a:t>Output shape</a:t>
            </a:r>
          </a:p>
          <a:p>
            <a:pPr lvl="1"/>
            <a:r>
              <a:rPr lang="en-GB" dirty="0"/>
              <a:t>For a scalar target: [N, 1]</a:t>
            </a:r>
          </a:p>
          <a:p>
            <a:pPr lvl="1"/>
            <a:r>
              <a:rPr lang="en-GB" dirty="0"/>
              <a:t>For q target variables: [N, q]</a:t>
            </a:r>
          </a:p>
          <a:p>
            <a:pPr marL="0" indent="0">
              <a:buNone/>
            </a:pPr>
            <a:endParaRPr lang="en-GB" b="1" dirty="0"/>
          </a:p>
          <a:p>
            <a:endParaRPr lang="en-GB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F67DF04-C633-5E80-E862-6109161FF57D}"/>
              </a:ext>
            </a:extLst>
          </p:cNvPr>
          <p:cNvSpPr txBox="1"/>
          <p:nvPr/>
        </p:nvSpPr>
        <p:spPr>
          <a:xfrm>
            <a:off x="4319588" y="4186237"/>
            <a:ext cx="61055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/>
              <a:t>Lag-based model:</a:t>
            </a:r>
            <a:r>
              <a:rPr lang="en-GB" dirty="0"/>
              <a:t> you explicitly choose which past time steps become input features.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/>
              <a:t>RNN:</a:t>
            </a:r>
            <a:r>
              <a:rPr lang="en-GB" dirty="0"/>
              <a:t> you provide the sequence in temporal order, and the recurrent dynamics learn how to compress and propagate past information into a hidden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241559228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One-step recurrent forecasting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Use a recent history window to predict the next value.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60120" y="2743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14984" y="2798064"/>
            <a:ext cx="30175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2953512"/>
            <a:ext cx="2286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600200" y="2743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655064" y="2798064"/>
            <a:ext cx="30175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2953512"/>
            <a:ext cx="2286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240280" y="2743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295144" y="2798064"/>
            <a:ext cx="30175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2953512"/>
            <a:ext cx="2286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880360" y="2743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935224" y="2798064"/>
            <a:ext cx="30175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953512"/>
            <a:ext cx="2286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520440" y="2743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575304" y="2798064"/>
            <a:ext cx="30175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0" y="2953512"/>
            <a:ext cx="2286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160520" y="2743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215384" y="2798064"/>
            <a:ext cx="30175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587752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E8F6D0"/>
          </a:solidFill>
          <a:ln w="1524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992624" y="2642616"/>
            <a:ext cx="98755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0" y="2953512"/>
            <a:ext cx="36576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035040" y="2953512"/>
            <a:ext cx="59436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629400" y="272491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684264" y="2779776"/>
            <a:ext cx="75895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98080" y="2953512"/>
            <a:ext cx="822960" cy="0"/>
          </a:xfrm>
          <a:prstGeom prst="line">
            <a:avLst/>
          </a:prstGeom>
          <a:noFill/>
          <a:ln w="2794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8321040" y="2624328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8375904" y="2679192"/>
            <a:ext cx="130759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y_hat[t+1]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60120" y="3566160"/>
            <a:ext cx="359359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82880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563EB"/>
                </a:solidFill>
              </a:rPr>
              <a:t>input history window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0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AB308"/>
                </a:solidFill>
              </a:rPr>
              <a:t>forecast horizon = 1</a:t>
            </a:r>
            <a:endParaRPr lang="en-US" sz="1050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45FAF0CD-1EC6-8516-F4BD-3621B09C6F1B}"/>
              </a:ext>
            </a:extLst>
          </p:cNvPr>
          <p:cNvSpPr txBox="1"/>
          <p:nvPr/>
        </p:nvSpPr>
        <p:spPr>
          <a:xfrm>
            <a:off x="1600200" y="5638722"/>
            <a:ext cx="8543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Instead of representing the past as a fixed vector of manually selected lags, an RNN learns a hidden state that summarizes the sequence over time.</a:t>
            </a:r>
            <a:endParaRPr lang="en-GB" sz="1800" b="1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2C452A-96BD-78C0-87D1-91401C075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Recursive multi-step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A7CCBF-D46D-F839-EA45-B6EF06E98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724025"/>
            <a:ext cx="6390216" cy="4933950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A one-step model can be reused repeatedly to forecast several future steps.</a:t>
            </a:r>
          </a:p>
          <a:p>
            <a:r>
              <a:rPr lang="en-GB" b="1" dirty="0"/>
              <a:t>First prediction</a:t>
            </a:r>
          </a:p>
          <a:p>
            <a:r>
              <a:rPr lang="en-GB" dirty="0" err="1"/>
              <a:t>y_hat</a:t>
            </a:r>
            <a:r>
              <a:rPr lang="en-GB" dirty="0"/>
              <a:t>[t+1]</a:t>
            </a:r>
          </a:p>
          <a:p>
            <a:r>
              <a:rPr lang="en-GB" b="1" dirty="0"/>
              <a:t>Second prediction</a:t>
            </a:r>
          </a:p>
          <a:p>
            <a:r>
              <a:rPr lang="en-GB" dirty="0"/>
              <a:t>Use the first prediction as part of the input:</a:t>
            </a:r>
          </a:p>
          <a:p>
            <a:r>
              <a:rPr lang="en-GB" dirty="0" err="1"/>
              <a:t>y_hat</a:t>
            </a:r>
            <a:r>
              <a:rPr lang="en-GB" dirty="0"/>
              <a:t>[t+2]</a:t>
            </a:r>
          </a:p>
          <a:p>
            <a:r>
              <a:rPr lang="en-GB" b="1" dirty="0"/>
              <a:t>Continue</a:t>
            </a:r>
          </a:p>
          <a:p>
            <a:r>
              <a:rPr lang="en-GB" dirty="0"/>
              <a:t>history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predict t+1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feed prediction back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predict t+2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feed prediction back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...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8A72FDC-3F06-0B85-D5AD-8C3C40BC7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450" y="1724026"/>
            <a:ext cx="5295900" cy="4193512"/>
          </a:xfrm>
        </p:spPr>
        <p:txBody>
          <a:bodyPr>
            <a:normAutofit fontScale="62500" lnSpcReduction="20000"/>
          </a:bodyPr>
          <a:lstStyle/>
          <a:p>
            <a:r>
              <a:rPr lang="en-GB" b="1" dirty="0"/>
              <a:t>Advantage</a:t>
            </a:r>
          </a:p>
          <a:p>
            <a:r>
              <a:rPr lang="en-GB" dirty="0"/>
              <a:t>Only one forecasting model is needed.</a:t>
            </a:r>
          </a:p>
          <a:p>
            <a:r>
              <a:rPr lang="en-GB" b="1" dirty="0"/>
              <a:t>Main limitation</a:t>
            </a:r>
          </a:p>
          <a:p>
            <a:r>
              <a:rPr lang="en-GB" dirty="0"/>
              <a:t>Later forecasts depend on earlier predicted values rather than true future observations.</a:t>
            </a:r>
          </a:p>
          <a:p>
            <a:r>
              <a:rPr lang="en-GB" b="1" dirty="0"/>
              <a:t>Therefore prediction errors can propagate forward.</a:t>
            </a:r>
          </a:p>
          <a:p>
            <a:r>
              <a:rPr lang="en-GB" b="1" dirty="0"/>
              <a:t>Key issue</a:t>
            </a:r>
          </a:p>
          <a:p>
            <a:r>
              <a:rPr lang="en-GB" b="1" dirty="0"/>
              <a:t>The model is trained largely on real historical values but may operate recursively on its own predictions during inference.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214031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Recursive multi-step forecasting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A one-step model is reused; each prediction feeds the next step.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32104" y="2798064"/>
            <a:ext cx="126187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274320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E8F6D0"/>
          </a:solidFill>
          <a:ln w="1524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798064" y="2798064"/>
            <a:ext cx="121615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one-step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18304" y="2798064"/>
            <a:ext cx="10789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y_hat[t+1]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274320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09944" y="2798064"/>
            <a:ext cx="121615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3880" y="274320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238744" y="2798064"/>
            <a:ext cx="153619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(t+2, t+3, ...)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48840" y="3108960"/>
            <a:ext cx="59436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069080" y="3108960"/>
            <a:ext cx="594360" cy="0"/>
          </a:xfrm>
          <a:prstGeom prst="line">
            <a:avLst/>
          </a:prstGeom>
          <a:noFill/>
          <a:ln w="2794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852160" y="3108960"/>
            <a:ext cx="50292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680960" y="3108960"/>
            <a:ext cx="50292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995160" y="2743200"/>
            <a:ext cx="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995160" y="2057400"/>
            <a:ext cx="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401568" y="2057400"/>
            <a:ext cx="0" cy="66751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330946" y="5779002"/>
            <a:ext cx="8849789" cy="54863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Advantage: one model.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Limitation: errors propagate because later inputs contain previous predictions.</a:t>
            </a:r>
            <a:endParaRPr lang="en-US" sz="1600" dirty="0"/>
          </a:p>
        </p:txBody>
      </p:sp>
      <p:sp>
        <p:nvSpPr>
          <p:cNvPr id="26" name="Freccia circolare a sinistra 25">
            <a:extLst>
              <a:ext uri="{FF2B5EF4-FFF2-40B4-BE49-F238E27FC236}">
                <a16:creationId xmlns:a16="http://schemas.microsoft.com/office/drawing/2014/main" id="{F2F374B2-7B44-D996-EB59-7BF387A7CD1D}"/>
              </a:ext>
            </a:extLst>
          </p:cNvPr>
          <p:cNvSpPr/>
          <p:nvPr/>
        </p:nvSpPr>
        <p:spPr>
          <a:xfrm rot="5400000">
            <a:off x="7360590" y="2120776"/>
            <a:ext cx="1143658" cy="435315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D35184-C753-7A89-B690-8FB68F047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Error accumulation in recursive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563DED-C9A0-5E31-D8FF-4B5235AFC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Suppose the true future values are:</a:t>
            </a:r>
          </a:p>
          <a:p>
            <a:r>
              <a:rPr lang="en-GB" dirty="0"/>
              <a:t>100, 102, 105, 107</a:t>
            </a:r>
          </a:p>
          <a:p>
            <a:r>
              <a:rPr lang="en-GB" dirty="0"/>
              <a:t>The model predicts:</a:t>
            </a:r>
          </a:p>
          <a:p>
            <a:r>
              <a:rPr lang="en-GB" dirty="0"/>
              <a:t>101</a:t>
            </a:r>
          </a:p>
          <a:p>
            <a:r>
              <a:rPr lang="en-GB" dirty="0"/>
              <a:t>for the first step.</a:t>
            </a:r>
          </a:p>
          <a:p>
            <a:r>
              <a:rPr lang="en-GB" dirty="0"/>
              <a:t>The second forecast now uses:</a:t>
            </a:r>
          </a:p>
          <a:p>
            <a:r>
              <a:rPr lang="en-GB" dirty="0"/>
              <a:t>101</a:t>
            </a:r>
          </a:p>
          <a:p>
            <a:r>
              <a:rPr lang="en-GB" dirty="0"/>
              <a:t>instead of the unknown true value:</a:t>
            </a:r>
          </a:p>
          <a:p>
            <a:r>
              <a:rPr lang="en-GB" dirty="0"/>
              <a:t>100</a:t>
            </a:r>
          </a:p>
          <a:p>
            <a:r>
              <a:rPr lang="en-GB" dirty="0"/>
              <a:t>If the next forecast is also slightly wrong, </a:t>
            </a:r>
            <a:r>
              <a:rPr lang="en-GB" b="1" dirty="0"/>
              <a:t>the input becomes progressively less realistic.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738679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FB38A4-1E04-D5B0-D3D0-6C0318A8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Error accumulation in recursive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FB1EDB-984B-7B1F-CA78-5EA998FF8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Conceptual chain</a:t>
            </a:r>
          </a:p>
          <a:p>
            <a:r>
              <a:rPr lang="en-GB" dirty="0"/>
              <a:t>small error at t+1</a:t>
            </a:r>
          </a:p>
          <a:p>
            <a:r>
              <a:rPr lang="en-GB" dirty="0"/>
              <a:t>       ↓</a:t>
            </a:r>
          </a:p>
          <a:p>
            <a:r>
              <a:rPr lang="en-GB" dirty="0"/>
              <a:t>changed input for t+2</a:t>
            </a:r>
          </a:p>
          <a:p>
            <a:r>
              <a:rPr lang="en-GB" dirty="0"/>
              <a:t>       ↓</a:t>
            </a:r>
          </a:p>
          <a:p>
            <a:r>
              <a:rPr lang="en-GB" dirty="0"/>
              <a:t>new prediction error</a:t>
            </a:r>
          </a:p>
          <a:p>
            <a:r>
              <a:rPr lang="en-GB" dirty="0"/>
              <a:t>       ↓</a:t>
            </a:r>
          </a:p>
          <a:p>
            <a:r>
              <a:rPr lang="en-GB" dirty="0"/>
              <a:t>changed input for t+3</a:t>
            </a:r>
          </a:p>
          <a:p>
            <a:r>
              <a:rPr lang="en-GB" dirty="0"/>
              <a:t>       ↓</a:t>
            </a:r>
          </a:p>
          <a:p>
            <a:r>
              <a:rPr lang="en-GB" dirty="0"/>
              <a:t>...</a:t>
            </a:r>
          </a:p>
          <a:p>
            <a:r>
              <a:rPr lang="en-GB" b="1" dirty="0"/>
              <a:t>Consequence</a:t>
            </a:r>
          </a:p>
          <a:p>
            <a:r>
              <a:rPr lang="en-GB" b="1" dirty="0"/>
              <a:t>Forecasting error often increases with horizon.</a:t>
            </a:r>
          </a:p>
          <a:p>
            <a:endParaRPr lang="en-GB" b="1" dirty="0"/>
          </a:p>
          <a:p>
            <a:r>
              <a:rPr lang="en-GB" b="1" dirty="0"/>
              <a:t>Important evaluation requirement</a:t>
            </a:r>
          </a:p>
          <a:p>
            <a:r>
              <a:rPr lang="en-GB" dirty="0"/>
              <a:t>Report performance separately for: h = 1, 2, ..., H rather than using only one average score.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86698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Recursive forecasting can accumulate error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A small early error changes the input for later predictions.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69264" y="2523744"/>
            <a:ext cx="62179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69264" y="3438144"/>
            <a:ext cx="7132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91640" y="2697480"/>
            <a:ext cx="6400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792224" y="3685031"/>
            <a:ext cx="539496" cy="3049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331720" y="246888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386584" y="2523744"/>
            <a:ext cx="62179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338328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386584" y="3438144"/>
            <a:ext cx="7132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2697480"/>
            <a:ext cx="6400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108960" y="3685031"/>
            <a:ext cx="662940" cy="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749040" y="246888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803904" y="2523744"/>
            <a:ext cx="62179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338328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803904" y="3438144"/>
            <a:ext cx="7132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2697480"/>
            <a:ext cx="6400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572000" y="3685031"/>
            <a:ext cx="594360" cy="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166360" y="246888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221224" y="2523744"/>
            <a:ext cx="62179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338328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221224" y="3438144"/>
            <a:ext cx="7132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697480"/>
            <a:ext cx="64008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989320" y="3685031"/>
            <a:ext cx="594360" cy="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583680" y="246888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638544" y="2523744"/>
            <a:ext cx="62179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0" y="338328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638544" y="3438144"/>
            <a:ext cx="71323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4400" y="493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Report error by horizon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3794760" y="5303520"/>
            <a:ext cx="5120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3840480" y="5074920"/>
            <a:ext cx="502920" cy="228600"/>
          </a:xfrm>
          <a:prstGeom prst="rect">
            <a:avLst/>
          </a:prstGeom>
          <a:solidFill>
            <a:srgbClr val="84B82A">
              <a:alpha val="65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3794760" y="5394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h=1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37760" y="4919472"/>
            <a:ext cx="502920" cy="384048"/>
          </a:xfrm>
          <a:prstGeom prst="rect">
            <a:avLst/>
          </a:prstGeom>
          <a:solidFill>
            <a:srgbClr val="84B82A">
              <a:alpha val="95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4892040" y="5394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h=2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35040" y="4764024"/>
            <a:ext cx="502920" cy="539496"/>
          </a:xfrm>
          <a:prstGeom prst="rect">
            <a:avLst/>
          </a:prstGeom>
          <a:solidFill>
            <a:srgbClr val="84B82A">
              <a:alpha val="95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5989320" y="5394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h=3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132320" y="4608576"/>
            <a:ext cx="502920" cy="694944"/>
          </a:xfrm>
          <a:prstGeom prst="rect">
            <a:avLst/>
          </a:prstGeom>
          <a:solidFill>
            <a:srgbClr val="84B82A">
              <a:alpha val="95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7086600" y="5394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h=4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229600" y="4453128"/>
            <a:ext cx="502920" cy="850392"/>
          </a:xfrm>
          <a:prstGeom prst="rect">
            <a:avLst/>
          </a:prstGeom>
          <a:solidFill>
            <a:srgbClr val="84B82A">
              <a:alpha val="95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8183880" y="5394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h=5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0080" y="6263640"/>
            <a:ext cx="8412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A single average error can lead to severe degradation at longer horizons.</a:t>
            </a:r>
            <a:endParaRPr lang="en-US" sz="13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9F7766-0BEF-12BE-3A00-4D246841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 multi-output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702C00-07DA-9B8B-E3CB-3CA7F806F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9038166" cy="4468811"/>
          </a:xfrm>
        </p:spPr>
        <p:txBody>
          <a:bodyPr>
            <a:normAutofit fontScale="62500" lnSpcReduction="20000"/>
          </a:bodyPr>
          <a:lstStyle/>
          <a:p>
            <a:r>
              <a:rPr lang="en-GB" sz="2200" dirty="0"/>
              <a:t>Instead of recursively generating predictions, the model can produce all future horizons simultaneously.</a:t>
            </a:r>
          </a:p>
          <a:p>
            <a:r>
              <a:rPr lang="en-GB" sz="2200" dirty="0"/>
              <a:t>Input:</a:t>
            </a:r>
          </a:p>
          <a:p>
            <a:pPr lvl="1"/>
            <a:r>
              <a:rPr lang="en-GB" sz="2000" dirty="0"/>
              <a:t>[x[t−L+1], ..., x[t]]</a:t>
            </a:r>
          </a:p>
          <a:p>
            <a:r>
              <a:rPr lang="en-GB" sz="2200" dirty="0"/>
              <a:t>Output:</a:t>
            </a:r>
          </a:p>
          <a:p>
            <a:pPr lvl="1"/>
            <a:r>
              <a:rPr lang="en-GB" sz="2000" dirty="0"/>
              <a:t>[</a:t>
            </a:r>
            <a:r>
              <a:rPr lang="en-GB" sz="2000" dirty="0" err="1"/>
              <a:t>y_hat</a:t>
            </a:r>
            <a:r>
              <a:rPr lang="en-GB" sz="2000" dirty="0"/>
              <a:t>[t+1], ..., </a:t>
            </a:r>
            <a:r>
              <a:rPr lang="en-GB" sz="2000" dirty="0" err="1"/>
              <a:t>y_hat</a:t>
            </a:r>
            <a:r>
              <a:rPr lang="en-GB" sz="2000" dirty="0"/>
              <a:t>[</a:t>
            </a:r>
            <a:r>
              <a:rPr lang="en-GB" sz="2000" dirty="0" err="1"/>
              <a:t>t+H</a:t>
            </a:r>
            <a:r>
              <a:rPr lang="en-GB" sz="2000" dirty="0"/>
              <a:t>]]</a:t>
            </a:r>
          </a:p>
          <a:p>
            <a:r>
              <a:rPr lang="en-GB" sz="2200" b="1" dirty="0"/>
              <a:t>Architecture</a:t>
            </a:r>
          </a:p>
          <a:p>
            <a:pPr lvl="1"/>
            <a:r>
              <a:rPr lang="en-GB" sz="2000" dirty="0"/>
              <a:t>past sequence</a:t>
            </a:r>
          </a:p>
          <a:p>
            <a:pPr lvl="1"/>
            <a:r>
              <a:rPr lang="en-GB" sz="2000" dirty="0"/>
              <a:t>     ↓</a:t>
            </a:r>
          </a:p>
          <a:p>
            <a:pPr lvl="1"/>
            <a:r>
              <a:rPr lang="en-GB" sz="2000" dirty="0"/>
              <a:t>RNN / LSTM / GRU</a:t>
            </a:r>
          </a:p>
          <a:p>
            <a:pPr lvl="1"/>
            <a:r>
              <a:rPr lang="en-GB" sz="2000" dirty="0"/>
              <a:t>     ↓</a:t>
            </a:r>
          </a:p>
          <a:p>
            <a:pPr lvl="1"/>
            <a:r>
              <a:rPr lang="en-GB" sz="2000" dirty="0"/>
              <a:t>final state h[t]</a:t>
            </a:r>
          </a:p>
          <a:p>
            <a:pPr lvl="1"/>
            <a:r>
              <a:rPr lang="en-GB" sz="2000" dirty="0"/>
              <a:t>     ↓</a:t>
            </a:r>
          </a:p>
          <a:p>
            <a:pPr lvl="1"/>
            <a:r>
              <a:rPr lang="en-GB" sz="2000" dirty="0"/>
              <a:t>output layer</a:t>
            </a:r>
          </a:p>
          <a:p>
            <a:pPr lvl="1"/>
            <a:r>
              <a:rPr lang="en-GB" sz="2000" dirty="0"/>
              <a:t>     ↓</a:t>
            </a:r>
          </a:p>
          <a:p>
            <a:pPr lvl="1"/>
            <a:r>
              <a:rPr lang="en-GB" sz="2000" dirty="0"/>
              <a:t>t+1  t+2  t+3 ... </a:t>
            </a:r>
            <a:r>
              <a:rPr lang="en-GB" sz="2000" dirty="0" err="1"/>
              <a:t>t+H</a:t>
            </a:r>
            <a:endParaRPr lang="en-GB" sz="2000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B168494-E023-2A89-1779-418137A63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94945" y="3265488"/>
            <a:ext cx="4911280" cy="3363911"/>
          </a:xfrm>
        </p:spPr>
        <p:txBody>
          <a:bodyPr>
            <a:normAutofit fontScale="62500" lnSpcReduction="20000"/>
          </a:bodyPr>
          <a:lstStyle/>
          <a:p>
            <a:r>
              <a:rPr lang="en-GB" sz="2200" b="1" dirty="0">
                <a:highlight>
                  <a:srgbClr val="FFFF00"/>
                </a:highlight>
              </a:rPr>
              <a:t>Advantages</a:t>
            </a:r>
          </a:p>
          <a:p>
            <a:pPr lvl="0"/>
            <a:r>
              <a:rPr lang="en-GB" sz="2200" dirty="0"/>
              <a:t>no recursive feedback of predicted values; </a:t>
            </a:r>
          </a:p>
          <a:p>
            <a:pPr lvl="0"/>
            <a:r>
              <a:rPr lang="en-GB" sz="2200" dirty="0"/>
              <a:t>all horizons are generated in one forward pass; </a:t>
            </a:r>
          </a:p>
          <a:p>
            <a:pPr lvl="0"/>
            <a:r>
              <a:rPr lang="en-GB" sz="2200" dirty="0"/>
              <a:t>errors do not propagate through predicted inputs. </a:t>
            </a:r>
          </a:p>
          <a:p>
            <a:endParaRPr lang="en-GB" sz="2200" b="1" dirty="0"/>
          </a:p>
          <a:p>
            <a:r>
              <a:rPr lang="en-GB" sz="2200" b="1" dirty="0">
                <a:highlight>
                  <a:srgbClr val="FFFF00"/>
                </a:highlight>
              </a:rPr>
              <a:t>Limitation</a:t>
            </a:r>
          </a:p>
          <a:p>
            <a:r>
              <a:rPr lang="en-GB" sz="2200" b="1" dirty="0"/>
              <a:t>The output layer must learn several horizon-specific predictions simultaneously.</a:t>
            </a:r>
          </a:p>
          <a:p>
            <a:pPr marL="0" indent="0">
              <a:buNone/>
            </a:pPr>
            <a:endParaRPr lang="en-GB" sz="2200" b="1" dirty="0"/>
          </a:p>
          <a:p>
            <a:r>
              <a:rPr lang="en-GB" sz="2200" dirty="0"/>
              <a:t>Different horizons may have different levels of difficulty.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C0F8341-5D21-3BF1-4E08-24E24F915B9D}"/>
              </a:ext>
            </a:extLst>
          </p:cNvPr>
          <p:cNvSpPr txBox="1"/>
          <p:nvPr/>
        </p:nvSpPr>
        <p:spPr>
          <a:xfrm>
            <a:off x="4311206" y="2926934"/>
            <a:ext cx="1085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A </a:t>
            </a:r>
            <a:r>
              <a:rPr lang="it-IT" sz="1600" dirty="0" err="1"/>
              <a:t>vector</a:t>
            </a:r>
            <a:endParaRPr lang="en-GB" sz="1600" dirty="0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AF35E6D8-26BD-159D-5B0D-41B3BC035925}"/>
              </a:ext>
            </a:extLst>
          </p:cNvPr>
          <p:cNvCxnSpPr/>
          <p:nvPr/>
        </p:nvCxnSpPr>
        <p:spPr>
          <a:xfrm flipH="1">
            <a:off x="3448050" y="3048000"/>
            <a:ext cx="742950" cy="217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34621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 multi-output forecasting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Predict all horizons simultaneously from one recurrent representation.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77824" y="2798064"/>
            <a:ext cx="2450592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sequence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[x[t−L+1], ..., x[t]]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3127248"/>
            <a:ext cx="91440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297680" y="27432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E8F6D0"/>
          </a:solidFill>
          <a:ln w="1524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352544" y="2798064"/>
            <a:ext cx="1627632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 / LSTM / GRU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127248"/>
            <a:ext cx="77724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812280" y="2862072"/>
            <a:ext cx="73152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867144" y="2916936"/>
            <a:ext cx="62179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 flipV="1">
            <a:off x="7543800" y="2871216"/>
            <a:ext cx="1188720" cy="256032"/>
          </a:xfrm>
          <a:prstGeom prst="line">
            <a:avLst/>
          </a:prstGeom>
          <a:noFill/>
          <a:ln w="2032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732520" y="205740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787384" y="2112264"/>
            <a:ext cx="71323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V="1">
            <a:off x="7543800" y="2295144"/>
            <a:ext cx="1207008" cy="832104"/>
          </a:xfrm>
          <a:prstGeom prst="line">
            <a:avLst/>
          </a:prstGeom>
          <a:noFill/>
          <a:ln w="2032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732520" y="260604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787384" y="2660904"/>
            <a:ext cx="71323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43800" y="3127248"/>
            <a:ext cx="1188720" cy="256032"/>
          </a:xfrm>
          <a:prstGeom prst="line">
            <a:avLst/>
          </a:prstGeom>
          <a:noFill/>
          <a:ln w="2032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732520" y="315468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787384" y="3209544"/>
            <a:ext cx="71323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43800" y="3127248"/>
            <a:ext cx="1188720" cy="804672"/>
          </a:xfrm>
          <a:prstGeom prst="line">
            <a:avLst/>
          </a:prstGeom>
          <a:noFill/>
          <a:ln w="2032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8732520" y="370332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787384" y="3758184"/>
            <a:ext cx="71323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43800" y="3127248"/>
            <a:ext cx="1188720" cy="1353312"/>
          </a:xfrm>
          <a:prstGeom prst="line">
            <a:avLst/>
          </a:prstGeom>
          <a:noFill/>
          <a:ln w="2032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8732520" y="425196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787384" y="4306824"/>
            <a:ext cx="713232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263640"/>
            <a:ext cx="8412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No recursive feedback: predictions do not become inputs for later horizons.</a:t>
            </a:r>
            <a:endParaRPr lang="en-US" sz="13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8D6B11-F6D0-4FF3-D514-B120D706D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shapes for multi-horizon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AA6C1E-94B4-4ED1-A641-0A7BA38AD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Suppose:</a:t>
            </a:r>
          </a:p>
          <a:p>
            <a:pPr lvl="1"/>
            <a:r>
              <a:rPr lang="en-GB" dirty="0"/>
              <a:t>batch size = N; </a:t>
            </a:r>
          </a:p>
          <a:p>
            <a:pPr lvl="1"/>
            <a:r>
              <a:rPr lang="en-GB" dirty="0"/>
              <a:t>input window length = L; </a:t>
            </a:r>
          </a:p>
          <a:p>
            <a:pPr lvl="1"/>
            <a:r>
              <a:rPr lang="en-GB" dirty="0"/>
              <a:t>number of input variables = d; </a:t>
            </a:r>
          </a:p>
          <a:p>
            <a:pPr lvl="1"/>
            <a:r>
              <a:rPr lang="en-GB" dirty="0"/>
              <a:t>forecast horizon = </a:t>
            </a:r>
            <a:r>
              <a:rPr lang="en-GB" dirty="0" err="1"/>
              <a:t>H_forecast</a:t>
            </a:r>
            <a:r>
              <a:rPr lang="en-GB" dirty="0"/>
              <a:t>. </a:t>
            </a:r>
          </a:p>
          <a:p>
            <a:r>
              <a:rPr lang="en-GB" dirty="0"/>
              <a:t>Input:</a:t>
            </a:r>
          </a:p>
          <a:p>
            <a:pPr lvl="1"/>
            <a:r>
              <a:rPr lang="en-GB" dirty="0"/>
              <a:t>[N, L, d]</a:t>
            </a:r>
          </a:p>
          <a:p>
            <a:r>
              <a:rPr lang="en-GB" u="sng" dirty="0"/>
              <a:t>Final</a:t>
            </a:r>
            <a:r>
              <a:rPr lang="en-GB" dirty="0"/>
              <a:t> recurrent representation:</a:t>
            </a:r>
          </a:p>
          <a:p>
            <a:pPr lvl="1"/>
            <a:r>
              <a:rPr lang="en-GB" dirty="0"/>
              <a:t>[N, </a:t>
            </a:r>
            <a:r>
              <a:rPr lang="en-GB" dirty="0" err="1"/>
              <a:t>H_hidden</a:t>
            </a:r>
            <a:r>
              <a:rPr lang="en-GB" dirty="0"/>
              <a:t>]</a:t>
            </a:r>
          </a:p>
          <a:p>
            <a:endParaRPr lang="en-GB" b="1" dirty="0"/>
          </a:p>
          <a:p>
            <a:r>
              <a:rPr lang="en-GB" b="1" dirty="0"/>
              <a:t>Univariate future target</a:t>
            </a:r>
          </a:p>
          <a:p>
            <a:r>
              <a:rPr lang="en-GB" dirty="0"/>
              <a:t>Output:</a:t>
            </a:r>
          </a:p>
          <a:p>
            <a:pPr lvl="1"/>
            <a:r>
              <a:rPr lang="en-GB" dirty="0"/>
              <a:t>[N, </a:t>
            </a:r>
            <a:r>
              <a:rPr lang="en-GB" dirty="0" err="1"/>
              <a:t>H_forecast</a:t>
            </a:r>
            <a:r>
              <a:rPr lang="en-GB" dirty="0"/>
              <a:t>]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ED7BF4F-EF31-867E-FED0-AF6C47D76219}"/>
              </a:ext>
            </a:extLst>
          </p:cNvPr>
          <p:cNvSpPr txBox="1"/>
          <p:nvPr/>
        </p:nvSpPr>
        <p:spPr>
          <a:xfrm>
            <a:off x="3919538" y="5350323"/>
            <a:ext cx="61055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Example:</a:t>
            </a:r>
          </a:p>
          <a:p>
            <a:r>
              <a:rPr lang="en-GB" sz="1400" dirty="0"/>
              <a:t>[64, 24]</a:t>
            </a:r>
          </a:p>
          <a:p>
            <a:r>
              <a:rPr lang="en-GB" sz="1400" dirty="0"/>
              <a:t>means:</a:t>
            </a:r>
          </a:p>
          <a:p>
            <a:pPr lvl="0"/>
            <a:r>
              <a:rPr lang="en-GB" sz="1400" dirty="0"/>
              <a:t>64 samples in the batch; </a:t>
            </a:r>
          </a:p>
          <a:p>
            <a:pPr lvl="0"/>
            <a:r>
              <a:rPr lang="en-GB" sz="1400" dirty="0"/>
              <a:t>24 future values (steps to predict) per sample. </a:t>
            </a:r>
          </a:p>
        </p:txBody>
      </p:sp>
    </p:spTree>
    <p:extLst>
      <p:ext uri="{BB962C8B-B14F-4D97-AF65-F5344CB8AC3E}">
        <p14:creationId xmlns:p14="http://schemas.microsoft.com/office/powerpoint/2010/main" val="2125966256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E7421-DEAE-5709-B8BE-2627EBC6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727C0D-CDA6-8B5C-4246-FEA65C60D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shapes for multi-horizon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056033-DD27-E76E-71D8-A441B7BFA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Multivariate forecasting</a:t>
            </a:r>
          </a:p>
          <a:p>
            <a:r>
              <a:rPr lang="en-GB" dirty="0"/>
              <a:t>With q predicted variables:</a:t>
            </a:r>
          </a:p>
          <a:p>
            <a:pPr lvl="1"/>
            <a:r>
              <a:rPr lang="en-GB" dirty="0"/>
              <a:t>[N, </a:t>
            </a:r>
            <a:r>
              <a:rPr lang="en-GB" dirty="0" err="1"/>
              <a:t>H_forecast</a:t>
            </a:r>
            <a:r>
              <a:rPr lang="en-GB" dirty="0"/>
              <a:t>, q]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[64, 24, 3]</a:t>
            </a:r>
          </a:p>
          <a:p>
            <a:r>
              <a:rPr lang="en-GB" dirty="0"/>
              <a:t>means:</a:t>
            </a:r>
          </a:p>
          <a:p>
            <a:pPr lvl="1"/>
            <a:r>
              <a:rPr lang="en-GB" dirty="0"/>
              <a:t>64 samples; </a:t>
            </a:r>
          </a:p>
          <a:p>
            <a:pPr lvl="1"/>
            <a:r>
              <a:rPr lang="en-GB" dirty="0"/>
              <a:t>24 future steps; </a:t>
            </a:r>
          </a:p>
          <a:p>
            <a:pPr lvl="1"/>
            <a:r>
              <a:rPr lang="en-GB" dirty="0"/>
              <a:t>3 predicted variables per step. </a:t>
            </a:r>
          </a:p>
          <a:p>
            <a:endParaRPr lang="en-GB" b="1" dirty="0"/>
          </a:p>
          <a:p>
            <a:r>
              <a:rPr lang="en-GB" b="1" dirty="0"/>
              <a:t>Important distinction</a:t>
            </a:r>
          </a:p>
          <a:p>
            <a:pPr lvl="1"/>
            <a:r>
              <a:rPr lang="en-GB" dirty="0" err="1"/>
              <a:t>H_hidden</a:t>
            </a:r>
            <a:r>
              <a:rPr lang="en-GB" dirty="0"/>
              <a:t> and </a:t>
            </a:r>
            <a:r>
              <a:rPr lang="en-GB" dirty="0" err="1"/>
              <a:t>H_forecast</a:t>
            </a:r>
            <a:r>
              <a:rPr lang="en-GB" dirty="0"/>
              <a:t> are different quantities.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5900454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Tensor shapes for </a:t>
            </a: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multi-horizon recurrent forecasting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Keep hidden dimension and forecast horizon conceptually separate.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77824" y="2615184"/>
            <a:ext cx="1399032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[N, L, d]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31720" y="2944368"/>
            <a:ext cx="86868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200400" y="256032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E8F6D0"/>
          </a:solidFill>
          <a:ln w="1524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55264" y="2615184"/>
            <a:ext cx="1399032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2944368"/>
            <a:ext cx="868680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577840" y="25603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632704" y="2615184"/>
            <a:ext cx="1581912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state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[N, H_hidden]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V="1">
            <a:off x="7269480" y="2212848"/>
            <a:ext cx="868677" cy="731520"/>
          </a:xfrm>
          <a:prstGeom prst="line">
            <a:avLst/>
          </a:prstGeom>
          <a:noFill/>
          <a:ln w="27940">
            <a:solidFill>
              <a:srgbClr val="EAB30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269480" y="2944368"/>
            <a:ext cx="868680" cy="713232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8138160" y="18288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193024" y="1883664"/>
            <a:ext cx="171907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Univariate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[N, H_forecast]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33832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193024" y="3438144"/>
            <a:ext cx="1901952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Multivariate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[N, H_forecast, q]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20138" y="5061561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</a:rPr>
              <a:t>Do not confuse H_hidden with H_forecast.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3257" y="5521440"/>
            <a:ext cx="8412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The recurrent state size controls representation capacity; the forecast horizon controls output length.</a:t>
            </a:r>
            <a:endParaRPr lang="en-US" sz="1300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8CE11A69-F8FB-AA8B-EDE3-7BEE67EACEA6}"/>
              </a:ext>
            </a:extLst>
          </p:cNvPr>
          <p:cNvSpPr txBox="1"/>
          <p:nvPr/>
        </p:nvSpPr>
        <p:spPr>
          <a:xfrm>
            <a:off x="5577840" y="3876675"/>
            <a:ext cx="1874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/>
              <a:t>Recurrent</a:t>
            </a:r>
            <a:r>
              <a:rPr lang="it-IT" sz="1200" dirty="0"/>
              <a:t> state size</a:t>
            </a:r>
            <a:endParaRPr lang="en-GB" sz="1200" dirty="0"/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4CC0799E-5052-2290-A0BF-C2A9017E2870}"/>
              </a:ext>
            </a:extLst>
          </p:cNvPr>
          <p:cNvCxnSpPr/>
          <p:nvPr/>
        </p:nvCxnSpPr>
        <p:spPr>
          <a:xfrm flipV="1">
            <a:off x="6096000" y="3162300"/>
            <a:ext cx="409575" cy="714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F7E2A219-8F1F-0C87-CB17-58338628343E}"/>
              </a:ext>
            </a:extLst>
          </p:cNvPr>
          <p:cNvSpPr txBox="1"/>
          <p:nvPr/>
        </p:nvSpPr>
        <p:spPr>
          <a:xfrm>
            <a:off x="6423660" y="4662101"/>
            <a:ext cx="1874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Output </a:t>
            </a:r>
            <a:r>
              <a:rPr lang="it-IT" sz="1200" dirty="0" err="1"/>
              <a:t>length</a:t>
            </a:r>
            <a:endParaRPr lang="en-GB" sz="1200" dirty="0"/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4EEF1EF1-A0AA-0FBF-E838-AC3C22D1F463}"/>
              </a:ext>
            </a:extLst>
          </p:cNvPr>
          <p:cNvCxnSpPr/>
          <p:nvPr/>
        </p:nvCxnSpPr>
        <p:spPr>
          <a:xfrm flipV="1">
            <a:off x="7498080" y="2578608"/>
            <a:ext cx="1417320" cy="2002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1DE1E8-11AE-B0A8-FF41-E137A586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 models can learn horizon-specific </a:t>
            </a:r>
            <a:r>
              <a:rPr lang="en-GB" dirty="0" err="1"/>
              <a:t>behavior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1945CD-5ECE-A44D-0AF8-F3B388DD9E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relationship between past and future may change with forecast horizon.</a:t>
            </a:r>
          </a:p>
          <a:p>
            <a:r>
              <a:rPr lang="en-GB" dirty="0"/>
              <a:t>For example:</a:t>
            </a:r>
          </a:p>
          <a:p>
            <a:r>
              <a:rPr lang="en-GB" b="1" dirty="0"/>
              <a:t>Short horizon</a:t>
            </a:r>
          </a:p>
          <a:p>
            <a:pPr lvl="1"/>
            <a:r>
              <a:rPr lang="en-GB" dirty="0"/>
              <a:t>Recent observations may dominate.</a:t>
            </a:r>
          </a:p>
          <a:p>
            <a:r>
              <a:rPr lang="en-GB" b="1" dirty="0"/>
              <a:t>Longer horizon</a:t>
            </a:r>
          </a:p>
          <a:p>
            <a:r>
              <a:rPr lang="en-GB" dirty="0"/>
              <a:t>Other factors may matter more:</a:t>
            </a:r>
          </a:p>
          <a:p>
            <a:pPr lvl="1"/>
            <a:r>
              <a:rPr lang="en-GB" dirty="0"/>
              <a:t>seasonality; </a:t>
            </a:r>
          </a:p>
          <a:p>
            <a:pPr lvl="1"/>
            <a:r>
              <a:rPr lang="en-GB" dirty="0"/>
              <a:t>operating schedule; </a:t>
            </a:r>
          </a:p>
          <a:p>
            <a:pPr lvl="1"/>
            <a:r>
              <a:rPr lang="en-GB" dirty="0"/>
              <a:t>exogenous variables; </a:t>
            </a:r>
          </a:p>
          <a:p>
            <a:pPr lvl="1"/>
            <a:r>
              <a:rPr lang="en-GB" dirty="0"/>
              <a:t>slower trends.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1A5540F-27FF-D102-1731-C1350CAEB2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A direct multi-output model can learn different output weights for:</a:t>
            </a:r>
          </a:p>
          <a:p>
            <a:r>
              <a:rPr lang="en-GB" dirty="0"/>
              <a:t>h = 1</a:t>
            </a:r>
          </a:p>
          <a:p>
            <a:r>
              <a:rPr lang="en-GB" dirty="0"/>
              <a:t>and:</a:t>
            </a:r>
          </a:p>
          <a:p>
            <a:r>
              <a:rPr lang="en-GB" dirty="0"/>
              <a:t>h = 24</a:t>
            </a:r>
          </a:p>
          <a:p>
            <a:r>
              <a:rPr lang="en-GB" dirty="0"/>
              <a:t>even though both predictions use the same recurrent representation.</a:t>
            </a:r>
          </a:p>
          <a:p>
            <a:r>
              <a:rPr lang="en-GB" b="1" dirty="0"/>
              <a:t>Example</a:t>
            </a:r>
          </a:p>
          <a:p>
            <a:r>
              <a:rPr lang="en-GB" dirty="0"/>
              <a:t>h[t]</a:t>
            </a:r>
          </a:p>
          <a:p>
            <a:r>
              <a:rPr lang="en-GB" dirty="0"/>
              <a:t> ├──→ </a:t>
            </a:r>
            <a:r>
              <a:rPr lang="en-GB" dirty="0" err="1"/>
              <a:t>y_hat</a:t>
            </a:r>
            <a:r>
              <a:rPr lang="en-GB" dirty="0"/>
              <a:t>[t+1]</a:t>
            </a:r>
          </a:p>
          <a:p>
            <a:r>
              <a:rPr lang="en-GB" dirty="0"/>
              <a:t> ├──→ </a:t>
            </a:r>
            <a:r>
              <a:rPr lang="en-GB" dirty="0" err="1"/>
              <a:t>y_hat</a:t>
            </a:r>
            <a:r>
              <a:rPr lang="en-GB" dirty="0"/>
              <a:t>[t+2]</a:t>
            </a:r>
          </a:p>
          <a:p>
            <a:r>
              <a:rPr lang="en-GB" dirty="0"/>
              <a:t> ├──→ ...</a:t>
            </a:r>
          </a:p>
          <a:p>
            <a:r>
              <a:rPr lang="en-GB" dirty="0"/>
              <a:t> └──→ </a:t>
            </a:r>
            <a:r>
              <a:rPr lang="en-GB" dirty="0" err="1"/>
              <a:t>y_hat</a:t>
            </a:r>
            <a:r>
              <a:rPr lang="en-GB" dirty="0"/>
              <a:t>[</a:t>
            </a:r>
            <a:r>
              <a:rPr lang="en-GB" dirty="0" err="1"/>
              <a:t>t+H</a:t>
            </a:r>
            <a:r>
              <a:rPr lang="en-GB" dirty="0"/>
              <a:t>]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CE0C3B9-6D64-F9AE-30EB-EEFEFD022B89}"/>
              </a:ext>
            </a:extLst>
          </p:cNvPr>
          <p:cNvSpPr txBox="1"/>
          <p:nvPr/>
        </p:nvSpPr>
        <p:spPr>
          <a:xfrm>
            <a:off x="1649064" y="6062922"/>
            <a:ext cx="67996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Multi-output forecasting allows one temporal representation to support several horizon-specific predictions.</a:t>
            </a:r>
          </a:p>
        </p:txBody>
      </p:sp>
    </p:spTree>
    <p:extLst>
      <p:ext uri="{BB962C8B-B14F-4D97-AF65-F5344CB8AC3E}">
        <p14:creationId xmlns:p14="http://schemas.microsoft.com/office/powerpoint/2010/main" val="353961766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73AD6-4383-A08C-AD48-34BFD83CA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Sequence-to-sequence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8500E7-6404-7FA0-493F-B76B7E5D0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Another possibility is to produce a temporal output sequence from recurrent states.</a:t>
            </a:r>
          </a:p>
          <a:p>
            <a:r>
              <a:rPr lang="en-GB" dirty="0"/>
              <a:t>This is useful when the input and output are both sequences.</a:t>
            </a:r>
          </a:p>
          <a:p>
            <a:r>
              <a:rPr lang="en-GB" dirty="0"/>
              <a:t>Conceptually:</a:t>
            </a:r>
          </a:p>
          <a:p>
            <a:pPr lvl="1"/>
            <a:r>
              <a:rPr lang="en-GB" dirty="0"/>
              <a:t>input sequence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recurrent representation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future output sequence</a:t>
            </a:r>
          </a:p>
          <a:p>
            <a:r>
              <a:rPr lang="en-GB" dirty="0"/>
              <a:t>Depending on the architecture, future outputs may be generated:</a:t>
            </a:r>
          </a:p>
          <a:p>
            <a:pPr lvl="1"/>
            <a:r>
              <a:rPr lang="en-GB" dirty="0"/>
              <a:t>simultaneously; </a:t>
            </a:r>
          </a:p>
          <a:p>
            <a:pPr lvl="1"/>
            <a:r>
              <a:rPr lang="en-GB" dirty="0"/>
              <a:t>sequentially.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296100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CAFDBF-245A-E40D-352A-C0A75C875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Sequence-to-sequence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07E69A-F102-BFA2-52BD-7610452B9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Examples</a:t>
            </a:r>
          </a:p>
          <a:p>
            <a:pPr lvl="1"/>
            <a:r>
              <a:rPr lang="en-GB" dirty="0"/>
              <a:t>future demand trajectory; </a:t>
            </a:r>
          </a:p>
          <a:p>
            <a:pPr lvl="1"/>
            <a:r>
              <a:rPr lang="en-GB" dirty="0"/>
              <a:t>future temperature profile; </a:t>
            </a:r>
          </a:p>
          <a:p>
            <a:pPr lvl="1"/>
            <a:r>
              <a:rPr lang="en-GB" dirty="0"/>
              <a:t>future sensor trajectory. </a:t>
            </a:r>
          </a:p>
          <a:p>
            <a:r>
              <a:rPr lang="en-GB" b="1" dirty="0"/>
              <a:t>Scope here</a:t>
            </a:r>
          </a:p>
          <a:p>
            <a:r>
              <a:rPr lang="en-GB" dirty="0"/>
              <a:t>For this course, the most important distinction is between:</a:t>
            </a:r>
          </a:p>
          <a:p>
            <a:pPr lvl="1"/>
            <a:r>
              <a:rPr lang="en-GB" dirty="0"/>
              <a:t>recursive one-step forecasting; </a:t>
            </a:r>
          </a:p>
          <a:p>
            <a:pPr lvl="1"/>
            <a:r>
              <a:rPr lang="en-GB" dirty="0"/>
              <a:t>direct multi-output forecasting. </a:t>
            </a:r>
          </a:p>
          <a:p>
            <a:pPr lvl="1"/>
            <a:r>
              <a:rPr lang="en-GB" dirty="0"/>
              <a:t>More elaborate encoder-decoder generation can be treated as an extension rather than the core recurrent architecture.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940688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4FBD3-42FF-BA43-7763-DBE00F57D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Future-known covariates can be included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E90F9B-B234-83AB-E641-888B41B6C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Forecasting often depends on variables known for the future horizon.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calendar; </a:t>
            </a:r>
          </a:p>
          <a:p>
            <a:pPr lvl="1"/>
            <a:r>
              <a:rPr lang="en-GB" dirty="0"/>
              <a:t>scheduled production; </a:t>
            </a:r>
          </a:p>
          <a:p>
            <a:pPr lvl="1"/>
            <a:r>
              <a:rPr lang="en-GB" dirty="0"/>
              <a:t>planned promotions; </a:t>
            </a:r>
          </a:p>
          <a:p>
            <a:pPr lvl="1"/>
            <a:r>
              <a:rPr lang="en-GB" dirty="0"/>
              <a:t>planned maintenance; </a:t>
            </a:r>
          </a:p>
          <a:p>
            <a:pPr lvl="1"/>
            <a:r>
              <a:rPr lang="en-GB" dirty="0"/>
              <a:t>known control settings. </a:t>
            </a:r>
          </a:p>
          <a:p>
            <a:r>
              <a:rPr lang="en-GB" dirty="0"/>
              <a:t>Suppose the model predicts demand for the next 24 hours.</a:t>
            </a:r>
          </a:p>
          <a:p>
            <a:r>
              <a:rPr lang="en-GB" dirty="0"/>
              <a:t>At time t, we may already know:</a:t>
            </a:r>
          </a:p>
          <a:p>
            <a:pPr lvl="1"/>
            <a:r>
              <a:rPr lang="en-GB" dirty="0"/>
              <a:t>hour[t+1], ..., hour[t+24]</a:t>
            </a:r>
          </a:p>
          <a:p>
            <a:pPr lvl="1"/>
            <a:r>
              <a:rPr lang="en-GB" dirty="0"/>
              <a:t>holiday[t+1], ..., holiday[t+24]</a:t>
            </a:r>
          </a:p>
          <a:p>
            <a:pPr lvl="1"/>
            <a:r>
              <a:rPr lang="en-GB" dirty="0"/>
              <a:t>promotion[t+1], ..., promotion[t+24]</a:t>
            </a:r>
          </a:p>
          <a:p>
            <a:r>
              <a:rPr lang="en-GB" b="1" dirty="0"/>
              <a:t>These can legitimately contribute to prediction</a:t>
            </a:r>
          </a:p>
          <a:p>
            <a:r>
              <a:rPr lang="en-GB" dirty="0"/>
              <a:t>provided they are available when the forecast is produced.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6727397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CEC474-DE0A-AD39-18A0-382468C98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Future-known covariates can be included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B1F00A-D586-74C3-763B-B6A2CAB6C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 contrast</a:t>
            </a:r>
          </a:p>
          <a:p>
            <a:r>
              <a:rPr lang="en-GB" dirty="0"/>
              <a:t>Actual future measurements such as:</a:t>
            </a:r>
          </a:p>
          <a:p>
            <a:pPr lvl="1"/>
            <a:r>
              <a:rPr lang="en-GB" dirty="0"/>
              <a:t>realized future demand; </a:t>
            </a:r>
          </a:p>
          <a:p>
            <a:pPr lvl="1"/>
            <a:r>
              <a:rPr lang="en-GB" dirty="0"/>
              <a:t>actual future sensor values; </a:t>
            </a:r>
          </a:p>
          <a:p>
            <a:r>
              <a:rPr lang="en-GB" dirty="0"/>
              <a:t>cannot be used.</a:t>
            </a:r>
          </a:p>
          <a:p>
            <a:r>
              <a:rPr lang="en-GB" b="1" dirty="0"/>
              <a:t>Connection to Lecture 2</a:t>
            </a:r>
          </a:p>
          <a:p>
            <a:r>
              <a:rPr lang="en-GB" dirty="0"/>
              <a:t>The recurrent architecture does not change the information-availability rule.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505733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Forecasting with future-known covariates</a:t>
            </a:r>
            <a:endParaRPr lang="en-US" sz="2800" dirty="0">
              <a:highlight>
                <a:srgbClr val="FFFF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Some future inputs are valid if known at prediction time.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80924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0" cy="256032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977640" y="1600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</a:rPr>
              <a:t>prediction time 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2560320"/>
            <a:ext cx="374904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6012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observed past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past demand, past sensors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560320"/>
            <a:ext cx="420624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09160" y="2697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future-known covariates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calendar, planned promotion, schedule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3840480"/>
            <a:ext cx="420624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645152" y="396849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C2626"/>
                </a:solidFill>
              </a:rPr>
              <a:t>invalid: realized future demand / future sensor values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8412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The recurrent architecture does not change the information-availability rule.</a:t>
            </a:r>
            <a:endParaRPr lang="en-US" sz="13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3CC9D5-F88B-5D6A-D179-2985D1F6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Forecast error should be reported by horizon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C1107A-D802-C55C-A5B0-16A265DFC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657291" cy="4573586"/>
          </a:xfrm>
        </p:spPr>
        <p:txBody>
          <a:bodyPr>
            <a:normAutofit/>
          </a:bodyPr>
          <a:lstStyle/>
          <a:p>
            <a:r>
              <a:rPr lang="en-GB" b="1" dirty="0"/>
              <a:t>A multi-step forecasting model rarely has uniform accuracy across all future steps.</a:t>
            </a:r>
          </a:p>
          <a:p>
            <a:r>
              <a:rPr lang="en-GB" dirty="0">
                <a:highlight>
                  <a:srgbClr val="FFFF00"/>
                </a:highlight>
              </a:rPr>
              <a:t>Example:</a:t>
            </a:r>
          </a:p>
          <a:p>
            <a:r>
              <a:rPr lang="en-GB" b="1" dirty="0">
                <a:highlight>
                  <a:srgbClr val="FFFF00"/>
                </a:highlight>
              </a:rPr>
              <a:t>Why</a:t>
            </a:r>
            <a:r>
              <a:rPr lang="en-GB" b="1" dirty="0"/>
              <a:t> does performance usually degrade?</a:t>
            </a:r>
          </a:p>
          <a:p>
            <a:r>
              <a:rPr lang="en-GB" dirty="0"/>
              <a:t>As the horizon increases:</a:t>
            </a:r>
          </a:p>
          <a:p>
            <a:pPr lvl="1"/>
            <a:r>
              <a:rPr lang="en-GB" dirty="0"/>
              <a:t>uncertainty increases; </a:t>
            </a:r>
          </a:p>
          <a:p>
            <a:pPr lvl="1"/>
            <a:r>
              <a:rPr lang="en-GB" dirty="0"/>
              <a:t>recent observations become less informative; </a:t>
            </a:r>
          </a:p>
          <a:p>
            <a:pPr lvl="1"/>
            <a:r>
              <a:rPr lang="en-GB" dirty="0"/>
              <a:t>unobserved future disturbances matter more. </a:t>
            </a:r>
          </a:p>
          <a:p>
            <a:r>
              <a:rPr lang="en-GB" b="1" dirty="0"/>
              <a:t>Therefore report</a:t>
            </a:r>
          </a:p>
          <a:p>
            <a:pPr lvl="1"/>
            <a:r>
              <a:rPr lang="en-GB" dirty="0"/>
              <a:t>average error; </a:t>
            </a:r>
          </a:p>
          <a:p>
            <a:pPr lvl="1"/>
            <a:r>
              <a:rPr lang="en-GB" dirty="0"/>
              <a:t>error at individual horizons; </a:t>
            </a:r>
          </a:p>
          <a:p>
            <a:pPr lvl="1"/>
            <a:r>
              <a:rPr lang="en-GB" dirty="0"/>
              <a:t>optionally grouped horizon ranges. </a:t>
            </a:r>
          </a:p>
          <a:p>
            <a:endParaRPr lang="en-GB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C51D817-8F46-E88C-7C30-3191A6C63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781" y="2561494"/>
            <a:ext cx="6138219" cy="196288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9A89952-3155-17B3-D088-28B92DC92459}"/>
              </a:ext>
            </a:extLst>
          </p:cNvPr>
          <p:cNvSpPr txBox="1"/>
          <p:nvPr/>
        </p:nvSpPr>
        <p:spPr>
          <a:xfrm>
            <a:off x="5505978" y="5925234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A model with good average error may still be inadequate at the horizons that matter operationally.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45C05C3-49FB-458B-76A0-44860752434B}"/>
              </a:ext>
            </a:extLst>
          </p:cNvPr>
          <p:cNvCxnSpPr/>
          <p:nvPr/>
        </p:nvCxnSpPr>
        <p:spPr>
          <a:xfrm>
            <a:off x="2333625" y="2733675"/>
            <a:ext cx="3524250" cy="66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485612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 error should be reported by horizon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Average error may hide poor performance at the horizons that matter.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51560" y="5074920"/>
            <a:ext cx="658368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51560" y="5074920"/>
            <a:ext cx="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 flipV="1">
            <a:off x="1325880" y="3774644"/>
            <a:ext cx="1371595" cy="466343"/>
          </a:xfrm>
          <a:prstGeom prst="line">
            <a:avLst/>
          </a:prstGeom>
          <a:noFill/>
          <a:ln w="3810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 flipV="1">
            <a:off x="2697480" y="3151022"/>
            <a:ext cx="1645919" cy="603504"/>
          </a:xfrm>
          <a:prstGeom prst="line">
            <a:avLst/>
          </a:prstGeom>
          <a:noFill/>
          <a:ln w="3810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 flipV="1">
            <a:off x="4343401" y="2103120"/>
            <a:ext cx="3264408" cy="1025957"/>
          </a:xfrm>
          <a:prstGeom prst="line">
            <a:avLst/>
          </a:prstGeom>
          <a:noFill/>
          <a:ln w="3810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271016" y="4186123"/>
            <a:ext cx="109728" cy="109728"/>
          </a:xfrm>
          <a:prstGeom prst="ellipse">
            <a:avLst/>
          </a:prstGeom>
          <a:solidFill>
            <a:srgbClr val="84B82A"/>
          </a:solidFill>
          <a:ln w="1270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51560" y="5212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h=1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42616" y="3699662"/>
            <a:ext cx="109728" cy="109728"/>
          </a:xfrm>
          <a:prstGeom prst="ellipse">
            <a:avLst/>
          </a:prstGeom>
          <a:solidFill>
            <a:srgbClr val="84B82A"/>
          </a:solidFill>
          <a:ln w="1270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423160" y="5212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h=6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88536" y="3074213"/>
            <a:ext cx="109728" cy="109728"/>
          </a:xfrm>
          <a:prstGeom prst="ellipse">
            <a:avLst/>
          </a:prstGeom>
          <a:solidFill>
            <a:srgbClr val="84B82A"/>
          </a:solidFill>
          <a:ln w="1270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069080" y="5212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h=12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0376" y="2031797"/>
            <a:ext cx="109728" cy="109728"/>
          </a:xfrm>
          <a:prstGeom prst="ellipse">
            <a:avLst/>
          </a:prstGeom>
          <a:solidFill>
            <a:srgbClr val="84B82A"/>
          </a:solidFill>
          <a:ln w="1270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360920" y="5212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h=24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 rot="16200000">
            <a:off x="68580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MAE / RMSE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5486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Forecast horizon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01000" y="20574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8F6D0"/>
          </a:solidFill>
          <a:ln w="1524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055864" y="2112264"/>
            <a:ext cx="1673352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often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increases with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35240" y="2926080"/>
            <a:ext cx="0" cy="0"/>
          </a:xfrm>
          <a:prstGeom prst="line">
            <a:avLst/>
          </a:prstGeom>
          <a:noFill/>
          <a:ln w="19050">
            <a:solidFill>
              <a:srgbClr val="84B82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40080" y="6263640"/>
            <a:ext cx="8412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Always inspect the horizon profile, not only the aggregate score.</a:t>
            </a:r>
            <a:endParaRPr lang="en-US" sz="13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766ACB-F985-03DC-3C91-2A0408D5E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Compare recurrent forecasting with simple baselines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CBC18A-32E2-11CA-21E2-A3F78A6CF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 recurrent model should be evaluated against the baseline hierarchy introduced in Lecture 3.</a:t>
            </a:r>
          </a:p>
          <a:p>
            <a:r>
              <a:rPr lang="en-GB" dirty="0"/>
              <a:t>For example:</a:t>
            </a:r>
          </a:p>
          <a:p>
            <a:pPr lvl="1"/>
            <a:r>
              <a:rPr lang="en-GB" dirty="0"/>
              <a:t>persistence</a:t>
            </a:r>
          </a:p>
          <a:p>
            <a:pPr lvl="1"/>
            <a:r>
              <a:rPr lang="en-GB" dirty="0"/>
              <a:t>     ↓</a:t>
            </a:r>
          </a:p>
          <a:p>
            <a:pPr lvl="1"/>
            <a:r>
              <a:rPr lang="en-GB" dirty="0"/>
              <a:t>seasonal naïve</a:t>
            </a:r>
          </a:p>
          <a:p>
            <a:pPr lvl="1"/>
            <a:r>
              <a:rPr lang="en-GB" dirty="0"/>
              <a:t>     ↓</a:t>
            </a:r>
          </a:p>
          <a:p>
            <a:pPr lvl="1"/>
            <a:r>
              <a:rPr lang="en-GB" dirty="0"/>
              <a:t>linear lag model</a:t>
            </a:r>
          </a:p>
          <a:p>
            <a:pPr lvl="1"/>
            <a:r>
              <a:rPr lang="en-GB" dirty="0"/>
              <a:t>     ↓</a:t>
            </a:r>
          </a:p>
          <a:p>
            <a:pPr lvl="1"/>
            <a:r>
              <a:rPr lang="en-GB" dirty="0"/>
              <a:t>feature-based boosting</a:t>
            </a:r>
          </a:p>
          <a:p>
            <a:pPr lvl="1"/>
            <a:r>
              <a:rPr lang="en-GB" dirty="0"/>
              <a:t>     ↓</a:t>
            </a:r>
          </a:p>
          <a:p>
            <a:pPr lvl="1"/>
            <a:r>
              <a:rPr lang="en-GB" dirty="0"/>
              <a:t>LSTM / GRU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4EA64AF-A298-83D4-DF59-887D80D42617}"/>
              </a:ext>
            </a:extLst>
          </p:cNvPr>
          <p:cNvSpPr txBox="1"/>
          <p:nvPr/>
        </p:nvSpPr>
        <p:spPr>
          <a:xfrm>
            <a:off x="5653088" y="4662950"/>
            <a:ext cx="61055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All models should use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the same temporal split;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the same forecast horizon;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the same target;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the same prediction-time information;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the same evaluation periods.</a:t>
            </a:r>
          </a:p>
        </p:txBody>
      </p:sp>
    </p:spTree>
    <p:extLst>
      <p:ext uri="{BB962C8B-B14F-4D97-AF65-F5344CB8AC3E}">
        <p14:creationId xmlns:p14="http://schemas.microsoft.com/office/powerpoint/2010/main" val="294087291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300140-CD7F-5315-CB13-B41DE162A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highlight>
                  <a:srgbClr val="FFFF00"/>
                </a:highlight>
              </a:rPr>
              <a:t>Example</a:t>
            </a:r>
            <a:endParaRPr lang="en-GB" dirty="0">
              <a:highlight>
                <a:srgbClr val="FFFF00"/>
              </a:highlight>
            </a:endParaRP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66E37A5-FECD-2150-0A65-B600C8090D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0617" y="1597025"/>
            <a:ext cx="7064352" cy="207282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F8737D3-4FFA-70CF-523C-0983D337665E}"/>
              </a:ext>
            </a:extLst>
          </p:cNvPr>
          <p:cNvSpPr txBox="1"/>
          <p:nvPr/>
        </p:nvSpPr>
        <p:spPr>
          <a:xfrm>
            <a:off x="3346277" y="4522311"/>
            <a:ext cx="61087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Interpretation</a:t>
            </a:r>
          </a:p>
          <a:p>
            <a:pPr>
              <a:buNone/>
            </a:pPr>
            <a:r>
              <a:rPr lang="en-GB" dirty="0"/>
              <a:t>The recurrent model performs best, but the gain over boosting is small.</a:t>
            </a:r>
          </a:p>
          <a:p>
            <a:pPr>
              <a:buNone/>
            </a:pPr>
            <a:r>
              <a:rPr lang="en-GB" dirty="0"/>
              <a:t>The engineering value of that improvement must still be assessed.</a:t>
            </a:r>
          </a:p>
        </p:txBody>
      </p:sp>
    </p:spTree>
    <p:extLst>
      <p:ext uri="{BB962C8B-B14F-4D97-AF65-F5344CB8AC3E}">
        <p14:creationId xmlns:p14="http://schemas.microsoft.com/office/powerpoint/2010/main" val="2167621174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0"/>
            <a:ext cx="411480" cy="6858000"/>
          </a:xfrm>
          <a:prstGeom prst="rect">
            <a:avLst/>
          </a:prstGeom>
          <a:solidFill>
            <a:srgbClr val="D9F99D">
              <a:alpha val="95000"/>
            </a:srgbClr>
          </a:solidFill>
          <a:ln w="12700">
            <a:solidFill>
              <a:srgbClr val="D9F99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430000" y="0"/>
            <a:ext cx="393192" cy="6858000"/>
          </a:xfrm>
          <a:prstGeom prst="rect">
            <a:avLst/>
          </a:prstGeom>
          <a:solidFill>
            <a:srgbClr val="84B82A">
              <a:alpha val="92000"/>
            </a:srgbClr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823192" y="0"/>
            <a:ext cx="368503" cy="6858000"/>
          </a:xfrm>
          <a:prstGeom prst="rect">
            <a:avLst/>
          </a:prstGeom>
          <a:solidFill>
            <a:srgbClr val="84B82A"/>
          </a:solidFill>
          <a:ln w="12700">
            <a:solidFill>
              <a:srgbClr val="84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835640" y="0"/>
            <a:ext cx="0" cy="6858000"/>
          </a:xfrm>
          <a:prstGeom prst="line">
            <a:avLst/>
          </a:prstGeom>
          <a:noFill/>
          <a:ln w="12700">
            <a:solidFill>
              <a:srgbClr val="D1D5D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Recurrent forecasting </a:t>
            </a:r>
            <a:r>
              <a:rPr lang="en-US" sz="2800" b="1" dirty="0">
                <a:solidFill>
                  <a:srgbClr val="111827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must beat strong baselines</a:t>
            </a:r>
            <a:endParaRPr lang="en-US" sz="2800" dirty="0">
              <a:highlight>
                <a:srgbClr val="FFFF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521208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75569"/>
                </a:solidFill>
              </a:rPr>
              <a:t>Compare LSTM/GRU under the same split, horizon, target and information set.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77824" y="2889504"/>
            <a:ext cx="1216152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3246120"/>
            <a:ext cx="365760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514600" y="28346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524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569464" y="2889504"/>
            <a:ext cx="1216152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naïve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3246120"/>
            <a:ext cx="365760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206240" y="28346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261104" y="2889504"/>
            <a:ext cx="1216152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 model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32120" y="3246120"/>
            <a:ext cx="365760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897880" y="28346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952744" y="2889504"/>
            <a:ext cx="1216152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Feature-based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3246120"/>
            <a:ext cx="365760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589520" y="28346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E8F6D0"/>
          </a:solidFill>
          <a:ln w="15240">
            <a:solidFill>
              <a:srgbClr val="84B8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644384" y="2889504"/>
            <a:ext cx="1216152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LSTM / GRU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754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 small improvement over boosting may or may not justify the recurrent model’s added cost.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6263640"/>
            <a:ext cx="8412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Fair comparison: same temporal split, same target, same horizon, same admissible information.</a:t>
            </a:r>
            <a:endParaRPr lang="en-US" sz="13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95B863-5C7D-A17B-D237-77B3BC038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Recurrent forecasting</a:t>
            </a:r>
            <a:r>
              <a:rPr lang="en-GB" dirty="0"/>
              <a:t>: strengths and limitations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510120-54C9-C84A-E7B5-98EF75D3EB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Strengths</a:t>
            </a:r>
          </a:p>
          <a:p>
            <a:pPr lvl="0"/>
            <a:r>
              <a:rPr lang="en-GB" dirty="0"/>
              <a:t>learns temporal representations automatically; </a:t>
            </a:r>
          </a:p>
          <a:p>
            <a:pPr lvl="0"/>
            <a:r>
              <a:rPr lang="en-GB" dirty="0"/>
              <a:t>naturally processes multivariate sequences; </a:t>
            </a:r>
          </a:p>
          <a:p>
            <a:pPr lvl="0"/>
            <a:r>
              <a:rPr lang="en-GB" dirty="0"/>
              <a:t>supports one-step and multi-step prediction; </a:t>
            </a:r>
          </a:p>
          <a:p>
            <a:pPr lvl="0"/>
            <a:r>
              <a:rPr lang="en-GB" dirty="0"/>
              <a:t>LSTM and GRU can capture longer dependencies than </a:t>
            </a:r>
            <a:r>
              <a:rPr lang="en-GB" dirty="0" err="1"/>
              <a:t>SimpleRNN</a:t>
            </a:r>
            <a:r>
              <a:rPr lang="en-GB" dirty="0"/>
              <a:t>; </a:t>
            </a:r>
          </a:p>
          <a:p>
            <a:pPr lvl="0"/>
            <a:r>
              <a:rPr lang="en-GB" dirty="0"/>
              <a:t>variable sequence lengths can be handled (e.g., through padding and masking) in suitable implementations.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E1F1262-1B63-F298-AD4D-34331F7A74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Limitations</a:t>
            </a:r>
          </a:p>
          <a:p>
            <a:pPr lvl="0"/>
            <a:r>
              <a:rPr lang="en-GB" dirty="0"/>
              <a:t>sequential computation across time; </a:t>
            </a:r>
          </a:p>
          <a:p>
            <a:pPr lvl="0"/>
            <a:r>
              <a:rPr lang="en-GB" dirty="0"/>
              <a:t>training can be computationally expensive; </a:t>
            </a:r>
          </a:p>
          <a:p>
            <a:pPr lvl="0"/>
            <a:r>
              <a:rPr lang="en-GB" dirty="0"/>
              <a:t>long windows still increase optimization difficulty; </a:t>
            </a:r>
          </a:p>
          <a:p>
            <a:pPr lvl="0"/>
            <a:r>
              <a:rPr lang="en-GB" dirty="0"/>
              <a:t>hyperparameter selection matters; </a:t>
            </a:r>
          </a:p>
          <a:p>
            <a:pPr lvl="0"/>
            <a:r>
              <a:rPr lang="en-GB" dirty="0"/>
              <a:t>interpretation is more difficult than for linear models; </a:t>
            </a:r>
          </a:p>
          <a:p>
            <a:pPr lvl="0"/>
            <a:r>
              <a:rPr lang="en-GB" dirty="0"/>
              <a:t>performance may not exceed strong feature-based baselines.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70AA67-B4D6-0399-362F-0225E25FB298}"/>
              </a:ext>
            </a:extLst>
          </p:cNvPr>
          <p:cNvSpPr txBox="1"/>
          <p:nvPr/>
        </p:nvSpPr>
        <p:spPr>
          <a:xfrm>
            <a:off x="3538538" y="6041361"/>
            <a:ext cx="4795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DTW is different: it is a </a:t>
            </a:r>
            <a:r>
              <a:rPr lang="en-GB" sz="1200" b="1" dirty="0"/>
              <a:t>distance/alignment method</a:t>
            </a:r>
            <a:r>
              <a:rPr lang="en-GB" sz="1200" dirty="0"/>
              <a:t> for comparing sequences that may be stretched or shifted in time. It is not the standard mechanism for batching variable-length RNN inputs.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82D2FEEA-0FB0-A27E-31E3-F6A6F2BFE9CC}"/>
              </a:ext>
            </a:extLst>
          </p:cNvPr>
          <p:cNvCxnSpPr/>
          <p:nvPr/>
        </p:nvCxnSpPr>
        <p:spPr>
          <a:xfrm>
            <a:off x="2981325" y="5200650"/>
            <a:ext cx="962025" cy="8407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162336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2F910D-45CD-35B8-C5F5-E322A1AD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highlight>
                  <a:srgbClr val="FFFF00"/>
                </a:highlight>
              </a:rPr>
              <a:t>Final question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DC4B2C-FDB6-9B15-47C5-65DD2704A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Recurrent models propagate information through: h[t−1] → h[t]</a:t>
            </a:r>
          </a:p>
          <a:p>
            <a:r>
              <a:rPr lang="en-GB" dirty="0"/>
              <a:t>This requires sequential state updates.</a:t>
            </a:r>
          </a:p>
          <a:p>
            <a:r>
              <a:rPr lang="en-GB" dirty="0"/>
              <a:t>Can we learn temporal patterns differently — using local filters that operate over many positions in parallel?</a:t>
            </a:r>
          </a:p>
          <a:p>
            <a:endParaRPr lang="en-GB" dirty="0"/>
          </a:p>
          <a:p>
            <a:r>
              <a:rPr lang="en-GB" dirty="0"/>
              <a:t>This motivates </a:t>
            </a:r>
            <a:r>
              <a:rPr lang="en-GB" b="1" dirty="0"/>
              <a:t>Lecture 5: Temporal Convolutional Models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4787735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3756AE-BA16-40EB-51B5-F19FF9B06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4.I — Practical Design Choices for Recurrent Models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6F3B2C-F5F4-E245-71F4-4CFAFD86D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713892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38B43B-E016-01D8-DD98-A8DB96D5A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Recurrent architectures introduce </a:t>
            </a:r>
            <a:r>
              <a:rPr lang="en-GB" dirty="0">
                <a:highlight>
                  <a:srgbClr val="FFFF00"/>
                </a:highlight>
              </a:rPr>
              <a:t>several design choices </a:t>
            </a:r>
            <a:r>
              <a:rPr lang="en-GB" sz="2200" dirty="0">
                <a:highlight>
                  <a:srgbClr val="FFFF00"/>
                </a:highlight>
              </a:rPr>
              <a:t>(several are common for all timeseries models)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FEFAD4-AD21-9064-5623-D59939619F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Choosing between </a:t>
            </a:r>
            <a:r>
              <a:rPr lang="en-GB" dirty="0" err="1"/>
              <a:t>SimpleRNN</a:t>
            </a:r>
            <a:r>
              <a:rPr lang="en-GB" dirty="0"/>
              <a:t>, LSTM and GRU </a:t>
            </a:r>
            <a:r>
              <a:rPr lang="en-GB" b="1" dirty="0"/>
              <a:t>is only one part of model design.</a:t>
            </a:r>
          </a:p>
          <a:p>
            <a:r>
              <a:rPr lang="en-GB" dirty="0"/>
              <a:t>A recurrent model </a:t>
            </a:r>
            <a:r>
              <a:rPr lang="en-GB" b="1" dirty="0"/>
              <a:t>also requires decisions about:</a:t>
            </a:r>
          </a:p>
          <a:p>
            <a:pPr lvl="1"/>
            <a:r>
              <a:rPr lang="en-GB" dirty="0"/>
              <a:t>input-window length; </a:t>
            </a:r>
          </a:p>
          <a:p>
            <a:pPr lvl="1"/>
            <a:r>
              <a:rPr lang="en-GB" dirty="0"/>
              <a:t>hidden-state dimension; </a:t>
            </a:r>
          </a:p>
          <a:p>
            <a:pPr lvl="1"/>
            <a:r>
              <a:rPr lang="en-GB" dirty="0"/>
              <a:t>number of recurrent layers; </a:t>
            </a:r>
          </a:p>
          <a:p>
            <a:pPr lvl="1"/>
            <a:r>
              <a:rPr lang="en-GB" dirty="0"/>
              <a:t>dropout; </a:t>
            </a:r>
          </a:p>
          <a:p>
            <a:pPr lvl="1"/>
            <a:r>
              <a:rPr lang="en-GB" dirty="0"/>
              <a:t>batch size; </a:t>
            </a:r>
          </a:p>
          <a:p>
            <a:pPr lvl="1"/>
            <a:r>
              <a:rPr lang="en-GB" dirty="0"/>
              <a:t>learning rate; </a:t>
            </a:r>
          </a:p>
          <a:p>
            <a:pPr lvl="1"/>
            <a:r>
              <a:rPr lang="en-GB" dirty="0"/>
              <a:t>output structure.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1AB903E-DE70-1373-842C-6421373A32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These choices affect:</a:t>
            </a:r>
          </a:p>
          <a:p>
            <a:pPr lvl="1"/>
            <a:r>
              <a:rPr lang="en-GB" dirty="0"/>
              <a:t>predictive performance; </a:t>
            </a:r>
          </a:p>
          <a:p>
            <a:pPr lvl="1"/>
            <a:r>
              <a:rPr lang="en-GB" dirty="0"/>
              <a:t>Overfitting;</a:t>
            </a:r>
          </a:p>
          <a:p>
            <a:pPr lvl="1"/>
            <a:r>
              <a:rPr lang="en-GB" dirty="0"/>
              <a:t>training stability; </a:t>
            </a:r>
          </a:p>
          <a:p>
            <a:pPr lvl="1"/>
            <a:r>
              <a:rPr lang="en-GB" dirty="0"/>
              <a:t>computational cost; </a:t>
            </a:r>
          </a:p>
          <a:p>
            <a:pPr lvl="1"/>
            <a:r>
              <a:rPr lang="en-GB" dirty="0"/>
              <a:t>memory use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DEB03E0-C50F-F7EF-6E73-8EC6F22A28DE}"/>
              </a:ext>
            </a:extLst>
          </p:cNvPr>
          <p:cNvSpPr txBox="1"/>
          <p:nvPr/>
        </p:nvSpPr>
        <p:spPr>
          <a:xfrm>
            <a:off x="5547170" y="5718195"/>
            <a:ext cx="48065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highlight>
                  <a:srgbClr val="FFFF00"/>
                </a:highlight>
              </a:rPr>
              <a:t>Hyperparameters should be selected using validation data, not test performance.</a:t>
            </a:r>
          </a:p>
        </p:txBody>
      </p:sp>
    </p:spTree>
    <p:extLst>
      <p:ext uri="{BB962C8B-B14F-4D97-AF65-F5344CB8AC3E}">
        <p14:creationId xmlns:p14="http://schemas.microsoft.com/office/powerpoint/2010/main" val="2168125728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Recurrent model design choices</a:t>
            </a:r>
            <a:endParaRPr lang="en-US" sz="2200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is only one part of the design; the whole training system matters.</a:t>
            </a:r>
            <a:endParaRPr lang="en-US" sz="1050" b="1" dirty="0"/>
          </a:p>
        </p:txBody>
      </p:sp>
      <p:sp>
        <p:nvSpPr>
          <p:cNvPr id="7" name="Shape 5"/>
          <p:cNvSpPr/>
          <p:nvPr/>
        </p:nvSpPr>
        <p:spPr>
          <a:xfrm>
            <a:off x="4389120" y="2898648"/>
            <a:ext cx="1371600" cy="694944"/>
          </a:xfrm>
          <a:prstGeom prst="roundRect">
            <a:avLst>
              <a:gd name="adj" fmla="val 10526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434840" y="2944368"/>
            <a:ext cx="128016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window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length L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38912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state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 H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909560" y="14173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95528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77240" y="46177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22960" y="4663440"/>
            <a:ext cx="1371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dropout /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regularization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343400" y="46177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389120" y="4663440"/>
            <a:ext cx="1371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size /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rate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909560" y="461772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955280" y="4663440"/>
            <a:ext cx="13716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02920" y="64373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validation data to choose design settings; do not tune them on the test set.</a:t>
            </a:r>
            <a:endParaRPr lang="en-US" sz="105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97E2BB-5188-18CB-8C8D-E283D10E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Input-window length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40ED10-3332-7B1A-181D-107952C24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The input window determines how much historical context is presented to the recurrent model.</a:t>
            </a:r>
          </a:p>
          <a:p>
            <a:r>
              <a:rPr lang="en-GB" dirty="0"/>
              <a:t>Input: [x[t−L+1], ..., x[t]]</a:t>
            </a:r>
          </a:p>
          <a:p>
            <a:r>
              <a:rPr lang="en-GB" dirty="0"/>
              <a:t>where L is the window length.</a:t>
            </a:r>
          </a:p>
          <a:p>
            <a:r>
              <a:rPr lang="en-GB" b="1" dirty="0"/>
              <a:t>Short windows</a:t>
            </a:r>
          </a:p>
          <a:p>
            <a:r>
              <a:rPr lang="en-GB" dirty="0"/>
              <a:t>Advantages:</a:t>
            </a:r>
          </a:p>
          <a:p>
            <a:pPr lvl="1"/>
            <a:r>
              <a:rPr lang="en-GB" dirty="0"/>
              <a:t>lower computational cost; </a:t>
            </a:r>
          </a:p>
          <a:p>
            <a:pPr lvl="1"/>
            <a:r>
              <a:rPr lang="en-GB" dirty="0"/>
              <a:t>shorter gradient paths; </a:t>
            </a:r>
          </a:p>
          <a:p>
            <a:pPr lvl="1"/>
            <a:r>
              <a:rPr lang="en-GB" dirty="0"/>
              <a:t>faster training; </a:t>
            </a:r>
          </a:p>
          <a:p>
            <a:pPr lvl="1"/>
            <a:r>
              <a:rPr lang="en-GB" dirty="0"/>
              <a:t>less irrelevant history. </a:t>
            </a:r>
          </a:p>
          <a:p>
            <a:r>
              <a:rPr lang="en-GB" dirty="0"/>
              <a:t>Limitations:</a:t>
            </a:r>
          </a:p>
          <a:p>
            <a:pPr lvl="1"/>
            <a:r>
              <a:rPr lang="en-GB" dirty="0"/>
              <a:t>may miss slow trends; </a:t>
            </a:r>
          </a:p>
          <a:p>
            <a:pPr lvl="1"/>
            <a:r>
              <a:rPr lang="en-GB" dirty="0"/>
              <a:t>may exclude relevant previous events; </a:t>
            </a:r>
          </a:p>
          <a:p>
            <a:pPr lvl="1"/>
            <a:r>
              <a:rPr lang="en-GB" dirty="0"/>
              <a:t>may not contain a complete cycle.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4890482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068A5-5F30-2A06-F6B9-807EF596A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1EAC56-8517-EDB5-21DE-71F558478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Input-window length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E60AAE-1D64-C931-736E-1C63A03518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Long windows</a:t>
            </a:r>
          </a:p>
          <a:p>
            <a:r>
              <a:rPr lang="en-GB" dirty="0"/>
              <a:t>Advantages:</a:t>
            </a:r>
          </a:p>
          <a:p>
            <a:pPr lvl="1"/>
            <a:r>
              <a:rPr lang="en-GB" dirty="0"/>
              <a:t>provide more temporal context; </a:t>
            </a:r>
          </a:p>
          <a:p>
            <a:pPr lvl="1"/>
            <a:r>
              <a:rPr lang="en-GB" dirty="0"/>
              <a:t>can include long cycles and delayed effects. </a:t>
            </a:r>
          </a:p>
          <a:p>
            <a:r>
              <a:rPr lang="en-GB" dirty="0"/>
              <a:t>Limitations:</a:t>
            </a:r>
          </a:p>
          <a:p>
            <a:pPr lvl="1"/>
            <a:r>
              <a:rPr lang="en-GB" dirty="0"/>
              <a:t>more computation; </a:t>
            </a:r>
          </a:p>
          <a:p>
            <a:pPr lvl="1"/>
            <a:r>
              <a:rPr lang="en-GB" dirty="0"/>
              <a:t>harder optimization; </a:t>
            </a:r>
          </a:p>
          <a:p>
            <a:pPr lvl="1"/>
            <a:r>
              <a:rPr lang="en-GB" dirty="0"/>
              <a:t>more irrelevant observations may be included. </a:t>
            </a:r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924E3F9-DD89-F610-2BA9-B8745433D3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b="1" dirty="0"/>
              <a:t>Practical question</a:t>
            </a:r>
          </a:p>
          <a:p>
            <a:r>
              <a:rPr lang="en-GB" dirty="0"/>
              <a:t>How far into the past can information realistically influence the target?</a:t>
            </a:r>
          </a:p>
          <a:p>
            <a:r>
              <a:rPr lang="en-GB" dirty="0"/>
              <a:t>Window length should reflect:</a:t>
            </a:r>
          </a:p>
          <a:p>
            <a:pPr lvl="1"/>
            <a:r>
              <a:rPr lang="en-GB" dirty="0"/>
              <a:t>sampling frequency; </a:t>
            </a:r>
          </a:p>
          <a:p>
            <a:pPr lvl="1"/>
            <a:r>
              <a:rPr lang="en-GB" dirty="0"/>
              <a:t>physical or business time scales; </a:t>
            </a:r>
          </a:p>
          <a:p>
            <a:pPr lvl="1"/>
            <a:r>
              <a:rPr lang="en-GB" dirty="0"/>
              <a:t>seasonality; </a:t>
            </a:r>
          </a:p>
          <a:p>
            <a:pPr lvl="1"/>
            <a:r>
              <a:rPr lang="en-GB" dirty="0"/>
              <a:t>expected dependency length; </a:t>
            </a:r>
          </a:p>
          <a:p>
            <a:pPr lvl="1"/>
            <a:r>
              <a:rPr lang="en-GB" dirty="0"/>
              <a:t>validation performance.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787239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Input-window length: context versus cost</a:t>
            </a:r>
            <a:endParaRPr lang="en-US" sz="2200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window length determines how much temporal history the recurrent model can observe.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850392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9154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39446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89738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40030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90322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40614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90906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41198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91490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41782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92074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42366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92658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42950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93242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43534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8938260" y="2148840"/>
            <a:ext cx="45720" cy="91440"/>
          </a:xfrm>
          <a:prstGeom prst="rect">
            <a:avLst/>
          </a:prstGeom>
          <a:solidFill>
            <a:srgbClr val="475467"/>
          </a:solidFill>
          <a:ln w="1270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983980" y="1444752"/>
            <a:ext cx="822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144000" y="1737359"/>
            <a:ext cx="0" cy="2171689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589519" y="2485962"/>
            <a:ext cx="155448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589520" y="2888298"/>
            <a:ext cx="1554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window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383280" y="3241548"/>
            <a:ext cx="57607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383280" y="3680460"/>
            <a:ext cx="5760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window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91540" y="4562856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937260" y="4608576"/>
            <a:ext cx="11887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08860" y="4425696"/>
            <a:ext cx="23774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lower cost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shorter gradients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less irrelevant history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may miss slow effects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46420" y="4562856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692140" y="4608576"/>
            <a:ext cx="11887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00316" y="4425696"/>
            <a:ext cx="2468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more context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captures cycles and delays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more computation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harder optimization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373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L using sampling frequency, process time scales, expected dependencies, and validation performance.</a:t>
            </a:r>
            <a:endParaRPr lang="en-US" sz="105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63E16D-EC43-7333-0C61-F581B331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Hidden-state dimension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759B40-0B0B-1FD0-90A7-912886C80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256741" cy="4449761"/>
          </a:xfrm>
        </p:spPr>
        <p:txBody>
          <a:bodyPr>
            <a:normAutofit fontScale="850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The hidden dimension determines the size of the learned recurrent representation.</a:t>
            </a:r>
          </a:p>
          <a:p>
            <a:r>
              <a:rPr lang="en-GB" dirty="0"/>
              <a:t>For: </a:t>
            </a:r>
            <a:r>
              <a:rPr lang="en-GB" dirty="0" err="1"/>
              <a:t>H_hidden</a:t>
            </a:r>
            <a:r>
              <a:rPr lang="en-GB" dirty="0"/>
              <a:t> = 32</a:t>
            </a:r>
          </a:p>
          <a:p>
            <a:r>
              <a:rPr lang="en-GB" dirty="0"/>
              <a:t>the state is: h[t] shape = [N, 32]</a:t>
            </a:r>
          </a:p>
          <a:p>
            <a:r>
              <a:rPr lang="en-GB" dirty="0"/>
              <a:t>For: </a:t>
            </a:r>
            <a:r>
              <a:rPr lang="en-GB" dirty="0" err="1"/>
              <a:t>H_hidden</a:t>
            </a:r>
            <a:r>
              <a:rPr lang="en-GB" dirty="0"/>
              <a:t> = 256</a:t>
            </a:r>
          </a:p>
          <a:p>
            <a:r>
              <a:rPr lang="en-GB" dirty="0"/>
              <a:t>the representation has much larger capacity.</a:t>
            </a:r>
          </a:p>
          <a:p>
            <a:endParaRPr lang="en-GB" b="1" dirty="0"/>
          </a:p>
          <a:p>
            <a:r>
              <a:rPr lang="en-GB" b="1" dirty="0"/>
              <a:t>Small hidden dimension</a:t>
            </a:r>
          </a:p>
          <a:p>
            <a:r>
              <a:rPr lang="en-GB" dirty="0"/>
              <a:t>Advantages:</a:t>
            </a:r>
          </a:p>
          <a:p>
            <a:pPr lvl="1"/>
            <a:r>
              <a:rPr lang="en-GB" dirty="0"/>
              <a:t>fewer parameters; </a:t>
            </a:r>
          </a:p>
          <a:p>
            <a:pPr lvl="1"/>
            <a:r>
              <a:rPr lang="en-GB" dirty="0"/>
              <a:t>faster computation; </a:t>
            </a:r>
          </a:p>
          <a:p>
            <a:pPr lvl="1"/>
            <a:r>
              <a:rPr lang="en-GB" dirty="0"/>
              <a:t>lower overfitting risk. </a:t>
            </a:r>
          </a:p>
          <a:p>
            <a:r>
              <a:rPr lang="en-GB" dirty="0"/>
              <a:t>Limitation:</a:t>
            </a:r>
          </a:p>
          <a:p>
            <a:pPr lvl="1"/>
            <a:r>
              <a:rPr lang="en-GB" dirty="0"/>
              <a:t>may not represent all relevant temporal information.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A076C11-D555-043B-7B7C-9951EE89C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149477"/>
            <a:ext cx="5711380" cy="3880773"/>
          </a:xfrm>
        </p:spPr>
        <p:txBody>
          <a:bodyPr>
            <a:normAutofit fontScale="850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Large hidden dimension</a:t>
            </a:r>
          </a:p>
          <a:p>
            <a:r>
              <a:rPr lang="en-GB" dirty="0"/>
              <a:t>Advantages:</a:t>
            </a:r>
          </a:p>
          <a:p>
            <a:pPr lvl="1"/>
            <a:r>
              <a:rPr lang="en-GB" dirty="0"/>
              <a:t>greater representational capacity. </a:t>
            </a:r>
          </a:p>
          <a:p>
            <a:r>
              <a:rPr lang="en-GB" dirty="0"/>
              <a:t>Limitations:</a:t>
            </a:r>
          </a:p>
          <a:p>
            <a:pPr lvl="1"/>
            <a:r>
              <a:rPr lang="en-GB" dirty="0"/>
              <a:t>more parameters; </a:t>
            </a:r>
          </a:p>
          <a:p>
            <a:pPr lvl="1"/>
            <a:r>
              <a:rPr lang="en-GB" dirty="0"/>
              <a:t>greater memory consumption; </a:t>
            </a:r>
          </a:p>
          <a:p>
            <a:pPr lvl="1"/>
            <a:r>
              <a:rPr lang="en-GB" dirty="0"/>
              <a:t>higher computational cost; </a:t>
            </a:r>
          </a:p>
          <a:p>
            <a:pPr lvl="1"/>
            <a:r>
              <a:rPr lang="en-GB" dirty="0"/>
              <a:t>increased overfitting risk. 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996A00E-F1C3-3193-0B7A-B558329519BF}"/>
              </a:ext>
            </a:extLst>
          </p:cNvPr>
          <p:cNvSpPr txBox="1"/>
          <p:nvPr/>
        </p:nvSpPr>
        <p:spPr>
          <a:xfrm>
            <a:off x="5409142" y="5579696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A larger hidden state is not automatically better.</a:t>
            </a:r>
          </a:p>
          <a:p>
            <a:r>
              <a:rPr lang="en-GB" sz="1800" b="1" dirty="0">
                <a:highlight>
                  <a:srgbClr val="FFFF00"/>
                </a:highlight>
              </a:rPr>
              <a:t>Its size should be validated experimentally.</a:t>
            </a:r>
          </a:p>
        </p:txBody>
      </p:sp>
    </p:spTree>
    <p:extLst>
      <p:ext uri="{BB962C8B-B14F-4D97-AF65-F5344CB8AC3E}">
        <p14:creationId xmlns:p14="http://schemas.microsoft.com/office/powerpoint/2010/main" val="756132078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Hidden-state dimension: representation capacity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467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The hidden dimension controls the size of the learned temporal representation.</a:t>
            </a:r>
            <a:endParaRPr lang="en-US" sz="1000" b="1" dirty="0">
              <a:highlight>
                <a:srgbClr val="FFFF00"/>
              </a:highlight>
            </a:endParaRPr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143000" y="1874520"/>
            <a:ext cx="1051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= 32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state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2057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parameters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computation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overfitting risk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lack capacity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577840" y="16916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623560" y="1737360"/>
            <a:ext cx="21031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= 256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2788920"/>
            <a:ext cx="292608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532120" y="2788920"/>
            <a:ext cx="292608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943600" y="2788920"/>
            <a:ext cx="292608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355080" y="2788920"/>
            <a:ext cx="292608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766560" y="2788920"/>
            <a:ext cx="292608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178040" y="2788920"/>
            <a:ext cx="292608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589520" y="2788920"/>
            <a:ext cx="292608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001000" y="2788920"/>
            <a:ext cx="292608" cy="292608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8640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state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70511" y="3621024"/>
            <a:ext cx="25603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greater capacity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parameters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memory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overfitting risk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017520" y="2331720"/>
            <a:ext cx="1920240" cy="0"/>
          </a:xfrm>
          <a:prstGeom prst="line">
            <a:avLst/>
          </a:prstGeom>
          <a:noFill/>
          <a:ln w="1651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33756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capacity–cost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trade-off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64373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larger hidden state is not automatically better; validate it against performance and system cost</a:t>
            </a: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68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F6FF49-DAEF-77F6-7B45-D8642A194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Stacked recurrent layers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54FE21-F1C9-1CD8-0308-5EE741517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A recurrent network can contain more than one recurrent layer.</a:t>
            </a:r>
          </a:p>
          <a:p>
            <a:r>
              <a:rPr lang="en-GB" dirty="0"/>
              <a:t>Conceptually:</a:t>
            </a:r>
          </a:p>
          <a:p>
            <a:pPr lvl="1"/>
            <a:r>
              <a:rPr lang="en-GB" dirty="0"/>
              <a:t>input sequence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recurrent layer 1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sequence of hidden representations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recurrent layer 2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higher-level representation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output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6DE3000-31E5-B9FB-D70E-90CCC797B6AB}"/>
              </a:ext>
            </a:extLst>
          </p:cNvPr>
          <p:cNvSpPr txBox="1"/>
          <p:nvPr/>
        </p:nvSpPr>
        <p:spPr>
          <a:xfrm>
            <a:off x="5409142" y="3666648"/>
            <a:ext cx="61055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First recurrent layer</a:t>
            </a:r>
          </a:p>
          <a:p>
            <a:r>
              <a:rPr lang="en-GB" sz="1800" dirty="0"/>
              <a:t>May learn relatively </a:t>
            </a:r>
            <a:r>
              <a:rPr lang="en-GB" sz="1800" dirty="0">
                <a:highlight>
                  <a:srgbClr val="FFFF00"/>
                </a:highlight>
              </a:rPr>
              <a:t>local temporal patterns</a:t>
            </a:r>
            <a:r>
              <a:rPr lang="en-GB" sz="1800" dirty="0"/>
              <a:t>.</a:t>
            </a:r>
          </a:p>
          <a:p>
            <a:r>
              <a:rPr lang="en-GB" sz="1800" b="1" dirty="0">
                <a:highlight>
                  <a:srgbClr val="FFFF00"/>
                </a:highlight>
              </a:rPr>
              <a:t>Higher recurrent layers</a:t>
            </a:r>
          </a:p>
          <a:p>
            <a:r>
              <a:rPr lang="en-GB" sz="1800" dirty="0"/>
              <a:t>May combine these patterns into </a:t>
            </a:r>
            <a:r>
              <a:rPr lang="en-GB" sz="1800" dirty="0">
                <a:highlight>
                  <a:srgbClr val="FFFF00"/>
                </a:highlight>
              </a:rPr>
              <a:t>more abstract temporal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1685203333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40696-A886-1093-E334-38420BCFA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C6E4A5-CED7-C1C3-B555-B780ABF0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Stacked recurrent layers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8CADD1-C39F-3194-B200-38544B29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Important requirement</a:t>
            </a:r>
          </a:p>
          <a:p>
            <a:r>
              <a:rPr lang="en-GB" dirty="0"/>
              <a:t>If another recurrent layer follows, the previous recurrent layer must normally return a state at every time step:</a:t>
            </a:r>
          </a:p>
          <a:p>
            <a:r>
              <a:rPr lang="en-GB" dirty="0"/>
              <a:t>[N, L, H1]</a:t>
            </a:r>
          </a:p>
          <a:p>
            <a:r>
              <a:rPr lang="en-GB" dirty="0"/>
              <a:t>The next recurrent layer then processes that sequence.</a:t>
            </a:r>
          </a:p>
          <a:p>
            <a:r>
              <a:rPr lang="en-GB" b="1" dirty="0">
                <a:highlight>
                  <a:srgbClr val="FFFF00"/>
                </a:highlight>
              </a:rPr>
              <a:t>Benefits</a:t>
            </a:r>
          </a:p>
          <a:p>
            <a:pPr lvl="1"/>
            <a:r>
              <a:rPr lang="en-GB" dirty="0"/>
              <a:t>increased modelling capacity; </a:t>
            </a:r>
          </a:p>
          <a:p>
            <a:pPr lvl="1"/>
            <a:r>
              <a:rPr lang="en-GB" dirty="0"/>
              <a:t>hierarchical temporal representations. </a:t>
            </a:r>
          </a:p>
          <a:p>
            <a:r>
              <a:rPr lang="en-GB" b="1" dirty="0">
                <a:highlight>
                  <a:srgbClr val="FFFF00"/>
                </a:highlight>
              </a:rPr>
              <a:t>Costs</a:t>
            </a:r>
          </a:p>
          <a:p>
            <a:pPr lvl="1"/>
            <a:r>
              <a:rPr lang="en-GB" dirty="0"/>
              <a:t>more parameters; </a:t>
            </a:r>
          </a:p>
          <a:p>
            <a:pPr lvl="1"/>
            <a:r>
              <a:rPr lang="en-GB" dirty="0"/>
              <a:t>slower training; </a:t>
            </a:r>
          </a:p>
          <a:p>
            <a:pPr lvl="1"/>
            <a:r>
              <a:rPr lang="en-GB" dirty="0"/>
              <a:t>increased overfitting risk; </a:t>
            </a:r>
          </a:p>
          <a:p>
            <a:pPr lvl="1"/>
            <a:r>
              <a:rPr lang="en-GB" dirty="0"/>
              <a:t>more difficult optimization.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5547547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Stacked recurrent layers</a:t>
            </a:r>
            <a:endParaRPr lang="en-US" sz="2200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recurrent stack can learn increasingly abstract temporal representations.</a:t>
            </a:r>
            <a:endParaRPr lang="en-US" sz="850" b="1" dirty="0"/>
          </a:p>
        </p:txBody>
      </p:sp>
      <p:sp>
        <p:nvSpPr>
          <p:cNvPr id="7" name="Shape 5"/>
          <p:cNvSpPr/>
          <p:nvPr/>
        </p:nvSpPr>
        <p:spPr>
          <a:xfrm>
            <a:off x="1828800" y="2514600"/>
            <a:ext cx="128016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0" y="2514600"/>
            <a:ext cx="1005840" cy="0"/>
          </a:xfrm>
          <a:prstGeom prst="line">
            <a:avLst/>
          </a:prstGeom>
          <a:noFill/>
          <a:ln w="15240">
            <a:solidFill>
              <a:srgbClr val="7CB5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040880" y="2514600"/>
            <a:ext cx="1280160" cy="0"/>
          </a:xfrm>
          <a:prstGeom prst="line">
            <a:avLst/>
          </a:prstGeom>
          <a:noFill/>
          <a:ln w="15240">
            <a:solidFill>
              <a:srgbClr val="FBBF2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sequence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[N, L, d]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26080" y="20574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97180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20574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53212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219456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275320" y="2240280"/>
            <a:ext cx="11887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0" y="3154680"/>
            <a:ext cx="1188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B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[N, L, H1]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15000" y="315468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B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[N, L, H2] or [N, H2]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54480" y="4343400"/>
            <a:ext cx="7132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1 must return a sequence when another recurrent layer follows.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373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layers increase modelling capacity, but also parameters, training time and overfitting risk.</a:t>
            </a:r>
            <a:endParaRPr lang="en-US" sz="1050" b="1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A11F27-0B21-B331-FA26-52ED80CF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Dropout and recurrent regularization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B8B4E4-670B-8019-00E9-174AAF3897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Recurrent models can overfit, especially when:</a:t>
            </a:r>
          </a:p>
          <a:p>
            <a:pPr lvl="1"/>
            <a:r>
              <a:rPr lang="en-GB" dirty="0"/>
              <a:t>training data are limited; </a:t>
            </a:r>
          </a:p>
          <a:p>
            <a:pPr lvl="1"/>
            <a:r>
              <a:rPr lang="en-GB" dirty="0"/>
              <a:t>hidden states are large; </a:t>
            </a:r>
          </a:p>
          <a:p>
            <a:pPr lvl="1"/>
            <a:r>
              <a:rPr lang="en-GB" dirty="0"/>
              <a:t>several recurrent layers are stacked. </a:t>
            </a:r>
          </a:p>
          <a:p>
            <a:r>
              <a:rPr lang="en-GB" b="1" dirty="0"/>
              <a:t>Dropout</a:t>
            </a:r>
          </a:p>
          <a:p>
            <a:r>
              <a:rPr lang="en-GB" dirty="0"/>
              <a:t>During training, a fraction of activations is randomly suppressed.</a:t>
            </a:r>
          </a:p>
          <a:p>
            <a:r>
              <a:rPr lang="en-GB" dirty="0"/>
              <a:t>Purpose:</a:t>
            </a:r>
          </a:p>
          <a:p>
            <a:pPr lvl="1"/>
            <a:r>
              <a:rPr lang="en-GB" dirty="0"/>
              <a:t>reduce dependence on individual units; </a:t>
            </a:r>
          </a:p>
          <a:p>
            <a:pPr lvl="1"/>
            <a:r>
              <a:rPr lang="en-GB" dirty="0"/>
              <a:t>improve generalization. </a:t>
            </a:r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0834984-826F-2097-6D9F-AC4B1AE37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69" y="2160589"/>
            <a:ext cx="6698908" cy="3880773"/>
          </a:xfrm>
        </p:spPr>
        <p:txBody>
          <a:bodyPr>
            <a:normAutofit fontScale="850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1- Dropout between stacked recurrent layers (inter-layer dropout)</a:t>
            </a:r>
          </a:p>
          <a:p>
            <a:pPr lvl="1"/>
            <a:r>
              <a:rPr lang="en-GB" dirty="0"/>
              <a:t>regularizes the connection from one recurrent layer to the next.</a:t>
            </a:r>
            <a:endParaRPr lang="en-GB" b="1" dirty="0"/>
          </a:p>
          <a:p>
            <a:r>
              <a:rPr lang="en-GB" dirty="0"/>
              <a:t>A common structure is:</a:t>
            </a:r>
          </a:p>
          <a:p>
            <a:pPr lvl="1"/>
            <a:r>
              <a:rPr lang="en-GB" dirty="0"/>
              <a:t>recurrent layer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dropout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recurrent layer</a:t>
            </a:r>
          </a:p>
          <a:p>
            <a:pPr lvl="1"/>
            <a:endParaRPr lang="en-GB" dirty="0"/>
          </a:p>
          <a:p>
            <a:r>
              <a:rPr lang="en-GB" dirty="0"/>
              <a:t>RNN layer 1→dropout→RNN layer 2 </a:t>
            </a:r>
          </a:p>
          <a:p>
            <a:r>
              <a:rPr lang="en-GB" dirty="0"/>
              <a:t>Dropout is applied to the outputs of the first recurrent layer before they are passed to the second layer.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5167462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80061-AEFB-9D2E-4B98-CD8B0CBE2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B0DEA4-F2BE-0715-EA9B-56782FC31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Dropout and recurrent regularization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8299FCF-91B7-876D-DE0F-89976F742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2- Recurrent dropout </a:t>
            </a:r>
          </a:p>
          <a:p>
            <a:pPr lvl="1"/>
            <a:r>
              <a:rPr lang="en-GB" dirty="0"/>
              <a:t>regularizes the hidden-to-hidden recurrence through time</a:t>
            </a:r>
            <a:endParaRPr lang="en-GB" b="1" dirty="0"/>
          </a:p>
          <a:p>
            <a:endParaRPr lang="en-GB" dirty="0"/>
          </a:p>
          <a:p>
            <a:r>
              <a:rPr lang="en-GB" b="1" dirty="0"/>
              <a:t>Dropout is active during training.</a:t>
            </a:r>
          </a:p>
          <a:p>
            <a:r>
              <a:rPr lang="en-GB" dirty="0"/>
              <a:t>During normal inference: all units are used;  no random suppression is applied. 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Regularization should control model complexity without destroying the temporal information required by the task.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FA37973-0E89-DD36-F525-78602501B3B4}"/>
              </a:ext>
            </a:extLst>
          </p:cNvPr>
          <p:cNvSpPr txBox="1"/>
          <p:nvPr/>
        </p:nvSpPr>
        <p:spPr>
          <a:xfrm>
            <a:off x="6950332" y="1586184"/>
            <a:ext cx="52416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Recurrent dropout</a:t>
            </a:r>
            <a:r>
              <a:rPr lang="en-GB" dirty="0"/>
              <a:t> instead acts on the recurrent connection inside a recurrent layer, i.e. on the information coming from the previous hidden state: h</a:t>
            </a:r>
            <a:r>
              <a:rPr lang="en-GB" baseline="-25000" dirty="0"/>
              <a:t>t−1</a:t>
            </a:r>
            <a:r>
              <a:rPr lang="en-GB" dirty="0"/>
              <a:t>​→</a:t>
            </a:r>
            <a:r>
              <a:rPr lang="en-GB" dirty="0" err="1"/>
              <a:t>dropout→recurrent</a:t>
            </a:r>
            <a:r>
              <a:rPr lang="en-GB" dirty="0"/>
              <a:t> computation at t </a:t>
            </a:r>
          </a:p>
          <a:p>
            <a:pPr>
              <a:buNone/>
            </a:pPr>
            <a:r>
              <a:rPr lang="en-GB" dirty="0"/>
              <a:t>Precisely:</a:t>
            </a:r>
          </a:p>
          <a:p>
            <a:pPr>
              <a:buNone/>
            </a:pPr>
            <a:r>
              <a:rPr lang="en-GB" b="1" dirty="0" err="1"/>
              <a:t>h</a:t>
            </a:r>
            <a:r>
              <a:rPr lang="en-GB" b="1" baseline="-25000" dirty="0" err="1"/>
              <a:t>t</a:t>
            </a:r>
            <a:r>
              <a:rPr lang="en-GB" b="1" dirty="0"/>
              <a:t>​=f(</a:t>
            </a:r>
            <a:r>
              <a:rPr lang="en-GB" b="1" dirty="0" err="1"/>
              <a:t>W</a:t>
            </a:r>
            <a:r>
              <a:rPr lang="en-GB" b="1" baseline="-25000" dirty="0" err="1"/>
              <a:t>x</a:t>
            </a:r>
            <a:r>
              <a:rPr lang="en-GB" b="1" dirty="0"/>
              <a:t>​</a:t>
            </a:r>
            <a:r>
              <a:rPr lang="en-GB" b="1" dirty="0" err="1"/>
              <a:t>x</a:t>
            </a:r>
            <a:r>
              <a:rPr lang="en-GB" b="1" baseline="-25000" dirty="0" err="1"/>
              <a:t>t</a:t>
            </a:r>
            <a:r>
              <a:rPr lang="en-GB" b="1" dirty="0"/>
              <a:t>​+</a:t>
            </a:r>
            <a:r>
              <a:rPr lang="en-GB" b="1" dirty="0" err="1">
                <a:highlight>
                  <a:srgbClr val="FFFF00"/>
                </a:highlight>
              </a:rPr>
              <a:t>W</a:t>
            </a:r>
            <a:r>
              <a:rPr lang="en-GB" b="1" baseline="-25000" dirty="0" err="1">
                <a:highlight>
                  <a:srgbClr val="FFFF00"/>
                </a:highlight>
              </a:rPr>
              <a:t>h</a:t>
            </a:r>
            <a:r>
              <a:rPr lang="en-GB" b="1" dirty="0">
                <a:highlight>
                  <a:srgbClr val="FFFF00"/>
                </a:highlight>
              </a:rPr>
              <a:t>​Dropout(h</a:t>
            </a:r>
            <a:r>
              <a:rPr lang="en-GB" b="1" baseline="-25000" dirty="0">
                <a:highlight>
                  <a:srgbClr val="FFFF00"/>
                </a:highlight>
              </a:rPr>
              <a:t>t−1</a:t>
            </a:r>
            <a:r>
              <a:rPr lang="en-GB" b="1" dirty="0">
                <a:highlight>
                  <a:srgbClr val="FFFF00"/>
                </a:highlight>
              </a:rPr>
              <a:t>​)</a:t>
            </a:r>
            <a:r>
              <a:rPr lang="en-GB" b="1" dirty="0"/>
              <a:t>+b)</a:t>
            </a:r>
          </a:p>
        </p:txBody>
      </p:sp>
    </p:spTree>
    <p:extLst>
      <p:ext uri="{BB962C8B-B14F-4D97-AF65-F5344CB8AC3E}">
        <p14:creationId xmlns:p14="http://schemas.microsoft.com/office/powerpoint/2010/main" val="1034941155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Dropout and recurrent regularization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Regularization helps control overfitting in larger recurrent models.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2011680"/>
            <a:ext cx="1170432" cy="0"/>
          </a:xfrm>
          <a:prstGeom prst="line">
            <a:avLst/>
          </a:prstGeom>
          <a:noFill/>
          <a:ln w="15240">
            <a:solidFill>
              <a:srgbClr val="7CB5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407408" y="1985010"/>
            <a:ext cx="137160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178040" y="2011680"/>
            <a:ext cx="1371600" cy="0"/>
          </a:xfrm>
          <a:prstGeom prst="line">
            <a:avLst/>
          </a:prstGeom>
          <a:noFill/>
          <a:ln w="15240">
            <a:solidFill>
              <a:srgbClr val="7CB5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1371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63240" y="1645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108960" y="1691640"/>
            <a:ext cx="1188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dropout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06440" y="16002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852160" y="1645920"/>
            <a:ext cx="1371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549640" y="169164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595360" y="1737360"/>
            <a:ext cx="1051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0" y="324612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999232" y="3474720"/>
            <a:ext cx="91440" cy="91440"/>
          </a:xfrm>
          <a:prstGeom prst="ellipse">
            <a:avLst/>
          </a:prstGeom>
          <a:solidFill>
            <a:srgbClr val="475467">
              <a:alpha val="40000"/>
            </a:srgbClr>
          </a:solidFill>
          <a:ln w="12700">
            <a:solidFill>
              <a:srgbClr val="47546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163824" y="3246120"/>
            <a:ext cx="91440" cy="91440"/>
          </a:xfrm>
          <a:prstGeom prst="ellipse">
            <a:avLst/>
          </a:prstGeom>
          <a:solidFill>
            <a:srgbClr val="475467">
              <a:alpha val="40000"/>
            </a:srgbClr>
          </a:solidFill>
          <a:ln w="12700">
            <a:solidFill>
              <a:srgbClr val="47546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328416" y="347472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493008" y="3246120"/>
            <a:ext cx="91440" cy="91440"/>
          </a:xfrm>
          <a:prstGeom prst="ellipse">
            <a:avLst/>
          </a:prstGeom>
          <a:solidFill>
            <a:srgbClr val="475467">
              <a:alpha val="40000"/>
            </a:srgbClr>
          </a:solidFill>
          <a:ln w="12700">
            <a:solidFill>
              <a:srgbClr val="47546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657600" y="3474720"/>
            <a:ext cx="91440" cy="91440"/>
          </a:xfrm>
          <a:prstGeom prst="ellipse">
            <a:avLst/>
          </a:prstGeom>
          <a:solidFill>
            <a:srgbClr val="475467">
              <a:alpha val="40000"/>
            </a:srgbClr>
          </a:solidFill>
          <a:ln w="12700">
            <a:solidFill>
              <a:srgbClr val="47546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822192" y="324612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986784" y="3474720"/>
            <a:ext cx="91440" cy="91440"/>
          </a:xfrm>
          <a:prstGeom prst="ellipse">
            <a:avLst/>
          </a:prstGeom>
          <a:solidFill>
            <a:srgbClr val="475467">
              <a:alpha val="40000"/>
            </a:srgbClr>
          </a:solidFill>
          <a:ln w="12700">
            <a:solidFill>
              <a:srgbClr val="47546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151376" y="3246120"/>
            <a:ext cx="91440" cy="91440"/>
          </a:xfrm>
          <a:prstGeom prst="ellipse">
            <a:avLst/>
          </a:prstGeom>
          <a:solidFill>
            <a:srgbClr val="475467">
              <a:alpha val="40000"/>
            </a:srgbClr>
          </a:solidFill>
          <a:ln w="12700">
            <a:solidFill>
              <a:srgbClr val="47546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315968" y="347472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28016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training: randomly suppress some activations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3977640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inference: use the full network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64373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Dropout should reduce overfitting without destroying the temporal information required by the task.</a:t>
            </a:r>
            <a:endParaRPr lang="en-US" sz="1000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A0D2D7CD-33B9-600D-AF4A-C994467E264D}"/>
              </a:ext>
            </a:extLst>
          </p:cNvPr>
          <p:cNvSpPr txBox="1"/>
          <p:nvPr/>
        </p:nvSpPr>
        <p:spPr>
          <a:xfrm>
            <a:off x="8762163" y="1042416"/>
            <a:ext cx="2631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Inter-</a:t>
            </a:r>
            <a:r>
              <a:rPr lang="it-IT" dirty="0" err="1"/>
              <a:t>layer</a:t>
            </a:r>
            <a:r>
              <a:rPr lang="it-IT" dirty="0"/>
              <a:t> dropout</a:t>
            </a:r>
            <a:endParaRPr lang="en-GB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03FCA1-8BB8-348C-5B9D-D8B3F844E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Batch size and sequence processing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5E0632-1143-EA85-F94D-2F2E281E0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Training is usually performed using </a:t>
            </a:r>
            <a:r>
              <a:rPr lang="en-GB" b="1" dirty="0"/>
              <a:t>batches of temporal samples.</a:t>
            </a:r>
          </a:p>
          <a:p>
            <a:r>
              <a:rPr lang="en-GB" dirty="0">
                <a:highlight>
                  <a:srgbClr val="FFFF00"/>
                </a:highlight>
              </a:rPr>
              <a:t>Input tensor:</a:t>
            </a:r>
          </a:p>
          <a:p>
            <a:r>
              <a:rPr lang="en-GB" dirty="0">
                <a:highlight>
                  <a:srgbClr val="FFFF00"/>
                </a:highlight>
              </a:rPr>
              <a:t>[N, L, d]</a:t>
            </a:r>
          </a:p>
          <a:p>
            <a:r>
              <a:rPr lang="en-GB" dirty="0">
                <a:highlight>
                  <a:srgbClr val="FFFF00"/>
                </a:highlight>
              </a:rPr>
              <a:t>where N is the batch size.</a:t>
            </a:r>
          </a:p>
          <a:p>
            <a:endParaRPr lang="en-GB" b="1" dirty="0"/>
          </a:p>
          <a:p>
            <a:r>
              <a:rPr lang="en-GB" b="1" dirty="0"/>
              <a:t>Larger batches</a:t>
            </a:r>
          </a:p>
          <a:p>
            <a:r>
              <a:rPr lang="en-GB" dirty="0">
                <a:highlight>
                  <a:srgbClr val="FFFF00"/>
                </a:highlight>
              </a:rPr>
              <a:t>Potential advantages:</a:t>
            </a:r>
          </a:p>
          <a:p>
            <a:pPr lvl="1"/>
            <a:r>
              <a:rPr lang="en-GB" dirty="0"/>
              <a:t>efficient hardware utilization; </a:t>
            </a:r>
          </a:p>
          <a:p>
            <a:pPr lvl="1"/>
            <a:r>
              <a:rPr lang="en-GB" dirty="0"/>
              <a:t>more stable gradient estimates. </a:t>
            </a:r>
          </a:p>
          <a:p>
            <a:r>
              <a:rPr lang="en-GB" dirty="0">
                <a:highlight>
                  <a:srgbClr val="FFFF00"/>
                </a:highlight>
              </a:rPr>
              <a:t>Potential disadvantages:</a:t>
            </a:r>
          </a:p>
          <a:p>
            <a:pPr lvl="1"/>
            <a:r>
              <a:rPr lang="en-GB" dirty="0"/>
              <a:t>higher memory requirements; 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fewer parameter updates (number of times) per epoch.</a:t>
            </a:r>
          </a:p>
          <a:p>
            <a:pPr lvl="2"/>
            <a:r>
              <a:rPr lang="en-GB" dirty="0"/>
              <a:t>M</a:t>
            </a:r>
            <a:r>
              <a:rPr lang="en-GB"/>
              <a:t>ore </a:t>
            </a:r>
            <a:r>
              <a:rPr lang="en-GB" dirty="0"/>
              <a:t>epochs may be needed to achieve the same number of optimization steps</a:t>
            </a: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7450554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760D1-29DD-C611-4AF6-A53FF382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CC381C-048B-D0CF-8CBF-7EAF455B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Batch size and sequence processing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D9AFC4-C224-AA6F-48FB-B40E44A29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Smaller batches</a:t>
            </a:r>
          </a:p>
          <a:p>
            <a:r>
              <a:rPr lang="en-GB" dirty="0"/>
              <a:t>Potential advantages:</a:t>
            </a:r>
          </a:p>
          <a:p>
            <a:pPr lvl="1"/>
            <a:r>
              <a:rPr lang="en-GB" dirty="0"/>
              <a:t>lower memory requirement; </a:t>
            </a:r>
          </a:p>
          <a:p>
            <a:pPr lvl="1"/>
            <a:r>
              <a:rPr lang="en-GB" dirty="0"/>
              <a:t>more frequent parameter updates. </a:t>
            </a:r>
          </a:p>
          <a:p>
            <a:r>
              <a:rPr lang="en-GB" dirty="0"/>
              <a:t>Potential disadvantages:</a:t>
            </a:r>
          </a:p>
          <a:p>
            <a:pPr lvl="1"/>
            <a:r>
              <a:rPr lang="en-GB" dirty="0"/>
              <a:t>noisier gradients; </a:t>
            </a:r>
          </a:p>
          <a:p>
            <a:pPr lvl="1"/>
            <a:r>
              <a:rPr lang="en-GB" dirty="0"/>
              <a:t>potentially slower hardware utilization. </a:t>
            </a:r>
          </a:p>
          <a:p>
            <a:endParaRPr lang="en-GB" dirty="0"/>
          </a:p>
          <a:p>
            <a:r>
              <a:rPr lang="en-GB" sz="1500" b="1" dirty="0">
                <a:highlight>
                  <a:srgbClr val="FFFF00"/>
                </a:highlight>
              </a:rPr>
              <a:t>Samples can be processed in parallel across the batch.</a:t>
            </a:r>
          </a:p>
          <a:p>
            <a:r>
              <a:rPr lang="en-GB" sz="1500" dirty="0">
                <a:highlight>
                  <a:srgbClr val="FFFF00"/>
                </a:highlight>
              </a:rPr>
              <a:t>However, within one recurrent sequence:</a:t>
            </a:r>
          </a:p>
          <a:p>
            <a:pPr lvl="1"/>
            <a:r>
              <a:rPr lang="en-GB" sz="1300" dirty="0"/>
              <a:t>h[t] depends on h[t−1]</a:t>
            </a:r>
          </a:p>
          <a:p>
            <a:pPr lvl="1"/>
            <a:r>
              <a:rPr lang="en-GB" sz="1300" dirty="0"/>
              <a:t>so </a:t>
            </a:r>
            <a:r>
              <a:rPr lang="en-GB" sz="1300" b="1" dirty="0"/>
              <a:t>temporal processing remains sequential.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8464808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Batch parallelism versus temporal recurrence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Samples in a batch can be processed together, but each sequence  are ordered in time.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310896" cy="256032"/>
          </a:xfrm>
          <a:prstGeom prst="rect">
            <a:avLst/>
          </a:prstGeom>
          <a:solidFill>
            <a:srgbClr val="D9F2A3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310896" cy="256032"/>
          </a:xfrm>
          <a:prstGeom prst="rect">
            <a:avLst/>
          </a:prstGeom>
          <a:solidFill>
            <a:srgbClr val="D9F2A3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645920" y="1645920"/>
            <a:ext cx="310896" cy="256032"/>
          </a:xfrm>
          <a:prstGeom prst="rect">
            <a:avLst/>
          </a:prstGeom>
          <a:solidFill>
            <a:srgbClr val="D9F2A3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057400" y="1645920"/>
            <a:ext cx="310896" cy="256032"/>
          </a:xfrm>
          <a:prstGeom prst="rect">
            <a:avLst/>
          </a:prstGeom>
          <a:solidFill>
            <a:srgbClr val="D9F2A3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468880" y="1645920"/>
            <a:ext cx="310896" cy="256032"/>
          </a:xfrm>
          <a:prstGeom prst="rect">
            <a:avLst/>
          </a:prstGeom>
          <a:solidFill>
            <a:srgbClr val="D9F2A3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880360" y="1645920"/>
            <a:ext cx="310896" cy="256032"/>
          </a:xfrm>
          <a:prstGeom prst="rect">
            <a:avLst/>
          </a:prstGeom>
          <a:solidFill>
            <a:srgbClr val="D9F2A3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22960" y="2029968"/>
            <a:ext cx="310896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234440" y="2029968"/>
            <a:ext cx="310896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645920" y="2029968"/>
            <a:ext cx="310896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057400" y="2029968"/>
            <a:ext cx="310896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468880" y="2029968"/>
            <a:ext cx="310896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880360" y="2029968"/>
            <a:ext cx="310896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822960" y="2414016"/>
            <a:ext cx="310896" cy="256032"/>
          </a:xfrm>
          <a:prstGeom prst="rect">
            <a:avLst/>
          </a:prstGeom>
          <a:solidFill>
            <a:srgbClr val="D9F2A3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234440" y="2414016"/>
            <a:ext cx="310896" cy="256032"/>
          </a:xfrm>
          <a:prstGeom prst="rect">
            <a:avLst/>
          </a:prstGeom>
          <a:solidFill>
            <a:srgbClr val="D9F2A3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645920" y="2414016"/>
            <a:ext cx="310896" cy="256032"/>
          </a:xfrm>
          <a:prstGeom prst="rect">
            <a:avLst/>
          </a:prstGeom>
          <a:solidFill>
            <a:srgbClr val="D9F2A3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057400" y="2414016"/>
            <a:ext cx="310896" cy="256032"/>
          </a:xfrm>
          <a:prstGeom prst="rect">
            <a:avLst/>
          </a:prstGeom>
          <a:solidFill>
            <a:srgbClr val="D9F2A3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468880" y="2414016"/>
            <a:ext cx="310896" cy="256032"/>
          </a:xfrm>
          <a:prstGeom prst="rect">
            <a:avLst/>
          </a:prstGeom>
          <a:solidFill>
            <a:srgbClr val="D9F2A3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880360" y="2414016"/>
            <a:ext cx="310896" cy="256032"/>
          </a:xfrm>
          <a:prstGeom prst="rect">
            <a:avLst/>
          </a:prstGeom>
          <a:solidFill>
            <a:srgbClr val="D9F2A3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822960" y="2798064"/>
            <a:ext cx="310896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234440" y="2798064"/>
            <a:ext cx="310896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645920" y="2798064"/>
            <a:ext cx="310896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057400" y="2798064"/>
            <a:ext cx="310896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2468880" y="2798064"/>
            <a:ext cx="310896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880360" y="2798064"/>
            <a:ext cx="310896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94360" y="3429000"/>
            <a:ext cx="2651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dimension 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 in parallel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205740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617720" y="21031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h[1]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074920" y="2267712"/>
            <a:ext cx="246888" cy="0"/>
          </a:xfrm>
          <a:prstGeom prst="line">
            <a:avLst/>
          </a:prstGeom>
          <a:noFill/>
          <a:ln w="1397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572000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x[1]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828032" y="1828800"/>
            <a:ext cx="0" cy="210312"/>
          </a:xfrm>
          <a:prstGeom prst="line">
            <a:avLst/>
          </a:prstGeom>
          <a:noFill/>
          <a:ln w="11430">
            <a:solidFill>
              <a:srgbClr val="3B82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5330952" y="205740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5376672" y="21031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h[2]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833872" y="2267712"/>
            <a:ext cx="246888" cy="0"/>
          </a:xfrm>
          <a:prstGeom prst="line">
            <a:avLst/>
          </a:prstGeom>
          <a:noFill/>
          <a:ln w="1397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5330952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x[2]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586984" y="1828800"/>
            <a:ext cx="0" cy="210312"/>
          </a:xfrm>
          <a:prstGeom prst="line">
            <a:avLst/>
          </a:prstGeom>
          <a:noFill/>
          <a:ln w="11430">
            <a:solidFill>
              <a:srgbClr val="3B82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089904" y="205740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135624" y="21031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h[3]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592824" y="2267712"/>
            <a:ext cx="246888" cy="0"/>
          </a:xfrm>
          <a:prstGeom prst="line">
            <a:avLst/>
          </a:prstGeom>
          <a:noFill/>
          <a:ln w="1397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089904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x[3]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345936" y="1828800"/>
            <a:ext cx="0" cy="210312"/>
          </a:xfrm>
          <a:prstGeom prst="line">
            <a:avLst/>
          </a:prstGeom>
          <a:noFill/>
          <a:ln w="11430">
            <a:solidFill>
              <a:srgbClr val="3B82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6848856" y="205740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6894576" y="21031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h[4]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351776" y="2267712"/>
            <a:ext cx="246888" cy="0"/>
          </a:xfrm>
          <a:prstGeom prst="line">
            <a:avLst/>
          </a:prstGeom>
          <a:noFill/>
          <a:ln w="1397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848856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x[4]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104888" y="1828800"/>
            <a:ext cx="0" cy="210312"/>
          </a:xfrm>
          <a:prstGeom prst="line">
            <a:avLst/>
          </a:prstGeom>
          <a:noFill/>
          <a:ln w="11430">
            <a:solidFill>
              <a:srgbClr val="3B82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7607808" y="205740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7653528" y="21031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h[5]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110728" y="2267712"/>
            <a:ext cx="246888" cy="0"/>
          </a:xfrm>
          <a:prstGeom prst="line">
            <a:avLst/>
          </a:prstGeom>
          <a:noFill/>
          <a:ln w="1397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7607808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x[5]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863840" y="1828800"/>
            <a:ext cx="0" cy="210312"/>
          </a:xfrm>
          <a:prstGeom prst="line">
            <a:avLst/>
          </a:prstGeom>
          <a:noFill/>
          <a:ln w="11430">
            <a:solidFill>
              <a:srgbClr val="3B82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8366760" y="205740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8412480" y="21031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h[6]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366760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x[6]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622792" y="1828800"/>
            <a:ext cx="0" cy="210312"/>
          </a:xfrm>
          <a:prstGeom prst="line">
            <a:avLst/>
          </a:prstGeom>
          <a:noFill/>
          <a:ln w="11430">
            <a:solidFill>
              <a:srgbClr val="3B82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4754880" y="3063240"/>
            <a:ext cx="4389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within each sequence: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 depends on h[t−1]</a:t>
            </a:r>
            <a:endParaRPr lang="en-US" sz="10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F78073-C2C4-5637-8546-A0247004A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complexity should be evaluated as a system property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5C29D-4AE6-1CC5-07FF-9A6BD12DA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Consider two recurrent models:</a:t>
            </a:r>
          </a:p>
          <a:p>
            <a:r>
              <a:rPr lang="en-GB" b="1" dirty="0"/>
              <a:t>Model A</a:t>
            </a:r>
          </a:p>
          <a:p>
            <a:pPr lvl="1"/>
            <a:r>
              <a:rPr lang="en-GB" dirty="0"/>
              <a:t>one GRU layer; </a:t>
            </a:r>
          </a:p>
          <a:p>
            <a:pPr lvl="1"/>
            <a:r>
              <a:rPr lang="en-GB" dirty="0"/>
              <a:t>32 hidden units. </a:t>
            </a:r>
          </a:p>
          <a:p>
            <a:r>
              <a:rPr lang="en-GB" b="1" dirty="0"/>
              <a:t>Model B</a:t>
            </a:r>
          </a:p>
          <a:p>
            <a:pPr lvl="1"/>
            <a:r>
              <a:rPr lang="en-GB" dirty="0"/>
              <a:t>three LSTM </a:t>
            </a:r>
            <a:r>
              <a:rPr lang="en-GB" b="1" dirty="0"/>
              <a:t>layers</a:t>
            </a:r>
            <a:r>
              <a:rPr lang="en-GB" dirty="0"/>
              <a:t>; </a:t>
            </a:r>
          </a:p>
          <a:p>
            <a:pPr lvl="1"/>
            <a:r>
              <a:rPr lang="en-GB" dirty="0"/>
              <a:t>256 hidden units each. </a:t>
            </a:r>
          </a:p>
          <a:p>
            <a:r>
              <a:rPr lang="en-GB" dirty="0"/>
              <a:t>Model B has much greater capacity.</a:t>
            </a:r>
          </a:p>
          <a:p>
            <a:r>
              <a:rPr lang="en-GB" b="1" dirty="0">
                <a:highlight>
                  <a:srgbClr val="FFFF00"/>
                </a:highlight>
              </a:rPr>
              <a:t>But model comparison should include:</a:t>
            </a:r>
          </a:p>
          <a:p>
            <a:pPr lvl="1"/>
            <a:r>
              <a:rPr lang="en-GB" dirty="0"/>
              <a:t>validation performance; </a:t>
            </a:r>
          </a:p>
          <a:p>
            <a:pPr lvl="1"/>
            <a:r>
              <a:rPr lang="en-GB" dirty="0"/>
              <a:t>training time; </a:t>
            </a:r>
          </a:p>
          <a:p>
            <a:pPr lvl="1"/>
            <a:r>
              <a:rPr lang="en-GB" dirty="0"/>
              <a:t>inference latency; </a:t>
            </a:r>
          </a:p>
          <a:p>
            <a:pPr lvl="1"/>
            <a:r>
              <a:rPr lang="en-GB" dirty="0"/>
              <a:t>memory use; </a:t>
            </a:r>
          </a:p>
          <a:p>
            <a:pPr lvl="1"/>
            <a:r>
              <a:rPr lang="en-GB" dirty="0"/>
              <a:t>training stability; </a:t>
            </a:r>
          </a:p>
          <a:p>
            <a:pPr lvl="1"/>
            <a:r>
              <a:rPr lang="en-GB" dirty="0"/>
              <a:t>robustness. 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1376499-F57C-3B0E-4E37-E96AC6BE10B6}"/>
              </a:ext>
            </a:extLst>
          </p:cNvPr>
          <p:cNvSpPr txBox="1"/>
          <p:nvPr/>
        </p:nvSpPr>
        <p:spPr>
          <a:xfrm>
            <a:off x="4975668" y="3496440"/>
            <a:ext cx="61055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Example</a:t>
            </a:r>
          </a:p>
          <a:p>
            <a:r>
              <a:rPr lang="en-GB" sz="1800" dirty="0"/>
              <a:t>If: Model A MAE = 2.8</a:t>
            </a:r>
          </a:p>
          <a:p>
            <a:r>
              <a:rPr lang="en-GB" sz="1800" dirty="0"/>
              <a:t>and: Model B MAE = 2.75</a:t>
            </a:r>
          </a:p>
          <a:p>
            <a:r>
              <a:rPr lang="en-GB" sz="1800" b="1" dirty="0"/>
              <a:t>the small predictive improvement may not justify the additional complexity.</a:t>
            </a:r>
          </a:p>
          <a:p>
            <a:endParaRPr lang="en-GB" sz="1800" b="1" dirty="0"/>
          </a:p>
          <a:p>
            <a:r>
              <a:rPr lang="en-GB" sz="1800" b="1" dirty="0">
                <a:highlight>
                  <a:srgbClr val="FFFF00"/>
                </a:highlight>
              </a:rPr>
              <a:t>Architecture depth and hidden size should be justified by measurable improvement</a:t>
            </a:r>
            <a:r>
              <a:rPr lang="en-GB" sz="1800" dirty="0">
                <a:highlight>
                  <a:srgbClr val="FFFF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9900344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complexity is a system property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performance gain may not justify a much more expensive recurrent model.</a:t>
            </a:r>
            <a:endParaRPr lang="en-US" sz="1000" b="1" dirty="0"/>
          </a:p>
        </p:txBody>
      </p:sp>
      <p:sp>
        <p:nvSpPr>
          <p:cNvPr id="7" name="Shape 5"/>
          <p:cNvSpPr/>
          <p:nvPr/>
        </p:nvSpPr>
        <p:spPr>
          <a:xfrm>
            <a:off x="100584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51560" y="1874520"/>
            <a:ext cx="1920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GRU layer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hidden units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903720" y="1874520"/>
            <a:ext cx="1920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LSTM layers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256 hidden units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47472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03120" y="3520440"/>
            <a:ext cx="853440" cy="109728"/>
          </a:xfrm>
          <a:prstGeom prst="rect">
            <a:avLst/>
          </a:prstGeom>
          <a:solidFill>
            <a:srgbClr val="7CB518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023360" y="3474720"/>
            <a:ext cx="5486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7CB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949440" y="347472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955280" y="3520440"/>
            <a:ext cx="8382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921240" y="3474720"/>
            <a:ext cx="5486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2.75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9728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0" y="3931920"/>
            <a:ext cx="304800" cy="109728"/>
          </a:xfrm>
          <a:prstGeom prst="rect">
            <a:avLst/>
          </a:prstGeom>
          <a:solidFill>
            <a:srgbClr val="7CB518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023360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7CB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94944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955280" y="3931920"/>
            <a:ext cx="15240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921240" y="3886200"/>
            <a:ext cx="5486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97280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03120" y="4343400"/>
            <a:ext cx="304800" cy="109728"/>
          </a:xfrm>
          <a:prstGeom prst="rect">
            <a:avLst/>
          </a:prstGeom>
          <a:solidFill>
            <a:srgbClr val="7CB518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023360" y="4297680"/>
            <a:ext cx="5486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7CB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949440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955280" y="4343400"/>
            <a:ext cx="10668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921240" y="4297680"/>
            <a:ext cx="5486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09728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03120" y="4754880"/>
            <a:ext cx="304800" cy="109728"/>
          </a:xfrm>
          <a:prstGeom prst="rect">
            <a:avLst/>
          </a:prstGeom>
          <a:solidFill>
            <a:srgbClr val="7CB518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023360" y="4709160"/>
            <a:ext cx="5486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7CB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94944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955280" y="4754880"/>
            <a:ext cx="18288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9921240" y="4709160"/>
            <a:ext cx="5486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371600" y="548640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performance together with training cost, inference cost, memory and robustness.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4373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depth and hidden size should be justified by measurable improvement.</a:t>
            </a:r>
            <a:endParaRPr lang="en-US" sz="90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2DEDF9-C6B5-2745-4B7E-34F34456F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4.J — </a:t>
            </a:r>
            <a:r>
              <a:rPr lang="en-GB" dirty="0" err="1"/>
              <a:t>SimpleRNN</a:t>
            </a:r>
            <a:r>
              <a:rPr lang="en-GB" dirty="0"/>
              <a:t>, LSTM or GRU?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B325A3-8133-DEC9-1D4D-89844F093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619158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C39AFF-9CA8-EB72-DA9C-F4FB7B070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Three recurrent cells, one common principle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AC8421-A17C-78C5-93CA-B3EA432DA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err="1"/>
              <a:t>SimpleRNN</a:t>
            </a:r>
            <a:r>
              <a:rPr lang="en-GB" dirty="0"/>
              <a:t>, LSTM and GRU share the same fundamental recurrent idea:</a:t>
            </a:r>
          </a:p>
          <a:p>
            <a:r>
              <a:rPr lang="en-GB" b="1" dirty="0">
                <a:highlight>
                  <a:srgbClr val="FFFF00"/>
                </a:highlight>
              </a:rPr>
              <a:t>The current state depends on the current input and information propagated from the previous time step.</a:t>
            </a:r>
          </a:p>
          <a:p>
            <a:r>
              <a:rPr lang="en-GB" b="1" dirty="0" err="1"/>
              <a:t>SimpleRNN</a:t>
            </a:r>
            <a:endParaRPr lang="en-GB" b="1" dirty="0"/>
          </a:p>
          <a:p>
            <a:r>
              <a:rPr lang="en-GB" dirty="0"/>
              <a:t>x[t], h[t−1] → h[t]</a:t>
            </a:r>
          </a:p>
          <a:p>
            <a:r>
              <a:rPr lang="en-GB" b="1" dirty="0"/>
              <a:t>GRU</a:t>
            </a:r>
          </a:p>
          <a:p>
            <a:r>
              <a:rPr lang="en-GB" dirty="0"/>
              <a:t>x[t], h[t−1] → gated update → h[t]</a:t>
            </a:r>
          </a:p>
          <a:p>
            <a:r>
              <a:rPr lang="en-GB" b="1" dirty="0"/>
              <a:t>LSTM</a:t>
            </a:r>
          </a:p>
          <a:p>
            <a:r>
              <a:rPr lang="en-GB" dirty="0"/>
              <a:t>x[t], h[t−1], c[t−1] → gated update → h[t], c[t]</a:t>
            </a:r>
          </a:p>
          <a:p>
            <a:r>
              <a:rPr lang="en-GB" b="1" dirty="0">
                <a:highlight>
                  <a:srgbClr val="FFFF00"/>
                </a:highlight>
              </a:rPr>
              <a:t>Main difference</a:t>
            </a:r>
          </a:p>
          <a:p>
            <a:r>
              <a:rPr lang="en-GB" dirty="0"/>
              <a:t>They differ in </a:t>
            </a:r>
            <a:r>
              <a:rPr lang="en-GB" b="1" dirty="0"/>
              <a:t>how information is preserved, modified and forgotten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1735607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SimpleRNN, GRU and LSTM: same recurrent idea, different state update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recurrent cells propagate information through time, but they manage memory differently.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SimpleRNN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15087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194560" y="1554480"/>
            <a:ext cx="1828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x[t], h[t−1]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69080" y="1856232"/>
            <a:ext cx="86868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892040" y="146304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12344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SimpleRNN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856232"/>
            <a:ext cx="86868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040880" y="15087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086600" y="1554480"/>
            <a:ext cx="17373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48840" y="26517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194560" y="2697480"/>
            <a:ext cx="1828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x[t], h[t−1]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69080" y="2999232"/>
            <a:ext cx="868680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92040" y="260604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937760" y="2651760"/>
            <a:ext cx="12344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17920" y="2999232"/>
            <a:ext cx="868680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040880" y="26517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086600" y="2697480"/>
            <a:ext cx="17373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gated update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h[t]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7240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LSTM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48840" y="37947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19456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x[t], h[t−1], c[t−1]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69080" y="4142232"/>
            <a:ext cx="868680" cy="0"/>
          </a:xfrm>
          <a:prstGeom prst="line">
            <a:avLst/>
          </a:prstGeom>
          <a:noFill/>
          <a:ln w="15240">
            <a:solidFill>
              <a:srgbClr val="7CB5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892040" y="374904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937760" y="3794760"/>
            <a:ext cx="12344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LSTM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17920" y="4142232"/>
            <a:ext cx="868680" cy="0"/>
          </a:xfrm>
          <a:prstGeom prst="line">
            <a:avLst/>
          </a:prstGeom>
          <a:noFill/>
          <a:ln w="15240">
            <a:solidFill>
              <a:srgbClr val="7CB5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7040880" y="37947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7086600" y="3840480"/>
            <a:ext cx="17373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gated update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h[t], c[t]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64373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difference is how information is preserved, modified and forgotten.</a:t>
            </a:r>
            <a:endParaRPr lang="en-US" sz="10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50BC9F-A003-D4F2-0268-0D09DE262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SimpleRNN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A4D226-98BF-2942-0AC4-12DEF5BA91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Structure</a:t>
            </a:r>
          </a:p>
          <a:p>
            <a:pPr lvl="1"/>
            <a:r>
              <a:rPr lang="en-GB" dirty="0"/>
              <a:t>one hidden state; </a:t>
            </a:r>
          </a:p>
          <a:p>
            <a:pPr lvl="1"/>
            <a:r>
              <a:rPr lang="en-GB" dirty="0"/>
              <a:t>no explicit gates; </a:t>
            </a:r>
          </a:p>
          <a:p>
            <a:pPr lvl="1"/>
            <a:r>
              <a:rPr lang="en-GB" dirty="0"/>
              <a:t>simple recurrent transformation. </a:t>
            </a:r>
          </a:p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smallest parameter count; </a:t>
            </a:r>
          </a:p>
          <a:p>
            <a:pPr lvl="1"/>
            <a:r>
              <a:rPr lang="en-GB" dirty="0"/>
              <a:t>low computational cost; </a:t>
            </a:r>
          </a:p>
          <a:p>
            <a:pPr lvl="1"/>
            <a:r>
              <a:rPr lang="en-GB" dirty="0"/>
              <a:t>conceptually simple; </a:t>
            </a:r>
          </a:p>
          <a:p>
            <a:pPr lvl="1"/>
            <a:r>
              <a:rPr lang="en-GB" dirty="0"/>
              <a:t>useful for understanding recurrence.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66F1B03-1564-8208-E44C-8ABCEEB22E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Limitations</a:t>
            </a:r>
          </a:p>
          <a:p>
            <a:pPr lvl="1"/>
            <a:r>
              <a:rPr lang="en-GB" dirty="0"/>
              <a:t>difficult training over long dependencies; </a:t>
            </a:r>
          </a:p>
          <a:p>
            <a:pPr lvl="1"/>
            <a:r>
              <a:rPr lang="en-GB" dirty="0"/>
              <a:t>vanishing/exploding gradients; </a:t>
            </a:r>
          </a:p>
          <a:p>
            <a:pPr lvl="1"/>
            <a:r>
              <a:rPr lang="en-GB" dirty="0"/>
              <a:t>state is repeatedly rewritten. </a:t>
            </a:r>
          </a:p>
          <a:p>
            <a:r>
              <a:rPr lang="en-GB" b="1" dirty="0"/>
              <a:t>Suitable situations</a:t>
            </a:r>
          </a:p>
          <a:p>
            <a:pPr lvl="1"/>
            <a:r>
              <a:rPr lang="en-GB" dirty="0"/>
              <a:t>short temporal dependencies; </a:t>
            </a:r>
          </a:p>
          <a:p>
            <a:pPr lvl="1"/>
            <a:r>
              <a:rPr lang="en-GB" dirty="0"/>
              <a:t>simple sequence problems; </a:t>
            </a:r>
          </a:p>
          <a:p>
            <a:pPr lvl="1"/>
            <a:r>
              <a:rPr lang="en-GB" dirty="0"/>
              <a:t>educational baseline; </a:t>
            </a:r>
          </a:p>
          <a:p>
            <a:pPr lvl="1"/>
            <a:r>
              <a:rPr lang="en-GB" dirty="0"/>
              <a:t>very constrained computational environments. 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2F0329E-D5C0-B217-C80F-7FD6B436D078}"/>
              </a:ext>
            </a:extLst>
          </p:cNvPr>
          <p:cNvSpPr txBox="1"/>
          <p:nvPr/>
        </p:nvSpPr>
        <p:spPr>
          <a:xfrm>
            <a:off x="1593724" y="5948384"/>
            <a:ext cx="69924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 err="1"/>
              <a:t>SimpleRNN</a:t>
            </a:r>
            <a:r>
              <a:rPr lang="en-GB" sz="1800" dirty="0"/>
              <a:t> is the conceptual starting point, but often not the first practical choice for long temporal dependencies.</a:t>
            </a:r>
          </a:p>
        </p:txBody>
      </p:sp>
    </p:spTree>
    <p:extLst>
      <p:ext uri="{BB962C8B-B14F-4D97-AF65-F5344CB8AC3E}">
        <p14:creationId xmlns:p14="http://schemas.microsoft.com/office/powerpoint/2010/main" val="852797427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5C35D1-A1C0-C4E3-9AFA-980BDD1CD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LSTM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99AE8B-F3C3-8FBA-7540-91010F2FA4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Structure</a:t>
            </a:r>
          </a:p>
          <a:p>
            <a:r>
              <a:rPr lang="en-GB" dirty="0"/>
              <a:t>Maintains:</a:t>
            </a:r>
          </a:p>
          <a:p>
            <a:pPr lvl="1"/>
            <a:r>
              <a:rPr lang="en-GB" dirty="0"/>
              <a:t>hidden state h[t]; </a:t>
            </a:r>
          </a:p>
          <a:p>
            <a:pPr lvl="1"/>
            <a:r>
              <a:rPr lang="en-GB" dirty="0"/>
              <a:t>cell state c[t]. </a:t>
            </a:r>
          </a:p>
          <a:p>
            <a:r>
              <a:rPr lang="en-GB" dirty="0"/>
              <a:t>Uses:</a:t>
            </a:r>
          </a:p>
          <a:p>
            <a:pPr lvl="1"/>
            <a:r>
              <a:rPr lang="en-GB" dirty="0"/>
              <a:t>forget gate; </a:t>
            </a:r>
          </a:p>
          <a:p>
            <a:pPr lvl="1"/>
            <a:r>
              <a:rPr lang="en-GB" dirty="0"/>
              <a:t>input gate; </a:t>
            </a:r>
          </a:p>
          <a:p>
            <a:pPr lvl="1"/>
            <a:r>
              <a:rPr lang="en-GB" dirty="0"/>
              <a:t>candidate memory; </a:t>
            </a:r>
          </a:p>
          <a:p>
            <a:pPr lvl="1"/>
            <a:r>
              <a:rPr lang="en-GB" dirty="0"/>
              <a:t>output gate.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198B19D-5C2D-C843-430B-9C20C33A74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explicit memory pathway; </a:t>
            </a:r>
          </a:p>
          <a:p>
            <a:pPr lvl="1"/>
            <a:r>
              <a:rPr lang="en-GB" dirty="0"/>
              <a:t>selective retention and forgetting; </a:t>
            </a:r>
          </a:p>
          <a:p>
            <a:pPr lvl="1"/>
            <a:r>
              <a:rPr lang="en-GB" dirty="0"/>
              <a:t>well suited to longer temporal dependencies. </a:t>
            </a:r>
          </a:p>
          <a:p>
            <a:r>
              <a:rPr lang="en-GB" b="1" dirty="0"/>
              <a:t>Limitations</a:t>
            </a:r>
          </a:p>
          <a:p>
            <a:pPr lvl="1"/>
            <a:r>
              <a:rPr lang="en-GB" dirty="0"/>
              <a:t>more parameters; </a:t>
            </a:r>
          </a:p>
          <a:p>
            <a:pPr lvl="1"/>
            <a:r>
              <a:rPr lang="en-GB" dirty="0"/>
              <a:t>more computation per time step; </a:t>
            </a:r>
          </a:p>
          <a:p>
            <a:pPr lvl="1"/>
            <a:r>
              <a:rPr lang="en-GB" dirty="0"/>
              <a:t>greater implementation and conceptual complexity. </a:t>
            </a:r>
          </a:p>
          <a:p>
            <a:endParaRPr lang="en-GB" b="1" dirty="0"/>
          </a:p>
          <a:p>
            <a:r>
              <a:rPr lang="en-GB" b="1" dirty="0"/>
              <a:t>Suitable situations</a:t>
            </a:r>
          </a:p>
          <a:p>
            <a:pPr lvl="1"/>
            <a:r>
              <a:rPr lang="en-GB" dirty="0"/>
              <a:t>long dependencies are expected; </a:t>
            </a:r>
          </a:p>
          <a:p>
            <a:pPr lvl="1"/>
            <a:r>
              <a:rPr lang="en-GB" dirty="0"/>
              <a:t>training stability is important; </a:t>
            </a:r>
          </a:p>
          <a:p>
            <a:pPr lvl="1"/>
            <a:r>
              <a:rPr lang="en-GB" dirty="0"/>
              <a:t>computational cost is acceptable.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1920065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F4D6A4-B21F-F15C-4EF3-DBC2523F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GRU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BE35F6-A18D-159E-2539-A12225EB97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Structure</a:t>
            </a:r>
          </a:p>
          <a:p>
            <a:r>
              <a:rPr lang="en-GB" dirty="0"/>
              <a:t>Maintains only: h[t]</a:t>
            </a:r>
          </a:p>
          <a:p>
            <a:r>
              <a:rPr lang="en-GB" dirty="0"/>
              <a:t>Uses:</a:t>
            </a:r>
          </a:p>
          <a:p>
            <a:pPr lvl="1"/>
            <a:r>
              <a:rPr lang="en-GB" dirty="0"/>
              <a:t>update gate; </a:t>
            </a:r>
          </a:p>
          <a:p>
            <a:pPr lvl="1"/>
            <a:r>
              <a:rPr lang="en-GB" dirty="0"/>
              <a:t>reset gate. </a:t>
            </a:r>
          </a:p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gated memory; </a:t>
            </a:r>
          </a:p>
          <a:p>
            <a:pPr lvl="1"/>
            <a:r>
              <a:rPr lang="en-GB" dirty="0"/>
              <a:t>simpler than LSTM; </a:t>
            </a:r>
          </a:p>
          <a:p>
            <a:pPr lvl="1"/>
            <a:r>
              <a:rPr lang="en-GB" dirty="0"/>
              <a:t>fewer parameters; </a:t>
            </a:r>
          </a:p>
          <a:p>
            <a:pPr lvl="1"/>
            <a:r>
              <a:rPr lang="en-GB" dirty="0"/>
              <a:t>often computationally lighter.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7856EE8-A435-269C-DC15-E253AEF69C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Limitations</a:t>
            </a:r>
          </a:p>
          <a:p>
            <a:pPr lvl="1"/>
            <a:r>
              <a:rPr lang="en-GB" dirty="0"/>
              <a:t>no separate cell-state pathway; </a:t>
            </a:r>
          </a:p>
          <a:p>
            <a:pPr lvl="1"/>
            <a:r>
              <a:rPr lang="en-GB" dirty="0"/>
              <a:t>performance advantage over LSTM is task-dependent. </a:t>
            </a:r>
          </a:p>
          <a:p>
            <a:r>
              <a:rPr lang="en-GB" b="1" dirty="0"/>
              <a:t>Suitable situations</a:t>
            </a:r>
          </a:p>
          <a:p>
            <a:pPr lvl="1"/>
            <a:r>
              <a:rPr lang="en-GB" dirty="0"/>
              <a:t>gated recurrence is required; </a:t>
            </a:r>
          </a:p>
          <a:p>
            <a:pPr lvl="1"/>
            <a:r>
              <a:rPr lang="en-GB" dirty="0"/>
              <a:t>efficiency matters; </a:t>
            </a:r>
          </a:p>
          <a:p>
            <a:pPr lvl="1"/>
            <a:r>
              <a:rPr lang="en-GB" dirty="0"/>
              <a:t>a simpler recurrent architecture is preferred. 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GRU can be viewed as a more </a:t>
            </a:r>
            <a:r>
              <a:rPr lang="en-GB" b="1" dirty="0"/>
              <a:t>compact alternative to LSTM</a:t>
            </a:r>
            <a:r>
              <a:rPr lang="en-GB" dirty="0"/>
              <a:t>, not as a universally better or worse architecture.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1002391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comparison of recurrent cells</a:t>
            </a:r>
            <a:endParaRPr lang="en-US" sz="2200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Architectural properties guide expectations but do not determine test performance.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737360" cy="411480"/>
          </a:xfrm>
          <a:prstGeom prst="rect">
            <a:avLst/>
          </a:prstGeom>
          <a:solidFill>
            <a:srgbClr val="7CB518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8" name="Text 6"/>
          <p:cNvSpPr/>
          <p:nvPr/>
        </p:nvSpPr>
        <p:spPr>
          <a:xfrm>
            <a:off x="685800" y="1399032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23160" y="1325880"/>
            <a:ext cx="2103120" cy="411480"/>
          </a:xfrm>
          <a:prstGeom prst="rect">
            <a:avLst/>
          </a:prstGeom>
          <a:solidFill>
            <a:srgbClr val="7CB518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10" name="Text 8"/>
          <p:cNvSpPr/>
          <p:nvPr/>
        </p:nvSpPr>
        <p:spPr>
          <a:xfrm>
            <a:off x="2423160" y="1399032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SimpleRNN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26280" y="1325880"/>
            <a:ext cx="2194560" cy="411480"/>
          </a:xfrm>
          <a:prstGeom prst="rect">
            <a:avLst/>
          </a:prstGeom>
          <a:solidFill>
            <a:srgbClr val="7CB518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12" name="Text 10"/>
          <p:cNvSpPr/>
          <p:nvPr/>
        </p:nvSpPr>
        <p:spPr>
          <a:xfrm>
            <a:off x="4526280" y="1399032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LSTM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20840" y="1325880"/>
            <a:ext cx="2194560" cy="411480"/>
          </a:xfrm>
          <a:prstGeom prst="rect">
            <a:avLst/>
          </a:prstGeom>
          <a:solidFill>
            <a:srgbClr val="7CB518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14" name="Text 12"/>
          <p:cNvSpPr/>
          <p:nvPr/>
        </p:nvSpPr>
        <p:spPr>
          <a:xfrm>
            <a:off x="6720840" y="1399032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1737360"/>
            <a:ext cx="1737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16" name="Text 14"/>
          <p:cNvSpPr/>
          <p:nvPr/>
        </p:nvSpPr>
        <p:spPr>
          <a:xfrm>
            <a:off x="731520" y="1865376"/>
            <a:ext cx="1645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 states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23160" y="1737360"/>
            <a:ext cx="2103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18" name="Text 16"/>
          <p:cNvSpPr/>
          <p:nvPr/>
        </p:nvSpPr>
        <p:spPr>
          <a:xfrm>
            <a:off x="2468880" y="186537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26280" y="1737360"/>
            <a:ext cx="2194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20" name="Text 18"/>
          <p:cNvSpPr/>
          <p:nvPr/>
        </p:nvSpPr>
        <p:spPr>
          <a:xfrm>
            <a:off x="4572000" y="1865376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h[t], c[t]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20840" y="1737360"/>
            <a:ext cx="2194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22" name="Text 20"/>
          <p:cNvSpPr/>
          <p:nvPr/>
        </p:nvSpPr>
        <p:spPr>
          <a:xfrm>
            <a:off x="6766560" y="1865376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h[t]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2313432"/>
            <a:ext cx="173736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24" name="Text 22"/>
          <p:cNvSpPr/>
          <p:nvPr/>
        </p:nvSpPr>
        <p:spPr>
          <a:xfrm>
            <a:off x="731520" y="2441448"/>
            <a:ext cx="1645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423160" y="2313432"/>
            <a:ext cx="210312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26" name="Text 24"/>
          <p:cNvSpPr/>
          <p:nvPr/>
        </p:nvSpPr>
        <p:spPr>
          <a:xfrm>
            <a:off x="2468880" y="244144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26280" y="2313432"/>
            <a:ext cx="219456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28" name="Text 26"/>
          <p:cNvSpPr/>
          <p:nvPr/>
        </p:nvSpPr>
        <p:spPr>
          <a:xfrm>
            <a:off x="4572000" y="2441448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forget, input, output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20840" y="2313432"/>
            <a:ext cx="219456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30" name="Text 28"/>
          <p:cNvSpPr/>
          <p:nvPr/>
        </p:nvSpPr>
        <p:spPr>
          <a:xfrm>
            <a:off x="6766560" y="2441448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update, reset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5800" y="2889504"/>
            <a:ext cx="1737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32" name="Text 30"/>
          <p:cNvSpPr/>
          <p:nvPr/>
        </p:nvSpPr>
        <p:spPr>
          <a:xfrm>
            <a:off x="731520" y="3017520"/>
            <a:ext cx="1645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 count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423160" y="2889504"/>
            <a:ext cx="2103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34" name="Text 32"/>
          <p:cNvSpPr/>
          <p:nvPr/>
        </p:nvSpPr>
        <p:spPr>
          <a:xfrm>
            <a:off x="2468880" y="301752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26280" y="2889504"/>
            <a:ext cx="2194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36" name="Text 34"/>
          <p:cNvSpPr/>
          <p:nvPr/>
        </p:nvSpPr>
        <p:spPr>
          <a:xfrm>
            <a:off x="4572000" y="3017520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720840" y="2889504"/>
            <a:ext cx="2194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38" name="Text 36"/>
          <p:cNvSpPr/>
          <p:nvPr/>
        </p:nvSpPr>
        <p:spPr>
          <a:xfrm>
            <a:off x="6766560" y="3017520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3465576"/>
            <a:ext cx="173736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40" name="Text 38"/>
          <p:cNvSpPr/>
          <p:nvPr/>
        </p:nvSpPr>
        <p:spPr>
          <a:xfrm>
            <a:off x="731520" y="3593592"/>
            <a:ext cx="1645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Computation per step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423160" y="3465576"/>
            <a:ext cx="210312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42" name="Text 40"/>
          <p:cNvSpPr/>
          <p:nvPr/>
        </p:nvSpPr>
        <p:spPr>
          <a:xfrm>
            <a:off x="2468880" y="3593592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526280" y="3465576"/>
            <a:ext cx="219456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44" name="Text 42"/>
          <p:cNvSpPr/>
          <p:nvPr/>
        </p:nvSpPr>
        <p:spPr>
          <a:xfrm>
            <a:off x="4572000" y="3593592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720840" y="3465576"/>
            <a:ext cx="219456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46" name="Text 44"/>
          <p:cNvSpPr/>
          <p:nvPr/>
        </p:nvSpPr>
        <p:spPr>
          <a:xfrm>
            <a:off x="6766560" y="3593592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85800" y="4041648"/>
            <a:ext cx="17373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48" name="Text 46"/>
          <p:cNvSpPr/>
          <p:nvPr/>
        </p:nvSpPr>
        <p:spPr>
          <a:xfrm>
            <a:off x="731520" y="4169664"/>
            <a:ext cx="1645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dependencies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423160" y="4041648"/>
            <a:ext cx="21031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50" name="Text 48"/>
          <p:cNvSpPr/>
          <p:nvPr/>
        </p:nvSpPr>
        <p:spPr>
          <a:xfrm>
            <a:off x="2468880" y="4169664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weakest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526280" y="4041648"/>
            <a:ext cx="2194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52" name="Text 50"/>
          <p:cNvSpPr/>
          <p:nvPr/>
        </p:nvSpPr>
        <p:spPr>
          <a:xfrm>
            <a:off x="4572000" y="4169664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720840" y="4041648"/>
            <a:ext cx="2194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54" name="Text 52"/>
          <p:cNvSpPr/>
          <p:nvPr/>
        </p:nvSpPr>
        <p:spPr>
          <a:xfrm>
            <a:off x="6766560" y="4169664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85800" y="4617720"/>
            <a:ext cx="173736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56" name="Text 54"/>
          <p:cNvSpPr/>
          <p:nvPr/>
        </p:nvSpPr>
        <p:spPr>
          <a:xfrm>
            <a:off x="731520" y="4745736"/>
            <a:ext cx="1645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control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423160" y="4617720"/>
            <a:ext cx="210312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58" name="Text 56"/>
          <p:cNvSpPr/>
          <p:nvPr/>
        </p:nvSpPr>
        <p:spPr>
          <a:xfrm>
            <a:off x="2468880" y="474573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implicit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526280" y="4617720"/>
            <a:ext cx="219456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/>
          </a:p>
        </p:txBody>
      </p:sp>
      <p:sp>
        <p:nvSpPr>
          <p:cNvPr id="60" name="Text 58"/>
          <p:cNvSpPr/>
          <p:nvPr/>
        </p:nvSpPr>
        <p:spPr>
          <a:xfrm>
            <a:off x="4572000" y="4745736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720840" y="4617720"/>
            <a:ext cx="219456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 sz="4400" dirty="0"/>
          </a:p>
        </p:txBody>
      </p:sp>
      <p:sp>
        <p:nvSpPr>
          <p:cNvPr id="62" name="Text 60"/>
          <p:cNvSpPr/>
          <p:nvPr/>
        </p:nvSpPr>
        <p:spPr>
          <a:xfrm>
            <a:off x="6766560" y="4745736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777240" y="5893308"/>
            <a:ext cx="87782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assume one cell is universally better; compare performance and cost under the same evaluation protocol.</a:t>
            </a:r>
            <a:endParaRPr lang="en-US" sz="10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selection as an empirical workflow </a:t>
            </a:r>
            <a:r>
              <a:rPr lang="en-US" sz="22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(engineering decision)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simple, increase recurrent complexity only when validation evidence supports it.</a:t>
            </a:r>
            <a:endParaRPr lang="en-US" sz="850" b="1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697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13258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non-recurrent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286000" y="3108960"/>
            <a:ext cx="228600" cy="0"/>
          </a:xfrm>
          <a:prstGeom prst="line">
            <a:avLst/>
          </a:prstGeom>
          <a:noFill/>
          <a:ln w="1524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560320" y="2011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6060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2697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6" name="Shape 14"/>
          <p:cNvSpPr/>
          <p:nvPr/>
        </p:nvSpPr>
        <p:spPr>
          <a:xfrm>
            <a:off x="4160520" y="3108960"/>
            <a:ext cx="228600" cy="0"/>
          </a:xfrm>
          <a:prstGeom prst="line">
            <a:avLst/>
          </a:prstGeom>
          <a:noFill/>
          <a:ln w="1524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434840" y="2011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48056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2697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715768" y="2743200"/>
            <a:ext cx="13258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  <a:latin typeface="Aptos" pitchFamily="34" charset="0"/>
              </a:rPr>
              <a:t>Check whether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SimpleRNN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  <a:latin typeface="Aptos" pitchFamily="34" charset="0"/>
              </a:rPr>
              <a:t>adds value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035040" y="3108960"/>
            <a:ext cx="228600" cy="0"/>
          </a:xfrm>
          <a:prstGeom prst="line">
            <a:avLst/>
          </a:prstGeom>
          <a:noFill/>
          <a:ln w="1524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309360" y="2011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35508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2697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537960" y="2743200"/>
            <a:ext cx="13258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size/depth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justified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7909560" y="3108960"/>
            <a:ext cx="228600" cy="0"/>
          </a:xfrm>
          <a:prstGeom prst="line">
            <a:avLst/>
          </a:prstGeom>
          <a:noFill/>
          <a:ln w="1524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8183880" y="2011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22960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66760" y="2697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412480" y="2743200"/>
            <a:ext cx="13258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against baselines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143000" y="4800600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at every step: does recurrence capture information that simpler representations fail to capture?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8932" y="59801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predictive performance, latency, memory, training time and robustness.</a:t>
            </a:r>
            <a:endParaRPr lang="en-US" sz="1200" b="1" dirty="0"/>
          </a:p>
        </p:txBody>
      </p:sp>
      <p:sp>
        <p:nvSpPr>
          <p:cNvPr id="15" name="Text 13"/>
          <p:cNvSpPr/>
          <p:nvPr/>
        </p:nvSpPr>
        <p:spPr>
          <a:xfrm>
            <a:off x="4709160" y="2743200"/>
            <a:ext cx="13258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modest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 or LSTM</a:t>
            </a:r>
            <a:endParaRPr lang="en-US" sz="78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F21AD7-1E0B-066F-E802-EC5A5E018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 4.K — Summary and Transition to Temporal Convolutions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E1E48D-6272-4B2B-6425-116EC9C3C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208826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551B7F-58C3-5D2A-8C60-3A7283096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recurrent networks add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191C89-E2A3-F3B6-4A0A-A5523FFDD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Traditional feature-based models require temporal structure to be constructed explicitly.</a:t>
            </a:r>
          </a:p>
          <a:p>
            <a:r>
              <a:rPr lang="en-GB" dirty="0"/>
              <a:t>Recurrent models instead learn an internal state from sequential observations.</a:t>
            </a:r>
          </a:p>
          <a:p>
            <a:r>
              <a:rPr lang="en-GB" b="1" dirty="0"/>
              <a:t>Core recurrence</a:t>
            </a:r>
          </a:p>
          <a:p>
            <a:r>
              <a:rPr lang="en-GB" dirty="0"/>
              <a:t>h[t] = f(x[t], h[t−1])</a:t>
            </a:r>
          </a:p>
          <a:p>
            <a:r>
              <a:rPr lang="en-GB" dirty="0"/>
              <a:t>This allows information from previous observations to influence later predictions.</a:t>
            </a:r>
          </a:p>
          <a:p>
            <a:r>
              <a:rPr lang="en-GB" b="1" dirty="0"/>
              <a:t>Key ideas introduced</a:t>
            </a:r>
          </a:p>
          <a:p>
            <a:pPr lvl="1"/>
            <a:r>
              <a:rPr lang="en-GB" dirty="0"/>
              <a:t>recurrent state; </a:t>
            </a:r>
          </a:p>
          <a:p>
            <a:pPr lvl="1"/>
            <a:r>
              <a:rPr lang="en-GB" dirty="0"/>
              <a:t>parameter sharing through time; </a:t>
            </a:r>
          </a:p>
          <a:p>
            <a:pPr lvl="1"/>
            <a:r>
              <a:rPr lang="en-GB" dirty="0"/>
              <a:t>unrolling; </a:t>
            </a:r>
          </a:p>
          <a:p>
            <a:pPr lvl="1"/>
            <a:r>
              <a:rPr lang="en-GB" dirty="0"/>
              <a:t>sequence-to-vector and sequence-to-sequence outputs; </a:t>
            </a:r>
          </a:p>
          <a:p>
            <a:pPr lvl="1"/>
            <a:r>
              <a:rPr lang="en-GB" dirty="0"/>
              <a:t>Backpropagation Through Time; </a:t>
            </a:r>
          </a:p>
          <a:p>
            <a:pPr lvl="1"/>
            <a:r>
              <a:rPr lang="en-GB" dirty="0"/>
              <a:t>vanishing and exploding gradients; </a:t>
            </a:r>
          </a:p>
          <a:p>
            <a:pPr lvl="1"/>
            <a:r>
              <a:rPr lang="en-GB" dirty="0"/>
              <a:t>gated memory.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4240358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F7D737-9191-6F9A-988E-4D83D8CC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Evolution of recurrent architectures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D23187-64DB-8976-05B2-1499015516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b="1" dirty="0" err="1"/>
              <a:t>SimpleRNN</a:t>
            </a:r>
            <a:endParaRPr lang="en-GB" b="1" dirty="0"/>
          </a:p>
          <a:p>
            <a:pPr lvl="1"/>
            <a:r>
              <a:rPr lang="en-GB" dirty="0"/>
              <a:t>current input</a:t>
            </a:r>
          </a:p>
          <a:p>
            <a:pPr lvl="1"/>
            <a:r>
              <a:rPr lang="en-GB" dirty="0"/>
              <a:t>+</a:t>
            </a:r>
          </a:p>
          <a:p>
            <a:pPr lvl="1"/>
            <a:r>
              <a:rPr lang="en-GB" dirty="0"/>
              <a:t>previous hidden state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new hidden state</a:t>
            </a:r>
          </a:p>
          <a:p>
            <a:r>
              <a:rPr lang="en-GB" dirty="0"/>
              <a:t>Problem:</a:t>
            </a:r>
          </a:p>
          <a:p>
            <a:pPr lvl="1"/>
            <a:r>
              <a:rPr lang="en-GB" dirty="0"/>
              <a:t>long dependencies are difficult to learn.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3DB2EA-414C-954B-9ADC-D242580EAF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b="1" dirty="0"/>
              <a:t>LSTM</a:t>
            </a:r>
          </a:p>
          <a:p>
            <a:r>
              <a:rPr lang="en-GB" dirty="0"/>
              <a:t>Adds:</a:t>
            </a:r>
          </a:p>
          <a:p>
            <a:pPr lvl="1"/>
            <a:r>
              <a:rPr lang="en-GB" dirty="0"/>
              <a:t>cell state; </a:t>
            </a:r>
          </a:p>
          <a:p>
            <a:pPr lvl="1"/>
            <a:r>
              <a:rPr lang="en-GB" dirty="0"/>
              <a:t>forget gate; </a:t>
            </a:r>
          </a:p>
          <a:p>
            <a:pPr lvl="1"/>
            <a:r>
              <a:rPr lang="en-GB" dirty="0"/>
              <a:t>input gate; </a:t>
            </a:r>
          </a:p>
          <a:p>
            <a:pPr lvl="1"/>
            <a:r>
              <a:rPr lang="en-GB" dirty="0"/>
              <a:t>output gate. </a:t>
            </a:r>
          </a:p>
          <a:p>
            <a:r>
              <a:rPr lang="en-GB" dirty="0"/>
              <a:t>Goal:</a:t>
            </a:r>
          </a:p>
          <a:p>
            <a:pPr lvl="1"/>
            <a:r>
              <a:rPr lang="en-GB" dirty="0"/>
              <a:t>explicit control of memory.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2631201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E95D-5272-30E7-AE98-0769A711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FD7C03-6D65-C8D5-E55A-83C2C503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Evolution of recurrent architectures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7B3A0D-301A-2AE3-C466-9887D582A0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GRU</a:t>
            </a:r>
          </a:p>
          <a:p>
            <a:r>
              <a:rPr lang="en-GB" dirty="0"/>
              <a:t>Uses:</a:t>
            </a:r>
          </a:p>
          <a:p>
            <a:pPr lvl="1"/>
            <a:r>
              <a:rPr lang="en-GB" dirty="0"/>
              <a:t>update gate; </a:t>
            </a:r>
          </a:p>
          <a:p>
            <a:pPr lvl="1"/>
            <a:r>
              <a:rPr lang="en-GB" dirty="0"/>
              <a:t>reset gate; </a:t>
            </a:r>
          </a:p>
          <a:p>
            <a:pPr lvl="1"/>
            <a:r>
              <a:rPr lang="en-GB" dirty="0"/>
              <a:t>one recurrent state. </a:t>
            </a:r>
          </a:p>
          <a:p>
            <a:r>
              <a:rPr lang="en-GB" dirty="0"/>
              <a:t>Goal:</a:t>
            </a:r>
          </a:p>
          <a:p>
            <a:pPr lvl="1"/>
            <a:r>
              <a:rPr lang="en-GB" dirty="0"/>
              <a:t>gated memory with a simpler structure.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3FB69CC-D816-352B-F869-9231980752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b="1" dirty="0"/>
              <a:t>Conceptual progression</a:t>
            </a:r>
          </a:p>
          <a:p>
            <a:r>
              <a:rPr lang="en-GB" dirty="0" err="1"/>
              <a:t>SimpleRNN</a:t>
            </a:r>
            <a:endParaRPr lang="en-GB" dirty="0"/>
          </a:p>
          <a:p>
            <a:r>
              <a:rPr lang="en-GB" dirty="0"/>
              <a:t>   ↓</a:t>
            </a:r>
          </a:p>
          <a:p>
            <a:r>
              <a:rPr lang="en-GB" dirty="0"/>
              <a:t>identify long-memory problem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LSTM / GRU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controlled information flow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2835423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Evolution of recurrent architectures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long-memory problem motivates gated recurrent designs.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SimpleRNN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repeatedly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rewritten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2331720"/>
            <a:ext cx="1097280" cy="0"/>
          </a:xfrm>
          <a:prstGeom prst="line">
            <a:avLst/>
          </a:prstGeom>
          <a:noFill/>
          <a:ln w="1524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657600" y="18745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70332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long-memory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problem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77840" y="2331720"/>
            <a:ext cx="1097280" cy="0"/>
          </a:xfrm>
          <a:prstGeom prst="line">
            <a:avLst/>
          </a:prstGeom>
          <a:noFill/>
          <a:ln w="1524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583680" y="18745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LSTM / GRU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flow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20840" y="306324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B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gates: keep · write · reset · expose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280160" y="4572000"/>
            <a:ext cx="685800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243584" y="4498848"/>
            <a:ext cx="73152" cy="146304"/>
          </a:xfrm>
          <a:prstGeom prst="rect">
            <a:avLst/>
          </a:prstGeom>
          <a:solidFill>
            <a:srgbClr val="7CB518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9436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 state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529584" y="4498848"/>
            <a:ext cx="73152" cy="146304"/>
          </a:xfrm>
          <a:prstGeom prst="rect">
            <a:avLst/>
          </a:prstGeom>
          <a:solidFill>
            <a:srgbClr val="7CB518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88036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BPTT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15584" y="4498848"/>
            <a:ext cx="73152" cy="146304"/>
          </a:xfrm>
          <a:prstGeom prst="rect">
            <a:avLst/>
          </a:prstGeom>
          <a:solidFill>
            <a:srgbClr val="7CB518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16636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vanishing/exploding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101584" y="4498848"/>
            <a:ext cx="73152" cy="146304"/>
          </a:xfrm>
          <a:prstGeom prst="rect">
            <a:avLst/>
          </a:prstGeom>
          <a:solidFill>
            <a:srgbClr val="7CB518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45236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gated memory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02920" y="64373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SimpleRNN exposes the problem; LSTM and GRU add learned mechanisms for memory management.</a:t>
            </a:r>
            <a:endParaRPr lang="en-US" sz="10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C8FB4A-8B82-92BF-D123-C27879E2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Recurrent networks can support many temporal tasks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A74082-36D4-2B2D-9BDD-B110B06A6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same recurrent architecture can support:</a:t>
            </a:r>
          </a:p>
          <a:p>
            <a:r>
              <a:rPr lang="en-GB" b="1" dirty="0"/>
              <a:t>Sequence classification</a:t>
            </a:r>
          </a:p>
          <a:p>
            <a:pPr lvl="1"/>
            <a:r>
              <a:rPr lang="en-GB" dirty="0"/>
              <a:t>sequence → class</a:t>
            </a:r>
          </a:p>
          <a:p>
            <a:r>
              <a:rPr lang="en-GB" b="1" dirty="0"/>
              <a:t>Regression from a sequence</a:t>
            </a:r>
          </a:p>
          <a:p>
            <a:pPr lvl="1"/>
            <a:r>
              <a:rPr lang="en-GB" dirty="0"/>
              <a:t>sequence → continuous value</a:t>
            </a:r>
          </a:p>
          <a:p>
            <a:r>
              <a:rPr lang="en-GB" b="1" dirty="0"/>
              <a:t>Sequence labelling</a:t>
            </a:r>
          </a:p>
          <a:p>
            <a:pPr lvl="1"/>
            <a:r>
              <a:rPr lang="en-GB" dirty="0"/>
              <a:t>sequence → output at every time step</a:t>
            </a:r>
          </a:p>
          <a:p>
            <a:r>
              <a:rPr lang="en-GB" b="1" dirty="0"/>
              <a:t>One-step forecasting</a:t>
            </a:r>
          </a:p>
          <a:p>
            <a:pPr lvl="1"/>
            <a:r>
              <a:rPr lang="en-GB" dirty="0"/>
              <a:t>history → next value</a:t>
            </a:r>
          </a:p>
          <a:p>
            <a:r>
              <a:rPr lang="en-GB" b="1" dirty="0"/>
              <a:t>Multi-horizon forecasting</a:t>
            </a:r>
          </a:p>
          <a:p>
            <a:pPr lvl="1"/>
            <a:r>
              <a:rPr lang="en-GB" dirty="0"/>
              <a:t>history → future vector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15C6505-BA80-2A25-BB67-240264E248E3}"/>
              </a:ext>
            </a:extLst>
          </p:cNvPr>
          <p:cNvSpPr txBox="1"/>
          <p:nvPr/>
        </p:nvSpPr>
        <p:spPr>
          <a:xfrm>
            <a:off x="5538788" y="4240226"/>
            <a:ext cx="61055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The </a:t>
            </a:r>
            <a:r>
              <a:rPr lang="en-GB" sz="1800" b="1" dirty="0"/>
              <a:t>recurrent cell</a:t>
            </a:r>
            <a:r>
              <a:rPr lang="en-GB" sz="1800" dirty="0"/>
              <a:t> defines </a:t>
            </a:r>
            <a:r>
              <a:rPr lang="en-GB" sz="1800" b="1" dirty="0"/>
              <a:t>how temporal information is processed.</a:t>
            </a:r>
          </a:p>
          <a:p>
            <a:r>
              <a:rPr lang="en-GB" sz="1800" dirty="0"/>
              <a:t>The </a:t>
            </a:r>
            <a:r>
              <a:rPr lang="en-GB" sz="1800" b="1" dirty="0"/>
              <a:t>prediction task </a:t>
            </a:r>
            <a:r>
              <a:rPr lang="en-GB" sz="1800" dirty="0"/>
              <a:t>determines:</a:t>
            </a:r>
          </a:p>
          <a:p>
            <a:pPr lvl="1"/>
            <a:r>
              <a:rPr lang="en-GB" dirty="0"/>
              <a:t>which states are used; </a:t>
            </a:r>
          </a:p>
          <a:p>
            <a:pPr lvl="1"/>
            <a:r>
              <a:rPr lang="en-GB" dirty="0"/>
              <a:t>which output layer is required; </a:t>
            </a:r>
          </a:p>
          <a:p>
            <a:pPr lvl="1"/>
            <a:r>
              <a:rPr lang="en-GB" dirty="0"/>
              <a:t>which loss is optimized. </a:t>
            </a:r>
          </a:p>
        </p:txBody>
      </p:sp>
    </p:spTree>
    <p:extLst>
      <p:ext uri="{BB962C8B-B14F-4D97-AF65-F5344CB8AC3E}">
        <p14:creationId xmlns:p14="http://schemas.microsoft.com/office/powerpoint/2010/main" val="314255467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Recurrent networks support many temporal tasks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recurrent cell processes time; the output structure follows the prediction task</a:t>
            </a:r>
            <a:r>
              <a:rPr lang="en-US" sz="8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450080" y="3163824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495800" y="3209544"/>
            <a:ext cx="15544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60020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60120" y="1645920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→ class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4343400" y="160020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389120" y="1645920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sequence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→ value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7680960" y="160020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726680" y="1645920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labelling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→ label per step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2377440" y="461772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423160" y="4663440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one-step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→ next value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5989320" y="461772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035040" y="4663440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multi-horizon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→ future vector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02920" y="64373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cell update is architectural; the target definition determines which states, outputs and losses are used.</a:t>
            </a:r>
            <a:endParaRPr lang="en-US" sz="1000" dirty="0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DB541039-D24A-77CE-F2EC-77BA483CB5D4}"/>
              </a:ext>
            </a:extLst>
          </p:cNvPr>
          <p:cNvCxnSpPr/>
          <p:nvPr/>
        </p:nvCxnSpPr>
        <p:spPr>
          <a:xfrm flipH="1" flipV="1">
            <a:off x="2571750" y="2524125"/>
            <a:ext cx="1524000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21D450A0-5C35-14C2-0DF6-BD2AFDF9026E}"/>
              </a:ext>
            </a:extLst>
          </p:cNvPr>
          <p:cNvCxnSpPr>
            <a:cxnSpLocks/>
          </p:cNvCxnSpPr>
          <p:nvPr/>
        </p:nvCxnSpPr>
        <p:spPr>
          <a:xfrm flipH="1">
            <a:off x="3131820" y="3880104"/>
            <a:ext cx="986790" cy="448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1D8B03F7-4780-0854-2C38-BC49C35C2B0D}"/>
              </a:ext>
            </a:extLst>
          </p:cNvPr>
          <p:cNvCxnSpPr>
            <a:cxnSpLocks/>
          </p:cNvCxnSpPr>
          <p:nvPr/>
        </p:nvCxnSpPr>
        <p:spPr>
          <a:xfrm>
            <a:off x="6251448" y="3799522"/>
            <a:ext cx="635127" cy="616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48484792-C837-25B2-3400-EF92D810C3FD}"/>
              </a:ext>
            </a:extLst>
          </p:cNvPr>
          <p:cNvCxnSpPr>
            <a:cxnSpLocks/>
          </p:cNvCxnSpPr>
          <p:nvPr/>
        </p:nvCxnSpPr>
        <p:spPr>
          <a:xfrm flipV="1">
            <a:off x="6315456" y="2152840"/>
            <a:ext cx="1136904" cy="962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6FEDBC2D-8645-375D-D1A9-6B36D376E2B4}"/>
              </a:ext>
            </a:extLst>
          </p:cNvPr>
          <p:cNvCxnSpPr>
            <a:cxnSpLocks/>
          </p:cNvCxnSpPr>
          <p:nvPr/>
        </p:nvCxnSpPr>
        <p:spPr>
          <a:xfrm flipH="1" flipV="1">
            <a:off x="5205603" y="2524125"/>
            <a:ext cx="143637" cy="447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50582B-F5AA-C82C-B76C-DAD29BCAC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Strengths of recurrent models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602DEB-4BBF-E3E5-E3D3-22C1A4E22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Recurrent models provide several useful properties.</a:t>
            </a:r>
          </a:p>
          <a:p>
            <a:r>
              <a:rPr lang="en-GB" b="1" dirty="0"/>
              <a:t>Learned representation</a:t>
            </a:r>
          </a:p>
          <a:p>
            <a:pPr lvl="1"/>
            <a:r>
              <a:rPr lang="en-GB" dirty="0"/>
              <a:t>Temporal features do not need to be completely specified manually.</a:t>
            </a:r>
          </a:p>
          <a:p>
            <a:r>
              <a:rPr lang="en-GB" b="1" dirty="0"/>
              <a:t>Parameter sharing</a:t>
            </a:r>
          </a:p>
          <a:p>
            <a:pPr lvl="1"/>
            <a:r>
              <a:rPr lang="en-GB" dirty="0"/>
              <a:t>The same transformation is applied at every time step.</a:t>
            </a:r>
          </a:p>
          <a:p>
            <a:r>
              <a:rPr lang="en-GB" b="1" dirty="0"/>
              <a:t>Flexible temporal inputs</a:t>
            </a:r>
          </a:p>
          <a:p>
            <a:pPr lvl="1"/>
            <a:r>
              <a:rPr lang="en-GB" dirty="0"/>
              <a:t>They naturally process sequences containing multiple variables.</a:t>
            </a:r>
          </a:p>
          <a:p>
            <a:r>
              <a:rPr lang="en-GB" b="1" dirty="0"/>
              <a:t>Gated memory</a:t>
            </a:r>
          </a:p>
          <a:p>
            <a:pPr lvl="1"/>
            <a:r>
              <a:rPr lang="en-GB" dirty="0"/>
              <a:t>LSTM and GRU can retain relevant information over longer intervals.</a:t>
            </a:r>
          </a:p>
          <a:p>
            <a:r>
              <a:rPr lang="en-GB" b="1" dirty="0"/>
              <a:t>Online processing</a:t>
            </a:r>
          </a:p>
          <a:p>
            <a:pPr lvl="1"/>
            <a:r>
              <a:rPr lang="en-GB" dirty="0"/>
              <a:t>A forward recurrent network can update its state as new observations arrive:</a:t>
            </a:r>
          </a:p>
          <a:p>
            <a:r>
              <a:rPr lang="en-GB" dirty="0"/>
              <a:t>h[t−1] → h[t]</a:t>
            </a:r>
          </a:p>
          <a:p>
            <a:pPr lvl="1"/>
            <a:r>
              <a:rPr lang="en-GB" dirty="0"/>
              <a:t>This is attractive for streaming and real-time applications.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8115791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AE6AC0-E98A-4015-8941-25176C11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CDAACF-492B-EBD5-6AB9-1A1F8A919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Recurrent networks also have important limitations.</a:t>
            </a:r>
          </a:p>
          <a:p>
            <a:r>
              <a:rPr lang="en-GB" b="1" dirty="0"/>
              <a:t>Sequential computation</a:t>
            </a:r>
          </a:p>
          <a:p>
            <a:pPr lvl="1"/>
            <a:r>
              <a:rPr lang="en-GB" dirty="0"/>
              <a:t>To compute h[t] we need h[t−1]</a:t>
            </a:r>
          </a:p>
          <a:p>
            <a:pPr lvl="1"/>
            <a:r>
              <a:rPr lang="en-GB" dirty="0"/>
              <a:t>Therefore:</a:t>
            </a:r>
          </a:p>
          <a:p>
            <a:pPr lvl="1"/>
            <a:r>
              <a:rPr lang="en-GB" dirty="0"/>
              <a:t>time 1 → time 2 → time 3 → ... → time T</a:t>
            </a:r>
          </a:p>
          <a:p>
            <a:pPr lvl="1"/>
            <a:r>
              <a:rPr lang="en-GB" dirty="0"/>
              <a:t>cannot be fully parallelized across the temporal dimension.</a:t>
            </a:r>
          </a:p>
          <a:p>
            <a:r>
              <a:rPr lang="en-GB" b="1" dirty="0"/>
              <a:t>Long sequences remain expensive</a:t>
            </a:r>
          </a:p>
          <a:p>
            <a:r>
              <a:rPr lang="en-GB" dirty="0"/>
              <a:t>Longer sequences require:</a:t>
            </a:r>
          </a:p>
          <a:p>
            <a:pPr lvl="1"/>
            <a:r>
              <a:rPr lang="en-GB" dirty="0"/>
              <a:t>more recurrent operations; </a:t>
            </a:r>
          </a:p>
          <a:p>
            <a:pPr lvl="1"/>
            <a:r>
              <a:rPr lang="en-GB" dirty="0"/>
              <a:t>more training memory; </a:t>
            </a:r>
          </a:p>
          <a:p>
            <a:pPr lvl="1"/>
            <a:r>
              <a:rPr lang="en-GB" dirty="0"/>
              <a:t>longer gradient paths.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6411596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94B95-54DB-B532-1A22-718FE557C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E36937-C25A-40E4-B99E-D896E118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439C9F-72BC-DEFA-BE88-E2595BAE2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Optimization remains non-trivial</a:t>
            </a:r>
          </a:p>
          <a:p>
            <a:r>
              <a:rPr lang="en-GB" dirty="0"/>
              <a:t>Even gated architectures do not completely eliminate:</a:t>
            </a:r>
          </a:p>
          <a:p>
            <a:pPr lvl="1"/>
            <a:r>
              <a:rPr lang="en-GB" dirty="0"/>
              <a:t>gradient problems; </a:t>
            </a:r>
          </a:p>
          <a:p>
            <a:pPr lvl="1"/>
            <a:r>
              <a:rPr lang="en-GB" dirty="0"/>
              <a:t>overfitting; </a:t>
            </a:r>
          </a:p>
          <a:p>
            <a:pPr lvl="1"/>
            <a:r>
              <a:rPr lang="en-GB" dirty="0"/>
              <a:t>sensitivity to hyperparameters. </a:t>
            </a:r>
          </a:p>
          <a:p>
            <a:r>
              <a:rPr lang="en-GB" b="1" dirty="0"/>
              <a:t>Strong baselines may remain competitive</a:t>
            </a:r>
          </a:p>
          <a:p>
            <a:r>
              <a:rPr lang="en-GB" dirty="0"/>
              <a:t>A recurrent model is not automatically superior to:</a:t>
            </a:r>
          </a:p>
          <a:p>
            <a:pPr lvl="1"/>
            <a:r>
              <a:rPr lang="en-GB" dirty="0"/>
              <a:t>gradient boosting; </a:t>
            </a:r>
          </a:p>
          <a:p>
            <a:pPr lvl="1"/>
            <a:r>
              <a:rPr lang="en-GB" dirty="0"/>
              <a:t>lagged regression; </a:t>
            </a:r>
          </a:p>
          <a:p>
            <a:pPr lvl="1"/>
            <a:r>
              <a:rPr lang="en-GB" dirty="0"/>
              <a:t>spectral-feature models.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4478177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Recurrent models: strengths and limitations</a:t>
            </a:r>
            <a:endParaRPr lang="en-US" sz="2200" dirty="0">
              <a:highlight>
                <a:srgbClr val="FFFF00"/>
              </a:highlight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 networks are useful, but not automatically superior to strong baselines.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33832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learned temporal representation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parameter sharing through time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multivariate sequences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gated memory with LSTM/GRU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natural online state update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4630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897880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2148840"/>
            <a:ext cx="35661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sequential computation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long sequences are expensive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optimization and overfitting issues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sensitive to hyperparameters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strong baselines may compete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0" y="4800600"/>
            <a:ext cx="640080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160520" y="44348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206240" y="4480560"/>
            <a:ext cx="1737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 justifies cost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64373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choice should reflect accuracy, robustness, latency, memory, interpretability and maintenance cost.</a:t>
            </a:r>
            <a:endParaRPr lang="en-US" sz="68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27C02E-1269-254E-EE9E-EFFEA5F9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different way to learn temporal patterns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EEDB93-E4C4-75D8-F08E-A6B9A1421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Recurrent networks represent history through a state that moves sequentially through time.</a:t>
            </a:r>
          </a:p>
          <a:p>
            <a:r>
              <a:rPr lang="en-GB" b="1" dirty="0">
                <a:highlight>
                  <a:srgbClr val="FFFF00"/>
                </a:highlight>
              </a:rPr>
              <a:t>An alternative </a:t>
            </a:r>
            <a:r>
              <a:rPr lang="en-GB" dirty="0">
                <a:highlight>
                  <a:srgbClr val="FFFF00"/>
                </a:highlight>
              </a:rPr>
              <a:t>is </a:t>
            </a:r>
            <a:r>
              <a:rPr lang="en-GB" b="1" dirty="0">
                <a:highlight>
                  <a:srgbClr val="FFFF00"/>
                </a:highlight>
              </a:rPr>
              <a:t>to detect patterns directly within local temporal regions</a:t>
            </a:r>
            <a:r>
              <a:rPr lang="en-GB" dirty="0">
                <a:highlight>
                  <a:srgbClr val="FFFF00"/>
                </a:highlight>
              </a:rPr>
              <a:t>.</a:t>
            </a:r>
          </a:p>
          <a:p>
            <a:r>
              <a:rPr lang="en-GB" dirty="0"/>
              <a:t>Suppose a characteristic event is:</a:t>
            </a:r>
          </a:p>
          <a:p>
            <a:pPr lvl="1"/>
            <a:r>
              <a:rPr lang="en-GB" dirty="0"/>
              <a:t>small rise → sharp peak → decay</a:t>
            </a:r>
          </a:p>
          <a:p>
            <a:r>
              <a:rPr lang="en-GB" dirty="0"/>
              <a:t>Instead of carrying this information through a recurrent state, we could learn a detector that scans across the sequence.</a:t>
            </a:r>
          </a:p>
          <a:p>
            <a:r>
              <a:rPr lang="en-GB" dirty="0"/>
              <a:t>Conceptually:</a:t>
            </a:r>
          </a:p>
          <a:p>
            <a:r>
              <a:rPr lang="en-GB" dirty="0"/>
              <a:t>temporal signal</a:t>
            </a:r>
          </a:p>
          <a:p>
            <a:r>
              <a:rPr lang="en-GB" dirty="0"/>
              <a:t>─────────────────────────────</a:t>
            </a:r>
          </a:p>
          <a:p>
            <a:r>
              <a:rPr lang="en-GB" dirty="0"/>
              <a:t>     [local pattern]</a:t>
            </a:r>
          </a:p>
          <a:p>
            <a:r>
              <a:rPr lang="en-GB" dirty="0"/>
              <a:t>          ↓</a:t>
            </a:r>
          </a:p>
          <a:p>
            <a:r>
              <a:rPr lang="en-GB" dirty="0"/>
              <a:t>     learned detector</a:t>
            </a:r>
          </a:p>
          <a:p>
            <a:r>
              <a:rPr lang="en-GB" dirty="0"/>
              <a:t>The same detector can be applied at many temporal positions.</a:t>
            </a:r>
          </a:p>
          <a:p>
            <a:endParaRPr lang="en-GB" b="1" dirty="0"/>
          </a:p>
          <a:p>
            <a:r>
              <a:rPr lang="en-GB" b="1" dirty="0">
                <a:highlight>
                  <a:srgbClr val="FFFF00"/>
                </a:highlight>
              </a:rPr>
              <a:t>New idea</a:t>
            </a:r>
          </a:p>
          <a:p>
            <a:r>
              <a:rPr lang="en-GB" b="1" dirty="0"/>
              <a:t>Learn local temporal filters and combine them into progressively larger temporal representations.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14577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different way to learn temporal patterns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propagating state sequentially, learn detectors that scan local temporal regions.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 flipV="1">
            <a:off x="914400" y="3794760"/>
            <a:ext cx="548640" cy="457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 flipV="1">
            <a:off x="1463040" y="3520440"/>
            <a:ext cx="356616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 flipV="1">
            <a:off x="1828800" y="2514600"/>
            <a:ext cx="320040" cy="10058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148840" y="2514600"/>
            <a:ext cx="320040" cy="10972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468880" y="3611880"/>
            <a:ext cx="64008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 flipV="1">
            <a:off x="3108960" y="3794760"/>
            <a:ext cx="548640" cy="914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 flipV="1">
            <a:off x="3657600" y="3749040"/>
            <a:ext cx="457200" cy="457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114800" y="3749040"/>
            <a:ext cx="457200" cy="914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778508" y="2450592"/>
            <a:ext cx="777240" cy="1417320"/>
          </a:xfrm>
          <a:prstGeom prst="rect">
            <a:avLst/>
          </a:prstGeom>
          <a:solidFill>
            <a:srgbClr val="FEF3C7">
              <a:alpha val="70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5156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pattern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rise → peak → decay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48840" y="2331720"/>
            <a:ext cx="0" cy="0"/>
          </a:xfrm>
          <a:prstGeom prst="line">
            <a:avLst/>
          </a:prstGeom>
          <a:noFill/>
          <a:ln w="15240">
            <a:solidFill>
              <a:srgbClr val="FBBF2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463040" y="11430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50876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0" y="3657600"/>
            <a:ext cx="365760" cy="0"/>
          </a:xfrm>
          <a:prstGeom prst="line">
            <a:avLst/>
          </a:prstGeom>
          <a:noFill/>
          <a:ln w="2159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035040" y="3383280"/>
            <a:ext cx="274320" cy="0"/>
          </a:xfrm>
          <a:prstGeom prst="line">
            <a:avLst/>
          </a:prstGeom>
          <a:noFill/>
          <a:ln w="2159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309360" y="2651760"/>
            <a:ext cx="274320" cy="822960"/>
          </a:xfrm>
          <a:prstGeom prst="line">
            <a:avLst/>
          </a:prstGeom>
          <a:noFill/>
          <a:ln w="2159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623560" y="2514600"/>
            <a:ext cx="1005840" cy="1188720"/>
          </a:xfrm>
          <a:prstGeom prst="rect">
            <a:avLst/>
          </a:prstGeom>
          <a:solidFill>
            <a:srgbClr val="CCFBF1">
              <a:alpha val="5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949440" y="3657600"/>
            <a:ext cx="365760" cy="0"/>
          </a:xfrm>
          <a:prstGeom prst="line">
            <a:avLst/>
          </a:prstGeom>
          <a:noFill/>
          <a:ln w="2159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315200" y="3383280"/>
            <a:ext cx="274320" cy="0"/>
          </a:xfrm>
          <a:prstGeom prst="line">
            <a:avLst/>
          </a:prstGeom>
          <a:noFill/>
          <a:ln w="2159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7589520" y="2651760"/>
            <a:ext cx="274320" cy="822960"/>
          </a:xfrm>
          <a:prstGeom prst="line">
            <a:avLst/>
          </a:prstGeom>
          <a:noFill/>
          <a:ln w="2159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903720" y="2514600"/>
            <a:ext cx="1005840" cy="1188720"/>
          </a:xfrm>
          <a:prstGeom prst="rect">
            <a:avLst/>
          </a:prstGeom>
          <a:solidFill>
            <a:srgbClr val="CCFBF1">
              <a:alpha val="5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8229600" y="3657600"/>
            <a:ext cx="365760" cy="0"/>
          </a:xfrm>
          <a:prstGeom prst="line">
            <a:avLst/>
          </a:prstGeom>
          <a:noFill/>
          <a:ln w="2159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8595360" y="3383280"/>
            <a:ext cx="274320" cy="0"/>
          </a:xfrm>
          <a:prstGeom prst="line">
            <a:avLst/>
          </a:prstGeom>
          <a:noFill/>
          <a:ln w="2159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8869680" y="2651760"/>
            <a:ext cx="274320" cy="822960"/>
          </a:xfrm>
          <a:prstGeom prst="line">
            <a:avLst/>
          </a:prstGeom>
          <a:noFill/>
          <a:ln w="2159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8183880" y="2514600"/>
            <a:ext cx="1005840" cy="1188720"/>
          </a:xfrm>
          <a:prstGeom prst="rect">
            <a:avLst/>
          </a:prstGeom>
          <a:solidFill>
            <a:srgbClr val="CCFBF1">
              <a:alpha val="5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48640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same detector can scan many positions</a:t>
            </a:r>
            <a:endParaRPr lang="en-US" sz="1000" dirty="0">
              <a:highlight>
                <a:srgbClr val="FFFF00"/>
              </a:highlight>
            </a:endParaRPr>
          </a:p>
        </p:txBody>
      </p:sp>
      <p:sp>
        <p:nvSpPr>
          <p:cNvPr id="33" name="Text 31"/>
          <p:cNvSpPr/>
          <p:nvPr/>
        </p:nvSpPr>
        <p:spPr>
          <a:xfrm>
            <a:off x="502920" y="64373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intuition behind temporal convolution: local filters applied across time.</a:t>
            </a:r>
            <a:endParaRPr lang="en-US" sz="68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B5FCCA-DAE4-1FBA-CE9B-BBE629326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Transition: recurrence versus convolution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115AD0-8733-13F4-86ED-2C30414D5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Recurrent approach</a:t>
            </a:r>
          </a:p>
          <a:p>
            <a:r>
              <a:rPr lang="en-GB" dirty="0"/>
              <a:t>x[1] → h[1] → h[2] → h[3] → ... → h[T]</a:t>
            </a:r>
          </a:p>
          <a:p>
            <a:r>
              <a:rPr lang="en-GB" dirty="0"/>
              <a:t>Information moves sequentially through a state.</a:t>
            </a:r>
          </a:p>
          <a:p>
            <a:r>
              <a:rPr lang="en-GB" b="1" dirty="0">
                <a:highlight>
                  <a:srgbClr val="FFFF00"/>
                </a:highlight>
              </a:rPr>
              <a:t>Convolutional approach</a:t>
            </a:r>
          </a:p>
          <a:p>
            <a:r>
              <a:rPr lang="en-GB" dirty="0"/>
              <a:t>sequence</a:t>
            </a:r>
          </a:p>
          <a:p>
            <a:r>
              <a:rPr lang="en-GB" dirty="0"/>
              <a:t> ↓ ↓ ↓ ↓ ↓</a:t>
            </a:r>
          </a:p>
          <a:p>
            <a:r>
              <a:rPr lang="en-GB" dirty="0"/>
              <a:t>local filters applied across time</a:t>
            </a:r>
          </a:p>
          <a:p>
            <a:r>
              <a:rPr lang="en-GB" dirty="0"/>
              <a:t> ↓ ↓ ↓ ↓ ↓</a:t>
            </a:r>
          </a:p>
          <a:p>
            <a:r>
              <a:rPr lang="en-GB" dirty="0">
                <a:highlight>
                  <a:srgbClr val="FFFF00"/>
                </a:highlight>
              </a:rPr>
              <a:t>temporal feature maps</a:t>
            </a:r>
          </a:p>
          <a:p>
            <a:r>
              <a:rPr lang="en-GB" b="1" dirty="0"/>
              <a:t>Several temporal positions can be processed in parallel.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7949598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7B2E85-C8D8-1F1E-2FA7-D23D2382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Transition: recurrence versus convolution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104FE2-5BF1-5E0B-6023-6932A9410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Central concepts for Lecture 5</a:t>
            </a:r>
          </a:p>
          <a:p>
            <a:r>
              <a:rPr lang="en-GB" dirty="0"/>
              <a:t>We will introduce:</a:t>
            </a:r>
          </a:p>
          <a:p>
            <a:pPr lvl="1"/>
            <a:r>
              <a:rPr lang="en-GB" dirty="0"/>
              <a:t>temporal convolution; </a:t>
            </a:r>
          </a:p>
          <a:p>
            <a:pPr lvl="1"/>
            <a:r>
              <a:rPr lang="en-GB" dirty="0"/>
              <a:t>kernels and filters; </a:t>
            </a:r>
          </a:p>
          <a:p>
            <a:pPr lvl="1"/>
            <a:r>
              <a:rPr lang="en-GB" dirty="0"/>
              <a:t>feature maps; </a:t>
            </a:r>
          </a:p>
          <a:p>
            <a:pPr lvl="1"/>
            <a:r>
              <a:rPr lang="en-GB" dirty="0"/>
              <a:t>padding and stride; </a:t>
            </a:r>
          </a:p>
          <a:p>
            <a:pPr lvl="1"/>
            <a:r>
              <a:rPr lang="en-GB" dirty="0"/>
              <a:t>receptive field; </a:t>
            </a:r>
          </a:p>
          <a:p>
            <a:pPr lvl="1"/>
            <a:r>
              <a:rPr lang="en-GB" dirty="0"/>
              <a:t>causal convolution; </a:t>
            </a:r>
          </a:p>
          <a:p>
            <a:pPr lvl="1"/>
            <a:r>
              <a:rPr lang="en-GB" dirty="0"/>
              <a:t>dilation; </a:t>
            </a:r>
          </a:p>
          <a:p>
            <a:pPr lvl="1"/>
            <a:r>
              <a:rPr lang="en-GB" dirty="0"/>
              <a:t>Temporal Convolutional Networks. </a:t>
            </a:r>
          </a:p>
          <a:p>
            <a:r>
              <a:rPr lang="en-GB" b="1" dirty="0"/>
              <a:t>Transition question</a:t>
            </a:r>
          </a:p>
          <a:p>
            <a:r>
              <a:rPr lang="en-GB" dirty="0">
                <a:highlight>
                  <a:srgbClr val="FFFF00"/>
                </a:highlight>
              </a:rPr>
              <a:t>Can we obtain long temporal context by increasing the receptive field rather than propagating a recurrent state?</a:t>
            </a:r>
          </a:p>
          <a:p>
            <a:r>
              <a:rPr lang="en-GB" dirty="0"/>
              <a:t>This motivates </a:t>
            </a:r>
            <a:r>
              <a:rPr lang="en-GB" b="1" dirty="0"/>
              <a:t>Lecture 5 — Temporal Convolutional Models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851620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84864" y="0"/>
            <a:ext cx="219456" cy="6858000"/>
          </a:xfrm>
          <a:prstGeom prst="rect">
            <a:avLst/>
          </a:prstGeom>
          <a:solidFill>
            <a:srgbClr val="D6F5A0">
              <a:alpha val="96000"/>
            </a:srgbClr>
          </a:solidFill>
          <a:ln w="12700">
            <a:solidFill>
              <a:srgbClr val="D6F5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704320" y="0"/>
            <a:ext cx="201168" cy="6858000"/>
          </a:xfrm>
          <a:prstGeom prst="rect">
            <a:avLst/>
          </a:prstGeom>
          <a:solidFill>
            <a:srgbClr val="93C01F"/>
          </a:solidFill>
          <a:ln w="12700">
            <a:solidFill>
              <a:srgbClr val="93C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905488" y="0"/>
            <a:ext cx="201168" cy="6858000"/>
          </a:xfrm>
          <a:prstGeom prst="rect">
            <a:avLst/>
          </a:prstGeom>
          <a:solidFill>
            <a:srgbClr val="78B82A"/>
          </a:solidFill>
          <a:ln w="12700">
            <a:solidFill>
              <a:srgbClr val="78B8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Transition: recurrence versus convolution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different ways to build temporal representations.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Recurrent approach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h[1]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1325880" y="2221992"/>
            <a:ext cx="246888" cy="0"/>
          </a:xfrm>
          <a:prstGeom prst="line">
            <a:avLst/>
          </a:prstGeom>
          <a:noFill/>
          <a:ln w="1270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572768" y="201168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618488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h[2]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2075688" y="2221992"/>
            <a:ext cx="246888" cy="0"/>
          </a:xfrm>
          <a:prstGeom prst="line">
            <a:avLst/>
          </a:prstGeom>
          <a:noFill/>
          <a:ln w="1270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322576" y="201168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368296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h[3]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2825496" y="2221992"/>
            <a:ext cx="246888" cy="0"/>
          </a:xfrm>
          <a:prstGeom prst="line">
            <a:avLst/>
          </a:prstGeom>
          <a:noFill/>
          <a:ln w="1270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072384" y="201168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118104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h[4]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3575304" y="2221992"/>
            <a:ext cx="246888" cy="0"/>
          </a:xfrm>
          <a:prstGeom prst="line">
            <a:avLst/>
          </a:prstGeom>
          <a:noFill/>
          <a:ln w="1270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822192" y="201168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867912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h[5]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4325112" y="2221992"/>
            <a:ext cx="246888" cy="0"/>
          </a:xfrm>
          <a:prstGeom prst="line">
            <a:avLst/>
          </a:prstGeom>
          <a:noFill/>
          <a:ln w="12700">
            <a:solidFill>
              <a:srgbClr val="4754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572000" y="201168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D9F2A3"/>
          </a:solidFill>
          <a:ln w="12700">
            <a:solidFill>
              <a:srgbClr val="7CB51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617720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h[6]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82296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moves through a state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296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Convolutional approach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4617720"/>
            <a:ext cx="4114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914400" y="4343400"/>
            <a:ext cx="502920" cy="502920"/>
          </a:xfrm>
          <a:prstGeom prst="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1600200" y="4343400"/>
            <a:ext cx="502920" cy="502920"/>
          </a:xfrm>
          <a:prstGeom prst="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286000" y="4343400"/>
            <a:ext cx="502920" cy="502920"/>
          </a:xfrm>
          <a:prstGeom prst="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971800" y="4343400"/>
            <a:ext cx="502920" cy="502920"/>
          </a:xfrm>
          <a:prstGeom prst="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657600" y="4343400"/>
            <a:ext cx="502920" cy="502920"/>
          </a:xfrm>
          <a:prstGeom prst="rect">
            <a:avLst/>
          </a:prstGeom>
          <a:solidFill>
            <a:srgbClr val="DBEAFE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577840" y="4389120"/>
            <a:ext cx="9144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577840" y="452628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858000" y="4389120"/>
            <a:ext cx="9144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858000" y="452628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138160" y="4389120"/>
            <a:ext cx="9144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8138160" y="452628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486400" y="5074920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filters applied across time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583680" y="155448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629400" y="1600200"/>
            <a:ext cx="28346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we obtain long context by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increasing the receptive field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rather than propagating state?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643737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5 introduces kernels, padding, stride, receptive field, causal convolution and dilation.</a:t>
            </a:r>
            <a:endParaRPr lang="en-US" sz="68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D13FBE-7FFF-601E-5B8D-16DC6D9B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Code </a:t>
            </a:r>
            <a:r>
              <a:rPr lang="it-IT" b="1" dirty="0" err="1"/>
              <a:t>examples</a:t>
            </a:r>
            <a:endParaRPr lang="en-GB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5F7F39-5E98-B01F-1DA0-6D100757F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4210556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Baseline Metrics, naïve forecasting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Before we start using RNNs, it is often </a:t>
            </a:r>
            <a:r>
              <a:rPr lang="en-US" b="1" dirty="0"/>
              <a:t>a good idea to have a few baseline metrics</a:t>
            </a:r>
            <a:r>
              <a:rPr lang="en-US" dirty="0"/>
              <a:t>, or else we may end up thinking our model works great when in fact it is doing worse than basic models.</a:t>
            </a:r>
          </a:p>
          <a:p>
            <a:r>
              <a:rPr lang="en-US" dirty="0"/>
              <a:t>For example, the simplest approach is to </a:t>
            </a:r>
            <a:r>
              <a:rPr lang="en-US" b="1" dirty="0"/>
              <a:t>predict the last value in each series</a:t>
            </a:r>
            <a:r>
              <a:rPr lang="en-US" dirty="0"/>
              <a:t>. This is called </a:t>
            </a:r>
            <a:r>
              <a:rPr lang="en-US" b="1" i="1" dirty="0">
                <a:highlight>
                  <a:srgbClr val="FFFF00"/>
                </a:highlight>
              </a:rPr>
              <a:t>naive forecasting</a:t>
            </a:r>
            <a:r>
              <a:rPr lang="en-US" dirty="0"/>
              <a:t>, and it is sometimes surprisingly difficult to outperform. In this case, it gives us a </a:t>
            </a:r>
            <a:r>
              <a:rPr lang="en-US" b="1" dirty="0"/>
              <a:t>mean squared error of about 0.020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058" y="4951809"/>
            <a:ext cx="7064180" cy="7617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0" y="5197332"/>
            <a:ext cx="725621" cy="218276"/>
          </a:xfrm>
          <a:prstGeom prst="rect">
            <a:avLst/>
          </a:prstGeom>
          <a:solidFill>
            <a:srgbClr val="FFFF00">
              <a:alpha val="47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99468" y="4951809"/>
            <a:ext cx="184220" cy="181078"/>
          </a:xfrm>
          <a:prstGeom prst="rect">
            <a:avLst/>
          </a:prstGeom>
          <a:solidFill>
            <a:srgbClr val="FFFF00">
              <a:alpha val="47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919019" y="6091084"/>
            <a:ext cx="4697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This produces an array (one </a:t>
            </a:r>
            <a:r>
              <a:rPr lang="it-IT" dirty="0" err="1"/>
              <a:t>element</a:t>
            </a:r>
            <a:r>
              <a:rPr lang="it-IT" dirty="0"/>
              <a:t> for </a:t>
            </a:r>
            <a:r>
              <a:rPr lang="it-IT" dirty="0" err="1"/>
              <a:t>each</a:t>
            </a:r>
            <a:r>
              <a:rPr lang="it-IT" dirty="0"/>
              <a:t> sample), that must be </a:t>
            </a:r>
            <a:r>
              <a:rPr lang="it-IT" dirty="0" err="1"/>
              <a:t>averaged</a:t>
            </a:r>
            <a:r>
              <a:rPr lang="it-IT" dirty="0"/>
              <a:t> (</a:t>
            </a:r>
            <a:r>
              <a:rPr lang="it-IT" dirty="0" err="1"/>
              <a:t>outer</a:t>
            </a:r>
            <a:r>
              <a:rPr lang="it-IT" dirty="0"/>
              <a:t> </a:t>
            </a:r>
            <a:r>
              <a:rPr lang="it-IT" dirty="0" err="1"/>
              <a:t>mean</a:t>
            </a:r>
            <a:r>
              <a:rPr lang="it-IT" dirty="0"/>
              <a:t>)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6150077" y="5415608"/>
            <a:ext cx="368710" cy="7197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994113E-8E9F-79C7-24AC-A46583402450}"/>
              </a:ext>
            </a:extLst>
          </p:cNvPr>
          <p:cNvSpPr txBox="1"/>
          <p:nvPr/>
        </p:nvSpPr>
        <p:spPr>
          <a:xfrm>
            <a:off x="5477118" y="4609163"/>
            <a:ext cx="1237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Last frame</a:t>
            </a:r>
            <a:endParaRPr lang="en-GB" dirty="0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D6D478A4-53F0-B167-D552-2AF510D9A400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5099860" y="4793829"/>
            <a:ext cx="377258" cy="157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B547427-D3B0-986B-D01B-6C22B950597B}"/>
              </a:ext>
            </a:extLst>
          </p:cNvPr>
          <p:cNvSpPr txBox="1"/>
          <p:nvPr/>
        </p:nvSpPr>
        <p:spPr>
          <a:xfrm>
            <a:off x="1734784" y="4609163"/>
            <a:ext cx="49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2D</a:t>
            </a:r>
            <a:endParaRPr lang="en-GB" dirty="0"/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E6CA5D35-DB0D-3350-13FB-55F1957512AE}"/>
              </a:ext>
            </a:extLst>
          </p:cNvPr>
          <p:cNvCxnSpPr>
            <a:cxnSpLocks/>
          </p:cNvCxnSpPr>
          <p:nvPr/>
        </p:nvCxnSpPr>
        <p:spPr>
          <a:xfrm>
            <a:off x="2157984" y="4772422"/>
            <a:ext cx="1822979" cy="206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5">
            <a:extLst>
              <a:ext uri="{FF2B5EF4-FFF2-40B4-BE49-F238E27FC236}">
                <a16:creationId xmlns:a16="http://schemas.microsoft.com/office/drawing/2014/main" id="{9B5589CC-23CD-59BE-A8C9-2B87B2CB34E1}"/>
              </a:ext>
            </a:extLst>
          </p:cNvPr>
          <p:cNvSpPr/>
          <p:nvPr/>
        </p:nvSpPr>
        <p:spPr>
          <a:xfrm>
            <a:off x="4374239" y="5223556"/>
            <a:ext cx="581809" cy="192052"/>
          </a:xfrm>
          <a:prstGeom prst="rect">
            <a:avLst/>
          </a:prstGeom>
          <a:solidFill>
            <a:srgbClr val="FFFF00">
              <a:alpha val="47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6CA0FCD-F207-2863-105F-04E467DBDBE1}"/>
              </a:ext>
            </a:extLst>
          </p:cNvPr>
          <p:cNvSpPr txBox="1"/>
          <p:nvPr/>
        </p:nvSpPr>
        <p:spPr>
          <a:xfrm>
            <a:off x="9400478" y="3958683"/>
            <a:ext cx="2706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Suppose a [1, 50, 1] input </a:t>
            </a:r>
            <a:r>
              <a:rPr lang="it-IT" b="1" dirty="0" err="1"/>
              <a:t>tensor</a:t>
            </a:r>
            <a:r>
              <a:rPr lang="it-IT" b="1" dirty="0"/>
              <a:t> [N, L, D]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144698701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Another simple approach is to use a </a:t>
            </a:r>
            <a:r>
              <a:rPr lang="en-US" b="1" dirty="0"/>
              <a:t>fully connected network</a:t>
            </a:r>
            <a:r>
              <a:rPr lang="en-US" dirty="0"/>
              <a:t>. </a:t>
            </a:r>
            <a:r>
              <a:rPr lang="en-US" sz="2400" dirty="0"/>
              <a:t>Since it expects a </a:t>
            </a:r>
            <a:r>
              <a:rPr lang="en-US" sz="2400" b="1" dirty="0"/>
              <a:t>flat list of features </a:t>
            </a:r>
            <a:r>
              <a:rPr lang="en-US" sz="2400" dirty="0"/>
              <a:t>for each input (sample), we need to add a Flatten layer.</a:t>
            </a:r>
            <a:endParaRPr lang="en-US" dirty="0"/>
          </a:p>
          <a:p>
            <a:r>
              <a:rPr lang="en-US" dirty="0"/>
              <a:t>Let’s just use a </a:t>
            </a:r>
            <a:r>
              <a:rPr lang="en-US" b="1" dirty="0"/>
              <a:t>simple Linear Regression model </a:t>
            </a:r>
            <a:r>
              <a:rPr lang="en-US" dirty="0"/>
              <a:t>(</a:t>
            </a:r>
            <a:r>
              <a:rPr lang="en-US" b="1" dirty="0"/>
              <a:t>no activation function in the dense layer =&gt; linear activation</a:t>
            </a:r>
            <a:r>
              <a:rPr lang="en-US" dirty="0"/>
              <a:t>) so that </a:t>
            </a:r>
            <a:r>
              <a:rPr lang="en-US" b="1" dirty="0"/>
              <a:t>each prediction will be a linear combination of the values in the time series</a:t>
            </a:r>
            <a:r>
              <a:rPr lang="en-US" dirty="0"/>
              <a:t>:</a:t>
            </a:r>
          </a:p>
          <a:p>
            <a:endParaRPr lang="it-IT" dirty="0"/>
          </a:p>
          <a:p>
            <a:endParaRPr lang="it-IT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725" y="3653771"/>
            <a:ext cx="6174267" cy="12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44851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a Simple RNN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Let’s build the really simplest RNN we can build. It just contains a </a:t>
            </a:r>
            <a:r>
              <a:rPr lang="en-US" b="1" dirty="0"/>
              <a:t>single layer</a:t>
            </a:r>
            <a:r>
              <a:rPr lang="en-US" dirty="0"/>
              <a:t>, with a </a:t>
            </a:r>
            <a:r>
              <a:rPr lang="en-US" b="1" dirty="0"/>
              <a:t>single neuron</a:t>
            </a:r>
            <a:r>
              <a:rPr lang="en-US" dirty="0"/>
              <a:t>.</a:t>
            </a:r>
          </a:p>
          <a:p>
            <a:r>
              <a:rPr lang="en-US" b="1" dirty="0"/>
              <a:t>We do not need to specify the length of the input sequences </a:t>
            </a:r>
            <a:r>
              <a:rPr lang="en-US" dirty="0"/>
              <a:t>(unlike in the previous model), since a RNN can process </a:t>
            </a:r>
            <a:r>
              <a:rPr lang="en-US" b="1" dirty="0"/>
              <a:t>any number of time steps </a:t>
            </a:r>
            <a:r>
              <a:rPr lang="en-US" dirty="0"/>
              <a:t>(this is why we set the first input dimension to </a:t>
            </a:r>
            <a:r>
              <a:rPr lang="en-US" b="1" dirty="0"/>
              <a:t>None</a:t>
            </a:r>
            <a:r>
              <a:rPr lang="en-US" dirty="0"/>
              <a:t>).</a:t>
            </a:r>
          </a:p>
          <a:p>
            <a:r>
              <a:rPr lang="en-US" dirty="0"/>
              <a:t>By </a:t>
            </a:r>
            <a:r>
              <a:rPr lang="en-US" b="1" dirty="0"/>
              <a:t>default</a:t>
            </a:r>
            <a:r>
              <a:rPr lang="en-US" dirty="0"/>
              <a:t>, the </a:t>
            </a:r>
            <a:r>
              <a:rPr lang="en-US" b="1" dirty="0" err="1"/>
              <a:t>SimpleRNN</a:t>
            </a:r>
            <a:r>
              <a:rPr lang="en-US" dirty="0"/>
              <a:t> layer uses the </a:t>
            </a:r>
            <a:r>
              <a:rPr lang="en-US" b="1" dirty="0"/>
              <a:t>hyperbolic tangent (</a:t>
            </a:r>
            <a:r>
              <a:rPr lang="en-US" b="1" dirty="0" err="1"/>
              <a:t>tanh</a:t>
            </a:r>
            <a:r>
              <a:rPr lang="en-US" b="1" dirty="0"/>
              <a:t>) activation function</a:t>
            </a:r>
            <a:r>
              <a:rPr lang="en-US" dirty="0"/>
              <a:t>. It works exactly as we saw earlier: the </a:t>
            </a:r>
            <a:r>
              <a:rPr lang="en-US" b="1" dirty="0"/>
              <a:t>initial state </a:t>
            </a:r>
            <a:r>
              <a:rPr lang="en-US" b="1" i="1" dirty="0"/>
              <a:t>h(</a:t>
            </a:r>
            <a:r>
              <a:rPr lang="en-US" b="1" i="1" dirty="0" err="1"/>
              <a:t>init</a:t>
            </a:r>
            <a:r>
              <a:rPr lang="en-US" b="1" i="1" dirty="0"/>
              <a:t>) </a:t>
            </a:r>
            <a:r>
              <a:rPr lang="en-US" b="1" dirty="0"/>
              <a:t>is set to 0</a:t>
            </a:r>
            <a:r>
              <a:rPr lang="en-US" dirty="0"/>
              <a:t>, and it is passed to a single recurrent neuron, along with the value of the input at the first time step, </a:t>
            </a:r>
            <a:r>
              <a:rPr lang="en-US" i="1" dirty="0"/>
              <a:t>x(0)</a:t>
            </a:r>
            <a:r>
              <a:rPr lang="en-US" dirty="0"/>
              <a:t>.</a:t>
            </a:r>
          </a:p>
          <a:p>
            <a:r>
              <a:rPr lang="en-US" dirty="0"/>
              <a:t>The neuron computes a weighted sum of these values and applies the hyperbolic tangent activation function to the result, and this gives the first output, </a:t>
            </a:r>
            <a:r>
              <a:rPr lang="en-US" i="1" dirty="0"/>
              <a:t>y0</a:t>
            </a:r>
            <a:r>
              <a:rPr lang="en-US" dirty="0"/>
              <a:t>.</a:t>
            </a:r>
          </a:p>
          <a:p>
            <a:r>
              <a:rPr lang="en-US" dirty="0"/>
              <a:t>In a simple RNN, this output is also the new state </a:t>
            </a:r>
            <a:r>
              <a:rPr lang="en-US" i="1" dirty="0"/>
              <a:t>h0</a:t>
            </a:r>
            <a:r>
              <a:rPr lang="en-US" dirty="0"/>
              <a:t>. This new state is passed to the same recurrent neuron along with the next input value, </a:t>
            </a:r>
            <a:r>
              <a:rPr lang="en-US" i="1" dirty="0"/>
              <a:t>x1</a:t>
            </a:r>
            <a:r>
              <a:rPr lang="en-US" dirty="0"/>
              <a:t>, and the </a:t>
            </a:r>
            <a:r>
              <a:rPr lang="en-US" b="1" dirty="0"/>
              <a:t>process is repeated until the last time step</a:t>
            </a:r>
            <a:r>
              <a:rPr lang="en-US" dirty="0"/>
              <a:t>.</a:t>
            </a:r>
          </a:p>
          <a:p>
            <a:r>
              <a:rPr lang="en-US" dirty="0">
                <a:highlight>
                  <a:srgbClr val="FFFF00"/>
                </a:highlight>
              </a:rPr>
              <a:t>By default the </a:t>
            </a:r>
            <a:r>
              <a:rPr lang="en-US" b="1" dirty="0">
                <a:highlight>
                  <a:srgbClr val="FFFF00"/>
                </a:highlight>
              </a:rPr>
              <a:t>layer just outputs the last time value (or values if D&gt;1), </a:t>
            </a:r>
            <a:r>
              <a:rPr lang="en-US" b="1" i="1" dirty="0">
                <a:highlight>
                  <a:srgbClr val="FFFF00"/>
                </a:highlight>
              </a:rPr>
              <a:t>y49</a:t>
            </a:r>
            <a:r>
              <a:rPr lang="en-US" dirty="0">
                <a:highlight>
                  <a:srgbClr val="FFFF00"/>
                </a:highlight>
              </a:rPr>
              <a:t>.</a:t>
            </a:r>
          </a:p>
          <a:p>
            <a:r>
              <a:rPr lang="en-US" dirty="0"/>
              <a:t>All of this is performed </a:t>
            </a:r>
            <a:r>
              <a:rPr lang="en-US" b="1" dirty="0"/>
              <a:t>simultaneously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419" y="5985548"/>
            <a:ext cx="4540571" cy="652704"/>
          </a:xfrm>
          <a:prstGeom prst="rect">
            <a:avLst/>
          </a:prstGeom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 flipV="1">
            <a:off x="5928527" y="2386361"/>
            <a:ext cx="2468088" cy="38737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96615" y="6282409"/>
            <a:ext cx="2371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highlight>
                  <a:srgbClr val="FFFF00"/>
                </a:highlight>
              </a:rPr>
              <a:t>RNN can process any number of time steps</a:t>
            </a:r>
            <a:endParaRPr lang="en-US" sz="1600" b="1" dirty="0">
              <a:highlight>
                <a:srgbClr val="FFFF00"/>
              </a:highlight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7439172" y="6380609"/>
            <a:ext cx="957443" cy="2799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B36A365-F7AE-AD71-D8BD-4B184AB22D43}"/>
              </a:ext>
            </a:extLst>
          </p:cNvPr>
          <p:cNvSpPr txBox="1"/>
          <p:nvPr/>
        </p:nvSpPr>
        <p:spPr>
          <a:xfrm>
            <a:off x="9722498" y="5635082"/>
            <a:ext cx="12503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highlight>
                  <a:srgbClr val="FFFF00"/>
                </a:highlight>
              </a:rPr>
              <a:t>Input </a:t>
            </a:r>
            <a:r>
              <a:rPr lang="it-IT" sz="1400" dirty="0" err="1">
                <a:highlight>
                  <a:srgbClr val="FFFF00"/>
                </a:highlight>
              </a:rPr>
              <a:t>dimensionality</a:t>
            </a:r>
            <a:endParaRPr lang="en-GB" sz="1400" dirty="0">
              <a:highlight>
                <a:srgbClr val="FFFF00"/>
              </a:highlight>
            </a:endParaRP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AE27DC2C-6F9F-4859-7CC7-DA7F451E8614}"/>
              </a:ext>
            </a:extLst>
          </p:cNvPr>
          <p:cNvCxnSpPr/>
          <p:nvPr/>
        </p:nvCxnSpPr>
        <p:spPr>
          <a:xfrm flipH="1">
            <a:off x="7819053" y="5775649"/>
            <a:ext cx="1763267" cy="42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4">
            <a:extLst>
              <a:ext uri="{FF2B5EF4-FFF2-40B4-BE49-F238E27FC236}">
                <a16:creationId xmlns:a16="http://schemas.microsoft.com/office/drawing/2014/main" id="{E2277231-1329-2F7D-5478-38A07355D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686" y="485493"/>
            <a:ext cx="2886382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312028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>
            <a:extLst>
              <a:ext uri="{FF2B5EF4-FFF2-40B4-BE49-F238E27FC236}">
                <a16:creationId xmlns:a16="http://schemas.microsoft.com/office/drawing/2014/main" id="{D5D8747A-B565-1244-6F33-0134E5D49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408" y="0"/>
            <a:ext cx="4037608" cy="23482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Deep RNN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Implementing a deep RNN with </a:t>
            </a:r>
            <a:r>
              <a:rPr lang="en-US" dirty="0" err="1"/>
              <a:t>tf.keras</a:t>
            </a:r>
            <a:r>
              <a:rPr lang="en-US" dirty="0"/>
              <a:t> is quite simple: </a:t>
            </a:r>
            <a:r>
              <a:rPr lang="en-US" b="1" dirty="0">
                <a:highlight>
                  <a:srgbClr val="FFFF00"/>
                </a:highlight>
              </a:rPr>
              <a:t>just stack recurrent layers</a:t>
            </a:r>
            <a:r>
              <a:rPr lang="en-US" dirty="0">
                <a:highlight>
                  <a:srgbClr val="FFFF00"/>
                </a:highlight>
              </a:rPr>
              <a:t>.</a:t>
            </a:r>
          </a:p>
          <a:p>
            <a:r>
              <a:rPr lang="en-US" dirty="0"/>
              <a:t>In this example, we use three </a:t>
            </a:r>
            <a:r>
              <a:rPr lang="en-US" b="1" dirty="0" err="1"/>
              <a:t>SimpleRNN</a:t>
            </a:r>
            <a:r>
              <a:rPr lang="en-US" dirty="0"/>
              <a:t> layers (but we could add </a:t>
            </a:r>
            <a:r>
              <a:rPr lang="en-US" b="1" dirty="0">
                <a:highlight>
                  <a:srgbClr val="FFFF00"/>
                </a:highlight>
              </a:rPr>
              <a:t>any other type of recurrent layer, such as an LSTM layer or a GRU </a:t>
            </a:r>
            <a:r>
              <a:rPr lang="en-US" b="1" dirty="0"/>
              <a:t>layer</a:t>
            </a:r>
            <a:r>
              <a:rPr lang="en-US" dirty="0"/>
              <a:t>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119" y="4149986"/>
            <a:ext cx="7700058" cy="126257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41AF7D-6D0C-041D-F05A-7E55DF5AF781}"/>
              </a:ext>
            </a:extLst>
          </p:cNvPr>
          <p:cNvSpPr/>
          <p:nvPr/>
        </p:nvSpPr>
        <p:spPr>
          <a:xfrm>
            <a:off x="7887059" y="4408216"/>
            <a:ext cx="936901" cy="247604"/>
          </a:xfrm>
          <a:prstGeom prst="rect">
            <a:avLst/>
          </a:prstGeom>
          <a:solidFill>
            <a:srgbClr val="FFFF00">
              <a:alpha val="47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81A9EAE-E2B9-E5A2-6BA9-0678F2DA1E58}"/>
              </a:ext>
            </a:extLst>
          </p:cNvPr>
          <p:cNvSpPr txBox="1"/>
          <p:nvPr/>
        </p:nvSpPr>
        <p:spPr>
          <a:xfrm>
            <a:off x="9438625" y="5015561"/>
            <a:ext cx="1548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steps, </a:t>
            </a:r>
            <a:r>
              <a:rPr lang="it-IT" sz="1200" dirty="0" err="1"/>
              <a:t>dimensionality</a:t>
            </a:r>
            <a:endParaRPr lang="en-GB" sz="1200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3282365B-4118-FDCA-A2EA-49F470D22CF5}"/>
              </a:ext>
            </a:extLst>
          </p:cNvPr>
          <p:cNvCxnSpPr>
            <a:cxnSpLocks/>
          </p:cNvCxnSpPr>
          <p:nvPr/>
        </p:nvCxnSpPr>
        <p:spPr>
          <a:xfrm flipH="1" flipV="1">
            <a:off x="9339943" y="4655820"/>
            <a:ext cx="298579" cy="359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46A32614-66E9-E13F-0CD5-A17023D83FE6}"/>
              </a:ext>
            </a:extLst>
          </p:cNvPr>
          <p:cNvCxnSpPr>
            <a:cxnSpLocks/>
          </p:cNvCxnSpPr>
          <p:nvPr/>
        </p:nvCxnSpPr>
        <p:spPr>
          <a:xfrm flipH="1" flipV="1">
            <a:off x="9743560" y="4655819"/>
            <a:ext cx="403617" cy="359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9A983B8D-8353-970B-8421-22DAF4EDEF20}"/>
              </a:ext>
            </a:extLst>
          </p:cNvPr>
          <p:cNvCxnSpPr>
            <a:cxnSpLocks/>
          </p:cNvCxnSpPr>
          <p:nvPr/>
        </p:nvCxnSpPr>
        <p:spPr>
          <a:xfrm flipH="1" flipV="1">
            <a:off x="5266031" y="4631030"/>
            <a:ext cx="331881" cy="916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737D40C-EBD6-7C21-1E82-479133E121B8}"/>
              </a:ext>
            </a:extLst>
          </p:cNvPr>
          <p:cNvSpPr txBox="1"/>
          <p:nvPr/>
        </p:nvSpPr>
        <p:spPr>
          <a:xfrm>
            <a:off x="5260059" y="5437064"/>
            <a:ext cx="1876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dirty="0"/>
              <a:t>A </a:t>
            </a:r>
            <a:r>
              <a:rPr lang="it-IT" sz="1200" b="1" dirty="0" err="1"/>
              <a:t>recurrent</a:t>
            </a:r>
            <a:r>
              <a:rPr lang="it-IT" sz="1200" b="1" dirty="0"/>
              <a:t> </a:t>
            </a:r>
            <a:r>
              <a:rPr lang="it-IT" sz="1200" b="1" dirty="0" err="1"/>
              <a:t>layer</a:t>
            </a:r>
            <a:r>
              <a:rPr lang="it-IT" sz="1200" b="1" dirty="0"/>
              <a:t> with 20 </a:t>
            </a:r>
            <a:r>
              <a:rPr lang="it-IT" sz="1200" b="1" dirty="0" err="1"/>
              <a:t>neurons</a:t>
            </a:r>
            <a:r>
              <a:rPr lang="it-IT" sz="1200" b="1" dirty="0"/>
              <a:t> (</a:t>
            </a:r>
            <a:r>
              <a:rPr lang="it-IT" sz="1200" b="1" dirty="0" err="1"/>
              <a:t>dimensionality</a:t>
            </a:r>
            <a:r>
              <a:rPr lang="it-IT" sz="1200" b="1" dirty="0"/>
              <a:t> 20)</a:t>
            </a:r>
            <a:endParaRPr lang="en-GB" sz="1200" b="1" dirty="0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4D28E333-F515-8ED2-F3AB-A5061FD01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744" y="448806"/>
            <a:ext cx="3580511" cy="1478437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F9EDE09-5756-921C-47B2-21C5B62FB3C5}"/>
              </a:ext>
            </a:extLst>
          </p:cNvPr>
          <p:cNvSpPr txBox="1"/>
          <p:nvPr/>
        </p:nvSpPr>
        <p:spPr>
          <a:xfrm>
            <a:off x="9945368" y="5573359"/>
            <a:ext cx="18706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Input </a:t>
            </a:r>
            <a:r>
              <a:rPr lang="it-IT" sz="1400" b="1" dirty="0" err="1"/>
              <a:t>shape</a:t>
            </a:r>
            <a:r>
              <a:rPr lang="it-IT" sz="1400" b="1" dirty="0"/>
              <a:t>: </a:t>
            </a:r>
            <a:r>
              <a:rPr lang="it-IT" sz="1400" dirty="0"/>
              <a:t>[N,50,1]</a:t>
            </a:r>
          </a:p>
          <a:p>
            <a:r>
              <a:rPr lang="it-IT" sz="1400" b="1" dirty="0"/>
              <a:t>Intermediate </a:t>
            </a:r>
            <a:r>
              <a:rPr lang="it-IT" sz="1400" b="1" dirty="0" err="1"/>
              <a:t>shape</a:t>
            </a:r>
            <a:r>
              <a:rPr lang="it-IT" sz="1400" b="1" dirty="0"/>
              <a:t>:</a:t>
            </a:r>
            <a:r>
              <a:rPr lang="it-IT" sz="1400" dirty="0"/>
              <a:t> [N, 50,20]</a:t>
            </a:r>
          </a:p>
          <a:p>
            <a:r>
              <a:rPr lang="it-IT" sz="1400" b="1" dirty="0" err="1"/>
              <a:t>Result</a:t>
            </a:r>
            <a:r>
              <a:rPr lang="it-IT" sz="1400" b="1" dirty="0"/>
              <a:t>: </a:t>
            </a:r>
            <a:r>
              <a:rPr lang="it-IT" sz="1400" dirty="0"/>
              <a:t>[N,1]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792371955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Dense output 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train this model, you will see that </a:t>
            </a:r>
            <a:r>
              <a:rPr lang="en-US" b="1" dirty="0"/>
              <a:t>it converges faster and performs just as well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991" y="3508899"/>
            <a:ext cx="7481525" cy="121644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70379" y="4007984"/>
            <a:ext cx="725621" cy="218276"/>
          </a:xfrm>
          <a:prstGeom prst="rect">
            <a:avLst/>
          </a:prstGeom>
          <a:solidFill>
            <a:srgbClr val="FFFF00">
              <a:alpha val="47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251997" y="4760864"/>
            <a:ext cx="3088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For each sample, this layer </a:t>
            </a:r>
            <a:r>
              <a:rPr lang="it-IT" b="1" dirty="0"/>
              <a:t>works only at the last timestep</a:t>
            </a:r>
            <a:endParaRPr lang="en-US" b="1" dirty="0"/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>
          <a:xfrm flipH="1" flipV="1">
            <a:off x="4119824" y="4403696"/>
            <a:ext cx="1195754" cy="429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514307E-83CC-B38F-344E-3B3BC774755C}"/>
              </a:ext>
            </a:extLst>
          </p:cNvPr>
          <p:cNvSpPr txBox="1"/>
          <p:nvPr/>
        </p:nvSpPr>
        <p:spPr>
          <a:xfrm>
            <a:off x="9995610" y="5222529"/>
            <a:ext cx="187065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Input </a:t>
            </a:r>
            <a:r>
              <a:rPr lang="it-IT" sz="1400" b="1" dirty="0" err="1"/>
              <a:t>shape</a:t>
            </a:r>
            <a:r>
              <a:rPr lang="it-IT" sz="1400" b="1" dirty="0"/>
              <a:t>: </a:t>
            </a:r>
            <a:r>
              <a:rPr lang="it-IT" sz="1400" dirty="0"/>
              <a:t>[N,50,1]</a:t>
            </a:r>
          </a:p>
          <a:p>
            <a:r>
              <a:rPr lang="it-IT" sz="1400" b="1" dirty="0"/>
              <a:t>Intermediate shape1:</a:t>
            </a:r>
            <a:r>
              <a:rPr lang="it-IT" sz="1400" dirty="0"/>
              <a:t> [N, 50,20]</a:t>
            </a:r>
          </a:p>
          <a:p>
            <a:r>
              <a:rPr lang="it-IT" sz="1400" b="1" dirty="0"/>
              <a:t>Intermediate shape2:</a:t>
            </a:r>
            <a:r>
              <a:rPr lang="it-IT" sz="1400" dirty="0"/>
              <a:t> [N,20]</a:t>
            </a:r>
          </a:p>
          <a:p>
            <a:r>
              <a:rPr lang="it-IT" sz="1400" b="1" dirty="0" err="1"/>
              <a:t>Result</a:t>
            </a:r>
            <a:r>
              <a:rPr lang="it-IT" sz="1400" b="1" dirty="0"/>
              <a:t>: </a:t>
            </a:r>
            <a:r>
              <a:rPr lang="it-IT" sz="1400" dirty="0"/>
              <a:t>[N,1]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11700830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Forecasting 10 steps ahead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292" y="1977916"/>
            <a:ext cx="5472101" cy="360253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C536E7D-DB24-108F-CE4E-ACB6A86C13CF}"/>
              </a:ext>
            </a:extLst>
          </p:cNvPr>
          <p:cNvSpPr txBox="1"/>
          <p:nvPr/>
        </p:nvSpPr>
        <p:spPr>
          <a:xfrm>
            <a:off x="9327107" y="2210937"/>
            <a:ext cx="2246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Recall:</a:t>
            </a:r>
          </a:p>
          <a:p>
            <a:r>
              <a:rPr lang="it-IT" b="1" dirty="0" err="1"/>
              <a:t>n_steps</a:t>
            </a:r>
            <a:r>
              <a:rPr lang="it-IT" b="1" dirty="0"/>
              <a:t>=50</a:t>
            </a:r>
          </a:p>
          <a:p>
            <a:r>
              <a:rPr lang="it-IT" b="1" dirty="0"/>
              <a:t>(frames </a:t>
            </a:r>
            <a:r>
              <a:rPr lang="it-IT" b="1" dirty="0" err="1"/>
              <a:t>constituting</a:t>
            </a:r>
            <a:r>
              <a:rPr lang="it-IT" b="1" dirty="0"/>
              <a:t> a sample)</a:t>
            </a:r>
            <a:endParaRPr lang="en-GB" b="1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E3AF685-48B8-224D-C934-824B0E607F9E}"/>
              </a:ext>
            </a:extLst>
          </p:cNvPr>
          <p:cNvSpPr txBox="1"/>
          <p:nvPr/>
        </p:nvSpPr>
        <p:spPr>
          <a:xfrm>
            <a:off x="9274002" y="5720576"/>
            <a:ext cx="2299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highlight>
                  <a:srgbClr val="FFFF00"/>
                </a:highlight>
              </a:rPr>
              <a:t>You </a:t>
            </a:r>
            <a:r>
              <a:rPr lang="it-IT" b="1" dirty="0" err="1">
                <a:highlight>
                  <a:srgbClr val="FFFF00"/>
                </a:highlight>
              </a:rPr>
              <a:t>need</a:t>
            </a:r>
            <a:r>
              <a:rPr lang="it-IT" b="1" dirty="0">
                <a:highlight>
                  <a:srgbClr val="FFFF00"/>
                </a:highlight>
              </a:rPr>
              <a:t> to update the target </a:t>
            </a:r>
            <a:r>
              <a:rPr lang="it-IT" b="1" dirty="0" err="1">
                <a:highlight>
                  <a:srgbClr val="FFFF00"/>
                </a:highlight>
              </a:rPr>
              <a:t>tensor</a:t>
            </a:r>
            <a:r>
              <a:rPr lang="it-IT" b="1" dirty="0">
                <a:highlight>
                  <a:srgbClr val="FFFF00"/>
                </a:highlight>
              </a:rPr>
              <a:t>!</a:t>
            </a:r>
            <a:endParaRPr lang="en-GB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41678497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Change the output (dense) 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we just need the output layer to have 10 units instead of 1: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en-US" dirty="0"/>
              <a:t>After training this model, you can predict the next 10 values at once very easily: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902" y="2420286"/>
            <a:ext cx="7135184" cy="11975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962" y="4802226"/>
            <a:ext cx="3759356" cy="5024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283825" y="3086793"/>
            <a:ext cx="781397" cy="182880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202494" y="3086793"/>
            <a:ext cx="3567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For each sample, </a:t>
            </a:r>
            <a:r>
              <a:rPr lang="it-IT" b="1" dirty="0"/>
              <a:t>this layer works only at the last timestep</a:t>
            </a:r>
            <a:endParaRPr lang="en-US" b="1" dirty="0"/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5184952" y="3175438"/>
            <a:ext cx="949567" cy="74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024066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Further</a:t>
            </a:r>
            <a:r>
              <a:rPr lang="it-IT" dirty="0"/>
              <a:t> </a:t>
            </a:r>
            <a:r>
              <a:rPr lang="it-IT" dirty="0" err="1"/>
              <a:t>improvement</a:t>
            </a:r>
            <a:r>
              <a:rPr lang="it-IT" dirty="0"/>
              <a:t>: from sequence-to-vector to </a:t>
            </a:r>
            <a:r>
              <a:rPr lang="it-IT" b="1" dirty="0">
                <a:highlight>
                  <a:srgbClr val="FFFF00"/>
                </a:highlight>
              </a:rPr>
              <a:t>sequence-to-sequence RNN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Instead of training the model to forecast the next 10 values only at the very last time step, we can train it to </a:t>
            </a:r>
            <a:r>
              <a:rPr lang="en-US" b="1" dirty="0">
                <a:highlight>
                  <a:srgbClr val="FFFF00"/>
                </a:highlight>
              </a:rPr>
              <a:t>forecast the next 10 values at each and every time step</a:t>
            </a:r>
            <a:r>
              <a:rPr lang="en-US" dirty="0"/>
              <a:t>.</a:t>
            </a:r>
          </a:p>
          <a:p>
            <a:pPr lvl="1"/>
            <a:r>
              <a:rPr lang="it-IT" dirty="0"/>
              <a:t>The output is always (the next) 10 values, </a:t>
            </a:r>
            <a:r>
              <a:rPr lang="it-IT" dirty="0" err="1"/>
              <a:t>at</a:t>
            </a:r>
            <a:r>
              <a:rPr lang="it-IT" dirty="0"/>
              <a:t> every step.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To be clear, at time step 0 the model will output a vector containing the forecasts for time steps 1 to 10, then at time step 1 the model will forecast time steps 2 to 11, and so on.</a:t>
            </a:r>
          </a:p>
          <a:p>
            <a:r>
              <a:rPr lang="en-US" dirty="0"/>
              <a:t>In other words, we can </a:t>
            </a:r>
            <a:r>
              <a:rPr lang="en-US" b="1" dirty="0"/>
              <a:t>turn </a:t>
            </a:r>
            <a:r>
              <a:rPr lang="en-US" dirty="0"/>
              <a:t>this </a:t>
            </a:r>
            <a:r>
              <a:rPr lang="en-US" b="1" dirty="0"/>
              <a:t>sequence-to-vector RNN </a:t>
            </a:r>
            <a:r>
              <a:rPr lang="en-US" dirty="0"/>
              <a:t>into a </a:t>
            </a:r>
            <a:r>
              <a:rPr lang="en-US" b="1" dirty="0"/>
              <a:t>sequence-to-sequence RNN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247</a:t>
            </a:fld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9214296-E25F-2E2A-F462-3B2D8F91BA79}"/>
              </a:ext>
            </a:extLst>
          </p:cNvPr>
          <p:cNvSpPr txBox="1"/>
          <p:nvPr/>
        </p:nvSpPr>
        <p:spPr>
          <a:xfrm>
            <a:off x="8670964" y="5395031"/>
            <a:ext cx="2669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highlight>
                  <a:srgbClr val="FFFF00"/>
                </a:highlight>
              </a:rPr>
              <a:t>The target </a:t>
            </a:r>
            <a:r>
              <a:rPr lang="it-IT" b="1" dirty="0" err="1">
                <a:highlight>
                  <a:srgbClr val="FFFF00"/>
                </a:highlight>
              </a:rPr>
              <a:t>tensor</a:t>
            </a:r>
            <a:r>
              <a:rPr lang="it-IT" b="1" dirty="0">
                <a:highlight>
                  <a:srgbClr val="FFFF00"/>
                </a:highlight>
              </a:rPr>
              <a:t> must be </a:t>
            </a:r>
            <a:r>
              <a:rPr lang="it-IT" b="1" dirty="0" err="1">
                <a:highlight>
                  <a:srgbClr val="FFFF00"/>
                </a:highlight>
              </a:rPr>
              <a:t>updated</a:t>
            </a:r>
            <a:r>
              <a:rPr lang="it-IT" b="1" dirty="0">
                <a:highlight>
                  <a:srgbClr val="FFFF00"/>
                </a:highlight>
              </a:rPr>
              <a:t> </a:t>
            </a:r>
            <a:r>
              <a:rPr lang="it-IT" b="1" dirty="0" err="1">
                <a:highlight>
                  <a:srgbClr val="FFFF00"/>
                </a:highlight>
              </a:rPr>
              <a:t>again</a:t>
            </a:r>
            <a:r>
              <a:rPr lang="it-IT" b="1" dirty="0">
                <a:highlight>
                  <a:srgbClr val="FFFF00"/>
                </a:highlight>
              </a:rPr>
              <a:t>!</a:t>
            </a:r>
            <a:endParaRPr lang="en-GB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90041323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From sequence-to-vector to </a:t>
            </a:r>
            <a:r>
              <a:rPr lang="it-IT" dirty="0">
                <a:highlight>
                  <a:srgbClr val="FFFF00"/>
                </a:highlight>
              </a:rPr>
              <a:t>sequence-to-sequence RNN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advantage of this technique is that </a:t>
            </a:r>
            <a:r>
              <a:rPr lang="en-US" b="1" dirty="0">
                <a:highlight>
                  <a:srgbClr val="FFFF00"/>
                </a:highlight>
              </a:rPr>
              <a:t>the loss (e.g., MSE) will contain a term for the output of the RNN at each and every time step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b="1" dirty="0">
                <a:highlight>
                  <a:srgbClr val="FFFF00"/>
                </a:highlight>
              </a:rPr>
              <a:t>not just the output at the last time step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means there will be many </a:t>
            </a:r>
            <a:r>
              <a:rPr lang="en-US" b="1" dirty="0">
                <a:highlight>
                  <a:srgbClr val="FFFF00"/>
                </a:highlight>
              </a:rPr>
              <a:t>more error gradients flowing through the model</a:t>
            </a:r>
            <a:r>
              <a:rPr lang="en-US" dirty="0"/>
              <a:t>, and they won’t have to flow only through time; they will also flow from the output of each time step.</a:t>
            </a:r>
          </a:p>
          <a:p>
            <a:r>
              <a:rPr lang="en-US" dirty="0"/>
              <a:t>This will both </a:t>
            </a:r>
            <a:r>
              <a:rPr lang="en-US" b="1" dirty="0">
                <a:highlight>
                  <a:srgbClr val="FFFF00"/>
                </a:highlight>
              </a:rPr>
              <a:t>stabilize and speed up training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Each </a:t>
            </a:r>
            <a:r>
              <a:rPr lang="en-US" dirty="0">
                <a:highlight>
                  <a:srgbClr val="FFFF00"/>
                </a:highlight>
              </a:rPr>
              <a:t>target </a:t>
            </a:r>
            <a:r>
              <a:rPr lang="en-US" b="1" dirty="0">
                <a:highlight>
                  <a:srgbClr val="FFFF00"/>
                </a:highlight>
              </a:rPr>
              <a:t>contains a 10-size vector at each step </a:t>
            </a:r>
            <a:r>
              <a:rPr lang="en-US" b="1" dirty="0"/>
              <a:t>(i.e., the next 10 steps to predict)</a:t>
            </a:r>
            <a:r>
              <a:rPr lang="en-US" dirty="0"/>
              <a:t>. Let’s </a:t>
            </a:r>
            <a:r>
              <a:rPr lang="en-US" b="1" dirty="0">
                <a:highlight>
                  <a:srgbClr val="FFFF00"/>
                </a:highlight>
              </a:rPr>
              <a:t>prepare these target sequences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07288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highlight>
                  <a:srgbClr val="FFFF00"/>
                </a:highlight>
              </a:rPr>
              <a:t>Turning</a:t>
            </a:r>
            <a:r>
              <a:rPr lang="it-IT" dirty="0">
                <a:highlight>
                  <a:srgbClr val="FFFF00"/>
                </a:highlight>
              </a:rPr>
              <a:t> the model </a:t>
            </a:r>
            <a:r>
              <a:rPr lang="it-IT" dirty="0"/>
              <a:t>into sequence to sequence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turn the model into a sequence-to-sequence model, we must also set </a:t>
            </a:r>
            <a:r>
              <a:rPr lang="en-US" b="1" dirty="0" err="1">
                <a:highlight>
                  <a:srgbClr val="FFFF00"/>
                </a:highlight>
              </a:rPr>
              <a:t>return_sequences</a:t>
            </a:r>
            <a:r>
              <a:rPr lang="en-US" b="1" dirty="0">
                <a:highlight>
                  <a:srgbClr val="FFFF00"/>
                </a:highlight>
              </a:rPr>
              <a:t>=True in all recurrent layers</a:t>
            </a:r>
            <a:r>
              <a:rPr lang="en-US" dirty="0">
                <a:highlight>
                  <a:srgbClr val="FFFF00"/>
                </a:highlight>
              </a:rPr>
              <a:t>, and we must </a:t>
            </a:r>
            <a:r>
              <a:rPr lang="en-US" b="1" dirty="0">
                <a:highlight>
                  <a:srgbClr val="FFFF00"/>
                </a:highlight>
              </a:rPr>
              <a:t>apply the output Dense layer at every time step</a:t>
            </a:r>
            <a:r>
              <a:rPr lang="en-US" dirty="0">
                <a:highlight>
                  <a:srgbClr val="FFFF00"/>
                </a:highlight>
              </a:rPr>
              <a:t>.</a:t>
            </a:r>
          </a:p>
          <a:p>
            <a:r>
              <a:rPr lang="en-US" dirty="0" err="1"/>
              <a:t>Keras</a:t>
            </a:r>
            <a:r>
              <a:rPr lang="en-US" dirty="0"/>
              <a:t> offers a </a:t>
            </a:r>
            <a:r>
              <a:rPr lang="en-US" b="1" dirty="0" err="1"/>
              <a:t>TimeDistributed</a:t>
            </a:r>
            <a:r>
              <a:rPr lang="en-US" b="1" dirty="0"/>
              <a:t> layer for this very purpose</a:t>
            </a:r>
            <a:r>
              <a:rPr lang="en-US" dirty="0"/>
              <a:t>: it wraps any layer and applies it at every time step of its input sequence.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It does this efficiently, by </a:t>
            </a:r>
            <a:r>
              <a:rPr lang="en-US" b="1" dirty="0">
                <a:highlight>
                  <a:srgbClr val="FFFF00"/>
                </a:highlight>
              </a:rPr>
              <a:t>reshaping the inputs</a:t>
            </a:r>
            <a:r>
              <a:rPr lang="en-US" dirty="0">
                <a:highlight>
                  <a:srgbClr val="FFFF00"/>
                </a:highlight>
              </a:rPr>
              <a:t> so that </a:t>
            </a:r>
            <a:r>
              <a:rPr lang="en-US" b="1" u="sng" dirty="0">
                <a:highlight>
                  <a:srgbClr val="FFFF00"/>
                </a:highlight>
              </a:rPr>
              <a:t>each time step is treated as a separate instance</a:t>
            </a:r>
            <a:r>
              <a:rPr lang="en-US" dirty="0"/>
              <a:t> (i.e., it reshapes the inputs </a:t>
            </a:r>
            <a:r>
              <a:rPr lang="en-US" dirty="0">
                <a:highlight>
                  <a:srgbClr val="FFFF00"/>
                </a:highlight>
              </a:rPr>
              <a:t>from [</a:t>
            </a:r>
            <a:r>
              <a:rPr lang="en-US" i="1" dirty="0">
                <a:highlight>
                  <a:srgbClr val="FFFF00"/>
                </a:highlight>
              </a:rPr>
              <a:t>batch size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i="1" dirty="0">
                <a:highlight>
                  <a:srgbClr val="FFFF00"/>
                </a:highlight>
              </a:rPr>
              <a:t>time steps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i="1" dirty="0">
                <a:highlight>
                  <a:srgbClr val="FFFF00"/>
                </a:highlight>
              </a:rPr>
              <a:t>input dimensions</a:t>
            </a:r>
            <a:r>
              <a:rPr lang="en-US" dirty="0">
                <a:highlight>
                  <a:srgbClr val="FFFF00"/>
                </a:highlight>
              </a:rPr>
              <a:t>] to [</a:t>
            </a:r>
            <a:r>
              <a:rPr lang="en-US" i="1" dirty="0">
                <a:highlight>
                  <a:srgbClr val="FFFF00"/>
                </a:highlight>
              </a:rPr>
              <a:t>batch size </a:t>
            </a:r>
            <a:r>
              <a:rPr lang="en-US" dirty="0">
                <a:highlight>
                  <a:srgbClr val="FFFF00"/>
                </a:highlight>
              </a:rPr>
              <a:t>× </a:t>
            </a:r>
            <a:r>
              <a:rPr lang="en-US" i="1" dirty="0">
                <a:highlight>
                  <a:srgbClr val="FFFF00"/>
                </a:highlight>
              </a:rPr>
              <a:t>time steps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i="1" dirty="0">
                <a:highlight>
                  <a:srgbClr val="FFFF00"/>
                </a:highlight>
              </a:rPr>
              <a:t>input dimensions</a:t>
            </a:r>
            <a:r>
              <a:rPr lang="en-US" dirty="0">
                <a:highlight>
                  <a:srgbClr val="FFFF00"/>
                </a:highlight>
              </a:rPr>
              <a:t>]</a:t>
            </a:r>
            <a:r>
              <a:rPr lang="en-US" dirty="0"/>
              <a:t>;</a:t>
            </a:r>
          </a:p>
          <a:p>
            <a:pPr lvl="2"/>
            <a:r>
              <a:rPr lang="en-US" dirty="0"/>
              <a:t>in this example, the number of </a:t>
            </a:r>
            <a:r>
              <a:rPr lang="en-US" b="1" dirty="0">
                <a:highlight>
                  <a:srgbClr val="FFFF00"/>
                </a:highlight>
              </a:rPr>
              <a:t>input dimensions is 20 because the previous </a:t>
            </a:r>
            <a:r>
              <a:rPr lang="en-US" b="1" dirty="0" err="1">
                <a:highlight>
                  <a:srgbClr val="FFFF00"/>
                </a:highlight>
              </a:rPr>
              <a:t>SimpleRNN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en-US" dirty="0">
                <a:highlight>
                  <a:srgbClr val="FFFF00"/>
                </a:highlight>
              </a:rPr>
              <a:t>layer has </a:t>
            </a:r>
            <a:r>
              <a:rPr lang="en-US" b="1" dirty="0">
                <a:highlight>
                  <a:srgbClr val="FFFF00"/>
                </a:highlight>
              </a:rPr>
              <a:t>20 units</a:t>
            </a:r>
            <a:r>
              <a:rPr lang="en-US" dirty="0">
                <a:highlight>
                  <a:srgbClr val="FFFF00"/>
                </a:highlight>
              </a:rPr>
              <a:t>)</a:t>
            </a:r>
            <a:r>
              <a:rPr lang="en-US" dirty="0"/>
              <a:t>, then it runs the Dense layer, and </a:t>
            </a:r>
            <a:r>
              <a:rPr lang="en-US" dirty="0">
                <a:highlight>
                  <a:srgbClr val="FFFF00"/>
                </a:highlight>
              </a:rPr>
              <a:t>finally it </a:t>
            </a:r>
            <a:r>
              <a:rPr lang="en-US" b="1" u="sng" dirty="0">
                <a:highlight>
                  <a:srgbClr val="FFFF00"/>
                </a:highlight>
              </a:rPr>
              <a:t>reshapes the outputs back to sequences </a:t>
            </a:r>
            <a:r>
              <a:rPr lang="en-US" dirty="0">
                <a:highlight>
                  <a:srgbClr val="FFFF00"/>
                </a:highlight>
              </a:rPr>
              <a:t>(i.e., it </a:t>
            </a:r>
            <a:r>
              <a:rPr lang="en-US" b="1" dirty="0">
                <a:highlight>
                  <a:srgbClr val="FFFF00"/>
                </a:highlight>
              </a:rPr>
              <a:t>reshapes the outputs </a:t>
            </a:r>
            <a:r>
              <a:rPr lang="en-US" dirty="0"/>
              <a:t>from [</a:t>
            </a:r>
            <a:r>
              <a:rPr lang="en-US" i="1" dirty="0"/>
              <a:t>batch size </a:t>
            </a:r>
            <a:r>
              <a:rPr lang="en-US" dirty="0"/>
              <a:t>× </a:t>
            </a:r>
            <a:r>
              <a:rPr lang="en-US" i="1" dirty="0"/>
              <a:t>time steps</a:t>
            </a:r>
            <a:r>
              <a:rPr lang="en-US" dirty="0"/>
              <a:t>, </a:t>
            </a:r>
            <a:r>
              <a:rPr lang="en-US" i="1" dirty="0"/>
              <a:t>output dimensions</a:t>
            </a:r>
            <a:r>
              <a:rPr lang="en-US" dirty="0"/>
              <a:t>] to [</a:t>
            </a:r>
            <a:r>
              <a:rPr lang="en-US" i="1" dirty="0"/>
              <a:t>batch size</a:t>
            </a:r>
            <a:r>
              <a:rPr lang="en-US" dirty="0"/>
              <a:t>, </a:t>
            </a:r>
            <a:r>
              <a:rPr lang="en-US" i="1" dirty="0"/>
              <a:t>time steps</a:t>
            </a:r>
            <a:r>
              <a:rPr lang="en-US" dirty="0"/>
              <a:t>, </a:t>
            </a:r>
            <a:r>
              <a:rPr lang="en-US" i="1" dirty="0"/>
              <a:t>output dimensions</a:t>
            </a:r>
            <a:r>
              <a:rPr lang="en-US" dirty="0"/>
              <a:t>]; in this example the number of </a:t>
            </a:r>
            <a:r>
              <a:rPr lang="en-US" b="1" dirty="0">
                <a:highlight>
                  <a:srgbClr val="FFFF00"/>
                </a:highlight>
              </a:rPr>
              <a:t>output dimensions is 10, since the Dense layer has 10 units</a:t>
            </a:r>
            <a:r>
              <a:rPr lang="en-US" dirty="0">
                <a:highlight>
                  <a:srgbClr val="FFFF00"/>
                </a:highlight>
              </a:rPr>
              <a:t>).</a:t>
            </a:r>
          </a:p>
          <a:p>
            <a:r>
              <a:rPr lang="en-US" dirty="0"/>
              <a:t>Here is the updated model: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91519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sequence-to-sequence RNN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250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616" y="2986112"/>
            <a:ext cx="9098041" cy="13984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576341" y="3575154"/>
            <a:ext cx="2211049" cy="194872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226746" y="3852710"/>
            <a:ext cx="2211049" cy="194872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40793" y="4436696"/>
            <a:ext cx="3088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This</a:t>
            </a:r>
            <a:r>
              <a:rPr lang="it-IT" dirty="0"/>
              <a:t> layer now works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frame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4948815" y="4182519"/>
            <a:ext cx="1155559" cy="326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FB44A9F-16C6-EF6E-3817-3C14B6311856}"/>
              </a:ext>
            </a:extLst>
          </p:cNvPr>
          <p:cNvSpPr txBox="1"/>
          <p:nvPr/>
        </p:nvSpPr>
        <p:spPr>
          <a:xfrm>
            <a:off x="3226746" y="5865541"/>
            <a:ext cx="1722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«</a:t>
            </a:r>
            <a:r>
              <a:rPr lang="it-IT" sz="1400" dirty="0" err="1"/>
              <a:t>TimeDistributed</a:t>
            </a:r>
            <a:r>
              <a:rPr lang="it-IT" sz="1400" dirty="0"/>
              <a:t>» can be </a:t>
            </a:r>
            <a:r>
              <a:rPr lang="it-IT" sz="1400" dirty="0" err="1"/>
              <a:t>omitted</a:t>
            </a:r>
            <a:endParaRPr lang="en-GB" sz="1400" dirty="0"/>
          </a:p>
        </p:txBody>
      </p:sp>
      <p:cxnSp>
        <p:nvCxnSpPr>
          <p:cNvPr id="12" name="Straight Arrow Connector 8">
            <a:extLst>
              <a:ext uri="{FF2B5EF4-FFF2-40B4-BE49-F238E27FC236}">
                <a16:creationId xmlns:a16="http://schemas.microsoft.com/office/drawing/2014/main" id="{A37D3628-DB02-D49E-BE62-12188BB0E324}"/>
              </a:ext>
            </a:extLst>
          </p:cNvPr>
          <p:cNvCxnSpPr>
            <a:cxnSpLocks/>
          </p:cNvCxnSpPr>
          <p:nvPr/>
        </p:nvCxnSpPr>
        <p:spPr>
          <a:xfrm flipV="1">
            <a:off x="3657600" y="4047582"/>
            <a:ext cx="674670" cy="1693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EFCFBD1-A2B5-B804-E9C8-80DE20EFCFF5}"/>
              </a:ext>
            </a:extLst>
          </p:cNvPr>
          <p:cNvSpPr txBox="1"/>
          <p:nvPr/>
        </p:nvSpPr>
        <p:spPr>
          <a:xfrm>
            <a:off x="8590663" y="5436159"/>
            <a:ext cx="3088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highlight>
                  <a:srgbClr val="FFFF00"/>
                </a:highlight>
              </a:rPr>
              <a:t>I </a:t>
            </a:r>
            <a:r>
              <a:rPr lang="it-IT" b="1" dirty="0" err="1">
                <a:highlight>
                  <a:srgbClr val="FFFF00"/>
                </a:highlight>
              </a:rPr>
              <a:t>have</a:t>
            </a:r>
            <a:r>
              <a:rPr lang="it-IT" b="1" dirty="0">
                <a:highlight>
                  <a:srgbClr val="FFFF00"/>
                </a:highlight>
              </a:rPr>
              <a:t> </a:t>
            </a:r>
            <a:r>
              <a:rPr lang="it-IT" b="1" dirty="0" err="1">
                <a:highlight>
                  <a:srgbClr val="FFFF00"/>
                </a:highlight>
              </a:rPr>
              <a:t>also</a:t>
            </a:r>
            <a:r>
              <a:rPr lang="it-IT" b="1" dirty="0">
                <a:highlight>
                  <a:srgbClr val="FFFF00"/>
                </a:highlight>
              </a:rPr>
              <a:t> to update the target </a:t>
            </a:r>
            <a:r>
              <a:rPr lang="it-IT" b="1" dirty="0" err="1">
                <a:highlight>
                  <a:srgbClr val="FFFF00"/>
                </a:highlight>
              </a:rPr>
              <a:t>tensor</a:t>
            </a:r>
            <a:r>
              <a:rPr lang="it-IT" b="1" dirty="0">
                <a:highlight>
                  <a:srgbClr val="FFFF00"/>
                </a:highlight>
              </a:rPr>
              <a:t>! (10 </a:t>
            </a:r>
            <a:r>
              <a:rPr lang="it-IT" b="1" dirty="0" err="1">
                <a:highlight>
                  <a:srgbClr val="FFFF00"/>
                </a:highlight>
              </a:rPr>
              <a:t>values</a:t>
            </a:r>
            <a:r>
              <a:rPr lang="it-IT" b="1" dirty="0">
                <a:highlight>
                  <a:srgbClr val="FFFF00"/>
                </a:highlight>
              </a:rPr>
              <a:t> </a:t>
            </a:r>
            <a:r>
              <a:rPr lang="it-IT" b="1" dirty="0" err="1">
                <a:highlight>
                  <a:srgbClr val="FFFF00"/>
                </a:highlight>
              </a:rPr>
              <a:t>at</a:t>
            </a:r>
            <a:r>
              <a:rPr lang="it-IT" b="1" dirty="0">
                <a:highlight>
                  <a:srgbClr val="FFFF00"/>
                </a:highlight>
              </a:rPr>
              <a:t> </a:t>
            </a:r>
            <a:r>
              <a:rPr lang="it-IT" b="1" dirty="0" err="1">
                <a:highlight>
                  <a:srgbClr val="FFFF00"/>
                </a:highlight>
              </a:rPr>
              <a:t>each</a:t>
            </a:r>
            <a:r>
              <a:rPr lang="it-IT" b="1" dirty="0">
                <a:highlight>
                  <a:srgbClr val="FFFF00"/>
                </a:highlight>
              </a:rPr>
              <a:t> time step)</a:t>
            </a:r>
            <a:endParaRPr lang="en-GB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50701218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Custom metrics for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All outputs </a:t>
            </a:r>
            <a:r>
              <a:rPr lang="en-US" dirty="0"/>
              <a:t>are needed during </a:t>
            </a:r>
            <a:r>
              <a:rPr lang="en-US" b="1" dirty="0"/>
              <a:t>training</a:t>
            </a:r>
            <a:r>
              <a:rPr lang="en-US" dirty="0"/>
              <a:t>, but </a:t>
            </a:r>
            <a:r>
              <a:rPr lang="en-US" b="1" dirty="0">
                <a:highlight>
                  <a:srgbClr val="FFFF00"/>
                </a:highlight>
              </a:rPr>
              <a:t>only the output at the last time step</a:t>
            </a:r>
            <a:r>
              <a:rPr lang="en-US" dirty="0">
                <a:highlight>
                  <a:srgbClr val="FFFF00"/>
                </a:highlight>
              </a:rPr>
              <a:t> is useful for </a:t>
            </a:r>
            <a:r>
              <a:rPr lang="en-US" b="1" dirty="0">
                <a:highlight>
                  <a:srgbClr val="FFFF00"/>
                </a:highlight>
              </a:rPr>
              <a:t>predictions</a:t>
            </a:r>
            <a:r>
              <a:rPr lang="en-US" dirty="0">
                <a:highlight>
                  <a:srgbClr val="FFFF00"/>
                </a:highlight>
              </a:rPr>
              <a:t> and for </a:t>
            </a:r>
            <a:r>
              <a:rPr lang="en-US" b="1" dirty="0">
                <a:highlight>
                  <a:srgbClr val="FFFF00"/>
                </a:highlight>
              </a:rPr>
              <a:t>evaluation</a:t>
            </a:r>
            <a:r>
              <a:rPr lang="en-US" dirty="0"/>
              <a:t>.</a:t>
            </a:r>
          </a:p>
          <a:p>
            <a:r>
              <a:rPr lang="en-US" dirty="0"/>
              <a:t>So although we will rely on the MSE over all the outputs for training, we will use a </a:t>
            </a:r>
            <a:r>
              <a:rPr lang="en-US" b="1" dirty="0"/>
              <a:t>custom metric for evaluation</a:t>
            </a:r>
            <a:r>
              <a:rPr lang="en-US" dirty="0"/>
              <a:t>, </a:t>
            </a:r>
            <a:r>
              <a:rPr lang="en-US" b="1" dirty="0"/>
              <a:t>to only compute the MSE over the output at the last time step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23351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Custom metrics for 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252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710999" y="2761002"/>
            <a:ext cx="8470199" cy="2113593"/>
            <a:chOff x="3354360" y="2918447"/>
            <a:chExt cx="3567448" cy="58159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4360" y="2918447"/>
              <a:ext cx="3438659" cy="27141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4360" y="3189859"/>
              <a:ext cx="3567448" cy="310185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>
          <a:xfrm>
            <a:off x="9537583" y="2530994"/>
            <a:ext cx="1618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Take only the last step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032567" y="2256733"/>
            <a:ext cx="2582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[Samples, steps, 10]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7032568" y="2677032"/>
            <a:ext cx="448430" cy="6037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937736" y="3567959"/>
            <a:ext cx="2155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highlight>
                  <a:srgbClr val="FFFF00"/>
                </a:highlight>
              </a:rPr>
              <a:t>Remains a matrix of [batch, 10 targets]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9370194" y="2906829"/>
            <a:ext cx="279132" cy="3473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8798390" y="3643915"/>
            <a:ext cx="1077024" cy="1874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84AA355E-ED63-C4B9-88F8-D772B3ECEB8A}"/>
              </a:ext>
            </a:extLst>
          </p:cNvPr>
          <p:cNvSpPr/>
          <p:nvPr/>
        </p:nvSpPr>
        <p:spPr>
          <a:xfrm>
            <a:off x="3657600" y="3330239"/>
            <a:ext cx="725621" cy="218276"/>
          </a:xfrm>
          <a:prstGeom prst="rect">
            <a:avLst/>
          </a:prstGeom>
          <a:solidFill>
            <a:srgbClr val="FFFF00">
              <a:alpha val="47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5D97FD19-405F-BC03-C738-E5FFE0A0FC14}"/>
              </a:ext>
            </a:extLst>
          </p:cNvPr>
          <p:cNvCxnSpPr/>
          <p:nvPr/>
        </p:nvCxnSpPr>
        <p:spPr>
          <a:xfrm>
            <a:off x="3917244" y="3177325"/>
            <a:ext cx="4693356" cy="1157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231179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Building an LSTM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253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23" y="2750259"/>
            <a:ext cx="8131489" cy="135748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B42B5FD8-03C3-BC7F-9813-A86EC1F585CA}"/>
              </a:ext>
            </a:extLst>
          </p:cNvPr>
          <p:cNvSpPr txBox="1"/>
          <p:nvPr/>
        </p:nvSpPr>
        <p:spPr>
          <a:xfrm>
            <a:off x="807707" y="1852458"/>
            <a:ext cx="8801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In </a:t>
            </a:r>
            <a:r>
              <a:rPr lang="en-US" sz="1800" dirty="0" err="1"/>
              <a:t>Keras</a:t>
            </a:r>
            <a:r>
              <a:rPr lang="en-US" sz="1800" dirty="0"/>
              <a:t>, you can simply use the </a:t>
            </a:r>
            <a:r>
              <a:rPr lang="en-US" sz="1800" b="1" dirty="0"/>
              <a:t>LSTM layer instead of the </a:t>
            </a:r>
            <a:r>
              <a:rPr lang="en-US" sz="1800" b="1" dirty="0" err="1"/>
              <a:t>SimpleRNN</a:t>
            </a:r>
            <a:r>
              <a:rPr lang="en-US" sz="1800" b="1" dirty="0"/>
              <a:t> layer</a:t>
            </a:r>
            <a:r>
              <a:rPr lang="en-US" sz="1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64616698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Sfaccettatura</Template>
  <TotalTime>8866</TotalTime>
  <Words>21711</Words>
  <Application>Microsoft Office PowerPoint</Application>
  <PresentationFormat>Widescreen</PresentationFormat>
  <Paragraphs>3830</Paragraphs>
  <Slides>253</Slides>
  <Notes>77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253</vt:i4>
      </vt:variant>
    </vt:vector>
  </HeadingPairs>
  <TitlesOfParts>
    <vt:vector size="261" baseType="lpstr">
      <vt:lpstr>Aptos</vt:lpstr>
      <vt:lpstr>Aptos Display</vt:lpstr>
      <vt:lpstr>Arial</vt:lpstr>
      <vt:lpstr>Courier New</vt:lpstr>
      <vt:lpstr>Times New Roman</vt:lpstr>
      <vt:lpstr>Trebuchet MS</vt:lpstr>
      <vt:lpstr>Wingdings 3</vt:lpstr>
      <vt:lpstr>Sfaccettatura</vt:lpstr>
      <vt:lpstr>Lecture 4 — Recurrent Neural Networks for Temporal Data</vt:lpstr>
      <vt:lpstr>Outline</vt:lpstr>
      <vt:lpstr>Block 4.A — From Engineered Temporal Features to Learned State</vt:lpstr>
      <vt:lpstr>From manually designed features to learned temporal representations</vt:lpstr>
      <vt:lpstr>Presentazione standard di PowerPoint</vt:lpstr>
      <vt:lpstr>A sequence contains information that evolves over time</vt:lpstr>
      <vt:lpstr>Sequential processing</vt:lpstr>
      <vt:lpstr>Presentazione standard di PowerPoint</vt:lpstr>
      <vt:lpstr>A recurrent neuron (left) unrolled through time (right)</vt:lpstr>
      <vt:lpstr>A layer of recurrent neurons (left) unrolled through time (right)</vt:lpstr>
      <vt:lpstr>What is the hidden state?</vt:lpstr>
      <vt:lpstr>Presentazione standard di PowerPoint</vt:lpstr>
      <vt:lpstr>Recurrent processing introduces memory</vt:lpstr>
      <vt:lpstr>Recurrent processing introduces memory</vt:lpstr>
      <vt:lpstr>Presentazione standard di PowerPoint</vt:lpstr>
      <vt:lpstr>Terminology used in recurrent networks</vt:lpstr>
      <vt:lpstr>Presentazione standard di PowerPoint</vt:lpstr>
      <vt:lpstr>Block 4.B — Simple Recurrent Neural Network</vt:lpstr>
      <vt:lpstr>The simplest recurrent neural network </vt:lpstr>
      <vt:lpstr>Presentazione standard di PowerPoint</vt:lpstr>
      <vt:lpstr>The same parameters are reused at every time step</vt:lpstr>
      <vt:lpstr>Consequences</vt:lpstr>
      <vt:lpstr>Presentazione standard di PowerPoint</vt:lpstr>
      <vt:lpstr>Presentazione standard di PowerPoint</vt:lpstr>
      <vt:lpstr>Initial hidden state</vt:lpstr>
      <vt:lpstr>Presentazione standard di PowerPoint</vt:lpstr>
      <vt:lpstr>From hidden state to prediction</vt:lpstr>
      <vt:lpstr>From hidden state to prediction</vt:lpstr>
      <vt:lpstr>Presentazione standard di PowerPoint</vt:lpstr>
      <vt:lpstr>Input tensor shape</vt:lpstr>
      <vt:lpstr>Presentazione standard di PowerPoint</vt:lpstr>
      <vt:lpstr>Hidden-state shape</vt:lpstr>
      <vt:lpstr>Presentazione standard di PowerPoint</vt:lpstr>
      <vt:lpstr>Parameter dimensions</vt:lpstr>
      <vt:lpstr>Presentazione standard di PowerPoint</vt:lpstr>
      <vt:lpstr>What can the hidden state learn?</vt:lpstr>
      <vt:lpstr>What can the hidden state learn?</vt:lpstr>
      <vt:lpstr>Presentazione standard di PowerPoint</vt:lpstr>
      <vt:lpstr>SimpleRNN creates a chain of temporal dependence</vt:lpstr>
      <vt:lpstr>Presentazione standard di PowerPoint</vt:lpstr>
      <vt:lpstr>Next questions </vt:lpstr>
      <vt:lpstr>Block 4.C — Recurrent Output Structures</vt:lpstr>
      <vt:lpstr>A recurrent layer can produce different output structures</vt:lpstr>
      <vt:lpstr>A recurrent layer can produce different output structures</vt:lpstr>
      <vt:lpstr>Presentazione standard di PowerPoint</vt:lpstr>
      <vt:lpstr>Sequence-to-vector: one prediction from a sequence</vt:lpstr>
      <vt:lpstr>Sequence-to-vector: one prediction from a sequence</vt:lpstr>
      <vt:lpstr>Presentazione standard di PowerPoint</vt:lpstr>
      <vt:lpstr>Is the final hidden state a summary of the sequence?</vt:lpstr>
      <vt:lpstr>Presentazione standard di PowerPoint</vt:lpstr>
      <vt:lpstr>Sequence-to-sequence: one output at every time step</vt:lpstr>
      <vt:lpstr>Sequence-to-sequence: one output at every time step</vt:lpstr>
      <vt:lpstr>Presentazione standard di PowerPoint</vt:lpstr>
      <vt:lpstr>Causal sequence labelling</vt:lpstr>
      <vt:lpstr>Causal sequence labelling</vt:lpstr>
      <vt:lpstr>Presentazione standard di PowerPoint</vt:lpstr>
      <vt:lpstr>Multi-horizon forecasting from a recurrent representation</vt:lpstr>
      <vt:lpstr>Multi-horizon forecasting from a recurrent representation</vt:lpstr>
      <vt:lpstr>Presentazione standard di PowerPoint</vt:lpstr>
      <vt:lpstr>Output structure should follow the task</vt:lpstr>
      <vt:lpstr>Block 4.D — Training Recurrent Networks Through Time</vt:lpstr>
      <vt:lpstr>Training still starts from a loss function</vt:lpstr>
      <vt:lpstr>Presentazione standard di PowerPoint</vt:lpstr>
      <vt:lpstr>Loss for sequence-to-vector tasks</vt:lpstr>
      <vt:lpstr>Loss for sequence-to-vector tasks</vt:lpstr>
      <vt:lpstr>Backpropagation Through Time</vt:lpstr>
      <vt:lpstr>Loss for sequence-to-sequence tasks</vt:lpstr>
      <vt:lpstr>Loss for sequence-to-sequence tasks</vt:lpstr>
      <vt:lpstr>Unrolling converts recurrence into a computational graph</vt:lpstr>
      <vt:lpstr>Unrolling converts recurrence into a computational graph</vt:lpstr>
      <vt:lpstr>Backpropagation Through Time</vt:lpstr>
      <vt:lpstr>Backpropagation Through Time</vt:lpstr>
      <vt:lpstr>Presentazione standard di PowerPoint</vt:lpstr>
      <vt:lpstr>Presentazione standard di PowerPoint</vt:lpstr>
      <vt:lpstr>Why early observations can influence the final loss</vt:lpstr>
      <vt:lpstr>Why early observations can influence the final loss</vt:lpstr>
      <vt:lpstr>Presentazione standard di PowerPoint</vt:lpstr>
      <vt:lpstr>Repeated multiplication occurs during gradient propagation</vt:lpstr>
      <vt:lpstr>Repeated multiplication occurs during gradient propagation</vt:lpstr>
      <vt:lpstr>Presentazione standard di PowerPoint</vt:lpstr>
      <vt:lpstr>Vanishing gradient issue</vt:lpstr>
      <vt:lpstr>Sequence length affects computational depth</vt:lpstr>
      <vt:lpstr>Presentazione standard di PowerPoint</vt:lpstr>
      <vt:lpstr>Truncated Backpropagation Through Time</vt:lpstr>
      <vt:lpstr>Truncated Backpropagation Through Time</vt:lpstr>
      <vt:lpstr>Presentazione standard di PowerPoint</vt:lpstr>
      <vt:lpstr>BPTT does not solve the long-memory problem</vt:lpstr>
      <vt:lpstr>Presentazione standard di PowerPoint</vt:lpstr>
      <vt:lpstr>Next block </vt:lpstr>
      <vt:lpstr>Block 4.E — Why SimpleRNN Struggles with Long Dependencies</vt:lpstr>
      <vt:lpstr>Long dependencies require information to survive many state updates</vt:lpstr>
      <vt:lpstr>Presentazione standard di PowerPoint</vt:lpstr>
      <vt:lpstr>The gradient is repeatedly transformed through time</vt:lpstr>
      <vt:lpstr>Presentazione standard di PowerPoint</vt:lpstr>
      <vt:lpstr>Vanishing gradients</vt:lpstr>
      <vt:lpstr>Presentazione standard di PowerPoint</vt:lpstr>
      <vt:lpstr>Why tanh contributes to vanishing gradients</vt:lpstr>
      <vt:lpstr>Presentazione standard di PowerPoint</vt:lpstr>
      <vt:lpstr>Exploding gradients</vt:lpstr>
      <vt:lpstr>Gradient clipping</vt:lpstr>
      <vt:lpstr>Presentazione standard di PowerPoint</vt:lpstr>
      <vt:lpstr>Truncated BPTT reduces computational depth</vt:lpstr>
      <vt:lpstr>Presentazione standard di PowerPoint</vt:lpstr>
      <vt:lpstr>Regularization and normalization can improve training</vt:lpstr>
      <vt:lpstr>Regularization and normalization can improve training</vt:lpstr>
      <vt:lpstr>The SimpleRNN memory is overwritten at every step</vt:lpstr>
      <vt:lpstr>The SimpleRNN memory is overwritten at every step</vt:lpstr>
      <vt:lpstr>Presentazione standard di PowerPoint</vt:lpstr>
      <vt:lpstr>From SimpleRNN to gated memory</vt:lpstr>
      <vt:lpstr>Presentazione standard di PowerPoint</vt:lpstr>
      <vt:lpstr>Block 4.F — Long Short-Term Memory Networks</vt:lpstr>
      <vt:lpstr>LSTM introduces a controlled memory pathway</vt:lpstr>
      <vt:lpstr>Exposed hidden state h[t] and internal cell state c[t]</vt:lpstr>
      <vt:lpstr>LSTM introduces a controlled memory pathway</vt:lpstr>
      <vt:lpstr>Presentazione standard di PowerPoint</vt:lpstr>
      <vt:lpstr>What is a gate?</vt:lpstr>
      <vt:lpstr>What is a gate?</vt:lpstr>
      <vt:lpstr>Presentazione standard di PowerPoint</vt:lpstr>
      <vt:lpstr>The forget gate</vt:lpstr>
      <vt:lpstr>The forget gate</vt:lpstr>
      <vt:lpstr>The input gate: should new information be stored?</vt:lpstr>
      <vt:lpstr>The input gate: should new information be stored?</vt:lpstr>
      <vt:lpstr>Candidate memory (g[t])</vt:lpstr>
      <vt:lpstr>Updating the cell state</vt:lpstr>
      <vt:lpstr>Presentazione standard di PowerPoint</vt:lpstr>
      <vt:lpstr>The output (of an LSTM state) gate</vt:lpstr>
      <vt:lpstr>The output gate</vt:lpstr>
      <vt:lpstr>Complete LSTM update</vt:lpstr>
      <vt:lpstr>Complete LSTM update</vt:lpstr>
      <vt:lpstr>LSTM information flow</vt:lpstr>
      <vt:lpstr>LSTM information flow</vt:lpstr>
      <vt:lpstr>Presentazione standard di PowerPoint</vt:lpstr>
      <vt:lpstr>LSTM cell (flow of memories)</vt:lpstr>
      <vt:lpstr>Why LSTM helps with long-term dependencies</vt:lpstr>
      <vt:lpstr>Why LSTM helps with long-term dependencies</vt:lpstr>
      <vt:lpstr>Presentazione standard di PowerPoint</vt:lpstr>
      <vt:lpstr>Example: predictive maintenance</vt:lpstr>
      <vt:lpstr>Example: predictive maintenance</vt:lpstr>
      <vt:lpstr>Presentazione standard di PowerPoint</vt:lpstr>
      <vt:lpstr>LSTM still uses shared parameters across time</vt:lpstr>
      <vt:lpstr>LSTM still uses shared parameters across time</vt:lpstr>
      <vt:lpstr>LSTM parameter cost</vt:lpstr>
      <vt:lpstr>LSTM parameter cost</vt:lpstr>
      <vt:lpstr>Presentazione standard di PowerPoint</vt:lpstr>
      <vt:lpstr>LSTM output structures remain the same as for SimpleRNN</vt:lpstr>
      <vt:lpstr>What LSTM does and does not solve</vt:lpstr>
      <vt:lpstr>Block 4.G — Gated Recurrent Unit</vt:lpstr>
      <vt:lpstr>GRU: a simpler gated recurrent architecture</vt:lpstr>
      <vt:lpstr>GRU: a simpler gated recurrent architecture</vt:lpstr>
      <vt:lpstr>Presentazione standard di PowerPoint</vt:lpstr>
      <vt:lpstr>The recurrent state in a GRU</vt:lpstr>
      <vt:lpstr>The recurrent state in a GRU</vt:lpstr>
      <vt:lpstr>GRU uses two gates</vt:lpstr>
      <vt:lpstr>Presentazione standard di PowerPoint</vt:lpstr>
      <vt:lpstr>Candidate state</vt:lpstr>
      <vt:lpstr>The reset gate</vt:lpstr>
      <vt:lpstr>Presentazione standard di PowerPoint</vt:lpstr>
      <vt:lpstr>The update gate</vt:lpstr>
      <vt:lpstr>The update gate</vt:lpstr>
      <vt:lpstr>Presentazione standard di PowerPoint</vt:lpstr>
      <vt:lpstr>Updating the GRU hidden state</vt:lpstr>
      <vt:lpstr>Complete GRU update</vt:lpstr>
      <vt:lpstr>Presentazione standard di PowerPoint</vt:lpstr>
      <vt:lpstr>GRU cells</vt:lpstr>
      <vt:lpstr>Presentazione standard di PowerPoint</vt:lpstr>
      <vt:lpstr>When might GRU be attractive?</vt:lpstr>
      <vt:lpstr>Block 4.H — Recurrent Models for Forecasting</vt:lpstr>
      <vt:lpstr>Recurrent networks can transform history into a forecasting representation</vt:lpstr>
      <vt:lpstr>Recurrent networks can transform history into a forecasting representation</vt:lpstr>
      <vt:lpstr>Presentazione standard di PowerPoint</vt:lpstr>
      <vt:lpstr>One-step forecasting</vt:lpstr>
      <vt:lpstr>Presentazione standard di PowerPoint</vt:lpstr>
      <vt:lpstr>Recursive multi-step forecasting</vt:lpstr>
      <vt:lpstr>Presentazione standard di PowerPoint</vt:lpstr>
      <vt:lpstr>Error accumulation in recursive forecasting</vt:lpstr>
      <vt:lpstr>Error accumulation in recursive forecasting</vt:lpstr>
      <vt:lpstr>Presentazione standard di PowerPoint</vt:lpstr>
      <vt:lpstr>Direct multi-output forecasting</vt:lpstr>
      <vt:lpstr>Presentazione standard di PowerPoint</vt:lpstr>
      <vt:lpstr>Tensor shapes for multi-horizon forecasting</vt:lpstr>
      <vt:lpstr>Tensor shapes for multi-horizon forecasting</vt:lpstr>
      <vt:lpstr>Presentazione standard di PowerPoint</vt:lpstr>
      <vt:lpstr>Direct models can learn horizon-specific behavior</vt:lpstr>
      <vt:lpstr>Sequence-to-sequence forecasting</vt:lpstr>
      <vt:lpstr>Sequence-to-sequence forecasting</vt:lpstr>
      <vt:lpstr>Future-known covariates can be included</vt:lpstr>
      <vt:lpstr>Future-known covariates can be included</vt:lpstr>
      <vt:lpstr>Presentazione standard di PowerPoint</vt:lpstr>
      <vt:lpstr>Forecast error should be reported by horizon</vt:lpstr>
      <vt:lpstr>Presentazione standard di PowerPoint</vt:lpstr>
      <vt:lpstr>Compare recurrent forecasting with simple baselines</vt:lpstr>
      <vt:lpstr>Example</vt:lpstr>
      <vt:lpstr>Presentazione standard di PowerPoint</vt:lpstr>
      <vt:lpstr>Recurrent forecasting: strengths and limitations</vt:lpstr>
      <vt:lpstr>Final question</vt:lpstr>
      <vt:lpstr>Block 4.I — Practical Design Choices for Recurrent Models</vt:lpstr>
      <vt:lpstr>Recurrent architectures introduce several design choices (several are common for all timeseries models)</vt:lpstr>
      <vt:lpstr>Presentazione standard di PowerPoint</vt:lpstr>
      <vt:lpstr>Input-window length</vt:lpstr>
      <vt:lpstr>Input-window length</vt:lpstr>
      <vt:lpstr>Presentazione standard di PowerPoint</vt:lpstr>
      <vt:lpstr>Hidden-state dimension</vt:lpstr>
      <vt:lpstr>Presentazione standard di PowerPoint</vt:lpstr>
      <vt:lpstr>Stacked recurrent layers</vt:lpstr>
      <vt:lpstr>Stacked recurrent layers</vt:lpstr>
      <vt:lpstr>Presentazione standard di PowerPoint</vt:lpstr>
      <vt:lpstr>Dropout and recurrent regularization</vt:lpstr>
      <vt:lpstr>Dropout and recurrent regularization</vt:lpstr>
      <vt:lpstr>Presentazione standard di PowerPoint</vt:lpstr>
      <vt:lpstr>Batch size and sequence processing</vt:lpstr>
      <vt:lpstr>Batch size and sequence processing</vt:lpstr>
      <vt:lpstr>Presentazione standard di PowerPoint</vt:lpstr>
      <vt:lpstr>Model complexity should be evaluated as a system property</vt:lpstr>
      <vt:lpstr>Presentazione standard di PowerPoint</vt:lpstr>
      <vt:lpstr>Block 4.J — SimpleRNN, LSTM or GRU?</vt:lpstr>
      <vt:lpstr>Three recurrent cells, one common principle</vt:lpstr>
      <vt:lpstr>Presentazione standard di PowerPoint</vt:lpstr>
      <vt:lpstr>SimpleRNN</vt:lpstr>
      <vt:lpstr>LSTM</vt:lpstr>
      <vt:lpstr>GRU</vt:lpstr>
      <vt:lpstr>Presentazione standard di PowerPoint</vt:lpstr>
      <vt:lpstr>Presentazione standard di PowerPoint</vt:lpstr>
      <vt:lpstr>Block 4.K — Summary and Transition to Temporal Convolutions</vt:lpstr>
      <vt:lpstr>What recurrent networks add</vt:lpstr>
      <vt:lpstr>Evolution of recurrent architectures</vt:lpstr>
      <vt:lpstr>Evolution of recurrent architectures</vt:lpstr>
      <vt:lpstr>Presentazione standard di PowerPoint</vt:lpstr>
      <vt:lpstr>Recurrent networks can support many temporal tasks</vt:lpstr>
      <vt:lpstr>Presentazione standard di PowerPoint</vt:lpstr>
      <vt:lpstr>Strengths of recurrent models</vt:lpstr>
      <vt:lpstr>Limitations</vt:lpstr>
      <vt:lpstr>Limitations</vt:lpstr>
      <vt:lpstr>Presentazione standard di PowerPoint</vt:lpstr>
      <vt:lpstr>A different way to learn temporal patterns</vt:lpstr>
      <vt:lpstr>Presentazione standard di PowerPoint</vt:lpstr>
      <vt:lpstr>Transition: recurrence versus convolution</vt:lpstr>
      <vt:lpstr>Transition: recurrence versus convolution</vt:lpstr>
      <vt:lpstr>Presentazione standard di PowerPoint</vt:lpstr>
      <vt:lpstr>Code examples</vt:lpstr>
      <vt:lpstr>Baseline Metrics, naïve forecasting</vt:lpstr>
      <vt:lpstr>Linear regression</vt:lpstr>
      <vt:lpstr>Implementing a Simple RNN</vt:lpstr>
      <vt:lpstr>Deep RNN</vt:lpstr>
      <vt:lpstr>Dense output layer</vt:lpstr>
      <vt:lpstr>Forecasting 10 steps ahead</vt:lpstr>
      <vt:lpstr>Change the output (dense) layer</vt:lpstr>
      <vt:lpstr>Further improvement: from sequence-to-vector to sequence-to-sequence RNN</vt:lpstr>
      <vt:lpstr>From sequence-to-vector to sequence-to-sequence RNN</vt:lpstr>
      <vt:lpstr>Turning the model into sequence to sequence</vt:lpstr>
      <vt:lpstr>sequence-to-sequence RNN</vt:lpstr>
      <vt:lpstr>Custom metrics for evaluation</vt:lpstr>
      <vt:lpstr>Custom metrics for evaluation</vt:lpstr>
      <vt:lpstr>Building an LSTM network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Bellotti</dc:creator>
  <cp:lastModifiedBy>Francesco Bellotti</cp:lastModifiedBy>
  <cp:revision>1</cp:revision>
  <dcterms:created xsi:type="dcterms:W3CDTF">2026-08-14T14:19:44Z</dcterms:created>
  <dcterms:modified xsi:type="dcterms:W3CDTF">2026-10-09T13:28:29Z</dcterms:modified>
</cp:coreProperties>
</file>