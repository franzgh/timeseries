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2"/>
  </p:notesMasterIdLst>
  <p:sldIdLst>
    <p:sldId id="256" r:id="rId2"/>
    <p:sldId id="258" r:id="rId3"/>
    <p:sldId id="257" r:id="rId4"/>
    <p:sldId id="259" r:id="rId5"/>
    <p:sldId id="260" r:id="rId6"/>
    <p:sldId id="273" r:id="rId7"/>
    <p:sldId id="261" r:id="rId8"/>
    <p:sldId id="274" r:id="rId9"/>
    <p:sldId id="275" r:id="rId10"/>
    <p:sldId id="262" r:id="rId11"/>
    <p:sldId id="276" r:id="rId12"/>
    <p:sldId id="263" r:id="rId13"/>
    <p:sldId id="277" r:id="rId14"/>
    <p:sldId id="278" r:id="rId15"/>
    <p:sldId id="264" r:id="rId16"/>
    <p:sldId id="280" r:id="rId17"/>
    <p:sldId id="279" r:id="rId18"/>
    <p:sldId id="281" r:id="rId19"/>
    <p:sldId id="282" r:id="rId20"/>
    <p:sldId id="265" r:id="rId21"/>
    <p:sldId id="283" r:id="rId22"/>
    <p:sldId id="266" r:id="rId23"/>
    <p:sldId id="284" r:id="rId24"/>
    <p:sldId id="267" r:id="rId25"/>
    <p:sldId id="285" r:id="rId26"/>
    <p:sldId id="268" r:id="rId27"/>
    <p:sldId id="286" r:id="rId28"/>
    <p:sldId id="287" r:id="rId29"/>
    <p:sldId id="269" r:id="rId30"/>
    <p:sldId id="288" r:id="rId31"/>
    <p:sldId id="289" r:id="rId32"/>
    <p:sldId id="270" r:id="rId33"/>
    <p:sldId id="290" r:id="rId34"/>
    <p:sldId id="291" r:id="rId35"/>
    <p:sldId id="292" r:id="rId36"/>
    <p:sldId id="293" r:id="rId37"/>
    <p:sldId id="294" r:id="rId38"/>
    <p:sldId id="311" r:id="rId39"/>
    <p:sldId id="271" r:id="rId40"/>
    <p:sldId id="295" r:id="rId41"/>
    <p:sldId id="272" r:id="rId42"/>
    <p:sldId id="310" r:id="rId43"/>
    <p:sldId id="312" r:id="rId44"/>
    <p:sldId id="342" r:id="rId45"/>
    <p:sldId id="296" r:id="rId46"/>
    <p:sldId id="313" r:id="rId47"/>
    <p:sldId id="297" r:id="rId48"/>
    <p:sldId id="314" r:id="rId49"/>
    <p:sldId id="315" r:id="rId50"/>
    <p:sldId id="298" r:id="rId51"/>
    <p:sldId id="316" r:id="rId52"/>
    <p:sldId id="299" r:id="rId53"/>
    <p:sldId id="317" r:id="rId54"/>
    <p:sldId id="300" r:id="rId55"/>
    <p:sldId id="318" r:id="rId56"/>
    <p:sldId id="343" r:id="rId57"/>
    <p:sldId id="301" r:id="rId58"/>
    <p:sldId id="344" r:id="rId59"/>
    <p:sldId id="319" r:id="rId60"/>
    <p:sldId id="320" r:id="rId61"/>
    <p:sldId id="321" r:id="rId62"/>
    <p:sldId id="345" r:id="rId63"/>
    <p:sldId id="302" r:id="rId64"/>
    <p:sldId id="322" r:id="rId65"/>
    <p:sldId id="303" r:id="rId66"/>
    <p:sldId id="323" r:id="rId67"/>
    <p:sldId id="304" r:id="rId68"/>
    <p:sldId id="324" r:id="rId69"/>
    <p:sldId id="305" r:id="rId70"/>
    <p:sldId id="325" r:id="rId71"/>
    <p:sldId id="306" r:id="rId72"/>
    <p:sldId id="326" r:id="rId73"/>
    <p:sldId id="307" r:id="rId74"/>
    <p:sldId id="327" r:id="rId75"/>
    <p:sldId id="308" r:id="rId76"/>
    <p:sldId id="328" r:id="rId77"/>
    <p:sldId id="309" r:id="rId78"/>
    <p:sldId id="329" r:id="rId79"/>
    <p:sldId id="346" r:id="rId80"/>
    <p:sldId id="347" r:id="rId81"/>
    <p:sldId id="331" r:id="rId82"/>
    <p:sldId id="348" r:id="rId83"/>
    <p:sldId id="349" r:id="rId84"/>
    <p:sldId id="330" r:id="rId85"/>
    <p:sldId id="350" r:id="rId86"/>
    <p:sldId id="332" r:id="rId87"/>
    <p:sldId id="351" r:id="rId88"/>
    <p:sldId id="333" r:id="rId89"/>
    <p:sldId id="369" r:id="rId90"/>
    <p:sldId id="352" r:id="rId91"/>
    <p:sldId id="334" r:id="rId92"/>
    <p:sldId id="353" r:id="rId93"/>
    <p:sldId id="335" r:id="rId94"/>
    <p:sldId id="370" r:id="rId95"/>
    <p:sldId id="354" r:id="rId96"/>
    <p:sldId id="355" r:id="rId97"/>
    <p:sldId id="356" r:id="rId98"/>
    <p:sldId id="336" r:id="rId99"/>
    <p:sldId id="357" r:id="rId100"/>
    <p:sldId id="358" r:id="rId101"/>
    <p:sldId id="359" r:id="rId102"/>
    <p:sldId id="360" r:id="rId103"/>
    <p:sldId id="337" r:id="rId104"/>
    <p:sldId id="361" r:id="rId105"/>
    <p:sldId id="338" r:id="rId106"/>
    <p:sldId id="362" r:id="rId107"/>
    <p:sldId id="339" r:id="rId108"/>
    <p:sldId id="363" r:id="rId109"/>
    <p:sldId id="364" r:id="rId110"/>
    <p:sldId id="340" r:id="rId111"/>
    <p:sldId id="365" r:id="rId112"/>
    <p:sldId id="366" r:id="rId113"/>
    <p:sldId id="367" r:id="rId114"/>
    <p:sldId id="341" r:id="rId115"/>
    <p:sldId id="368" r:id="rId116"/>
    <p:sldId id="384" r:id="rId117"/>
    <p:sldId id="385" r:id="rId118"/>
    <p:sldId id="371" r:id="rId119"/>
    <p:sldId id="386" r:id="rId120"/>
    <p:sldId id="387" r:id="rId121"/>
    <p:sldId id="372" r:id="rId122"/>
    <p:sldId id="388" r:id="rId123"/>
    <p:sldId id="373" r:id="rId124"/>
    <p:sldId id="389" r:id="rId125"/>
    <p:sldId id="390" r:id="rId126"/>
    <p:sldId id="391" r:id="rId127"/>
    <p:sldId id="374" r:id="rId128"/>
    <p:sldId id="392" r:id="rId129"/>
    <p:sldId id="393" r:id="rId130"/>
    <p:sldId id="375" r:id="rId131"/>
    <p:sldId id="394" r:id="rId132"/>
    <p:sldId id="395" r:id="rId133"/>
    <p:sldId id="376" r:id="rId134"/>
    <p:sldId id="396" r:id="rId135"/>
    <p:sldId id="377" r:id="rId136"/>
    <p:sldId id="397" r:id="rId137"/>
    <p:sldId id="378" r:id="rId138"/>
    <p:sldId id="398" r:id="rId139"/>
    <p:sldId id="399" r:id="rId140"/>
    <p:sldId id="379" r:id="rId141"/>
    <p:sldId id="400" r:id="rId142"/>
    <p:sldId id="380" r:id="rId143"/>
    <p:sldId id="401" r:id="rId144"/>
    <p:sldId id="381" r:id="rId145"/>
    <p:sldId id="402" r:id="rId146"/>
    <p:sldId id="383" r:id="rId147"/>
    <p:sldId id="403" r:id="rId148"/>
    <p:sldId id="404" r:id="rId149"/>
    <p:sldId id="382" r:id="rId150"/>
    <p:sldId id="405" r:id="rId151"/>
    <p:sldId id="420" r:id="rId152"/>
    <p:sldId id="421" r:id="rId153"/>
    <p:sldId id="406" r:id="rId154"/>
    <p:sldId id="422" r:id="rId155"/>
    <p:sldId id="407" r:id="rId156"/>
    <p:sldId id="423" r:id="rId157"/>
    <p:sldId id="408" r:id="rId158"/>
    <p:sldId id="424" r:id="rId159"/>
    <p:sldId id="409" r:id="rId160"/>
    <p:sldId id="425" r:id="rId161"/>
    <p:sldId id="410" r:id="rId162"/>
    <p:sldId id="426" r:id="rId163"/>
    <p:sldId id="427" r:id="rId164"/>
    <p:sldId id="411" r:id="rId165"/>
    <p:sldId id="428" r:id="rId166"/>
    <p:sldId id="429" r:id="rId167"/>
    <p:sldId id="430" r:id="rId168"/>
    <p:sldId id="447" r:id="rId169"/>
    <p:sldId id="412" r:id="rId170"/>
    <p:sldId id="431" r:id="rId171"/>
    <p:sldId id="432" r:id="rId172"/>
    <p:sldId id="413" r:id="rId173"/>
    <p:sldId id="433" r:id="rId174"/>
    <p:sldId id="434" r:id="rId175"/>
    <p:sldId id="448" r:id="rId176"/>
    <p:sldId id="435" r:id="rId177"/>
    <p:sldId id="415" r:id="rId178"/>
    <p:sldId id="436" r:id="rId179"/>
    <p:sldId id="438" r:id="rId180"/>
    <p:sldId id="416" r:id="rId181"/>
    <p:sldId id="437" r:id="rId182"/>
    <p:sldId id="439" r:id="rId183"/>
    <p:sldId id="449" r:id="rId184"/>
    <p:sldId id="441" r:id="rId185"/>
    <p:sldId id="442" r:id="rId186"/>
    <p:sldId id="418" r:id="rId187"/>
    <p:sldId id="443" r:id="rId188"/>
    <p:sldId id="444" r:id="rId189"/>
    <p:sldId id="445" r:id="rId190"/>
    <p:sldId id="446" r:id="rId1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E2C34D-12FC-4B09-ABDB-E6CD26134D2E}" v="351" dt="2026-08-26T21:48:20.224"/>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8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heme" Target="theme/theme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microsoft.com/office/2016/11/relationships/changesInfo" Target="changesInfos/changesInfo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microsoft.com/office/2015/10/relationships/revisionInfo" Target="revisionInfo.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co Bellotti" userId="f453232b-f87d-4756-9d8b-c09bc835cc42" providerId="ADAL" clId="{C7FEA3FA-4936-41E1-B7FA-CA082069F7F7}"/>
    <pc:docChg chg="undo redo custSel addSld delSld modSld sldOrd">
      <pc:chgData name="Francesco Bellotti" userId="f453232b-f87d-4756-9d8b-c09bc835cc42" providerId="ADAL" clId="{C7FEA3FA-4936-41E1-B7FA-CA082069F7F7}" dt="2026-08-26T21:52:47.710" v="4239" actId="20577"/>
      <pc:docMkLst>
        <pc:docMk/>
      </pc:docMkLst>
      <pc:sldChg chg="modSp new mod">
        <pc:chgData name="Francesco Bellotti" userId="f453232b-f87d-4756-9d8b-c09bc835cc42" providerId="ADAL" clId="{C7FEA3FA-4936-41E1-B7FA-CA082069F7F7}" dt="2026-08-25T07:26:42.316" v="17" actId="20577"/>
        <pc:sldMkLst>
          <pc:docMk/>
          <pc:sldMk cId="173006075" sldId="256"/>
        </pc:sldMkLst>
        <pc:spChg chg="mod">
          <ac:chgData name="Francesco Bellotti" userId="f453232b-f87d-4756-9d8b-c09bc835cc42" providerId="ADAL" clId="{C7FEA3FA-4936-41E1-B7FA-CA082069F7F7}" dt="2026-08-25T07:26:42.316" v="17" actId="20577"/>
          <ac:spMkLst>
            <pc:docMk/>
            <pc:sldMk cId="173006075" sldId="256"/>
            <ac:spMk id="2" creationId="{C59718B4-5C5C-7C04-0A8D-A0CE7AF3CF6A}"/>
          </ac:spMkLst>
        </pc:spChg>
        <pc:spChg chg="mod">
          <ac:chgData name="Francesco Bellotti" userId="f453232b-f87d-4756-9d8b-c09bc835cc42" providerId="ADAL" clId="{C7FEA3FA-4936-41E1-B7FA-CA082069F7F7}" dt="2026-08-25T07:26:33.159" v="1"/>
          <ac:spMkLst>
            <pc:docMk/>
            <pc:sldMk cId="173006075" sldId="256"/>
            <ac:spMk id="3" creationId="{36521470-9599-D684-6922-93DA50833641}"/>
          </ac:spMkLst>
        </pc:spChg>
      </pc:sldChg>
      <pc:sldChg chg="modSp new mod">
        <pc:chgData name="Francesco Bellotti" userId="f453232b-f87d-4756-9d8b-c09bc835cc42" providerId="ADAL" clId="{C7FEA3FA-4936-41E1-B7FA-CA082069F7F7}" dt="2026-08-26T20:01:26.436" v="3475" actId="27636"/>
        <pc:sldMkLst>
          <pc:docMk/>
          <pc:sldMk cId="2379470649" sldId="257"/>
        </pc:sldMkLst>
        <pc:spChg chg="mod">
          <ac:chgData name="Francesco Bellotti" userId="f453232b-f87d-4756-9d8b-c09bc835cc42" providerId="ADAL" clId="{C7FEA3FA-4936-41E1-B7FA-CA082069F7F7}" dt="2026-08-25T07:26:55.428" v="40" actId="20577"/>
          <ac:spMkLst>
            <pc:docMk/>
            <pc:sldMk cId="2379470649" sldId="257"/>
            <ac:spMk id="2" creationId="{EB406819-5822-E3C5-484E-018C5EAE895D}"/>
          </ac:spMkLst>
        </pc:spChg>
        <pc:spChg chg="mod">
          <ac:chgData name="Francesco Bellotti" userId="f453232b-f87d-4756-9d8b-c09bc835cc42" providerId="ADAL" clId="{C7FEA3FA-4936-41E1-B7FA-CA082069F7F7}" dt="2026-08-26T20:01:26.436" v="3475" actId="27636"/>
          <ac:spMkLst>
            <pc:docMk/>
            <pc:sldMk cId="2379470649" sldId="257"/>
            <ac:spMk id="3" creationId="{FA104CF7-0148-A1A5-69A2-7D6381DF3708}"/>
          </ac:spMkLst>
        </pc:spChg>
      </pc:sldChg>
      <pc:sldChg chg="addSp delSp modSp new mod ord">
        <pc:chgData name="Francesco Bellotti" userId="f453232b-f87d-4756-9d8b-c09bc835cc42" providerId="ADAL" clId="{C7FEA3FA-4936-41E1-B7FA-CA082069F7F7}" dt="2026-08-25T07:27:59.135" v="78"/>
        <pc:sldMkLst>
          <pc:docMk/>
          <pc:sldMk cId="586455600" sldId="258"/>
        </pc:sldMkLst>
        <pc:spChg chg="mod">
          <ac:chgData name="Francesco Bellotti" userId="f453232b-f87d-4756-9d8b-c09bc835cc42" providerId="ADAL" clId="{C7FEA3FA-4936-41E1-B7FA-CA082069F7F7}" dt="2026-08-25T07:27:18.257" v="70" actId="20577"/>
          <ac:spMkLst>
            <pc:docMk/>
            <pc:sldMk cId="586455600" sldId="258"/>
            <ac:spMk id="2" creationId="{08B5DF27-35CE-A969-1BA3-EF305ADAA9CA}"/>
          </ac:spMkLst>
        </pc:spChg>
        <pc:picChg chg="add mod ord">
          <ac:chgData name="Francesco Bellotti" userId="f453232b-f87d-4756-9d8b-c09bc835cc42" providerId="ADAL" clId="{C7FEA3FA-4936-41E1-B7FA-CA082069F7F7}" dt="2026-08-25T07:27:30.201" v="74" actId="14100"/>
          <ac:picMkLst>
            <pc:docMk/>
            <pc:sldMk cId="586455600" sldId="258"/>
            <ac:picMk id="5" creationId="{FECFAAF6-A744-4523-42DA-704D33336E8E}"/>
          </ac:picMkLst>
        </pc:picChg>
      </pc:sldChg>
      <pc:sldChg chg="modSp new">
        <pc:chgData name="Francesco Bellotti" userId="f453232b-f87d-4756-9d8b-c09bc835cc42" providerId="ADAL" clId="{C7FEA3FA-4936-41E1-B7FA-CA082069F7F7}" dt="2026-08-25T07:27:55.089" v="76"/>
        <pc:sldMkLst>
          <pc:docMk/>
          <pc:sldMk cId="944786849" sldId="259"/>
        </pc:sldMkLst>
        <pc:spChg chg="mod">
          <ac:chgData name="Francesco Bellotti" userId="f453232b-f87d-4756-9d8b-c09bc835cc42" providerId="ADAL" clId="{C7FEA3FA-4936-41E1-B7FA-CA082069F7F7}" dt="2026-08-25T07:27:55.089" v="76"/>
          <ac:spMkLst>
            <pc:docMk/>
            <pc:sldMk cId="944786849" sldId="259"/>
            <ac:spMk id="2" creationId="{91FCACCD-E27D-2339-15C9-0AC8383A2488}"/>
          </ac:spMkLst>
        </pc:spChg>
      </pc:sldChg>
      <pc:sldChg chg="addSp modSp new mod modClrScheme chgLayout">
        <pc:chgData name="Francesco Bellotti" userId="f453232b-f87d-4756-9d8b-c09bc835cc42" providerId="ADAL" clId="{C7FEA3FA-4936-41E1-B7FA-CA082069F7F7}" dt="2026-08-25T07:43:51.644" v="131" actId="113"/>
        <pc:sldMkLst>
          <pc:docMk/>
          <pc:sldMk cId="326857511" sldId="260"/>
        </pc:sldMkLst>
        <pc:spChg chg="mod ord">
          <ac:chgData name="Francesco Bellotti" userId="f453232b-f87d-4756-9d8b-c09bc835cc42" providerId="ADAL" clId="{C7FEA3FA-4936-41E1-B7FA-CA082069F7F7}" dt="2026-08-25T07:42:26.721" v="87" actId="700"/>
          <ac:spMkLst>
            <pc:docMk/>
            <pc:sldMk cId="326857511" sldId="260"/>
            <ac:spMk id="2" creationId="{EB462C3E-0468-8B3E-42B2-7986F17DD3BB}"/>
          </ac:spMkLst>
        </pc:spChg>
        <pc:spChg chg="mod ord">
          <ac:chgData name="Francesco Bellotti" userId="f453232b-f87d-4756-9d8b-c09bc835cc42" providerId="ADAL" clId="{C7FEA3FA-4936-41E1-B7FA-CA082069F7F7}" dt="2026-08-25T07:43:47.907" v="129" actId="27636"/>
          <ac:spMkLst>
            <pc:docMk/>
            <pc:sldMk cId="326857511" sldId="260"/>
            <ac:spMk id="3" creationId="{0DCF7602-D679-EFF6-EAFF-7255DD0982F1}"/>
          </ac:spMkLst>
        </pc:spChg>
        <pc:spChg chg="add mod ord">
          <ac:chgData name="Francesco Bellotti" userId="f453232b-f87d-4756-9d8b-c09bc835cc42" providerId="ADAL" clId="{C7FEA3FA-4936-41E1-B7FA-CA082069F7F7}" dt="2026-08-25T07:43:51.644" v="131" actId="113"/>
          <ac:spMkLst>
            <pc:docMk/>
            <pc:sldMk cId="326857511" sldId="260"/>
            <ac:spMk id="4" creationId="{9D6EA011-9E12-A749-A69F-5E7670B21591}"/>
          </ac:spMkLst>
        </pc:spChg>
      </pc:sldChg>
      <pc:sldChg chg="modSp add mod setBg modNotes">
        <pc:chgData name="Francesco Bellotti" userId="f453232b-f87d-4756-9d8b-c09bc835cc42" providerId="ADAL" clId="{C7FEA3FA-4936-41E1-B7FA-CA082069F7F7}" dt="2026-08-25T07:45:10.948" v="134" actId="1076"/>
        <pc:sldMkLst>
          <pc:docMk/>
          <pc:sldMk cId="0" sldId="261"/>
        </pc:sldMkLst>
        <pc:spChg chg="mod">
          <ac:chgData name="Francesco Bellotti" userId="f453232b-f87d-4756-9d8b-c09bc835cc42" providerId="ADAL" clId="{C7FEA3FA-4936-41E1-B7FA-CA082069F7F7}" dt="2026-08-25T07:45:10.948" v="134" actId="1076"/>
          <ac:spMkLst>
            <pc:docMk/>
            <pc:sldMk cId="0" sldId="261"/>
            <ac:spMk id="44"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59"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61"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64"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65"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66"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68"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70"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73" creationId="{00000000-0000-0000-0000-000000000000}"/>
          </ac:spMkLst>
        </pc:spChg>
        <pc:spChg chg="mod">
          <ac:chgData name="Francesco Bellotti" userId="f453232b-f87d-4756-9d8b-c09bc835cc42" providerId="ADAL" clId="{C7FEA3FA-4936-41E1-B7FA-CA082069F7F7}" dt="2026-08-25T07:45:02.626" v="132" actId="1076"/>
          <ac:spMkLst>
            <pc:docMk/>
            <pc:sldMk cId="0" sldId="261"/>
            <ac:spMk id="76" creationId="{00000000-0000-0000-0000-000000000000}"/>
          </ac:spMkLst>
        </pc:spChg>
        <pc:spChg chg="mod">
          <ac:chgData name="Francesco Bellotti" userId="f453232b-f87d-4756-9d8b-c09bc835cc42" providerId="ADAL" clId="{C7FEA3FA-4936-41E1-B7FA-CA082069F7F7}" dt="2026-08-25T07:45:07.246" v="133" actId="1076"/>
          <ac:spMkLst>
            <pc:docMk/>
            <pc:sldMk cId="0" sldId="261"/>
            <ac:spMk id="78" creationId="{00000000-0000-0000-0000-000000000000}"/>
          </ac:spMkLst>
        </pc:spChg>
      </pc:sldChg>
      <pc:sldChg chg="modSp add mod setBg modNotes">
        <pc:chgData name="Francesco Bellotti" userId="f453232b-f87d-4756-9d8b-c09bc835cc42" providerId="ADAL" clId="{C7FEA3FA-4936-41E1-B7FA-CA082069F7F7}" dt="2026-08-25T07:49:42.779" v="190" actId="403"/>
        <pc:sldMkLst>
          <pc:docMk/>
          <pc:sldMk cId="0" sldId="262"/>
        </pc:sldMkLst>
        <pc:spChg chg="mod">
          <ac:chgData name="Francesco Bellotti" userId="f453232b-f87d-4756-9d8b-c09bc835cc42" providerId="ADAL" clId="{C7FEA3FA-4936-41E1-B7FA-CA082069F7F7}" dt="2026-08-25T07:49:15.607" v="186" actId="1076"/>
          <ac:spMkLst>
            <pc:docMk/>
            <pc:sldMk cId="0" sldId="262"/>
            <ac:spMk id="109" creationId="{00000000-0000-0000-0000-000000000000}"/>
          </ac:spMkLst>
        </pc:spChg>
        <pc:spChg chg="mod">
          <ac:chgData name="Francesco Bellotti" userId="f453232b-f87d-4756-9d8b-c09bc835cc42" providerId="ADAL" clId="{C7FEA3FA-4936-41E1-B7FA-CA082069F7F7}" dt="2026-08-25T07:49:20.378" v="187" actId="1076"/>
          <ac:spMkLst>
            <pc:docMk/>
            <pc:sldMk cId="0" sldId="262"/>
            <ac:spMk id="110" creationId="{00000000-0000-0000-0000-000000000000}"/>
          </ac:spMkLst>
        </pc:spChg>
        <pc:spChg chg="mod">
          <ac:chgData name="Francesco Bellotti" userId="f453232b-f87d-4756-9d8b-c09bc835cc42" providerId="ADAL" clId="{C7FEA3FA-4936-41E1-B7FA-CA082069F7F7}" dt="2026-08-25T07:49:07.307" v="185" actId="20577"/>
          <ac:spMkLst>
            <pc:docMk/>
            <pc:sldMk cId="0" sldId="262"/>
            <ac:spMk id="172" creationId="{00000000-0000-0000-0000-000000000000}"/>
          </ac:spMkLst>
        </pc:spChg>
        <pc:spChg chg="mod">
          <ac:chgData name="Francesco Bellotti" userId="f453232b-f87d-4756-9d8b-c09bc835cc42" providerId="ADAL" clId="{C7FEA3FA-4936-41E1-B7FA-CA082069F7F7}" dt="2026-08-25T07:49:42.779" v="190" actId="403"/>
          <ac:spMkLst>
            <pc:docMk/>
            <pc:sldMk cId="0" sldId="262"/>
            <ac:spMk id="175" creationId="{00000000-0000-0000-0000-000000000000}"/>
          </ac:spMkLst>
        </pc:spChg>
      </pc:sldChg>
      <pc:sldChg chg="modSp add mod setBg modNotes">
        <pc:chgData name="Francesco Bellotti" userId="f453232b-f87d-4756-9d8b-c09bc835cc42" providerId="ADAL" clId="{C7FEA3FA-4936-41E1-B7FA-CA082069F7F7}" dt="2026-08-25T07:51:01.312" v="209" actId="403"/>
        <pc:sldMkLst>
          <pc:docMk/>
          <pc:sldMk cId="0" sldId="263"/>
        </pc:sldMkLst>
        <pc:spChg chg="mod">
          <ac:chgData name="Francesco Bellotti" userId="f453232b-f87d-4756-9d8b-c09bc835cc42" providerId="ADAL" clId="{C7FEA3FA-4936-41E1-B7FA-CA082069F7F7}" dt="2026-08-25T07:50:37.494" v="201" actId="13926"/>
          <ac:spMkLst>
            <pc:docMk/>
            <pc:sldMk cId="0" sldId="263"/>
            <ac:spMk id="180" creationId="{00000000-0000-0000-0000-000000000000}"/>
          </ac:spMkLst>
        </pc:spChg>
        <pc:spChg chg="mod">
          <ac:chgData name="Francesco Bellotti" userId="f453232b-f87d-4756-9d8b-c09bc835cc42" providerId="ADAL" clId="{C7FEA3FA-4936-41E1-B7FA-CA082069F7F7}" dt="2026-08-25T07:51:01.312" v="209" actId="403"/>
          <ac:spMkLst>
            <pc:docMk/>
            <pc:sldMk cId="0" sldId="263"/>
            <ac:spMk id="253" creationId="{00000000-0000-0000-0000-000000000000}"/>
          </ac:spMkLst>
        </pc:spChg>
      </pc:sldChg>
      <pc:sldChg chg="modSp add mod setBg modNotes">
        <pc:chgData name="Francesco Bellotti" userId="f453232b-f87d-4756-9d8b-c09bc835cc42" providerId="ADAL" clId="{C7FEA3FA-4936-41E1-B7FA-CA082069F7F7}" dt="2026-08-25T08:01:20.348" v="399" actId="20577"/>
        <pc:sldMkLst>
          <pc:docMk/>
          <pc:sldMk cId="0" sldId="264"/>
        </pc:sldMkLst>
        <pc:spChg chg="mod">
          <ac:chgData name="Francesco Bellotti" userId="f453232b-f87d-4756-9d8b-c09bc835cc42" providerId="ADAL" clId="{C7FEA3FA-4936-41E1-B7FA-CA082069F7F7}" dt="2026-08-25T08:01:20.348" v="399" actId="20577"/>
          <ac:spMkLst>
            <pc:docMk/>
            <pc:sldMk cId="0" sldId="264"/>
            <ac:spMk id="259" creationId="{00000000-0000-0000-0000-000000000000}"/>
          </ac:spMkLst>
        </pc:spChg>
      </pc:sldChg>
      <pc:sldChg chg="modSp add mod setBg modNotes">
        <pc:chgData name="Francesco Bellotti" userId="f453232b-f87d-4756-9d8b-c09bc835cc42" providerId="ADAL" clId="{C7FEA3FA-4936-41E1-B7FA-CA082069F7F7}" dt="2026-08-25T08:04:51.532" v="475" actId="403"/>
        <pc:sldMkLst>
          <pc:docMk/>
          <pc:sldMk cId="0" sldId="265"/>
        </pc:sldMkLst>
        <pc:spChg chg="mod">
          <ac:chgData name="Francesco Bellotti" userId="f453232b-f87d-4756-9d8b-c09bc835cc42" providerId="ADAL" clId="{C7FEA3FA-4936-41E1-B7FA-CA082069F7F7}" dt="2026-08-25T08:04:51.532" v="475" actId="403"/>
          <ac:spMkLst>
            <pc:docMk/>
            <pc:sldMk cId="0" sldId="265"/>
            <ac:spMk id="295" creationId="{00000000-0000-0000-0000-000000000000}"/>
          </ac:spMkLst>
        </pc:spChg>
        <pc:spChg chg="mod">
          <ac:chgData name="Francesco Bellotti" userId="f453232b-f87d-4756-9d8b-c09bc835cc42" providerId="ADAL" clId="{C7FEA3FA-4936-41E1-B7FA-CA082069F7F7}" dt="2026-08-25T08:04:40.823" v="472" actId="20577"/>
          <ac:spMkLst>
            <pc:docMk/>
            <pc:sldMk cId="0" sldId="265"/>
            <ac:spMk id="315" creationId="{00000000-0000-0000-0000-000000000000}"/>
          </ac:spMkLst>
        </pc:spChg>
      </pc:sldChg>
      <pc:sldChg chg="add setBg modNotes">
        <pc:chgData name="Francesco Bellotti" userId="f453232b-f87d-4756-9d8b-c09bc835cc42" providerId="ADAL" clId="{C7FEA3FA-4936-41E1-B7FA-CA082069F7F7}" dt="2026-08-25T07:42:03.226" v="84"/>
        <pc:sldMkLst>
          <pc:docMk/>
          <pc:sldMk cId="0" sldId="266"/>
        </pc:sldMkLst>
      </pc:sldChg>
      <pc:sldChg chg="modSp add mod setBg modNotes">
        <pc:chgData name="Francesco Bellotti" userId="f453232b-f87d-4756-9d8b-c09bc835cc42" providerId="ADAL" clId="{C7FEA3FA-4936-41E1-B7FA-CA082069F7F7}" dt="2026-08-25T08:08:10.474" v="536" actId="403"/>
        <pc:sldMkLst>
          <pc:docMk/>
          <pc:sldMk cId="0" sldId="267"/>
        </pc:sldMkLst>
        <pc:spChg chg="mod">
          <ac:chgData name="Francesco Bellotti" userId="f453232b-f87d-4756-9d8b-c09bc835cc42" providerId="ADAL" clId="{C7FEA3FA-4936-41E1-B7FA-CA082069F7F7}" dt="2026-08-25T08:08:10.474" v="536" actId="403"/>
          <ac:spMkLst>
            <pc:docMk/>
            <pc:sldMk cId="0" sldId="267"/>
            <ac:spMk id="385" creationId="{00000000-0000-0000-0000-000000000000}"/>
          </ac:spMkLst>
        </pc:spChg>
      </pc:sldChg>
      <pc:sldChg chg="add setBg modNotes">
        <pc:chgData name="Francesco Bellotti" userId="f453232b-f87d-4756-9d8b-c09bc835cc42" providerId="ADAL" clId="{C7FEA3FA-4936-41E1-B7FA-CA082069F7F7}" dt="2026-08-25T07:42:03.226" v="84"/>
        <pc:sldMkLst>
          <pc:docMk/>
          <pc:sldMk cId="0" sldId="268"/>
        </pc:sldMkLst>
      </pc:sldChg>
      <pc:sldChg chg="modSp add mod setBg modNotes">
        <pc:chgData name="Francesco Bellotti" userId="f453232b-f87d-4756-9d8b-c09bc835cc42" providerId="ADAL" clId="{C7FEA3FA-4936-41E1-B7FA-CA082069F7F7}" dt="2026-08-25T08:12:29.387" v="626" actId="403"/>
        <pc:sldMkLst>
          <pc:docMk/>
          <pc:sldMk cId="0" sldId="269"/>
        </pc:sldMkLst>
        <pc:spChg chg="mod">
          <ac:chgData name="Francesco Bellotti" userId="f453232b-f87d-4756-9d8b-c09bc835cc42" providerId="ADAL" clId="{C7FEA3FA-4936-41E1-B7FA-CA082069F7F7}" dt="2026-08-25T08:12:29.387" v="626" actId="403"/>
          <ac:spMkLst>
            <pc:docMk/>
            <pc:sldMk cId="0" sldId="269"/>
            <ac:spMk id="448" creationId="{00000000-0000-0000-0000-000000000000}"/>
          </ac:spMkLst>
        </pc:spChg>
      </pc:sldChg>
      <pc:sldChg chg="add setBg modNotes">
        <pc:chgData name="Francesco Bellotti" userId="f453232b-f87d-4756-9d8b-c09bc835cc42" providerId="ADAL" clId="{C7FEA3FA-4936-41E1-B7FA-CA082069F7F7}" dt="2026-08-25T07:42:03.226" v="84"/>
        <pc:sldMkLst>
          <pc:docMk/>
          <pc:sldMk cId="0" sldId="270"/>
        </pc:sldMkLst>
      </pc:sldChg>
      <pc:sldChg chg="addSp modSp add mod setBg modNotes">
        <pc:chgData name="Francesco Bellotti" userId="f453232b-f87d-4756-9d8b-c09bc835cc42" providerId="ADAL" clId="{C7FEA3FA-4936-41E1-B7FA-CA082069F7F7}" dt="2026-08-25T10:05:59.364" v="912" actId="113"/>
        <pc:sldMkLst>
          <pc:docMk/>
          <pc:sldMk cId="0" sldId="271"/>
        </pc:sldMkLst>
        <pc:spChg chg="add mod">
          <ac:chgData name="Francesco Bellotti" userId="f453232b-f87d-4756-9d8b-c09bc835cc42" providerId="ADAL" clId="{C7FEA3FA-4936-41E1-B7FA-CA082069F7F7}" dt="2026-08-25T10:05:33.401" v="910" actId="1076"/>
          <ac:spMkLst>
            <pc:docMk/>
            <pc:sldMk cId="0" sldId="271"/>
            <ac:spMk id="3" creationId="{FEAC5901-20FA-DD45-8052-E5A4CCED4992}"/>
          </ac:spMkLst>
        </pc:spChg>
        <pc:spChg chg="mod">
          <ac:chgData name="Francesco Bellotti" userId="f453232b-f87d-4756-9d8b-c09bc835cc42" providerId="ADAL" clId="{C7FEA3FA-4936-41E1-B7FA-CA082069F7F7}" dt="2026-08-25T10:05:59.364" v="912" actId="113"/>
          <ac:spMkLst>
            <pc:docMk/>
            <pc:sldMk cId="0" sldId="271"/>
            <ac:spMk id="572" creationId="{00000000-0000-0000-0000-000000000000}"/>
          </ac:spMkLst>
        </pc:spChg>
        <pc:cxnChg chg="add">
          <ac:chgData name="Francesco Bellotti" userId="f453232b-f87d-4756-9d8b-c09bc835cc42" providerId="ADAL" clId="{C7FEA3FA-4936-41E1-B7FA-CA082069F7F7}" dt="2026-08-25T10:05:40.024" v="911" actId="11529"/>
          <ac:cxnSpMkLst>
            <pc:docMk/>
            <pc:sldMk cId="0" sldId="271"/>
            <ac:cxnSpMk id="5" creationId="{F597517E-BCBC-77A6-301C-C31E9D2687B3}"/>
          </ac:cxnSpMkLst>
        </pc:cxnChg>
      </pc:sldChg>
      <pc:sldChg chg="addSp modSp add mod setBg modNotes">
        <pc:chgData name="Francesco Bellotti" userId="f453232b-f87d-4756-9d8b-c09bc835cc42" providerId="ADAL" clId="{C7FEA3FA-4936-41E1-B7FA-CA082069F7F7}" dt="2026-08-25T09:56:44.604" v="875" actId="1076"/>
        <pc:sldMkLst>
          <pc:docMk/>
          <pc:sldMk cId="0" sldId="272"/>
        </pc:sldMkLst>
        <pc:spChg chg="mod">
          <ac:chgData name="Francesco Bellotti" userId="f453232b-f87d-4756-9d8b-c09bc835cc42" providerId="ADAL" clId="{C7FEA3FA-4936-41E1-B7FA-CA082069F7F7}" dt="2026-08-25T09:56:29.831" v="872" actId="164"/>
          <ac:spMkLst>
            <pc:docMk/>
            <pc:sldMk cId="0" sldId="272"/>
            <ac:spMk id="579" creationId="{00000000-0000-0000-0000-000000000000}"/>
          </ac:spMkLst>
        </pc:spChg>
        <pc:spChg chg="mod">
          <ac:chgData name="Francesco Bellotti" userId="f453232b-f87d-4756-9d8b-c09bc835cc42" providerId="ADAL" clId="{C7FEA3FA-4936-41E1-B7FA-CA082069F7F7}" dt="2026-08-25T09:56:29.831" v="872" actId="164"/>
          <ac:spMkLst>
            <pc:docMk/>
            <pc:sldMk cId="0" sldId="272"/>
            <ac:spMk id="580"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81"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83"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84"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86"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88"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89"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94"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96"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97" creationId="{00000000-0000-0000-0000-000000000000}"/>
          </ac:spMkLst>
        </pc:spChg>
        <pc:spChg chg="mod">
          <ac:chgData name="Francesco Bellotti" userId="f453232b-f87d-4756-9d8b-c09bc835cc42" providerId="ADAL" clId="{C7FEA3FA-4936-41E1-B7FA-CA082069F7F7}" dt="2026-08-25T09:56:41.015" v="874" actId="1076"/>
          <ac:spMkLst>
            <pc:docMk/>
            <pc:sldMk cId="0" sldId="272"/>
            <ac:spMk id="599" creationId="{00000000-0000-0000-0000-000000000000}"/>
          </ac:spMkLst>
        </pc:spChg>
        <pc:grpChg chg="add mod">
          <ac:chgData name="Francesco Bellotti" userId="f453232b-f87d-4756-9d8b-c09bc835cc42" providerId="ADAL" clId="{C7FEA3FA-4936-41E1-B7FA-CA082069F7F7}" dt="2026-08-25T09:56:44.604" v="875" actId="1076"/>
          <ac:grpSpMkLst>
            <pc:docMk/>
            <pc:sldMk cId="0" sldId="272"/>
            <ac:grpSpMk id="2" creationId="{D0D30345-9B70-DAAF-B6B1-DAD2D8B0633D}"/>
          </ac:grpSpMkLst>
        </pc:grpChg>
      </pc:sldChg>
      <pc:sldChg chg="modSp new">
        <pc:chgData name="Francesco Bellotti" userId="f453232b-f87d-4756-9d8b-c09bc835cc42" providerId="ADAL" clId="{C7FEA3FA-4936-41E1-B7FA-CA082069F7F7}" dt="2026-08-25T07:42:51.437" v="98"/>
        <pc:sldMkLst>
          <pc:docMk/>
          <pc:sldMk cId="3964390328" sldId="273"/>
        </pc:sldMkLst>
        <pc:spChg chg="mod">
          <ac:chgData name="Francesco Bellotti" userId="f453232b-f87d-4756-9d8b-c09bc835cc42" providerId="ADAL" clId="{C7FEA3FA-4936-41E1-B7FA-CA082069F7F7}" dt="2026-08-25T07:42:51.437" v="98"/>
          <ac:spMkLst>
            <pc:docMk/>
            <pc:sldMk cId="3964390328" sldId="273"/>
            <ac:spMk id="2" creationId="{2EBA5E13-B7BA-1B85-C8ED-5B16B21B905D}"/>
          </ac:spMkLst>
        </pc:spChg>
        <pc:spChg chg="mod">
          <ac:chgData name="Francesco Bellotti" userId="f453232b-f87d-4756-9d8b-c09bc835cc42" providerId="ADAL" clId="{C7FEA3FA-4936-41E1-B7FA-CA082069F7F7}" dt="2026-08-25T07:42:44.020" v="97"/>
          <ac:spMkLst>
            <pc:docMk/>
            <pc:sldMk cId="3964390328" sldId="273"/>
            <ac:spMk id="3" creationId="{1F015A69-03FF-5652-06AE-332D7DD54306}"/>
          </ac:spMkLst>
        </pc:spChg>
      </pc:sldChg>
      <pc:sldChg chg="modSp new mod">
        <pc:chgData name="Francesco Bellotti" userId="f453232b-f87d-4756-9d8b-c09bc835cc42" providerId="ADAL" clId="{C7FEA3FA-4936-41E1-B7FA-CA082069F7F7}" dt="2026-08-25T07:48:53.600" v="175" actId="27636"/>
        <pc:sldMkLst>
          <pc:docMk/>
          <pc:sldMk cId="2996312852" sldId="274"/>
        </pc:sldMkLst>
        <pc:spChg chg="mod">
          <ac:chgData name="Francesco Bellotti" userId="f453232b-f87d-4756-9d8b-c09bc835cc42" providerId="ADAL" clId="{C7FEA3FA-4936-41E1-B7FA-CA082069F7F7}" dt="2026-08-25T07:45:49.178" v="136"/>
          <ac:spMkLst>
            <pc:docMk/>
            <pc:sldMk cId="2996312852" sldId="274"/>
            <ac:spMk id="2" creationId="{91E4909F-1A3E-E470-3210-1F1BE523A931}"/>
          </ac:spMkLst>
        </pc:spChg>
        <pc:spChg chg="mod">
          <ac:chgData name="Francesco Bellotti" userId="f453232b-f87d-4756-9d8b-c09bc835cc42" providerId="ADAL" clId="{C7FEA3FA-4936-41E1-B7FA-CA082069F7F7}" dt="2026-08-25T07:48:53.600" v="175" actId="27636"/>
          <ac:spMkLst>
            <pc:docMk/>
            <pc:sldMk cId="2996312852" sldId="274"/>
            <ac:spMk id="3" creationId="{B666EE65-AF92-7A91-3B0C-A362008B11C6}"/>
          </ac:spMkLst>
        </pc:spChg>
      </pc:sldChg>
      <pc:sldChg chg="modSp add mod">
        <pc:chgData name="Francesco Bellotti" userId="f453232b-f87d-4756-9d8b-c09bc835cc42" providerId="ADAL" clId="{C7FEA3FA-4936-41E1-B7FA-CA082069F7F7}" dt="2026-08-25T07:48:24.670" v="172" actId="113"/>
        <pc:sldMkLst>
          <pc:docMk/>
          <pc:sldMk cId="1855127247" sldId="275"/>
        </pc:sldMkLst>
        <pc:spChg chg="mod">
          <ac:chgData name="Francesco Bellotti" userId="f453232b-f87d-4756-9d8b-c09bc835cc42" providerId="ADAL" clId="{C7FEA3FA-4936-41E1-B7FA-CA082069F7F7}" dt="2026-08-25T07:48:24.670" v="172" actId="113"/>
          <ac:spMkLst>
            <pc:docMk/>
            <pc:sldMk cId="1855127247" sldId="275"/>
            <ac:spMk id="3" creationId="{1B729B36-DD12-1223-FB1B-790AB4DB725A}"/>
          </ac:spMkLst>
        </pc:spChg>
      </pc:sldChg>
      <pc:sldChg chg="addSp modSp new mod modClrScheme chgLayout">
        <pc:chgData name="Francesco Bellotti" userId="f453232b-f87d-4756-9d8b-c09bc835cc42" providerId="ADAL" clId="{C7FEA3FA-4936-41E1-B7FA-CA082069F7F7}" dt="2026-08-25T07:54:44.617" v="263" actId="1076"/>
        <pc:sldMkLst>
          <pc:docMk/>
          <pc:sldMk cId="1432777713" sldId="276"/>
        </pc:sldMkLst>
        <pc:spChg chg="mod ord">
          <ac:chgData name="Francesco Bellotti" userId="f453232b-f87d-4756-9d8b-c09bc835cc42" providerId="ADAL" clId="{C7FEA3FA-4936-41E1-B7FA-CA082069F7F7}" dt="2026-08-25T07:50:27.255" v="198" actId="700"/>
          <ac:spMkLst>
            <pc:docMk/>
            <pc:sldMk cId="1432777713" sldId="276"/>
            <ac:spMk id="2" creationId="{44517960-37D3-EC0B-B0BE-0708A9F782F8}"/>
          </ac:spMkLst>
        </pc:spChg>
        <pc:spChg chg="mod ord">
          <ac:chgData name="Francesco Bellotti" userId="f453232b-f87d-4756-9d8b-c09bc835cc42" providerId="ADAL" clId="{C7FEA3FA-4936-41E1-B7FA-CA082069F7F7}" dt="2026-08-25T07:54:35.082" v="261" actId="14100"/>
          <ac:spMkLst>
            <pc:docMk/>
            <pc:sldMk cId="1432777713" sldId="276"/>
            <ac:spMk id="3" creationId="{9F584B8A-6C1C-7F32-2FCF-7439F891ECAF}"/>
          </ac:spMkLst>
        </pc:spChg>
        <pc:spChg chg="add mod ord">
          <ac:chgData name="Francesco Bellotti" userId="f453232b-f87d-4756-9d8b-c09bc835cc42" providerId="ADAL" clId="{C7FEA3FA-4936-41E1-B7FA-CA082069F7F7}" dt="2026-08-25T07:54:31.479" v="259" actId="27636"/>
          <ac:spMkLst>
            <pc:docMk/>
            <pc:sldMk cId="1432777713" sldId="276"/>
            <ac:spMk id="4" creationId="{4A2FBCD2-DE60-EB58-2C0B-377D94097E5A}"/>
          </ac:spMkLst>
        </pc:spChg>
        <pc:spChg chg="add mod">
          <ac:chgData name="Francesco Bellotti" userId="f453232b-f87d-4756-9d8b-c09bc835cc42" providerId="ADAL" clId="{C7FEA3FA-4936-41E1-B7FA-CA082069F7F7}" dt="2026-08-25T07:54:44.617" v="263" actId="1076"/>
          <ac:spMkLst>
            <pc:docMk/>
            <pc:sldMk cId="1432777713" sldId="276"/>
            <ac:spMk id="6" creationId="{4385F753-9281-AA02-D89D-E07916492A9D}"/>
          </ac:spMkLst>
        </pc:spChg>
      </pc:sldChg>
      <pc:sldChg chg="modSp new mod">
        <pc:chgData name="Francesco Bellotti" userId="f453232b-f87d-4756-9d8b-c09bc835cc42" providerId="ADAL" clId="{C7FEA3FA-4936-41E1-B7FA-CA082069F7F7}" dt="2026-08-25T07:57:01.353" v="288" actId="113"/>
        <pc:sldMkLst>
          <pc:docMk/>
          <pc:sldMk cId="1472707371" sldId="277"/>
        </pc:sldMkLst>
        <pc:spChg chg="mod">
          <ac:chgData name="Francesco Bellotti" userId="f453232b-f87d-4756-9d8b-c09bc835cc42" providerId="ADAL" clId="{C7FEA3FA-4936-41E1-B7FA-CA082069F7F7}" dt="2026-08-25T07:55:05.068" v="265"/>
          <ac:spMkLst>
            <pc:docMk/>
            <pc:sldMk cId="1472707371" sldId="277"/>
            <ac:spMk id="2" creationId="{CC4D661F-E8E7-A076-2FB4-13A8306AD2B6}"/>
          </ac:spMkLst>
        </pc:spChg>
        <pc:spChg chg="mod">
          <ac:chgData name="Francesco Bellotti" userId="f453232b-f87d-4756-9d8b-c09bc835cc42" providerId="ADAL" clId="{C7FEA3FA-4936-41E1-B7FA-CA082069F7F7}" dt="2026-08-25T07:57:01.353" v="288" actId="113"/>
          <ac:spMkLst>
            <pc:docMk/>
            <pc:sldMk cId="1472707371" sldId="277"/>
            <ac:spMk id="3" creationId="{5CFAB833-327D-9732-1F00-0CCB7CD21157}"/>
          </ac:spMkLst>
        </pc:spChg>
      </pc:sldChg>
      <pc:sldChg chg="modSp new mod">
        <pc:chgData name="Francesco Bellotti" userId="f453232b-f87d-4756-9d8b-c09bc835cc42" providerId="ADAL" clId="{C7FEA3FA-4936-41E1-B7FA-CA082069F7F7}" dt="2026-08-25T08:00:27.535" v="364" actId="27636"/>
        <pc:sldMkLst>
          <pc:docMk/>
          <pc:sldMk cId="2059793845" sldId="278"/>
        </pc:sldMkLst>
        <pc:spChg chg="mod">
          <ac:chgData name="Francesco Bellotti" userId="f453232b-f87d-4756-9d8b-c09bc835cc42" providerId="ADAL" clId="{C7FEA3FA-4936-41E1-B7FA-CA082069F7F7}" dt="2026-08-25T07:56:07.226" v="279"/>
          <ac:spMkLst>
            <pc:docMk/>
            <pc:sldMk cId="2059793845" sldId="278"/>
            <ac:spMk id="2" creationId="{E412D54A-C4E3-B71A-0E8E-44559FA41660}"/>
          </ac:spMkLst>
        </pc:spChg>
        <pc:spChg chg="mod">
          <ac:chgData name="Francesco Bellotti" userId="f453232b-f87d-4756-9d8b-c09bc835cc42" providerId="ADAL" clId="{C7FEA3FA-4936-41E1-B7FA-CA082069F7F7}" dt="2026-08-25T08:00:27.535" v="364" actId="27636"/>
          <ac:spMkLst>
            <pc:docMk/>
            <pc:sldMk cId="2059793845" sldId="278"/>
            <ac:spMk id="3" creationId="{C7FF0006-A49E-5FD6-5633-3FF423416A9E}"/>
          </ac:spMkLst>
        </pc:spChg>
      </pc:sldChg>
      <pc:sldChg chg="modSp new">
        <pc:chgData name="Francesco Bellotti" userId="f453232b-f87d-4756-9d8b-c09bc835cc42" providerId="ADAL" clId="{C7FEA3FA-4936-41E1-B7FA-CA082069F7F7}" dt="2026-08-25T07:57:36.294" v="290"/>
        <pc:sldMkLst>
          <pc:docMk/>
          <pc:sldMk cId="3426706701" sldId="279"/>
        </pc:sldMkLst>
        <pc:spChg chg="mod">
          <ac:chgData name="Francesco Bellotti" userId="f453232b-f87d-4756-9d8b-c09bc835cc42" providerId="ADAL" clId="{C7FEA3FA-4936-41E1-B7FA-CA082069F7F7}" dt="2026-08-25T07:57:36.294" v="290"/>
          <ac:spMkLst>
            <pc:docMk/>
            <pc:sldMk cId="3426706701" sldId="279"/>
            <ac:spMk id="2" creationId="{F2AD6A93-8C85-C02A-C3D4-BA2AAD818360}"/>
          </ac:spMkLst>
        </pc:spChg>
      </pc:sldChg>
      <pc:sldChg chg="modSp new mod">
        <pc:chgData name="Francesco Bellotti" userId="f453232b-f87d-4756-9d8b-c09bc835cc42" providerId="ADAL" clId="{C7FEA3FA-4936-41E1-B7FA-CA082069F7F7}" dt="2026-08-25T07:58:14.744" v="299" actId="15"/>
        <pc:sldMkLst>
          <pc:docMk/>
          <pc:sldMk cId="1535902212" sldId="280"/>
        </pc:sldMkLst>
        <pc:spChg chg="mod">
          <ac:chgData name="Francesco Bellotti" userId="f453232b-f87d-4756-9d8b-c09bc835cc42" providerId="ADAL" clId="{C7FEA3FA-4936-41E1-B7FA-CA082069F7F7}" dt="2026-08-25T07:58:11.233" v="298"/>
          <ac:spMkLst>
            <pc:docMk/>
            <pc:sldMk cId="1535902212" sldId="280"/>
            <ac:spMk id="2" creationId="{3E2254F2-6732-5882-5DF1-28E2A44E164E}"/>
          </ac:spMkLst>
        </pc:spChg>
        <pc:spChg chg="mod">
          <ac:chgData name="Francesco Bellotti" userId="f453232b-f87d-4756-9d8b-c09bc835cc42" providerId="ADAL" clId="{C7FEA3FA-4936-41E1-B7FA-CA082069F7F7}" dt="2026-08-25T07:58:14.744" v="299" actId="15"/>
          <ac:spMkLst>
            <pc:docMk/>
            <pc:sldMk cId="1535902212" sldId="280"/>
            <ac:spMk id="3" creationId="{96009BE8-230D-888F-1A09-F5E6F918B91D}"/>
          </ac:spMkLst>
        </pc:spChg>
      </pc:sldChg>
      <pc:sldChg chg="modSp new mod">
        <pc:chgData name="Francesco Bellotti" userId="f453232b-f87d-4756-9d8b-c09bc835cc42" providerId="ADAL" clId="{C7FEA3FA-4936-41E1-B7FA-CA082069F7F7}" dt="2026-08-25T08:02:48.995" v="421" actId="20577"/>
        <pc:sldMkLst>
          <pc:docMk/>
          <pc:sldMk cId="3689777278" sldId="281"/>
        </pc:sldMkLst>
        <pc:spChg chg="mod">
          <ac:chgData name="Francesco Bellotti" userId="f453232b-f87d-4756-9d8b-c09bc835cc42" providerId="ADAL" clId="{C7FEA3FA-4936-41E1-B7FA-CA082069F7F7}" dt="2026-08-25T08:01:43.838" v="401"/>
          <ac:spMkLst>
            <pc:docMk/>
            <pc:sldMk cId="3689777278" sldId="281"/>
            <ac:spMk id="2" creationId="{9B908FE0-3817-86B9-99D5-61D6CB107B16}"/>
          </ac:spMkLst>
        </pc:spChg>
        <pc:spChg chg="mod">
          <ac:chgData name="Francesco Bellotti" userId="f453232b-f87d-4756-9d8b-c09bc835cc42" providerId="ADAL" clId="{C7FEA3FA-4936-41E1-B7FA-CA082069F7F7}" dt="2026-08-25T08:02:48.995" v="421" actId="20577"/>
          <ac:spMkLst>
            <pc:docMk/>
            <pc:sldMk cId="3689777278" sldId="281"/>
            <ac:spMk id="3" creationId="{A0F6C709-44EF-DCAC-DEF1-F4B7E046AC60}"/>
          </ac:spMkLst>
        </pc:spChg>
      </pc:sldChg>
      <pc:sldChg chg="modSp add mod">
        <pc:chgData name="Francesco Bellotti" userId="f453232b-f87d-4756-9d8b-c09bc835cc42" providerId="ADAL" clId="{C7FEA3FA-4936-41E1-B7FA-CA082069F7F7}" dt="2026-08-25T08:04:08.665" v="450" actId="20577"/>
        <pc:sldMkLst>
          <pc:docMk/>
          <pc:sldMk cId="3400119579" sldId="282"/>
        </pc:sldMkLst>
        <pc:spChg chg="mod">
          <ac:chgData name="Francesco Bellotti" userId="f453232b-f87d-4756-9d8b-c09bc835cc42" providerId="ADAL" clId="{C7FEA3FA-4936-41E1-B7FA-CA082069F7F7}" dt="2026-08-25T08:04:08.665" v="450" actId="20577"/>
          <ac:spMkLst>
            <pc:docMk/>
            <pc:sldMk cId="3400119579" sldId="282"/>
            <ac:spMk id="3" creationId="{46DD87F5-F7C8-0EB4-6E6D-80C1A27F660F}"/>
          </ac:spMkLst>
        </pc:spChg>
      </pc:sldChg>
      <pc:sldChg chg="addSp modSp new mod modClrScheme chgLayout">
        <pc:chgData name="Francesco Bellotti" userId="f453232b-f87d-4756-9d8b-c09bc835cc42" providerId="ADAL" clId="{C7FEA3FA-4936-41E1-B7FA-CA082069F7F7}" dt="2026-08-25T08:06:26.428" v="516" actId="113"/>
        <pc:sldMkLst>
          <pc:docMk/>
          <pc:sldMk cId="1220087057" sldId="283"/>
        </pc:sldMkLst>
        <pc:spChg chg="mod ord">
          <ac:chgData name="Francesco Bellotti" userId="f453232b-f87d-4756-9d8b-c09bc835cc42" providerId="ADAL" clId="{C7FEA3FA-4936-41E1-B7FA-CA082069F7F7}" dt="2026-08-25T08:05:26.371" v="482" actId="700"/>
          <ac:spMkLst>
            <pc:docMk/>
            <pc:sldMk cId="1220087057" sldId="283"/>
            <ac:spMk id="2" creationId="{702206CD-9893-C8BE-37C4-1D1A17526035}"/>
          </ac:spMkLst>
        </pc:spChg>
        <pc:spChg chg="mod ord">
          <ac:chgData name="Francesco Bellotti" userId="f453232b-f87d-4756-9d8b-c09bc835cc42" providerId="ADAL" clId="{C7FEA3FA-4936-41E1-B7FA-CA082069F7F7}" dt="2026-08-25T08:06:00.372" v="514" actId="15"/>
          <ac:spMkLst>
            <pc:docMk/>
            <pc:sldMk cId="1220087057" sldId="283"/>
            <ac:spMk id="3" creationId="{E10F0D67-4D09-B0BC-2170-5D7D94C288C5}"/>
          </ac:spMkLst>
        </pc:spChg>
        <pc:spChg chg="add mod ord">
          <ac:chgData name="Francesco Bellotti" userId="f453232b-f87d-4756-9d8b-c09bc835cc42" providerId="ADAL" clId="{C7FEA3FA-4936-41E1-B7FA-CA082069F7F7}" dt="2026-08-25T08:06:26.428" v="516" actId="113"/>
          <ac:spMkLst>
            <pc:docMk/>
            <pc:sldMk cId="1220087057" sldId="283"/>
            <ac:spMk id="4" creationId="{D3B10D07-CD04-8149-A273-A53661F5A2D3}"/>
          </ac:spMkLst>
        </pc:spChg>
      </pc:sldChg>
      <pc:sldChg chg="addSp modSp new mod modClrScheme chgLayout">
        <pc:chgData name="Francesco Bellotti" userId="f453232b-f87d-4756-9d8b-c09bc835cc42" providerId="ADAL" clId="{C7FEA3FA-4936-41E1-B7FA-CA082069F7F7}" dt="2026-08-25T08:09:16.935" v="576" actId="113"/>
        <pc:sldMkLst>
          <pc:docMk/>
          <pc:sldMk cId="393776503" sldId="284"/>
        </pc:sldMkLst>
        <pc:spChg chg="mod ord">
          <ac:chgData name="Francesco Bellotti" userId="f453232b-f87d-4756-9d8b-c09bc835cc42" providerId="ADAL" clId="{C7FEA3FA-4936-41E1-B7FA-CA082069F7F7}" dt="2026-08-25T08:07:31.249" v="523" actId="700"/>
          <ac:spMkLst>
            <pc:docMk/>
            <pc:sldMk cId="393776503" sldId="284"/>
            <ac:spMk id="2" creationId="{A34F5BB2-FCA1-508D-73AF-1B3B60A756A7}"/>
          </ac:spMkLst>
        </pc:spChg>
        <pc:spChg chg="mod ord">
          <ac:chgData name="Francesco Bellotti" userId="f453232b-f87d-4756-9d8b-c09bc835cc42" providerId="ADAL" clId="{C7FEA3FA-4936-41E1-B7FA-CA082069F7F7}" dt="2026-08-25T08:08:44.788" v="557" actId="27636"/>
          <ac:spMkLst>
            <pc:docMk/>
            <pc:sldMk cId="393776503" sldId="284"/>
            <ac:spMk id="3" creationId="{D4A8D961-C66F-A463-A23D-1335655E747C}"/>
          </ac:spMkLst>
        </pc:spChg>
        <pc:spChg chg="add mod ord">
          <ac:chgData name="Francesco Bellotti" userId="f453232b-f87d-4756-9d8b-c09bc835cc42" providerId="ADAL" clId="{C7FEA3FA-4936-41E1-B7FA-CA082069F7F7}" dt="2026-08-25T08:09:16.935" v="576" actId="113"/>
          <ac:spMkLst>
            <pc:docMk/>
            <pc:sldMk cId="393776503" sldId="284"/>
            <ac:spMk id="4" creationId="{5A64D95D-8450-7FF6-2D13-F4D9838A181A}"/>
          </ac:spMkLst>
        </pc:spChg>
      </pc:sldChg>
      <pc:sldChg chg="addSp modSp new mod modClrScheme chgLayout">
        <pc:chgData name="Francesco Bellotti" userId="f453232b-f87d-4756-9d8b-c09bc835cc42" providerId="ADAL" clId="{C7FEA3FA-4936-41E1-B7FA-CA082069F7F7}" dt="2026-08-25T08:11:11.817" v="609" actId="27636"/>
        <pc:sldMkLst>
          <pc:docMk/>
          <pc:sldMk cId="3336510750" sldId="285"/>
        </pc:sldMkLst>
        <pc:spChg chg="mod ord">
          <ac:chgData name="Francesco Bellotti" userId="f453232b-f87d-4756-9d8b-c09bc835cc42" providerId="ADAL" clId="{C7FEA3FA-4936-41E1-B7FA-CA082069F7F7}" dt="2026-08-25T08:09:57.898" v="583" actId="700"/>
          <ac:spMkLst>
            <pc:docMk/>
            <pc:sldMk cId="3336510750" sldId="285"/>
            <ac:spMk id="2" creationId="{4BFD704B-DF52-C1AA-B57D-E71A4B09E051}"/>
          </ac:spMkLst>
        </pc:spChg>
        <pc:spChg chg="mod ord">
          <ac:chgData name="Francesco Bellotti" userId="f453232b-f87d-4756-9d8b-c09bc835cc42" providerId="ADAL" clId="{C7FEA3FA-4936-41E1-B7FA-CA082069F7F7}" dt="2026-08-25T08:11:11.806" v="608" actId="27636"/>
          <ac:spMkLst>
            <pc:docMk/>
            <pc:sldMk cId="3336510750" sldId="285"/>
            <ac:spMk id="3" creationId="{30823171-4F4D-A677-6406-C0482BB44F88}"/>
          </ac:spMkLst>
        </pc:spChg>
        <pc:spChg chg="add mod ord">
          <ac:chgData name="Francesco Bellotti" userId="f453232b-f87d-4756-9d8b-c09bc835cc42" providerId="ADAL" clId="{C7FEA3FA-4936-41E1-B7FA-CA082069F7F7}" dt="2026-08-25T08:11:11.817" v="609" actId="27636"/>
          <ac:spMkLst>
            <pc:docMk/>
            <pc:sldMk cId="3336510750" sldId="285"/>
            <ac:spMk id="4" creationId="{93E1E1FD-FD64-062F-9993-354317596417}"/>
          </ac:spMkLst>
        </pc:spChg>
      </pc:sldChg>
      <pc:sldChg chg="modSp new mod">
        <pc:chgData name="Francesco Bellotti" userId="f453232b-f87d-4756-9d8b-c09bc835cc42" providerId="ADAL" clId="{C7FEA3FA-4936-41E1-B7FA-CA082069F7F7}" dt="2026-08-25T08:13:08.337" v="685" actId="20577"/>
        <pc:sldMkLst>
          <pc:docMk/>
          <pc:sldMk cId="1006704783" sldId="286"/>
        </pc:sldMkLst>
        <pc:spChg chg="mod">
          <ac:chgData name="Francesco Bellotti" userId="f453232b-f87d-4756-9d8b-c09bc835cc42" providerId="ADAL" clId="{C7FEA3FA-4936-41E1-B7FA-CA082069F7F7}" dt="2026-08-25T08:11:30.063" v="611"/>
          <ac:spMkLst>
            <pc:docMk/>
            <pc:sldMk cId="1006704783" sldId="286"/>
            <ac:spMk id="2" creationId="{9085BAE4-8FE6-A70E-2380-7DE9CF40B3D8}"/>
          </ac:spMkLst>
        </pc:spChg>
        <pc:spChg chg="mod">
          <ac:chgData name="Francesco Bellotti" userId="f453232b-f87d-4756-9d8b-c09bc835cc42" providerId="ADAL" clId="{C7FEA3FA-4936-41E1-B7FA-CA082069F7F7}" dt="2026-08-25T08:13:08.337" v="685" actId="20577"/>
          <ac:spMkLst>
            <pc:docMk/>
            <pc:sldMk cId="1006704783" sldId="286"/>
            <ac:spMk id="3" creationId="{91B81793-99C3-89FC-FF8B-365DFAC91030}"/>
          </ac:spMkLst>
        </pc:spChg>
      </pc:sldChg>
      <pc:sldChg chg="modSp add mod">
        <pc:chgData name="Francesco Bellotti" userId="f453232b-f87d-4756-9d8b-c09bc835cc42" providerId="ADAL" clId="{C7FEA3FA-4936-41E1-B7FA-CA082069F7F7}" dt="2026-08-25T08:13:54.892" v="734" actId="113"/>
        <pc:sldMkLst>
          <pc:docMk/>
          <pc:sldMk cId="300868022" sldId="287"/>
        </pc:sldMkLst>
        <pc:spChg chg="mod">
          <ac:chgData name="Francesco Bellotti" userId="f453232b-f87d-4756-9d8b-c09bc835cc42" providerId="ADAL" clId="{C7FEA3FA-4936-41E1-B7FA-CA082069F7F7}" dt="2026-08-25T08:13:54.892" v="734" actId="113"/>
          <ac:spMkLst>
            <pc:docMk/>
            <pc:sldMk cId="300868022" sldId="287"/>
            <ac:spMk id="3" creationId="{F17C5FD0-1A54-043D-E107-AE51E90C9AA6}"/>
          </ac:spMkLst>
        </pc:spChg>
      </pc:sldChg>
      <pc:sldChg chg="modSp new mod">
        <pc:chgData name="Francesco Bellotti" userId="f453232b-f87d-4756-9d8b-c09bc835cc42" providerId="ADAL" clId="{C7FEA3FA-4936-41E1-B7FA-CA082069F7F7}" dt="2026-08-25T08:15:14.615" v="741" actId="27636"/>
        <pc:sldMkLst>
          <pc:docMk/>
          <pc:sldMk cId="544334954" sldId="288"/>
        </pc:sldMkLst>
        <pc:spChg chg="mod">
          <ac:chgData name="Francesco Bellotti" userId="f453232b-f87d-4756-9d8b-c09bc835cc42" providerId="ADAL" clId="{C7FEA3FA-4936-41E1-B7FA-CA082069F7F7}" dt="2026-08-25T08:14:45.096" v="737"/>
          <ac:spMkLst>
            <pc:docMk/>
            <pc:sldMk cId="544334954" sldId="288"/>
            <ac:spMk id="2" creationId="{B3C2F514-1F7B-CB03-3629-E45D1B519B01}"/>
          </ac:spMkLst>
        </pc:spChg>
        <pc:spChg chg="mod">
          <ac:chgData name="Francesco Bellotti" userId="f453232b-f87d-4756-9d8b-c09bc835cc42" providerId="ADAL" clId="{C7FEA3FA-4936-41E1-B7FA-CA082069F7F7}" dt="2026-08-25T08:15:14.615" v="741" actId="27636"/>
          <ac:spMkLst>
            <pc:docMk/>
            <pc:sldMk cId="544334954" sldId="288"/>
            <ac:spMk id="3" creationId="{83FEFD09-AF78-7C6B-24EC-5903427B71E2}"/>
          </ac:spMkLst>
        </pc:spChg>
      </pc:sldChg>
      <pc:sldChg chg="addSp delSp modSp new mod modClrScheme chgLayout">
        <pc:chgData name="Francesco Bellotti" userId="f453232b-f87d-4756-9d8b-c09bc835cc42" providerId="ADAL" clId="{C7FEA3FA-4936-41E1-B7FA-CA082069F7F7}" dt="2026-08-25T08:16:24.429" v="757" actId="403"/>
        <pc:sldMkLst>
          <pc:docMk/>
          <pc:sldMk cId="1240747018" sldId="289"/>
        </pc:sldMkLst>
        <pc:spChg chg="mod ord">
          <ac:chgData name="Francesco Bellotti" userId="f453232b-f87d-4756-9d8b-c09bc835cc42" providerId="ADAL" clId="{C7FEA3FA-4936-41E1-B7FA-CA082069F7F7}" dt="2026-08-25T08:15:34.368" v="747" actId="700"/>
          <ac:spMkLst>
            <pc:docMk/>
            <pc:sldMk cId="1240747018" sldId="289"/>
            <ac:spMk id="3" creationId="{001447FC-C6E4-5795-6655-297CA4925F24}"/>
          </ac:spMkLst>
        </pc:spChg>
        <pc:spChg chg="add mod ord">
          <ac:chgData name="Francesco Bellotti" userId="f453232b-f87d-4756-9d8b-c09bc835cc42" providerId="ADAL" clId="{C7FEA3FA-4936-41E1-B7FA-CA082069F7F7}" dt="2026-08-25T08:15:45.495" v="750"/>
          <ac:spMkLst>
            <pc:docMk/>
            <pc:sldMk cId="1240747018" sldId="289"/>
            <ac:spMk id="4" creationId="{05D5DBAC-1C91-01E2-4B64-80010C952C9C}"/>
          </ac:spMkLst>
        </pc:spChg>
        <pc:spChg chg="add mod ord">
          <ac:chgData name="Francesco Bellotti" userId="f453232b-f87d-4756-9d8b-c09bc835cc42" providerId="ADAL" clId="{C7FEA3FA-4936-41E1-B7FA-CA082069F7F7}" dt="2026-08-25T08:16:24.429" v="757" actId="403"/>
          <ac:spMkLst>
            <pc:docMk/>
            <pc:sldMk cId="1240747018" sldId="289"/>
            <ac:spMk id="5" creationId="{F90865A4-AAB8-0FA2-3BBE-25EE0303CF98}"/>
          </ac:spMkLst>
        </pc:spChg>
      </pc:sldChg>
      <pc:sldChg chg="modSp new mod">
        <pc:chgData name="Francesco Bellotti" userId="f453232b-f87d-4756-9d8b-c09bc835cc42" providerId="ADAL" clId="{C7FEA3FA-4936-41E1-B7FA-CA082069F7F7}" dt="2026-08-25T08:17:58.752" v="771" actId="27636"/>
        <pc:sldMkLst>
          <pc:docMk/>
          <pc:sldMk cId="2815444881" sldId="290"/>
        </pc:sldMkLst>
        <pc:spChg chg="mod">
          <ac:chgData name="Francesco Bellotti" userId="f453232b-f87d-4756-9d8b-c09bc835cc42" providerId="ADAL" clId="{C7FEA3FA-4936-41E1-B7FA-CA082069F7F7}" dt="2026-08-25T08:16:56.357" v="759"/>
          <ac:spMkLst>
            <pc:docMk/>
            <pc:sldMk cId="2815444881" sldId="290"/>
            <ac:spMk id="2" creationId="{3D581A37-DA50-8EA0-C168-121BF278F4CC}"/>
          </ac:spMkLst>
        </pc:spChg>
        <pc:spChg chg="mod">
          <ac:chgData name="Francesco Bellotti" userId="f453232b-f87d-4756-9d8b-c09bc835cc42" providerId="ADAL" clId="{C7FEA3FA-4936-41E1-B7FA-CA082069F7F7}" dt="2026-08-25T08:17:58.752" v="771" actId="27636"/>
          <ac:spMkLst>
            <pc:docMk/>
            <pc:sldMk cId="2815444881" sldId="290"/>
            <ac:spMk id="3" creationId="{D9D4D720-7373-8475-B681-E8F89C4A37F6}"/>
          </ac:spMkLst>
        </pc:spChg>
      </pc:sldChg>
      <pc:sldChg chg="modSp add mod">
        <pc:chgData name="Francesco Bellotti" userId="f453232b-f87d-4756-9d8b-c09bc835cc42" providerId="ADAL" clId="{C7FEA3FA-4936-41E1-B7FA-CA082069F7F7}" dt="2026-08-25T08:18:22.275" v="777" actId="15"/>
        <pc:sldMkLst>
          <pc:docMk/>
          <pc:sldMk cId="1781007883" sldId="291"/>
        </pc:sldMkLst>
        <pc:spChg chg="mod">
          <ac:chgData name="Francesco Bellotti" userId="f453232b-f87d-4756-9d8b-c09bc835cc42" providerId="ADAL" clId="{C7FEA3FA-4936-41E1-B7FA-CA082069F7F7}" dt="2026-08-25T08:18:22.275" v="777" actId="15"/>
          <ac:spMkLst>
            <pc:docMk/>
            <pc:sldMk cId="1781007883" sldId="291"/>
            <ac:spMk id="3" creationId="{4B0E649B-C8F7-A2D7-72AB-48163FF0A052}"/>
          </ac:spMkLst>
        </pc:spChg>
      </pc:sldChg>
      <pc:sldChg chg="addSp modSp new mod modClrScheme chgLayout">
        <pc:chgData name="Francesco Bellotti" userId="f453232b-f87d-4756-9d8b-c09bc835cc42" providerId="ADAL" clId="{C7FEA3FA-4936-41E1-B7FA-CA082069F7F7}" dt="2026-08-25T09:46:14.854" v="807" actId="20577"/>
        <pc:sldMkLst>
          <pc:docMk/>
          <pc:sldMk cId="1440720167" sldId="292"/>
        </pc:sldMkLst>
        <pc:spChg chg="mod ord">
          <ac:chgData name="Francesco Bellotti" userId="f453232b-f87d-4756-9d8b-c09bc835cc42" providerId="ADAL" clId="{C7FEA3FA-4936-41E1-B7FA-CA082069F7F7}" dt="2026-08-25T08:19:08.360" v="784" actId="700"/>
          <ac:spMkLst>
            <pc:docMk/>
            <pc:sldMk cId="1440720167" sldId="292"/>
            <ac:spMk id="2" creationId="{75961FF0-7A32-9659-C1DA-C3D4D56AA728}"/>
          </ac:spMkLst>
        </pc:spChg>
        <pc:spChg chg="mod ord">
          <ac:chgData name="Francesco Bellotti" userId="f453232b-f87d-4756-9d8b-c09bc835cc42" providerId="ADAL" clId="{C7FEA3FA-4936-41E1-B7FA-CA082069F7F7}" dt="2026-08-25T09:46:14.854" v="807" actId="20577"/>
          <ac:spMkLst>
            <pc:docMk/>
            <pc:sldMk cId="1440720167" sldId="292"/>
            <ac:spMk id="3" creationId="{B569BBA7-4F6B-65E1-E0EE-8C932422FD65}"/>
          </ac:spMkLst>
        </pc:spChg>
        <pc:spChg chg="add mod ord">
          <ac:chgData name="Francesco Bellotti" userId="f453232b-f87d-4756-9d8b-c09bc835cc42" providerId="ADAL" clId="{C7FEA3FA-4936-41E1-B7FA-CA082069F7F7}" dt="2026-08-25T08:20:01.386" v="801" actId="15"/>
          <ac:spMkLst>
            <pc:docMk/>
            <pc:sldMk cId="1440720167" sldId="292"/>
            <ac:spMk id="4" creationId="{E9C532AE-5E2D-D891-BB8E-B4793A1D4B5F}"/>
          </ac:spMkLst>
        </pc:spChg>
      </pc:sldChg>
      <pc:sldChg chg="addSp modSp new mod modClrScheme chgLayout">
        <pc:chgData name="Francesco Bellotti" userId="f453232b-f87d-4756-9d8b-c09bc835cc42" providerId="ADAL" clId="{C7FEA3FA-4936-41E1-B7FA-CA082069F7F7}" dt="2026-08-25T09:55:46.152" v="866" actId="20577"/>
        <pc:sldMkLst>
          <pc:docMk/>
          <pc:sldMk cId="2760230683" sldId="293"/>
        </pc:sldMkLst>
        <pc:spChg chg="mod ord">
          <ac:chgData name="Francesco Bellotti" userId="f453232b-f87d-4756-9d8b-c09bc835cc42" providerId="ADAL" clId="{C7FEA3FA-4936-41E1-B7FA-CA082069F7F7}" dt="2026-08-25T09:54:01.647" v="829" actId="700"/>
          <ac:spMkLst>
            <pc:docMk/>
            <pc:sldMk cId="2760230683" sldId="293"/>
            <ac:spMk id="2" creationId="{523E728D-6064-0178-16FC-711B14DAF73E}"/>
          </ac:spMkLst>
        </pc:spChg>
        <pc:spChg chg="mod ord">
          <ac:chgData name="Francesco Bellotti" userId="f453232b-f87d-4756-9d8b-c09bc835cc42" providerId="ADAL" clId="{C7FEA3FA-4936-41E1-B7FA-CA082069F7F7}" dt="2026-08-25T09:55:37.930" v="865" actId="27636"/>
          <ac:spMkLst>
            <pc:docMk/>
            <pc:sldMk cId="2760230683" sldId="293"/>
            <ac:spMk id="3" creationId="{DB0C60D3-05CB-BCF5-152B-2031B1FCE0AE}"/>
          </ac:spMkLst>
        </pc:spChg>
        <pc:spChg chg="add mod ord">
          <ac:chgData name="Francesco Bellotti" userId="f453232b-f87d-4756-9d8b-c09bc835cc42" providerId="ADAL" clId="{C7FEA3FA-4936-41E1-B7FA-CA082069F7F7}" dt="2026-08-25T09:55:46.152" v="866" actId="20577"/>
          <ac:spMkLst>
            <pc:docMk/>
            <pc:sldMk cId="2760230683" sldId="293"/>
            <ac:spMk id="4" creationId="{D0FE5F9D-AD35-24E6-C8DC-BB0B6DD2D48C}"/>
          </ac:spMkLst>
        </pc:spChg>
      </pc:sldChg>
      <pc:sldChg chg="modSp new mod">
        <pc:chgData name="Francesco Bellotti" userId="f453232b-f87d-4756-9d8b-c09bc835cc42" providerId="ADAL" clId="{C7FEA3FA-4936-41E1-B7FA-CA082069F7F7}" dt="2026-08-25T10:01:25.645" v="892" actId="27636"/>
        <pc:sldMkLst>
          <pc:docMk/>
          <pc:sldMk cId="2009016373" sldId="294"/>
        </pc:sldMkLst>
        <pc:spChg chg="mod">
          <ac:chgData name="Francesco Bellotti" userId="f453232b-f87d-4756-9d8b-c09bc835cc42" providerId="ADAL" clId="{C7FEA3FA-4936-41E1-B7FA-CA082069F7F7}" dt="2026-08-25T09:51:11.357" v="813"/>
          <ac:spMkLst>
            <pc:docMk/>
            <pc:sldMk cId="2009016373" sldId="294"/>
            <ac:spMk id="2" creationId="{BED80B4A-072A-1DB1-50F3-FC9D72F143DD}"/>
          </ac:spMkLst>
        </pc:spChg>
        <pc:spChg chg="mod">
          <ac:chgData name="Francesco Bellotti" userId="f453232b-f87d-4756-9d8b-c09bc835cc42" providerId="ADAL" clId="{C7FEA3FA-4936-41E1-B7FA-CA082069F7F7}" dt="2026-08-25T10:01:25.645" v="892" actId="27636"/>
          <ac:spMkLst>
            <pc:docMk/>
            <pc:sldMk cId="2009016373" sldId="294"/>
            <ac:spMk id="3" creationId="{0C474CED-5279-5DC0-49F6-2BD1A1346D54}"/>
          </ac:spMkLst>
        </pc:spChg>
      </pc:sldChg>
      <pc:sldChg chg="modSp new mod">
        <pc:chgData name="Francesco Bellotti" userId="f453232b-f87d-4756-9d8b-c09bc835cc42" providerId="ADAL" clId="{C7FEA3FA-4936-41E1-B7FA-CA082069F7F7}" dt="2026-08-25T10:07:16.476" v="942" actId="20577"/>
        <pc:sldMkLst>
          <pc:docMk/>
          <pc:sldMk cId="3801335366" sldId="295"/>
        </pc:sldMkLst>
        <pc:spChg chg="mod">
          <ac:chgData name="Francesco Bellotti" userId="f453232b-f87d-4756-9d8b-c09bc835cc42" providerId="ADAL" clId="{C7FEA3FA-4936-41E1-B7FA-CA082069F7F7}" dt="2026-08-25T09:51:36.659" v="817"/>
          <ac:spMkLst>
            <pc:docMk/>
            <pc:sldMk cId="3801335366" sldId="295"/>
            <ac:spMk id="2" creationId="{24E6DDF2-39A6-40AA-518F-130F5EF49EFB}"/>
          </ac:spMkLst>
        </pc:spChg>
        <pc:spChg chg="mod">
          <ac:chgData name="Francesco Bellotti" userId="f453232b-f87d-4756-9d8b-c09bc835cc42" providerId="ADAL" clId="{C7FEA3FA-4936-41E1-B7FA-CA082069F7F7}" dt="2026-08-25T10:07:16.476" v="942" actId="20577"/>
          <ac:spMkLst>
            <pc:docMk/>
            <pc:sldMk cId="3801335366" sldId="295"/>
            <ac:spMk id="3" creationId="{6F92AE78-FA5E-B9BB-060A-C12AC13090E7}"/>
          </ac:spMkLst>
        </pc:spChg>
      </pc:sldChg>
      <pc:sldChg chg="modSp add mod setBg">
        <pc:chgData name="Francesco Bellotti" userId="f453232b-f87d-4756-9d8b-c09bc835cc42" providerId="ADAL" clId="{C7FEA3FA-4936-41E1-B7FA-CA082069F7F7}" dt="2026-08-25T15:16:30.853" v="1041" actId="113"/>
        <pc:sldMkLst>
          <pc:docMk/>
          <pc:sldMk cId="0" sldId="296"/>
        </pc:sldMkLst>
        <pc:spChg chg="mod">
          <ac:chgData name="Francesco Bellotti" userId="f453232b-f87d-4756-9d8b-c09bc835cc42" providerId="ADAL" clId="{C7FEA3FA-4936-41E1-B7FA-CA082069F7F7}" dt="2026-08-25T15:16:30.853" v="1041" actId="113"/>
          <ac:spMkLst>
            <pc:docMk/>
            <pc:sldMk cId="0" sldId="296"/>
            <ac:spMk id="4" creationId="{00000000-0000-0000-0000-000000000000}"/>
          </ac:spMkLst>
        </pc:spChg>
        <pc:spChg chg="mod">
          <ac:chgData name="Francesco Bellotti" userId="f453232b-f87d-4756-9d8b-c09bc835cc42" providerId="ADAL" clId="{C7FEA3FA-4936-41E1-B7FA-CA082069F7F7}" dt="2026-08-25T09:52:58.883" v="821" actId="27636"/>
          <ac:spMkLst>
            <pc:docMk/>
            <pc:sldMk cId="0" sldId="296"/>
            <ac:spMk id="10" creationId="{00000000-0000-0000-0000-000000000000}"/>
          </ac:spMkLst>
        </pc:spChg>
      </pc:sldChg>
      <pc:sldChg chg="addSp delSp modSp add mod setBg">
        <pc:chgData name="Francesco Bellotti" userId="f453232b-f87d-4756-9d8b-c09bc835cc42" providerId="ADAL" clId="{C7FEA3FA-4936-41E1-B7FA-CA082069F7F7}" dt="2026-08-25T15:24:46.945" v="1136" actId="20577"/>
        <pc:sldMkLst>
          <pc:docMk/>
          <pc:sldMk cId="0" sldId="297"/>
        </pc:sldMkLst>
        <pc:spChg chg="mod">
          <ac:chgData name="Francesco Bellotti" userId="f453232b-f87d-4756-9d8b-c09bc835cc42" providerId="ADAL" clId="{C7FEA3FA-4936-41E1-B7FA-CA082069F7F7}" dt="2026-08-25T15:20:46.579" v="1080" actId="113"/>
          <ac:spMkLst>
            <pc:docMk/>
            <pc:sldMk cId="0" sldId="297"/>
            <ac:spMk id="4" creationId="{00000000-0000-0000-0000-000000000000}"/>
          </ac:spMkLst>
        </pc:spChg>
        <pc:spChg chg="mod">
          <ac:chgData name="Francesco Bellotti" userId="f453232b-f87d-4756-9d8b-c09bc835cc42" providerId="ADAL" clId="{C7FEA3FA-4936-41E1-B7FA-CA082069F7F7}" dt="2026-08-25T15:22:54.320" v="1082" actId="1076"/>
          <ac:spMkLst>
            <pc:docMk/>
            <pc:sldMk cId="0" sldId="297"/>
            <ac:spMk id="10" creationId="{00000000-0000-0000-0000-000000000000}"/>
          </ac:spMkLst>
        </pc:spChg>
        <pc:spChg chg="mod">
          <ac:chgData name="Francesco Bellotti" userId="f453232b-f87d-4756-9d8b-c09bc835cc42" providerId="ADAL" clId="{C7FEA3FA-4936-41E1-B7FA-CA082069F7F7}" dt="2026-08-25T15:22:54.320" v="1082" actId="1076"/>
          <ac:spMkLst>
            <pc:docMk/>
            <pc:sldMk cId="0" sldId="297"/>
            <ac:spMk id="11" creationId="{00000000-0000-0000-0000-000000000000}"/>
          </ac:spMkLst>
        </pc:spChg>
        <pc:spChg chg="mod">
          <ac:chgData name="Francesco Bellotti" userId="f453232b-f87d-4756-9d8b-c09bc835cc42" providerId="ADAL" clId="{C7FEA3FA-4936-41E1-B7FA-CA082069F7F7}" dt="2026-08-25T15:22:54.320" v="1082" actId="1076"/>
          <ac:spMkLst>
            <pc:docMk/>
            <pc:sldMk cId="0" sldId="297"/>
            <ac:spMk id="13" creationId="{00000000-0000-0000-0000-000000000000}"/>
          </ac:spMkLst>
        </pc:spChg>
        <pc:spChg chg="mod">
          <ac:chgData name="Francesco Bellotti" userId="f453232b-f87d-4756-9d8b-c09bc835cc42" providerId="ADAL" clId="{C7FEA3FA-4936-41E1-B7FA-CA082069F7F7}" dt="2026-08-25T15:22:54.320" v="1082" actId="1076"/>
          <ac:spMkLst>
            <pc:docMk/>
            <pc:sldMk cId="0" sldId="297"/>
            <ac:spMk id="15" creationId="{00000000-0000-0000-0000-000000000000}"/>
          </ac:spMkLst>
        </pc:spChg>
        <pc:spChg chg="mod">
          <ac:chgData name="Francesco Bellotti" userId="f453232b-f87d-4756-9d8b-c09bc835cc42" providerId="ADAL" clId="{C7FEA3FA-4936-41E1-B7FA-CA082069F7F7}" dt="2026-08-25T15:20:28.693" v="1077" actId="1076"/>
          <ac:spMkLst>
            <pc:docMk/>
            <pc:sldMk cId="0" sldId="297"/>
            <ac:spMk id="21" creationId="{00000000-0000-0000-0000-000000000000}"/>
          </ac:spMkLst>
        </pc:spChg>
        <pc:spChg chg="mod">
          <ac:chgData name="Francesco Bellotti" userId="f453232b-f87d-4756-9d8b-c09bc835cc42" providerId="ADAL" clId="{C7FEA3FA-4936-41E1-B7FA-CA082069F7F7}" dt="2026-08-25T15:22:58.355" v="1083" actId="14100"/>
          <ac:spMkLst>
            <pc:docMk/>
            <pc:sldMk cId="0" sldId="297"/>
            <ac:spMk id="22" creationId="{00000000-0000-0000-0000-000000000000}"/>
          </ac:spMkLst>
        </pc:spChg>
        <pc:spChg chg="add mod">
          <ac:chgData name="Francesco Bellotti" userId="f453232b-f87d-4756-9d8b-c09bc835cc42" providerId="ADAL" clId="{C7FEA3FA-4936-41E1-B7FA-CA082069F7F7}" dt="2026-08-25T15:24:46.945" v="1136" actId="20577"/>
          <ac:spMkLst>
            <pc:docMk/>
            <pc:sldMk cId="0" sldId="297"/>
            <ac:spMk id="25" creationId="{5F14A055-8A28-6D15-3452-375FAFA1E05A}"/>
          </ac:spMkLst>
        </pc:spChg>
      </pc:sldChg>
      <pc:sldChg chg="modSp add mod setBg">
        <pc:chgData name="Francesco Bellotti" userId="f453232b-f87d-4756-9d8b-c09bc835cc42" providerId="ADAL" clId="{C7FEA3FA-4936-41E1-B7FA-CA082069F7F7}" dt="2026-08-25T15:27:35.492" v="1200" actId="20577"/>
        <pc:sldMkLst>
          <pc:docMk/>
          <pc:sldMk cId="0" sldId="298"/>
        </pc:sldMkLst>
        <pc:spChg chg="mod">
          <ac:chgData name="Francesco Bellotti" userId="f453232b-f87d-4756-9d8b-c09bc835cc42" providerId="ADAL" clId="{C7FEA3FA-4936-41E1-B7FA-CA082069F7F7}" dt="2026-08-25T14:38:43.949" v="959" actId="1076"/>
          <ac:spMkLst>
            <pc:docMk/>
            <pc:sldMk cId="0" sldId="298"/>
            <ac:spMk id="5" creationId="{00000000-0000-0000-0000-000000000000}"/>
          </ac:spMkLst>
        </pc:spChg>
        <pc:spChg chg="mod">
          <ac:chgData name="Francesco Bellotti" userId="f453232b-f87d-4756-9d8b-c09bc835cc42" providerId="ADAL" clId="{C7FEA3FA-4936-41E1-B7FA-CA082069F7F7}" dt="2026-08-25T15:27:35.492" v="1200" actId="20577"/>
          <ac:spMkLst>
            <pc:docMk/>
            <pc:sldMk cId="0" sldId="298"/>
            <ac:spMk id="31" creationId="{00000000-0000-0000-0000-000000000000}"/>
          </ac:spMkLst>
        </pc:spChg>
        <pc:spChg chg="mod">
          <ac:chgData name="Francesco Bellotti" userId="f453232b-f87d-4756-9d8b-c09bc835cc42" providerId="ADAL" clId="{C7FEA3FA-4936-41E1-B7FA-CA082069F7F7}" dt="2026-08-25T15:26:48.554" v="1154" actId="1076"/>
          <ac:spMkLst>
            <pc:docMk/>
            <pc:sldMk cId="0" sldId="298"/>
            <ac:spMk id="32" creationId="{00000000-0000-0000-0000-000000000000}"/>
          </ac:spMkLst>
        </pc:spChg>
        <pc:spChg chg="mod">
          <ac:chgData name="Francesco Bellotti" userId="f453232b-f87d-4756-9d8b-c09bc835cc42" providerId="ADAL" clId="{C7FEA3FA-4936-41E1-B7FA-CA082069F7F7}" dt="2026-08-25T15:27:14.405" v="1156" actId="113"/>
          <ac:spMkLst>
            <pc:docMk/>
            <pc:sldMk cId="0" sldId="298"/>
            <ac:spMk id="33" creationId="{00000000-0000-0000-0000-000000000000}"/>
          </ac:spMkLst>
        </pc:spChg>
      </pc:sldChg>
      <pc:sldChg chg="modSp add mod setBg">
        <pc:chgData name="Francesco Bellotti" userId="f453232b-f87d-4756-9d8b-c09bc835cc42" providerId="ADAL" clId="{C7FEA3FA-4936-41E1-B7FA-CA082069F7F7}" dt="2026-08-25T15:30:33.041" v="1238" actId="113"/>
        <pc:sldMkLst>
          <pc:docMk/>
          <pc:sldMk cId="0" sldId="299"/>
        </pc:sldMkLst>
        <pc:spChg chg="mod">
          <ac:chgData name="Francesco Bellotti" userId="f453232b-f87d-4756-9d8b-c09bc835cc42" providerId="ADAL" clId="{C7FEA3FA-4936-41E1-B7FA-CA082069F7F7}" dt="2026-08-25T15:30:33.041" v="1238" actId="113"/>
          <ac:spMkLst>
            <pc:docMk/>
            <pc:sldMk cId="0" sldId="299"/>
            <ac:spMk id="19" creationId="{00000000-0000-0000-0000-000000000000}"/>
          </ac:spMkLst>
        </pc:spChg>
      </pc:sldChg>
      <pc:sldChg chg="addSp modSp add mod setBg">
        <pc:chgData name="Francesco Bellotti" userId="f453232b-f87d-4756-9d8b-c09bc835cc42" providerId="ADAL" clId="{C7FEA3FA-4936-41E1-B7FA-CA082069F7F7}" dt="2026-08-25T15:33:26.333" v="1255" actId="14100"/>
        <pc:sldMkLst>
          <pc:docMk/>
          <pc:sldMk cId="0" sldId="300"/>
        </pc:sldMkLst>
        <pc:spChg chg="mod">
          <ac:chgData name="Francesco Bellotti" userId="f453232b-f87d-4756-9d8b-c09bc835cc42" providerId="ADAL" clId="{C7FEA3FA-4936-41E1-B7FA-CA082069F7F7}" dt="2026-08-25T15:31:36.897" v="1251" actId="403"/>
          <ac:spMkLst>
            <pc:docMk/>
            <pc:sldMk cId="0" sldId="300"/>
            <ac:spMk id="24" creationId="{00000000-0000-0000-0000-000000000000}"/>
          </ac:spMkLst>
        </pc:spChg>
        <pc:cxnChg chg="add">
          <ac:chgData name="Francesco Bellotti" userId="f453232b-f87d-4756-9d8b-c09bc835cc42" providerId="ADAL" clId="{C7FEA3FA-4936-41E1-B7FA-CA082069F7F7}" dt="2026-08-25T15:33:17.773" v="1252" actId="11529"/>
          <ac:cxnSpMkLst>
            <pc:docMk/>
            <pc:sldMk cId="0" sldId="300"/>
            <ac:cxnSpMk id="26" creationId="{04AE6B49-4383-1A2F-7D06-E8C25E9A8023}"/>
          </ac:cxnSpMkLst>
        </pc:cxnChg>
        <pc:cxnChg chg="add mod">
          <ac:chgData name="Francesco Bellotti" userId="f453232b-f87d-4756-9d8b-c09bc835cc42" providerId="ADAL" clId="{C7FEA3FA-4936-41E1-B7FA-CA082069F7F7}" dt="2026-08-25T15:33:26.333" v="1255" actId="14100"/>
          <ac:cxnSpMkLst>
            <pc:docMk/>
            <pc:sldMk cId="0" sldId="300"/>
            <ac:cxnSpMk id="27" creationId="{2BB364CA-B91E-FF25-F408-1A5277151713}"/>
          </ac:cxnSpMkLst>
        </pc:cxnChg>
      </pc:sldChg>
      <pc:sldChg chg="addSp delSp modSp add mod setBg">
        <pc:chgData name="Francesco Bellotti" userId="f453232b-f87d-4756-9d8b-c09bc835cc42" providerId="ADAL" clId="{C7FEA3FA-4936-41E1-B7FA-CA082069F7F7}" dt="2026-08-25T15:41:23.256" v="1306" actId="1076"/>
        <pc:sldMkLst>
          <pc:docMk/>
          <pc:sldMk cId="0" sldId="301"/>
        </pc:sldMkLst>
        <pc:spChg chg="mod">
          <ac:chgData name="Francesco Bellotti" userId="f453232b-f87d-4756-9d8b-c09bc835cc42" providerId="ADAL" clId="{C7FEA3FA-4936-41E1-B7FA-CA082069F7F7}" dt="2026-08-25T15:36:08.794" v="1274" actId="14100"/>
          <ac:spMkLst>
            <pc:docMk/>
            <pc:sldMk cId="0" sldId="301"/>
            <ac:spMk id="17" creationId="{00000000-0000-0000-0000-000000000000}"/>
          </ac:spMkLst>
        </pc:spChg>
        <pc:spChg chg="mod">
          <ac:chgData name="Francesco Bellotti" userId="f453232b-f87d-4756-9d8b-c09bc835cc42" providerId="ADAL" clId="{C7FEA3FA-4936-41E1-B7FA-CA082069F7F7}" dt="2026-08-25T09:52:58.916" v="822" actId="27636"/>
          <ac:spMkLst>
            <pc:docMk/>
            <pc:sldMk cId="0" sldId="301"/>
            <ac:spMk id="18" creationId="{00000000-0000-0000-0000-000000000000}"/>
          </ac:spMkLst>
        </pc:spChg>
        <pc:spChg chg="add mod">
          <ac:chgData name="Francesco Bellotti" userId="f453232b-f87d-4756-9d8b-c09bc835cc42" providerId="ADAL" clId="{C7FEA3FA-4936-41E1-B7FA-CA082069F7F7}" dt="2026-08-25T15:38:54.218" v="1280" actId="1076"/>
          <ac:spMkLst>
            <pc:docMk/>
            <pc:sldMk cId="0" sldId="301"/>
            <ac:spMk id="21" creationId="{550F2B2C-F170-BD7B-E3E0-0686E89BE664}"/>
          </ac:spMkLst>
        </pc:spChg>
        <pc:spChg chg="add mod">
          <ac:chgData name="Francesco Bellotti" userId="f453232b-f87d-4756-9d8b-c09bc835cc42" providerId="ADAL" clId="{C7FEA3FA-4936-41E1-B7FA-CA082069F7F7}" dt="2026-08-25T15:41:23.256" v="1306" actId="1076"/>
          <ac:spMkLst>
            <pc:docMk/>
            <pc:sldMk cId="0" sldId="301"/>
            <ac:spMk id="23" creationId="{74DCEFEF-CB4C-17F5-293E-115D4E7981B9}"/>
          </ac:spMkLst>
        </pc:spChg>
      </pc:sldChg>
      <pc:sldChg chg="modSp add mod setBg">
        <pc:chgData name="Francesco Bellotti" userId="f453232b-f87d-4756-9d8b-c09bc835cc42" providerId="ADAL" clId="{C7FEA3FA-4936-41E1-B7FA-CA082069F7F7}" dt="2026-08-25T21:11:57.811" v="1395" actId="1076"/>
        <pc:sldMkLst>
          <pc:docMk/>
          <pc:sldMk cId="0" sldId="302"/>
        </pc:sldMkLst>
        <pc:spChg chg="mod">
          <ac:chgData name="Francesco Bellotti" userId="f453232b-f87d-4756-9d8b-c09bc835cc42" providerId="ADAL" clId="{C7FEA3FA-4936-41E1-B7FA-CA082069F7F7}" dt="2026-08-25T21:11:57.811" v="1395" actId="1076"/>
          <ac:spMkLst>
            <pc:docMk/>
            <pc:sldMk cId="0" sldId="302"/>
            <ac:spMk id="5" creationId="{00000000-0000-0000-0000-000000000000}"/>
          </ac:spMkLst>
        </pc:spChg>
      </pc:sldChg>
      <pc:sldChg chg="modSp add mod setBg">
        <pc:chgData name="Francesco Bellotti" userId="f453232b-f87d-4756-9d8b-c09bc835cc42" providerId="ADAL" clId="{C7FEA3FA-4936-41E1-B7FA-CA082069F7F7}" dt="2026-08-25T21:14:44.669" v="1429" actId="1076"/>
        <pc:sldMkLst>
          <pc:docMk/>
          <pc:sldMk cId="0" sldId="303"/>
        </pc:sldMkLst>
        <pc:spChg chg="mod">
          <ac:chgData name="Francesco Bellotti" userId="f453232b-f87d-4756-9d8b-c09bc835cc42" providerId="ADAL" clId="{C7FEA3FA-4936-41E1-B7FA-CA082069F7F7}" dt="2026-08-25T21:14:44.669" v="1429" actId="1076"/>
          <ac:spMkLst>
            <pc:docMk/>
            <pc:sldMk cId="0" sldId="303"/>
            <ac:spMk id="5" creationId="{00000000-0000-0000-0000-000000000000}"/>
          </ac:spMkLst>
        </pc:spChg>
      </pc:sldChg>
      <pc:sldChg chg="modSp add mod setBg">
        <pc:chgData name="Francesco Bellotti" userId="f453232b-f87d-4756-9d8b-c09bc835cc42" providerId="ADAL" clId="{C7FEA3FA-4936-41E1-B7FA-CA082069F7F7}" dt="2026-08-25T21:16:22.188" v="1441" actId="20577"/>
        <pc:sldMkLst>
          <pc:docMk/>
          <pc:sldMk cId="0" sldId="304"/>
        </pc:sldMkLst>
        <pc:spChg chg="mod">
          <ac:chgData name="Francesco Bellotti" userId="f453232b-f87d-4756-9d8b-c09bc835cc42" providerId="ADAL" clId="{C7FEA3FA-4936-41E1-B7FA-CA082069F7F7}" dt="2026-08-25T21:16:22.188" v="1441" actId="20577"/>
          <ac:spMkLst>
            <pc:docMk/>
            <pc:sldMk cId="0" sldId="304"/>
            <ac:spMk id="13" creationId="{00000000-0000-0000-0000-000000000000}"/>
          </ac:spMkLst>
        </pc:spChg>
      </pc:sldChg>
      <pc:sldChg chg="delSp modSp add mod setBg">
        <pc:chgData name="Francesco Bellotti" userId="f453232b-f87d-4756-9d8b-c09bc835cc42" providerId="ADAL" clId="{C7FEA3FA-4936-41E1-B7FA-CA082069F7F7}" dt="2026-08-25T21:18:39.058" v="1465" actId="1076"/>
        <pc:sldMkLst>
          <pc:docMk/>
          <pc:sldMk cId="0" sldId="305"/>
        </pc:sldMkLst>
        <pc:spChg chg="mod">
          <ac:chgData name="Francesco Bellotti" userId="f453232b-f87d-4756-9d8b-c09bc835cc42" providerId="ADAL" clId="{C7FEA3FA-4936-41E1-B7FA-CA082069F7F7}" dt="2026-08-25T21:18:39.058" v="1465" actId="1076"/>
          <ac:spMkLst>
            <pc:docMk/>
            <pc:sldMk cId="0" sldId="305"/>
            <ac:spMk id="5" creationId="{00000000-0000-0000-0000-000000000000}"/>
          </ac:spMkLst>
        </pc:spChg>
        <pc:spChg chg="mod">
          <ac:chgData name="Francesco Bellotti" userId="f453232b-f87d-4756-9d8b-c09bc835cc42" providerId="ADAL" clId="{C7FEA3FA-4936-41E1-B7FA-CA082069F7F7}" dt="2026-08-25T21:18:39.058" v="1465" actId="1076"/>
          <ac:spMkLst>
            <pc:docMk/>
            <pc:sldMk cId="0" sldId="305"/>
            <ac:spMk id="6" creationId="{00000000-0000-0000-0000-000000000000}"/>
          </ac:spMkLst>
        </pc:spChg>
        <pc:spChg chg="mod">
          <ac:chgData name="Francesco Bellotti" userId="f453232b-f87d-4756-9d8b-c09bc835cc42" providerId="ADAL" clId="{C7FEA3FA-4936-41E1-B7FA-CA082069F7F7}" dt="2026-08-25T21:18:39.058" v="1465" actId="1076"/>
          <ac:spMkLst>
            <pc:docMk/>
            <pc:sldMk cId="0" sldId="305"/>
            <ac:spMk id="7" creationId="{00000000-0000-0000-0000-000000000000}"/>
          </ac:spMkLst>
        </pc:spChg>
        <pc:spChg chg="mod">
          <ac:chgData name="Francesco Bellotti" userId="f453232b-f87d-4756-9d8b-c09bc835cc42" providerId="ADAL" clId="{C7FEA3FA-4936-41E1-B7FA-CA082069F7F7}" dt="2026-08-25T21:18:39.058" v="1465" actId="1076"/>
          <ac:spMkLst>
            <pc:docMk/>
            <pc:sldMk cId="0" sldId="305"/>
            <ac:spMk id="8" creationId="{00000000-0000-0000-0000-000000000000}"/>
          </ac:spMkLst>
        </pc:spChg>
        <pc:spChg chg="mod">
          <ac:chgData name="Francesco Bellotti" userId="f453232b-f87d-4756-9d8b-c09bc835cc42" providerId="ADAL" clId="{C7FEA3FA-4936-41E1-B7FA-CA082069F7F7}" dt="2026-08-25T21:18:15.374" v="1463" actId="20577"/>
          <ac:spMkLst>
            <pc:docMk/>
            <pc:sldMk cId="0" sldId="305"/>
            <ac:spMk id="12" creationId="{00000000-0000-0000-0000-000000000000}"/>
          </ac:spMkLst>
        </pc:spChg>
      </pc:sldChg>
      <pc:sldChg chg="modSp add mod setBg">
        <pc:chgData name="Francesco Bellotti" userId="f453232b-f87d-4756-9d8b-c09bc835cc42" providerId="ADAL" clId="{C7FEA3FA-4936-41E1-B7FA-CA082069F7F7}" dt="2026-08-25T21:19:46.281" v="1472" actId="14100"/>
        <pc:sldMkLst>
          <pc:docMk/>
          <pc:sldMk cId="0" sldId="306"/>
        </pc:sldMkLst>
        <pc:spChg chg="mod">
          <ac:chgData name="Francesco Bellotti" userId="f453232b-f87d-4756-9d8b-c09bc835cc42" providerId="ADAL" clId="{C7FEA3FA-4936-41E1-B7FA-CA082069F7F7}" dt="2026-08-25T21:19:46.281" v="1472" actId="14100"/>
          <ac:spMkLst>
            <pc:docMk/>
            <pc:sldMk cId="0" sldId="306"/>
            <ac:spMk id="25" creationId="{00000000-0000-0000-0000-000000000000}"/>
          </ac:spMkLst>
        </pc:spChg>
      </pc:sldChg>
      <pc:sldChg chg="modSp add mod setBg">
        <pc:chgData name="Francesco Bellotti" userId="f453232b-f87d-4756-9d8b-c09bc835cc42" providerId="ADAL" clId="{C7FEA3FA-4936-41E1-B7FA-CA082069F7F7}" dt="2026-08-25T21:21:50.418" v="1505" actId="113"/>
        <pc:sldMkLst>
          <pc:docMk/>
          <pc:sldMk cId="0" sldId="307"/>
        </pc:sldMkLst>
        <pc:spChg chg="mod">
          <ac:chgData name="Francesco Bellotti" userId="f453232b-f87d-4756-9d8b-c09bc835cc42" providerId="ADAL" clId="{C7FEA3FA-4936-41E1-B7FA-CA082069F7F7}" dt="2026-08-25T21:21:50.418" v="1505" actId="113"/>
          <ac:spMkLst>
            <pc:docMk/>
            <pc:sldMk cId="0" sldId="307"/>
            <ac:spMk id="4" creationId="{00000000-0000-0000-0000-000000000000}"/>
          </ac:spMkLst>
        </pc:spChg>
        <pc:spChg chg="mod">
          <ac:chgData name="Francesco Bellotti" userId="f453232b-f87d-4756-9d8b-c09bc835cc42" providerId="ADAL" clId="{C7FEA3FA-4936-41E1-B7FA-CA082069F7F7}" dt="2026-08-25T09:52:58.966" v="823" actId="27636"/>
          <ac:spMkLst>
            <pc:docMk/>
            <pc:sldMk cId="0" sldId="307"/>
            <ac:spMk id="28" creationId="{00000000-0000-0000-0000-000000000000}"/>
          </ac:spMkLst>
        </pc:spChg>
      </pc:sldChg>
      <pc:sldChg chg="add setBg">
        <pc:chgData name="Francesco Bellotti" userId="f453232b-f87d-4756-9d8b-c09bc835cc42" providerId="ADAL" clId="{C7FEA3FA-4936-41E1-B7FA-CA082069F7F7}" dt="2026-08-25T09:52:58.799" v="820"/>
        <pc:sldMkLst>
          <pc:docMk/>
          <pc:sldMk cId="0" sldId="308"/>
        </pc:sldMkLst>
      </pc:sldChg>
      <pc:sldChg chg="add setBg">
        <pc:chgData name="Francesco Bellotti" userId="f453232b-f87d-4756-9d8b-c09bc835cc42" providerId="ADAL" clId="{C7FEA3FA-4936-41E1-B7FA-CA082069F7F7}" dt="2026-08-25T09:52:58.799" v="820"/>
        <pc:sldMkLst>
          <pc:docMk/>
          <pc:sldMk cId="0" sldId="309"/>
        </pc:sldMkLst>
      </pc:sldChg>
      <pc:sldChg chg="modSp new mod">
        <pc:chgData name="Francesco Bellotti" userId="f453232b-f87d-4756-9d8b-c09bc835cc42" providerId="ADAL" clId="{C7FEA3FA-4936-41E1-B7FA-CA082069F7F7}" dt="2026-08-25T10:00:16.456" v="880" actId="27636"/>
        <pc:sldMkLst>
          <pc:docMk/>
          <pc:sldMk cId="1113242894" sldId="310"/>
        </pc:sldMkLst>
        <pc:spChg chg="mod">
          <ac:chgData name="Francesco Bellotti" userId="f453232b-f87d-4756-9d8b-c09bc835cc42" providerId="ADAL" clId="{C7FEA3FA-4936-41E1-B7FA-CA082069F7F7}" dt="2026-08-25T10:00:16.456" v="880" actId="27636"/>
          <ac:spMkLst>
            <pc:docMk/>
            <pc:sldMk cId="1113242894" sldId="310"/>
            <ac:spMk id="2" creationId="{A42634C1-3B61-644E-9E61-A31BC9EEA2CC}"/>
          </ac:spMkLst>
        </pc:spChg>
        <pc:spChg chg="mod">
          <ac:chgData name="Francesco Bellotti" userId="f453232b-f87d-4756-9d8b-c09bc835cc42" providerId="ADAL" clId="{C7FEA3FA-4936-41E1-B7FA-CA082069F7F7}" dt="2026-08-25T10:00:12.755" v="876" actId="21"/>
          <ac:spMkLst>
            <pc:docMk/>
            <pc:sldMk cId="1113242894" sldId="310"/>
            <ac:spMk id="3" creationId="{323CED59-0CEE-C963-1D11-222B7965C0B7}"/>
          </ac:spMkLst>
        </pc:spChg>
      </pc:sldChg>
      <pc:sldChg chg="modSp add mod">
        <pc:chgData name="Francesco Bellotti" userId="f453232b-f87d-4756-9d8b-c09bc835cc42" providerId="ADAL" clId="{C7FEA3FA-4936-41E1-B7FA-CA082069F7F7}" dt="2026-08-25T10:01:54.030" v="902" actId="113"/>
        <pc:sldMkLst>
          <pc:docMk/>
          <pc:sldMk cId="3457817016" sldId="311"/>
        </pc:sldMkLst>
        <pc:spChg chg="mod">
          <ac:chgData name="Francesco Bellotti" userId="f453232b-f87d-4756-9d8b-c09bc835cc42" providerId="ADAL" clId="{C7FEA3FA-4936-41E1-B7FA-CA082069F7F7}" dt="2026-08-25T10:01:54.030" v="902" actId="113"/>
          <ac:spMkLst>
            <pc:docMk/>
            <pc:sldMk cId="3457817016" sldId="311"/>
            <ac:spMk id="3" creationId="{B13453BE-F32B-60DF-41E7-C4F16E4AD049}"/>
          </ac:spMkLst>
        </pc:spChg>
      </pc:sldChg>
      <pc:sldChg chg="modSp new mod">
        <pc:chgData name="Francesco Bellotti" userId="f453232b-f87d-4756-9d8b-c09bc835cc42" providerId="ADAL" clId="{C7FEA3FA-4936-41E1-B7FA-CA082069F7F7}" dt="2026-08-25T15:14:21.944" v="1035" actId="27636"/>
        <pc:sldMkLst>
          <pc:docMk/>
          <pc:sldMk cId="2081295078" sldId="312"/>
        </pc:sldMkLst>
        <pc:spChg chg="mod">
          <ac:chgData name="Francesco Bellotti" userId="f453232b-f87d-4756-9d8b-c09bc835cc42" providerId="ADAL" clId="{C7FEA3FA-4936-41E1-B7FA-CA082069F7F7}" dt="2026-08-25T14:37:08.011" v="946"/>
          <ac:spMkLst>
            <pc:docMk/>
            <pc:sldMk cId="2081295078" sldId="312"/>
            <ac:spMk id="2" creationId="{86F3131F-3D58-3806-A9B1-F00BBB4BD258}"/>
          </ac:spMkLst>
        </pc:spChg>
        <pc:spChg chg="mod">
          <ac:chgData name="Francesco Bellotti" userId="f453232b-f87d-4756-9d8b-c09bc835cc42" providerId="ADAL" clId="{C7FEA3FA-4936-41E1-B7FA-CA082069F7F7}" dt="2026-08-25T15:14:21.944" v="1035" actId="27636"/>
          <ac:spMkLst>
            <pc:docMk/>
            <pc:sldMk cId="2081295078" sldId="312"/>
            <ac:spMk id="3" creationId="{DC1E474B-EAC9-7FD0-1664-D0883529520E}"/>
          </ac:spMkLst>
        </pc:spChg>
      </pc:sldChg>
      <pc:sldChg chg="addSp modSp new mod modClrScheme chgLayout">
        <pc:chgData name="Francesco Bellotti" userId="f453232b-f87d-4756-9d8b-c09bc835cc42" providerId="ADAL" clId="{C7FEA3FA-4936-41E1-B7FA-CA082069F7F7}" dt="2026-08-25T15:21:56.885" v="1081" actId="11529"/>
        <pc:sldMkLst>
          <pc:docMk/>
          <pc:sldMk cId="169477279" sldId="313"/>
        </pc:sldMkLst>
        <pc:spChg chg="mod ord">
          <ac:chgData name="Francesco Bellotti" userId="f453232b-f87d-4756-9d8b-c09bc835cc42" providerId="ADAL" clId="{C7FEA3FA-4936-41E1-B7FA-CA082069F7F7}" dt="2026-08-25T15:16:46.366" v="1044" actId="700"/>
          <ac:spMkLst>
            <pc:docMk/>
            <pc:sldMk cId="169477279" sldId="313"/>
            <ac:spMk id="2" creationId="{64367DA2-DC3B-5CCD-75A2-4A9818FB4E0B}"/>
          </ac:spMkLst>
        </pc:spChg>
        <pc:spChg chg="mod ord">
          <ac:chgData name="Francesco Bellotti" userId="f453232b-f87d-4756-9d8b-c09bc835cc42" providerId="ADAL" clId="{C7FEA3FA-4936-41E1-B7FA-CA082069F7F7}" dt="2026-08-25T15:19:38.503" v="1064" actId="113"/>
          <ac:spMkLst>
            <pc:docMk/>
            <pc:sldMk cId="169477279" sldId="313"/>
            <ac:spMk id="3" creationId="{6697C81E-3417-C50A-9600-42D27A6042F8}"/>
          </ac:spMkLst>
        </pc:spChg>
        <pc:spChg chg="add mod ord">
          <ac:chgData name="Francesco Bellotti" userId="f453232b-f87d-4756-9d8b-c09bc835cc42" providerId="ADAL" clId="{C7FEA3FA-4936-41E1-B7FA-CA082069F7F7}" dt="2026-08-25T15:20:08.963" v="1076" actId="113"/>
          <ac:spMkLst>
            <pc:docMk/>
            <pc:sldMk cId="169477279" sldId="313"/>
            <ac:spMk id="4" creationId="{52A70117-EFF3-31C4-F4A0-5909D5B00B86}"/>
          </ac:spMkLst>
        </pc:spChg>
        <pc:cxnChg chg="add">
          <ac:chgData name="Francesco Bellotti" userId="f453232b-f87d-4756-9d8b-c09bc835cc42" providerId="ADAL" clId="{C7FEA3FA-4936-41E1-B7FA-CA082069F7F7}" dt="2026-08-25T15:21:56.885" v="1081" actId="11529"/>
          <ac:cxnSpMkLst>
            <pc:docMk/>
            <pc:sldMk cId="169477279" sldId="313"/>
            <ac:cxnSpMk id="6" creationId="{5BACFA92-2F44-69F2-1A02-025D05D1A40E}"/>
          </ac:cxnSpMkLst>
        </pc:cxnChg>
      </pc:sldChg>
      <pc:sldChg chg="addSp modSp new mod">
        <pc:chgData name="Francesco Bellotti" userId="f453232b-f87d-4756-9d8b-c09bc835cc42" providerId="ADAL" clId="{C7FEA3FA-4936-41E1-B7FA-CA082069F7F7}" dt="2026-08-25T15:25:32.317" v="1146" actId="14100"/>
        <pc:sldMkLst>
          <pc:docMk/>
          <pc:sldMk cId="3067917552" sldId="314"/>
        </pc:sldMkLst>
        <pc:spChg chg="mod">
          <ac:chgData name="Francesco Bellotti" userId="f453232b-f87d-4756-9d8b-c09bc835cc42" providerId="ADAL" clId="{C7FEA3FA-4936-41E1-B7FA-CA082069F7F7}" dt="2026-08-25T14:37:59.099" v="952"/>
          <ac:spMkLst>
            <pc:docMk/>
            <pc:sldMk cId="3067917552" sldId="314"/>
            <ac:spMk id="2" creationId="{6743AFCF-479F-4CED-E0AF-3DC5CD348ED8}"/>
          </ac:spMkLst>
        </pc:spChg>
        <pc:spChg chg="mod">
          <ac:chgData name="Francesco Bellotti" userId="f453232b-f87d-4756-9d8b-c09bc835cc42" providerId="ADAL" clId="{C7FEA3FA-4936-41E1-B7FA-CA082069F7F7}" dt="2026-08-25T15:25:10.972" v="1143" actId="20577"/>
          <ac:spMkLst>
            <pc:docMk/>
            <pc:sldMk cId="3067917552" sldId="314"/>
            <ac:spMk id="3" creationId="{DC7C1F32-A95D-8E38-A49C-04EF4CA7CEA5}"/>
          </ac:spMkLst>
        </pc:spChg>
        <pc:picChg chg="add mod">
          <ac:chgData name="Francesco Bellotti" userId="f453232b-f87d-4756-9d8b-c09bc835cc42" providerId="ADAL" clId="{C7FEA3FA-4936-41E1-B7FA-CA082069F7F7}" dt="2026-08-25T15:25:32.317" v="1146" actId="14100"/>
          <ac:picMkLst>
            <pc:docMk/>
            <pc:sldMk cId="3067917552" sldId="314"/>
            <ac:picMk id="5" creationId="{D1BAF682-AAEC-32B2-DC23-170D04E6F6D0}"/>
          </ac:picMkLst>
        </pc:picChg>
      </pc:sldChg>
      <pc:sldChg chg="modSp new mod">
        <pc:chgData name="Francesco Bellotti" userId="f453232b-f87d-4756-9d8b-c09bc835cc42" providerId="ADAL" clId="{C7FEA3FA-4936-41E1-B7FA-CA082069F7F7}" dt="2026-08-25T15:26:12.272" v="1153" actId="113"/>
        <pc:sldMkLst>
          <pc:docMk/>
          <pc:sldMk cId="815883219" sldId="315"/>
        </pc:sldMkLst>
        <pc:spChg chg="mod">
          <ac:chgData name="Francesco Bellotti" userId="f453232b-f87d-4756-9d8b-c09bc835cc42" providerId="ADAL" clId="{C7FEA3FA-4936-41E1-B7FA-CA082069F7F7}" dt="2026-08-25T15:25:41.317" v="1147"/>
          <ac:spMkLst>
            <pc:docMk/>
            <pc:sldMk cId="815883219" sldId="315"/>
            <ac:spMk id="2" creationId="{B5D5FD9B-906D-F522-7958-DA84F0A1D2E0}"/>
          </ac:spMkLst>
        </pc:spChg>
        <pc:spChg chg="mod">
          <ac:chgData name="Francesco Bellotti" userId="f453232b-f87d-4756-9d8b-c09bc835cc42" providerId="ADAL" clId="{C7FEA3FA-4936-41E1-B7FA-CA082069F7F7}" dt="2026-08-25T15:26:12.272" v="1153" actId="113"/>
          <ac:spMkLst>
            <pc:docMk/>
            <pc:sldMk cId="815883219" sldId="315"/>
            <ac:spMk id="3" creationId="{5CFCF6E2-CB1F-D58D-9F6C-6263731E3EFB}"/>
          </ac:spMkLst>
        </pc:spChg>
      </pc:sldChg>
      <pc:sldChg chg="addSp modSp new mod modClrScheme chgLayout">
        <pc:chgData name="Francesco Bellotti" userId="f453232b-f87d-4756-9d8b-c09bc835cc42" providerId="ADAL" clId="{C7FEA3FA-4936-41E1-B7FA-CA082069F7F7}" dt="2026-08-25T15:29:36.319" v="1237" actId="113"/>
        <pc:sldMkLst>
          <pc:docMk/>
          <pc:sldMk cId="2490829675" sldId="316"/>
        </pc:sldMkLst>
        <pc:spChg chg="mod ord">
          <ac:chgData name="Francesco Bellotti" userId="f453232b-f87d-4756-9d8b-c09bc835cc42" providerId="ADAL" clId="{C7FEA3FA-4936-41E1-B7FA-CA082069F7F7}" dt="2026-08-25T15:27:50.065" v="1203" actId="700"/>
          <ac:spMkLst>
            <pc:docMk/>
            <pc:sldMk cId="2490829675" sldId="316"/>
            <ac:spMk id="2" creationId="{408B7414-9B43-D35E-FD8A-431326496877}"/>
          </ac:spMkLst>
        </pc:spChg>
        <pc:spChg chg="mod ord">
          <ac:chgData name="Francesco Bellotti" userId="f453232b-f87d-4756-9d8b-c09bc835cc42" providerId="ADAL" clId="{C7FEA3FA-4936-41E1-B7FA-CA082069F7F7}" dt="2026-08-25T15:29:25.409" v="1235" actId="27636"/>
          <ac:spMkLst>
            <pc:docMk/>
            <pc:sldMk cId="2490829675" sldId="316"/>
            <ac:spMk id="3" creationId="{64D7A0A7-EAD5-C816-E47A-443B12204947}"/>
          </ac:spMkLst>
        </pc:spChg>
        <pc:spChg chg="add mod ord">
          <ac:chgData name="Francesco Bellotti" userId="f453232b-f87d-4756-9d8b-c09bc835cc42" providerId="ADAL" clId="{C7FEA3FA-4936-41E1-B7FA-CA082069F7F7}" dt="2026-08-25T15:29:36.319" v="1237" actId="113"/>
          <ac:spMkLst>
            <pc:docMk/>
            <pc:sldMk cId="2490829675" sldId="316"/>
            <ac:spMk id="4" creationId="{36566CE3-675F-E122-F1FB-DA5EA194D042}"/>
          </ac:spMkLst>
        </pc:spChg>
      </pc:sldChg>
      <pc:sldChg chg="addSp modSp new mod modClrScheme chgLayout">
        <pc:chgData name="Francesco Bellotti" userId="f453232b-f87d-4756-9d8b-c09bc835cc42" providerId="ADAL" clId="{C7FEA3FA-4936-41E1-B7FA-CA082069F7F7}" dt="2026-08-25T15:31:04.058" v="1248" actId="27636"/>
        <pc:sldMkLst>
          <pc:docMk/>
          <pc:sldMk cId="2483897424" sldId="317"/>
        </pc:sldMkLst>
        <pc:spChg chg="mod ord">
          <ac:chgData name="Francesco Bellotti" userId="f453232b-f87d-4756-9d8b-c09bc835cc42" providerId="ADAL" clId="{C7FEA3FA-4936-41E1-B7FA-CA082069F7F7}" dt="2026-08-25T15:30:47.999" v="1241" actId="700"/>
          <ac:spMkLst>
            <pc:docMk/>
            <pc:sldMk cId="2483897424" sldId="317"/>
            <ac:spMk id="2" creationId="{61D6908A-424E-C8FC-6923-0BFDC0181457}"/>
          </ac:spMkLst>
        </pc:spChg>
        <pc:spChg chg="mod ord">
          <ac:chgData name="Francesco Bellotti" userId="f453232b-f87d-4756-9d8b-c09bc835cc42" providerId="ADAL" clId="{C7FEA3FA-4936-41E1-B7FA-CA082069F7F7}" dt="2026-08-25T15:31:04.058" v="1248" actId="27636"/>
          <ac:spMkLst>
            <pc:docMk/>
            <pc:sldMk cId="2483897424" sldId="317"/>
            <ac:spMk id="3" creationId="{27A6CE0E-6F55-7E5F-B3C6-6A2F1C1B08E2}"/>
          </ac:spMkLst>
        </pc:spChg>
        <pc:spChg chg="add mod ord">
          <ac:chgData name="Francesco Bellotti" userId="f453232b-f87d-4756-9d8b-c09bc835cc42" providerId="ADAL" clId="{C7FEA3FA-4936-41E1-B7FA-CA082069F7F7}" dt="2026-08-25T15:31:04.058" v="1247" actId="27636"/>
          <ac:spMkLst>
            <pc:docMk/>
            <pc:sldMk cId="2483897424" sldId="317"/>
            <ac:spMk id="4" creationId="{B1290BD0-487A-B1D0-9F2B-6EEDCC826B71}"/>
          </ac:spMkLst>
        </pc:spChg>
      </pc:sldChg>
      <pc:sldChg chg="modSp new mod">
        <pc:chgData name="Francesco Bellotti" userId="f453232b-f87d-4756-9d8b-c09bc835cc42" providerId="ADAL" clId="{C7FEA3FA-4936-41E1-B7FA-CA082069F7F7}" dt="2026-08-25T15:35:26.794" v="1271" actId="113"/>
        <pc:sldMkLst>
          <pc:docMk/>
          <pc:sldMk cId="2247271649" sldId="318"/>
        </pc:sldMkLst>
        <pc:spChg chg="mod">
          <ac:chgData name="Francesco Bellotti" userId="f453232b-f87d-4756-9d8b-c09bc835cc42" providerId="ADAL" clId="{C7FEA3FA-4936-41E1-B7FA-CA082069F7F7}" dt="2026-08-25T14:39:45.473" v="969"/>
          <ac:spMkLst>
            <pc:docMk/>
            <pc:sldMk cId="2247271649" sldId="318"/>
            <ac:spMk id="2" creationId="{B640E2B3-0B8E-BCAC-958F-F123B0CD317B}"/>
          </ac:spMkLst>
        </pc:spChg>
        <pc:spChg chg="mod">
          <ac:chgData name="Francesco Bellotti" userId="f453232b-f87d-4756-9d8b-c09bc835cc42" providerId="ADAL" clId="{C7FEA3FA-4936-41E1-B7FA-CA082069F7F7}" dt="2026-08-25T15:35:26.794" v="1271" actId="113"/>
          <ac:spMkLst>
            <pc:docMk/>
            <pc:sldMk cId="2247271649" sldId="318"/>
            <ac:spMk id="3" creationId="{5872C578-4B84-2B76-E212-720825E1F4F7}"/>
          </ac:spMkLst>
        </pc:spChg>
      </pc:sldChg>
      <pc:sldChg chg="modSp new">
        <pc:chgData name="Francesco Bellotti" userId="f453232b-f87d-4756-9d8b-c09bc835cc42" providerId="ADAL" clId="{C7FEA3FA-4936-41E1-B7FA-CA082069F7F7}" dt="2026-08-25T14:40:15.177" v="974"/>
        <pc:sldMkLst>
          <pc:docMk/>
          <pc:sldMk cId="3885308838" sldId="319"/>
        </pc:sldMkLst>
        <pc:spChg chg="mod">
          <ac:chgData name="Francesco Bellotti" userId="f453232b-f87d-4756-9d8b-c09bc835cc42" providerId="ADAL" clId="{C7FEA3FA-4936-41E1-B7FA-CA082069F7F7}" dt="2026-08-25T14:40:15.177" v="974"/>
          <ac:spMkLst>
            <pc:docMk/>
            <pc:sldMk cId="3885308838" sldId="319"/>
            <ac:spMk id="2" creationId="{0B027B0B-96B2-6EDD-8E92-D191620F0EB4}"/>
          </ac:spMkLst>
        </pc:spChg>
      </pc:sldChg>
      <pc:sldChg chg="addSp modSp new mod modClrScheme chgLayout">
        <pc:chgData name="Francesco Bellotti" userId="f453232b-f87d-4756-9d8b-c09bc835cc42" providerId="ADAL" clId="{C7FEA3FA-4936-41E1-B7FA-CA082069F7F7}" dt="2026-08-25T21:11:24.335" v="1389" actId="113"/>
        <pc:sldMkLst>
          <pc:docMk/>
          <pc:sldMk cId="3972193707" sldId="320"/>
        </pc:sldMkLst>
        <pc:spChg chg="mod ord">
          <ac:chgData name="Francesco Bellotti" userId="f453232b-f87d-4756-9d8b-c09bc835cc42" providerId="ADAL" clId="{C7FEA3FA-4936-41E1-B7FA-CA082069F7F7}" dt="2026-08-25T21:10:15.711" v="1361" actId="700"/>
          <ac:spMkLst>
            <pc:docMk/>
            <pc:sldMk cId="3972193707" sldId="320"/>
            <ac:spMk id="2" creationId="{FC3E4763-05CA-BDEC-4D7D-FAB18284179D}"/>
          </ac:spMkLst>
        </pc:spChg>
        <pc:spChg chg="mod ord">
          <ac:chgData name="Francesco Bellotti" userId="f453232b-f87d-4756-9d8b-c09bc835cc42" providerId="ADAL" clId="{C7FEA3FA-4936-41E1-B7FA-CA082069F7F7}" dt="2026-08-25T21:10:47.632" v="1379" actId="15"/>
          <ac:spMkLst>
            <pc:docMk/>
            <pc:sldMk cId="3972193707" sldId="320"/>
            <ac:spMk id="3" creationId="{5061C0E9-B080-A5DE-3B64-63FCB4616E24}"/>
          </ac:spMkLst>
        </pc:spChg>
        <pc:spChg chg="add mod ord">
          <ac:chgData name="Francesco Bellotti" userId="f453232b-f87d-4756-9d8b-c09bc835cc42" providerId="ADAL" clId="{C7FEA3FA-4936-41E1-B7FA-CA082069F7F7}" dt="2026-08-25T21:11:24.335" v="1389" actId="113"/>
          <ac:spMkLst>
            <pc:docMk/>
            <pc:sldMk cId="3972193707" sldId="320"/>
            <ac:spMk id="4" creationId="{438A515F-1860-CA4B-BA92-F81B79EFDCED}"/>
          </ac:spMkLst>
        </pc:spChg>
      </pc:sldChg>
      <pc:sldChg chg="modSp new mod">
        <pc:chgData name="Francesco Bellotti" userId="f453232b-f87d-4756-9d8b-c09bc835cc42" providerId="ADAL" clId="{C7FEA3FA-4936-41E1-B7FA-CA082069F7F7}" dt="2026-08-25T21:11:32.516" v="1391" actId="27636"/>
        <pc:sldMkLst>
          <pc:docMk/>
          <pc:sldMk cId="316465889" sldId="321"/>
        </pc:sldMkLst>
        <pc:spChg chg="mod">
          <ac:chgData name="Francesco Bellotti" userId="f453232b-f87d-4756-9d8b-c09bc835cc42" providerId="ADAL" clId="{C7FEA3FA-4936-41E1-B7FA-CA082069F7F7}" dt="2026-08-25T15:08:02.634" v="982"/>
          <ac:spMkLst>
            <pc:docMk/>
            <pc:sldMk cId="316465889" sldId="321"/>
            <ac:spMk id="2" creationId="{F3C28F1B-C989-C92B-3CC9-74900BDF4DB9}"/>
          </ac:spMkLst>
        </pc:spChg>
        <pc:spChg chg="mod">
          <ac:chgData name="Francesco Bellotti" userId="f453232b-f87d-4756-9d8b-c09bc835cc42" providerId="ADAL" clId="{C7FEA3FA-4936-41E1-B7FA-CA082069F7F7}" dt="2026-08-25T21:11:32.516" v="1391" actId="27636"/>
          <ac:spMkLst>
            <pc:docMk/>
            <pc:sldMk cId="316465889" sldId="321"/>
            <ac:spMk id="3" creationId="{161A9C02-BEE8-05BF-FE07-3EBF1A01363D}"/>
          </ac:spMkLst>
        </pc:spChg>
      </pc:sldChg>
      <pc:sldChg chg="addSp modSp new mod ord modClrScheme chgLayout">
        <pc:chgData name="Francesco Bellotti" userId="f453232b-f87d-4756-9d8b-c09bc835cc42" providerId="ADAL" clId="{C7FEA3FA-4936-41E1-B7FA-CA082069F7F7}" dt="2026-08-25T21:14:33.981" v="1428" actId="113"/>
        <pc:sldMkLst>
          <pc:docMk/>
          <pc:sldMk cId="1028264080" sldId="322"/>
        </pc:sldMkLst>
        <pc:spChg chg="mod ord">
          <ac:chgData name="Francesco Bellotti" userId="f453232b-f87d-4756-9d8b-c09bc835cc42" providerId="ADAL" clId="{C7FEA3FA-4936-41E1-B7FA-CA082069F7F7}" dt="2026-08-25T21:13:49.176" v="1405" actId="700"/>
          <ac:spMkLst>
            <pc:docMk/>
            <pc:sldMk cId="1028264080" sldId="322"/>
            <ac:spMk id="2" creationId="{A094E6A9-09ED-70AA-588B-720AC47CF7B9}"/>
          </ac:spMkLst>
        </pc:spChg>
        <pc:spChg chg="mod ord">
          <ac:chgData name="Francesco Bellotti" userId="f453232b-f87d-4756-9d8b-c09bc835cc42" providerId="ADAL" clId="{C7FEA3FA-4936-41E1-B7FA-CA082069F7F7}" dt="2026-08-25T21:14:09.540" v="1414" actId="15"/>
          <ac:spMkLst>
            <pc:docMk/>
            <pc:sldMk cId="1028264080" sldId="322"/>
            <ac:spMk id="3" creationId="{9FDAB446-044A-F49F-2E08-C6872A1026A7}"/>
          </ac:spMkLst>
        </pc:spChg>
        <pc:spChg chg="add mod ord">
          <ac:chgData name="Francesco Bellotti" userId="f453232b-f87d-4756-9d8b-c09bc835cc42" providerId="ADAL" clId="{C7FEA3FA-4936-41E1-B7FA-CA082069F7F7}" dt="2026-08-25T21:14:33.981" v="1428" actId="113"/>
          <ac:spMkLst>
            <pc:docMk/>
            <pc:sldMk cId="1028264080" sldId="322"/>
            <ac:spMk id="4" creationId="{6B227BA6-B289-7F40-50B1-7B958588524D}"/>
          </ac:spMkLst>
        </pc:spChg>
      </pc:sldChg>
      <pc:sldChg chg="addSp modSp new mod modClrScheme chgLayout">
        <pc:chgData name="Francesco Bellotti" userId="f453232b-f87d-4756-9d8b-c09bc835cc42" providerId="ADAL" clId="{C7FEA3FA-4936-41E1-B7FA-CA082069F7F7}" dt="2026-08-25T21:17:25.472" v="1446" actId="113"/>
        <pc:sldMkLst>
          <pc:docMk/>
          <pc:sldMk cId="3010804855" sldId="323"/>
        </pc:sldMkLst>
        <pc:spChg chg="mod ord">
          <ac:chgData name="Francesco Bellotti" userId="f453232b-f87d-4756-9d8b-c09bc835cc42" providerId="ADAL" clId="{C7FEA3FA-4936-41E1-B7FA-CA082069F7F7}" dt="2026-08-25T21:15:00.378" v="1432" actId="700"/>
          <ac:spMkLst>
            <pc:docMk/>
            <pc:sldMk cId="3010804855" sldId="323"/>
            <ac:spMk id="2" creationId="{8DACC53F-CC51-9305-6606-8E6AAA551BD9}"/>
          </ac:spMkLst>
        </pc:spChg>
        <pc:spChg chg="mod ord">
          <ac:chgData name="Francesco Bellotti" userId="f453232b-f87d-4756-9d8b-c09bc835cc42" providerId="ADAL" clId="{C7FEA3FA-4936-41E1-B7FA-CA082069F7F7}" dt="2026-08-25T21:15:17.614" v="1440" actId="27636"/>
          <ac:spMkLst>
            <pc:docMk/>
            <pc:sldMk cId="3010804855" sldId="323"/>
            <ac:spMk id="3" creationId="{80A24827-2024-2E5D-4CD5-752665729686}"/>
          </ac:spMkLst>
        </pc:spChg>
        <pc:spChg chg="add mod ord">
          <ac:chgData name="Francesco Bellotti" userId="f453232b-f87d-4756-9d8b-c09bc835cc42" providerId="ADAL" clId="{C7FEA3FA-4936-41E1-B7FA-CA082069F7F7}" dt="2026-08-25T21:17:25.472" v="1446" actId="113"/>
          <ac:spMkLst>
            <pc:docMk/>
            <pc:sldMk cId="3010804855" sldId="323"/>
            <ac:spMk id="4" creationId="{C60AA619-965E-820B-8B51-C5BB74C6C6D4}"/>
          </ac:spMkLst>
        </pc:spChg>
      </pc:sldChg>
      <pc:sldChg chg="addSp modSp new mod modClrScheme chgLayout">
        <pc:chgData name="Francesco Bellotti" userId="f453232b-f87d-4756-9d8b-c09bc835cc42" providerId="ADAL" clId="{C7FEA3FA-4936-41E1-B7FA-CA082069F7F7}" dt="2026-08-25T21:17:40.714" v="1451" actId="27636"/>
        <pc:sldMkLst>
          <pc:docMk/>
          <pc:sldMk cId="3915632148" sldId="324"/>
        </pc:sldMkLst>
        <pc:spChg chg="mod ord">
          <ac:chgData name="Francesco Bellotti" userId="f453232b-f87d-4756-9d8b-c09bc835cc42" providerId="ADAL" clId="{C7FEA3FA-4936-41E1-B7FA-CA082069F7F7}" dt="2026-08-25T21:17:38.422" v="1449" actId="700"/>
          <ac:spMkLst>
            <pc:docMk/>
            <pc:sldMk cId="3915632148" sldId="324"/>
            <ac:spMk id="2" creationId="{D2025C66-5AD8-8AFD-2A18-6472E740BF25}"/>
          </ac:spMkLst>
        </pc:spChg>
        <pc:spChg chg="mod ord">
          <ac:chgData name="Francesco Bellotti" userId="f453232b-f87d-4756-9d8b-c09bc835cc42" providerId="ADAL" clId="{C7FEA3FA-4936-41E1-B7FA-CA082069F7F7}" dt="2026-08-25T21:17:38.422" v="1449" actId="700"/>
          <ac:spMkLst>
            <pc:docMk/>
            <pc:sldMk cId="3915632148" sldId="324"/>
            <ac:spMk id="3" creationId="{8F81C723-AEF8-B8F9-6805-6C24C829D3C9}"/>
          </ac:spMkLst>
        </pc:spChg>
        <pc:spChg chg="add mod ord">
          <ac:chgData name="Francesco Bellotti" userId="f453232b-f87d-4756-9d8b-c09bc835cc42" providerId="ADAL" clId="{C7FEA3FA-4936-41E1-B7FA-CA082069F7F7}" dt="2026-08-25T21:17:40.714" v="1451" actId="27636"/>
          <ac:spMkLst>
            <pc:docMk/>
            <pc:sldMk cId="3915632148" sldId="324"/>
            <ac:spMk id="4" creationId="{C531D64D-3022-5C9A-61E2-B16DD1F71FFE}"/>
          </ac:spMkLst>
        </pc:spChg>
      </pc:sldChg>
      <pc:sldChg chg="addSp modSp new mod modClrScheme chgLayout">
        <pc:chgData name="Francesco Bellotti" userId="f453232b-f87d-4756-9d8b-c09bc835cc42" providerId="ADAL" clId="{C7FEA3FA-4936-41E1-B7FA-CA082069F7F7}" dt="2026-08-25T21:20:49.615" v="1488" actId="27636"/>
        <pc:sldMkLst>
          <pc:docMk/>
          <pc:sldMk cId="2977762612" sldId="325"/>
        </pc:sldMkLst>
        <pc:spChg chg="mod ord">
          <ac:chgData name="Francesco Bellotti" userId="f453232b-f87d-4756-9d8b-c09bc835cc42" providerId="ADAL" clId="{C7FEA3FA-4936-41E1-B7FA-CA082069F7F7}" dt="2026-08-25T21:19:00.777" v="1468" actId="700"/>
          <ac:spMkLst>
            <pc:docMk/>
            <pc:sldMk cId="2977762612" sldId="325"/>
            <ac:spMk id="2" creationId="{BE7A0FFF-AB0B-3F6F-3EF4-B14963A4D6A4}"/>
          </ac:spMkLst>
        </pc:spChg>
        <pc:spChg chg="mod ord">
          <ac:chgData name="Francesco Bellotti" userId="f453232b-f87d-4756-9d8b-c09bc835cc42" providerId="ADAL" clId="{C7FEA3FA-4936-41E1-B7FA-CA082069F7F7}" dt="2026-08-25T21:20:49.615" v="1487" actId="27636"/>
          <ac:spMkLst>
            <pc:docMk/>
            <pc:sldMk cId="2977762612" sldId="325"/>
            <ac:spMk id="3" creationId="{AB01AF85-1525-0EB6-5E3E-D626D69A85DA}"/>
          </ac:spMkLst>
        </pc:spChg>
        <pc:spChg chg="add mod ord">
          <ac:chgData name="Francesco Bellotti" userId="f453232b-f87d-4756-9d8b-c09bc835cc42" providerId="ADAL" clId="{C7FEA3FA-4936-41E1-B7FA-CA082069F7F7}" dt="2026-08-25T21:20:49.615" v="1488" actId="27636"/>
          <ac:spMkLst>
            <pc:docMk/>
            <pc:sldMk cId="2977762612" sldId="325"/>
            <ac:spMk id="4" creationId="{9D8E4D42-1E57-F6D8-3863-95557EE53BD3}"/>
          </ac:spMkLst>
        </pc:spChg>
      </pc:sldChg>
      <pc:sldChg chg="addSp modSp new mod modClrScheme chgLayout">
        <pc:chgData name="Francesco Bellotti" userId="f453232b-f87d-4756-9d8b-c09bc835cc42" providerId="ADAL" clId="{C7FEA3FA-4936-41E1-B7FA-CA082069F7F7}" dt="2026-08-25T21:22:40.528" v="1509" actId="20577"/>
        <pc:sldMkLst>
          <pc:docMk/>
          <pc:sldMk cId="1071226439" sldId="326"/>
        </pc:sldMkLst>
        <pc:spChg chg="mod ord">
          <ac:chgData name="Francesco Bellotti" userId="f453232b-f87d-4756-9d8b-c09bc835cc42" providerId="ADAL" clId="{C7FEA3FA-4936-41E1-B7FA-CA082069F7F7}" dt="2026-08-25T21:21:05.806" v="1491" actId="700"/>
          <ac:spMkLst>
            <pc:docMk/>
            <pc:sldMk cId="1071226439" sldId="326"/>
            <ac:spMk id="2" creationId="{FE9844BA-320B-1F6B-3604-2752F3848C26}"/>
          </ac:spMkLst>
        </pc:spChg>
        <pc:spChg chg="mod ord">
          <ac:chgData name="Francesco Bellotti" userId="f453232b-f87d-4756-9d8b-c09bc835cc42" providerId="ADAL" clId="{C7FEA3FA-4936-41E1-B7FA-CA082069F7F7}" dt="2026-08-25T21:21:16.881" v="1504" actId="27636"/>
          <ac:spMkLst>
            <pc:docMk/>
            <pc:sldMk cId="1071226439" sldId="326"/>
            <ac:spMk id="3" creationId="{F96F4043-F7EC-7DFC-EF13-89E5FFA1DC7F}"/>
          </ac:spMkLst>
        </pc:spChg>
        <pc:spChg chg="add mod ord">
          <ac:chgData name="Francesco Bellotti" userId="f453232b-f87d-4756-9d8b-c09bc835cc42" providerId="ADAL" clId="{C7FEA3FA-4936-41E1-B7FA-CA082069F7F7}" dt="2026-08-25T21:22:40.528" v="1509" actId="20577"/>
          <ac:spMkLst>
            <pc:docMk/>
            <pc:sldMk cId="1071226439" sldId="326"/>
            <ac:spMk id="4" creationId="{33930DE8-3096-0201-BE4B-7761E4D721E5}"/>
          </ac:spMkLst>
        </pc:spChg>
      </pc:sldChg>
      <pc:sldChg chg="modSp new mod">
        <pc:chgData name="Francesco Bellotti" userId="f453232b-f87d-4756-9d8b-c09bc835cc42" providerId="ADAL" clId="{C7FEA3FA-4936-41E1-B7FA-CA082069F7F7}" dt="2026-08-25T21:23:57.375" v="1527" actId="113"/>
        <pc:sldMkLst>
          <pc:docMk/>
          <pc:sldMk cId="3228650152" sldId="327"/>
        </pc:sldMkLst>
        <pc:spChg chg="mod">
          <ac:chgData name="Francesco Bellotti" userId="f453232b-f87d-4756-9d8b-c09bc835cc42" providerId="ADAL" clId="{C7FEA3FA-4936-41E1-B7FA-CA082069F7F7}" dt="2026-08-25T15:10:27.417" v="1009"/>
          <ac:spMkLst>
            <pc:docMk/>
            <pc:sldMk cId="3228650152" sldId="327"/>
            <ac:spMk id="2" creationId="{5FE94754-0FC0-CDC9-A554-622118B23FDA}"/>
          </ac:spMkLst>
        </pc:spChg>
        <pc:spChg chg="mod">
          <ac:chgData name="Francesco Bellotti" userId="f453232b-f87d-4756-9d8b-c09bc835cc42" providerId="ADAL" clId="{C7FEA3FA-4936-41E1-B7FA-CA082069F7F7}" dt="2026-08-25T21:23:57.375" v="1527" actId="113"/>
          <ac:spMkLst>
            <pc:docMk/>
            <pc:sldMk cId="3228650152" sldId="327"/>
            <ac:spMk id="3" creationId="{DA61A9B4-53D8-84E0-FAFE-92EDF1FE8981}"/>
          </ac:spMkLst>
        </pc:spChg>
      </pc:sldChg>
      <pc:sldChg chg="addSp modSp new mod modClrScheme chgLayout">
        <pc:chgData name="Francesco Bellotti" userId="f453232b-f87d-4756-9d8b-c09bc835cc42" providerId="ADAL" clId="{C7FEA3FA-4936-41E1-B7FA-CA082069F7F7}" dt="2026-08-25T21:26:01.133" v="1547" actId="15"/>
        <pc:sldMkLst>
          <pc:docMk/>
          <pc:sldMk cId="815421855" sldId="328"/>
        </pc:sldMkLst>
        <pc:spChg chg="mod ord">
          <ac:chgData name="Francesco Bellotti" userId="f453232b-f87d-4756-9d8b-c09bc835cc42" providerId="ADAL" clId="{C7FEA3FA-4936-41E1-B7FA-CA082069F7F7}" dt="2026-08-25T21:24:38.858" v="1532" actId="700"/>
          <ac:spMkLst>
            <pc:docMk/>
            <pc:sldMk cId="815421855" sldId="328"/>
            <ac:spMk id="2" creationId="{78905304-A5F2-5020-F6DF-861D85EDDE18}"/>
          </ac:spMkLst>
        </pc:spChg>
        <pc:spChg chg="mod ord">
          <ac:chgData name="Francesco Bellotti" userId="f453232b-f87d-4756-9d8b-c09bc835cc42" providerId="ADAL" clId="{C7FEA3FA-4936-41E1-B7FA-CA082069F7F7}" dt="2026-08-25T21:25:57.326" v="1546" actId="27636"/>
          <ac:spMkLst>
            <pc:docMk/>
            <pc:sldMk cId="815421855" sldId="328"/>
            <ac:spMk id="3" creationId="{E1CC5942-C3D9-34EA-9D64-D72441309608}"/>
          </ac:spMkLst>
        </pc:spChg>
        <pc:spChg chg="add mod ord">
          <ac:chgData name="Francesco Bellotti" userId="f453232b-f87d-4756-9d8b-c09bc835cc42" providerId="ADAL" clId="{C7FEA3FA-4936-41E1-B7FA-CA082069F7F7}" dt="2026-08-25T21:26:01.133" v="1547" actId="15"/>
          <ac:spMkLst>
            <pc:docMk/>
            <pc:sldMk cId="815421855" sldId="328"/>
            <ac:spMk id="4" creationId="{111B6FD5-B843-8289-A593-69C45F3A98F5}"/>
          </ac:spMkLst>
        </pc:spChg>
      </pc:sldChg>
      <pc:sldChg chg="modSp new mod">
        <pc:chgData name="Francesco Bellotti" userId="f453232b-f87d-4756-9d8b-c09bc835cc42" providerId="ADAL" clId="{C7FEA3FA-4936-41E1-B7FA-CA082069F7F7}" dt="2026-08-25T21:24:24.245" v="1529" actId="113"/>
        <pc:sldMkLst>
          <pc:docMk/>
          <pc:sldMk cId="880579880" sldId="329"/>
        </pc:sldMkLst>
        <pc:spChg chg="mod">
          <ac:chgData name="Francesco Bellotti" userId="f453232b-f87d-4756-9d8b-c09bc835cc42" providerId="ADAL" clId="{C7FEA3FA-4936-41E1-B7FA-CA082069F7F7}" dt="2026-08-25T15:11:21.872" v="1019"/>
          <ac:spMkLst>
            <pc:docMk/>
            <pc:sldMk cId="880579880" sldId="329"/>
            <ac:spMk id="2" creationId="{BAE90EEE-CA6C-8B8F-DFA9-962AC18766FE}"/>
          </ac:spMkLst>
        </pc:spChg>
        <pc:spChg chg="mod">
          <ac:chgData name="Francesco Bellotti" userId="f453232b-f87d-4756-9d8b-c09bc835cc42" providerId="ADAL" clId="{C7FEA3FA-4936-41E1-B7FA-CA082069F7F7}" dt="2026-08-25T21:24:24.245" v="1529" actId="113"/>
          <ac:spMkLst>
            <pc:docMk/>
            <pc:sldMk cId="880579880" sldId="329"/>
            <ac:spMk id="3" creationId="{681DD316-319E-86F4-4F31-32EEAC9B62A3}"/>
          </ac:spMkLst>
        </pc:spChg>
      </pc:sldChg>
      <pc:sldChg chg="modSp add mod ord setBg modNotes">
        <pc:chgData name="Francesco Bellotti" userId="f453232b-f87d-4756-9d8b-c09bc835cc42" providerId="ADAL" clId="{C7FEA3FA-4936-41E1-B7FA-CA082069F7F7}" dt="2026-08-26T08:45:36.009" v="1784"/>
        <pc:sldMkLst>
          <pc:docMk/>
          <pc:sldMk cId="0" sldId="330"/>
        </pc:sldMkLst>
        <pc:spChg chg="mod">
          <ac:chgData name="Francesco Bellotti" userId="f453232b-f87d-4756-9d8b-c09bc835cc42" providerId="ADAL" clId="{C7FEA3FA-4936-41E1-B7FA-CA082069F7F7}" dt="2026-08-26T08:42:47.849" v="1747" actId="403"/>
          <ac:spMkLst>
            <pc:docMk/>
            <pc:sldMk cId="0" sldId="330"/>
            <ac:spMk id="11" creationId="{00000000-0000-0000-0000-000000000000}"/>
          </ac:spMkLst>
        </pc:spChg>
        <pc:spChg chg="mod">
          <ac:chgData name="Francesco Bellotti" userId="f453232b-f87d-4756-9d8b-c09bc835cc42" providerId="ADAL" clId="{C7FEA3FA-4936-41E1-B7FA-CA082069F7F7}" dt="2026-08-26T08:42:41.145" v="1744" actId="20577"/>
          <ac:spMkLst>
            <pc:docMk/>
            <pc:sldMk cId="0" sldId="330"/>
            <ac:spMk id="16" creationId="{00000000-0000-0000-0000-000000000000}"/>
          </ac:spMkLst>
        </pc:spChg>
        <pc:spChg chg="mod">
          <ac:chgData name="Francesco Bellotti" userId="f453232b-f87d-4756-9d8b-c09bc835cc42" providerId="ADAL" clId="{C7FEA3FA-4936-41E1-B7FA-CA082069F7F7}" dt="2026-08-26T08:43:11.210" v="1750" actId="1076"/>
          <ac:spMkLst>
            <pc:docMk/>
            <pc:sldMk cId="0" sldId="330"/>
            <ac:spMk id="25" creationId="{00000000-0000-0000-0000-000000000000}"/>
          </ac:spMkLst>
        </pc:spChg>
        <pc:spChg chg="mod">
          <ac:chgData name="Francesco Bellotti" userId="f453232b-f87d-4756-9d8b-c09bc835cc42" providerId="ADAL" clId="{C7FEA3FA-4936-41E1-B7FA-CA082069F7F7}" dt="2026-08-26T08:43:41.030" v="1757" actId="14100"/>
          <ac:spMkLst>
            <pc:docMk/>
            <pc:sldMk cId="0" sldId="330"/>
            <ac:spMk id="26" creationId="{00000000-0000-0000-0000-000000000000}"/>
          </ac:spMkLst>
        </pc:spChg>
        <pc:spChg chg="mod">
          <ac:chgData name="Francesco Bellotti" userId="f453232b-f87d-4756-9d8b-c09bc835cc42" providerId="ADAL" clId="{C7FEA3FA-4936-41E1-B7FA-CA082069F7F7}" dt="2026-08-26T08:43:32.243" v="1754" actId="14100"/>
          <ac:spMkLst>
            <pc:docMk/>
            <pc:sldMk cId="0" sldId="330"/>
            <ac:spMk id="27" creationId="{00000000-0000-0000-0000-000000000000}"/>
          </ac:spMkLst>
        </pc:spChg>
        <pc:spChg chg="mod">
          <ac:chgData name="Francesco Bellotti" userId="f453232b-f87d-4756-9d8b-c09bc835cc42" providerId="ADAL" clId="{C7FEA3FA-4936-41E1-B7FA-CA082069F7F7}" dt="2026-08-26T08:43:28.208" v="1753" actId="14100"/>
          <ac:spMkLst>
            <pc:docMk/>
            <pc:sldMk cId="0" sldId="330"/>
            <ac:spMk id="28" creationId="{00000000-0000-0000-0000-000000000000}"/>
          </ac:spMkLst>
        </pc:spChg>
        <pc:spChg chg="mod">
          <ac:chgData name="Francesco Bellotti" userId="f453232b-f87d-4756-9d8b-c09bc835cc42" providerId="ADAL" clId="{C7FEA3FA-4936-41E1-B7FA-CA082069F7F7}" dt="2026-08-26T08:43:24.428" v="1752" actId="14100"/>
          <ac:spMkLst>
            <pc:docMk/>
            <pc:sldMk cId="0" sldId="330"/>
            <ac:spMk id="29" creationId="{00000000-0000-0000-0000-000000000000}"/>
          </ac:spMkLst>
        </pc:spChg>
        <pc:spChg chg="mod">
          <ac:chgData name="Francesco Bellotti" userId="f453232b-f87d-4756-9d8b-c09bc835cc42" providerId="ADAL" clId="{C7FEA3FA-4936-41E1-B7FA-CA082069F7F7}" dt="2026-08-26T08:43:20.569" v="1751" actId="14100"/>
          <ac:spMkLst>
            <pc:docMk/>
            <pc:sldMk cId="0" sldId="330"/>
            <ac:spMk id="30" creationId="{00000000-0000-0000-0000-000000000000}"/>
          </ac:spMkLst>
        </pc:spChg>
        <pc:spChg chg="mod">
          <ac:chgData name="Francesco Bellotti" userId="f453232b-f87d-4756-9d8b-c09bc835cc42" providerId="ADAL" clId="{C7FEA3FA-4936-41E1-B7FA-CA082069F7F7}" dt="2026-08-26T08:42:53.637" v="1749" actId="403"/>
          <ac:spMkLst>
            <pc:docMk/>
            <pc:sldMk cId="0" sldId="330"/>
            <ac:spMk id="31" creationId="{00000000-0000-0000-0000-000000000000}"/>
          </ac:spMkLst>
        </pc:spChg>
      </pc:sldChg>
      <pc:sldChg chg="modSp add mod ord setBg modNotes">
        <pc:chgData name="Francesco Bellotti" userId="f453232b-f87d-4756-9d8b-c09bc835cc42" providerId="ADAL" clId="{C7FEA3FA-4936-41E1-B7FA-CA082069F7F7}" dt="2026-08-26T08:48:40.574" v="1846"/>
        <pc:sldMkLst>
          <pc:docMk/>
          <pc:sldMk cId="0" sldId="331"/>
        </pc:sldMkLst>
        <pc:spChg chg="mod">
          <ac:chgData name="Francesco Bellotti" userId="f453232b-f87d-4756-9d8b-c09bc835cc42" providerId="ADAL" clId="{C7FEA3FA-4936-41E1-B7FA-CA082069F7F7}" dt="2026-08-26T08:47:22.780" v="1826" actId="403"/>
          <ac:spMkLst>
            <pc:docMk/>
            <pc:sldMk cId="0" sldId="331"/>
            <ac:spMk id="35" creationId="{00000000-0000-0000-0000-000000000000}"/>
          </ac:spMkLst>
        </pc:spChg>
        <pc:spChg chg="mod">
          <ac:chgData name="Francesco Bellotti" userId="f453232b-f87d-4756-9d8b-c09bc835cc42" providerId="ADAL" clId="{C7FEA3FA-4936-41E1-B7FA-CA082069F7F7}" dt="2026-08-26T08:47:36.078" v="1829" actId="403"/>
          <ac:spMkLst>
            <pc:docMk/>
            <pc:sldMk cId="0" sldId="331"/>
            <ac:spMk id="57" creationId="{00000000-0000-0000-0000-000000000000}"/>
          </ac:spMkLst>
        </pc:spChg>
      </pc:sldChg>
      <pc:sldChg chg="modSp add mod setBg modNotes">
        <pc:chgData name="Francesco Bellotti" userId="f453232b-f87d-4756-9d8b-c09bc835cc42" providerId="ADAL" clId="{C7FEA3FA-4936-41E1-B7FA-CA082069F7F7}" dt="2026-08-26T08:52:29.068" v="1884" actId="13926"/>
        <pc:sldMkLst>
          <pc:docMk/>
          <pc:sldMk cId="0" sldId="332"/>
        </pc:sldMkLst>
        <pc:spChg chg="mod">
          <ac:chgData name="Francesco Bellotti" userId="f453232b-f87d-4756-9d8b-c09bc835cc42" providerId="ADAL" clId="{C7FEA3FA-4936-41E1-B7FA-CA082069F7F7}" dt="2026-08-26T08:52:29.068" v="1884" actId="13926"/>
          <ac:spMkLst>
            <pc:docMk/>
            <pc:sldMk cId="0" sldId="332"/>
            <ac:spMk id="101" creationId="{00000000-0000-0000-0000-000000000000}"/>
          </ac:spMkLst>
        </pc:spChg>
      </pc:sldChg>
      <pc:sldChg chg="modSp add mod setBg modNotes">
        <pc:chgData name="Francesco Bellotti" userId="f453232b-f87d-4756-9d8b-c09bc835cc42" providerId="ADAL" clId="{C7FEA3FA-4936-41E1-B7FA-CA082069F7F7}" dt="2026-08-26T08:55:48.930" v="1901" actId="403"/>
        <pc:sldMkLst>
          <pc:docMk/>
          <pc:sldMk cId="0" sldId="333"/>
        </pc:sldMkLst>
        <pc:spChg chg="mod">
          <ac:chgData name="Francesco Bellotti" userId="f453232b-f87d-4756-9d8b-c09bc835cc42" providerId="ADAL" clId="{C7FEA3FA-4936-41E1-B7FA-CA082069F7F7}" dt="2026-08-26T08:55:48.930" v="1901" actId="403"/>
          <ac:spMkLst>
            <pc:docMk/>
            <pc:sldMk cId="0" sldId="333"/>
            <ac:spMk id="142" creationId="{00000000-0000-0000-0000-000000000000}"/>
          </ac:spMkLst>
        </pc:spChg>
      </pc:sldChg>
      <pc:sldChg chg="modSp add mod setBg modNotes">
        <pc:chgData name="Francesco Bellotti" userId="f453232b-f87d-4756-9d8b-c09bc835cc42" providerId="ADAL" clId="{C7FEA3FA-4936-41E1-B7FA-CA082069F7F7}" dt="2026-08-26T09:09:15.644" v="2080" actId="13926"/>
        <pc:sldMkLst>
          <pc:docMk/>
          <pc:sldMk cId="0" sldId="334"/>
        </pc:sldMkLst>
        <pc:spChg chg="mod">
          <ac:chgData name="Francesco Bellotti" userId="f453232b-f87d-4756-9d8b-c09bc835cc42" providerId="ADAL" clId="{C7FEA3FA-4936-41E1-B7FA-CA082069F7F7}" dt="2026-08-26T09:09:15.644" v="2080" actId="13926"/>
          <ac:spMkLst>
            <pc:docMk/>
            <pc:sldMk cId="0" sldId="334"/>
            <ac:spMk id="163" creationId="{00000000-0000-0000-0000-000000000000}"/>
          </ac:spMkLst>
        </pc:spChg>
      </pc:sldChg>
      <pc:sldChg chg="modSp add mod setBg modNotes">
        <pc:chgData name="Francesco Bellotti" userId="f453232b-f87d-4756-9d8b-c09bc835cc42" providerId="ADAL" clId="{C7FEA3FA-4936-41E1-B7FA-CA082069F7F7}" dt="2026-08-26T09:09:59.198" v="2082" actId="403"/>
        <pc:sldMkLst>
          <pc:docMk/>
          <pc:sldMk cId="0" sldId="335"/>
        </pc:sldMkLst>
        <pc:spChg chg="mod">
          <ac:chgData name="Francesco Bellotti" userId="f453232b-f87d-4756-9d8b-c09bc835cc42" providerId="ADAL" clId="{C7FEA3FA-4936-41E1-B7FA-CA082069F7F7}" dt="2026-08-26T09:09:59.198" v="2082" actId="403"/>
          <ac:spMkLst>
            <pc:docMk/>
            <pc:sldMk cId="0" sldId="335"/>
            <ac:spMk id="187" creationId="{00000000-0000-0000-0000-000000000000}"/>
          </ac:spMkLst>
        </pc:spChg>
      </pc:sldChg>
      <pc:sldChg chg="modSp add mod setBg modNotes">
        <pc:chgData name="Francesco Bellotti" userId="f453232b-f87d-4756-9d8b-c09bc835cc42" providerId="ADAL" clId="{C7FEA3FA-4936-41E1-B7FA-CA082069F7F7}" dt="2026-08-26T09:13:14.775" v="2125" actId="113"/>
        <pc:sldMkLst>
          <pc:docMk/>
          <pc:sldMk cId="0" sldId="336"/>
        </pc:sldMkLst>
        <pc:spChg chg="mod">
          <ac:chgData name="Francesco Bellotti" userId="f453232b-f87d-4756-9d8b-c09bc835cc42" providerId="ADAL" clId="{C7FEA3FA-4936-41E1-B7FA-CA082069F7F7}" dt="2026-08-26T09:13:14.775" v="2125" actId="113"/>
          <ac:spMkLst>
            <pc:docMk/>
            <pc:sldMk cId="0" sldId="336"/>
            <ac:spMk id="208" creationId="{00000000-0000-0000-0000-000000000000}"/>
          </ac:spMkLst>
        </pc:spChg>
      </pc:sldChg>
      <pc:sldChg chg="modSp add mod setBg modNotes">
        <pc:chgData name="Francesco Bellotti" userId="f453232b-f87d-4756-9d8b-c09bc835cc42" providerId="ADAL" clId="{C7FEA3FA-4936-41E1-B7FA-CA082069F7F7}" dt="2026-08-26T09:21:52.079" v="2297" actId="403"/>
        <pc:sldMkLst>
          <pc:docMk/>
          <pc:sldMk cId="0" sldId="337"/>
        </pc:sldMkLst>
        <pc:spChg chg="mod">
          <ac:chgData name="Francesco Bellotti" userId="f453232b-f87d-4756-9d8b-c09bc835cc42" providerId="ADAL" clId="{C7FEA3FA-4936-41E1-B7FA-CA082069F7F7}" dt="2026-08-26T09:21:44.734" v="2295" actId="403"/>
          <ac:spMkLst>
            <pc:docMk/>
            <pc:sldMk cId="0" sldId="337"/>
            <ac:spMk id="212" creationId="{00000000-0000-0000-0000-000000000000}"/>
          </ac:spMkLst>
        </pc:spChg>
        <pc:spChg chg="mod">
          <ac:chgData name="Francesco Bellotti" userId="f453232b-f87d-4756-9d8b-c09bc835cc42" providerId="ADAL" clId="{C7FEA3FA-4936-41E1-B7FA-CA082069F7F7}" dt="2026-08-26T09:21:52.079" v="2297" actId="403"/>
          <ac:spMkLst>
            <pc:docMk/>
            <pc:sldMk cId="0" sldId="337"/>
            <ac:spMk id="248" creationId="{00000000-0000-0000-0000-000000000000}"/>
          </ac:spMkLst>
        </pc:spChg>
      </pc:sldChg>
      <pc:sldChg chg="modSp add mod setBg modNotes">
        <pc:chgData name="Francesco Bellotti" userId="f453232b-f87d-4756-9d8b-c09bc835cc42" providerId="ADAL" clId="{C7FEA3FA-4936-41E1-B7FA-CA082069F7F7}" dt="2026-08-26T09:19:57.550" v="2236" actId="403"/>
        <pc:sldMkLst>
          <pc:docMk/>
          <pc:sldMk cId="0" sldId="338"/>
        </pc:sldMkLst>
        <pc:spChg chg="mod">
          <ac:chgData name="Francesco Bellotti" userId="f453232b-f87d-4756-9d8b-c09bc835cc42" providerId="ADAL" clId="{C7FEA3FA-4936-41E1-B7FA-CA082069F7F7}" dt="2026-08-26T09:19:57.550" v="2236" actId="403"/>
          <ac:spMkLst>
            <pc:docMk/>
            <pc:sldMk cId="0" sldId="338"/>
            <ac:spMk id="265" creationId="{00000000-0000-0000-0000-000000000000}"/>
          </ac:spMkLst>
        </pc:spChg>
      </pc:sldChg>
      <pc:sldChg chg="add setBg modNotes">
        <pc:chgData name="Francesco Bellotti" userId="f453232b-f87d-4756-9d8b-c09bc835cc42" providerId="ADAL" clId="{C7FEA3FA-4936-41E1-B7FA-CA082069F7F7}" dt="2026-08-25T15:13:20.762" v="1020"/>
        <pc:sldMkLst>
          <pc:docMk/>
          <pc:sldMk cId="0" sldId="339"/>
        </pc:sldMkLst>
      </pc:sldChg>
      <pc:sldChg chg="modSp add mod setBg modNotes">
        <pc:chgData name="Francesco Bellotti" userId="f453232b-f87d-4756-9d8b-c09bc835cc42" providerId="ADAL" clId="{C7FEA3FA-4936-41E1-B7FA-CA082069F7F7}" dt="2026-08-26T14:26:53.119" v="2378" actId="403"/>
        <pc:sldMkLst>
          <pc:docMk/>
          <pc:sldMk cId="0" sldId="340"/>
        </pc:sldMkLst>
        <pc:spChg chg="mod">
          <ac:chgData name="Francesco Bellotti" userId="f453232b-f87d-4756-9d8b-c09bc835cc42" providerId="ADAL" clId="{C7FEA3FA-4936-41E1-B7FA-CA082069F7F7}" dt="2026-08-26T14:26:53.119" v="2378" actId="403"/>
          <ac:spMkLst>
            <pc:docMk/>
            <pc:sldMk cId="0" sldId="340"/>
            <ac:spMk id="302" creationId="{00000000-0000-0000-0000-000000000000}"/>
          </ac:spMkLst>
        </pc:spChg>
      </pc:sldChg>
      <pc:sldChg chg="modSp add mod setBg modNotes">
        <pc:chgData name="Francesco Bellotti" userId="f453232b-f87d-4756-9d8b-c09bc835cc42" providerId="ADAL" clId="{C7FEA3FA-4936-41E1-B7FA-CA082069F7F7}" dt="2026-08-26T14:31:26.151" v="2466" actId="403"/>
        <pc:sldMkLst>
          <pc:docMk/>
          <pc:sldMk cId="0" sldId="341"/>
        </pc:sldMkLst>
        <pc:spChg chg="mod">
          <ac:chgData name="Francesco Bellotti" userId="f453232b-f87d-4756-9d8b-c09bc835cc42" providerId="ADAL" clId="{C7FEA3FA-4936-41E1-B7FA-CA082069F7F7}" dt="2026-08-26T14:31:15.611" v="2463" actId="113"/>
          <ac:spMkLst>
            <pc:docMk/>
            <pc:sldMk cId="0" sldId="341"/>
            <ac:spMk id="306" creationId="{00000000-0000-0000-0000-000000000000}"/>
          </ac:spMkLst>
        </pc:spChg>
        <pc:spChg chg="mod">
          <ac:chgData name="Francesco Bellotti" userId="f453232b-f87d-4756-9d8b-c09bc835cc42" providerId="ADAL" clId="{C7FEA3FA-4936-41E1-B7FA-CA082069F7F7}" dt="2026-08-26T14:31:01.985" v="2459" actId="13926"/>
          <ac:spMkLst>
            <pc:docMk/>
            <pc:sldMk cId="0" sldId="341"/>
            <ac:spMk id="355" creationId="{00000000-0000-0000-0000-000000000000}"/>
          </ac:spMkLst>
        </pc:spChg>
        <pc:spChg chg="mod">
          <ac:chgData name="Francesco Bellotti" userId="f453232b-f87d-4756-9d8b-c09bc835cc42" providerId="ADAL" clId="{C7FEA3FA-4936-41E1-B7FA-CA082069F7F7}" dt="2026-08-26T14:31:26.151" v="2466" actId="403"/>
          <ac:spMkLst>
            <pc:docMk/>
            <pc:sldMk cId="0" sldId="341"/>
            <ac:spMk id="356" creationId="{00000000-0000-0000-0000-000000000000}"/>
          </ac:spMkLst>
        </pc:spChg>
      </pc:sldChg>
      <pc:sldChg chg="modSp new mod">
        <pc:chgData name="Francesco Bellotti" userId="f453232b-f87d-4756-9d8b-c09bc835cc42" providerId="ADAL" clId="{C7FEA3FA-4936-41E1-B7FA-CA082069F7F7}" dt="2026-08-25T15:15:48.512" v="1040" actId="27636"/>
        <pc:sldMkLst>
          <pc:docMk/>
          <pc:sldMk cId="2031497217" sldId="342"/>
        </pc:sldMkLst>
        <pc:spChg chg="mod">
          <ac:chgData name="Francesco Bellotti" userId="f453232b-f87d-4756-9d8b-c09bc835cc42" providerId="ADAL" clId="{C7FEA3FA-4936-41E1-B7FA-CA082069F7F7}" dt="2026-08-25T15:14:03.552" v="1026"/>
          <ac:spMkLst>
            <pc:docMk/>
            <pc:sldMk cId="2031497217" sldId="342"/>
            <ac:spMk id="2" creationId="{04B0781D-51CF-F4E8-2931-6FFE9C4EBCEC}"/>
          </ac:spMkLst>
        </pc:spChg>
        <pc:spChg chg="mod">
          <ac:chgData name="Francesco Bellotti" userId="f453232b-f87d-4756-9d8b-c09bc835cc42" providerId="ADAL" clId="{C7FEA3FA-4936-41E1-B7FA-CA082069F7F7}" dt="2026-08-25T15:15:48.512" v="1040" actId="27636"/>
          <ac:spMkLst>
            <pc:docMk/>
            <pc:sldMk cId="2031497217" sldId="342"/>
            <ac:spMk id="3" creationId="{D3DE3D58-E4CD-D49A-DEE4-EA2058F78205}"/>
          </ac:spMkLst>
        </pc:spChg>
      </pc:sldChg>
      <pc:sldChg chg="modSp add mod">
        <pc:chgData name="Francesco Bellotti" userId="f453232b-f87d-4756-9d8b-c09bc835cc42" providerId="ADAL" clId="{C7FEA3FA-4936-41E1-B7FA-CA082069F7F7}" dt="2026-08-25T15:35:47.962" v="1273" actId="15"/>
        <pc:sldMkLst>
          <pc:docMk/>
          <pc:sldMk cId="3628830318" sldId="343"/>
        </pc:sldMkLst>
        <pc:spChg chg="mod">
          <ac:chgData name="Francesco Bellotti" userId="f453232b-f87d-4756-9d8b-c09bc835cc42" providerId="ADAL" clId="{C7FEA3FA-4936-41E1-B7FA-CA082069F7F7}" dt="2026-08-25T15:35:47.962" v="1273" actId="15"/>
          <ac:spMkLst>
            <pc:docMk/>
            <pc:sldMk cId="3628830318" sldId="343"/>
            <ac:spMk id="3" creationId="{0CA8E9B1-E7A4-306E-FCC4-D4A88F3DC54D}"/>
          </ac:spMkLst>
        </pc:spChg>
      </pc:sldChg>
      <pc:sldChg chg="modSp new mod">
        <pc:chgData name="Francesco Bellotti" userId="f453232b-f87d-4756-9d8b-c09bc835cc42" providerId="ADAL" clId="{C7FEA3FA-4936-41E1-B7FA-CA082069F7F7}" dt="2026-08-25T15:42:54.486" v="1358" actId="20577"/>
        <pc:sldMkLst>
          <pc:docMk/>
          <pc:sldMk cId="2274309820" sldId="344"/>
        </pc:sldMkLst>
        <pc:spChg chg="mod">
          <ac:chgData name="Francesco Bellotti" userId="f453232b-f87d-4756-9d8b-c09bc835cc42" providerId="ADAL" clId="{C7FEA3FA-4936-41E1-B7FA-CA082069F7F7}" dt="2026-08-25T15:42:29.919" v="1338" actId="20577"/>
          <ac:spMkLst>
            <pc:docMk/>
            <pc:sldMk cId="2274309820" sldId="344"/>
            <ac:spMk id="2" creationId="{8F0E619D-F219-7AEC-9987-97F0D1716970}"/>
          </ac:spMkLst>
        </pc:spChg>
        <pc:spChg chg="mod">
          <ac:chgData name="Francesco Bellotti" userId="f453232b-f87d-4756-9d8b-c09bc835cc42" providerId="ADAL" clId="{C7FEA3FA-4936-41E1-B7FA-CA082069F7F7}" dt="2026-08-25T15:42:54.486" v="1358" actId="20577"/>
          <ac:spMkLst>
            <pc:docMk/>
            <pc:sldMk cId="2274309820" sldId="344"/>
            <ac:spMk id="3" creationId="{3BA91994-4D45-0117-FCC2-72636E23DD0B}"/>
          </ac:spMkLst>
        </pc:spChg>
      </pc:sldChg>
      <pc:sldChg chg="modSp add mod">
        <pc:chgData name="Francesco Bellotti" userId="f453232b-f87d-4756-9d8b-c09bc835cc42" providerId="ADAL" clId="{C7FEA3FA-4936-41E1-B7FA-CA082069F7F7}" dt="2026-08-25T21:13:15.011" v="1402" actId="113"/>
        <pc:sldMkLst>
          <pc:docMk/>
          <pc:sldMk cId="1442868815" sldId="345"/>
        </pc:sldMkLst>
        <pc:spChg chg="mod">
          <ac:chgData name="Francesco Bellotti" userId="f453232b-f87d-4756-9d8b-c09bc835cc42" providerId="ADAL" clId="{C7FEA3FA-4936-41E1-B7FA-CA082069F7F7}" dt="2026-08-25T21:13:15.011" v="1402" actId="113"/>
          <ac:spMkLst>
            <pc:docMk/>
            <pc:sldMk cId="1442868815" sldId="345"/>
            <ac:spMk id="3" creationId="{D4A69F5A-5155-42CF-0090-3AB6CBC180B6}"/>
          </ac:spMkLst>
        </pc:spChg>
      </pc:sldChg>
      <pc:sldChg chg="modSp new">
        <pc:chgData name="Francesco Bellotti" userId="f453232b-f87d-4756-9d8b-c09bc835cc42" providerId="ADAL" clId="{C7FEA3FA-4936-41E1-B7FA-CA082069F7F7}" dt="2026-08-25T21:26:57.779" v="1549"/>
        <pc:sldMkLst>
          <pc:docMk/>
          <pc:sldMk cId="1193743998" sldId="346"/>
        </pc:sldMkLst>
        <pc:spChg chg="mod">
          <ac:chgData name="Francesco Bellotti" userId="f453232b-f87d-4756-9d8b-c09bc835cc42" providerId="ADAL" clId="{C7FEA3FA-4936-41E1-B7FA-CA082069F7F7}" dt="2026-08-25T21:26:57.779" v="1549"/>
          <ac:spMkLst>
            <pc:docMk/>
            <pc:sldMk cId="1193743998" sldId="346"/>
            <ac:spMk id="2" creationId="{9714DA3A-3CD9-2CEA-CF24-D7A6D51E728B}"/>
          </ac:spMkLst>
        </pc:spChg>
      </pc:sldChg>
      <pc:sldChg chg="addSp modSp new mod modClrScheme chgLayout">
        <pc:chgData name="Francesco Bellotti" userId="f453232b-f87d-4756-9d8b-c09bc835cc42" providerId="ADAL" clId="{C7FEA3FA-4936-41E1-B7FA-CA082069F7F7}" dt="2026-08-26T08:42:00.626" v="1732" actId="13926"/>
        <pc:sldMkLst>
          <pc:docMk/>
          <pc:sldMk cId="2078905257" sldId="347"/>
        </pc:sldMkLst>
        <pc:spChg chg="mod ord">
          <ac:chgData name="Francesco Bellotti" userId="f453232b-f87d-4756-9d8b-c09bc835cc42" providerId="ADAL" clId="{C7FEA3FA-4936-41E1-B7FA-CA082069F7F7}" dt="2026-08-26T08:40:58.824" v="1700" actId="700"/>
          <ac:spMkLst>
            <pc:docMk/>
            <pc:sldMk cId="2078905257" sldId="347"/>
            <ac:spMk id="2" creationId="{D52A1CC0-BDF5-A769-C172-C2AB53B91318}"/>
          </ac:spMkLst>
        </pc:spChg>
        <pc:spChg chg="mod ord">
          <ac:chgData name="Francesco Bellotti" userId="f453232b-f87d-4756-9d8b-c09bc835cc42" providerId="ADAL" clId="{C7FEA3FA-4936-41E1-B7FA-CA082069F7F7}" dt="2026-08-26T08:41:53.423" v="1730" actId="27636"/>
          <ac:spMkLst>
            <pc:docMk/>
            <pc:sldMk cId="2078905257" sldId="347"/>
            <ac:spMk id="3" creationId="{B6F57907-BE77-1511-1B9F-867626AA35B3}"/>
          </ac:spMkLst>
        </pc:spChg>
        <pc:spChg chg="add mod ord">
          <ac:chgData name="Francesco Bellotti" userId="f453232b-f87d-4756-9d8b-c09bc835cc42" providerId="ADAL" clId="{C7FEA3FA-4936-41E1-B7FA-CA082069F7F7}" dt="2026-08-26T08:42:00.626" v="1732" actId="13926"/>
          <ac:spMkLst>
            <pc:docMk/>
            <pc:sldMk cId="2078905257" sldId="347"/>
            <ac:spMk id="4" creationId="{DE766700-B4F7-6F12-084C-44A7F011DB45}"/>
          </ac:spMkLst>
        </pc:spChg>
      </pc:sldChg>
      <pc:sldChg chg="addSp modSp new mod ord modClrScheme chgLayout">
        <pc:chgData name="Francesco Bellotti" userId="f453232b-f87d-4756-9d8b-c09bc835cc42" providerId="ADAL" clId="{C7FEA3FA-4936-41E1-B7FA-CA082069F7F7}" dt="2026-08-26T08:48:31.903" v="1844" actId="113"/>
        <pc:sldMkLst>
          <pc:docMk/>
          <pc:sldMk cId="3253815439" sldId="348"/>
        </pc:sldMkLst>
        <pc:spChg chg="mod ord">
          <ac:chgData name="Francesco Bellotti" userId="f453232b-f87d-4756-9d8b-c09bc835cc42" providerId="ADAL" clId="{C7FEA3FA-4936-41E1-B7FA-CA082069F7F7}" dt="2026-08-26T08:42:13.438" v="1735" actId="700"/>
          <ac:spMkLst>
            <pc:docMk/>
            <pc:sldMk cId="3253815439" sldId="348"/>
            <ac:spMk id="2" creationId="{90D9F9FE-A0AF-08D5-90C5-9B5C8F00B378}"/>
          </ac:spMkLst>
        </pc:spChg>
        <pc:spChg chg="mod ord">
          <ac:chgData name="Francesco Bellotti" userId="f453232b-f87d-4756-9d8b-c09bc835cc42" providerId="ADAL" clId="{C7FEA3FA-4936-41E1-B7FA-CA082069F7F7}" dt="2026-08-26T08:48:26.109" v="1842" actId="27636"/>
          <ac:spMkLst>
            <pc:docMk/>
            <pc:sldMk cId="3253815439" sldId="348"/>
            <ac:spMk id="3" creationId="{C7001C31-F63F-F243-CE2E-2285E2CCDC98}"/>
          </ac:spMkLst>
        </pc:spChg>
        <pc:spChg chg="add mod ord">
          <ac:chgData name="Francesco Bellotti" userId="f453232b-f87d-4756-9d8b-c09bc835cc42" providerId="ADAL" clId="{C7FEA3FA-4936-41E1-B7FA-CA082069F7F7}" dt="2026-08-26T08:48:31.903" v="1844" actId="113"/>
          <ac:spMkLst>
            <pc:docMk/>
            <pc:sldMk cId="3253815439" sldId="348"/>
            <ac:spMk id="4" creationId="{186B06BB-2B5A-5BB1-2DB8-3750D5D28688}"/>
          </ac:spMkLst>
        </pc:spChg>
      </pc:sldChg>
      <pc:sldChg chg="addSp modSp new mod modClrScheme chgLayout">
        <pc:chgData name="Francesco Bellotti" userId="f453232b-f87d-4756-9d8b-c09bc835cc42" providerId="ADAL" clId="{C7FEA3FA-4936-41E1-B7FA-CA082069F7F7}" dt="2026-08-26T08:49:28.491" v="1855" actId="403"/>
        <pc:sldMkLst>
          <pc:docMk/>
          <pc:sldMk cId="1391173502" sldId="349"/>
        </pc:sldMkLst>
        <pc:spChg chg="mod ord">
          <ac:chgData name="Francesco Bellotti" userId="f453232b-f87d-4756-9d8b-c09bc835cc42" providerId="ADAL" clId="{C7FEA3FA-4936-41E1-B7FA-CA082069F7F7}" dt="2026-08-26T08:43:57.165" v="1760" actId="700"/>
          <ac:spMkLst>
            <pc:docMk/>
            <pc:sldMk cId="1391173502" sldId="349"/>
            <ac:spMk id="2" creationId="{0FC2E07B-F773-9901-EA52-EE8D60FEAC18}"/>
          </ac:spMkLst>
        </pc:spChg>
        <pc:spChg chg="mod ord">
          <ac:chgData name="Francesco Bellotti" userId="f453232b-f87d-4756-9d8b-c09bc835cc42" providerId="ADAL" clId="{C7FEA3FA-4936-41E1-B7FA-CA082069F7F7}" dt="2026-08-26T08:45:25.132" v="1782" actId="20577"/>
          <ac:spMkLst>
            <pc:docMk/>
            <pc:sldMk cId="1391173502" sldId="349"/>
            <ac:spMk id="3" creationId="{D4E388B1-8142-6CB4-34EC-D24083A88E3E}"/>
          </ac:spMkLst>
        </pc:spChg>
        <pc:spChg chg="add mod ord">
          <ac:chgData name="Francesco Bellotti" userId="f453232b-f87d-4756-9d8b-c09bc835cc42" providerId="ADAL" clId="{C7FEA3FA-4936-41E1-B7FA-CA082069F7F7}" dt="2026-08-26T08:49:28.491" v="1855" actId="403"/>
          <ac:spMkLst>
            <pc:docMk/>
            <pc:sldMk cId="1391173502" sldId="349"/>
            <ac:spMk id="4" creationId="{C2DBD670-0962-DFCA-7678-35155D0DF7E1}"/>
          </ac:spMkLst>
        </pc:spChg>
      </pc:sldChg>
      <pc:sldChg chg="addSp modSp new mod modClrScheme chgLayout">
        <pc:chgData name="Francesco Bellotti" userId="f453232b-f87d-4756-9d8b-c09bc835cc42" providerId="ADAL" clId="{C7FEA3FA-4936-41E1-B7FA-CA082069F7F7}" dt="2026-08-26T08:51:03.041" v="1877" actId="15"/>
        <pc:sldMkLst>
          <pc:docMk/>
          <pc:sldMk cId="977518196" sldId="350"/>
        </pc:sldMkLst>
        <pc:spChg chg="mod ord">
          <ac:chgData name="Francesco Bellotti" userId="f453232b-f87d-4756-9d8b-c09bc835cc42" providerId="ADAL" clId="{C7FEA3FA-4936-41E1-B7FA-CA082069F7F7}" dt="2026-08-26T08:46:21.460" v="1795" actId="700"/>
          <ac:spMkLst>
            <pc:docMk/>
            <pc:sldMk cId="977518196" sldId="350"/>
            <ac:spMk id="2" creationId="{E6F1790C-4432-2E76-F101-84F072700A85}"/>
          </ac:spMkLst>
        </pc:spChg>
        <pc:spChg chg="mod ord">
          <ac:chgData name="Francesco Bellotti" userId="f453232b-f87d-4756-9d8b-c09bc835cc42" providerId="ADAL" clId="{C7FEA3FA-4936-41E1-B7FA-CA082069F7F7}" dt="2026-08-26T08:50:15.197" v="1874" actId="27636"/>
          <ac:spMkLst>
            <pc:docMk/>
            <pc:sldMk cId="977518196" sldId="350"/>
            <ac:spMk id="3" creationId="{29F4F6CD-5D4B-A24B-9FFE-106DE878B597}"/>
          </ac:spMkLst>
        </pc:spChg>
        <pc:spChg chg="add mod ord">
          <ac:chgData name="Francesco Bellotti" userId="f453232b-f87d-4756-9d8b-c09bc835cc42" providerId="ADAL" clId="{C7FEA3FA-4936-41E1-B7FA-CA082069F7F7}" dt="2026-08-26T08:51:03.041" v="1877" actId="15"/>
          <ac:spMkLst>
            <pc:docMk/>
            <pc:sldMk cId="977518196" sldId="350"/>
            <ac:spMk id="4" creationId="{D6C73B41-A972-2A6C-81AD-256190068C71}"/>
          </ac:spMkLst>
        </pc:spChg>
      </pc:sldChg>
      <pc:sldChg chg="addSp modSp new mod modClrScheme chgLayout">
        <pc:chgData name="Francesco Bellotti" userId="f453232b-f87d-4756-9d8b-c09bc835cc42" providerId="ADAL" clId="{C7FEA3FA-4936-41E1-B7FA-CA082069F7F7}" dt="2026-08-26T08:53:17.136" v="1899" actId="113"/>
        <pc:sldMkLst>
          <pc:docMk/>
          <pc:sldMk cId="3448887758" sldId="351"/>
        </pc:sldMkLst>
        <pc:spChg chg="mod ord">
          <ac:chgData name="Francesco Bellotti" userId="f453232b-f87d-4756-9d8b-c09bc835cc42" providerId="ADAL" clId="{C7FEA3FA-4936-41E1-B7FA-CA082069F7F7}" dt="2026-08-26T08:46:34.649" v="1803" actId="700"/>
          <ac:spMkLst>
            <pc:docMk/>
            <pc:sldMk cId="3448887758" sldId="351"/>
            <ac:spMk id="2" creationId="{258B9565-4439-61B4-6E7F-90596D367423}"/>
          </ac:spMkLst>
        </pc:spChg>
        <pc:spChg chg="mod ord">
          <ac:chgData name="Francesco Bellotti" userId="f453232b-f87d-4756-9d8b-c09bc835cc42" providerId="ADAL" clId="{C7FEA3FA-4936-41E1-B7FA-CA082069F7F7}" dt="2026-08-26T08:46:36.096" v="1807" actId="27636"/>
          <ac:spMkLst>
            <pc:docMk/>
            <pc:sldMk cId="3448887758" sldId="351"/>
            <ac:spMk id="3" creationId="{8A4836AC-FD3D-CCB4-4DF0-328C0BBC0B4E}"/>
          </ac:spMkLst>
        </pc:spChg>
        <pc:spChg chg="add mod ord">
          <ac:chgData name="Francesco Bellotti" userId="f453232b-f87d-4756-9d8b-c09bc835cc42" providerId="ADAL" clId="{C7FEA3FA-4936-41E1-B7FA-CA082069F7F7}" dt="2026-08-26T08:53:17.136" v="1899" actId="113"/>
          <ac:spMkLst>
            <pc:docMk/>
            <pc:sldMk cId="3448887758" sldId="351"/>
            <ac:spMk id="4" creationId="{44336360-17FA-327F-B973-87607E04B571}"/>
          </ac:spMkLst>
        </pc:spChg>
      </pc:sldChg>
      <pc:sldChg chg="addSp modSp new mod modClrScheme chgLayout">
        <pc:chgData name="Francesco Bellotti" userId="f453232b-f87d-4756-9d8b-c09bc835cc42" providerId="ADAL" clId="{C7FEA3FA-4936-41E1-B7FA-CA082069F7F7}" dt="2026-08-26T09:07:24.092" v="2066" actId="113"/>
        <pc:sldMkLst>
          <pc:docMk/>
          <pc:sldMk cId="3360039637" sldId="352"/>
        </pc:sldMkLst>
        <pc:spChg chg="mod ord">
          <ac:chgData name="Francesco Bellotti" userId="f453232b-f87d-4756-9d8b-c09bc835cc42" providerId="ADAL" clId="{C7FEA3FA-4936-41E1-B7FA-CA082069F7F7}" dt="2026-08-26T08:46:46" v="1811" actId="700"/>
          <ac:spMkLst>
            <pc:docMk/>
            <pc:sldMk cId="3360039637" sldId="352"/>
            <ac:spMk id="2" creationId="{E75B93C0-41F1-2526-7B21-A4BD798D8827}"/>
          </ac:spMkLst>
        </pc:spChg>
        <pc:spChg chg="mod ord">
          <ac:chgData name="Francesco Bellotti" userId="f453232b-f87d-4756-9d8b-c09bc835cc42" providerId="ADAL" clId="{C7FEA3FA-4936-41E1-B7FA-CA082069F7F7}" dt="2026-08-26T09:07:16.219" v="2064" actId="27636"/>
          <ac:spMkLst>
            <pc:docMk/>
            <pc:sldMk cId="3360039637" sldId="352"/>
            <ac:spMk id="3" creationId="{27EFFC14-32CC-455A-E98A-6F1EE6C9D3BF}"/>
          </ac:spMkLst>
        </pc:spChg>
        <pc:spChg chg="add mod ord">
          <ac:chgData name="Francesco Bellotti" userId="f453232b-f87d-4756-9d8b-c09bc835cc42" providerId="ADAL" clId="{C7FEA3FA-4936-41E1-B7FA-CA082069F7F7}" dt="2026-08-26T09:07:24.092" v="2066" actId="113"/>
          <ac:spMkLst>
            <pc:docMk/>
            <pc:sldMk cId="3360039637" sldId="352"/>
            <ac:spMk id="4" creationId="{C8E916B3-7E0A-C6DB-3B9B-14AB3C83F867}"/>
          </ac:spMkLst>
        </pc:spChg>
      </pc:sldChg>
      <pc:sldChg chg="addSp modSp new mod modClrScheme chgLayout">
        <pc:chgData name="Francesco Bellotti" userId="f453232b-f87d-4756-9d8b-c09bc835cc42" providerId="ADAL" clId="{C7FEA3FA-4936-41E1-B7FA-CA082069F7F7}" dt="2026-08-26T09:08:25.703" v="2073" actId="27636"/>
        <pc:sldMkLst>
          <pc:docMk/>
          <pc:sldMk cId="670709932" sldId="353"/>
        </pc:sldMkLst>
        <pc:spChg chg="mod ord">
          <ac:chgData name="Francesco Bellotti" userId="f453232b-f87d-4756-9d8b-c09bc835cc42" providerId="ADAL" clId="{C7FEA3FA-4936-41E1-B7FA-CA082069F7F7}" dt="2026-08-26T08:46:59.022" v="1819" actId="700"/>
          <ac:spMkLst>
            <pc:docMk/>
            <pc:sldMk cId="670709932" sldId="353"/>
            <ac:spMk id="2" creationId="{4A852667-9AC3-8731-6D34-9FC523E1694D}"/>
          </ac:spMkLst>
        </pc:spChg>
        <pc:spChg chg="mod ord">
          <ac:chgData name="Francesco Bellotti" userId="f453232b-f87d-4756-9d8b-c09bc835cc42" providerId="ADAL" clId="{C7FEA3FA-4936-41E1-B7FA-CA082069F7F7}" dt="2026-08-26T09:08:25.703" v="2072" actId="27636"/>
          <ac:spMkLst>
            <pc:docMk/>
            <pc:sldMk cId="670709932" sldId="353"/>
            <ac:spMk id="3" creationId="{01D71C30-E689-0910-542A-E141A24B01AE}"/>
          </ac:spMkLst>
        </pc:spChg>
        <pc:spChg chg="add mod ord">
          <ac:chgData name="Francesco Bellotti" userId="f453232b-f87d-4756-9d8b-c09bc835cc42" providerId="ADAL" clId="{C7FEA3FA-4936-41E1-B7FA-CA082069F7F7}" dt="2026-08-26T09:08:25.703" v="2073" actId="27636"/>
          <ac:spMkLst>
            <pc:docMk/>
            <pc:sldMk cId="670709932" sldId="353"/>
            <ac:spMk id="4" creationId="{CDEAB1CE-AA68-1C95-6FC9-FCC3B67385EB}"/>
          </ac:spMkLst>
        </pc:spChg>
      </pc:sldChg>
      <pc:sldChg chg="modSp new">
        <pc:chgData name="Francesco Bellotti" userId="f453232b-f87d-4756-9d8b-c09bc835cc42" providerId="ADAL" clId="{C7FEA3FA-4936-41E1-B7FA-CA082069F7F7}" dt="2026-08-25T21:31:34.815" v="1581"/>
        <pc:sldMkLst>
          <pc:docMk/>
          <pc:sldMk cId="505156437" sldId="354"/>
        </pc:sldMkLst>
        <pc:spChg chg="mod">
          <ac:chgData name="Francesco Bellotti" userId="f453232b-f87d-4756-9d8b-c09bc835cc42" providerId="ADAL" clId="{C7FEA3FA-4936-41E1-B7FA-CA082069F7F7}" dt="2026-08-25T21:31:34.815" v="1581"/>
          <ac:spMkLst>
            <pc:docMk/>
            <pc:sldMk cId="505156437" sldId="354"/>
            <ac:spMk id="2" creationId="{D93D86A3-5500-1A05-C6E1-E9ECF4A7C80D}"/>
          </ac:spMkLst>
        </pc:spChg>
      </pc:sldChg>
      <pc:sldChg chg="modSp new mod">
        <pc:chgData name="Francesco Bellotti" userId="f453232b-f87d-4756-9d8b-c09bc835cc42" providerId="ADAL" clId="{C7FEA3FA-4936-41E1-B7FA-CA082069F7F7}" dt="2026-08-26T09:12:14.305" v="2110" actId="13926"/>
        <pc:sldMkLst>
          <pc:docMk/>
          <pc:sldMk cId="4234080499" sldId="355"/>
        </pc:sldMkLst>
        <pc:spChg chg="mod">
          <ac:chgData name="Francesco Bellotti" userId="f453232b-f87d-4756-9d8b-c09bc835cc42" providerId="ADAL" clId="{C7FEA3FA-4936-41E1-B7FA-CA082069F7F7}" dt="2026-08-25T21:32:32.267" v="1585"/>
          <ac:spMkLst>
            <pc:docMk/>
            <pc:sldMk cId="4234080499" sldId="355"/>
            <ac:spMk id="2" creationId="{37794D3A-E636-0BAD-64EF-AEC73C748B47}"/>
          </ac:spMkLst>
        </pc:spChg>
        <pc:spChg chg="mod">
          <ac:chgData name="Francesco Bellotti" userId="f453232b-f87d-4756-9d8b-c09bc835cc42" providerId="ADAL" clId="{C7FEA3FA-4936-41E1-B7FA-CA082069F7F7}" dt="2026-08-26T09:12:14.305" v="2110" actId="13926"/>
          <ac:spMkLst>
            <pc:docMk/>
            <pc:sldMk cId="4234080499" sldId="355"/>
            <ac:spMk id="3" creationId="{58D03DF6-331E-5C2F-6BB3-347EC488C9A1}"/>
          </ac:spMkLst>
        </pc:spChg>
      </pc:sldChg>
      <pc:sldChg chg="addSp modSp new mod modClrScheme chgLayout">
        <pc:chgData name="Francesco Bellotti" userId="f453232b-f87d-4756-9d8b-c09bc835cc42" providerId="ADAL" clId="{C7FEA3FA-4936-41E1-B7FA-CA082069F7F7}" dt="2026-08-26T09:12:48.643" v="2122" actId="13926"/>
        <pc:sldMkLst>
          <pc:docMk/>
          <pc:sldMk cId="729814743" sldId="356"/>
        </pc:sldMkLst>
        <pc:spChg chg="mod ord">
          <ac:chgData name="Francesco Bellotti" userId="f453232b-f87d-4756-9d8b-c09bc835cc42" providerId="ADAL" clId="{C7FEA3FA-4936-41E1-B7FA-CA082069F7F7}" dt="2026-08-26T09:10:57.252" v="2096" actId="700"/>
          <ac:spMkLst>
            <pc:docMk/>
            <pc:sldMk cId="729814743" sldId="356"/>
            <ac:spMk id="2" creationId="{B9DB907B-45E5-90C6-9497-37ED88044B0A}"/>
          </ac:spMkLst>
        </pc:spChg>
        <pc:spChg chg="mod ord">
          <ac:chgData name="Francesco Bellotti" userId="f453232b-f87d-4756-9d8b-c09bc835cc42" providerId="ADAL" clId="{C7FEA3FA-4936-41E1-B7FA-CA082069F7F7}" dt="2026-08-26T09:12:44.327" v="2120" actId="27636"/>
          <ac:spMkLst>
            <pc:docMk/>
            <pc:sldMk cId="729814743" sldId="356"/>
            <ac:spMk id="3" creationId="{1D2A0A84-0D3E-5C6D-9D0A-A5835345E86F}"/>
          </ac:spMkLst>
        </pc:spChg>
        <pc:spChg chg="add mod ord">
          <ac:chgData name="Francesco Bellotti" userId="f453232b-f87d-4756-9d8b-c09bc835cc42" providerId="ADAL" clId="{C7FEA3FA-4936-41E1-B7FA-CA082069F7F7}" dt="2026-08-26T09:12:48.643" v="2122" actId="13926"/>
          <ac:spMkLst>
            <pc:docMk/>
            <pc:sldMk cId="729814743" sldId="356"/>
            <ac:spMk id="4" creationId="{5CA0083C-9E86-CA1B-5C0F-4B5E0B021232}"/>
          </ac:spMkLst>
        </pc:spChg>
      </pc:sldChg>
      <pc:sldChg chg="modSp new mod">
        <pc:chgData name="Francesco Bellotti" userId="f453232b-f87d-4756-9d8b-c09bc835cc42" providerId="ADAL" clId="{C7FEA3FA-4936-41E1-B7FA-CA082069F7F7}" dt="2026-08-26T09:14:18.664" v="2130" actId="113"/>
        <pc:sldMkLst>
          <pc:docMk/>
          <pc:sldMk cId="2888267227" sldId="357"/>
        </pc:sldMkLst>
        <pc:spChg chg="mod">
          <ac:chgData name="Francesco Bellotti" userId="f453232b-f87d-4756-9d8b-c09bc835cc42" providerId="ADAL" clId="{C7FEA3FA-4936-41E1-B7FA-CA082069F7F7}" dt="2026-08-25T21:36:33.845" v="1618"/>
          <ac:spMkLst>
            <pc:docMk/>
            <pc:sldMk cId="2888267227" sldId="357"/>
            <ac:spMk id="2" creationId="{DB8B1B86-9013-6231-3E53-71CDC2968F80}"/>
          </ac:spMkLst>
        </pc:spChg>
        <pc:spChg chg="mod">
          <ac:chgData name="Francesco Bellotti" userId="f453232b-f87d-4756-9d8b-c09bc835cc42" providerId="ADAL" clId="{C7FEA3FA-4936-41E1-B7FA-CA082069F7F7}" dt="2026-08-26T09:14:18.664" v="2130" actId="113"/>
          <ac:spMkLst>
            <pc:docMk/>
            <pc:sldMk cId="2888267227" sldId="357"/>
            <ac:spMk id="3" creationId="{E93200CB-269A-CC40-C46F-20EE7B636E49}"/>
          </ac:spMkLst>
        </pc:spChg>
      </pc:sldChg>
      <pc:sldChg chg="addSp modSp new mod modClrScheme chgLayout">
        <pc:chgData name="Francesco Bellotti" userId="f453232b-f87d-4756-9d8b-c09bc835cc42" providerId="ADAL" clId="{C7FEA3FA-4936-41E1-B7FA-CA082069F7F7}" dt="2026-08-26T09:16:46.088" v="2169" actId="13926"/>
        <pc:sldMkLst>
          <pc:docMk/>
          <pc:sldMk cId="2125841077" sldId="358"/>
        </pc:sldMkLst>
        <pc:spChg chg="mod ord">
          <ac:chgData name="Francesco Bellotti" userId="f453232b-f87d-4756-9d8b-c09bc835cc42" providerId="ADAL" clId="{C7FEA3FA-4936-41E1-B7FA-CA082069F7F7}" dt="2026-08-26T09:14:29.203" v="2133" actId="700"/>
          <ac:spMkLst>
            <pc:docMk/>
            <pc:sldMk cId="2125841077" sldId="358"/>
            <ac:spMk id="2" creationId="{03041A26-F62C-D07E-DFAE-5631E82E4DEA}"/>
          </ac:spMkLst>
        </pc:spChg>
        <pc:spChg chg="mod ord">
          <ac:chgData name="Francesco Bellotti" userId="f453232b-f87d-4756-9d8b-c09bc835cc42" providerId="ADAL" clId="{C7FEA3FA-4936-41E1-B7FA-CA082069F7F7}" dt="2026-08-26T09:16:36.712" v="2165" actId="27636"/>
          <ac:spMkLst>
            <pc:docMk/>
            <pc:sldMk cId="2125841077" sldId="358"/>
            <ac:spMk id="3" creationId="{3FF0160E-A205-2BBE-EF4D-3FCCE2ED6D9F}"/>
          </ac:spMkLst>
        </pc:spChg>
        <pc:spChg chg="add mod ord">
          <ac:chgData name="Francesco Bellotti" userId="f453232b-f87d-4756-9d8b-c09bc835cc42" providerId="ADAL" clId="{C7FEA3FA-4936-41E1-B7FA-CA082069F7F7}" dt="2026-08-26T09:16:46.088" v="2169" actId="13926"/>
          <ac:spMkLst>
            <pc:docMk/>
            <pc:sldMk cId="2125841077" sldId="358"/>
            <ac:spMk id="4" creationId="{72FC48BE-9AB0-63CF-1DA1-2157785EFDF7}"/>
          </ac:spMkLst>
        </pc:spChg>
      </pc:sldChg>
      <pc:sldChg chg="modSp new mod">
        <pc:chgData name="Francesco Bellotti" userId="f453232b-f87d-4756-9d8b-c09bc835cc42" providerId="ADAL" clId="{C7FEA3FA-4936-41E1-B7FA-CA082069F7F7}" dt="2026-08-26T09:17:16.885" v="2173" actId="113"/>
        <pc:sldMkLst>
          <pc:docMk/>
          <pc:sldMk cId="61864580" sldId="359"/>
        </pc:sldMkLst>
        <pc:spChg chg="mod">
          <ac:chgData name="Francesco Bellotti" userId="f453232b-f87d-4756-9d8b-c09bc835cc42" providerId="ADAL" clId="{C7FEA3FA-4936-41E1-B7FA-CA082069F7F7}" dt="2026-08-25T21:39:12.023" v="1654"/>
          <ac:spMkLst>
            <pc:docMk/>
            <pc:sldMk cId="61864580" sldId="359"/>
            <ac:spMk id="2" creationId="{4B9C6345-DD43-6912-1FD8-18F300330314}"/>
          </ac:spMkLst>
        </pc:spChg>
        <pc:spChg chg="mod">
          <ac:chgData name="Francesco Bellotti" userId="f453232b-f87d-4756-9d8b-c09bc835cc42" providerId="ADAL" clId="{C7FEA3FA-4936-41E1-B7FA-CA082069F7F7}" dt="2026-08-26T09:17:16.885" v="2173" actId="113"/>
          <ac:spMkLst>
            <pc:docMk/>
            <pc:sldMk cId="61864580" sldId="359"/>
            <ac:spMk id="3" creationId="{5EF84EB1-9A18-8C63-BA3C-C3A889C171CA}"/>
          </ac:spMkLst>
        </pc:spChg>
      </pc:sldChg>
      <pc:sldChg chg="addSp modSp new mod modClrScheme chgLayout">
        <pc:chgData name="Francesco Bellotti" userId="f453232b-f87d-4756-9d8b-c09bc835cc42" providerId="ADAL" clId="{C7FEA3FA-4936-41E1-B7FA-CA082069F7F7}" dt="2026-08-26T09:21:14.021" v="2292" actId="113"/>
        <pc:sldMkLst>
          <pc:docMk/>
          <pc:sldMk cId="1605935041" sldId="360"/>
        </pc:sldMkLst>
        <pc:spChg chg="mod ord">
          <ac:chgData name="Francesco Bellotti" userId="f453232b-f87d-4756-9d8b-c09bc835cc42" providerId="ADAL" clId="{C7FEA3FA-4936-41E1-B7FA-CA082069F7F7}" dt="2026-08-26T09:17:32.816" v="2176" actId="700"/>
          <ac:spMkLst>
            <pc:docMk/>
            <pc:sldMk cId="1605935041" sldId="360"/>
            <ac:spMk id="2" creationId="{999F3DC0-962B-1166-5627-B245BB51A237}"/>
          </ac:spMkLst>
        </pc:spChg>
        <pc:spChg chg="mod ord">
          <ac:chgData name="Francesco Bellotti" userId="f453232b-f87d-4756-9d8b-c09bc835cc42" providerId="ADAL" clId="{C7FEA3FA-4936-41E1-B7FA-CA082069F7F7}" dt="2026-08-26T09:21:08.889" v="2290" actId="27636"/>
          <ac:spMkLst>
            <pc:docMk/>
            <pc:sldMk cId="1605935041" sldId="360"/>
            <ac:spMk id="3" creationId="{4C28825F-5375-0973-8795-229400A41A43}"/>
          </ac:spMkLst>
        </pc:spChg>
        <pc:spChg chg="add mod ord">
          <ac:chgData name="Francesco Bellotti" userId="f453232b-f87d-4756-9d8b-c09bc835cc42" providerId="ADAL" clId="{C7FEA3FA-4936-41E1-B7FA-CA082069F7F7}" dt="2026-08-26T09:21:14.021" v="2292" actId="113"/>
          <ac:spMkLst>
            <pc:docMk/>
            <pc:sldMk cId="1605935041" sldId="360"/>
            <ac:spMk id="4" creationId="{8FBA9626-C38B-22AD-F83F-D77280CC2697}"/>
          </ac:spMkLst>
        </pc:spChg>
      </pc:sldChg>
      <pc:sldChg chg="addSp modSp new mod modClrScheme chgLayout">
        <pc:chgData name="Francesco Bellotti" userId="f453232b-f87d-4756-9d8b-c09bc835cc42" providerId="ADAL" clId="{C7FEA3FA-4936-41E1-B7FA-CA082069F7F7}" dt="2026-08-26T09:19:52.137" v="2234" actId="20577"/>
        <pc:sldMkLst>
          <pc:docMk/>
          <pc:sldMk cId="3654632895" sldId="361"/>
        </pc:sldMkLst>
        <pc:spChg chg="mod ord">
          <ac:chgData name="Francesco Bellotti" userId="f453232b-f87d-4756-9d8b-c09bc835cc42" providerId="ADAL" clId="{C7FEA3FA-4936-41E1-B7FA-CA082069F7F7}" dt="2026-08-26T09:15:03.046" v="2150" actId="700"/>
          <ac:spMkLst>
            <pc:docMk/>
            <pc:sldMk cId="3654632895" sldId="361"/>
            <ac:spMk id="2" creationId="{C2BB6B75-DDEE-761D-8F31-4246B7A86D69}"/>
          </ac:spMkLst>
        </pc:spChg>
        <pc:spChg chg="mod ord">
          <ac:chgData name="Francesco Bellotti" userId="f453232b-f87d-4756-9d8b-c09bc835cc42" providerId="ADAL" clId="{C7FEA3FA-4936-41E1-B7FA-CA082069F7F7}" dt="2026-08-26T09:18:49.699" v="2220"/>
          <ac:spMkLst>
            <pc:docMk/>
            <pc:sldMk cId="3654632895" sldId="361"/>
            <ac:spMk id="3" creationId="{66F2D309-4613-7A88-E4AF-D8DB1B4397E2}"/>
          </ac:spMkLst>
        </pc:spChg>
        <pc:spChg chg="add mod ord">
          <ac:chgData name="Francesco Bellotti" userId="f453232b-f87d-4756-9d8b-c09bc835cc42" providerId="ADAL" clId="{C7FEA3FA-4936-41E1-B7FA-CA082069F7F7}" dt="2026-08-26T09:19:52.137" v="2234" actId="20577"/>
          <ac:spMkLst>
            <pc:docMk/>
            <pc:sldMk cId="3654632895" sldId="361"/>
            <ac:spMk id="4" creationId="{EBB847FB-94BC-44E1-D6F4-07CB3D2425C7}"/>
          </ac:spMkLst>
        </pc:spChg>
      </pc:sldChg>
      <pc:sldChg chg="addSp modSp new mod modClrScheme chgLayout">
        <pc:chgData name="Francesco Bellotti" userId="f453232b-f87d-4756-9d8b-c09bc835cc42" providerId="ADAL" clId="{C7FEA3FA-4936-41E1-B7FA-CA082069F7F7}" dt="2026-08-26T14:23:19.344" v="2310" actId="27636"/>
        <pc:sldMkLst>
          <pc:docMk/>
          <pc:sldMk cId="1450293111" sldId="362"/>
        </pc:sldMkLst>
        <pc:spChg chg="mod ord">
          <ac:chgData name="Francesco Bellotti" userId="f453232b-f87d-4756-9d8b-c09bc835cc42" providerId="ADAL" clId="{C7FEA3FA-4936-41E1-B7FA-CA082069F7F7}" dt="2026-08-26T14:23:07.475" v="2300" actId="700"/>
          <ac:spMkLst>
            <pc:docMk/>
            <pc:sldMk cId="1450293111" sldId="362"/>
            <ac:spMk id="2" creationId="{46576498-5EAF-2E35-1383-5E6B27317611}"/>
          </ac:spMkLst>
        </pc:spChg>
        <pc:spChg chg="mod ord">
          <ac:chgData name="Francesco Bellotti" userId="f453232b-f87d-4756-9d8b-c09bc835cc42" providerId="ADAL" clId="{C7FEA3FA-4936-41E1-B7FA-CA082069F7F7}" dt="2026-08-26T14:23:19.344" v="2310" actId="27636"/>
          <ac:spMkLst>
            <pc:docMk/>
            <pc:sldMk cId="1450293111" sldId="362"/>
            <ac:spMk id="3" creationId="{E600AC04-E39B-B63F-CA8E-54EDFC4CA7EA}"/>
          </ac:spMkLst>
        </pc:spChg>
        <pc:spChg chg="add mod ord">
          <ac:chgData name="Francesco Bellotti" userId="f453232b-f87d-4756-9d8b-c09bc835cc42" providerId="ADAL" clId="{C7FEA3FA-4936-41E1-B7FA-CA082069F7F7}" dt="2026-08-26T14:23:19.344" v="2309" actId="27636"/>
          <ac:spMkLst>
            <pc:docMk/>
            <pc:sldMk cId="1450293111" sldId="362"/>
            <ac:spMk id="4" creationId="{8FC36701-6FF8-23A7-83A8-B1C4E0E01BB2}"/>
          </ac:spMkLst>
        </pc:spChg>
      </pc:sldChg>
      <pc:sldChg chg="addSp modSp new mod modClrScheme chgLayout">
        <pc:chgData name="Francesco Bellotti" userId="f453232b-f87d-4756-9d8b-c09bc835cc42" providerId="ADAL" clId="{C7FEA3FA-4936-41E1-B7FA-CA082069F7F7}" dt="2026-08-26T14:26:04.036" v="2375" actId="115"/>
        <pc:sldMkLst>
          <pc:docMk/>
          <pc:sldMk cId="792118601" sldId="363"/>
        </pc:sldMkLst>
        <pc:spChg chg="mod ord">
          <ac:chgData name="Francesco Bellotti" userId="f453232b-f87d-4756-9d8b-c09bc835cc42" providerId="ADAL" clId="{C7FEA3FA-4936-41E1-B7FA-CA082069F7F7}" dt="2026-08-26T14:26:04.036" v="2375" actId="115"/>
          <ac:spMkLst>
            <pc:docMk/>
            <pc:sldMk cId="792118601" sldId="363"/>
            <ac:spMk id="2" creationId="{1F2561FB-1DD9-5120-C8C8-D59D2B4CE1B5}"/>
          </ac:spMkLst>
        </pc:spChg>
        <pc:spChg chg="mod ord">
          <ac:chgData name="Francesco Bellotti" userId="f453232b-f87d-4756-9d8b-c09bc835cc42" providerId="ADAL" clId="{C7FEA3FA-4936-41E1-B7FA-CA082069F7F7}" dt="2026-08-26T14:23:43.087" v="2322" actId="27636"/>
          <ac:spMkLst>
            <pc:docMk/>
            <pc:sldMk cId="792118601" sldId="363"/>
            <ac:spMk id="3" creationId="{8DFC8B16-BD87-936D-7023-38B33BC98A23}"/>
          </ac:spMkLst>
        </pc:spChg>
        <pc:spChg chg="add mod ord">
          <ac:chgData name="Francesco Bellotti" userId="f453232b-f87d-4756-9d8b-c09bc835cc42" providerId="ADAL" clId="{C7FEA3FA-4936-41E1-B7FA-CA082069F7F7}" dt="2026-08-26T14:25:55.544" v="2374" actId="113"/>
          <ac:spMkLst>
            <pc:docMk/>
            <pc:sldMk cId="792118601" sldId="363"/>
            <ac:spMk id="4" creationId="{D8278680-1EC3-0D73-687D-E209B0712393}"/>
          </ac:spMkLst>
        </pc:spChg>
      </pc:sldChg>
      <pc:sldChg chg="addSp modSp new mod modClrScheme chgLayout">
        <pc:chgData name="Francesco Bellotti" userId="f453232b-f87d-4756-9d8b-c09bc835cc42" providerId="ADAL" clId="{C7FEA3FA-4936-41E1-B7FA-CA082069F7F7}" dt="2026-08-26T14:24:03.724" v="2339" actId="27636"/>
        <pc:sldMkLst>
          <pc:docMk/>
          <pc:sldMk cId="1625443031" sldId="364"/>
        </pc:sldMkLst>
        <pc:spChg chg="mod ord">
          <ac:chgData name="Francesco Bellotti" userId="f453232b-f87d-4756-9d8b-c09bc835cc42" providerId="ADAL" clId="{C7FEA3FA-4936-41E1-B7FA-CA082069F7F7}" dt="2026-08-26T14:23:53.235" v="2325" actId="700"/>
          <ac:spMkLst>
            <pc:docMk/>
            <pc:sldMk cId="1625443031" sldId="364"/>
            <ac:spMk id="2" creationId="{DC319A06-250C-CB61-9FA5-03B33720E8FB}"/>
          </ac:spMkLst>
        </pc:spChg>
        <pc:spChg chg="mod ord">
          <ac:chgData name="Francesco Bellotti" userId="f453232b-f87d-4756-9d8b-c09bc835cc42" providerId="ADAL" clId="{C7FEA3FA-4936-41E1-B7FA-CA082069F7F7}" dt="2026-08-26T14:24:03.724" v="2339" actId="27636"/>
          <ac:spMkLst>
            <pc:docMk/>
            <pc:sldMk cId="1625443031" sldId="364"/>
            <ac:spMk id="3" creationId="{5803ACC6-8FC1-801F-CB81-9B2D289E1381}"/>
          </ac:spMkLst>
        </pc:spChg>
        <pc:spChg chg="add mod ord">
          <ac:chgData name="Francesco Bellotti" userId="f453232b-f87d-4756-9d8b-c09bc835cc42" providerId="ADAL" clId="{C7FEA3FA-4936-41E1-B7FA-CA082069F7F7}" dt="2026-08-26T14:24:03.724" v="2338" actId="27636"/>
          <ac:spMkLst>
            <pc:docMk/>
            <pc:sldMk cId="1625443031" sldId="364"/>
            <ac:spMk id="4" creationId="{7C0E5706-B175-D252-9F74-0DAD3CDC55B1}"/>
          </ac:spMkLst>
        </pc:spChg>
      </pc:sldChg>
      <pc:sldChg chg="addSp modSp new mod modClrScheme chgLayout">
        <pc:chgData name="Francesco Bellotti" userId="f453232b-f87d-4756-9d8b-c09bc835cc42" providerId="ADAL" clId="{C7FEA3FA-4936-41E1-B7FA-CA082069F7F7}" dt="2026-08-26T14:28:34.854" v="2417" actId="113"/>
        <pc:sldMkLst>
          <pc:docMk/>
          <pc:sldMk cId="3789246910" sldId="365"/>
        </pc:sldMkLst>
        <pc:spChg chg="mod ord">
          <ac:chgData name="Francesco Bellotti" userId="f453232b-f87d-4756-9d8b-c09bc835cc42" providerId="ADAL" clId="{C7FEA3FA-4936-41E1-B7FA-CA082069F7F7}" dt="2026-08-26T14:27:05.904" v="2383" actId="20577"/>
          <ac:spMkLst>
            <pc:docMk/>
            <pc:sldMk cId="3789246910" sldId="365"/>
            <ac:spMk id="2" creationId="{A2FF3293-1127-40D9-52FF-9849F064BEC9}"/>
          </ac:spMkLst>
        </pc:spChg>
        <pc:spChg chg="mod ord">
          <ac:chgData name="Francesco Bellotti" userId="f453232b-f87d-4756-9d8b-c09bc835cc42" providerId="ADAL" clId="{C7FEA3FA-4936-41E1-B7FA-CA082069F7F7}" dt="2026-08-26T14:28:18.720" v="2414" actId="15"/>
          <ac:spMkLst>
            <pc:docMk/>
            <pc:sldMk cId="3789246910" sldId="365"/>
            <ac:spMk id="3" creationId="{7ED21B3D-8A12-7259-B1A0-1DFAB6D89898}"/>
          </ac:spMkLst>
        </pc:spChg>
        <pc:spChg chg="add mod ord">
          <ac:chgData name="Francesco Bellotti" userId="f453232b-f87d-4756-9d8b-c09bc835cc42" providerId="ADAL" clId="{C7FEA3FA-4936-41E1-B7FA-CA082069F7F7}" dt="2026-08-26T14:28:34.854" v="2417" actId="113"/>
          <ac:spMkLst>
            <pc:docMk/>
            <pc:sldMk cId="3789246910" sldId="365"/>
            <ac:spMk id="4" creationId="{7765E137-4639-29C6-4111-56DEDA30F30D}"/>
          </ac:spMkLst>
        </pc:spChg>
      </pc:sldChg>
      <pc:sldChg chg="addSp modSp new mod modClrScheme chgLayout">
        <pc:chgData name="Francesco Bellotti" userId="f453232b-f87d-4756-9d8b-c09bc835cc42" providerId="ADAL" clId="{C7FEA3FA-4936-41E1-B7FA-CA082069F7F7}" dt="2026-08-26T14:29:43.614" v="2444" actId="113"/>
        <pc:sldMkLst>
          <pc:docMk/>
          <pc:sldMk cId="1255561343" sldId="366"/>
        </pc:sldMkLst>
        <pc:spChg chg="mod ord">
          <ac:chgData name="Francesco Bellotti" userId="f453232b-f87d-4756-9d8b-c09bc835cc42" providerId="ADAL" clId="{C7FEA3FA-4936-41E1-B7FA-CA082069F7F7}" dt="2026-08-26T14:24:29.683" v="2353" actId="700"/>
          <ac:spMkLst>
            <pc:docMk/>
            <pc:sldMk cId="1255561343" sldId="366"/>
            <ac:spMk id="2" creationId="{05B5AEA2-7E16-DB6A-F51A-3449082A91AC}"/>
          </ac:spMkLst>
        </pc:spChg>
        <pc:spChg chg="mod ord">
          <ac:chgData name="Francesco Bellotti" userId="f453232b-f87d-4756-9d8b-c09bc835cc42" providerId="ADAL" clId="{C7FEA3FA-4936-41E1-B7FA-CA082069F7F7}" dt="2026-08-26T14:29:22.740" v="2420" actId="15"/>
          <ac:spMkLst>
            <pc:docMk/>
            <pc:sldMk cId="1255561343" sldId="366"/>
            <ac:spMk id="3" creationId="{57278A23-40D2-896F-BFE4-880DED50B3D6}"/>
          </ac:spMkLst>
        </pc:spChg>
        <pc:spChg chg="add mod ord">
          <ac:chgData name="Francesco Bellotti" userId="f453232b-f87d-4756-9d8b-c09bc835cc42" providerId="ADAL" clId="{C7FEA3FA-4936-41E1-B7FA-CA082069F7F7}" dt="2026-08-26T14:29:43.614" v="2444" actId="113"/>
          <ac:spMkLst>
            <pc:docMk/>
            <pc:sldMk cId="1255561343" sldId="366"/>
            <ac:spMk id="4" creationId="{F2540554-194C-428B-C2E3-DB822735D1B1}"/>
          </ac:spMkLst>
        </pc:spChg>
      </pc:sldChg>
      <pc:sldChg chg="addSp modSp new mod modClrScheme chgLayout">
        <pc:chgData name="Francesco Bellotti" userId="f453232b-f87d-4756-9d8b-c09bc835cc42" providerId="ADAL" clId="{C7FEA3FA-4936-41E1-B7FA-CA082069F7F7}" dt="2026-08-26T14:30:40.024" v="2458" actId="13926"/>
        <pc:sldMkLst>
          <pc:docMk/>
          <pc:sldMk cId="1524979433" sldId="367"/>
        </pc:sldMkLst>
        <pc:spChg chg="mod ord">
          <ac:chgData name="Francesco Bellotti" userId="f453232b-f87d-4756-9d8b-c09bc835cc42" providerId="ADAL" clId="{C7FEA3FA-4936-41E1-B7FA-CA082069F7F7}" dt="2026-08-26T14:24:52.929" v="2364" actId="700"/>
          <ac:spMkLst>
            <pc:docMk/>
            <pc:sldMk cId="1524979433" sldId="367"/>
            <ac:spMk id="2" creationId="{8BF6F401-9A89-B49A-B244-3C0D1F655992}"/>
          </ac:spMkLst>
        </pc:spChg>
        <pc:spChg chg="mod ord">
          <ac:chgData name="Francesco Bellotti" userId="f453232b-f87d-4756-9d8b-c09bc835cc42" providerId="ADAL" clId="{C7FEA3FA-4936-41E1-B7FA-CA082069F7F7}" dt="2026-08-26T14:30:18.622" v="2454" actId="113"/>
          <ac:spMkLst>
            <pc:docMk/>
            <pc:sldMk cId="1524979433" sldId="367"/>
            <ac:spMk id="3" creationId="{512C4FA6-26BE-15B9-BE67-E0907059DC54}"/>
          </ac:spMkLst>
        </pc:spChg>
        <pc:spChg chg="add mod ord">
          <ac:chgData name="Francesco Bellotti" userId="f453232b-f87d-4756-9d8b-c09bc835cc42" providerId="ADAL" clId="{C7FEA3FA-4936-41E1-B7FA-CA082069F7F7}" dt="2026-08-26T14:30:40.024" v="2458" actId="13926"/>
          <ac:spMkLst>
            <pc:docMk/>
            <pc:sldMk cId="1524979433" sldId="367"/>
            <ac:spMk id="4" creationId="{5B94EF48-06CE-B8E1-6053-A78DC09B9788}"/>
          </ac:spMkLst>
        </pc:spChg>
      </pc:sldChg>
      <pc:sldChg chg="addSp modSp new mod modClrScheme chgLayout">
        <pc:chgData name="Francesco Bellotti" userId="f453232b-f87d-4756-9d8b-c09bc835cc42" providerId="ADAL" clId="{C7FEA3FA-4936-41E1-B7FA-CA082069F7F7}" dt="2026-08-25T21:44:45.790" v="1697" actId="113"/>
        <pc:sldMkLst>
          <pc:docMk/>
          <pc:sldMk cId="2985261826" sldId="368"/>
        </pc:sldMkLst>
        <pc:spChg chg="add mod">
          <ac:chgData name="Francesco Bellotti" userId="f453232b-f87d-4756-9d8b-c09bc835cc42" providerId="ADAL" clId="{C7FEA3FA-4936-41E1-B7FA-CA082069F7F7}" dt="2026-08-25T21:44:34.641" v="1696"/>
          <ac:spMkLst>
            <pc:docMk/>
            <pc:sldMk cId="2985261826" sldId="368"/>
            <ac:spMk id="2" creationId="{18122C30-39EE-B4CC-9699-EE86A8CB7344}"/>
          </ac:spMkLst>
        </pc:spChg>
        <pc:spChg chg="add mod">
          <ac:chgData name="Francesco Bellotti" userId="f453232b-f87d-4756-9d8b-c09bc835cc42" providerId="ADAL" clId="{C7FEA3FA-4936-41E1-B7FA-CA082069F7F7}" dt="2026-08-25T21:44:45.790" v="1697" actId="113"/>
          <ac:spMkLst>
            <pc:docMk/>
            <pc:sldMk cId="2985261826" sldId="368"/>
            <ac:spMk id="3" creationId="{D69B38FD-7254-F9F5-1096-B9A588B026A3}"/>
          </ac:spMkLst>
        </pc:spChg>
      </pc:sldChg>
      <pc:sldChg chg="addSp modSp new mod modClrScheme chgLayout">
        <pc:chgData name="Francesco Bellotti" userId="f453232b-f87d-4756-9d8b-c09bc835cc42" providerId="ADAL" clId="{C7FEA3FA-4936-41E1-B7FA-CA082069F7F7}" dt="2026-08-26T09:05:25.887" v="2056" actId="1076"/>
        <pc:sldMkLst>
          <pc:docMk/>
          <pc:sldMk cId="139879011" sldId="369"/>
        </pc:sldMkLst>
        <pc:spChg chg="mod ord">
          <ac:chgData name="Francesco Bellotti" userId="f453232b-f87d-4756-9d8b-c09bc835cc42" providerId="ADAL" clId="{C7FEA3FA-4936-41E1-B7FA-CA082069F7F7}" dt="2026-08-26T08:59:32.243" v="1941" actId="700"/>
          <ac:spMkLst>
            <pc:docMk/>
            <pc:sldMk cId="139879011" sldId="369"/>
            <ac:spMk id="2" creationId="{19F4E9E3-9B08-7A19-DC11-9D32A408B172}"/>
          </ac:spMkLst>
        </pc:spChg>
        <pc:spChg chg="mod ord">
          <ac:chgData name="Francesco Bellotti" userId="f453232b-f87d-4756-9d8b-c09bc835cc42" providerId="ADAL" clId="{C7FEA3FA-4936-41E1-B7FA-CA082069F7F7}" dt="2026-08-26T09:05:09.758" v="2051" actId="27636"/>
          <ac:spMkLst>
            <pc:docMk/>
            <pc:sldMk cId="139879011" sldId="369"/>
            <ac:spMk id="3" creationId="{93FACF80-F3C1-734F-EFDD-09E4CFA978BD}"/>
          </ac:spMkLst>
        </pc:spChg>
        <pc:spChg chg="add mod ord">
          <ac:chgData name="Francesco Bellotti" userId="f453232b-f87d-4756-9d8b-c09bc835cc42" providerId="ADAL" clId="{C7FEA3FA-4936-41E1-B7FA-CA082069F7F7}" dt="2026-08-26T09:05:09.765" v="2052" actId="27636"/>
          <ac:spMkLst>
            <pc:docMk/>
            <pc:sldMk cId="139879011" sldId="369"/>
            <ac:spMk id="4" creationId="{CD19CA28-167F-4ACE-CF55-23250637E00A}"/>
          </ac:spMkLst>
        </pc:spChg>
        <pc:picChg chg="add mod">
          <ac:chgData name="Francesco Bellotti" userId="f453232b-f87d-4756-9d8b-c09bc835cc42" providerId="ADAL" clId="{C7FEA3FA-4936-41E1-B7FA-CA082069F7F7}" dt="2026-08-26T09:04:11.166" v="2032" actId="1076"/>
          <ac:picMkLst>
            <pc:docMk/>
            <pc:sldMk cId="139879011" sldId="369"/>
            <ac:picMk id="6" creationId="{A01BAF78-EB7D-ABDC-8EF6-D890751FC57F}"/>
          </ac:picMkLst>
        </pc:picChg>
        <pc:picChg chg="add mod">
          <ac:chgData name="Francesco Bellotti" userId="f453232b-f87d-4756-9d8b-c09bc835cc42" providerId="ADAL" clId="{C7FEA3FA-4936-41E1-B7FA-CA082069F7F7}" dt="2026-08-26T09:05:25.887" v="2056" actId="1076"/>
          <ac:picMkLst>
            <pc:docMk/>
            <pc:sldMk cId="139879011" sldId="369"/>
            <ac:picMk id="8" creationId="{6E1DCB8B-E16F-5ACC-E9A7-F4E405367C2C}"/>
          </ac:picMkLst>
        </pc:picChg>
      </pc:sldChg>
      <pc:sldChg chg="modSp new mod">
        <pc:chgData name="Francesco Bellotti" userId="f453232b-f87d-4756-9d8b-c09bc835cc42" providerId="ADAL" clId="{C7FEA3FA-4936-41E1-B7FA-CA082069F7F7}" dt="2026-08-26T09:08:39.001" v="2079" actId="15"/>
        <pc:sldMkLst>
          <pc:docMk/>
          <pc:sldMk cId="3330048304" sldId="370"/>
        </pc:sldMkLst>
        <pc:spChg chg="mod">
          <ac:chgData name="Francesco Bellotti" userId="f453232b-f87d-4756-9d8b-c09bc835cc42" providerId="ADAL" clId="{C7FEA3FA-4936-41E1-B7FA-CA082069F7F7}" dt="2026-08-26T09:08:35.584" v="2078" actId="20577"/>
          <ac:spMkLst>
            <pc:docMk/>
            <pc:sldMk cId="3330048304" sldId="370"/>
            <ac:spMk id="2" creationId="{D86BEC03-8A09-B9A4-1525-9FF8F9581B46}"/>
          </ac:spMkLst>
        </pc:spChg>
        <pc:spChg chg="mod">
          <ac:chgData name="Francesco Bellotti" userId="f453232b-f87d-4756-9d8b-c09bc835cc42" providerId="ADAL" clId="{C7FEA3FA-4936-41E1-B7FA-CA082069F7F7}" dt="2026-08-26T09:08:39.001" v="2079" actId="15"/>
          <ac:spMkLst>
            <pc:docMk/>
            <pc:sldMk cId="3330048304" sldId="370"/>
            <ac:spMk id="3" creationId="{6CCF90E6-8D09-7156-E1C1-6B9D51F18311}"/>
          </ac:spMkLst>
        </pc:spChg>
      </pc:sldChg>
      <pc:sldChg chg="modSp add mod setBg modNotes">
        <pc:chgData name="Francesco Bellotti" userId="f453232b-f87d-4756-9d8b-c09bc835cc42" providerId="ADAL" clId="{C7FEA3FA-4936-41E1-B7FA-CA082069F7F7}" dt="2026-08-26T14:49:37.802" v="2666" actId="20577"/>
        <pc:sldMkLst>
          <pc:docMk/>
          <pc:sldMk cId="0" sldId="371"/>
        </pc:sldMkLst>
        <pc:spChg chg="mod">
          <ac:chgData name="Francesco Bellotti" userId="f453232b-f87d-4756-9d8b-c09bc835cc42" providerId="ADAL" clId="{C7FEA3FA-4936-41E1-B7FA-CA082069F7F7}" dt="2026-08-26T14:49:16.129" v="2660" actId="113"/>
          <ac:spMkLst>
            <pc:docMk/>
            <pc:sldMk cId="0" sldId="371"/>
            <ac:spMk id="10" creationId="{00000000-0000-0000-0000-000000000000}"/>
          </ac:spMkLst>
        </pc:spChg>
        <pc:spChg chg="mod">
          <ac:chgData name="Francesco Bellotti" userId="f453232b-f87d-4756-9d8b-c09bc835cc42" providerId="ADAL" clId="{C7FEA3FA-4936-41E1-B7FA-CA082069F7F7}" dt="2026-08-26T14:49:37.802" v="2666" actId="20577"/>
          <ac:spMkLst>
            <pc:docMk/>
            <pc:sldMk cId="0" sldId="371"/>
            <ac:spMk id="12" creationId="{00000000-0000-0000-0000-000000000000}"/>
          </ac:spMkLst>
        </pc:spChg>
      </pc:sldChg>
      <pc:sldChg chg="modSp add mod setBg modNotes">
        <pc:chgData name="Francesco Bellotti" userId="f453232b-f87d-4756-9d8b-c09bc835cc42" providerId="ADAL" clId="{C7FEA3FA-4936-41E1-B7FA-CA082069F7F7}" dt="2026-08-26T14:47:00.378" v="2591" actId="403"/>
        <pc:sldMkLst>
          <pc:docMk/>
          <pc:sldMk cId="0" sldId="372"/>
        </pc:sldMkLst>
        <pc:spChg chg="mod">
          <ac:chgData name="Francesco Bellotti" userId="f453232b-f87d-4756-9d8b-c09bc835cc42" providerId="ADAL" clId="{C7FEA3FA-4936-41E1-B7FA-CA082069F7F7}" dt="2026-08-26T14:46:35.924" v="2588" actId="403"/>
          <ac:spMkLst>
            <pc:docMk/>
            <pc:sldMk cId="0" sldId="372"/>
            <ac:spMk id="80" creationId="{00000000-0000-0000-0000-000000000000}"/>
          </ac:spMkLst>
        </pc:spChg>
        <pc:spChg chg="mod">
          <ac:chgData name="Francesco Bellotti" userId="f453232b-f87d-4756-9d8b-c09bc835cc42" providerId="ADAL" clId="{C7FEA3FA-4936-41E1-B7FA-CA082069F7F7}" dt="2026-08-26T14:47:00.378" v="2591" actId="403"/>
          <ac:spMkLst>
            <pc:docMk/>
            <pc:sldMk cId="0" sldId="372"/>
            <ac:spMk id="82" creationId="{00000000-0000-0000-0000-000000000000}"/>
          </ac:spMkLst>
        </pc:spChg>
      </pc:sldChg>
      <pc:sldChg chg="modSp add mod setBg modNotes">
        <pc:chgData name="Francesco Bellotti" userId="f453232b-f87d-4756-9d8b-c09bc835cc42" providerId="ADAL" clId="{C7FEA3FA-4936-41E1-B7FA-CA082069F7F7}" dt="2026-08-26T14:52:16.700" v="2684" actId="13926"/>
        <pc:sldMkLst>
          <pc:docMk/>
          <pc:sldMk cId="0" sldId="373"/>
        </pc:sldMkLst>
        <pc:spChg chg="mod">
          <ac:chgData name="Francesco Bellotti" userId="f453232b-f87d-4756-9d8b-c09bc835cc42" providerId="ADAL" clId="{C7FEA3FA-4936-41E1-B7FA-CA082069F7F7}" dt="2026-08-26T14:51:35.314" v="2680" actId="403"/>
          <ac:spMkLst>
            <pc:docMk/>
            <pc:sldMk cId="0" sldId="373"/>
            <ac:spMk id="105" creationId="{00000000-0000-0000-0000-000000000000}"/>
          </ac:spMkLst>
        </pc:spChg>
        <pc:spChg chg="mod">
          <ac:chgData name="Francesco Bellotti" userId="f453232b-f87d-4756-9d8b-c09bc835cc42" providerId="ADAL" clId="{C7FEA3FA-4936-41E1-B7FA-CA082069F7F7}" dt="2026-08-26T14:52:11.662" v="2683" actId="113"/>
          <ac:spMkLst>
            <pc:docMk/>
            <pc:sldMk cId="0" sldId="373"/>
            <ac:spMk id="107" creationId="{00000000-0000-0000-0000-000000000000}"/>
          </ac:spMkLst>
        </pc:spChg>
        <pc:spChg chg="mod">
          <ac:chgData name="Francesco Bellotti" userId="f453232b-f87d-4756-9d8b-c09bc835cc42" providerId="ADAL" clId="{C7FEA3FA-4936-41E1-B7FA-CA082069F7F7}" dt="2026-08-26T14:52:16.700" v="2684" actId="13926"/>
          <ac:spMkLst>
            <pc:docMk/>
            <pc:sldMk cId="0" sldId="373"/>
            <ac:spMk id="118" creationId="{00000000-0000-0000-0000-000000000000}"/>
          </ac:spMkLst>
        </pc:spChg>
      </pc:sldChg>
      <pc:sldChg chg="modSp add mod setBg modNotes">
        <pc:chgData name="Francesco Bellotti" userId="f453232b-f87d-4756-9d8b-c09bc835cc42" providerId="ADAL" clId="{C7FEA3FA-4936-41E1-B7FA-CA082069F7F7}" dt="2026-08-26T15:46:40.024" v="2913" actId="403"/>
        <pc:sldMkLst>
          <pc:docMk/>
          <pc:sldMk cId="0" sldId="374"/>
        </pc:sldMkLst>
        <pc:spChg chg="mod">
          <ac:chgData name="Francesco Bellotti" userId="f453232b-f87d-4756-9d8b-c09bc835cc42" providerId="ADAL" clId="{C7FEA3FA-4936-41E1-B7FA-CA082069F7F7}" dt="2026-08-26T15:46:29.655" v="2910" actId="403"/>
          <ac:spMkLst>
            <pc:docMk/>
            <pc:sldMk cId="0" sldId="374"/>
            <ac:spMk id="201" creationId="{00000000-0000-0000-0000-000000000000}"/>
          </ac:spMkLst>
        </pc:spChg>
        <pc:spChg chg="mod">
          <ac:chgData name="Francesco Bellotti" userId="f453232b-f87d-4756-9d8b-c09bc835cc42" providerId="ADAL" clId="{C7FEA3FA-4936-41E1-B7FA-CA082069F7F7}" dt="2026-08-26T15:46:40.024" v="2913" actId="403"/>
          <ac:spMkLst>
            <pc:docMk/>
            <pc:sldMk cId="0" sldId="374"/>
            <ac:spMk id="203" creationId="{00000000-0000-0000-0000-000000000000}"/>
          </ac:spMkLst>
        </pc:spChg>
      </pc:sldChg>
      <pc:sldChg chg="modSp add mod setBg modNotes">
        <pc:chgData name="Francesco Bellotti" userId="f453232b-f87d-4756-9d8b-c09bc835cc42" providerId="ADAL" clId="{C7FEA3FA-4936-41E1-B7FA-CA082069F7F7}" dt="2026-08-26T16:09:57.503" v="3001" actId="13926"/>
        <pc:sldMkLst>
          <pc:docMk/>
          <pc:sldMk cId="0" sldId="375"/>
        </pc:sldMkLst>
        <pc:spChg chg="mod">
          <ac:chgData name="Francesco Bellotti" userId="f453232b-f87d-4756-9d8b-c09bc835cc42" providerId="ADAL" clId="{C7FEA3FA-4936-41E1-B7FA-CA082069F7F7}" dt="2026-08-26T15:47:51.121" v="2935" actId="403"/>
          <ac:spMkLst>
            <pc:docMk/>
            <pc:sldMk cId="0" sldId="375"/>
            <ac:spMk id="286" creationId="{00000000-0000-0000-0000-000000000000}"/>
          </ac:spMkLst>
        </pc:spChg>
        <pc:spChg chg="mod">
          <ac:chgData name="Francesco Bellotti" userId="f453232b-f87d-4756-9d8b-c09bc835cc42" providerId="ADAL" clId="{C7FEA3FA-4936-41E1-B7FA-CA082069F7F7}" dt="2026-08-26T15:48:00.954" v="2938" actId="403"/>
          <ac:spMkLst>
            <pc:docMk/>
            <pc:sldMk cId="0" sldId="375"/>
            <ac:spMk id="288" creationId="{00000000-0000-0000-0000-000000000000}"/>
          </ac:spMkLst>
        </pc:spChg>
        <pc:spChg chg="mod">
          <ac:chgData name="Francesco Bellotti" userId="f453232b-f87d-4756-9d8b-c09bc835cc42" providerId="ADAL" clId="{C7FEA3FA-4936-41E1-B7FA-CA082069F7F7}" dt="2026-08-26T15:47:28.908" v="2932" actId="20577"/>
          <ac:spMkLst>
            <pc:docMk/>
            <pc:sldMk cId="0" sldId="375"/>
            <ac:spMk id="356" creationId="{00000000-0000-0000-0000-000000000000}"/>
          </ac:spMkLst>
        </pc:spChg>
        <pc:spChg chg="mod">
          <ac:chgData name="Francesco Bellotti" userId="f453232b-f87d-4756-9d8b-c09bc835cc42" providerId="ADAL" clId="{C7FEA3FA-4936-41E1-B7FA-CA082069F7F7}" dt="2026-08-26T16:09:57.503" v="3001" actId="13926"/>
          <ac:spMkLst>
            <pc:docMk/>
            <pc:sldMk cId="0" sldId="375"/>
            <ac:spMk id="358" creationId="{00000000-0000-0000-0000-000000000000}"/>
          </ac:spMkLst>
        </pc:spChg>
      </pc:sldChg>
      <pc:sldChg chg="modSp add mod setBg modNotes">
        <pc:chgData name="Francesco Bellotti" userId="f453232b-f87d-4756-9d8b-c09bc835cc42" providerId="ADAL" clId="{C7FEA3FA-4936-41E1-B7FA-CA082069F7F7}" dt="2026-08-26T16:11:25.091" v="3037" actId="403"/>
        <pc:sldMkLst>
          <pc:docMk/>
          <pc:sldMk cId="0" sldId="376"/>
        </pc:sldMkLst>
        <pc:spChg chg="mod">
          <ac:chgData name="Francesco Bellotti" userId="f453232b-f87d-4756-9d8b-c09bc835cc42" providerId="ADAL" clId="{C7FEA3FA-4936-41E1-B7FA-CA082069F7F7}" dt="2026-08-26T16:11:25.091" v="3037" actId="403"/>
          <ac:spMkLst>
            <pc:docMk/>
            <pc:sldMk cId="0" sldId="376"/>
            <ac:spMk id="363" creationId="{00000000-0000-0000-0000-000000000000}"/>
          </ac:spMkLst>
        </pc:spChg>
      </pc:sldChg>
      <pc:sldChg chg="delSp modSp add mod setBg modNotes">
        <pc:chgData name="Francesco Bellotti" userId="f453232b-f87d-4756-9d8b-c09bc835cc42" providerId="ADAL" clId="{C7FEA3FA-4936-41E1-B7FA-CA082069F7F7}" dt="2026-08-26T16:13:59.727" v="3086" actId="478"/>
        <pc:sldMkLst>
          <pc:docMk/>
          <pc:sldMk cId="0" sldId="377"/>
        </pc:sldMkLst>
        <pc:spChg chg="mod">
          <ac:chgData name="Francesco Bellotti" userId="f453232b-f87d-4756-9d8b-c09bc835cc42" providerId="ADAL" clId="{C7FEA3FA-4936-41E1-B7FA-CA082069F7F7}" dt="2026-08-26T16:13:41.653" v="3084" actId="113"/>
          <ac:spMkLst>
            <pc:docMk/>
            <pc:sldMk cId="0" sldId="377"/>
            <ac:spMk id="432" creationId="{00000000-0000-0000-0000-000000000000}"/>
          </ac:spMkLst>
        </pc:spChg>
        <pc:spChg chg="del">
          <ac:chgData name="Francesco Bellotti" userId="f453232b-f87d-4756-9d8b-c09bc835cc42" providerId="ADAL" clId="{C7FEA3FA-4936-41E1-B7FA-CA082069F7F7}" dt="2026-08-26T16:13:59.727" v="3086" actId="478"/>
          <ac:spMkLst>
            <pc:docMk/>
            <pc:sldMk cId="0" sldId="377"/>
            <ac:spMk id="433" creationId="{00000000-0000-0000-0000-000000000000}"/>
          </ac:spMkLst>
        </pc:spChg>
        <pc:spChg chg="del mod">
          <ac:chgData name="Francesco Bellotti" userId="f453232b-f87d-4756-9d8b-c09bc835cc42" providerId="ADAL" clId="{C7FEA3FA-4936-41E1-B7FA-CA082069F7F7}" dt="2026-08-26T16:13:59.727" v="3086" actId="478"/>
          <ac:spMkLst>
            <pc:docMk/>
            <pc:sldMk cId="0" sldId="377"/>
            <ac:spMk id="434" creationId="{00000000-0000-0000-0000-000000000000}"/>
          </ac:spMkLst>
        </pc:spChg>
        <pc:spChg chg="mod">
          <ac:chgData name="Francesco Bellotti" userId="f453232b-f87d-4756-9d8b-c09bc835cc42" providerId="ADAL" clId="{C7FEA3FA-4936-41E1-B7FA-CA082069F7F7}" dt="2026-08-26T16:13:50.550" v="3085" actId="13926"/>
          <ac:spMkLst>
            <pc:docMk/>
            <pc:sldMk cId="0" sldId="377"/>
            <ac:spMk id="570" creationId="{00000000-0000-0000-0000-000000000000}"/>
          </ac:spMkLst>
        </pc:spChg>
      </pc:sldChg>
      <pc:sldChg chg="modSp add mod setBg modNotes">
        <pc:chgData name="Francesco Bellotti" userId="f453232b-f87d-4756-9d8b-c09bc835cc42" providerId="ADAL" clId="{C7FEA3FA-4936-41E1-B7FA-CA082069F7F7}" dt="2026-08-26T16:15:38.223" v="3104" actId="113"/>
        <pc:sldMkLst>
          <pc:docMk/>
          <pc:sldMk cId="0" sldId="378"/>
        </pc:sldMkLst>
        <pc:spChg chg="mod">
          <ac:chgData name="Francesco Bellotti" userId="f453232b-f87d-4756-9d8b-c09bc835cc42" providerId="ADAL" clId="{C7FEA3FA-4936-41E1-B7FA-CA082069F7F7}" dt="2026-08-26T16:15:19.164" v="3100" actId="403"/>
          <ac:spMkLst>
            <pc:docMk/>
            <pc:sldMk cId="0" sldId="378"/>
            <ac:spMk id="573" creationId="{00000000-0000-0000-0000-000000000000}"/>
          </ac:spMkLst>
        </pc:spChg>
        <pc:spChg chg="mod">
          <ac:chgData name="Francesco Bellotti" userId="f453232b-f87d-4756-9d8b-c09bc835cc42" providerId="ADAL" clId="{C7FEA3FA-4936-41E1-B7FA-CA082069F7F7}" dt="2026-08-26T16:15:38.223" v="3104" actId="113"/>
          <ac:spMkLst>
            <pc:docMk/>
            <pc:sldMk cId="0" sldId="378"/>
            <ac:spMk id="575" creationId="{00000000-0000-0000-0000-000000000000}"/>
          </ac:spMkLst>
        </pc:spChg>
      </pc:sldChg>
      <pc:sldChg chg="modSp add mod setBg modNotes">
        <pc:chgData name="Francesco Bellotti" userId="f453232b-f87d-4756-9d8b-c09bc835cc42" providerId="ADAL" clId="{C7FEA3FA-4936-41E1-B7FA-CA082069F7F7}" dt="2026-08-26T16:22:46.347" v="3143" actId="403"/>
        <pc:sldMkLst>
          <pc:docMk/>
          <pc:sldMk cId="0" sldId="379"/>
        </pc:sldMkLst>
        <pc:spChg chg="mod">
          <ac:chgData name="Francesco Bellotti" userId="f453232b-f87d-4756-9d8b-c09bc835cc42" providerId="ADAL" clId="{C7FEA3FA-4936-41E1-B7FA-CA082069F7F7}" dt="2026-08-26T16:22:42.090" v="3142" actId="403"/>
          <ac:spMkLst>
            <pc:docMk/>
            <pc:sldMk cId="0" sldId="379"/>
            <ac:spMk id="609" creationId="{00000000-0000-0000-0000-000000000000}"/>
          </ac:spMkLst>
        </pc:spChg>
        <pc:spChg chg="mod">
          <ac:chgData name="Francesco Bellotti" userId="f453232b-f87d-4756-9d8b-c09bc835cc42" providerId="ADAL" clId="{C7FEA3FA-4936-41E1-B7FA-CA082069F7F7}" dt="2026-08-26T16:22:46.347" v="3143" actId="403"/>
          <ac:spMkLst>
            <pc:docMk/>
            <pc:sldMk cId="0" sldId="379"/>
            <ac:spMk id="611" creationId="{00000000-0000-0000-0000-000000000000}"/>
          </ac:spMkLst>
        </pc:spChg>
      </pc:sldChg>
      <pc:sldChg chg="modSp add mod setBg modNotes">
        <pc:chgData name="Francesco Bellotti" userId="f453232b-f87d-4756-9d8b-c09bc835cc42" providerId="ADAL" clId="{C7FEA3FA-4936-41E1-B7FA-CA082069F7F7}" dt="2026-08-26T16:26:11.772" v="3221" actId="113"/>
        <pc:sldMkLst>
          <pc:docMk/>
          <pc:sldMk cId="0" sldId="380"/>
        </pc:sldMkLst>
        <pc:spChg chg="mod">
          <ac:chgData name="Francesco Bellotti" userId="f453232b-f87d-4756-9d8b-c09bc835cc42" providerId="ADAL" clId="{C7FEA3FA-4936-41E1-B7FA-CA082069F7F7}" dt="2026-08-26T16:25:55.879" v="3216" actId="403"/>
          <ac:spMkLst>
            <pc:docMk/>
            <pc:sldMk cId="0" sldId="380"/>
            <ac:spMk id="671" creationId="{00000000-0000-0000-0000-000000000000}"/>
          </ac:spMkLst>
        </pc:spChg>
        <pc:spChg chg="mod">
          <ac:chgData name="Francesco Bellotti" userId="f453232b-f87d-4756-9d8b-c09bc835cc42" providerId="ADAL" clId="{C7FEA3FA-4936-41E1-B7FA-CA082069F7F7}" dt="2026-08-26T16:26:11.772" v="3221" actId="113"/>
          <ac:spMkLst>
            <pc:docMk/>
            <pc:sldMk cId="0" sldId="380"/>
            <ac:spMk id="673" creationId="{00000000-0000-0000-0000-000000000000}"/>
          </ac:spMkLst>
        </pc:spChg>
        <pc:spChg chg="mod">
          <ac:chgData name="Francesco Bellotti" userId="f453232b-f87d-4756-9d8b-c09bc835cc42" providerId="ADAL" clId="{C7FEA3FA-4936-41E1-B7FA-CA082069F7F7}" dt="2026-08-26T16:25:46.735" v="3212" actId="13926"/>
          <ac:spMkLst>
            <pc:docMk/>
            <pc:sldMk cId="0" sldId="380"/>
            <ac:spMk id="701" creationId="{00000000-0000-0000-0000-000000000000}"/>
          </ac:spMkLst>
        </pc:spChg>
      </pc:sldChg>
      <pc:sldChg chg="modSp add mod setBg modNotes">
        <pc:chgData name="Francesco Bellotti" userId="f453232b-f87d-4756-9d8b-c09bc835cc42" providerId="ADAL" clId="{C7FEA3FA-4936-41E1-B7FA-CA082069F7F7}" dt="2026-08-26T19:46:58.994" v="3232" actId="403"/>
        <pc:sldMkLst>
          <pc:docMk/>
          <pc:sldMk cId="0" sldId="381"/>
        </pc:sldMkLst>
        <pc:spChg chg="mod">
          <ac:chgData name="Francesco Bellotti" userId="f453232b-f87d-4756-9d8b-c09bc835cc42" providerId="ADAL" clId="{C7FEA3FA-4936-41E1-B7FA-CA082069F7F7}" dt="2026-08-26T19:46:58.994" v="3232" actId="403"/>
          <ac:spMkLst>
            <pc:docMk/>
            <pc:sldMk cId="0" sldId="381"/>
            <ac:spMk id="706" creationId="{00000000-0000-0000-0000-000000000000}"/>
          </ac:spMkLst>
        </pc:spChg>
      </pc:sldChg>
      <pc:sldChg chg="modSp add mod setBg modNotes">
        <pc:chgData name="Francesco Bellotti" userId="f453232b-f87d-4756-9d8b-c09bc835cc42" providerId="ADAL" clId="{C7FEA3FA-4936-41E1-B7FA-CA082069F7F7}" dt="2026-08-26T19:53:46.636" v="3416" actId="403"/>
        <pc:sldMkLst>
          <pc:docMk/>
          <pc:sldMk cId="0" sldId="382"/>
        </pc:sldMkLst>
        <pc:spChg chg="mod">
          <ac:chgData name="Francesco Bellotti" userId="f453232b-f87d-4756-9d8b-c09bc835cc42" providerId="ADAL" clId="{C7FEA3FA-4936-41E1-B7FA-CA082069F7F7}" dt="2026-08-26T19:53:24.528" v="3413" actId="403"/>
          <ac:spMkLst>
            <pc:docMk/>
            <pc:sldMk cId="0" sldId="382"/>
            <ac:spMk id="767" creationId="{00000000-0000-0000-0000-000000000000}"/>
          </ac:spMkLst>
        </pc:spChg>
        <pc:spChg chg="mod">
          <ac:chgData name="Francesco Bellotti" userId="f453232b-f87d-4756-9d8b-c09bc835cc42" providerId="ADAL" clId="{C7FEA3FA-4936-41E1-B7FA-CA082069F7F7}" dt="2026-08-26T19:53:46.636" v="3416" actId="403"/>
          <ac:spMkLst>
            <pc:docMk/>
            <pc:sldMk cId="0" sldId="382"/>
            <ac:spMk id="769" creationId="{00000000-0000-0000-0000-000000000000}"/>
          </ac:spMkLst>
        </pc:spChg>
      </pc:sldChg>
      <pc:sldChg chg="modSp add mod ord setBg modNotes">
        <pc:chgData name="Francesco Bellotti" userId="f453232b-f87d-4756-9d8b-c09bc835cc42" providerId="ADAL" clId="{C7FEA3FA-4936-41E1-B7FA-CA082069F7F7}" dt="2026-08-26T19:54:50.110" v="3423" actId="403"/>
        <pc:sldMkLst>
          <pc:docMk/>
          <pc:sldMk cId="0" sldId="383"/>
        </pc:sldMkLst>
        <pc:spChg chg="mod">
          <ac:chgData name="Francesco Bellotti" userId="f453232b-f87d-4756-9d8b-c09bc835cc42" providerId="ADAL" clId="{C7FEA3FA-4936-41E1-B7FA-CA082069F7F7}" dt="2026-08-26T19:54:45.027" v="3420" actId="403"/>
          <ac:spMkLst>
            <pc:docMk/>
            <pc:sldMk cId="0" sldId="383"/>
            <ac:spMk id="798" creationId="{00000000-0000-0000-0000-000000000000}"/>
          </ac:spMkLst>
        </pc:spChg>
        <pc:spChg chg="mod">
          <ac:chgData name="Francesco Bellotti" userId="f453232b-f87d-4756-9d8b-c09bc835cc42" providerId="ADAL" clId="{C7FEA3FA-4936-41E1-B7FA-CA082069F7F7}" dt="2026-08-26T19:54:50.110" v="3423" actId="403"/>
          <ac:spMkLst>
            <pc:docMk/>
            <pc:sldMk cId="0" sldId="383"/>
            <ac:spMk id="800" creationId="{00000000-0000-0000-0000-000000000000}"/>
          </ac:spMkLst>
        </pc:spChg>
      </pc:sldChg>
      <pc:sldChg chg="modSp new">
        <pc:chgData name="Francesco Bellotti" userId="f453232b-f87d-4756-9d8b-c09bc835cc42" providerId="ADAL" clId="{C7FEA3FA-4936-41E1-B7FA-CA082069F7F7}" dt="2026-08-26T14:34:08.882" v="2469"/>
        <pc:sldMkLst>
          <pc:docMk/>
          <pc:sldMk cId="458659036" sldId="384"/>
        </pc:sldMkLst>
        <pc:spChg chg="mod">
          <ac:chgData name="Francesco Bellotti" userId="f453232b-f87d-4756-9d8b-c09bc835cc42" providerId="ADAL" clId="{C7FEA3FA-4936-41E1-B7FA-CA082069F7F7}" dt="2026-08-26T14:34:08.882" v="2469"/>
          <ac:spMkLst>
            <pc:docMk/>
            <pc:sldMk cId="458659036" sldId="384"/>
            <ac:spMk id="2" creationId="{7BB5B06C-20AE-3F85-0F13-917E45E15DEE}"/>
          </ac:spMkLst>
        </pc:spChg>
      </pc:sldChg>
      <pc:sldChg chg="addSp modSp new mod modClrScheme chgLayout">
        <pc:chgData name="Francesco Bellotti" userId="f453232b-f87d-4756-9d8b-c09bc835cc42" providerId="ADAL" clId="{C7FEA3FA-4936-41E1-B7FA-CA082069F7F7}" dt="2026-08-26T14:48:42.897" v="2658" actId="113"/>
        <pc:sldMkLst>
          <pc:docMk/>
          <pc:sldMk cId="3487273997" sldId="385"/>
        </pc:sldMkLst>
        <pc:spChg chg="mod ord">
          <ac:chgData name="Francesco Bellotti" userId="f453232b-f87d-4756-9d8b-c09bc835cc42" providerId="ADAL" clId="{C7FEA3FA-4936-41E1-B7FA-CA082069F7F7}" dt="2026-08-26T14:45:50.339" v="2565" actId="700"/>
          <ac:spMkLst>
            <pc:docMk/>
            <pc:sldMk cId="3487273997" sldId="385"/>
            <ac:spMk id="2" creationId="{13EF289D-5564-9186-0512-E7D9CD9771AC}"/>
          </ac:spMkLst>
        </pc:spChg>
        <pc:spChg chg="mod ord">
          <ac:chgData name="Francesco Bellotti" userId="f453232b-f87d-4756-9d8b-c09bc835cc42" providerId="ADAL" clId="{C7FEA3FA-4936-41E1-B7FA-CA082069F7F7}" dt="2026-08-26T14:48:27.336" v="2636" actId="27636"/>
          <ac:spMkLst>
            <pc:docMk/>
            <pc:sldMk cId="3487273997" sldId="385"/>
            <ac:spMk id="3" creationId="{235C7A9B-4AB2-CD24-466E-34D6325C4119}"/>
          </ac:spMkLst>
        </pc:spChg>
        <pc:spChg chg="add mod ord">
          <ac:chgData name="Francesco Bellotti" userId="f453232b-f87d-4756-9d8b-c09bc835cc42" providerId="ADAL" clId="{C7FEA3FA-4936-41E1-B7FA-CA082069F7F7}" dt="2026-08-26T14:48:42.897" v="2658" actId="113"/>
          <ac:spMkLst>
            <pc:docMk/>
            <pc:sldMk cId="3487273997" sldId="385"/>
            <ac:spMk id="4" creationId="{3319F269-BAD1-A65A-1ECA-BA8413C212BD}"/>
          </ac:spMkLst>
        </pc:spChg>
      </pc:sldChg>
      <pc:sldChg chg="addSp delSp modSp new mod">
        <pc:chgData name="Francesco Bellotti" userId="f453232b-f87d-4756-9d8b-c09bc835cc42" providerId="ADAL" clId="{C7FEA3FA-4936-41E1-B7FA-CA082069F7F7}" dt="2026-08-26T14:46:12.705" v="2583" actId="1076"/>
        <pc:sldMkLst>
          <pc:docMk/>
          <pc:sldMk cId="2308135711" sldId="386"/>
        </pc:sldMkLst>
        <pc:spChg chg="mod">
          <ac:chgData name="Francesco Bellotti" userId="f453232b-f87d-4756-9d8b-c09bc835cc42" providerId="ADAL" clId="{C7FEA3FA-4936-41E1-B7FA-CA082069F7F7}" dt="2026-08-26T14:35:12.335" v="2477"/>
          <ac:spMkLst>
            <pc:docMk/>
            <pc:sldMk cId="2308135711" sldId="386"/>
            <ac:spMk id="2" creationId="{8669E8A7-84D7-CA68-450D-52870B043C04}"/>
          </ac:spMkLst>
        </pc:spChg>
        <pc:spChg chg="add del mod">
          <ac:chgData name="Francesco Bellotti" userId="f453232b-f87d-4756-9d8b-c09bc835cc42" providerId="ADAL" clId="{C7FEA3FA-4936-41E1-B7FA-CA082069F7F7}" dt="2026-08-26T14:46:08.433" v="2582" actId="20577"/>
          <ac:spMkLst>
            <pc:docMk/>
            <pc:sldMk cId="2308135711" sldId="386"/>
            <ac:spMk id="3" creationId="{BA57C3BA-5362-5EEF-29FE-FCDA282F981E}"/>
          </ac:spMkLst>
        </pc:spChg>
        <pc:spChg chg="add del">
          <ac:chgData name="Francesco Bellotti" userId="f453232b-f87d-4756-9d8b-c09bc835cc42" providerId="ADAL" clId="{C7FEA3FA-4936-41E1-B7FA-CA082069F7F7}" dt="2026-08-26T14:35:24.639" v="2481" actId="22"/>
          <ac:spMkLst>
            <pc:docMk/>
            <pc:sldMk cId="2308135711" sldId="386"/>
            <ac:spMk id="6" creationId="{FDE795EF-4EBC-185D-464E-229EE1AFD49A}"/>
          </ac:spMkLst>
        </pc:spChg>
        <pc:graphicFrameChg chg="add mod">
          <ac:chgData name="Francesco Bellotti" userId="f453232b-f87d-4756-9d8b-c09bc835cc42" providerId="ADAL" clId="{C7FEA3FA-4936-41E1-B7FA-CA082069F7F7}" dt="2026-08-26T14:35:23.639" v="2480"/>
          <ac:graphicFrameMkLst>
            <pc:docMk/>
            <pc:sldMk cId="2308135711" sldId="386"/>
            <ac:graphicFrameMk id="4" creationId="{E21E1872-AD01-2566-0A6D-26DCCA1B5E6F}"/>
          </ac:graphicFrameMkLst>
        </pc:graphicFrameChg>
        <pc:picChg chg="add mod">
          <ac:chgData name="Francesco Bellotti" userId="f453232b-f87d-4756-9d8b-c09bc835cc42" providerId="ADAL" clId="{C7FEA3FA-4936-41E1-B7FA-CA082069F7F7}" dt="2026-08-26T14:46:12.705" v="2583" actId="1076"/>
          <ac:picMkLst>
            <pc:docMk/>
            <pc:sldMk cId="2308135711" sldId="386"/>
            <ac:picMk id="8" creationId="{3E2BB095-08FC-4EE0-1F28-B0DF2016BA9C}"/>
          </ac:picMkLst>
        </pc:picChg>
      </pc:sldChg>
      <pc:sldChg chg="modSp new mod">
        <pc:chgData name="Francesco Bellotti" userId="f453232b-f87d-4756-9d8b-c09bc835cc42" providerId="ADAL" clId="{C7FEA3FA-4936-41E1-B7FA-CA082069F7F7}" dt="2026-08-26T14:47:54.754" v="2606" actId="113"/>
        <pc:sldMkLst>
          <pc:docMk/>
          <pc:sldMk cId="4077174959" sldId="387"/>
        </pc:sldMkLst>
        <pc:spChg chg="mod">
          <ac:chgData name="Francesco Bellotti" userId="f453232b-f87d-4756-9d8b-c09bc835cc42" providerId="ADAL" clId="{C7FEA3FA-4936-41E1-B7FA-CA082069F7F7}" dt="2026-08-26T14:46:22.816" v="2584"/>
          <ac:spMkLst>
            <pc:docMk/>
            <pc:sldMk cId="4077174959" sldId="387"/>
            <ac:spMk id="2" creationId="{5660AB78-7499-1166-1FAC-78E6F469E808}"/>
          </ac:spMkLst>
        </pc:spChg>
        <pc:spChg chg="mod">
          <ac:chgData name="Francesco Bellotti" userId="f453232b-f87d-4756-9d8b-c09bc835cc42" providerId="ADAL" clId="{C7FEA3FA-4936-41E1-B7FA-CA082069F7F7}" dt="2026-08-26T14:47:54.754" v="2606" actId="113"/>
          <ac:spMkLst>
            <pc:docMk/>
            <pc:sldMk cId="4077174959" sldId="387"/>
            <ac:spMk id="3" creationId="{FB0E01BE-ACFF-9DF9-BFB1-B73213D74167}"/>
          </ac:spMkLst>
        </pc:spChg>
      </pc:sldChg>
      <pc:sldChg chg="addSp modSp new mod modClrScheme chgLayout">
        <pc:chgData name="Francesco Bellotti" userId="f453232b-f87d-4756-9d8b-c09bc835cc42" providerId="ADAL" clId="{C7FEA3FA-4936-41E1-B7FA-CA082069F7F7}" dt="2026-08-26T14:55:28.134" v="2748" actId="113"/>
        <pc:sldMkLst>
          <pc:docMk/>
          <pc:sldMk cId="3686044739" sldId="388"/>
        </pc:sldMkLst>
        <pc:spChg chg="mod ord">
          <ac:chgData name="Francesco Bellotti" userId="f453232b-f87d-4756-9d8b-c09bc835cc42" providerId="ADAL" clId="{C7FEA3FA-4936-41E1-B7FA-CA082069F7F7}" dt="2026-08-26T14:50:53.784" v="2669" actId="700"/>
          <ac:spMkLst>
            <pc:docMk/>
            <pc:sldMk cId="3686044739" sldId="388"/>
            <ac:spMk id="2" creationId="{1E8F3615-B481-17D0-C320-80FE206C8ECF}"/>
          </ac:spMkLst>
        </pc:spChg>
        <pc:spChg chg="mod ord">
          <ac:chgData name="Francesco Bellotti" userId="f453232b-f87d-4756-9d8b-c09bc835cc42" providerId="ADAL" clId="{C7FEA3FA-4936-41E1-B7FA-CA082069F7F7}" dt="2026-08-26T14:55:10.672" v="2745" actId="20577"/>
          <ac:spMkLst>
            <pc:docMk/>
            <pc:sldMk cId="3686044739" sldId="388"/>
            <ac:spMk id="3" creationId="{30C03504-924B-1B66-BC4D-74ADFFD5C5CF}"/>
          </ac:spMkLst>
        </pc:spChg>
        <pc:spChg chg="add mod ord">
          <ac:chgData name="Francesco Bellotti" userId="f453232b-f87d-4756-9d8b-c09bc835cc42" providerId="ADAL" clId="{C7FEA3FA-4936-41E1-B7FA-CA082069F7F7}" dt="2026-08-26T14:55:28.134" v="2748" actId="113"/>
          <ac:spMkLst>
            <pc:docMk/>
            <pc:sldMk cId="3686044739" sldId="388"/>
            <ac:spMk id="4" creationId="{48769649-2A7D-0901-D11B-434AEFD4DEE4}"/>
          </ac:spMkLst>
        </pc:spChg>
      </pc:sldChg>
      <pc:sldChg chg="addSp modSp new mod modClrScheme chgLayout">
        <pc:chgData name="Francesco Bellotti" userId="f453232b-f87d-4756-9d8b-c09bc835cc42" providerId="ADAL" clId="{C7FEA3FA-4936-41E1-B7FA-CA082069F7F7}" dt="2026-08-26T15:43:58.960" v="2880" actId="27636"/>
        <pc:sldMkLst>
          <pc:docMk/>
          <pc:sldMk cId="2199605498" sldId="389"/>
        </pc:sldMkLst>
        <pc:spChg chg="mod ord">
          <ac:chgData name="Francesco Bellotti" userId="f453232b-f87d-4756-9d8b-c09bc835cc42" providerId="ADAL" clId="{C7FEA3FA-4936-41E1-B7FA-CA082069F7F7}" dt="2026-08-26T14:55:42.491" v="2751" actId="700"/>
          <ac:spMkLst>
            <pc:docMk/>
            <pc:sldMk cId="2199605498" sldId="389"/>
            <ac:spMk id="2" creationId="{DF974866-0EF6-7CB2-4D34-7122485C4C19}"/>
          </ac:spMkLst>
        </pc:spChg>
        <pc:spChg chg="mod ord">
          <ac:chgData name="Francesco Bellotti" userId="f453232b-f87d-4756-9d8b-c09bc835cc42" providerId="ADAL" clId="{C7FEA3FA-4936-41E1-B7FA-CA082069F7F7}" dt="2026-08-26T15:43:58.960" v="2880" actId="27636"/>
          <ac:spMkLst>
            <pc:docMk/>
            <pc:sldMk cId="2199605498" sldId="389"/>
            <ac:spMk id="3" creationId="{B2F065EA-20C4-9EB5-18F5-BF3AA4827329}"/>
          </ac:spMkLst>
        </pc:spChg>
        <pc:spChg chg="add mod ord">
          <ac:chgData name="Francesco Bellotti" userId="f453232b-f87d-4756-9d8b-c09bc835cc42" providerId="ADAL" clId="{C7FEA3FA-4936-41E1-B7FA-CA082069F7F7}" dt="2026-08-26T15:43:58.960" v="2879" actId="27636"/>
          <ac:spMkLst>
            <pc:docMk/>
            <pc:sldMk cId="2199605498" sldId="389"/>
            <ac:spMk id="4" creationId="{D701364B-162D-ACB9-30E9-20F1A90E5B10}"/>
          </ac:spMkLst>
        </pc:spChg>
      </pc:sldChg>
      <pc:sldChg chg="addSp modSp new mod modClrScheme chgLayout">
        <pc:chgData name="Francesco Bellotti" userId="f453232b-f87d-4756-9d8b-c09bc835cc42" providerId="ADAL" clId="{C7FEA3FA-4936-41E1-B7FA-CA082069F7F7}" dt="2026-08-26T15:44:49.700" v="2884" actId="113"/>
        <pc:sldMkLst>
          <pc:docMk/>
          <pc:sldMk cId="1883000842" sldId="390"/>
        </pc:sldMkLst>
        <pc:spChg chg="mod ord">
          <ac:chgData name="Francesco Bellotti" userId="f453232b-f87d-4756-9d8b-c09bc835cc42" providerId="ADAL" clId="{C7FEA3FA-4936-41E1-B7FA-CA082069F7F7}" dt="2026-08-26T14:56:04.953" v="2757" actId="700"/>
          <ac:spMkLst>
            <pc:docMk/>
            <pc:sldMk cId="1883000842" sldId="390"/>
            <ac:spMk id="2" creationId="{7522E5BB-BE37-08B7-32F5-08F84222F49F}"/>
          </ac:spMkLst>
        </pc:spChg>
        <pc:spChg chg="mod ord">
          <ac:chgData name="Francesco Bellotti" userId="f453232b-f87d-4756-9d8b-c09bc835cc42" providerId="ADAL" clId="{C7FEA3FA-4936-41E1-B7FA-CA082069F7F7}" dt="2026-08-26T15:43:12.397" v="2869" actId="113"/>
          <ac:spMkLst>
            <pc:docMk/>
            <pc:sldMk cId="1883000842" sldId="390"/>
            <ac:spMk id="3" creationId="{D2F15E1C-3012-7A16-ECA4-250C0763EF26}"/>
          </ac:spMkLst>
        </pc:spChg>
        <pc:spChg chg="add mod ord">
          <ac:chgData name="Francesco Bellotti" userId="f453232b-f87d-4756-9d8b-c09bc835cc42" providerId="ADAL" clId="{C7FEA3FA-4936-41E1-B7FA-CA082069F7F7}" dt="2026-08-26T15:44:49.700" v="2884" actId="113"/>
          <ac:spMkLst>
            <pc:docMk/>
            <pc:sldMk cId="1883000842" sldId="390"/>
            <ac:spMk id="4" creationId="{0C136CBE-0190-DECE-987A-8FA069D7E801}"/>
          </ac:spMkLst>
        </pc:spChg>
      </pc:sldChg>
      <pc:sldChg chg="addSp modSp new mod ord modClrScheme chgLayout">
        <pc:chgData name="Francesco Bellotti" userId="f453232b-f87d-4756-9d8b-c09bc835cc42" providerId="ADAL" clId="{C7FEA3FA-4936-41E1-B7FA-CA082069F7F7}" dt="2026-08-26T15:46:04.640" v="2908" actId="1076"/>
        <pc:sldMkLst>
          <pc:docMk/>
          <pc:sldMk cId="3807262651" sldId="391"/>
        </pc:sldMkLst>
        <pc:spChg chg="mod ord">
          <ac:chgData name="Francesco Bellotti" userId="f453232b-f87d-4756-9d8b-c09bc835cc42" providerId="ADAL" clId="{C7FEA3FA-4936-41E1-B7FA-CA082069F7F7}" dt="2026-08-26T14:56:24.400" v="2763" actId="700"/>
          <ac:spMkLst>
            <pc:docMk/>
            <pc:sldMk cId="3807262651" sldId="391"/>
            <ac:spMk id="2" creationId="{098332AA-8ED1-2B69-83A2-29BC16502AAE}"/>
          </ac:spMkLst>
        </pc:spChg>
        <pc:spChg chg="mod ord">
          <ac:chgData name="Francesco Bellotti" userId="f453232b-f87d-4756-9d8b-c09bc835cc42" providerId="ADAL" clId="{C7FEA3FA-4936-41E1-B7FA-CA082069F7F7}" dt="2026-08-26T15:46:02.334" v="2906" actId="27636"/>
          <ac:spMkLst>
            <pc:docMk/>
            <pc:sldMk cId="3807262651" sldId="391"/>
            <ac:spMk id="3" creationId="{870F2651-F292-8635-CA7F-94F6E8096E86}"/>
          </ac:spMkLst>
        </pc:spChg>
        <pc:spChg chg="add mod ord">
          <ac:chgData name="Francesco Bellotti" userId="f453232b-f87d-4756-9d8b-c09bc835cc42" providerId="ADAL" clId="{C7FEA3FA-4936-41E1-B7FA-CA082069F7F7}" dt="2026-08-26T15:46:04.640" v="2908" actId="1076"/>
          <ac:spMkLst>
            <pc:docMk/>
            <pc:sldMk cId="3807262651" sldId="391"/>
            <ac:spMk id="4" creationId="{330B9D8F-AA44-7785-0CA9-8F9599609896}"/>
          </ac:spMkLst>
        </pc:spChg>
      </pc:sldChg>
      <pc:sldChg chg="modSp new">
        <pc:chgData name="Francesco Bellotti" userId="f453232b-f87d-4756-9d8b-c09bc835cc42" providerId="ADAL" clId="{C7FEA3FA-4936-41E1-B7FA-CA082069F7F7}" dt="2026-08-26T14:37:43.669" v="2507"/>
        <pc:sldMkLst>
          <pc:docMk/>
          <pc:sldMk cId="1065847401" sldId="392"/>
        </pc:sldMkLst>
        <pc:spChg chg="mod">
          <ac:chgData name="Francesco Bellotti" userId="f453232b-f87d-4756-9d8b-c09bc835cc42" providerId="ADAL" clId="{C7FEA3FA-4936-41E1-B7FA-CA082069F7F7}" dt="2026-08-26T14:37:43.669" v="2507"/>
          <ac:spMkLst>
            <pc:docMk/>
            <pc:sldMk cId="1065847401" sldId="392"/>
            <ac:spMk id="2" creationId="{8D491412-B6FB-8BE3-9C30-FE198B548136}"/>
          </ac:spMkLst>
        </pc:spChg>
      </pc:sldChg>
      <pc:sldChg chg="addSp modSp new mod modClrScheme chgLayout">
        <pc:chgData name="Francesco Bellotti" userId="f453232b-f87d-4756-9d8b-c09bc835cc42" providerId="ADAL" clId="{C7FEA3FA-4936-41E1-B7FA-CA082069F7F7}" dt="2026-08-26T16:01:11.003" v="2964" actId="113"/>
        <pc:sldMkLst>
          <pc:docMk/>
          <pc:sldMk cId="2459354138" sldId="393"/>
        </pc:sldMkLst>
        <pc:spChg chg="mod ord">
          <ac:chgData name="Francesco Bellotti" userId="f453232b-f87d-4756-9d8b-c09bc835cc42" providerId="ADAL" clId="{C7FEA3FA-4936-41E1-B7FA-CA082069F7F7}" dt="2026-08-26T14:56:47.440" v="2771" actId="700"/>
          <ac:spMkLst>
            <pc:docMk/>
            <pc:sldMk cId="2459354138" sldId="393"/>
            <ac:spMk id="2" creationId="{6D356F09-5061-413A-BC53-B0DE85350AAA}"/>
          </ac:spMkLst>
        </pc:spChg>
        <pc:spChg chg="mod ord">
          <ac:chgData name="Francesco Bellotti" userId="f453232b-f87d-4756-9d8b-c09bc835cc42" providerId="ADAL" clId="{C7FEA3FA-4936-41E1-B7FA-CA082069F7F7}" dt="2026-08-26T16:01:00.337" v="2950" actId="27636"/>
          <ac:spMkLst>
            <pc:docMk/>
            <pc:sldMk cId="2459354138" sldId="393"/>
            <ac:spMk id="3" creationId="{4CFC3384-3CB9-A5E5-8C17-B50FCD842742}"/>
          </ac:spMkLst>
        </pc:spChg>
        <pc:spChg chg="add mod ord">
          <ac:chgData name="Francesco Bellotti" userId="f453232b-f87d-4756-9d8b-c09bc835cc42" providerId="ADAL" clId="{C7FEA3FA-4936-41E1-B7FA-CA082069F7F7}" dt="2026-08-26T16:01:11.003" v="2964" actId="113"/>
          <ac:spMkLst>
            <pc:docMk/>
            <pc:sldMk cId="2459354138" sldId="393"/>
            <ac:spMk id="4" creationId="{BDA1598B-A79F-B63C-8C16-7185AD41841D}"/>
          </ac:spMkLst>
        </pc:spChg>
      </pc:sldChg>
      <pc:sldChg chg="addSp modSp new mod modClrScheme chgLayout">
        <pc:chgData name="Francesco Bellotti" userId="f453232b-f87d-4756-9d8b-c09bc835cc42" providerId="ADAL" clId="{C7FEA3FA-4936-41E1-B7FA-CA082069F7F7}" dt="2026-08-26T16:02:48.670" v="2994" actId="20577"/>
        <pc:sldMkLst>
          <pc:docMk/>
          <pc:sldMk cId="2876893253" sldId="394"/>
        </pc:sldMkLst>
        <pc:spChg chg="mod ord">
          <ac:chgData name="Francesco Bellotti" userId="f453232b-f87d-4756-9d8b-c09bc835cc42" providerId="ADAL" clId="{C7FEA3FA-4936-41E1-B7FA-CA082069F7F7}" dt="2026-08-26T14:57:06.605" v="2779" actId="700"/>
          <ac:spMkLst>
            <pc:docMk/>
            <pc:sldMk cId="2876893253" sldId="394"/>
            <ac:spMk id="2" creationId="{B5D61321-48C4-1B32-DD43-751CA1040286}"/>
          </ac:spMkLst>
        </pc:spChg>
        <pc:spChg chg="mod ord">
          <ac:chgData name="Francesco Bellotti" userId="f453232b-f87d-4756-9d8b-c09bc835cc42" providerId="ADAL" clId="{C7FEA3FA-4936-41E1-B7FA-CA082069F7F7}" dt="2026-08-26T16:02:42.533" v="2993" actId="15"/>
          <ac:spMkLst>
            <pc:docMk/>
            <pc:sldMk cId="2876893253" sldId="394"/>
            <ac:spMk id="3" creationId="{0BEED3D7-25F7-3362-16EF-30ADE96825AB}"/>
          </ac:spMkLst>
        </pc:spChg>
        <pc:spChg chg="add mod ord">
          <ac:chgData name="Francesco Bellotti" userId="f453232b-f87d-4756-9d8b-c09bc835cc42" providerId="ADAL" clId="{C7FEA3FA-4936-41E1-B7FA-CA082069F7F7}" dt="2026-08-26T16:02:48.670" v="2994" actId="20577"/>
          <ac:spMkLst>
            <pc:docMk/>
            <pc:sldMk cId="2876893253" sldId="394"/>
            <ac:spMk id="4" creationId="{7C908099-E50C-576F-050D-E4BC067ECDE6}"/>
          </ac:spMkLst>
        </pc:spChg>
      </pc:sldChg>
      <pc:sldChg chg="addSp modSp new mod modClrScheme chgLayout">
        <pc:chgData name="Francesco Bellotti" userId="f453232b-f87d-4756-9d8b-c09bc835cc42" providerId="ADAL" clId="{C7FEA3FA-4936-41E1-B7FA-CA082069F7F7}" dt="2026-08-26T16:11:02.051" v="3032" actId="113"/>
        <pc:sldMkLst>
          <pc:docMk/>
          <pc:sldMk cId="795091725" sldId="395"/>
        </pc:sldMkLst>
        <pc:spChg chg="mod ord">
          <ac:chgData name="Francesco Bellotti" userId="f453232b-f87d-4756-9d8b-c09bc835cc42" providerId="ADAL" clId="{C7FEA3FA-4936-41E1-B7FA-CA082069F7F7}" dt="2026-08-26T14:57:33.320" v="2785" actId="700"/>
          <ac:spMkLst>
            <pc:docMk/>
            <pc:sldMk cId="795091725" sldId="395"/>
            <ac:spMk id="2" creationId="{D0AA164B-107E-7431-8BAF-09EEC86FBADB}"/>
          </ac:spMkLst>
        </pc:spChg>
        <pc:spChg chg="mod ord">
          <ac:chgData name="Francesco Bellotti" userId="f453232b-f87d-4756-9d8b-c09bc835cc42" providerId="ADAL" clId="{C7FEA3FA-4936-41E1-B7FA-CA082069F7F7}" dt="2026-08-26T16:10:33.287" v="3005" actId="113"/>
          <ac:spMkLst>
            <pc:docMk/>
            <pc:sldMk cId="795091725" sldId="395"/>
            <ac:spMk id="3" creationId="{3B5D91F6-1CE6-D135-5A05-D5940D66D26C}"/>
          </ac:spMkLst>
        </pc:spChg>
        <pc:spChg chg="add mod ord">
          <ac:chgData name="Francesco Bellotti" userId="f453232b-f87d-4756-9d8b-c09bc835cc42" providerId="ADAL" clId="{C7FEA3FA-4936-41E1-B7FA-CA082069F7F7}" dt="2026-08-26T16:11:02.051" v="3032" actId="113"/>
          <ac:spMkLst>
            <pc:docMk/>
            <pc:sldMk cId="795091725" sldId="395"/>
            <ac:spMk id="4" creationId="{30D10D61-926B-701A-1C5D-131C345F9345}"/>
          </ac:spMkLst>
        </pc:spChg>
      </pc:sldChg>
      <pc:sldChg chg="addSp modSp new mod modClrScheme chgLayout">
        <pc:chgData name="Francesco Bellotti" userId="f453232b-f87d-4756-9d8b-c09bc835cc42" providerId="ADAL" clId="{C7FEA3FA-4936-41E1-B7FA-CA082069F7F7}" dt="2026-08-26T16:13:00.936" v="3080" actId="14100"/>
        <pc:sldMkLst>
          <pc:docMk/>
          <pc:sldMk cId="3076006347" sldId="396"/>
        </pc:sldMkLst>
        <pc:spChg chg="mod ord">
          <ac:chgData name="Francesco Bellotti" userId="f453232b-f87d-4756-9d8b-c09bc835cc42" providerId="ADAL" clId="{C7FEA3FA-4936-41E1-B7FA-CA082069F7F7}" dt="2026-08-26T14:57:48.848" v="2793" actId="700"/>
          <ac:spMkLst>
            <pc:docMk/>
            <pc:sldMk cId="3076006347" sldId="396"/>
            <ac:spMk id="2" creationId="{F9003994-97A9-B977-99E6-61838A41DEA5}"/>
          </ac:spMkLst>
        </pc:spChg>
        <pc:spChg chg="mod ord">
          <ac:chgData name="Francesco Bellotti" userId="f453232b-f87d-4756-9d8b-c09bc835cc42" providerId="ADAL" clId="{C7FEA3FA-4936-41E1-B7FA-CA082069F7F7}" dt="2026-08-26T16:13:00.936" v="3080" actId="14100"/>
          <ac:spMkLst>
            <pc:docMk/>
            <pc:sldMk cId="3076006347" sldId="396"/>
            <ac:spMk id="3" creationId="{4C04D4D0-958E-BC80-07FC-32C13D11507C}"/>
          </ac:spMkLst>
        </pc:spChg>
        <pc:spChg chg="add mod ord">
          <ac:chgData name="Francesco Bellotti" userId="f453232b-f87d-4756-9d8b-c09bc835cc42" providerId="ADAL" clId="{C7FEA3FA-4936-41E1-B7FA-CA082069F7F7}" dt="2026-08-26T16:12:58.385" v="3079" actId="1076"/>
          <ac:spMkLst>
            <pc:docMk/>
            <pc:sldMk cId="3076006347" sldId="396"/>
            <ac:spMk id="4" creationId="{64986751-0D0B-6A63-456C-0D2B7A8BB2B8}"/>
          </ac:spMkLst>
        </pc:spChg>
      </pc:sldChg>
      <pc:sldChg chg="addSp modSp new mod modClrScheme chgLayout">
        <pc:chgData name="Francesco Bellotti" userId="f453232b-f87d-4756-9d8b-c09bc835cc42" providerId="ADAL" clId="{C7FEA3FA-4936-41E1-B7FA-CA082069F7F7}" dt="2026-08-26T16:14:53.915" v="3097" actId="113"/>
        <pc:sldMkLst>
          <pc:docMk/>
          <pc:sldMk cId="4008058852" sldId="397"/>
        </pc:sldMkLst>
        <pc:spChg chg="mod ord">
          <ac:chgData name="Francesco Bellotti" userId="f453232b-f87d-4756-9d8b-c09bc835cc42" providerId="ADAL" clId="{C7FEA3FA-4936-41E1-B7FA-CA082069F7F7}" dt="2026-08-26T14:58:06.904" v="2799" actId="700"/>
          <ac:spMkLst>
            <pc:docMk/>
            <pc:sldMk cId="4008058852" sldId="397"/>
            <ac:spMk id="2" creationId="{C54C728D-53D5-5AEE-723D-9383E8B1A8AA}"/>
          </ac:spMkLst>
        </pc:spChg>
        <pc:spChg chg="mod ord">
          <ac:chgData name="Francesco Bellotti" userId="f453232b-f87d-4756-9d8b-c09bc835cc42" providerId="ADAL" clId="{C7FEA3FA-4936-41E1-B7FA-CA082069F7F7}" dt="2026-08-26T16:14:35.721" v="3093" actId="15"/>
          <ac:spMkLst>
            <pc:docMk/>
            <pc:sldMk cId="4008058852" sldId="397"/>
            <ac:spMk id="3" creationId="{FC070502-AC94-7361-1C71-084CB8D9A459}"/>
          </ac:spMkLst>
        </pc:spChg>
        <pc:spChg chg="add mod ord">
          <ac:chgData name="Francesco Bellotti" userId="f453232b-f87d-4756-9d8b-c09bc835cc42" providerId="ADAL" clId="{C7FEA3FA-4936-41E1-B7FA-CA082069F7F7}" dt="2026-08-26T16:14:53.915" v="3097" actId="113"/>
          <ac:spMkLst>
            <pc:docMk/>
            <pc:sldMk cId="4008058852" sldId="397"/>
            <ac:spMk id="4" creationId="{54EAED31-FFC0-7A30-5507-C23E9F8C93D7}"/>
          </ac:spMkLst>
        </pc:spChg>
      </pc:sldChg>
      <pc:sldChg chg="addSp modSp new mod modClrScheme chgLayout">
        <pc:chgData name="Francesco Bellotti" userId="f453232b-f87d-4756-9d8b-c09bc835cc42" providerId="ADAL" clId="{C7FEA3FA-4936-41E1-B7FA-CA082069F7F7}" dt="2026-08-26T16:20:48.046" v="3141" actId="113"/>
        <pc:sldMkLst>
          <pc:docMk/>
          <pc:sldMk cId="1055675614" sldId="398"/>
        </pc:sldMkLst>
        <pc:spChg chg="mod ord">
          <ac:chgData name="Francesco Bellotti" userId="f453232b-f87d-4756-9d8b-c09bc835cc42" providerId="ADAL" clId="{C7FEA3FA-4936-41E1-B7FA-CA082069F7F7}" dt="2026-08-26T14:58:28.762" v="2805" actId="700"/>
          <ac:spMkLst>
            <pc:docMk/>
            <pc:sldMk cId="1055675614" sldId="398"/>
            <ac:spMk id="2" creationId="{E409DADE-FCF0-FEDA-AA28-9390B39A9C0E}"/>
          </ac:spMkLst>
        </pc:spChg>
        <pc:spChg chg="mod ord">
          <ac:chgData name="Francesco Bellotti" userId="f453232b-f87d-4756-9d8b-c09bc835cc42" providerId="ADAL" clId="{C7FEA3FA-4936-41E1-B7FA-CA082069F7F7}" dt="2026-08-26T16:17:55.007" v="3135" actId="15"/>
          <ac:spMkLst>
            <pc:docMk/>
            <pc:sldMk cId="1055675614" sldId="398"/>
            <ac:spMk id="3" creationId="{FB1C121C-D719-970F-8A6A-FA9F2BA7D6BD}"/>
          </ac:spMkLst>
        </pc:spChg>
        <pc:spChg chg="add mod ord">
          <ac:chgData name="Francesco Bellotti" userId="f453232b-f87d-4756-9d8b-c09bc835cc42" providerId="ADAL" clId="{C7FEA3FA-4936-41E1-B7FA-CA082069F7F7}" dt="2026-08-26T16:20:48.046" v="3141" actId="113"/>
          <ac:spMkLst>
            <pc:docMk/>
            <pc:sldMk cId="1055675614" sldId="398"/>
            <ac:spMk id="4" creationId="{A6A3B2DE-88F9-2B3E-E5D6-F785B7D02C39}"/>
          </ac:spMkLst>
        </pc:spChg>
      </pc:sldChg>
      <pc:sldChg chg="addSp modSp new mod modClrScheme chgLayout">
        <pc:chgData name="Francesco Bellotti" userId="f453232b-f87d-4756-9d8b-c09bc835cc42" providerId="ADAL" clId="{C7FEA3FA-4936-41E1-B7FA-CA082069F7F7}" dt="2026-08-26T16:23:45.262" v="3180" actId="27636"/>
        <pc:sldMkLst>
          <pc:docMk/>
          <pc:sldMk cId="2935977117" sldId="399"/>
        </pc:sldMkLst>
        <pc:spChg chg="mod ord">
          <ac:chgData name="Francesco Bellotti" userId="f453232b-f87d-4756-9d8b-c09bc835cc42" providerId="ADAL" clId="{C7FEA3FA-4936-41E1-B7FA-CA082069F7F7}" dt="2026-08-26T14:58:41.206" v="2810" actId="700"/>
          <ac:spMkLst>
            <pc:docMk/>
            <pc:sldMk cId="2935977117" sldId="399"/>
            <ac:spMk id="2" creationId="{CED94075-BB2D-960D-EDF9-283E4BD94BEE}"/>
          </ac:spMkLst>
        </pc:spChg>
        <pc:spChg chg="mod ord">
          <ac:chgData name="Francesco Bellotti" userId="f453232b-f87d-4756-9d8b-c09bc835cc42" providerId="ADAL" clId="{C7FEA3FA-4936-41E1-B7FA-CA082069F7F7}" dt="2026-08-26T16:23:45.262" v="3180" actId="27636"/>
          <ac:spMkLst>
            <pc:docMk/>
            <pc:sldMk cId="2935977117" sldId="399"/>
            <ac:spMk id="3" creationId="{E7870A4E-68B8-CA7A-7EC2-5C0BF20396AE}"/>
          </ac:spMkLst>
        </pc:spChg>
        <pc:spChg chg="add mod ord">
          <ac:chgData name="Francesco Bellotti" userId="f453232b-f87d-4756-9d8b-c09bc835cc42" providerId="ADAL" clId="{C7FEA3FA-4936-41E1-B7FA-CA082069F7F7}" dt="2026-08-26T16:23:45.262" v="3179" actId="27636"/>
          <ac:spMkLst>
            <pc:docMk/>
            <pc:sldMk cId="2935977117" sldId="399"/>
            <ac:spMk id="4" creationId="{1A66C11E-942B-8C1D-4B98-983A6028A1A1}"/>
          </ac:spMkLst>
        </pc:spChg>
      </pc:sldChg>
      <pc:sldChg chg="addSp modSp new mod modClrScheme chgLayout">
        <pc:chgData name="Francesco Bellotti" userId="f453232b-f87d-4756-9d8b-c09bc835cc42" providerId="ADAL" clId="{C7FEA3FA-4936-41E1-B7FA-CA082069F7F7}" dt="2026-08-26T16:25:22.460" v="3211" actId="115"/>
        <pc:sldMkLst>
          <pc:docMk/>
          <pc:sldMk cId="1631647197" sldId="400"/>
        </pc:sldMkLst>
        <pc:spChg chg="mod ord">
          <ac:chgData name="Francesco Bellotti" userId="f453232b-f87d-4756-9d8b-c09bc835cc42" providerId="ADAL" clId="{C7FEA3FA-4936-41E1-B7FA-CA082069F7F7}" dt="2026-08-26T16:25:22.460" v="3211" actId="115"/>
          <ac:spMkLst>
            <pc:docMk/>
            <pc:sldMk cId="1631647197" sldId="400"/>
            <ac:spMk id="2" creationId="{589215CE-1F4D-B6BA-FDD5-CBBC6CE6008E}"/>
          </ac:spMkLst>
        </pc:spChg>
        <pc:spChg chg="mod ord">
          <ac:chgData name="Francesco Bellotti" userId="f453232b-f87d-4756-9d8b-c09bc835cc42" providerId="ADAL" clId="{C7FEA3FA-4936-41E1-B7FA-CA082069F7F7}" dt="2026-08-26T16:24:09.594" v="3188" actId="27636"/>
          <ac:spMkLst>
            <pc:docMk/>
            <pc:sldMk cId="1631647197" sldId="400"/>
            <ac:spMk id="3" creationId="{6B4F3712-32E6-18C7-EC3F-2292DE2B4317}"/>
          </ac:spMkLst>
        </pc:spChg>
        <pc:spChg chg="add mod ord">
          <ac:chgData name="Francesco Bellotti" userId="f453232b-f87d-4756-9d8b-c09bc835cc42" providerId="ADAL" clId="{C7FEA3FA-4936-41E1-B7FA-CA082069F7F7}" dt="2026-08-26T16:24:59.570" v="3192" actId="113"/>
          <ac:spMkLst>
            <pc:docMk/>
            <pc:sldMk cId="1631647197" sldId="400"/>
            <ac:spMk id="4" creationId="{2FF4EA98-992F-869B-DF4C-9055333B896C}"/>
          </ac:spMkLst>
        </pc:spChg>
      </pc:sldChg>
      <pc:sldChg chg="addSp modSp new mod modClrScheme chgLayout">
        <pc:chgData name="Francesco Bellotti" userId="f453232b-f87d-4756-9d8b-c09bc835cc42" providerId="ADAL" clId="{C7FEA3FA-4936-41E1-B7FA-CA082069F7F7}" dt="2026-08-26T19:45:42.578" v="3229" actId="27636"/>
        <pc:sldMkLst>
          <pc:docMk/>
          <pc:sldMk cId="2302453832" sldId="401"/>
        </pc:sldMkLst>
        <pc:spChg chg="mod ord">
          <ac:chgData name="Francesco Bellotti" userId="f453232b-f87d-4756-9d8b-c09bc835cc42" providerId="ADAL" clId="{C7FEA3FA-4936-41E1-B7FA-CA082069F7F7}" dt="2026-08-26T14:59:08.035" v="2826" actId="700"/>
          <ac:spMkLst>
            <pc:docMk/>
            <pc:sldMk cId="2302453832" sldId="401"/>
            <ac:spMk id="2" creationId="{94C49A06-07F5-D32F-5E65-6C4680DBAA3A}"/>
          </ac:spMkLst>
        </pc:spChg>
        <pc:spChg chg="mod ord">
          <ac:chgData name="Francesco Bellotti" userId="f453232b-f87d-4756-9d8b-c09bc835cc42" providerId="ADAL" clId="{C7FEA3FA-4936-41E1-B7FA-CA082069F7F7}" dt="2026-08-26T19:45:42.578" v="3229" actId="27636"/>
          <ac:spMkLst>
            <pc:docMk/>
            <pc:sldMk cId="2302453832" sldId="401"/>
            <ac:spMk id="3" creationId="{5097637C-3445-B8AB-8EDE-99B85A756DA8}"/>
          </ac:spMkLst>
        </pc:spChg>
        <pc:spChg chg="add mod ord">
          <ac:chgData name="Francesco Bellotti" userId="f453232b-f87d-4756-9d8b-c09bc835cc42" providerId="ADAL" clId="{C7FEA3FA-4936-41E1-B7FA-CA082069F7F7}" dt="2026-08-26T19:45:42.571" v="3228" actId="27636"/>
          <ac:spMkLst>
            <pc:docMk/>
            <pc:sldMk cId="2302453832" sldId="401"/>
            <ac:spMk id="4" creationId="{C0B391CE-BC36-E2CE-7607-9FD5805F82C9}"/>
          </ac:spMkLst>
        </pc:spChg>
      </pc:sldChg>
      <pc:sldChg chg="addSp delSp modSp new mod modClrScheme chgLayout">
        <pc:chgData name="Francesco Bellotti" userId="f453232b-f87d-4756-9d8b-c09bc835cc42" providerId="ADAL" clId="{C7FEA3FA-4936-41E1-B7FA-CA082069F7F7}" dt="2026-08-26T19:49:55.954" v="3353" actId="113"/>
        <pc:sldMkLst>
          <pc:docMk/>
          <pc:sldMk cId="3992580068" sldId="402"/>
        </pc:sldMkLst>
        <pc:spChg chg="mod ord">
          <ac:chgData name="Francesco Bellotti" userId="f453232b-f87d-4756-9d8b-c09bc835cc42" providerId="ADAL" clId="{C7FEA3FA-4936-41E1-B7FA-CA082069F7F7}" dt="2026-08-26T19:48:19.065" v="3309" actId="20577"/>
          <ac:spMkLst>
            <pc:docMk/>
            <pc:sldMk cId="3992580068" sldId="402"/>
            <ac:spMk id="2" creationId="{6B177EC2-6567-86C9-8CB5-32C8CBB929C0}"/>
          </ac:spMkLst>
        </pc:spChg>
        <pc:spChg chg="mod ord">
          <ac:chgData name="Francesco Bellotti" userId="f453232b-f87d-4756-9d8b-c09bc835cc42" providerId="ADAL" clId="{C7FEA3FA-4936-41E1-B7FA-CA082069F7F7}" dt="2026-08-26T19:49:44.924" v="3338" actId="27636"/>
          <ac:spMkLst>
            <pc:docMk/>
            <pc:sldMk cId="3992580068" sldId="402"/>
            <ac:spMk id="3" creationId="{2B408F9F-A028-8189-5699-F7FAB3E80431}"/>
          </ac:spMkLst>
        </pc:spChg>
        <pc:spChg chg="add mod ord">
          <ac:chgData name="Francesco Bellotti" userId="f453232b-f87d-4756-9d8b-c09bc835cc42" providerId="ADAL" clId="{C7FEA3FA-4936-41E1-B7FA-CA082069F7F7}" dt="2026-08-26T19:49:55.954" v="3353" actId="113"/>
          <ac:spMkLst>
            <pc:docMk/>
            <pc:sldMk cId="3992580068" sldId="402"/>
            <ac:spMk id="4" creationId="{2F08D226-3045-4535-0095-8C905B0109FE}"/>
          </ac:spMkLst>
        </pc:spChg>
        <pc:spChg chg="add del mod">
          <ac:chgData name="Francesco Bellotti" userId="f453232b-f87d-4756-9d8b-c09bc835cc42" providerId="ADAL" clId="{C7FEA3FA-4936-41E1-B7FA-CA082069F7F7}" dt="2026-08-26T19:48:26.587" v="3312"/>
          <ac:spMkLst>
            <pc:docMk/>
            <pc:sldMk cId="3992580068" sldId="402"/>
            <ac:spMk id="5" creationId="{7E744454-7BC6-9B33-688A-A5715F7B56FB}"/>
          </ac:spMkLst>
        </pc:spChg>
      </pc:sldChg>
      <pc:sldChg chg="addSp modSp new mod modClrScheme chgLayout">
        <pc:chgData name="Francesco Bellotti" userId="f453232b-f87d-4756-9d8b-c09bc835cc42" providerId="ADAL" clId="{C7FEA3FA-4936-41E1-B7FA-CA082069F7F7}" dt="2026-08-26T19:51:41.911" v="3400" actId="20577"/>
        <pc:sldMkLst>
          <pc:docMk/>
          <pc:sldMk cId="1456264114" sldId="403"/>
        </pc:sldMkLst>
        <pc:spChg chg="mod ord">
          <ac:chgData name="Francesco Bellotti" userId="f453232b-f87d-4756-9d8b-c09bc835cc42" providerId="ADAL" clId="{C7FEA3FA-4936-41E1-B7FA-CA082069F7F7}" dt="2026-08-26T14:59:34.022" v="2837" actId="700"/>
          <ac:spMkLst>
            <pc:docMk/>
            <pc:sldMk cId="1456264114" sldId="403"/>
            <ac:spMk id="2" creationId="{251D0B4C-F61F-CCFE-5514-D80169754E51}"/>
          </ac:spMkLst>
        </pc:spChg>
        <pc:spChg chg="mod ord">
          <ac:chgData name="Francesco Bellotti" userId="f453232b-f87d-4756-9d8b-c09bc835cc42" providerId="ADAL" clId="{C7FEA3FA-4936-41E1-B7FA-CA082069F7F7}" dt="2026-08-26T19:51:20.005" v="3396" actId="27636"/>
          <ac:spMkLst>
            <pc:docMk/>
            <pc:sldMk cId="1456264114" sldId="403"/>
            <ac:spMk id="3" creationId="{6087E0DD-EBB9-704C-9A90-74C60F65DF6E}"/>
          </ac:spMkLst>
        </pc:spChg>
        <pc:spChg chg="add mod ord">
          <ac:chgData name="Francesco Bellotti" userId="f453232b-f87d-4756-9d8b-c09bc835cc42" providerId="ADAL" clId="{C7FEA3FA-4936-41E1-B7FA-CA082069F7F7}" dt="2026-08-26T19:51:41.911" v="3400" actId="20577"/>
          <ac:spMkLst>
            <pc:docMk/>
            <pc:sldMk cId="1456264114" sldId="403"/>
            <ac:spMk id="4" creationId="{CB33F1B9-2E97-64E7-8365-E607A9A42019}"/>
          </ac:spMkLst>
        </pc:spChg>
      </pc:sldChg>
      <pc:sldChg chg="addSp modSp new mod modClrScheme chgLayout">
        <pc:chgData name="Francesco Bellotti" userId="f453232b-f87d-4756-9d8b-c09bc835cc42" providerId="ADAL" clId="{C7FEA3FA-4936-41E1-B7FA-CA082069F7F7}" dt="2026-08-26T20:14:27.692" v="3596" actId="113"/>
        <pc:sldMkLst>
          <pc:docMk/>
          <pc:sldMk cId="3985175531" sldId="404"/>
        </pc:sldMkLst>
        <pc:spChg chg="mod ord">
          <ac:chgData name="Francesco Bellotti" userId="f453232b-f87d-4756-9d8b-c09bc835cc42" providerId="ADAL" clId="{C7FEA3FA-4936-41E1-B7FA-CA082069F7F7}" dt="2026-08-26T14:59:45.646" v="2843" actId="700"/>
          <ac:spMkLst>
            <pc:docMk/>
            <pc:sldMk cId="3985175531" sldId="404"/>
            <ac:spMk id="2" creationId="{71A9B232-DCA6-E13A-10FF-E95597BBAF4E}"/>
          </ac:spMkLst>
        </pc:spChg>
        <pc:spChg chg="mod ord">
          <ac:chgData name="Francesco Bellotti" userId="f453232b-f87d-4756-9d8b-c09bc835cc42" providerId="ADAL" clId="{C7FEA3FA-4936-41E1-B7FA-CA082069F7F7}" dt="2026-08-26T19:52:16.395" v="3405" actId="27636"/>
          <ac:spMkLst>
            <pc:docMk/>
            <pc:sldMk cId="3985175531" sldId="404"/>
            <ac:spMk id="3" creationId="{9C8D669D-3267-A415-F763-FB7561E7F087}"/>
          </ac:spMkLst>
        </pc:spChg>
        <pc:spChg chg="add mod ord">
          <ac:chgData name="Francesco Bellotti" userId="f453232b-f87d-4756-9d8b-c09bc835cc42" providerId="ADAL" clId="{C7FEA3FA-4936-41E1-B7FA-CA082069F7F7}" dt="2026-08-26T20:14:27.692" v="3596" actId="113"/>
          <ac:spMkLst>
            <pc:docMk/>
            <pc:sldMk cId="3985175531" sldId="404"/>
            <ac:spMk id="4" creationId="{449A5228-C2C1-EDF6-1E9A-D3E9D77F5E07}"/>
          </ac:spMkLst>
        </pc:spChg>
      </pc:sldChg>
      <pc:sldChg chg="modSp new mod">
        <pc:chgData name="Francesco Bellotti" userId="f453232b-f87d-4756-9d8b-c09bc835cc42" providerId="ADAL" clId="{C7FEA3FA-4936-41E1-B7FA-CA082069F7F7}" dt="2026-08-26T14:42:34.234" v="2562"/>
        <pc:sldMkLst>
          <pc:docMk/>
          <pc:sldMk cId="2239605098" sldId="405"/>
        </pc:sldMkLst>
        <pc:spChg chg="mod">
          <ac:chgData name="Francesco Bellotti" userId="f453232b-f87d-4756-9d8b-c09bc835cc42" providerId="ADAL" clId="{C7FEA3FA-4936-41E1-B7FA-CA082069F7F7}" dt="2026-08-26T14:42:34.234" v="2562"/>
          <ac:spMkLst>
            <pc:docMk/>
            <pc:sldMk cId="2239605098" sldId="405"/>
            <ac:spMk id="2" creationId="{3C6DD32E-4FB1-60CD-BF04-9492BEC0335D}"/>
          </ac:spMkLst>
        </pc:spChg>
        <pc:spChg chg="mod">
          <ac:chgData name="Francesco Bellotti" userId="f453232b-f87d-4756-9d8b-c09bc835cc42" providerId="ADAL" clId="{C7FEA3FA-4936-41E1-B7FA-CA082069F7F7}" dt="2026-08-26T14:42:32.295" v="2561" actId="21"/>
          <ac:spMkLst>
            <pc:docMk/>
            <pc:sldMk cId="2239605098" sldId="405"/>
            <ac:spMk id="3" creationId="{4DC6209A-169A-FD46-0B8E-24647553EB81}"/>
          </ac:spMkLst>
        </pc:spChg>
      </pc:sldChg>
      <pc:sldChg chg="delSp modSp add mod setBg">
        <pc:chgData name="Francesco Bellotti" userId="f453232b-f87d-4756-9d8b-c09bc835cc42" providerId="ADAL" clId="{C7FEA3FA-4936-41E1-B7FA-CA082069F7F7}" dt="2026-08-26T20:15:21.990" v="3600" actId="478"/>
        <pc:sldMkLst>
          <pc:docMk/>
          <pc:sldMk cId="0" sldId="406"/>
        </pc:sldMkLst>
        <pc:spChg chg="del">
          <ac:chgData name="Francesco Bellotti" userId="f453232b-f87d-4756-9d8b-c09bc835cc42" providerId="ADAL" clId="{C7FEA3FA-4936-41E1-B7FA-CA082069F7F7}" dt="2026-08-26T20:15:21.990" v="3600" actId="478"/>
          <ac:spMkLst>
            <pc:docMk/>
            <pc:sldMk cId="0" sldId="406"/>
            <ac:spMk id="7" creationId="{00000000-0000-0000-0000-000000000000}"/>
          </ac:spMkLst>
        </pc:spChg>
        <pc:spChg chg="mod">
          <ac:chgData name="Francesco Bellotti" userId="f453232b-f87d-4756-9d8b-c09bc835cc42" providerId="ADAL" clId="{C7FEA3FA-4936-41E1-B7FA-CA082069F7F7}" dt="2026-08-26T20:15:00.987" v="3597" actId="1076"/>
          <ac:spMkLst>
            <pc:docMk/>
            <pc:sldMk cId="0" sldId="406"/>
            <ac:spMk id="28" creationId="{00000000-0000-0000-0000-000000000000}"/>
          </ac:spMkLst>
        </pc:spChg>
        <pc:spChg chg="mod">
          <ac:chgData name="Francesco Bellotti" userId="f453232b-f87d-4756-9d8b-c09bc835cc42" providerId="ADAL" clId="{C7FEA3FA-4936-41E1-B7FA-CA082069F7F7}" dt="2026-08-26T20:15:04.316" v="3598" actId="1076"/>
          <ac:spMkLst>
            <pc:docMk/>
            <pc:sldMk cId="0" sldId="406"/>
            <ac:spMk id="29" creationId="{00000000-0000-0000-0000-000000000000}"/>
          </ac:spMkLst>
        </pc:spChg>
        <pc:spChg chg="mod">
          <ac:chgData name="Francesco Bellotti" userId="f453232b-f87d-4756-9d8b-c09bc835cc42" providerId="ADAL" clId="{C7FEA3FA-4936-41E1-B7FA-CA082069F7F7}" dt="2026-08-26T20:15:09.707" v="3599" actId="1076"/>
          <ac:spMkLst>
            <pc:docMk/>
            <pc:sldMk cId="0" sldId="406"/>
            <ac:spMk id="30" creationId="{00000000-0000-0000-0000-000000000000}"/>
          </ac:spMkLst>
        </pc:spChg>
      </pc:sldChg>
      <pc:sldChg chg="delSp modSp add mod ord setBg">
        <pc:chgData name="Francesco Bellotti" userId="f453232b-f87d-4756-9d8b-c09bc835cc42" providerId="ADAL" clId="{C7FEA3FA-4936-41E1-B7FA-CA082069F7F7}" dt="2026-08-26T20:17:34.661" v="3655" actId="403"/>
        <pc:sldMkLst>
          <pc:docMk/>
          <pc:sldMk cId="0" sldId="407"/>
        </pc:sldMkLst>
        <pc:spChg chg="mod">
          <ac:chgData name="Francesco Bellotti" userId="f453232b-f87d-4756-9d8b-c09bc835cc42" providerId="ADAL" clId="{C7FEA3FA-4936-41E1-B7FA-CA082069F7F7}" dt="2026-08-26T20:17:34.661" v="3655" actId="403"/>
          <ac:spMkLst>
            <pc:docMk/>
            <pc:sldMk cId="0" sldId="407"/>
            <ac:spMk id="6" creationId="{00000000-0000-0000-0000-000000000000}"/>
          </ac:spMkLst>
        </pc:spChg>
        <pc:spChg chg="del">
          <ac:chgData name="Francesco Bellotti" userId="f453232b-f87d-4756-9d8b-c09bc835cc42" providerId="ADAL" clId="{C7FEA3FA-4936-41E1-B7FA-CA082069F7F7}" dt="2026-08-26T20:16:48.081" v="3638" actId="478"/>
          <ac:spMkLst>
            <pc:docMk/>
            <pc:sldMk cId="0" sldId="407"/>
            <ac:spMk id="7" creationId="{00000000-0000-0000-0000-000000000000}"/>
          </ac:spMkLst>
        </pc:spChg>
        <pc:spChg chg="mod">
          <ac:chgData name="Francesco Bellotti" userId="f453232b-f87d-4756-9d8b-c09bc835cc42" providerId="ADAL" clId="{C7FEA3FA-4936-41E1-B7FA-CA082069F7F7}" dt="2026-08-26T20:17:20.085" v="3651" actId="20577"/>
          <ac:spMkLst>
            <pc:docMk/>
            <pc:sldMk cId="0" sldId="407"/>
            <ac:spMk id="86" creationId="{00000000-0000-0000-0000-000000000000}"/>
          </ac:spMkLst>
        </pc:spChg>
      </pc:sldChg>
      <pc:sldChg chg="delSp modSp add mod setBg">
        <pc:chgData name="Francesco Bellotti" userId="f453232b-f87d-4756-9d8b-c09bc835cc42" providerId="ADAL" clId="{C7FEA3FA-4936-41E1-B7FA-CA082069F7F7}" dt="2026-08-26T20:18:59.904" v="3673" actId="113"/>
        <pc:sldMkLst>
          <pc:docMk/>
          <pc:sldMk cId="0" sldId="408"/>
        </pc:sldMkLst>
        <pc:spChg chg="mod">
          <ac:chgData name="Francesco Bellotti" userId="f453232b-f87d-4756-9d8b-c09bc835cc42" providerId="ADAL" clId="{C7FEA3FA-4936-41E1-B7FA-CA082069F7F7}" dt="2026-08-26T20:18:59.904" v="3673" actId="113"/>
          <ac:spMkLst>
            <pc:docMk/>
            <pc:sldMk cId="0" sldId="408"/>
            <ac:spMk id="6" creationId="{00000000-0000-0000-0000-000000000000}"/>
          </ac:spMkLst>
        </pc:spChg>
        <pc:spChg chg="del">
          <ac:chgData name="Francesco Bellotti" userId="f453232b-f87d-4756-9d8b-c09bc835cc42" providerId="ADAL" clId="{C7FEA3FA-4936-41E1-B7FA-CA082069F7F7}" dt="2026-08-26T20:18:52.646" v="3672" actId="478"/>
          <ac:spMkLst>
            <pc:docMk/>
            <pc:sldMk cId="0" sldId="408"/>
            <ac:spMk id="7" creationId="{00000000-0000-0000-0000-000000000000}"/>
          </ac:spMkLst>
        </pc:spChg>
      </pc:sldChg>
      <pc:sldChg chg="addSp delSp modSp add mod setBg">
        <pc:chgData name="Francesco Bellotti" userId="f453232b-f87d-4756-9d8b-c09bc835cc42" providerId="ADAL" clId="{C7FEA3FA-4936-41E1-B7FA-CA082069F7F7}" dt="2026-08-26T20:30:22.259" v="3750" actId="14100"/>
        <pc:sldMkLst>
          <pc:docMk/>
          <pc:sldMk cId="0" sldId="409"/>
        </pc:sldMkLst>
        <pc:spChg chg="mod">
          <ac:chgData name="Francesco Bellotti" userId="f453232b-f87d-4756-9d8b-c09bc835cc42" providerId="ADAL" clId="{C7FEA3FA-4936-41E1-B7FA-CA082069F7F7}" dt="2026-08-26T20:27:41.642" v="3715" actId="113"/>
          <ac:spMkLst>
            <pc:docMk/>
            <pc:sldMk cId="0" sldId="409"/>
            <ac:spMk id="6" creationId="{00000000-0000-0000-0000-000000000000}"/>
          </ac:spMkLst>
        </pc:spChg>
        <pc:spChg chg="del">
          <ac:chgData name="Francesco Bellotti" userId="f453232b-f87d-4756-9d8b-c09bc835cc42" providerId="ADAL" clId="{C7FEA3FA-4936-41E1-B7FA-CA082069F7F7}" dt="2026-08-26T20:21:05.252" v="3696" actId="478"/>
          <ac:spMkLst>
            <pc:docMk/>
            <pc:sldMk cId="0" sldId="409"/>
            <ac:spMk id="7" creationId="{00000000-0000-0000-0000-000000000000}"/>
          </ac:spMkLst>
        </pc:spChg>
        <pc:spChg chg="mod">
          <ac:chgData name="Francesco Bellotti" userId="f453232b-f87d-4756-9d8b-c09bc835cc42" providerId="ADAL" clId="{C7FEA3FA-4936-41E1-B7FA-CA082069F7F7}" dt="2026-08-26T20:28:22.238" v="3716" actId="207"/>
          <ac:spMkLst>
            <pc:docMk/>
            <pc:sldMk cId="0" sldId="409"/>
            <ac:spMk id="8" creationId="{00000000-0000-0000-0000-000000000000}"/>
          </ac:spMkLst>
        </pc:spChg>
        <pc:spChg chg="mod">
          <ac:chgData name="Francesco Bellotti" userId="f453232b-f87d-4756-9d8b-c09bc835cc42" providerId="ADAL" clId="{C7FEA3FA-4936-41E1-B7FA-CA082069F7F7}" dt="2026-08-26T20:28:32.913" v="3717" actId="207"/>
          <ac:spMkLst>
            <pc:docMk/>
            <pc:sldMk cId="0" sldId="409"/>
            <ac:spMk id="10" creationId="{00000000-0000-0000-0000-000000000000}"/>
          </ac:spMkLst>
        </pc:spChg>
        <pc:spChg chg="mod">
          <ac:chgData name="Francesco Bellotti" userId="f453232b-f87d-4756-9d8b-c09bc835cc42" providerId="ADAL" clId="{C7FEA3FA-4936-41E1-B7FA-CA082069F7F7}" dt="2026-08-26T20:28:35.265" v="3718" actId="207"/>
          <ac:spMkLst>
            <pc:docMk/>
            <pc:sldMk cId="0" sldId="409"/>
            <ac:spMk id="14" creationId="{00000000-0000-0000-0000-000000000000}"/>
          </ac:spMkLst>
        </pc:spChg>
        <pc:spChg chg="mod">
          <ac:chgData name="Francesco Bellotti" userId="f453232b-f87d-4756-9d8b-c09bc835cc42" providerId="ADAL" clId="{C7FEA3FA-4936-41E1-B7FA-CA082069F7F7}" dt="2026-08-26T20:28:38.617" v="3719" actId="207"/>
          <ac:spMkLst>
            <pc:docMk/>
            <pc:sldMk cId="0" sldId="409"/>
            <ac:spMk id="19" creationId="{00000000-0000-0000-0000-000000000000}"/>
          </ac:spMkLst>
        </pc:spChg>
        <pc:spChg chg="mod">
          <ac:chgData name="Francesco Bellotti" userId="f453232b-f87d-4756-9d8b-c09bc835cc42" providerId="ADAL" clId="{C7FEA3FA-4936-41E1-B7FA-CA082069F7F7}" dt="2026-08-26T20:29:49.870" v="3737" actId="208"/>
          <ac:spMkLst>
            <pc:docMk/>
            <pc:sldMk cId="0" sldId="409"/>
            <ac:spMk id="24" creationId="{00000000-0000-0000-0000-000000000000}"/>
          </ac:spMkLst>
        </pc:spChg>
        <pc:spChg chg="del">
          <ac:chgData name="Francesco Bellotti" userId="f453232b-f87d-4756-9d8b-c09bc835cc42" providerId="ADAL" clId="{C7FEA3FA-4936-41E1-B7FA-CA082069F7F7}" dt="2026-08-26T20:29:53.822" v="3738" actId="478"/>
          <ac:spMkLst>
            <pc:docMk/>
            <pc:sldMk cId="0" sldId="409"/>
            <ac:spMk id="25" creationId="{00000000-0000-0000-0000-000000000000}"/>
          </ac:spMkLst>
        </pc:spChg>
        <pc:spChg chg="del">
          <ac:chgData name="Francesco Bellotti" userId="f453232b-f87d-4756-9d8b-c09bc835cc42" providerId="ADAL" clId="{C7FEA3FA-4936-41E1-B7FA-CA082069F7F7}" dt="2026-08-26T20:29:53.822" v="3738" actId="478"/>
          <ac:spMkLst>
            <pc:docMk/>
            <pc:sldMk cId="0" sldId="409"/>
            <ac:spMk id="26" creationId="{00000000-0000-0000-0000-000000000000}"/>
          </ac:spMkLst>
        </pc:spChg>
        <pc:spChg chg="mod">
          <ac:chgData name="Francesco Bellotti" userId="f453232b-f87d-4756-9d8b-c09bc835cc42" providerId="ADAL" clId="{C7FEA3FA-4936-41E1-B7FA-CA082069F7F7}" dt="2026-08-26T20:29:12.990" v="3722" actId="164"/>
          <ac:spMkLst>
            <pc:docMk/>
            <pc:sldMk cId="0" sldId="409"/>
            <ac:spMk id="27" creationId="{00000000-0000-0000-0000-000000000000}"/>
          </ac:spMkLst>
        </pc:spChg>
        <pc:spChg chg="mod">
          <ac:chgData name="Francesco Bellotti" userId="f453232b-f87d-4756-9d8b-c09bc835cc42" providerId="ADAL" clId="{C7FEA3FA-4936-41E1-B7FA-CA082069F7F7}" dt="2026-08-26T20:29:12.990" v="3722" actId="164"/>
          <ac:spMkLst>
            <pc:docMk/>
            <pc:sldMk cId="0" sldId="409"/>
            <ac:spMk id="28" creationId="{00000000-0000-0000-0000-000000000000}"/>
          </ac:spMkLst>
        </pc:spChg>
        <pc:spChg chg="add del mod">
          <ac:chgData name="Francesco Bellotti" userId="f453232b-f87d-4756-9d8b-c09bc835cc42" providerId="ADAL" clId="{C7FEA3FA-4936-41E1-B7FA-CA082069F7F7}" dt="2026-08-26T20:29:37.360" v="3730"/>
          <ac:spMkLst>
            <pc:docMk/>
            <pc:sldMk cId="0" sldId="409"/>
            <ac:spMk id="38" creationId="{9CAEBB93-8D18-D527-1BD8-F21013E8085D}"/>
          </ac:spMkLst>
        </pc:spChg>
        <pc:spChg chg="add del mod">
          <ac:chgData name="Francesco Bellotti" userId="f453232b-f87d-4756-9d8b-c09bc835cc42" providerId="ADAL" clId="{C7FEA3FA-4936-41E1-B7FA-CA082069F7F7}" dt="2026-08-26T20:29:40.646" v="3733"/>
          <ac:spMkLst>
            <pc:docMk/>
            <pc:sldMk cId="0" sldId="409"/>
            <ac:spMk id="39" creationId="{9E89DE04-8B5F-B72B-F70A-D698842D73EF}"/>
          </ac:spMkLst>
        </pc:spChg>
        <pc:spChg chg="add del mod">
          <ac:chgData name="Francesco Bellotti" userId="f453232b-f87d-4756-9d8b-c09bc835cc42" providerId="ADAL" clId="{C7FEA3FA-4936-41E1-B7FA-CA082069F7F7}" dt="2026-08-26T20:29:44.582" v="3736"/>
          <ac:spMkLst>
            <pc:docMk/>
            <pc:sldMk cId="0" sldId="409"/>
            <ac:spMk id="40" creationId="{9DE7B5BD-BA1B-FABD-882F-C32D9EDBD737}"/>
          </ac:spMkLst>
        </pc:spChg>
        <pc:spChg chg="add mod">
          <ac:chgData name="Francesco Bellotti" userId="f453232b-f87d-4756-9d8b-c09bc835cc42" providerId="ADAL" clId="{C7FEA3FA-4936-41E1-B7FA-CA082069F7F7}" dt="2026-08-26T20:30:01.211" v="3741" actId="14100"/>
          <ac:spMkLst>
            <pc:docMk/>
            <pc:sldMk cId="0" sldId="409"/>
            <ac:spMk id="42" creationId="{924F701B-8177-7FA1-090E-F5E779AA591F}"/>
          </ac:spMkLst>
        </pc:spChg>
        <pc:spChg chg="add mod">
          <ac:chgData name="Francesco Bellotti" userId="f453232b-f87d-4756-9d8b-c09bc835cc42" providerId="ADAL" clId="{C7FEA3FA-4936-41E1-B7FA-CA082069F7F7}" dt="2026-08-26T20:30:07.632" v="3744" actId="14100"/>
          <ac:spMkLst>
            <pc:docMk/>
            <pc:sldMk cId="0" sldId="409"/>
            <ac:spMk id="44" creationId="{6487515A-348F-D57D-46C4-C595C16B98F6}"/>
          </ac:spMkLst>
        </pc:spChg>
        <pc:spChg chg="add mod">
          <ac:chgData name="Francesco Bellotti" userId="f453232b-f87d-4756-9d8b-c09bc835cc42" providerId="ADAL" clId="{C7FEA3FA-4936-41E1-B7FA-CA082069F7F7}" dt="2026-08-26T20:30:14.920" v="3747" actId="14100"/>
          <ac:spMkLst>
            <pc:docMk/>
            <pc:sldMk cId="0" sldId="409"/>
            <ac:spMk id="46" creationId="{DD6DCACF-4AAA-0958-2A99-3B2A830C1D4B}"/>
          </ac:spMkLst>
        </pc:spChg>
        <pc:spChg chg="add mod">
          <ac:chgData name="Francesco Bellotti" userId="f453232b-f87d-4756-9d8b-c09bc835cc42" providerId="ADAL" clId="{C7FEA3FA-4936-41E1-B7FA-CA082069F7F7}" dt="2026-08-26T20:30:22.259" v="3750" actId="14100"/>
          <ac:spMkLst>
            <pc:docMk/>
            <pc:sldMk cId="0" sldId="409"/>
            <ac:spMk id="48" creationId="{8A2E675D-4AA5-B66B-FB85-8AB6C1FB79A6}"/>
          </ac:spMkLst>
        </pc:spChg>
        <pc:grpChg chg="add mod">
          <ac:chgData name="Francesco Bellotti" userId="f453232b-f87d-4756-9d8b-c09bc835cc42" providerId="ADAL" clId="{C7FEA3FA-4936-41E1-B7FA-CA082069F7F7}" dt="2026-08-26T20:29:15.594" v="3723" actId="1076"/>
          <ac:grpSpMkLst>
            <pc:docMk/>
            <pc:sldMk cId="0" sldId="409"/>
            <ac:grpSpMk id="37" creationId="{EE93D490-8620-87FC-EEFA-C2F2B78C0390}"/>
          </ac:grpSpMkLst>
        </pc:grpChg>
      </pc:sldChg>
      <pc:sldChg chg="delSp add mod setBg">
        <pc:chgData name="Francesco Bellotti" userId="f453232b-f87d-4756-9d8b-c09bc835cc42" providerId="ADAL" clId="{C7FEA3FA-4936-41E1-B7FA-CA082069F7F7}" dt="2026-08-26T20:23:34.639" v="3713" actId="478"/>
        <pc:sldMkLst>
          <pc:docMk/>
          <pc:sldMk cId="0" sldId="410"/>
        </pc:sldMkLst>
        <pc:spChg chg="del">
          <ac:chgData name="Francesco Bellotti" userId="f453232b-f87d-4756-9d8b-c09bc835cc42" providerId="ADAL" clId="{C7FEA3FA-4936-41E1-B7FA-CA082069F7F7}" dt="2026-08-26T20:23:34.639" v="3713" actId="478"/>
          <ac:spMkLst>
            <pc:docMk/>
            <pc:sldMk cId="0" sldId="410"/>
            <ac:spMk id="7" creationId="{00000000-0000-0000-0000-000000000000}"/>
          </ac:spMkLst>
        </pc:spChg>
      </pc:sldChg>
      <pc:sldChg chg="delSp add mod setBg">
        <pc:chgData name="Francesco Bellotti" userId="f453232b-f87d-4756-9d8b-c09bc835cc42" providerId="ADAL" clId="{C7FEA3FA-4936-41E1-B7FA-CA082069F7F7}" dt="2026-08-26T20:31:25.835" v="3751" actId="478"/>
        <pc:sldMkLst>
          <pc:docMk/>
          <pc:sldMk cId="0" sldId="411"/>
        </pc:sldMkLst>
        <pc:spChg chg="del">
          <ac:chgData name="Francesco Bellotti" userId="f453232b-f87d-4756-9d8b-c09bc835cc42" providerId="ADAL" clId="{C7FEA3FA-4936-41E1-B7FA-CA082069F7F7}" dt="2026-08-26T20:31:25.835" v="3751" actId="478"/>
          <ac:spMkLst>
            <pc:docMk/>
            <pc:sldMk cId="0" sldId="411"/>
            <ac:spMk id="7" creationId="{00000000-0000-0000-0000-000000000000}"/>
          </ac:spMkLst>
        </pc:spChg>
      </pc:sldChg>
      <pc:sldChg chg="delSp add mod ord setBg">
        <pc:chgData name="Francesco Bellotti" userId="f453232b-f87d-4756-9d8b-c09bc835cc42" providerId="ADAL" clId="{C7FEA3FA-4936-41E1-B7FA-CA082069F7F7}" dt="2026-08-26T20:59:42.198" v="3846" actId="478"/>
        <pc:sldMkLst>
          <pc:docMk/>
          <pc:sldMk cId="0" sldId="412"/>
        </pc:sldMkLst>
        <pc:spChg chg="del">
          <ac:chgData name="Francesco Bellotti" userId="f453232b-f87d-4756-9d8b-c09bc835cc42" providerId="ADAL" clId="{C7FEA3FA-4936-41E1-B7FA-CA082069F7F7}" dt="2026-08-26T20:59:42.198" v="3846" actId="478"/>
          <ac:spMkLst>
            <pc:docMk/>
            <pc:sldMk cId="0" sldId="412"/>
            <ac:spMk id="7" creationId="{00000000-0000-0000-0000-000000000000}"/>
          </ac:spMkLst>
        </pc:spChg>
      </pc:sldChg>
      <pc:sldChg chg="delSp add mod setBg">
        <pc:chgData name="Francesco Bellotti" userId="f453232b-f87d-4756-9d8b-c09bc835cc42" providerId="ADAL" clId="{C7FEA3FA-4936-41E1-B7FA-CA082069F7F7}" dt="2026-08-26T21:01:40.732" v="3874" actId="478"/>
        <pc:sldMkLst>
          <pc:docMk/>
          <pc:sldMk cId="0" sldId="413"/>
        </pc:sldMkLst>
        <pc:spChg chg="del">
          <ac:chgData name="Francesco Bellotti" userId="f453232b-f87d-4756-9d8b-c09bc835cc42" providerId="ADAL" clId="{C7FEA3FA-4936-41E1-B7FA-CA082069F7F7}" dt="2026-08-26T21:01:40.732" v="3874" actId="478"/>
          <ac:spMkLst>
            <pc:docMk/>
            <pc:sldMk cId="0" sldId="413"/>
            <ac:spMk id="7" creationId="{00000000-0000-0000-0000-000000000000}"/>
          </ac:spMkLst>
        </pc:spChg>
      </pc:sldChg>
      <pc:sldChg chg="delSp add del mod setBg">
        <pc:chgData name="Francesco Bellotti" userId="f453232b-f87d-4756-9d8b-c09bc835cc42" providerId="ADAL" clId="{C7FEA3FA-4936-41E1-B7FA-CA082069F7F7}" dt="2026-08-26T21:32:44.627" v="4079" actId="47"/>
        <pc:sldMkLst>
          <pc:docMk/>
          <pc:sldMk cId="0" sldId="414"/>
        </pc:sldMkLst>
        <pc:spChg chg="del">
          <ac:chgData name="Francesco Bellotti" userId="f453232b-f87d-4756-9d8b-c09bc835cc42" providerId="ADAL" clId="{C7FEA3FA-4936-41E1-B7FA-CA082069F7F7}" dt="2026-08-26T21:04:00.194" v="3905" actId="478"/>
          <ac:spMkLst>
            <pc:docMk/>
            <pc:sldMk cId="0" sldId="414"/>
            <ac:spMk id="7" creationId="{00000000-0000-0000-0000-000000000000}"/>
          </ac:spMkLst>
        </pc:spChg>
      </pc:sldChg>
      <pc:sldChg chg="addSp delSp modSp add mod setBg">
        <pc:chgData name="Francesco Bellotti" userId="f453232b-f87d-4756-9d8b-c09bc835cc42" providerId="ADAL" clId="{C7FEA3FA-4936-41E1-B7FA-CA082069F7F7}" dt="2026-08-26T21:13:20.999" v="3952" actId="478"/>
        <pc:sldMkLst>
          <pc:docMk/>
          <pc:sldMk cId="0" sldId="415"/>
        </pc:sldMkLst>
        <pc:spChg chg="del">
          <ac:chgData name="Francesco Bellotti" userId="f453232b-f87d-4756-9d8b-c09bc835cc42" providerId="ADAL" clId="{C7FEA3FA-4936-41E1-B7FA-CA082069F7F7}" dt="2026-08-26T21:13:20.999" v="3952" actId="478"/>
          <ac:spMkLst>
            <pc:docMk/>
            <pc:sldMk cId="0" sldId="415"/>
            <ac:spMk id="7" creationId="{00000000-0000-0000-0000-000000000000}"/>
          </ac:spMkLst>
        </pc:spChg>
        <pc:spChg chg="mod">
          <ac:chgData name="Francesco Bellotti" userId="f453232b-f87d-4756-9d8b-c09bc835cc42" providerId="ADAL" clId="{C7FEA3FA-4936-41E1-B7FA-CA082069F7F7}" dt="2026-08-26T21:13:05.955" v="3951" actId="14100"/>
          <ac:spMkLst>
            <pc:docMk/>
            <pc:sldMk cId="0" sldId="415"/>
            <ac:spMk id="21" creationId="{00000000-0000-0000-0000-000000000000}"/>
          </ac:spMkLst>
        </pc:spChg>
        <pc:spChg chg="add mod">
          <ac:chgData name="Francesco Bellotti" userId="f453232b-f87d-4756-9d8b-c09bc835cc42" providerId="ADAL" clId="{C7FEA3FA-4936-41E1-B7FA-CA082069F7F7}" dt="2026-08-26T21:13:01.519" v="3950" actId="14100"/>
          <ac:spMkLst>
            <pc:docMk/>
            <pc:sldMk cId="0" sldId="415"/>
            <ac:spMk id="30" creationId="{99F83A74-CE7A-0A17-17E7-751E6837C52F}"/>
          </ac:spMkLst>
        </pc:spChg>
      </pc:sldChg>
      <pc:sldChg chg="delSp modSp add mod setBg">
        <pc:chgData name="Francesco Bellotti" userId="f453232b-f87d-4756-9d8b-c09bc835cc42" providerId="ADAL" clId="{C7FEA3FA-4936-41E1-B7FA-CA082069F7F7}" dt="2026-08-26T21:19:47.256" v="4022" actId="403"/>
        <pc:sldMkLst>
          <pc:docMk/>
          <pc:sldMk cId="0" sldId="416"/>
        </pc:sldMkLst>
        <pc:spChg chg="mod">
          <ac:chgData name="Francesco Bellotti" userId="f453232b-f87d-4756-9d8b-c09bc835cc42" providerId="ADAL" clId="{C7FEA3FA-4936-41E1-B7FA-CA082069F7F7}" dt="2026-08-26T21:19:47.256" v="4022" actId="403"/>
          <ac:spMkLst>
            <pc:docMk/>
            <pc:sldMk cId="0" sldId="416"/>
            <ac:spMk id="6" creationId="{00000000-0000-0000-0000-000000000000}"/>
          </ac:spMkLst>
        </pc:spChg>
        <pc:spChg chg="del">
          <ac:chgData name="Francesco Bellotti" userId="f453232b-f87d-4756-9d8b-c09bc835cc42" providerId="ADAL" clId="{C7FEA3FA-4936-41E1-B7FA-CA082069F7F7}" dt="2026-08-26T21:19:07.131" v="4019" actId="478"/>
          <ac:spMkLst>
            <pc:docMk/>
            <pc:sldMk cId="0" sldId="416"/>
            <ac:spMk id="7" creationId="{00000000-0000-0000-0000-000000000000}"/>
          </ac:spMkLst>
        </pc:spChg>
      </pc:sldChg>
      <pc:sldChg chg="delSp modSp add del mod setBg">
        <pc:chgData name="Francesco Bellotti" userId="f453232b-f87d-4756-9d8b-c09bc835cc42" providerId="ADAL" clId="{C7FEA3FA-4936-41E1-B7FA-CA082069F7F7}" dt="2026-08-26T21:46:21.321" v="4143" actId="47"/>
        <pc:sldMkLst>
          <pc:docMk/>
          <pc:sldMk cId="0" sldId="417"/>
        </pc:sldMkLst>
        <pc:spChg chg="mod">
          <ac:chgData name="Francesco Bellotti" userId="f453232b-f87d-4756-9d8b-c09bc835cc42" providerId="ADAL" clId="{C7FEA3FA-4936-41E1-B7FA-CA082069F7F7}" dt="2026-08-26T21:30:21.385" v="4073" actId="403"/>
          <ac:spMkLst>
            <pc:docMk/>
            <pc:sldMk cId="0" sldId="417"/>
            <ac:spMk id="6" creationId="{00000000-0000-0000-0000-000000000000}"/>
          </ac:spMkLst>
        </pc:spChg>
        <pc:spChg chg="del">
          <ac:chgData name="Francesco Bellotti" userId="f453232b-f87d-4756-9d8b-c09bc835cc42" providerId="ADAL" clId="{C7FEA3FA-4936-41E1-B7FA-CA082069F7F7}" dt="2026-08-26T21:30:25.437" v="4074" actId="478"/>
          <ac:spMkLst>
            <pc:docMk/>
            <pc:sldMk cId="0" sldId="417"/>
            <ac:spMk id="7" creationId="{00000000-0000-0000-0000-000000000000}"/>
          </ac:spMkLst>
        </pc:spChg>
      </pc:sldChg>
      <pc:sldChg chg="modSp add mod setBg">
        <pc:chgData name="Francesco Bellotti" userId="f453232b-f87d-4756-9d8b-c09bc835cc42" providerId="ADAL" clId="{C7FEA3FA-4936-41E1-B7FA-CA082069F7F7}" dt="2026-08-26T21:49:50.331" v="4175" actId="14100"/>
        <pc:sldMkLst>
          <pc:docMk/>
          <pc:sldMk cId="0" sldId="418"/>
        </pc:sldMkLst>
        <pc:spChg chg="mod">
          <ac:chgData name="Francesco Bellotti" userId="f453232b-f87d-4756-9d8b-c09bc835cc42" providerId="ADAL" clId="{C7FEA3FA-4936-41E1-B7FA-CA082069F7F7}" dt="2026-08-26T21:49:38.854" v="4174" actId="14100"/>
          <ac:spMkLst>
            <pc:docMk/>
            <pc:sldMk cId="0" sldId="418"/>
            <ac:spMk id="9" creationId="{00000000-0000-0000-0000-000000000000}"/>
          </ac:spMkLst>
        </pc:spChg>
        <pc:spChg chg="mod">
          <ac:chgData name="Francesco Bellotti" userId="f453232b-f87d-4756-9d8b-c09bc835cc42" providerId="ADAL" clId="{C7FEA3FA-4936-41E1-B7FA-CA082069F7F7}" dt="2026-08-26T21:49:50.331" v="4175" actId="14100"/>
          <ac:spMkLst>
            <pc:docMk/>
            <pc:sldMk cId="0" sldId="418"/>
            <ac:spMk id="10" creationId="{00000000-0000-0000-0000-000000000000}"/>
          </ac:spMkLst>
        </pc:spChg>
        <pc:spChg chg="mod">
          <ac:chgData name="Francesco Bellotti" userId="f453232b-f87d-4756-9d8b-c09bc835cc42" providerId="ADAL" clId="{C7FEA3FA-4936-41E1-B7FA-CA082069F7F7}" dt="2026-08-26T21:49:50.331" v="4175" actId="14100"/>
          <ac:spMkLst>
            <pc:docMk/>
            <pc:sldMk cId="0" sldId="418"/>
            <ac:spMk id="11" creationId="{00000000-0000-0000-0000-000000000000}"/>
          </ac:spMkLst>
        </pc:spChg>
      </pc:sldChg>
      <pc:sldChg chg="addSp delSp modSp add del mod setBg">
        <pc:chgData name="Francesco Bellotti" userId="f453232b-f87d-4756-9d8b-c09bc835cc42" providerId="ADAL" clId="{C7FEA3FA-4936-41E1-B7FA-CA082069F7F7}" dt="2026-08-26T21:45:16.111" v="4134" actId="47"/>
        <pc:sldMkLst>
          <pc:docMk/>
          <pc:sldMk cId="0" sldId="419"/>
        </pc:sldMkLst>
        <pc:spChg chg="add del mod">
          <ac:chgData name="Francesco Bellotti" userId="f453232b-f87d-4756-9d8b-c09bc835cc42" providerId="ADAL" clId="{C7FEA3FA-4936-41E1-B7FA-CA082069F7F7}" dt="2026-08-26T21:44:49.258" v="4110" actId="164"/>
          <ac:spMkLst>
            <pc:docMk/>
            <pc:sldMk cId="0" sldId="419"/>
            <ac:spMk id="58" creationId="{00000000-0000-0000-0000-000000000000}"/>
          </ac:spMkLst>
        </pc:spChg>
        <pc:spChg chg="mod">
          <ac:chgData name="Francesco Bellotti" userId="f453232b-f87d-4756-9d8b-c09bc835cc42" providerId="ADAL" clId="{C7FEA3FA-4936-41E1-B7FA-CA082069F7F7}" dt="2026-08-26T21:44:49.258" v="4110" actId="164"/>
          <ac:spMkLst>
            <pc:docMk/>
            <pc:sldMk cId="0" sldId="419"/>
            <ac:spMk id="59" creationId="{00000000-0000-0000-0000-000000000000}"/>
          </ac:spMkLst>
        </pc:spChg>
        <pc:grpChg chg="add mod">
          <ac:chgData name="Francesco Bellotti" userId="f453232b-f87d-4756-9d8b-c09bc835cc42" providerId="ADAL" clId="{C7FEA3FA-4936-41E1-B7FA-CA082069F7F7}" dt="2026-08-26T21:44:49.258" v="4110" actId="164"/>
          <ac:grpSpMkLst>
            <pc:docMk/>
            <pc:sldMk cId="0" sldId="419"/>
            <ac:grpSpMk id="60" creationId="{C23FE89D-28FF-F584-DBBB-E9FE6B165B8A}"/>
          </ac:grpSpMkLst>
        </pc:grpChg>
      </pc:sldChg>
      <pc:sldChg chg="modSp new mod">
        <pc:chgData name="Francesco Bellotti" userId="f453232b-f87d-4756-9d8b-c09bc835cc42" providerId="ADAL" clId="{C7FEA3FA-4936-41E1-B7FA-CA082069F7F7}" dt="2026-08-26T21:50:54.303" v="4205" actId="20577"/>
        <pc:sldMkLst>
          <pc:docMk/>
          <pc:sldMk cId="4067747283" sldId="420"/>
        </pc:sldMkLst>
        <pc:spChg chg="mod">
          <ac:chgData name="Francesco Bellotti" userId="f453232b-f87d-4756-9d8b-c09bc835cc42" providerId="ADAL" clId="{C7FEA3FA-4936-41E1-B7FA-CA082069F7F7}" dt="2026-08-26T19:57:23.683" v="3426"/>
          <ac:spMkLst>
            <pc:docMk/>
            <pc:sldMk cId="4067747283" sldId="420"/>
            <ac:spMk id="2" creationId="{8179DB77-692C-B6BF-7DB2-A53743B24063}"/>
          </ac:spMkLst>
        </pc:spChg>
        <pc:spChg chg="mod">
          <ac:chgData name="Francesco Bellotti" userId="f453232b-f87d-4756-9d8b-c09bc835cc42" providerId="ADAL" clId="{C7FEA3FA-4936-41E1-B7FA-CA082069F7F7}" dt="2026-08-26T21:50:54.303" v="4205" actId="20577"/>
          <ac:spMkLst>
            <pc:docMk/>
            <pc:sldMk cId="4067747283" sldId="420"/>
            <ac:spMk id="3" creationId="{19F02303-B5A5-54F7-F9CF-CBE887B4573B}"/>
          </ac:spMkLst>
        </pc:spChg>
      </pc:sldChg>
      <pc:sldChg chg="addSp delSp modSp new mod modClrScheme chgLayout">
        <pc:chgData name="Francesco Bellotti" userId="f453232b-f87d-4756-9d8b-c09bc835cc42" providerId="ADAL" clId="{C7FEA3FA-4936-41E1-B7FA-CA082069F7F7}" dt="2026-08-26T20:13:56.477" v="3595" actId="113"/>
        <pc:sldMkLst>
          <pc:docMk/>
          <pc:sldMk cId="2133714469" sldId="421"/>
        </pc:sldMkLst>
        <pc:spChg chg="mod ord">
          <ac:chgData name="Francesco Bellotti" userId="f453232b-f87d-4756-9d8b-c09bc835cc42" providerId="ADAL" clId="{C7FEA3FA-4936-41E1-B7FA-CA082069F7F7}" dt="2026-08-26T20:12:29.508" v="3561" actId="700"/>
          <ac:spMkLst>
            <pc:docMk/>
            <pc:sldMk cId="2133714469" sldId="421"/>
            <ac:spMk id="2" creationId="{EEB6F71F-3CF5-8DF8-5FB3-8A7660BD13C4}"/>
          </ac:spMkLst>
        </pc:spChg>
        <pc:spChg chg="mod ord">
          <ac:chgData name="Francesco Bellotti" userId="f453232b-f87d-4756-9d8b-c09bc835cc42" providerId="ADAL" clId="{C7FEA3FA-4936-41E1-B7FA-CA082069F7F7}" dt="2026-08-26T20:13:31.940" v="3585" actId="27636"/>
          <ac:spMkLst>
            <pc:docMk/>
            <pc:sldMk cId="2133714469" sldId="421"/>
            <ac:spMk id="3" creationId="{D73F2511-3C51-7210-24E3-8C5684A902CF}"/>
          </ac:spMkLst>
        </pc:spChg>
        <pc:spChg chg="add mod ord">
          <ac:chgData name="Francesco Bellotti" userId="f453232b-f87d-4756-9d8b-c09bc835cc42" providerId="ADAL" clId="{C7FEA3FA-4936-41E1-B7FA-CA082069F7F7}" dt="2026-08-26T20:13:36.678" v="3587" actId="1076"/>
          <ac:spMkLst>
            <pc:docMk/>
            <pc:sldMk cId="2133714469" sldId="421"/>
            <ac:spMk id="4" creationId="{491EB6E1-1EFF-AA36-6F61-92EBDEA89266}"/>
          </ac:spMkLst>
        </pc:spChg>
        <pc:spChg chg="add del mod">
          <ac:chgData name="Francesco Bellotti" userId="f453232b-f87d-4756-9d8b-c09bc835cc42" providerId="ADAL" clId="{C7FEA3FA-4936-41E1-B7FA-CA082069F7F7}" dt="2026-08-26T20:13:01.960" v="3576"/>
          <ac:spMkLst>
            <pc:docMk/>
            <pc:sldMk cId="2133714469" sldId="421"/>
            <ac:spMk id="6" creationId="{FEF931B4-E6A7-2577-32D1-FFC0668426B1}"/>
          </ac:spMkLst>
        </pc:spChg>
        <pc:spChg chg="add mod">
          <ac:chgData name="Francesco Bellotti" userId="f453232b-f87d-4756-9d8b-c09bc835cc42" providerId="ADAL" clId="{C7FEA3FA-4936-41E1-B7FA-CA082069F7F7}" dt="2026-08-26T20:13:56.477" v="3595" actId="113"/>
          <ac:spMkLst>
            <pc:docMk/>
            <pc:sldMk cId="2133714469" sldId="421"/>
            <ac:spMk id="7" creationId="{E1E86974-7159-E7E0-998A-269E9414D23A}"/>
          </ac:spMkLst>
        </pc:spChg>
      </pc:sldChg>
      <pc:sldChg chg="addSp modSp new mod modClrScheme chgLayout">
        <pc:chgData name="Francesco Bellotti" userId="f453232b-f87d-4756-9d8b-c09bc835cc42" providerId="ADAL" clId="{C7FEA3FA-4936-41E1-B7FA-CA082069F7F7}" dt="2026-08-26T20:16:40.122" v="3637" actId="20577"/>
        <pc:sldMkLst>
          <pc:docMk/>
          <pc:sldMk cId="1262680990" sldId="422"/>
        </pc:sldMkLst>
        <pc:spChg chg="mod ord">
          <ac:chgData name="Francesco Bellotti" userId="f453232b-f87d-4756-9d8b-c09bc835cc42" providerId="ADAL" clId="{C7FEA3FA-4936-41E1-B7FA-CA082069F7F7}" dt="2026-08-26T20:15:36.461" v="3603" actId="700"/>
          <ac:spMkLst>
            <pc:docMk/>
            <pc:sldMk cId="1262680990" sldId="422"/>
            <ac:spMk id="2" creationId="{CBF2D78B-A634-E83C-18CC-74A7CC1E7E37}"/>
          </ac:spMkLst>
        </pc:spChg>
        <pc:spChg chg="mod ord">
          <ac:chgData name="Francesco Bellotti" userId="f453232b-f87d-4756-9d8b-c09bc835cc42" providerId="ADAL" clId="{C7FEA3FA-4936-41E1-B7FA-CA082069F7F7}" dt="2026-08-26T20:16:25.075" v="3630" actId="27636"/>
          <ac:spMkLst>
            <pc:docMk/>
            <pc:sldMk cId="1262680990" sldId="422"/>
            <ac:spMk id="3" creationId="{12A3D809-7290-DE4D-9072-A8E9CC577887}"/>
          </ac:spMkLst>
        </pc:spChg>
        <pc:spChg chg="add mod ord">
          <ac:chgData name="Francesco Bellotti" userId="f453232b-f87d-4756-9d8b-c09bc835cc42" providerId="ADAL" clId="{C7FEA3FA-4936-41E1-B7FA-CA082069F7F7}" dt="2026-08-26T20:16:40.122" v="3637" actId="20577"/>
          <ac:spMkLst>
            <pc:docMk/>
            <pc:sldMk cId="1262680990" sldId="422"/>
            <ac:spMk id="4" creationId="{23F5B9F4-2FD7-7979-A1C0-9DF24CA7C150}"/>
          </ac:spMkLst>
        </pc:spChg>
      </pc:sldChg>
      <pc:sldChg chg="addSp modSp new mod modClrScheme chgLayout">
        <pc:chgData name="Francesco Bellotti" userId="f453232b-f87d-4756-9d8b-c09bc835cc42" providerId="ADAL" clId="{C7FEA3FA-4936-41E1-B7FA-CA082069F7F7}" dt="2026-08-26T20:18:33.315" v="3671" actId="27636"/>
        <pc:sldMkLst>
          <pc:docMk/>
          <pc:sldMk cId="3846777932" sldId="423"/>
        </pc:sldMkLst>
        <pc:spChg chg="mod ord">
          <ac:chgData name="Francesco Bellotti" userId="f453232b-f87d-4756-9d8b-c09bc835cc42" providerId="ADAL" clId="{C7FEA3FA-4936-41E1-B7FA-CA082069F7F7}" dt="2026-08-26T20:17:51.819" v="3658" actId="700"/>
          <ac:spMkLst>
            <pc:docMk/>
            <pc:sldMk cId="3846777932" sldId="423"/>
            <ac:spMk id="2" creationId="{8847EEE7-E85B-311E-FEB0-B396702355CF}"/>
          </ac:spMkLst>
        </pc:spChg>
        <pc:spChg chg="mod ord">
          <ac:chgData name="Francesco Bellotti" userId="f453232b-f87d-4756-9d8b-c09bc835cc42" providerId="ADAL" clId="{C7FEA3FA-4936-41E1-B7FA-CA082069F7F7}" dt="2026-08-26T20:18:33.313" v="3670" actId="27636"/>
          <ac:spMkLst>
            <pc:docMk/>
            <pc:sldMk cId="3846777932" sldId="423"/>
            <ac:spMk id="3" creationId="{5C9D4211-AD6E-F90D-D98D-1892890C385D}"/>
          </ac:spMkLst>
        </pc:spChg>
        <pc:spChg chg="add mod ord">
          <ac:chgData name="Francesco Bellotti" userId="f453232b-f87d-4756-9d8b-c09bc835cc42" providerId="ADAL" clId="{C7FEA3FA-4936-41E1-B7FA-CA082069F7F7}" dt="2026-08-26T20:18:33.315" v="3671" actId="27636"/>
          <ac:spMkLst>
            <pc:docMk/>
            <pc:sldMk cId="3846777932" sldId="423"/>
            <ac:spMk id="4" creationId="{F4EA09CC-1EAB-6973-4BD5-FE496AA41D53}"/>
          </ac:spMkLst>
        </pc:spChg>
      </pc:sldChg>
      <pc:sldChg chg="addSp modSp new mod modClrScheme chgLayout">
        <pc:chgData name="Francesco Bellotti" userId="f453232b-f87d-4756-9d8b-c09bc835cc42" providerId="ADAL" clId="{C7FEA3FA-4936-41E1-B7FA-CA082069F7F7}" dt="2026-08-26T20:20:34.251" v="3692" actId="27636"/>
        <pc:sldMkLst>
          <pc:docMk/>
          <pc:sldMk cId="2765860190" sldId="424"/>
        </pc:sldMkLst>
        <pc:spChg chg="mod ord">
          <ac:chgData name="Francesco Bellotti" userId="f453232b-f87d-4756-9d8b-c09bc835cc42" providerId="ADAL" clId="{C7FEA3FA-4936-41E1-B7FA-CA082069F7F7}" dt="2026-08-26T20:19:11.077" v="3676" actId="700"/>
          <ac:spMkLst>
            <pc:docMk/>
            <pc:sldMk cId="2765860190" sldId="424"/>
            <ac:spMk id="2" creationId="{CE8EAABC-3350-44B0-3C01-955F61447A8C}"/>
          </ac:spMkLst>
        </pc:spChg>
        <pc:spChg chg="mod ord">
          <ac:chgData name="Francesco Bellotti" userId="f453232b-f87d-4756-9d8b-c09bc835cc42" providerId="ADAL" clId="{C7FEA3FA-4936-41E1-B7FA-CA082069F7F7}" dt="2026-08-26T20:20:34.251" v="3692" actId="27636"/>
          <ac:spMkLst>
            <pc:docMk/>
            <pc:sldMk cId="2765860190" sldId="424"/>
            <ac:spMk id="3" creationId="{0B8DA9A7-DA4E-6CF1-B263-A7F287AD0611}"/>
          </ac:spMkLst>
        </pc:spChg>
        <pc:spChg chg="add mod ord">
          <ac:chgData name="Francesco Bellotti" userId="f453232b-f87d-4756-9d8b-c09bc835cc42" providerId="ADAL" clId="{C7FEA3FA-4936-41E1-B7FA-CA082069F7F7}" dt="2026-08-26T20:20:34.249" v="3691" actId="27636"/>
          <ac:spMkLst>
            <pc:docMk/>
            <pc:sldMk cId="2765860190" sldId="424"/>
            <ac:spMk id="4" creationId="{CDF6C510-ABD8-9FD4-A3EF-1257A003BC9A}"/>
          </ac:spMkLst>
        </pc:spChg>
      </pc:sldChg>
      <pc:sldChg chg="addSp modSp new mod modClrScheme chgLayout">
        <pc:chgData name="Francesco Bellotti" userId="f453232b-f87d-4756-9d8b-c09bc835cc42" providerId="ADAL" clId="{C7FEA3FA-4936-41E1-B7FA-CA082069F7F7}" dt="2026-08-26T20:56:23.572" v="3788" actId="20577"/>
        <pc:sldMkLst>
          <pc:docMk/>
          <pc:sldMk cId="952882201" sldId="425"/>
        </pc:sldMkLst>
        <pc:spChg chg="mod ord">
          <ac:chgData name="Francesco Bellotti" userId="f453232b-f87d-4756-9d8b-c09bc835cc42" providerId="ADAL" clId="{C7FEA3FA-4936-41E1-B7FA-CA082069F7F7}" dt="2026-08-26T20:22:09.089" v="3699" actId="700"/>
          <ac:spMkLst>
            <pc:docMk/>
            <pc:sldMk cId="952882201" sldId="425"/>
            <ac:spMk id="2" creationId="{2B8CB221-9D28-D16C-A83D-C4B6A95CAA32}"/>
          </ac:spMkLst>
        </pc:spChg>
        <pc:spChg chg="mod ord">
          <ac:chgData name="Francesco Bellotti" userId="f453232b-f87d-4756-9d8b-c09bc835cc42" providerId="ADAL" clId="{C7FEA3FA-4936-41E1-B7FA-CA082069F7F7}" dt="2026-08-26T20:22:18.109" v="3709" actId="15"/>
          <ac:spMkLst>
            <pc:docMk/>
            <pc:sldMk cId="952882201" sldId="425"/>
            <ac:spMk id="3" creationId="{27015A8A-C13E-176B-A99C-25B871B26805}"/>
          </ac:spMkLst>
        </pc:spChg>
        <pc:spChg chg="add mod ord">
          <ac:chgData name="Francesco Bellotti" userId="f453232b-f87d-4756-9d8b-c09bc835cc42" providerId="ADAL" clId="{C7FEA3FA-4936-41E1-B7FA-CA082069F7F7}" dt="2026-08-26T20:56:23.572" v="3788" actId="20577"/>
          <ac:spMkLst>
            <pc:docMk/>
            <pc:sldMk cId="952882201" sldId="425"/>
            <ac:spMk id="4" creationId="{37AA9F2F-0FD4-6D54-6D03-5C9EB57B5CB8}"/>
          </ac:spMkLst>
        </pc:spChg>
      </pc:sldChg>
      <pc:sldChg chg="addSp modSp new mod modClrScheme chgLayout">
        <pc:chgData name="Francesco Bellotti" userId="f453232b-f87d-4756-9d8b-c09bc835cc42" providerId="ADAL" clId="{C7FEA3FA-4936-41E1-B7FA-CA082069F7F7}" dt="2026-08-26T20:33:22.825" v="3784" actId="15"/>
        <pc:sldMkLst>
          <pc:docMk/>
          <pc:sldMk cId="2533456298" sldId="426"/>
        </pc:sldMkLst>
        <pc:spChg chg="mod ord">
          <ac:chgData name="Francesco Bellotti" userId="f453232b-f87d-4756-9d8b-c09bc835cc42" providerId="ADAL" clId="{C7FEA3FA-4936-41E1-B7FA-CA082069F7F7}" dt="2026-08-26T20:31:40.675" v="3754" actId="700"/>
          <ac:spMkLst>
            <pc:docMk/>
            <pc:sldMk cId="2533456298" sldId="426"/>
            <ac:spMk id="2" creationId="{4B674597-C3E4-1877-B1AC-0F749B7EE4C7}"/>
          </ac:spMkLst>
        </pc:spChg>
        <pc:spChg chg="mod ord">
          <ac:chgData name="Francesco Bellotti" userId="f453232b-f87d-4756-9d8b-c09bc835cc42" providerId="ADAL" clId="{C7FEA3FA-4936-41E1-B7FA-CA082069F7F7}" dt="2026-08-26T20:33:22.825" v="3784" actId="15"/>
          <ac:spMkLst>
            <pc:docMk/>
            <pc:sldMk cId="2533456298" sldId="426"/>
            <ac:spMk id="3" creationId="{496F5887-3CCD-1DF1-6E26-302BBD67E818}"/>
          </ac:spMkLst>
        </pc:spChg>
        <pc:spChg chg="add mod ord">
          <ac:chgData name="Francesco Bellotti" userId="f453232b-f87d-4756-9d8b-c09bc835cc42" providerId="ADAL" clId="{C7FEA3FA-4936-41E1-B7FA-CA082069F7F7}" dt="2026-08-26T20:31:51.684" v="3766" actId="1076"/>
          <ac:spMkLst>
            <pc:docMk/>
            <pc:sldMk cId="2533456298" sldId="426"/>
            <ac:spMk id="4" creationId="{02BD3145-D8B8-089B-601F-506E2C7E6B5E}"/>
          </ac:spMkLst>
        </pc:spChg>
      </pc:sldChg>
      <pc:sldChg chg="addSp modSp new mod modClrScheme chgLayout">
        <pc:chgData name="Francesco Bellotti" userId="f453232b-f87d-4756-9d8b-c09bc835cc42" providerId="ADAL" clId="{C7FEA3FA-4936-41E1-B7FA-CA082069F7F7}" dt="2026-08-26T20:32:51.090" v="3782" actId="20577"/>
        <pc:sldMkLst>
          <pc:docMk/>
          <pc:sldMk cId="752016938" sldId="427"/>
        </pc:sldMkLst>
        <pc:spChg chg="mod ord">
          <ac:chgData name="Francesco Bellotti" userId="f453232b-f87d-4756-9d8b-c09bc835cc42" providerId="ADAL" clId="{C7FEA3FA-4936-41E1-B7FA-CA082069F7F7}" dt="2026-08-26T20:32:23.639" v="3771" actId="700"/>
          <ac:spMkLst>
            <pc:docMk/>
            <pc:sldMk cId="752016938" sldId="427"/>
            <ac:spMk id="2" creationId="{E4CE6751-2C2C-76A5-3662-3E7E4C666909}"/>
          </ac:spMkLst>
        </pc:spChg>
        <pc:spChg chg="mod ord">
          <ac:chgData name="Francesco Bellotti" userId="f453232b-f87d-4756-9d8b-c09bc835cc42" providerId="ADAL" clId="{C7FEA3FA-4936-41E1-B7FA-CA082069F7F7}" dt="2026-08-26T20:32:47.514" v="3781" actId="27636"/>
          <ac:spMkLst>
            <pc:docMk/>
            <pc:sldMk cId="752016938" sldId="427"/>
            <ac:spMk id="3" creationId="{10565DE4-038D-36FB-53BD-A9A4941F9193}"/>
          </ac:spMkLst>
        </pc:spChg>
        <pc:spChg chg="add mod ord">
          <ac:chgData name="Francesco Bellotti" userId="f453232b-f87d-4756-9d8b-c09bc835cc42" providerId="ADAL" clId="{C7FEA3FA-4936-41E1-B7FA-CA082069F7F7}" dt="2026-08-26T20:32:51.090" v="3782" actId="20577"/>
          <ac:spMkLst>
            <pc:docMk/>
            <pc:sldMk cId="752016938" sldId="427"/>
            <ac:spMk id="4" creationId="{0A049FCF-588C-D4EF-EE7D-D9DD4E51B5A5}"/>
          </ac:spMkLst>
        </pc:spChg>
      </pc:sldChg>
      <pc:sldChg chg="addSp modSp new mod modClrScheme chgLayout">
        <pc:chgData name="Francesco Bellotti" userId="f453232b-f87d-4756-9d8b-c09bc835cc42" providerId="ADAL" clId="{C7FEA3FA-4936-41E1-B7FA-CA082069F7F7}" dt="2026-08-26T20:57:45.914" v="3825" actId="113"/>
        <pc:sldMkLst>
          <pc:docMk/>
          <pc:sldMk cId="1952482380" sldId="428"/>
        </pc:sldMkLst>
        <pc:spChg chg="mod ord">
          <ac:chgData name="Francesco Bellotti" userId="f453232b-f87d-4756-9d8b-c09bc835cc42" providerId="ADAL" clId="{C7FEA3FA-4936-41E1-B7FA-CA082069F7F7}" dt="2026-08-26T20:56:52.989" v="3791" actId="700"/>
          <ac:spMkLst>
            <pc:docMk/>
            <pc:sldMk cId="1952482380" sldId="428"/>
            <ac:spMk id="2" creationId="{38704AB3-6143-3228-5875-E359FFDEEF87}"/>
          </ac:spMkLst>
        </pc:spChg>
        <pc:spChg chg="mod ord">
          <ac:chgData name="Francesco Bellotti" userId="f453232b-f87d-4756-9d8b-c09bc835cc42" providerId="ADAL" clId="{C7FEA3FA-4936-41E1-B7FA-CA082069F7F7}" dt="2026-08-26T20:57:31.804" v="3824" actId="20577"/>
          <ac:spMkLst>
            <pc:docMk/>
            <pc:sldMk cId="1952482380" sldId="428"/>
            <ac:spMk id="3" creationId="{EE9006C0-7228-6B02-3AE3-6A52A21B7F5E}"/>
          </ac:spMkLst>
        </pc:spChg>
        <pc:spChg chg="add mod ord">
          <ac:chgData name="Francesco Bellotti" userId="f453232b-f87d-4756-9d8b-c09bc835cc42" providerId="ADAL" clId="{C7FEA3FA-4936-41E1-B7FA-CA082069F7F7}" dt="2026-08-26T20:57:45.914" v="3825" actId="113"/>
          <ac:spMkLst>
            <pc:docMk/>
            <pc:sldMk cId="1952482380" sldId="428"/>
            <ac:spMk id="4" creationId="{7F78D4A0-D50D-BD3C-126A-9C3148092726}"/>
          </ac:spMkLst>
        </pc:spChg>
      </pc:sldChg>
      <pc:sldChg chg="addSp modSp new mod modClrScheme chgLayout">
        <pc:chgData name="Francesco Bellotti" userId="f453232b-f87d-4756-9d8b-c09bc835cc42" providerId="ADAL" clId="{C7FEA3FA-4936-41E1-B7FA-CA082069F7F7}" dt="2026-08-26T20:58:49.539" v="3840" actId="113"/>
        <pc:sldMkLst>
          <pc:docMk/>
          <pc:sldMk cId="1467940444" sldId="429"/>
        </pc:sldMkLst>
        <pc:spChg chg="mod ord">
          <ac:chgData name="Francesco Bellotti" userId="f453232b-f87d-4756-9d8b-c09bc835cc42" providerId="ADAL" clId="{C7FEA3FA-4936-41E1-B7FA-CA082069F7F7}" dt="2026-08-26T20:58:01.359" v="3828" actId="700"/>
          <ac:spMkLst>
            <pc:docMk/>
            <pc:sldMk cId="1467940444" sldId="429"/>
            <ac:spMk id="2" creationId="{9FB685C8-A1BA-9EFE-6397-AD2A9D5C8E19}"/>
          </ac:spMkLst>
        </pc:spChg>
        <pc:spChg chg="mod ord">
          <ac:chgData name="Francesco Bellotti" userId="f453232b-f87d-4756-9d8b-c09bc835cc42" providerId="ADAL" clId="{C7FEA3FA-4936-41E1-B7FA-CA082069F7F7}" dt="2026-08-26T20:58:25.843" v="3837" actId="15"/>
          <ac:spMkLst>
            <pc:docMk/>
            <pc:sldMk cId="1467940444" sldId="429"/>
            <ac:spMk id="3" creationId="{521C464C-6B7B-E219-E2D9-A05EBF5FCD01}"/>
          </ac:spMkLst>
        </pc:spChg>
        <pc:spChg chg="add mod ord">
          <ac:chgData name="Francesco Bellotti" userId="f453232b-f87d-4756-9d8b-c09bc835cc42" providerId="ADAL" clId="{C7FEA3FA-4936-41E1-B7FA-CA082069F7F7}" dt="2026-08-26T20:58:49.539" v="3840" actId="113"/>
          <ac:spMkLst>
            <pc:docMk/>
            <pc:sldMk cId="1467940444" sldId="429"/>
            <ac:spMk id="4" creationId="{9A5E02D4-3E5D-9C7C-EA13-E2DCA14D39BA}"/>
          </ac:spMkLst>
        </pc:spChg>
      </pc:sldChg>
      <pc:sldChg chg="modSp new mod">
        <pc:chgData name="Francesco Bellotti" userId="f453232b-f87d-4756-9d8b-c09bc835cc42" providerId="ADAL" clId="{C7FEA3FA-4936-41E1-B7FA-CA082069F7F7}" dt="2026-08-26T21:00:41.189" v="3856" actId="15"/>
        <pc:sldMkLst>
          <pc:docMk/>
          <pc:sldMk cId="1047896509" sldId="430"/>
        </pc:sldMkLst>
        <pc:spChg chg="mod">
          <ac:chgData name="Francesco Bellotti" userId="f453232b-f87d-4756-9d8b-c09bc835cc42" providerId="ADAL" clId="{C7FEA3FA-4936-41E1-B7FA-CA082069F7F7}" dt="2026-08-26T20:01:02.482" v="3468"/>
          <ac:spMkLst>
            <pc:docMk/>
            <pc:sldMk cId="1047896509" sldId="430"/>
            <ac:spMk id="2" creationId="{00ABC6B3-8E28-ACDD-87DF-F8437CEE9AA0}"/>
          </ac:spMkLst>
        </pc:spChg>
        <pc:spChg chg="mod">
          <ac:chgData name="Francesco Bellotti" userId="f453232b-f87d-4756-9d8b-c09bc835cc42" providerId="ADAL" clId="{C7FEA3FA-4936-41E1-B7FA-CA082069F7F7}" dt="2026-08-26T21:00:41.189" v="3856" actId="15"/>
          <ac:spMkLst>
            <pc:docMk/>
            <pc:sldMk cId="1047896509" sldId="430"/>
            <ac:spMk id="3" creationId="{9A0CD515-880A-517E-1B3A-09203C74038B}"/>
          </ac:spMkLst>
        </pc:spChg>
      </pc:sldChg>
      <pc:sldChg chg="modSp new">
        <pc:chgData name="Francesco Bellotti" userId="f453232b-f87d-4756-9d8b-c09bc835cc42" providerId="ADAL" clId="{C7FEA3FA-4936-41E1-B7FA-CA082069F7F7}" dt="2026-08-26T20:01:18.227" v="3472"/>
        <pc:sldMkLst>
          <pc:docMk/>
          <pc:sldMk cId="4258043072" sldId="431"/>
        </pc:sldMkLst>
        <pc:spChg chg="mod">
          <ac:chgData name="Francesco Bellotti" userId="f453232b-f87d-4756-9d8b-c09bc835cc42" providerId="ADAL" clId="{C7FEA3FA-4936-41E1-B7FA-CA082069F7F7}" dt="2026-08-26T20:01:18.227" v="3472"/>
          <ac:spMkLst>
            <pc:docMk/>
            <pc:sldMk cId="4258043072" sldId="431"/>
            <ac:spMk id="2" creationId="{8E5AAF4B-B9C6-D329-99E1-5804670DB457}"/>
          </ac:spMkLst>
        </pc:spChg>
      </pc:sldChg>
      <pc:sldChg chg="addSp modSp new mod modClrScheme chgLayout">
        <pc:chgData name="Francesco Bellotti" userId="f453232b-f87d-4756-9d8b-c09bc835cc42" providerId="ADAL" clId="{C7FEA3FA-4936-41E1-B7FA-CA082069F7F7}" dt="2026-08-26T21:03:05.037" v="3896" actId="27636"/>
        <pc:sldMkLst>
          <pc:docMk/>
          <pc:sldMk cId="2370026366" sldId="432"/>
        </pc:sldMkLst>
        <pc:spChg chg="mod ord">
          <ac:chgData name="Francesco Bellotti" userId="f453232b-f87d-4756-9d8b-c09bc835cc42" providerId="ADAL" clId="{C7FEA3FA-4936-41E1-B7FA-CA082069F7F7}" dt="2026-08-26T21:01:15.618" v="3860" actId="700"/>
          <ac:spMkLst>
            <pc:docMk/>
            <pc:sldMk cId="2370026366" sldId="432"/>
            <ac:spMk id="2" creationId="{C4FDA47F-6ECE-7FA7-2B89-A1D61BF06AD2}"/>
          </ac:spMkLst>
        </pc:spChg>
        <pc:spChg chg="mod ord">
          <ac:chgData name="Francesco Bellotti" userId="f453232b-f87d-4756-9d8b-c09bc835cc42" providerId="ADAL" clId="{C7FEA3FA-4936-41E1-B7FA-CA082069F7F7}" dt="2026-08-26T21:03:05.026" v="3895" actId="27636"/>
          <ac:spMkLst>
            <pc:docMk/>
            <pc:sldMk cId="2370026366" sldId="432"/>
            <ac:spMk id="3" creationId="{E3AD9DEB-E405-2B79-01A3-37FE0BD922F4}"/>
          </ac:spMkLst>
        </pc:spChg>
        <pc:spChg chg="add mod ord">
          <ac:chgData name="Francesco Bellotti" userId="f453232b-f87d-4756-9d8b-c09bc835cc42" providerId="ADAL" clId="{C7FEA3FA-4936-41E1-B7FA-CA082069F7F7}" dt="2026-08-26T21:03:05.037" v="3896" actId="27636"/>
          <ac:spMkLst>
            <pc:docMk/>
            <pc:sldMk cId="2370026366" sldId="432"/>
            <ac:spMk id="4" creationId="{EAB6A040-5D91-35C1-8FB8-60075B58FE79}"/>
          </ac:spMkLst>
        </pc:spChg>
      </pc:sldChg>
      <pc:sldChg chg="addSp modSp new mod modClrScheme chgLayout">
        <pc:chgData name="Francesco Bellotti" userId="f453232b-f87d-4756-9d8b-c09bc835cc42" providerId="ADAL" clId="{C7FEA3FA-4936-41E1-B7FA-CA082069F7F7}" dt="2026-08-26T21:05:19.956" v="3927" actId="113"/>
        <pc:sldMkLst>
          <pc:docMk/>
          <pc:sldMk cId="3577561098" sldId="433"/>
        </pc:sldMkLst>
        <pc:spChg chg="mod ord">
          <ac:chgData name="Francesco Bellotti" userId="f453232b-f87d-4756-9d8b-c09bc835cc42" providerId="ADAL" clId="{C7FEA3FA-4936-41E1-B7FA-CA082069F7F7}" dt="2026-08-26T21:03:34.652" v="3899" actId="700"/>
          <ac:spMkLst>
            <pc:docMk/>
            <pc:sldMk cId="3577561098" sldId="433"/>
            <ac:spMk id="2" creationId="{64842E37-570F-80CE-5FB2-6A579AB88C3B}"/>
          </ac:spMkLst>
        </pc:spChg>
        <pc:spChg chg="mod ord">
          <ac:chgData name="Francesco Bellotti" userId="f453232b-f87d-4756-9d8b-c09bc835cc42" providerId="ADAL" clId="{C7FEA3FA-4936-41E1-B7FA-CA082069F7F7}" dt="2026-08-26T21:04:55.976" v="3922" actId="27636"/>
          <ac:spMkLst>
            <pc:docMk/>
            <pc:sldMk cId="3577561098" sldId="433"/>
            <ac:spMk id="3" creationId="{AB698CE4-D5B3-1594-3DD6-776CA0EE355B}"/>
          </ac:spMkLst>
        </pc:spChg>
        <pc:spChg chg="add mod ord">
          <ac:chgData name="Francesco Bellotti" userId="f453232b-f87d-4756-9d8b-c09bc835cc42" providerId="ADAL" clId="{C7FEA3FA-4936-41E1-B7FA-CA082069F7F7}" dt="2026-08-26T21:05:19.956" v="3927" actId="113"/>
          <ac:spMkLst>
            <pc:docMk/>
            <pc:sldMk cId="3577561098" sldId="433"/>
            <ac:spMk id="4" creationId="{4808DF1F-6D54-4969-8ACA-5988772F0310}"/>
          </ac:spMkLst>
        </pc:spChg>
      </pc:sldChg>
      <pc:sldChg chg="addSp delSp modSp new mod">
        <pc:chgData name="Francesco Bellotti" userId="f453232b-f87d-4756-9d8b-c09bc835cc42" providerId="ADAL" clId="{C7FEA3FA-4936-41E1-B7FA-CA082069F7F7}" dt="2026-08-26T21:10:55.564" v="3945" actId="27636"/>
        <pc:sldMkLst>
          <pc:docMk/>
          <pc:sldMk cId="2562135861" sldId="434"/>
        </pc:sldMkLst>
        <pc:spChg chg="mod">
          <ac:chgData name="Francesco Bellotti" userId="f453232b-f87d-4756-9d8b-c09bc835cc42" providerId="ADAL" clId="{C7FEA3FA-4936-41E1-B7FA-CA082069F7F7}" dt="2026-08-26T20:02:36.480" v="3487"/>
          <ac:spMkLst>
            <pc:docMk/>
            <pc:sldMk cId="2562135861" sldId="434"/>
            <ac:spMk id="2" creationId="{9D33B98E-723A-5229-3B7E-02B4B07EC0DC}"/>
          </ac:spMkLst>
        </pc:spChg>
        <pc:spChg chg="mod">
          <ac:chgData name="Francesco Bellotti" userId="f453232b-f87d-4756-9d8b-c09bc835cc42" providerId="ADAL" clId="{C7FEA3FA-4936-41E1-B7FA-CA082069F7F7}" dt="2026-08-26T21:10:55.564" v="3945" actId="27636"/>
          <ac:spMkLst>
            <pc:docMk/>
            <pc:sldMk cId="2562135861" sldId="434"/>
            <ac:spMk id="3" creationId="{711523BF-AA35-4BDE-ADF9-BF5931E1B96C}"/>
          </ac:spMkLst>
        </pc:spChg>
        <pc:spChg chg="add mod">
          <ac:chgData name="Francesco Bellotti" userId="f453232b-f87d-4756-9d8b-c09bc835cc42" providerId="ADAL" clId="{C7FEA3FA-4936-41E1-B7FA-CA082069F7F7}" dt="2026-08-26T21:06:01.274" v="3935" actId="14100"/>
          <ac:spMkLst>
            <pc:docMk/>
            <pc:sldMk cId="2562135861" sldId="434"/>
            <ac:spMk id="5" creationId="{1544FE62-1761-6958-D490-1E3D6C3E18DF}"/>
          </ac:spMkLst>
        </pc:spChg>
        <pc:spChg chg="add del mod">
          <ac:chgData name="Francesco Bellotti" userId="f453232b-f87d-4756-9d8b-c09bc835cc42" providerId="ADAL" clId="{C7FEA3FA-4936-41E1-B7FA-CA082069F7F7}" dt="2026-08-26T21:10:47.479" v="3940" actId="478"/>
          <ac:spMkLst>
            <pc:docMk/>
            <pc:sldMk cId="2562135861" sldId="434"/>
            <ac:spMk id="7" creationId="{0B42B49B-93E0-7524-676D-E0831221CBC0}"/>
          </ac:spMkLst>
        </pc:spChg>
      </pc:sldChg>
      <pc:sldChg chg="modSp new mod">
        <pc:chgData name="Francesco Bellotti" userId="f453232b-f87d-4756-9d8b-c09bc835cc42" providerId="ADAL" clId="{C7FEA3FA-4936-41E1-B7FA-CA082069F7F7}" dt="2026-08-26T21:12:45.007" v="3947" actId="15"/>
        <pc:sldMkLst>
          <pc:docMk/>
          <pc:sldMk cId="2735157484" sldId="435"/>
        </pc:sldMkLst>
        <pc:spChg chg="mod">
          <ac:chgData name="Francesco Bellotti" userId="f453232b-f87d-4756-9d8b-c09bc835cc42" providerId="ADAL" clId="{C7FEA3FA-4936-41E1-B7FA-CA082069F7F7}" dt="2026-08-26T20:02:57.130" v="3491"/>
          <ac:spMkLst>
            <pc:docMk/>
            <pc:sldMk cId="2735157484" sldId="435"/>
            <ac:spMk id="2" creationId="{86ED6814-A5A2-EDE0-704A-FF3E22341083}"/>
          </ac:spMkLst>
        </pc:spChg>
        <pc:spChg chg="mod">
          <ac:chgData name="Francesco Bellotti" userId="f453232b-f87d-4756-9d8b-c09bc835cc42" providerId="ADAL" clId="{C7FEA3FA-4936-41E1-B7FA-CA082069F7F7}" dt="2026-08-26T21:12:45.007" v="3947" actId="15"/>
          <ac:spMkLst>
            <pc:docMk/>
            <pc:sldMk cId="2735157484" sldId="435"/>
            <ac:spMk id="3" creationId="{3E017725-31B5-CAD6-B7A3-0775A92B84A0}"/>
          </ac:spMkLst>
        </pc:spChg>
      </pc:sldChg>
      <pc:sldChg chg="addSp modSp new mod modClrScheme chgLayout">
        <pc:chgData name="Francesco Bellotti" userId="f453232b-f87d-4756-9d8b-c09bc835cc42" providerId="ADAL" clId="{C7FEA3FA-4936-41E1-B7FA-CA082069F7F7}" dt="2026-08-26T21:16:01.716" v="3974" actId="15"/>
        <pc:sldMkLst>
          <pc:docMk/>
          <pc:sldMk cId="2623919950" sldId="436"/>
        </pc:sldMkLst>
        <pc:spChg chg="mod ord">
          <ac:chgData name="Francesco Bellotti" userId="f453232b-f87d-4756-9d8b-c09bc835cc42" providerId="ADAL" clId="{C7FEA3FA-4936-41E1-B7FA-CA082069F7F7}" dt="2026-08-26T21:15:14.797" v="3955" actId="700"/>
          <ac:spMkLst>
            <pc:docMk/>
            <pc:sldMk cId="2623919950" sldId="436"/>
            <ac:spMk id="2" creationId="{D07490D7-9490-8FB4-0E16-6B75D533BDFC}"/>
          </ac:spMkLst>
        </pc:spChg>
        <pc:spChg chg="mod ord">
          <ac:chgData name="Francesco Bellotti" userId="f453232b-f87d-4756-9d8b-c09bc835cc42" providerId="ADAL" clId="{C7FEA3FA-4936-41E1-B7FA-CA082069F7F7}" dt="2026-08-26T21:15:37.126" v="3972" actId="15"/>
          <ac:spMkLst>
            <pc:docMk/>
            <pc:sldMk cId="2623919950" sldId="436"/>
            <ac:spMk id="3" creationId="{77612D45-C497-1C61-BA9F-89C4369C2B71}"/>
          </ac:spMkLst>
        </pc:spChg>
        <pc:spChg chg="add mod ord">
          <ac:chgData name="Francesco Bellotti" userId="f453232b-f87d-4756-9d8b-c09bc835cc42" providerId="ADAL" clId="{C7FEA3FA-4936-41E1-B7FA-CA082069F7F7}" dt="2026-08-26T21:16:01.716" v="3974" actId="15"/>
          <ac:spMkLst>
            <pc:docMk/>
            <pc:sldMk cId="2623919950" sldId="436"/>
            <ac:spMk id="4" creationId="{EFFBEA82-8707-B15D-ED88-3CCD1ECB1F0D}"/>
          </ac:spMkLst>
        </pc:spChg>
      </pc:sldChg>
      <pc:sldChg chg="addSp modSp new mod modClrScheme chgLayout">
        <pc:chgData name="Francesco Bellotti" userId="f453232b-f87d-4756-9d8b-c09bc835cc42" providerId="ADAL" clId="{C7FEA3FA-4936-41E1-B7FA-CA082069F7F7}" dt="2026-08-26T21:27:25.375" v="4035" actId="15"/>
        <pc:sldMkLst>
          <pc:docMk/>
          <pc:sldMk cId="1649084069" sldId="437"/>
        </pc:sldMkLst>
        <pc:spChg chg="mod ord">
          <ac:chgData name="Francesco Bellotti" userId="f453232b-f87d-4756-9d8b-c09bc835cc42" providerId="ADAL" clId="{C7FEA3FA-4936-41E1-B7FA-CA082069F7F7}" dt="2026-08-26T21:20:20.612" v="4025" actId="700"/>
          <ac:spMkLst>
            <pc:docMk/>
            <pc:sldMk cId="1649084069" sldId="437"/>
            <ac:spMk id="2" creationId="{57F9AA38-4BAD-9849-C5D7-57E1358108A6}"/>
          </ac:spMkLst>
        </pc:spChg>
        <pc:spChg chg="mod ord">
          <ac:chgData name="Francesco Bellotti" userId="f453232b-f87d-4756-9d8b-c09bc835cc42" providerId="ADAL" clId="{C7FEA3FA-4936-41E1-B7FA-CA082069F7F7}" dt="2026-08-26T21:27:04.314" v="4032" actId="15"/>
          <ac:spMkLst>
            <pc:docMk/>
            <pc:sldMk cId="1649084069" sldId="437"/>
            <ac:spMk id="3" creationId="{0D32286B-9CA6-C647-292F-A2402A8384F1}"/>
          </ac:spMkLst>
        </pc:spChg>
        <pc:spChg chg="add mod ord">
          <ac:chgData name="Francesco Bellotti" userId="f453232b-f87d-4756-9d8b-c09bc835cc42" providerId="ADAL" clId="{C7FEA3FA-4936-41E1-B7FA-CA082069F7F7}" dt="2026-08-26T21:27:25.375" v="4035" actId="15"/>
          <ac:spMkLst>
            <pc:docMk/>
            <pc:sldMk cId="1649084069" sldId="437"/>
            <ac:spMk id="4" creationId="{D1156AA1-C98F-04BF-85BD-3C77913514AF}"/>
          </ac:spMkLst>
        </pc:spChg>
      </pc:sldChg>
      <pc:sldChg chg="addSp modSp new mod modClrScheme chgLayout">
        <pc:chgData name="Francesco Bellotti" userId="f453232b-f87d-4756-9d8b-c09bc835cc42" providerId="ADAL" clId="{C7FEA3FA-4936-41E1-B7FA-CA082069F7F7}" dt="2026-08-26T21:18:40.224" v="4018" actId="113"/>
        <pc:sldMkLst>
          <pc:docMk/>
          <pc:sldMk cId="1116238713" sldId="438"/>
        </pc:sldMkLst>
        <pc:spChg chg="mod ord">
          <ac:chgData name="Francesco Bellotti" userId="f453232b-f87d-4756-9d8b-c09bc835cc42" providerId="ADAL" clId="{C7FEA3FA-4936-41E1-B7FA-CA082069F7F7}" dt="2026-08-26T21:16:13.556" v="3977" actId="700"/>
          <ac:spMkLst>
            <pc:docMk/>
            <pc:sldMk cId="1116238713" sldId="438"/>
            <ac:spMk id="2" creationId="{9652FCA5-F427-C27E-B8C6-2804014096EE}"/>
          </ac:spMkLst>
        </pc:spChg>
        <pc:spChg chg="mod ord">
          <ac:chgData name="Francesco Bellotti" userId="f453232b-f87d-4756-9d8b-c09bc835cc42" providerId="ADAL" clId="{C7FEA3FA-4936-41E1-B7FA-CA082069F7F7}" dt="2026-08-26T21:18:30.070" v="4017" actId="27636"/>
          <ac:spMkLst>
            <pc:docMk/>
            <pc:sldMk cId="1116238713" sldId="438"/>
            <ac:spMk id="3" creationId="{C6354A54-D859-C832-A150-2EF101FDDAA8}"/>
          </ac:spMkLst>
        </pc:spChg>
        <pc:spChg chg="add mod ord">
          <ac:chgData name="Francesco Bellotti" userId="f453232b-f87d-4756-9d8b-c09bc835cc42" providerId="ADAL" clId="{C7FEA3FA-4936-41E1-B7FA-CA082069F7F7}" dt="2026-08-26T21:18:40.224" v="4018" actId="113"/>
          <ac:spMkLst>
            <pc:docMk/>
            <pc:sldMk cId="1116238713" sldId="438"/>
            <ac:spMk id="4" creationId="{BB4E76BC-97DB-F2B8-F56F-EAA33C840154}"/>
          </ac:spMkLst>
        </pc:spChg>
      </pc:sldChg>
      <pc:sldChg chg="addSp modSp new mod modClrScheme chgLayout">
        <pc:chgData name="Francesco Bellotti" userId="f453232b-f87d-4756-9d8b-c09bc835cc42" providerId="ADAL" clId="{C7FEA3FA-4936-41E1-B7FA-CA082069F7F7}" dt="2026-08-26T21:28:31.898" v="4053" actId="20577"/>
        <pc:sldMkLst>
          <pc:docMk/>
          <pc:sldMk cId="181638221" sldId="439"/>
        </pc:sldMkLst>
        <pc:spChg chg="mod ord">
          <ac:chgData name="Francesco Bellotti" userId="f453232b-f87d-4756-9d8b-c09bc835cc42" providerId="ADAL" clId="{C7FEA3FA-4936-41E1-B7FA-CA082069F7F7}" dt="2026-08-26T21:27:49.487" v="4038" actId="700"/>
          <ac:spMkLst>
            <pc:docMk/>
            <pc:sldMk cId="181638221" sldId="439"/>
            <ac:spMk id="2" creationId="{8155FC78-323F-64ED-5D36-2B87329AE71A}"/>
          </ac:spMkLst>
        </pc:spChg>
        <pc:spChg chg="mod ord">
          <ac:chgData name="Francesco Bellotti" userId="f453232b-f87d-4756-9d8b-c09bc835cc42" providerId="ADAL" clId="{C7FEA3FA-4936-41E1-B7FA-CA082069F7F7}" dt="2026-08-26T21:28:18.087" v="4051" actId="27636"/>
          <ac:spMkLst>
            <pc:docMk/>
            <pc:sldMk cId="181638221" sldId="439"/>
            <ac:spMk id="3" creationId="{F7EFD6FF-0DA8-A8FB-0C04-FF55D938841C}"/>
          </ac:spMkLst>
        </pc:spChg>
        <pc:spChg chg="add mod ord">
          <ac:chgData name="Francesco Bellotti" userId="f453232b-f87d-4756-9d8b-c09bc835cc42" providerId="ADAL" clId="{C7FEA3FA-4936-41E1-B7FA-CA082069F7F7}" dt="2026-08-26T21:28:31.898" v="4053" actId="20577"/>
          <ac:spMkLst>
            <pc:docMk/>
            <pc:sldMk cId="181638221" sldId="439"/>
            <ac:spMk id="4" creationId="{B7A07B19-B497-EEA1-EE72-CB1CCCF34691}"/>
          </ac:spMkLst>
        </pc:spChg>
      </pc:sldChg>
      <pc:sldChg chg="addSp modSp new del mod modClrScheme chgLayout">
        <pc:chgData name="Francesco Bellotti" userId="f453232b-f87d-4756-9d8b-c09bc835cc42" providerId="ADAL" clId="{C7FEA3FA-4936-41E1-B7FA-CA082069F7F7}" dt="2026-08-26T21:46:20.324" v="4142" actId="47"/>
        <pc:sldMkLst>
          <pc:docMk/>
          <pc:sldMk cId="3741221369" sldId="440"/>
        </pc:sldMkLst>
        <pc:spChg chg="mod ord">
          <ac:chgData name="Francesco Bellotti" userId="f453232b-f87d-4756-9d8b-c09bc835cc42" providerId="ADAL" clId="{C7FEA3FA-4936-41E1-B7FA-CA082069F7F7}" dt="2026-08-26T21:29:20.627" v="4056" actId="700"/>
          <ac:spMkLst>
            <pc:docMk/>
            <pc:sldMk cId="3741221369" sldId="440"/>
            <ac:spMk id="2" creationId="{B5153432-C81E-3C00-E872-7007B822D415}"/>
          </ac:spMkLst>
        </pc:spChg>
        <pc:spChg chg="mod ord">
          <ac:chgData name="Francesco Bellotti" userId="f453232b-f87d-4756-9d8b-c09bc835cc42" providerId="ADAL" clId="{C7FEA3FA-4936-41E1-B7FA-CA082069F7F7}" dt="2026-08-26T21:31:46.037" v="4077" actId="113"/>
          <ac:spMkLst>
            <pc:docMk/>
            <pc:sldMk cId="3741221369" sldId="440"/>
            <ac:spMk id="3" creationId="{3F7BE6F2-8643-9A4B-8B83-0F316EFA2409}"/>
          </ac:spMkLst>
        </pc:spChg>
        <pc:spChg chg="add mod ord">
          <ac:chgData name="Francesco Bellotti" userId="f453232b-f87d-4756-9d8b-c09bc835cc42" providerId="ADAL" clId="{C7FEA3FA-4936-41E1-B7FA-CA082069F7F7}" dt="2026-08-26T21:30:55.806" v="4076" actId="15"/>
          <ac:spMkLst>
            <pc:docMk/>
            <pc:sldMk cId="3741221369" sldId="440"/>
            <ac:spMk id="4" creationId="{5AD5D6C4-653F-23D3-02E4-7C2BCBDC5D75}"/>
          </ac:spMkLst>
        </pc:spChg>
      </pc:sldChg>
      <pc:sldChg chg="addSp modSp new mod modClrScheme chgLayout">
        <pc:chgData name="Francesco Bellotti" userId="f453232b-f87d-4756-9d8b-c09bc835cc42" providerId="ADAL" clId="{C7FEA3FA-4936-41E1-B7FA-CA082069F7F7}" dt="2026-08-26T21:43:36.924" v="4097" actId="15"/>
        <pc:sldMkLst>
          <pc:docMk/>
          <pc:sldMk cId="258078022" sldId="441"/>
        </pc:sldMkLst>
        <pc:spChg chg="mod ord">
          <ac:chgData name="Francesco Bellotti" userId="f453232b-f87d-4756-9d8b-c09bc835cc42" providerId="ADAL" clId="{C7FEA3FA-4936-41E1-B7FA-CA082069F7F7}" dt="2026-08-26T21:43:00.527" v="4083" actId="700"/>
          <ac:spMkLst>
            <pc:docMk/>
            <pc:sldMk cId="258078022" sldId="441"/>
            <ac:spMk id="2" creationId="{F8688960-63EB-2DC2-DCBC-E6B6E23F3158}"/>
          </ac:spMkLst>
        </pc:spChg>
        <pc:spChg chg="mod ord">
          <ac:chgData name="Francesco Bellotti" userId="f453232b-f87d-4756-9d8b-c09bc835cc42" providerId="ADAL" clId="{C7FEA3FA-4936-41E1-B7FA-CA082069F7F7}" dt="2026-08-26T21:43:10.550" v="4094" actId="27636"/>
          <ac:spMkLst>
            <pc:docMk/>
            <pc:sldMk cId="258078022" sldId="441"/>
            <ac:spMk id="3" creationId="{4ADA9A48-8E10-9FCE-FA67-1EA970D35A0B}"/>
          </ac:spMkLst>
        </pc:spChg>
        <pc:spChg chg="add mod ord">
          <ac:chgData name="Francesco Bellotti" userId="f453232b-f87d-4756-9d8b-c09bc835cc42" providerId="ADAL" clId="{C7FEA3FA-4936-41E1-B7FA-CA082069F7F7}" dt="2026-08-26T21:43:36.924" v="4097" actId="15"/>
          <ac:spMkLst>
            <pc:docMk/>
            <pc:sldMk cId="258078022" sldId="441"/>
            <ac:spMk id="4" creationId="{E389447F-4868-6589-225C-B32CCBE2F0C6}"/>
          </ac:spMkLst>
        </pc:spChg>
      </pc:sldChg>
      <pc:sldChg chg="addSp modSp new mod modClrScheme chgLayout">
        <pc:chgData name="Francesco Bellotti" userId="f453232b-f87d-4756-9d8b-c09bc835cc42" providerId="ADAL" clId="{C7FEA3FA-4936-41E1-B7FA-CA082069F7F7}" dt="2026-08-26T21:48:43.046" v="4170" actId="113"/>
        <pc:sldMkLst>
          <pc:docMk/>
          <pc:sldMk cId="1216337234" sldId="442"/>
        </pc:sldMkLst>
        <pc:spChg chg="mod ord">
          <ac:chgData name="Francesco Bellotti" userId="f453232b-f87d-4756-9d8b-c09bc835cc42" providerId="ADAL" clId="{C7FEA3FA-4936-41E1-B7FA-CA082069F7F7}" dt="2026-08-26T21:43:49.193" v="4100" actId="700"/>
          <ac:spMkLst>
            <pc:docMk/>
            <pc:sldMk cId="1216337234" sldId="442"/>
            <ac:spMk id="2" creationId="{D5BB1692-5672-5339-1AE8-DB58AD67386E}"/>
          </ac:spMkLst>
        </pc:spChg>
        <pc:spChg chg="mod ord">
          <ac:chgData name="Francesco Bellotti" userId="f453232b-f87d-4756-9d8b-c09bc835cc42" providerId="ADAL" clId="{C7FEA3FA-4936-41E1-B7FA-CA082069F7F7}" dt="2026-08-26T21:48:37.284" v="4167" actId="27636"/>
          <ac:spMkLst>
            <pc:docMk/>
            <pc:sldMk cId="1216337234" sldId="442"/>
            <ac:spMk id="3" creationId="{6B2B4FBB-3CDC-DECA-C8F3-E97D5B6984E9}"/>
          </ac:spMkLst>
        </pc:spChg>
        <pc:spChg chg="add mod ord">
          <ac:chgData name="Francesco Bellotti" userId="f453232b-f87d-4756-9d8b-c09bc835cc42" providerId="ADAL" clId="{C7FEA3FA-4936-41E1-B7FA-CA082069F7F7}" dt="2026-08-26T21:48:43.046" v="4170" actId="113"/>
          <ac:spMkLst>
            <pc:docMk/>
            <pc:sldMk cId="1216337234" sldId="442"/>
            <ac:spMk id="4" creationId="{FF16FFA4-8125-70DD-9228-C0FF483CA883}"/>
          </ac:spMkLst>
        </pc:spChg>
      </pc:sldChg>
      <pc:sldChg chg="addSp delSp modSp new mod">
        <pc:chgData name="Francesco Bellotti" userId="f453232b-f87d-4756-9d8b-c09bc835cc42" providerId="ADAL" clId="{C7FEA3FA-4936-41E1-B7FA-CA082069F7F7}" dt="2026-08-26T21:49:21.779" v="4172" actId="167"/>
        <pc:sldMkLst>
          <pc:docMk/>
          <pc:sldMk cId="3743215046" sldId="443"/>
        </pc:sldMkLst>
        <pc:spChg chg="mod">
          <ac:chgData name="Francesco Bellotti" userId="f453232b-f87d-4756-9d8b-c09bc835cc42" providerId="ADAL" clId="{C7FEA3FA-4936-41E1-B7FA-CA082069F7F7}" dt="2026-08-26T20:05:36.784" v="3523"/>
          <ac:spMkLst>
            <pc:docMk/>
            <pc:sldMk cId="3743215046" sldId="443"/>
            <ac:spMk id="2" creationId="{DBED6D5A-A7D4-3EF7-6BFA-94D8E8C53D12}"/>
          </ac:spMkLst>
        </pc:spChg>
        <pc:spChg chg="del">
          <ac:chgData name="Francesco Bellotti" userId="f453232b-f87d-4756-9d8b-c09bc835cc42" providerId="ADAL" clId="{C7FEA3FA-4936-41E1-B7FA-CA082069F7F7}" dt="2026-08-26T20:05:54.048" v="3524" actId="22"/>
          <ac:spMkLst>
            <pc:docMk/>
            <pc:sldMk cId="3743215046" sldId="443"/>
            <ac:spMk id="3" creationId="{760D3FCB-86DA-3265-CB91-5387FAA2371A}"/>
          </ac:spMkLst>
        </pc:spChg>
        <pc:spChg chg="add mod">
          <ac:chgData name="Francesco Bellotti" userId="f453232b-f87d-4756-9d8b-c09bc835cc42" providerId="ADAL" clId="{C7FEA3FA-4936-41E1-B7FA-CA082069F7F7}" dt="2026-08-26T21:45:13.240" v="4133" actId="1076"/>
          <ac:spMkLst>
            <pc:docMk/>
            <pc:sldMk cId="3743215046" sldId="443"/>
            <ac:spMk id="6" creationId="{20F4FD5C-8831-F750-61FC-72B53C64F023}"/>
          </ac:spMkLst>
        </pc:spChg>
        <pc:picChg chg="add mod ord">
          <ac:chgData name="Francesco Bellotti" userId="f453232b-f87d-4756-9d8b-c09bc835cc42" providerId="ADAL" clId="{C7FEA3FA-4936-41E1-B7FA-CA082069F7F7}" dt="2026-08-26T21:49:21.779" v="4172" actId="167"/>
          <ac:picMkLst>
            <pc:docMk/>
            <pc:sldMk cId="3743215046" sldId="443"/>
            <ac:picMk id="5" creationId="{188B0F48-E618-F2AA-66F3-F761B4F5B175}"/>
          </ac:picMkLst>
        </pc:picChg>
      </pc:sldChg>
      <pc:sldChg chg="addSp modSp new mod modClrScheme chgLayout">
        <pc:chgData name="Francesco Bellotti" userId="f453232b-f87d-4756-9d8b-c09bc835cc42" providerId="ADAL" clId="{C7FEA3FA-4936-41E1-B7FA-CA082069F7F7}" dt="2026-08-26T21:52:20.623" v="4228" actId="20577"/>
        <pc:sldMkLst>
          <pc:docMk/>
          <pc:sldMk cId="232908925" sldId="444"/>
        </pc:sldMkLst>
        <pc:spChg chg="mod ord">
          <ac:chgData name="Francesco Bellotti" userId="f453232b-f87d-4756-9d8b-c09bc835cc42" providerId="ADAL" clId="{C7FEA3FA-4936-41E1-B7FA-CA082069F7F7}" dt="2026-08-26T21:45:28.475" v="4137" actId="700"/>
          <ac:spMkLst>
            <pc:docMk/>
            <pc:sldMk cId="232908925" sldId="444"/>
            <ac:spMk id="2" creationId="{0D083D81-83A0-5DE4-D6ED-FAABFD8ABE63}"/>
          </ac:spMkLst>
        </pc:spChg>
        <pc:spChg chg="mod ord">
          <ac:chgData name="Francesco Bellotti" userId="f453232b-f87d-4756-9d8b-c09bc835cc42" providerId="ADAL" clId="{C7FEA3FA-4936-41E1-B7FA-CA082069F7F7}" dt="2026-08-26T21:51:52.091" v="4212" actId="113"/>
          <ac:spMkLst>
            <pc:docMk/>
            <pc:sldMk cId="232908925" sldId="444"/>
            <ac:spMk id="3" creationId="{BC51C862-9998-3B95-3D09-943EB8770036}"/>
          </ac:spMkLst>
        </pc:spChg>
        <pc:spChg chg="add mod ord">
          <ac:chgData name="Francesco Bellotti" userId="f453232b-f87d-4756-9d8b-c09bc835cc42" providerId="ADAL" clId="{C7FEA3FA-4936-41E1-B7FA-CA082069F7F7}" dt="2026-08-26T21:52:20.623" v="4228" actId="20577"/>
          <ac:spMkLst>
            <pc:docMk/>
            <pc:sldMk cId="232908925" sldId="444"/>
            <ac:spMk id="4" creationId="{4B42E20D-7D2A-3059-EA67-C477B8C31CB0}"/>
          </ac:spMkLst>
        </pc:spChg>
      </pc:sldChg>
      <pc:sldChg chg="modSp new mod">
        <pc:chgData name="Francesco Bellotti" userId="f453232b-f87d-4756-9d8b-c09bc835cc42" providerId="ADAL" clId="{C7FEA3FA-4936-41E1-B7FA-CA082069F7F7}" dt="2026-08-26T21:52:47.710" v="4239" actId="20577"/>
        <pc:sldMkLst>
          <pc:docMk/>
          <pc:sldMk cId="2026292993" sldId="445"/>
        </pc:sldMkLst>
        <pc:spChg chg="mod">
          <ac:chgData name="Francesco Bellotti" userId="f453232b-f87d-4756-9d8b-c09bc835cc42" providerId="ADAL" clId="{C7FEA3FA-4936-41E1-B7FA-CA082069F7F7}" dt="2026-08-26T20:06:52.168" v="3540" actId="20577"/>
          <ac:spMkLst>
            <pc:docMk/>
            <pc:sldMk cId="2026292993" sldId="445"/>
            <ac:spMk id="2" creationId="{FF59833D-E26D-CB17-DE3C-3BBF1AF38CEE}"/>
          </ac:spMkLst>
        </pc:spChg>
        <pc:spChg chg="mod">
          <ac:chgData name="Francesco Bellotti" userId="f453232b-f87d-4756-9d8b-c09bc835cc42" providerId="ADAL" clId="{C7FEA3FA-4936-41E1-B7FA-CA082069F7F7}" dt="2026-08-26T21:52:47.710" v="4239" actId="20577"/>
          <ac:spMkLst>
            <pc:docMk/>
            <pc:sldMk cId="2026292993" sldId="445"/>
            <ac:spMk id="3" creationId="{19E2F87E-FF7E-1011-D119-8280DA4752B9}"/>
          </ac:spMkLst>
        </pc:spChg>
      </pc:sldChg>
      <pc:sldChg chg="modSp new mod">
        <pc:chgData name="Francesco Bellotti" userId="f453232b-f87d-4756-9d8b-c09bc835cc42" providerId="ADAL" clId="{C7FEA3FA-4936-41E1-B7FA-CA082069F7F7}" dt="2026-08-26T20:07:11.355" v="3558"/>
        <pc:sldMkLst>
          <pc:docMk/>
          <pc:sldMk cId="772351032" sldId="446"/>
        </pc:sldMkLst>
        <pc:spChg chg="mod">
          <ac:chgData name="Francesco Bellotti" userId="f453232b-f87d-4756-9d8b-c09bc835cc42" providerId="ADAL" clId="{C7FEA3FA-4936-41E1-B7FA-CA082069F7F7}" dt="2026-08-26T20:07:07.218" v="3555" actId="20577"/>
          <ac:spMkLst>
            <pc:docMk/>
            <pc:sldMk cId="772351032" sldId="446"/>
            <ac:spMk id="2" creationId="{74D2AF71-B199-00CB-0EE8-3B0AB69F02AE}"/>
          </ac:spMkLst>
        </pc:spChg>
        <pc:spChg chg="mod">
          <ac:chgData name="Francesco Bellotti" userId="f453232b-f87d-4756-9d8b-c09bc835cc42" providerId="ADAL" clId="{C7FEA3FA-4936-41E1-B7FA-CA082069F7F7}" dt="2026-08-26T20:07:11.355" v="3558"/>
          <ac:spMkLst>
            <pc:docMk/>
            <pc:sldMk cId="772351032" sldId="446"/>
            <ac:spMk id="3" creationId="{D2BA4D42-FCA8-D8FE-3318-92BFBF3FCD71}"/>
          </ac:spMkLst>
        </pc:spChg>
      </pc:sldChg>
      <pc:sldChg chg="modSp new mod">
        <pc:chgData name="Francesco Bellotti" userId="f453232b-f87d-4756-9d8b-c09bc835cc42" providerId="ADAL" clId="{C7FEA3FA-4936-41E1-B7FA-CA082069F7F7}" dt="2026-08-26T21:00:53.249" v="3857" actId="15"/>
        <pc:sldMkLst>
          <pc:docMk/>
          <pc:sldMk cId="3581729074" sldId="447"/>
        </pc:sldMkLst>
        <pc:spChg chg="mod">
          <ac:chgData name="Francesco Bellotti" userId="f453232b-f87d-4756-9d8b-c09bc835cc42" providerId="ADAL" clId="{C7FEA3FA-4936-41E1-B7FA-CA082069F7F7}" dt="2026-08-26T20:59:10.908" v="3845"/>
          <ac:spMkLst>
            <pc:docMk/>
            <pc:sldMk cId="3581729074" sldId="447"/>
            <ac:spMk id="2" creationId="{A9B48AC6-9736-0B56-4C28-3294C4086A36}"/>
          </ac:spMkLst>
        </pc:spChg>
        <pc:spChg chg="mod">
          <ac:chgData name="Francesco Bellotti" userId="f453232b-f87d-4756-9d8b-c09bc835cc42" providerId="ADAL" clId="{C7FEA3FA-4936-41E1-B7FA-CA082069F7F7}" dt="2026-08-26T21:00:53.249" v="3857" actId="15"/>
          <ac:spMkLst>
            <pc:docMk/>
            <pc:sldMk cId="3581729074" sldId="447"/>
            <ac:spMk id="3" creationId="{ECCCCB12-AA20-8EFE-6A42-1DD59F95B3B6}"/>
          </ac:spMkLst>
        </pc:spChg>
      </pc:sldChg>
      <pc:sldChg chg="delSp add mod setBg">
        <pc:chgData name="Francesco Bellotti" userId="f453232b-f87d-4756-9d8b-c09bc835cc42" providerId="ADAL" clId="{C7FEA3FA-4936-41E1-B7FA-CA082069F7F7}" dt="2026-08-26T21:33:11.965" v="4080" actId="478"/>
        <pc:sldMkLst>
          <pc:docMk/>
          <pc:sldMk cId="0" sldId="448"/>
        </pc:sldMkLst>
        <pc:spChg chg="del">
          <ac:chgData name="Francesco Bellotti" userId="f453232b-f87d-4756-9d8b-c09bc835cc42" providerId="ADAL" clId="{C7FEA3FA-4936-41E1-B7FA-CA082069F7F7}" dt="2026-08-26T21:33:11.965" v="4080" actId="478"/>
          <ac:spMkLst>
            <pc:docMk/>
            <pc:sldMk cId="0" sldId="448"/>
            <ac:spMk id="60" creationId="{00000000-0000-0000-0000-000000000000}"/>
          </ac:spMkLst>
        </pc:spChg>
      </pc:sldChg>
      <pc:sldChg chg="delSp add mod setBg">
        <pc:chgData name="Francesco Bellotti" userId="f453232b-f87d-4756-9d8b-c09bc835cc42" providerId="ADAL" clId="{C7FEA3FA-4936-41E1-B7FA-CA082069F7F7}" dt="2026-08-26T21:46:32.083" v="4144" actId="478"/>
        <pc:sldMkLst>
          <pc:docMk/>
          <pc:sldMk cId="0" sldId="449"/>
        </pc:sldMkLst>
        <pc:spChg chg="del">
          <ac:chgData name="Francesco Bellotti" userId="f453232b-f87d-4756-9d8b-c09bc835cc42" providerId="ADAL" clId="{C7FEA3FA-4936-41E1-B7FA-CA082069F7F7}" dt="2026-08-26T21:46:32.083" v="4144" actId="478"/>
          <ac:spMkLst>
            <pc:docMk/>
            <pc:sldMk cId="0" sldId="449"/>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5B93EA-1DAF-4A68-8888-37F184664F2E}" type="datetimeFigureOut">
              <a:rPr lang="en-GB" smtClean="0"/>
              <a:t>25/08/2026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649F2D-C822-4EAE-8D20-EEDD6472297B}" type="slidenum">
              <a:rPr lang="en-GB" smtClean="0"/>
              <a:t>‹N›</a:t>
            </a:fld>
            <a:endParaRPr lang="en-GB"/>
          </a:p>
        </p:txBody>
      </p:sp>
    </p:spTree>
    <p:extLst>
      <p:ext uri="{BB962C8B-B14F-4D97-AF65-F5344CB8AC3E}">
        <p14:creationId xmlns:p14="http://schemas.microsoft.com/office/powerpoint/2010/main" val="89875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685800" y="1143000"/>
            <a:ext cx="5486400" cy="308610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0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E31BDB-1DB9-4066-9741-0B3B9076193C}" type="slidenum">
              <a:rPr lang="en-US" sz="1200" b="0" u="none" strike="noStrike">
                <a:solidFill>
                  <a:schemeClr val="dk1"/>
                </a:solidFill>
                <a:effectLst/>
                <a:uFillTx/>
                <a:latin typeface="+mn-lt"/>
                <a:ea typeface="+mn-ea"/>
              </a:rPr>
              <a:t>7</a:t>
            </a:fld>
            <a:endParaRPr lang="it-IT"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 name="PlaceHolder 1"/>
          <p:cNvSpPr>
            <a:spLocks noGrp="1" noRot="1" noChangeAspect="1"/>
          </p:cNvSpPr>
          <p:nvPr>
            <p:ph type="sldImg"/>
          </p:nvPr>
        </p:nvSpPr>
        <p:spPr>
          <a:xfrm>
            <a:off x="685800" y="1143000"/>
            <a:ext cx="5486400" cy="3086100"/>
          </a:xfrm>
          <a:prstGeom prst="rect">
            <a:avLst/>
          </a:prstGeom>
          <a:ln w="0">
            <a:noFill/>
          </a:ln>
        </p:spPr>
      </p:sp>
      <p:sp>
        <p:nvSpPr>
          <p:cNvPr id="6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1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3F6197-4EA1-4F9B-9E04-D454AC86A678}" type="slidenum">
              <a:rPr lang="en-US" sz="1200" b="0" u="none" strike="noStrike">
                <a:solidFill>
                  <a:schemeClr val="dk1"/>
                </a:solidFill>
                <a:effectLst/>
                <a:uFillTx/>
                <a:latin typeface="+mn-lt"/>
                <a:ea typeface="+mn-ea"/>
              </a:rPr>
              <a:t>10</a:t>
            </a:fld>
            <a:endParaRPr lang="it-IT"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PlaceHolder 1"/>
          <p:cNvSpPr>
            <a:spLocks noGrp="1" noRot="1" noChangeAspect="1"/>
          </p:cNvSpPr>
          <p:nvPr>
            <p:ph type="sldImg"/>
          </p:nvPr>
        </p:nvSpPr>
        <p:spPr>
          <a:xfrm>
            <a:off x="685800" y="1143000"/>
            <a:ext cx="5486400" cy="3086100"/>
          </a:xfrm>
          <a:prstGeom prst="rect">
            <a:avLst/>
          </a:prstGeom>
          <a:ln w="0">
            <a:noFill/>
          </a:ln>
        </p:spPr>
      </p:sp>
      <p:sp>
        <p:nvSpPr>
          <p:cNvPr id="6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1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0028E5-F657-498F-B103-99963F41FF72}" type="slidenum">
              <a:rPr lang="en-US" sz="1200" b="0" u="none" strike="noStrike">
                <a:solidFill>
                  <a:schemeClr val="dk1"/>
                </a:solidFill>
                <a:effectLst/>
                <a:uFillTx/>
                <a:latin typeface="+mn-lt"/>
                <a:ea typeface="+mn-ea"/>
              </a:rPr>
              <a:t>12</a:t>
            </a:fld>
            <a:endParaRPr lang="it-IT"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 name="PlaceHolder 1"/>
          <p:cNvSpPr>
            <a:spLocks noGrp="1" noRot="1" noChangeAspect="1"/>
          </p:cNvSpPr>
          <p:nvPr>
            <p:ph type="sldImg"/>
          </p:nvPr>
        </p:nvSpPr>
        <p:spPr>
          <a:xfrm>
            <a:off x="685800" y="1143000"/>
            <a:ext cx="5486400" cy="3086100"/>
          </a:xfrm>
          <a:prstGeom prst="rect">
            <a:avLst/>
          </a:prstGeom>
          <a:ln w="0">
            <a:noFill/>
          </a:ln>
        </p:spPr>
      </p:sp>
      <p:sp>
        <p:nvSpPr>
          <p:cNvPr id="6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1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179821-4C31-4218-8971-8A75494A82DD}" type="slidenum">
              <a:rPr lang="en-US" sz="1200" b="0" u="none" strike="noStrike">
                <a:solidFill>
                  <a:schemeClr val="dk1"/>
                </a:solidFill>
                <a:effectLst/>
                <a:uFillTx/>
                <a:latin typeface="+mn-lt"/>
                <a:ea typeface="+mn-ea"/>
              </a:rPr>
              <a:t>15</a:t>
            </a:fld>
            <a:endParaRPr lang="it-IT"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PlaceHolder 1"/>
          <p:cNvSpPr>
            <a:spLocks noGrp="1" noRot="1" noChangeAspect="1"/>
          </p:cNvSpPr>
          <p:nvPr>
            <p:ph type="sldImg"/>
          </p:nvPr>
        </p:nvSpPr>
        <p:spPr>
          <a:xfrm>
            <a:off x="685800" y="1143000"/>
            <a:ext cx="5486400" cy="3086100"/>
          </a:xfrm>
          <a:prstGeom prst="rect">
            <a:avLst/>
          </a:prstGeom>
          <a:ln w="0">
            <a:noFill/>
          </a:ln>
        </p:spPr>
      </p:sp>
      <p:sp>
        <p:nvSpPr>
          <p:cNvPr id="6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2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96CCED-F267-4F7F-AEDF-F883999498FB}" type="slidenum">
              <a:rPr lang="en-US" sz="1200" b="0" u="none" strike="noStrike">
                <a:solidFill>
                  <a:schemeClr val="dk1"/>
                </a:solidFill>
                <a:effectLst/>
                <a:uFillTx/>
                <a:latin typeface="+mn-lt"/>
                <a:ea typeface="+mn-ea"/>
              </a:rPr>
              <a:t>20</a:t>
            </a:fld>
            <a:endParaRPr lang="it-IT"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685800" y="1143000"/>
            <a:ext cx="5486400" cy="308610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2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462059-4474-4D67-8EDB-4B945A220EB8}" type="slidenum">
              <a:rPr lang="en-US" sz="1200" b="0" u="none" strike="noStrike">
                <a:solidFill>
                  <a:schemeClr val="dk1"/>
                </a:solidFill>
                <a:effectLst/>
                <a:uFillTx/>
                <a:latin typeface="+mn-lt"/>
                <a:ea typeface="+mn-ea"/>
              </a:rPr>
              <a:t>22</a:t>
            </a:fld>
            <a:endParaRPr lang="it-IT"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685800" y="1143000"/>
            <a:ext cx="5486400" cy="308610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2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D8D0AC-19D4-4AA0-AF68-2BA506F82A93}" type="slidenum">
              <a:rPr lang="en-US" sz="1200" b="0" u="none" strike="noStrike">
                <a:solidFill>
                  <a:schemeClr val="dk1"/>
                </a:solidFill>
                <a:effectLst/>
                <a:uFillTx/>
                <a:latin typeface="+mn-lt"/>
                <a:ea typeface="+mn-ea"/>
              </a:rPr>
              <a:t>24</a:t>
            </a:fld>
            <a:endParaRPr lang="it-IT"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noRot="1" noChangeAspect="1"/>
          </p:cNvSpPr>
          <p:nvPr>
            <p:ph type="sldImg"/>
          </p:nvPr>
        </p:nvSpPr>
        <p:spPr>
          <a:xfrm>
            <a:off x="685800" y="1143000"/>
            <a:ext cx="5486400" cy="308610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30"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9A93AB-85A2-4F16-94EA-2878EB1E69BB}" type="slidenum">
              <a:rPr lang="en-US" sz="1200" b="0" u="none" strike="noStrike">
                <a:solidFill>
                  <a:schemeClr val="dk1"/>
                </a:solidFill>
                <a:effectLst/>
                <a:uFillTx/>
                <a:latin typeface="+mn-lt"/>
                <a:ea typeface="+mn-ea"/>
              </a:rPr>
              <a:t>26</a:t>
            </a:fld>
            <a:endParaRPr lang="it-IT"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PlaceHolder 1"/>
          <p:cNvSpPr>
            <a:spLocks noGrp="1" noRot="1" noChangeAspect="1"/>
          </p:cNvSpPr>
          <p:nvPr>
            <p:ph type="sldImg"/>
          </p:nvPr>
        </p:nvSpPr>
        <p:spPr>
          <a:xfrm>
            <a:off x="685800" y="1143000"/>
            <a:ext cx="5486400" cy="308610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33"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E48F47-47A6-49A8-B371-0C6C386F3033}" type="slidenum">
              <a:rPr lang="en-US" sz="1200" b="0" u="none" strike="noStrike">
                <a:solidFill>
                  <a:schemeClr val="dk1"/>
                </a:solidFill>
                <a:effectLst/>
                <a:uFillTx/>
                <a:latin typeface="+mn-lt"/>
                <a:ea typeface="+mn-ea"/>
              </a:rPr>
              <a:t>29</a:t>
            </a:fld>
            <a:endParaRPr lang="it-IT"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PlaceHolder 1"/>
          <p:cNvSpPr>
            <a:spLocks noGrp="1" noRot="1" noChangeAspect="1"/>
          </p:cNvSpPr>
          <p:nvPr>
            <p:ph type="sldImg"/>
          </p:nvPr>
        </p:nvSpPr>
        <p:spPr>
          <a:xfrm>
            <a:off x="685800" y="1143000"/>
            <a:ext cx="5486400" cy="308610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3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E457CB-B2A7-45F8-91C7-3CC92C61671A}" type="slidenum">
              <a:rPr lang="en-US" sz="1200" b="0" u="none" strike="noStrike">
                <a:solidFill>
                  <a:schemeClr val="dk1"/>
                </a:solidFill>
                <a:effectLst/>
                <a:uFillTx/>
                <a:latin typeface="+mn-lt"/>
                <a:ea typeface="+mn-ea"/>
              </a:rPr>
              <a:t>32</a:t>
            </a:fld>
            <a:endParaRPr lang="it-IT"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PlaceHolder 1"/>
          <p:cNvSpPr>
            <a:spLocks noGrp="1" noRot="1" noChangeAspect="1"/>
          </p:cNvSpPr>
          <p:nvPr>
            <p:ph type="sldImg"/>
          </p:nvPr>
        </p:nvSpPr>
        <p:spPr>
          <a:xfrm>
            <a:off x="685800" y="1143000"/>
            <a:ext cx="5486400" cy="308610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39"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196B28-0D74-4E56-A727-0B5AA8C557F0}" type="slidenum">
              <a:rPr lang="en-US" sz="1200" b="0" u="none" strike="noStrike">
                <a:solidFill>
                  <a:schemeClr val="dk1"/>
                </a:solidFill>
                <a:effectLst/>
                <a:uFillTx/>
                <a:latin typeface="+mn-lt"/>
                <a:ea typeface="+mn-ea"/>
              </a:rPr>
              <a:t>39</a:t>
            </a:fld>
            <a:endParaRPr lang="it-IT"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PlaceHolder 1"/>
          <p:cNvSpPr>
            <a:spLocks noGrp="1" noRot="1" noChangeAspect="1"/>
          </p:cNvSpPr>
          <p:nvPr>
            <p:ph type="sldImg"/>
          </p:nvPr>
        </p:nvSpPr>
        <p:spPr>
          <a:xfrm>
            <a:off x="685800" y="1143000"/>
            <a:ext cx="5486400" cy="308610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642"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941806-428D-44FC-8FE5-1E0100F697E8}" type="slidenum">
              <a:rPr lang="en-US" sz="1200" b="0" u="none" strike="noStrike">
                <a:solidFill>
                  <a:schemeClr val="dk1"/>
                </a:solidFill>
                <a:effectLst/>
                <a:uFillTx/>
                <a:latin typeface="+mn-lt"/>
                <a:ea typeface="+mn-ea"/>
              </a:rPr>
              <a:t>41</a:t>
            </a:fld>
            <a:endParaRPr lang="it-IT"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PlaceHolder 1"/>
          <p:cNvSpPr>
            <a:spLocks noGrp="1" noRot="1" noChangeAspect="1"/>
          </p:cNvSpPr>
          <p:nvPr>
            <p:ph type="sldImg"/>
          </p:nvPr>
        </p:nvSpPr>
        <p:spPr>
          <a:xfrm>
            <a:off x="685800" y="1143000"/>
            <a:ext cx="5486400" cy="308610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6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5920E9-E263-4F59-BB80-6A855A44379A}" type="slidenum">
              <a:rPr lang="en-US" sz="1200" b="0" u="none" strike="noStrike">
                <a:solidFill>
                  <a:schemeClr val="dk1"/>
                </a:solidFill>
                <a:effectLst/>
                <a:uFillTx/>
                <a:latin typeface="+mn-lt"/>
                <a:ea typeface="+mn-ea"/>
              </a:rPr>
              <a:t>81</a:t>
            </a:fld>
            <a:endParaRPr lang="it-IT"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noRot="1" noChangeAspect="1"/>
          </p:cNvSpPr>
          <p:nvPr>
            <p:ph type="sldImg"/>
          </p:nvPr>
        </p:nvSpPr>
        <p:spPr>
          <a:xfrm>
            <a:off x="685800" y="1143000"/>
            <a:ext cx="5486400" cy="308610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5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EAA817-2EF8-4DE5-9F2F-A3B681299090}" type="slidenum">
              <a:rPr lang="en-US" sz="1200" b="0" u="none" strike="noStrike">
                <a:solidFill>
                  <a:schemeClr val="dk1"/>
                </a:solidFill>
                <a:effectLst/>
                <a:uFillTx/>
                <a:latin typeface="+mn-lt"/>
                <a:ea typeface="+mn-ea"/>
              </a:rPr>
              <a:t>84</a:t>
            </a:fld>
            <a:endParaRPr lang="it-IT"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noRot="1" noChangeAspect="1"/>
          </p:cNvSpPr>
          <p:nvPr>
            <p:ph type="sldImg"/>
          </p:nvPr>
        </p:nvSpPr>
        <p:spPr>
          <a:xfrm>
            <a:off x="685800" y="1143000"/>
            <a:ext cx="5486400" cy="308610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6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3DEA5DE-2040-458E-ABA0-914F04964A68}" type="slidenum">
              <a:rPr lang="en-US" sz="1200" b="0" u="none" strike="noStrike">
                <a:solidFill>
                  <a:schemeClr val="dk1"/>
                </a:solidFill>
                <a:effectLst/>
                <a:uFillTx/>
                <a:latin typeface="+mn-lt"/>
                <a:ea typeface="+mn-ea"/>
              </a:rPr>
              <a:t>86</a:t>
            </a:fld>
            <a:endParaRPr lang="it-IT"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noRot="1" noChangeAspect="1"/>
          </p:cNvSpPr>
          <p:nvPr>
            <p:ph type="sldImg"/>
          </p:nvPr>
        </p:nvSpPr>
        <p:spPr>
          <a:xfrm>
            <a:off x="685800" y="1143000"/>
            <a:ext cx="5486400" cy="308610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6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1DC095-A306-48A7-8C48-5F9BCDA124AF}" type="slidenum">
              <a:rPr lang="en-US" sz="1200" b="0" u="none" strike="noStrike">
                <a:solidFill>
                  <a:schemeClr val="dk1"/>
                </a:solidFill>
                <a:effectLst/>
                <a:uFillTx/>
                <a:latin typeface="+mn-lt"/>
                <a:ea typeface="+mn-ea"/>
              </a:rPr>
              <a:t>88</a:t>
            </a:fld>
            <a:endParaRPr lang="it-IT"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noRot="1" noChangeAspect="1"/>
          </p:cNvSpPr>
          <p:nvPr>
            <p:ph type="sldImg"/>
          </p:nvPr>
        </p:nvSpPr>
        <p:spPr>
          <a:xfrm>
            <a:off x="685800" y="1143000"/>
            <a:ext cx="5486400" cy="308610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7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D0D753-DBA7-4064-871B-FFFB76D5A8EB}" type="slidenum">
              <a:rPr lang="en-US" sz="1200" b="0" u="none" strike="noStrike">
                <a:solidFill>
                  <a:schemeClr val="dk1"/>
                </a:solidFill>
                <a:effectLst/>
                <a:uFillTx/>
                <a:latin typeface="+mn-lt"/>
                <a:ea typeface="+mn-ea"/>
              </a:rPr>
              <a:t>91</a:t>
            </a:fld>
            <a:endParaRPr lang="it-IT"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noRot="1" noChangeAspect="1"/>
          </p:cNvSpPr>
          <p:nvPr>
            <p:ph type="sldImg"/>
          </p:nvPr>
        </p:nvSpPr>
        <p:spPr>
          <a:xfrm>
            <a:off x="685800" y="1143000"/>
            <a:ext cx="5486400" cy="308610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7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2D0A685-BF90-4F32-82AD-BE63DFC3C0B2}" type="slidenum">
              <a:rPr lang="en-US" sz="1200" b="0" u="none" strike="noStrike">
                <a:solidFill>
                  <a:schemeClr val="dk1"/>
                </a:solidFill>
                <a:effectLst/>
                <a:uFillTx/>
                <a:latin typeface="+mn-lt"/>
                <a:ea typeface="+mn-ea"/>
              </a:rPr>
              <a:t>93</a:t>
            </a:fld>
            <a:endParaRPr lang="it-IT"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PlaceHolder 1"/>
          <p:cNvSpPr>
            <a:spLocks noGrp="1" noRot="1" noChangeAspect="1"/>
          </p:cNvSpPr>
          <p:nvPr>
            <p:ph type="sldImg"/>
          </p:nvPr>
        </p:nvSpPr>
        <p:spPr>
          <a:xfrm>
            <a:off x="685800" y="1143000"/>
            <a:ext cx="5486400" cy="308610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7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78E2E0-B9AB-4573-BEC4-A2DFF773A769}" type="slidenum">
              <a:rPr lang="en-US" sz="1200" b="0" u="none" strike="noStrike">
                <a:solidFill>
                  <a:schemeClr val="dk1"/>
                </a:solidFill>
                <a:effectLst/>
                <a:uFillTx/>
                <a:latin typeface="+mn-lt"/>
                <a:ea typeface="+mn-ea"/>
              </a:rPr>
              <a:t>98</a:t>
            </a:fld>
            <a:endParaRPr lang="it-IT"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noRot="1" noChangeAspect="1"/>
          </p:cNvSpPr>
          <p:nvPr>
            <p:ph type="sldImg"/>
          </p:nvPr>
        </p:nvSpPr>
        <p:spPr>
          <a:xfrm>
            <a:off x="685800" y="1143000"/>
            <a:ext cx="5486400" cy="308610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80"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4070AB5-58A8-4621-B034-2A338B631736}" type="slidenum">
              <a:rPr lang="en-US" sz="1200" b="0" u="none" strike="noStrike">
                <a:solidFill>
                  <a:schemeClr val="dk1"/>
                </a:solidFill>
                <a:effectLst/>
                <a:uFillTx/>
                <a:latin typeface="+mn-lt"/>
                <a:ea typeface="+mn-ea"/>
              </a:rPr>
              <a:t>103</a:t>
            </a:fld>
            <a:endParaRPr lang="it-IT"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noRot="1" noChangeAspect="1"/>
          </p:cNvSpPr>
          <p:nvPr>
            <p:ph type="sldImg"/>
          </p:nvPr>
        </p:nvSpPr>
        <p:spPr>
          <a:xfrm>
            <a:off x="685800" y="1143000"/>
            <a:ext cx="5486400" cy="308610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83"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9F193E-B267-4022-8B51-FF697F2498E9}" type="slidenum">
              <a:rPr lang="en-US" sz="1200" b="0" u="none" strike="noStrike">
                <a:solidFill>
                  <a:schemeClr val="dk1"/>
                </a:solidFill>
                <a:effectLst/>
                <a:uFillTx/>
                <a:latin typeface="+mn-lt"/>
                <a:ea typeface="+mn-ea"/>
              </a:rPr>
              <a:t>105</a:t>
            </a:fld>
            <a:endParaRPr lang="it-IT"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6400" cy="308610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8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878DC6-06A9-446C-AEA6-DE56DFD29BFD}" type="slidenum">
              <a:rPr lang="en-US" sz="1200" b="0" u="none" strike="noStrike">
                <a:solidFill>
                  <a:schemeClr val="dk1"/>
                </a:solidFill>
                <a:effectLst/>
                <a:uFillTx/>
                <a:latin typeface="+mn-lt"/>
                <a:ea typeface="+mn-ea"/>
              </a:rPr>
              <a:t>107</a:t>
            </a:fld>
            <a:endParaRPr lang="it-IT"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noRot="1" noChangeAspect="1"/>
          </p:cNvSpPr>
          <p:nvPr>
            <p:ph type="sldImg"/>
          </p:nvPr>
        </p:nvSpPr>
        <p:spPr>
          <a:xfrm>
            <a:off x="685800" y="1143000"/>
            <a:ext cx="5486400" cy="3086100"/>
          </a:xfrm>
          <a:prstGeom prst="rect">
            <a:avLst/>
          </a:prstGeom>
          <a:ln w="0">
            <a:noFill/>
          </a:ln>
        </p:spPr>
      </p:sp>
      <p:sp>
        <p:nvSpPr>
          <p:cNvPr id="3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89"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35D5A2-1A0F-45EB-ABC9-718CDFA0A2FF}" type="slidenum">
              <a:rPr lang="en-US" sz="1200" b="0" u="none" strike="noStrike">
                <a:solidFill>
                  <a:schemeClr val="dk1"/>
                </a:solidFill>
                <a:effectLst/>
                <a:uFillTx/>
                <a:latin typeface="+mn-lt"/>
                <a:ea typeface="+mn-ea"/>
              </a:rPr>
              <a:t>110</a:t>
            </a:fld>
            <a:endParaRPr lang="it-IT"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noRot="1" noChangeAspect="1"/>
          </p:cNvSpPr>
          <p:nvPr>
            <p:ph type="sldImg"/>
          </p:nvPr>
        </p:nvSpPr>
        <p:spPr>
          <a:xfrm>
            <a:off x="685800" y="1143000"/>
            <a:ext cx="5486400" cy="3086100"/>
          </a:xfrm>
          <a:prstGeom prst="rect">
            <a:avLst/>
          </a:prstGeom>
          <a:ln w="0">
            <a:noFill/>
          </a:ln>
        </p:spPr>
      </p:sp>
      <p:sp>
        <p:nvSpPr>
          <p:cNvPr id="3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392"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C27F73-2329-41BC-9CA9-C0483AE9853C}" type="slidenum">
              <a:rPr lang="en-US" sz="1200" b="0" u="none" strike="noStrike">
                <a:solidFill>
                  <a:schemeClr val="dk1"/>
                </a:solidFill>
                <a:effectLst/>
                <a:uFillTx/>
                <a:latin typeface="+mn-lt"/>
                <a:ea typeface="+mn-ea"/>
              </a:rPr>
              <a:t>114</a:t>
            </a:fld>
            <a:endParaRPr lang="it-IT"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 name="PlaceHolder 1"/>
          <p:cNvSpPr>
            <a:spLocks noGrp="1" noRot="1" noChangeAspect="1"/>
          </p:cNvSpPr>
          <p:nvPr>
            <p:ph type="sldImg"/>
          </p:nvPr>
        </p:nvSpPr>
        <p:spPr>
          <a:xfrm>
            <a:off x="685800" y="1143000"/>
            <a:ext cx="5486400" cy="3086100"/>
          </a:xfrm>
          <a:prstGeom prst="rect">
            <a:avLst/>
          </a:prstGeom>
          <a:ln w="0">
            <a:noFill/>
          </a:ln>
        </p:spPr>
      </p:sp>
      <p:sp>
        <p:nvSpPr>
          <p:cNvPr id="8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4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01F14D-06BC-4369-8927-82C84A10B0D0}" type="slidenum">
              <a:rPr lang="en-US" sz="1200" b="0" u="none" strike="noStrike">
                <a:solidFill>
                  <a:schemeClr val="dk1"/>
                </a:solidFill>
                <a:effectLst/>
                <a:uFillTx/>
                <a:latin typeface="+mn-lt"/>
                <a:ea typeface="+mn-ea"/>
              </a:rPr>
              <a:t>118</a:t>
            </a:fld>
            <a:endParaRPr lang="it-IT"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 name="PlaceHolder 1"/>
          <p:cNvSpPr>
            <a:spLocks noGrp="1" noRot="1" noChangeAspect="1"/>
          </p:cNvSpPr>
          <p:nvPr>
            <p:ph type="sldImg"/>
          </p:nvPr>
        </p:nvSpPr>
        <p:spPr>
          <a:xfrm>
            <a:off x="685800" y="1143000"/>
            <a:ext cx="5486400" cy="3086100"/>
          </a:xfrm>
          <a:prstGeom prst="rect">
            <a:avLst/>
          </a:prstGeom>
          <a:ln w="0">
            <a:noFill/>
          </a:ln>
        </p:spPr>
      </p:sp>
      <p:sp>
        <p:nvSpPr>
          <p:cNvPr id="8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4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AB69949-7D94-4E4F-8AC4-059522D294A4}" type="slidenum">
              <a:rPr lang="en-US" sz="1200" b="0" u="none" strike="noStrike">
                <a:solidFill>
                  <a:schemeClr val="dk1"/>
                </a:solidFill>
                <a:effectLst/>
                <a:uFillTx/>
                <a:latin typeface="+mn-lt"/>
                <a:ea typeface="+mn-ea"/>
              </a:rPr>
              <a:t>121</a:t>
            </a:fld>
            <a:endParaRPr lang="it-IT"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 name="PlaceHolder 1"/>
          <p:cNvSpPr>
            <a:spLocks noGrp="1" noRot="1" noChangeAspect="1"/>
          </p:cNvSpPr>
          <p:nvPr>
            <p:ph type="sldImg"/>
          </p:nvPr>
        </p:nvSpPr>
        <p:spPr>
          <a:xfrm>
            <a:off x="685800" y="1143000"/>
            <a:ext cx="5486400" cy="3086100"/>
          </a:xfrm>
          <a:prstGeom prst="rect">
            <a:avLst/>
          </a:prstGeom>
          <a:ln w="0">
            <a:noFill/>
          </a:ln>
        </p:spPr>
      </p:sp>
      <p:sp>
        <p:nvSpPr>
          <p:cNvPr id="8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5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9E3DBD-CC90-442B-B086-A11CE688951D}" type="slidenum">
              <a:rPr lang="en-US" sz="1200" b="0" u="none" strike="noStrike">
                <a:solidFill>
                  <a:schemeClr val="dk1"/>
                </a:solidFill>
                <a:effectLst/>
                <a:uFillTx/>
                <a:latin typeface="+mn-lt"/>
                <a:ea typeface="+mn-ea"/>
              </a:rPr>
              <a:t>123</a:t>
            </a:fld>
            <a:endParaRPr lang="it-IT"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3" name="PlaceHolder 1"/>
          <p:cNvSpPr>
            <a:spLocks noGrp="1" noRot="1" noChangeAspect="1"/>
          </p:cNvSpPr>
          <p:nvPr>
            <p:ph type="sldImg"/>
          </p:nvPr>
        </p:nvSpPr>
        <p:spPr>
          <a:xfrm>
            <a:off x="685800" y="1143000"/>
            <a:ext cx="5486400" cy="3086100"/>
          </a:xfrm>
          <a:prstGeom prst="rect">
            <a:avLst/>
          </a:prstGeom>
          <a:ln w="0">
            <a:noFill/>
          </a:ln>
        </p:spPr>
      </p:sp>
      <p:sp>
        <p:nvSpPr>
          <p:cNvPr id="8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5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1C70E5-96F9-4FDD-955D-15AD67D689D3}" type="slidenum">
              <a:rPr lang="en-US" sz="1200" b="0" u="none" strike="noStrike">
                <a:solidFill>
                  <a:schemeClr val="dk1"/>
                </a:solidFill>
                <a:effectLst/>
                <a:uFillTx/>
                <a:latin typeface="+mn-lt"/>
                <a:ea typeface="+mn-ea"/>
              </a:rPr>
              <a:t>127</a:t>
            </a:fld>
            <a:endParaRPr lang="it-IT"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 name="PlaceHolder 1"/>
          <p:cNvSpPr>
            <a:spLocks noGrp="1" noRot="1" noChangeAspect="1"/>
          </p:cNvSpPr>
          <p:nvPr>
            <p:ph type="sldImg"/>
          </p:nvPr>
        </p:nvSpPr>
        <p:spPr>
          <a:xfrm>
            <a:off x="685800" y="1143000"/>
            <a:ext cx="5486400" cy="3086100"/>
          </a:xfrm>
          <a:prstGeom prst="rect">
            <a:avLst/>
          </a:prstGeom>
          <a:ln w="0">
            <a:noFill/>
          </a:ln>
        </p:spPr>
      </p:sp>
      <p:sp>
        <p:nvSpPr>
          <p:cNvPr id="8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5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D39F9A-A748-445A-B8D7-8983C3037EFA}" type="slidenum">
              <a:rPr lang="en-US" sz="1200" b="0" u="none" strike="noStrike">
                <a:solidFill>
                  <a:schemeClr val="dk1"/>
                </a:solidFill>
                <a:effectLst/>
                <a:uFillTx/>
                <a:latin typeface="+mn-lt"/>
                <a:ea typeface="+mn-ea"/>
              </a:rPr>
              <a:t>130</a:t>
            </a:fld>
            <a:endParaRPr lang="it-IT"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 name="PlaceHolder 1"/>
          <p:cNvSpPr>
            <a:spLocks noGrp="1" noRot="1" noChangeAspect="1"/>
          </p:cNvSpPr>
          <p:nvPr>
            <p:ph type="sldImg"/>
          </p:nvPr>
        </p:nvSpPr>
        <p:spPr>
          <a:xfrm>
            <a:off x="685800" y="1143000"/>
            <a:ext cx="5486400" cy="3086100"/>
          </a:xfrm>
          <a:prstGeom prst="rect">
            <a:avLst/>
          </a:prstGeom>
          <a:ln w="0">
            <a:noFill/>
          </a:ln>
        </p:spPr>
      </p:sp>
      <p:sp>
        <p:nvSpPr>
          <p:cNvPr id="8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6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1CAB2D-E895-4D08-A47C-5F2F84C48E18}" type="slidenum">
              <a:rPr lang="en-US" sz="1200" b="0" u="none" strike="noStrike">
                <a:solidFill>
                  <a:schemeClr val="dk1"/>
                </a:solidFill>
                <a:effectLst/>
                <a:uFillTx/>
                <a:latin typeface="+mn-lt"/>
                <a:ea typeface="+mn-ea"/>
              </a:rPr>
              <a:t>133</a:t>
            </a:fld>
            <a:endParaRPr lang="it-IT" sz="1200" b="0" u="none" strike="noStrike">
              <a:solidFill>
                <a:srgbClr val="000000"/>
              </a:solidFill>
              <a:effectLst/>
              <a:uFillTx/>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PlaceHolder 1"/>
          <p:cNvSpPr>
            <a:spLocks noGrp="1" noRot="1" noChangeAspect="1"/>
          </p:cNvSpPr>
          <p:nvPr>
            <p:ph type="sldImg"/>
          </p:nvPr>
        </p:nvSpPr>
        <p:spPr>
          <a:xfrm>
            <a:off x="685800" y="1143000"/>
            <a:ext cx="5486400" cy="3086100"/>
          </a:xfrm>
          <a:prstGeom prst="rect">
            <a:avLst/>
          </a:prstGeom>
          <a:ln w="0">
            <a:noFill/>
          </a:ln>
        </p:spPr>
      </p:sp>
      <p:sp>
        <p:nvSpPr>
          <p:cNvPr id="8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6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E1E5397-02E1-4CD1-9190-57FEB9FE695B}" type="slidenum">
              <a:rPr lang="en-US" sz="1200" b="0" u="none" strike="noStrike">
                <a:solidFill>
                  <a:schemeClr val="dk1"/>
                </a:solidFill>
                <a:effectLst/>
                <a:uFillTx/>
                <a:latin typeface="+mn-lt"/>
                <a:ea typeface="+mn-ea"/>
              </a:rPr>
              <a:t>135</a:t>
            </a:fld>
            <a:endParaRPr lang="it-IT"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 name="PlaceHolder 1"/>
          <p:cNvSpPr>
            <a:spLocks noGrp="1" noRot="1" noChangeAspect="1"/>
          </p:cNvSpPr>
          <p:nvPr>
            <p:ph type="sldImg"/>
          </p:nvPr>
        </p:nvSpPr>
        <p:spPr>
          <a:xfrm>
            <a:off x="685800" y="1143000"/>
            <a:ext cx="5486400" cy="3086100"/>
          </a:xfrm>
          <a:prstGeom prst="rect">
            <a:avLst/>
          </a:prstGeom>
          <a:ln w="0">
            <a:noFill/>
          </a:ln>
        </p:spPr>
      </p:sp>
      <p:sp>
        <p:nvSpPr>
          <p:cNvPr id="8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6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827CA9-FAAF-4745-ACBE-25CEA76A2A09}" type="slidenum">
              <a:rPr lang="en-US" sz="1200" b="0" u="none" strike="noStrike">
                <a:solidFill>
                  <a:schemeClr val="dk1"/>
                </a:solidFill>
                <a:effectLst/>
                <a:uFillTx/>
                <a:latin typeface="+mn-lt"/>
                <a:ea typeface="+mn-ea"/>
              </a:rPr>
              <a:t>137</a:t>
            </a:fld>
            <a:endParaRPr lang="it-IT"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PlaceHolder 1"/>
          <p:cNvSpPr>
            <a:spLocks noGrp="1" noRot="1" noChangeAspect="1"/>
          </p:cNvSpPr>
          <p:nvPr>
            <p:ph type="sldImg"/>
          </p:nvPr>
        </p:nvSpPr>
        <p:spPr>
          <a:xfrm>
            <a:off x="685800" y="1143000"/>
            <a:ext cx="5486400" cy="3086100"/>
          </a:xfrm>
          <a:prstGeom prst="rect">
            <a:avLst/>
          </a:prstGeom>
          <a:ln w="0">
            <a:noFill/>
          </a:ln>
        </p:spPr>
      </p:sp>
      <p:sp>
        <p:nvSpPr>
          <p:cNvPr id="8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7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40367B-CB12-46A7-B0E4-EF99360E3792}" type="slidenum">
              <a:rPr lang="en-US" sz="1200" b="0" u="none" strike="noStrike">
                <a:solidFill>
                  <a:schemeClr val="dk1"/>
                </a:solidFill>
                <a:effectLst/>
                <a:uFillTx/>
                <a:latin typeface="+mn-lt"/>
                <a:ea typeface="+mn-ea"/>
              </a:rPr>
              <a:t>140</a:t>
            </a:fld>
            <a:endParaRPr lang="it-IT"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PlaceHolder 1"/>
          <p:cNvSpPr>
            <a:spLocks noGrp="1" noRot="1" noChangeAspect="1"/>
          </p:cNvSpPr>
          <p:nvPr>
            <p:ph type="sldImg"/>
          </p:nvPr>
        </p:nvSpPr>
        <p:spPr>
          <a:xfrm>
            <a:off x="685800" y="1143000"/>
            <a:ext cx="5486400" cy="3086100"/>
          </a:xfrm>
          <a:prstGeom prst="rect">
            <a:avLst/>
          </a:prstGeom>
          <a:ln w="0">
            <a:noFill/>
          </a:ln>
        </p:spPr>
      </p:sp>
      <p:sp>
        <p:nvSpPr>
          <p:cNvPr id="8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7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DE525F-4590-4B95-8E2F-C4E2CE1FF512}" type="slidenum">
              <a:rPr lang="en-US" sz="1200" b="0" u="none" strike="noStrike">
                <a:solidFill>
                  <a:schemeClr val="dk1"/>
                </a:solidFill>
                <a:effectLst/>
                <a:uFillTx/>
                <a:latin typeface="+mn-lt"/>
                <a:ea typeface="+mn-ea"/>
              </a:rPr>
              <a:t>142</a:t>
            </a:fld>
            <a:endParaRPr lang="it-IT"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 name="PlaceHolder 1"/>
          <p:cNvSpPr>
            <a:spLocks noGrp="1" noRot="1" noChangeAspect="1"/>
          </p:cNvSpPr>
          <p:nvPr>
            <p:ph type="sldImg"/>
          </p:nvPr>
        </p:nvSpPr>
        <p:spPr>
          <a:xfrm>
            <a:off x="685800" y="1143000"/>
            <a:ext cx="5486400" cy="3086100"/>
          </a:xfrm>
          <a:prstGeom prst="rect">
            <a:avLst/>
          </a:prstGeom>
          <a:ln w="0">
            <a:noFill/>
          </a:ln>
        </p:spPr>
      </p:sp>
      <p:sp>
        <p:nvSpPr>
          <p:cNvPr id="8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7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2113A5-68C0-4A2E-B018-F6DEBC11E178}" type="slidenum">
              <a:rPr lang="en-US" sz="1200" b="0" u="none" strike="noStrike">
                <a:solidFill>
                  <a:schemeClr val="dk1"/>
                </a:solidFill>
                <a:effectLst/>
                <a:uFillTx/>
                <a:latin typeface="+mn-lt"/>
                <a:ea typeface="+mn-ea"/>
              </a:rPr>
              <a:t>144</a:t>
            </a:fld>
            <a:endParaRPr lang="it-IT" sz="12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PlaceHolder 1"/>
          <p:cNvSpPr>
            <a:spLocks noGrp="1" noRot="1" noChangeAspect="1"/>
          </p:cNvSpPr>
          <p:nvPr>
            <p:ph type="sldImg"/>
          </p:nvPr>
        </p:nvSpPr>
        <p:spPr>
          <a:xfrm>
            <a:off x="685800" y="1143000"/>
            <a:ext cx="5486400" cy="3086100"/>
          </a:xfrm>
          <a:prstGeom prst="rect">
            <a:avLst/>
          </a:prstGeom>
          <a:ln w="0">
            <a:noFill/>
          </a:ln>
        </p:spPr>
      </p:sp>
      <p:sp>
        <p:nvSpPr>
          <p:cNvPr id="8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8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27D707-50E2-47D2-9882-6A12D0B2C733}" type="slidenum">
              <a:rPr lang="en-US" sz="1200" b="0" u="none" strike="noStrike">
                <a:solidFill>
                  <a:schemeClr val="dk1"/>
                </a:solidFill>
                <a:effectLst/>
                <a:uFillTx/>
                <a:latin typeface="+mn-lt"/>
                <a:ea typeface="+mn-ea"/>
              </a:rPr>
              <a:t>146</a:t>
            </a:fld>
            <a:endParaRPr lang="it-IT"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 name="PlaceHolder 1"/>
          <p:cNvSpPr>
            <a:spLocks noGrp="1" noRot="1" noChangeAspect="1"/>
          </p:cNvSpPr>
          <p:nvPr>
            <p:ph type="sldImg"/>
          </p:nvPr>
        </p:nvSpPr>
        <p:spPr>
          <a:xfrm>
            <a:off x="685800" y="1143000"/>
            <a:ext cx="5486400" cy="3086100"/>
          </a:xfrm>
          <a:prstGeom prst="rect">
            <a:avLst/>
          </a:prstGeom>
          <a:ln w="0">
            <a:noFill/>
          </a:ln>
        </p:spPr>
      </p:sp>
      <p:sp>
        <p:nvSpPr>
          <p:cNvPr id="8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it-IT" sz="1800" b="0" u="none" strike="noStrike">
              <a:solidFill>
                <a:srgbClr val="000000"/>
              </a:solidFill>
              <a:effectLst/>
              <a:uFillTx/>
              <a:latin typeface="Arial"/>
            </a:endParaRPr>
          </a:p>
        </p:txBody>
      </p:sp>
      <p:sp>
        <p:nvSpPr>
          <p:cNvPr id="87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851559-9462-44F5-B79B-E26727689D69}" type="slidenum">
              <a:rPr lang="en-US" sz="1200" b="0" u="none" strike="noStrike">
                <a:solidFill>
                  <a:schemeClr val="dk1"/>
                </a:solidFill>
                <a:effectLst/>
                <a:uFillTx/>
                <a:latin typeface="+mn-lt"/>
                <a:ea typeface="+mn-ea"/>
              </a:rPr>
              <a:t>149</a:t>
            </a:fld>
            <a:endParaRPr lang="it-IT"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N-BEATS blocks produce a backcast and a forecast contribution. The backcast is subtracted from the current residual history and the remaining residual is passed to the next block. The final forecast is the sum of all forecast contributions. [Sources] Conceptual diagram generated for this lecture; no external assets used.</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1446560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55049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90196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9EBB0FA6-CA38-4042-A9A6-60D1B3D03A04}" type="datetimeFigureOut">
              <a:rPr lang="en-GB" smtClean="0"/>
              <a:t>25/08/2026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948996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9EBB0FA6-CA38-4042-A9A6-60D1B3D03A04}" type="datetimeFigureOut">
              <a:rPr lang="en-GB" smtClean="0"/>
              <a:t>25/08/2026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43648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9EBB0FA6-CA38-4042-A9A6-60D1B3D03A04}" type="datetimeFigureOut">
              <a:rPr lang="en-GB" smtClean="0"/>
              <a:t>25/08/2026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1061267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BB0FA6-CA38-4042-A9A6-60D1B3D03A04}" type="datetimeFigureOut">
              <a:rPr lang="en-GB" smtClean="0"/>
              <a:t>25/08/2026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2599457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9EBB0FA6-CA38-4042-A9A6-60D1B3D03A04}" type="datetimeFigureOut">
              <a:rPr lang="en-GB" smtClean="0"/>
              <a:t>25/08/2026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376508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9EBB0FA6-CA38-4042-A9A6-60D1B3D03A04}" type="datetimeFigureOut">
              <a:rPr lang="en-GB" smtClean="0"/>
              <a:t>25/08/2026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2759458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2368725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90732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109102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2363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031087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3168863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9EBB0FA6-CA38-4042-A9A6-60D1B3D03A04}" type="datetimeFigureOut">
              <a:rPr lang="en-GB" smtClean="0"/>
              <a:t>25/08/2026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C276285-7F72-433D-BDF5-8B6EC4A97FD0}" type="slidenum">
              <a:rPr lang="en-GB" smtClean="0"/>
              <a:t>‹N›</a:t>
            </a:fld>
            <a:endParaRPr lang="en-GB"/>
          </a:p>
        </p:txBody>
      </p:sp>
    </p:spTree>
    <p:extLst>
      <p:ext uri="{BB962C8B-B14F-4D97-AF65-F5344CB8AC3E}">
        <p14:creationId xmlns:p14="http://schemas.microsoft.com/office/powerpoint/2010/main" val="22314493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MASTER">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it-IT" sz="1800" b="0" u="none" strike="noStrike">
                <a:solidFill>
                  <a:schemeClr val="dk1"/>
                </a:solidFill>
                <a:effectLst/>
                <a:uFillTx/>
                <a:latin typeface="Aptos"/>
              </a:rPr>
              <a:t>Fai clic per modificare il formato del testo del titolo</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it-IT" sz="3200" b="0" u="none" strike="noStrike">
                <a:solidFill>
                  <a:schemeClr val="dk1"/>
                </a:solidFill>
                <a:effectLst/>
                <a:uFillTx/>
                <a:latin typeface="Aptos"/>
              </a:rPr>
              <a:t>Fai clic per modificare il formato del testo della struttura</a:t>
            </a:r>
          </a:p>
          <a:p>
            <a:pPr marL="864000" lvl="1" indent="-324000">
              <a:spcBef>
                <a:spcPts val="1134"/>
              </a:spcBef>
              <a:buClr>
                <a:srgbClr val="000000"/>
              </a:buClr>
              <a:buSzPct val="75000"/>
              <a:buFont typeface="Symbol" charset="2"/>
              <a:buChar char=""/>
            </a:pPr>
            <a:r>
              <a:rPr lang="it-IT" sz="2400" b="0" u="none" strike="noStrike">
                <a:solidFill>
                  <a:schemeClr val="dk1"/>
                </a:solidFill>
                <a:effectLst/>
                <a:uFillTx/>
                <a:latin typeface="Aptos"/>
              </a:rPr>
              <a:t>Secondo livello struttura</a:t>
            </a:r>
          </a:p>
          <a:p>
            <a:pPr marL="1296000" lvl="2" indent="-288000">
              <a:spcBef>
                <a:spcPts val="850"/>
              </a:spcBef>
              <a:buClr>
                <a:srgbClr val="000000"/>
              </a:buClr>
              <a:buSzPct val="45000"/>
              <a:buFont typeface="Wingdings" charset="2"/>
              <a:buChar char=""/>
            </a:pPr>
            <a:r>
              <a:rPr lang="it-IT" sz="2000" b="0" u="none" strike="noStrike">
                <a:solidFill>
                  <a:schemeClr val="dk1"/>
                </a:solidFill>
                <a:effectLst/>
                <a:uFillTx/>
                <a:latin typeface="Aptos"/>
              </a:rPr>
              <a:t>Terzo livello struttura</a:t>
            </a:r>
          </a:p>
          <a:p>
            <a:pPr marL="1728000" lvl="3" indent="-216000">
              <a:spcBef>
                <a:spcPts val="567"/>
              </a:spcBef>
              <a:buClr>
                <a:srgbClr val="000000"/>
              </a:buClr>
              <a:buSzPct val="75000"/>
              <a:buFont typeface="Symbol" charset="2"/>
              <a:buChar char=""/>
            </a:pPr>
            <a:r>
              <a:rPr lang="it-IT" sz="2000" b="0" u="none" strike="noStrike">
                <a:solidFill>
                  <a:schemeClr val="dk1"/>
                </a:solidFill>
                <a:effectLst/>
                <a:uFillTx/>
                <a:latin typeface="Aptos"/>
              </a:rPr>
              <a:t>Quarto livello struttura</a:t>
            </a:r>
          </a:p>
          <a:p>
            <a:pPr marL="2160000" lvl="4" indent="-216000">
              <a:spcBef>
                <a:spcPts val="283"/>
              </a:spcBef>
              <a:buClr>
                <a:srgbClr val="000000"/>
              </a:buClr>
              <a:buSzPct val="45000"/>
              <a:buFont typeface="Wingdings" charset="2"/>
              <a:buChar char=""/>
            </a:pPr>
            <a:r>
              <a:rPr lang="it-IT" sz="2000" b="0" u="none" strike="noStrike">
                <a:solidFill>
                  <a:schemeClr val="dk1"/>
                </a:solidFill>
                <a:effectLst/>
                <a:uFillTx/>
                <a:latin typeface="Aptos"/>
              </a:rPr>
              <a:t>Quinto livello struttura</a:t>
            </a:r>
          </a:p>
          <a:p>
            <a:pPr marL="2592000" lvl="5" indent="-216000">
              <a:spcBef>
                <a:spcPts val="283"/>
              </a:spcBef>
              <a:buClr>
                <a:srgbClr val="000000"/>
              </a:buClr>
              <a:buSzPct val="45000"/>
              <a:buFont typeface="Wingdings" charset="2"/>
              <a:buChar char=""/>
            </a:pPr>
            <a:r>
              <a:rPr lang="it-IT" sz="2000" b="0" u="none" strike="noStrike">
                <a:solidFill>
                  <a:schemeClr val="dk1"/>
                </a:solidFill>
                <a:effectLst/>
                <a:uFillTx/>
                <a:latin typeface="Aptos"/>
              </a:rPr>
              <a:t>Sesto livello struttura</a:t>
            </a:r>
          </a:p>
          <a:p>
            <a:pPr marL="3024000" lvl="6" indent="-216000">
              <a:spcBef>
                <a:spcPts val="283"/>
              </a:spcBef>
              <a:buClr>
                <a:srgbClr val="000000"/>
              </a:buClr>
              <a:buSzPct val="45000"/>
              <a:buFont typeface="Wingdings" charset="2"/>
              <a:buChar char=""/>
            </a:pPr>
            <a:r>
              <a:rPr lang="it-IT" sz="2000" b="0" u="none" strike="noStrike">
                <a:solidFill>
                  <a:schemeClr val="dk1"/>
                </a:solidFill>
                <a:effectLst/>
                <a:uFillTx/>
                <a:latin typeface="Aptos"/>
              </a:rPr>
              <a:t>Settimo livello struttura</a:t>
            </a:r>
          </a:p>
        </p:txBody>
      </p:sp>
    </p:spTree>
    <p:extLst>
      <p:ext uri="{BB962C8B-B14F-4D97-AF65-F5344CB8AC3E}">
        <p14:creationId xmlns:p14="http://schemas.microsoft.com/office/powerpoint/2010/main" val="2493564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446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EBB0FA6-CA38-4042-A9A6-60D1B3D03A04}" type="datetimeFigureOut">
              <a:rPr lang="en-GB" smtClean="0"/>
              <a:t>25/08/2026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C276285-7F72-433D-BDF5-8B6EC4A97FD0}" type="slidenum">
              <a:rPr lang="en-GB" smtClean="0"/>
              <a:t>‹N›</a:t>
            </a:fld>
            <a:endParaRPr lang="en-GB"/>
          </a:p>
        </p:txBody>
      </p:sp>
    </p:spTree>
    <p:extLst>
      <p:ext uri="{BB962C8B-B14F-4D97-AF65-F5344CB8AC3E}">
        <p14:creationId xmlns:p14="http://schemas.microsoft.com/office/powerpoint/2010/main" val="3112433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1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59718B4-5C5C-7C04-0A8D-A0CE7AF3CF6A}"/>
              </a:ext>
            </a:extLst>
          </p:cNvPr>
          <p:cNvSpPr>
            <a:spLocks noGrp="1"/>
          </p:cNvSpPr>
          <p:nvPr>
            <p:ph type="ctrTitle"/>
          </p:nvPr>
        </p:nvSpPr>
        <p:spPr/>
        <p:txBody>
          <a:bodyPr/>
          <a:lstStyle/>
          <a:p>
            <a:r>
              <a:rPr lang="it-IT" dirty="0"/>
              <a:t>06 - </a:t>
            </a:r>
            <a:r>
              <a:rPr lang="it-IT" dirty="0" err="1"/>
              <a:t>Attention</a:t>
            </a:r>
            <a:endParaRPr lang="en-GB" dirty="0"/>
          </a:p>
        </p:txBody>
      </p:sp>
      <p:sp>
        <p:nvSpPr>
          <p:cNvPr id="3" name="Sottotitolo 2">
            <a:extLst>
              <a:ext uri="{FF2B5EF4-FFF2-40B4-BE49-F238E27FC236}">
                <a16:creationId xmlns:a16="http://schemas.microsoft.com/office/drawing/2014/main" id="{36521470-9599-D684-6922-93DA5083364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73006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B5DF27-35CE-A969-1BA3-EF305ADAA9CA}"/>
              </a:ext>
            </a:extLst>
          </p:cNvPr>
          <p:cNvSpPr>
            <a:spLocks noGrp="1"/>
          </p:cNvSpPr>
          <p:nvPr>
            <p:ph type="title"/>
          </p:nvPr>
        </p:nvSpPr>
        <p:spPr/>
        <p:txBody>
          <a:bodyPr/>
          <a:lstStyle/>
          <a:p>
            <a:r>
              <a:rPr lang="it-IT" dirty="0" err="1"/>
              <a:t>Final</a:t>
            </a:r>
            <a:r>
              <a:rPr lang="it-IT" dirty="0"/>
              <a:t> </a:t>
            </a:r>
            <a:r>
              <a:rPr lang="it-IT" dirty="0" err="1"/>
              <a:t>architecture</a:t>
            </a:r>
            <a:r>
              <a:rPr lang="it-IT" dirty="0"/>
              <a:t> </a:t>
            </a:r>
            <a:r>
              <a:rPr lang="it-IT" dirty="0" err="1"/>
              <a:t>comparison</a:t>
            </a:r>
            <a:endParaRPr lang="en-GB" dirty="0"/>
          </a:p>
        </p:txBody>
      </p:sp>
      <p:pic>
        <p:nvPicPr>
          <p:cNvPr id="5" name="Segnaposto contenuto 4">
            <a:extLst>
              <a:ext uri="{FF2B5EF4-FFF2-40B4-BE49-F238E27FC236}">
                <a16:creationId xmlns:a16="http://schemas.microsoft.com/office/drawing/2014/main" id="{FECFAAF6-A744-4523-42DA-704D33336E8E}"/>
              </a:ext>
            </a:extLst>
          </p:cNvPr>
          <p:cNvPicPr>
            <a:picLocks noGrp="1" noChangeAspect="1"/>
          </p:cNvPicPr>
          <p:nvPr>
            <p:ph idx="1"/>
          </p:nvPr>
        </p:nvPicPr>
        <p:blipFill>
          <a:blip r:embed="rId2"/>
          <a:stretch>
            <a:fillRect/>
          </a:stretch>
        </p:blipFill>
        <p:spPr>
          <a:xfrm>
            <a:off x="1563978" y="1560087"/>
            <a:ext cx="7593670" cy="5103942"/>
          </a:xfrm>
          <a:prstGeom prst="rect">
            <a:avLst/>
          </a:prstGeom>
        </p:spPr>
      </p:pic>
    </p:spTree>
    <p:extLst>
      <p:ext uri="{BB962C8B-B14F-4D97-AF65-F5344CB8AC3E}">
        <p14:creationId xmlns:p14="http://schemas.microsoft.com/office/powerpoint/2010/main" val="586455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406819-5822-E3C5-484E-018C5EAE895D}"/>
              </a:ext>
            </a:extLst>
          </p:cNvPr>
          <p:cNvSpPr>
            <a:spLocks noGrp="1"/>
          </p:cNvSpPr>
          <p:nvPr>
            <p:ph type="title"/>
          </p:nvPr>
        </p:nvSpPr>
        <p:spPr/>
        <p:txBody>
          <a:bodyPr/>
          <a:lstStyle/>
          <a:p>
            <a:r>
              <a:rPr lang="it-IT" dirty="0" err="1"/>
              <a:t>Outline</a:t>
            </a:r>
            <a:r>
              <a:rPr lang="it-IT" dirty="0"/>
              <a:t> of the </a:t>
            </a:r>
            <a:r>
              <a:rPr lang="it-IT" dirty="0" err="1"/>
              <a:t>lecture</a:t>
            </a:r>
            <a:endParaRPr lang="en-GB" dirty="0"/>
          </a:p>
        </p:txBody>
      </p:sp>
      <p:sp>
        <p:nvSpPr>
          <p:cNvPr id="3" name="Segnaposto contenuto 2">
            <a:extLst>
              <a:ext uri="{FF2B5EF4-FFF2-40B4-BE49-F238E27FC236}">
                <a16:creationId xmlns:a16="http://schemas.microsoft.com/office/drawing/2014/main" id="{FA104CF7-0148-A1A5-69A2-7D6381DF3708}"/>
              </a:ext>
            </a:extLst>
          </p:cNvPr>
          <p:cNvSpPr>
            <a:spLocks noGrp="1"/>
          </p:cNvSpPr>
          <p:nvPr>
            <p:ph idx="1"/>
          </p:nvPr>
        </p:nvSpPr>
        <p:spPr/>
        <p:txBody>
          <a:bodyPr>
            <a:normAutofit lnSpcReduction="10000"/>
          </a:bodyPr>
          <a:lstStyle/>
          <a:p>
            <a:r>
              <a:rPr lang="en-GB" dirty="0"/>
              <a:t>Block 6.A — From Fixed Temporal Mechanisms to Attention</a:t>
            </a:r>
          </a:p>
          <a:p>
            <a:r>
              <a:rPr lang="en-GB" dirty="0"/>
              <a:t>Block 6.B — Attention from First Principles</a:t>
            </a:r>
          </a:p>
          <a:p>
            <a:r>
              <a:rPr lang="en-GB" dirty="0"/>
              <a:t>Block 6.C — Self-Attention in a Temporal Sequence</a:t>
            </a:r>
          </a:p>
          <a:p>
            <a:r>
              <a:rPr lang="en-GB" dirty="0"/>
              <a:t>Block 6.D — Causal and Non-Causal Attention</a:t>
            </a:r>
          </a:p>
          <a:p>
            <a:r>
              <a:rPr lang="en-GB" dirty="0"/>
              <a:t>Block 6.E — Why Temporal Position Must Be Represented</a:t>
            </a:r>
          </a:p>
          <a:p>
            <a:r>
              <a:rPr lang="en-GB" dirty="0"/>
              <a:t>Block 6.F — Multi-Head Attention and the Transformer Block</a:t>
            </a:r>
          </a:p>
          <a:p>
            <a:r>
              <a:rPr lang="en-GB" dirty="0"/>
              <a:t>Block 6.G — Computational Cost of Self-Attention</a:t>
            </a:r>
          </a:p>
          <a:p>
            <a:r>
              <a:rPr lang="en-GB" dirty="0"/>
              <a:t>Block 6.H — Patching Time Series</a:t>
            </a:r>
          </a:p>
          <a:p>
            <a:r>
              <a:rPr lang="en-GB" dirty="0"/>
              <a:t>Block 6.I — </a:t>
            </a:r>
            <a:r>
              <a:rPr lang="en-GB" dirty="0" err="1"/>
              <a:t>PatchTST</a:t>
            </a:r>
            <a:r>
              <a:rPr lang="en-GB" dirty="0"/>
              <a:t> as a Representative Temporal Transformer</a:t>
            </a:r>
          </a:p>
          <a:p>
            <a:r>
              <a:rPr lang="en-GB" dirty="0"/>
              <a:t>Block 6.J — A Map of Selected Modern Temporal Architectures</a:t>
            </a:r>
          </a:p>
        </p:txBody>
      </p:sp>
    </p:spTree>
    <p:extLst>
      <p:ext uri="{BB962C8B-B14F-4D97-AF65-F5344CB8AC3E}">
        <p14:creationId xmlns:p14="http://schemas.microsoft.com/office/powerpoint/2010/main" val="2379470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FCACCD-E27D-2339-15C9-0AC8383A2488}"/>
              </a:ext>
            </a:extLst>
          </p:cNvPr>
          <p:cNvSpPr>
            <a:spLocks noGrp="1"/>
          </p:cNvSpPr>
          <p:nvPr>
            <p:ph type="title"/>
          </p:nvPr>
        </p:nvSpPr>
        <p:spPr/>
        <p:txBody>
          <a:bodyPr/>
          <a:lstStyle/>
          <a:p>
            <a:r>
              <a:rPr lang="en-GB" dirty="0"/>
              <a:t>Block 6.A — From Fixed Temporal Mechanisms to Attention</a:t>
            </a:r>
          </a:p>
        </p:txBody>
      </p:sp>
      <p:sp>
        <p:nvSpPr>
          <p:cNvPr id="3" name="Segnaposto contenuto 2">
            <a:extLst>
              <a:ext uri="{FF2B5EF4-FFF2-40B4-BE49-F238E27FC236}">
                <a16:creationId xmlns:a16="http://schemas.microsoft.com/office/drawing/2014/main" id="{B598A652-86F8-F10B-021C-50BF432C63B5}"/>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944786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462C3E-0468-8B3E-42B2-7986F17DD3BB}"/>
              </a:ext>
            </a:extLst>
          </p:cNvPr>
          <p:cNvSpPr>
            <a:spLocks noGrp="1"/>
          </p:cNvSpPr>
          <p:nvPr>
            <p:ph type="title"/>
          </p:nvPr>
        </p:nvSpPr>
        <p:spPr/>
        <p:txBody>
          <a:bodyPr/>
          <a:lstStyle/>
          <a:p>
            <a:r>
              <a:rPr lang="en-GB" dirty="0"/>
              <a:t>Three different ways to model temporal dependencies</a:t>
            </a:r>
          </a:p>
        </p:txBody>
      </p:sp>
      <p:sp>
        <p:nvSpPr>
          <p:cNvPr id="3" name="Segnaposto contenuto 2">
            <a:extLst>
              <a:ext uri="{FF2B5EF4-FFF2-40B4-BE49-F238E27FC236}">
                <a16:creationId xmlns:a16="http://schemas.microsoft.com/office/drawing/2014/main" id="{0DCF7602-D679-EFF6-EAFF-7255DD0982F1}"/>
              </a:ext>
            </a:extLst>
          </p:cNvPr>
          <p:cNvSpPr>
            <a:spLocks noGrp="1"/>
          </p:cNvSpPr>
          <p:nvPr>
            <p:ph sz="half" idx="1"/>
          </p:nvPr>
        </p:nvSpPr>
        <p:spPr/>
        <p:txBody>
          <a:bodyPr>
            <a:normAutofit fontScale="70000" lnSpcReduction="20000"/>
          </a:bodyPr>
          <a:lstStyle/>
          <a:p>
            <a:r>
              <a:rPr lang="en-GB" dirty="0"/>
              <a:t>So far, we have introduced two main families of learned temporal models.</a:t>
            </a:r>
          </a:p>
          <a:p>
            <a:r>
              <a:rPr lang="en-GB" b="1" dirty="0"/>
              <a:t>Recurrent models</a:t>
            </a:r>
          </a:p>
          <a:p>
            <a:r>
              <a:rPr lang="en-GB" dirty="0"/>
              <a:t>An RNN propagates information through a state:</a:t>
            </a:r>
          </a:p>
          <a:p>
            <a:r>
              <a:rPr lang="en-GB" dirty="0"/>
              <a:t>h[t−1] → h[t]</a:t>
            </a:r>
          </a:p>
          <a:p>
            <a:r>
              <a:rPr lang="en-GB" dirty="0"/>
              <a:t>The current representation depends on the previous one.</a:t>
            </a:r>
          </a:p>
          <a:p>
            <a:r>
              <a:rPr lang="en-GB" dirty="0"/>
              <a:t>Conceptually:</a:t>
            </a:r>
          </a:p>
          <a:p>
            <a:r>
              <a:rPr lang="en-GB" dirty="0"/>
              <a:t>x[1] → h[1] → h[2] → h[3] → ... → h[T]</a:t>
            </a:r>
          </a:p>
          <a:p>
            <a:r>
              <a:rPr lang="en-GB" dirty="0"/>
              <a:t>                     ↑         ↑         ↑</a:t>
            </a:r>
          </a:p>
          <a:p>
            <a:r>
              <a:rPr lang="en-GB" dirty="0"/>
              <a:t>                x[2]       x[3]    x[4]</a:t>
            </a:r>
          </a:p>
          <a:p>
            <a:endParaRPr lang="en-GB" dirty="0"/>
          </a:p>
        </p:txBody>
      </p:sp>
      <p:sp>
        <p:nvSpPr>
          <p:cNvPr id="4" name="Segnaposto contenuto 3">
            <a:extLst>
              <a:ext uri="{FF2B5EF4-FFF2-40B4-BE49-F238E27FC236}">
                <a16:creationId xmlns:a16="http://schemas.microsoft.com/office/drawing/2014/main" id="{9D6EA011-9E12-A749-A69F-5E7670B21591}"/>
              </a:ext>
            </a:extLst>
          </p:cNvPr>
          <p:cNvSpPr>
            <a:spLocks noGrp="1"/>
          </p:cNvSpPr>
          <p:nvPr>
            <p:ph sz="half" idx="2"/>
          </p:nvPr>
        </p:nvSpPr>
        <p:spPr/>
        <p:txBody>
          <a:bodyPr>
            <a:normAutofit fontScale="70000" lnSpcReduction="20000"/>
          </a:bodyPr>
          <a:lstStyle/>
          <a:p>
            <a:r>
              <a:rPr lang="en-GB" b="1" dirty="0"/>
              <a:t>Temporal CNNs</a:t>
            </a:r>
          </a:p>
          <a:p>
            <a:r>
              <a:rPr lang="en-GB" b="1" dirty="0"/>
              <a:t>A CNN combines information through local temporal filters.</a:t>
            </a:r>
          </a:p>
          <a:p>
            <a:r>
              <a:rPr lang="en-GB" dirty="0"/>
              <a:t>Longer context is obtained through:</a:t>
            </a:r>
          </a:p>
          <a:p>
            <a:pPr lvl="1"/>
            <a:r>
              <a:rPr lang="en-GB" dirty="0"/>
              <a:t>depth; </a:t>
            </a:r>
          </a:p>
          <a:p>
            <a:pPr lvl="1"/>
            <a:r>
              <a:rPr lang="en-GB" dirty="0"/>
              <a:t>pooling or stride; </a:t>
            </a:r>
          </a:p>
          <a:p>
            <a:pPr lvl="1"/>
            <a:r>
              <a:rPr lang="en-GB" dirty="0"/>
              <a:t>dilation. </a:t>
            </a:r>
          </a:p>
          <a:p>
            <a:r>
              <a:rPr lang="en-GB" dirty="0"/>
              <a:t>Conceptually:</a:t>
            </a:r>
          </a:p>
          <a:p>
            <a:pPr lvl="1"/>
            <a:r>
              <a:rPr lang="en-GB" dirty="0"/>
              <a:t>input sequence</a:t>
            </a:r>
          </a:p>
          <a:p>
            <a:pPr lvl="1"/>
            <a:r>
              <a:rPr lang="en-GB" dirty="0"/>
              <a:t>      ↓</a:t>
            </a:r>
          </a:p>
          <a:p>
            <a:pPr lvl="1"/>
            <a:r>
              <a:rPr lang="en-GB" dirty="0"/>
              <a:t>local filters</a:t>
            </a:r>
          </a:p>
          <a:p>
            <a:pPr lvl="1"/>
            <a:r>
              <a:rPr lang="en-GB" dirty="0"/>
              <a:t>      ↓</a:t>
            </a:r>
          </a:p>
          <a:p>
            <a:pPr lvl="1"/>
            <a:r>
              <a:rPr lang="en-GB" dirty="0"/>
              <a:t>larger receptive fields</a:t>
            </a:r>
          </a:p>
          <a:p>
            <a:pPr lvl="1"/>
            <a:r>
              <a:rPr lang="en-GB" dirty="0"/>
              <a:t>      ↓</a:t>
            </a:r>
          </a:p>
          <a:p>
            <a:pPr lvl="1"/>
            <a:r>
              <a:rPr lang="en-GB" b="1" dirty="0"/>
              <a:t>temporal representation</a:t>
            </a:r>
          </a:p>
          <a:p>
            <a:endParaRPr lang="en-GB" dirty="0"/>
          </a:p>
        </p:txBody>
      </p:sp>
    </p:spTree>
    <p:extLst>
      <p:ext uri="{BB962C8B-B14F-4D97-AF65-F5344CB8AC3E}">
        <p14:creationId xmlns:p14="http://schemas.microsoft.com/office/powerpoint/2010/main" val="326857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BA5E13-B7BA-1B85-C8ED-5B16B21B905D}"/>
              </a:ext>
            </a:extLst>
          </p:cNvPr>
          <p:cNvSpPr>
            <a:spLocks noGrp="1"/>
          </p:cNvSpPr>
          <p:nvPr>
            <p:ph type="title"/>
          </p:nvPr>
        </p:nvSpPr>
        <p:spPr/>
        <p:txBody>
          <a:bodyPr/>
          <a:lstStyle/>
          <a:p>
            <a:r>
              <a:rPr lang="en-GB" dirty="0"/>
              <a:t>Three different ways to model temporal dependencies</a:t>
            </a:r>
          </a:p>
        </p:txBody>
      </p:sp>
      <p:sp>
        <p:nvSpPr>
          <p:cNvPr id="3" name="Segnaposto contenuto 2">
            <a:extLst>
              <a:ext uri="{FF2B5EF4-FFF2-40B4-BE49-F238E27FC236}">
                <a16:creationId xmlns:a16="http://schemas.microsoft.com/office/drawing/2014/main" id="{1F015A69-03FF-5652-06AE-332D7DD54306}"/>
              </a:ext>
            </a:extLst>
          </p:cNvPr>
          <p:cNvSpPr>
            <a:spLocks noGrp="1"/>
          </p:cNvSpPr>
          <p:nvPr>
            <p:ph idx="1"/>
          </p:nvPr>
        </p:nvSpPr>
        <p:spPr/>
        <p:txBody>
          <a:bodyPr/>
          <a:lstStyle/>
          <a:p>
            <a:r>
              <a:rPr lang="en-GB" b="1" dirty="0"/>
              <a:t>New approach: attention</a:t>
            </a:r>
          </a:p>
          <a:p>
            <a:r>
              <a:rPr lang="en-GB" dirty="0"/>
              <a:t>Attention asks directly:</a:t>
            </a:r>
          </a:p>
          <a:p>
            <a:r>
              <a:rPr lang="en-GB" dirty="0"/>
              <a:t>Which other temporal positions are relevant for the representation I am currently computing?</a:t>
            </a:r>
          </a:p>
          <a:p>
            <a:r>
              <a:rPr lang="en-GB" b="1" dirty="0"/>
              <a:t>Key contrast</a:t>
            </a:r>
          </a:p>
          <a:p>
            <a:r>
              <a:rPr lang="en-GB" dirty="0"/>
              <a:t>RNN        → propagate information through a state</a:t>
            </a:r>
          </a:p>
          <a:p>
            <a:endParaRPr lang="en-GB" dirty="0"/>
          </a:p>
          <a:p>
            <a:r>
              <a:rPr lang="en-GB" dirty="0"/>
              <a:t>CNN / TCN  → propagate information through a receptive field</a:t>
            </a:r>
          </a:p>
          <a:p>
            <a:endParaRPr lang="en-GB" dirty="0"/>
          </a:p>
          <a:p>
            <a:r>
              <a:rPr lang="en-GB" dirty="0"/>
              <a:t>Attention  → directly weight information from relevant positions</a:t>
            </a:r>
          </a:p>
          <a:p>
            <a:endParaRPr lang="en-GB" dirty="0"/>
          </a:p>
        </p:txBody>
      </p:sp>
    </p:spTree>
    <p:extLst>
      <p:ext uri="{BB962C8B-B14F-4D97-AF65-F5344CB8AC3E}">
        <p14:creationId xmlns:p14="http://schemas.microsoft.com/office/powerpoint/2010/main" val="3964390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0"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2"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Three mechanisms for temporal dependencies</a:t>
            </a:r>
            <a:endParaRPr lang="it-IT" sz="2200" b="0" u="none" strike="noStrike">
              <a:solidFill>
                <a:srgbClr val="000000"/>
              </a:solidFill>
              <a:effectLst/>
              <a:uFillTx/>
              <a:latin typeface="Arial"/>
            </a:endParaRPr>
          </a:p>
        </p:txBody>
      </p:sp>
      <p:sp>
        <p:nvSpPr>
          <p:cNvPr id="13"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Recurrent state, convolutional receptive field, and attention-based relevance</a:t>
            </a:r>
            <a:endParaRPr lang="it-IT" sz="1050" b="0" u="none" strike="noStrike">
              <a:solidFill>
                <a:srgbClr val="000000"/>
              </a:solidFill>
              <a:effectLst/>
              <a:uFillTx/>
              <a:latin typeface="Arial"/>
            </a:endParaRPr>
          </a:p>
        </p:txBody>
      </p:sp>
      <p:sp>
        <p:nvSpPr>
          <p:cNvPr id="14" name="Shape 6"/>
          <p:cNvSpPr/>
          <p:nvPr/>
        </p:nvSpPr>
        <p:spPr>
          <a:xfrm>
            <a:off x="685800" y="1417320"/>
            <a:ext cx="1828440" cy="438480"/>
          </a:xfrm>
          <a:prstGeom prst="roundRect">
            <a:avLst>
              <a:gd name="adj" fmla="val 16667"/>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5" name="Text 7"/>
          <p:cNvSpPr/>
          <p:nvPr/>
        </p:nvSpPr>
        <p:spPr>
          <a:xfrm>
            <a:off x="731520" y="1454040"/>
            <a:ext cx="173700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RNN / LSTM / GRU</a:t>
            </a:r>
            <a:endParaRPr lang="it-IT" sz="1100" b="0" u="none" strike="noStrike">
              <a:solidFill>
                <a:srgbClr val="000000"/>
              </a:solidFill>
              <a:effectLst/>
              <a:uFillTx/>
              <a:latin typeface="Arial"/>
            </a:endParaRPr>
          </a:p>
        </p:txBody>
      </p:sp>
      <p:sp>
        <p:nvSpPr>
          <p:cNvPr id="16" name="Shape 8"/>
          <p:cNvSpPr/>
          <p:nvPr/>
        </p:nvSpPr>
        <p:spPr>
          <a:xfrm>
            <a:off x="868680" y="2377440"/>
            <a:ext cx="383760" cy="310680"/>
          </a:xfrm>
          <a:prstGeom prst="roundRect">
            <a:avLst>
              <a:gd name="adj" fmla="val 23529"/>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7" name="Text 9"/>
          <p:cNvSpPr/>
          <p:nvPr/>
        </p:nvSpPr>
        <p:spPr>
          <a:xfrm>
            <a:off x="914400" y="2414160"/>
            <a:ext cx="2923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x1</a:t>
            </a:r>
            <a:endParaRPr lang="it-IT" sz="850" b="0" u="none" strike="noStrike">
              <a:solidFill>
                <a:srgbClr val="000000"/>
              </a:solidFill>
              <a:effectLst/>
              <a:uFillTx/>
              <a:latin typeface="Arial"/>
            </a:endParaRPr>
          </a:p>
        </p:txBody>
      </p:sp>
      <p:sp>
        <p:nvSpPr>
          <p:cNvPr id="18" name="Shape 10"/>
          <p:cNvSpPr/>
          <p:nvPr/>
        </p:nvSpPr>
        <p:spPr>
          <a:xfrm>
            <a:off x="841320" y="2990160"/>
            <a:ext cx="438480" cy="43848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 name="Text 11"/>
          <p:cNvSpPr/>
          <p:nvPr/>
        </p:nvSpPr>
        <p:spPr>
          <a:xfrm>
            <a:off x="841320" y="3008520"/>
            <a:ext cx="4384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h1</a:t>
            </a:r>
            <a:endParaRPr lang="it-IT" sz="750" b="0" u="none" strike="noStrike">
              <a:solidFill>
                <a:srgbClr val="000000"/>
              </a:solidFill>
              <a:effectLst/>
              <a:uFillTx/>
              <a:latin typeface="Arial"/>
            </a:endParaRPr>
          </a:p>
        </p:txBody>
      </p:sp>
      <p:sp>
        <p:nvSpPr>
          <p:cNvPr id="20" name="Shape 12"/>
          <p:cNvSpPr/>
          <p:nvPr/>
        </p:nvSpPr>
        <p:spPr>
          <a:xfrm>
            <a:off x="1261800" y="3209400"/>
            <a:ext cx="246960" cy="360"/>
          </a:xfrm>
          <a:prstGeom prst="line">
            <a:avLst/>
          </a:prstGeom>
          <a:ln w="1524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1" name="Shape 13"/>
          <p:cNvSpPr/>
          <p:nvPr/>
        </p:nvSpPr>
        <p:spPr>
          <a:xfrm>
            <a:off x="1060560" y="2688120"/>
            <a:ext cx="360" cy="301680"/>
          </a:xfrm>
          <a:prstGeom prst="line">
            <a:avLst/>
          </a:prstGeom>
          <a:ln w="1270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 name="Shape 14"/>
          <p:cNvSpPr/>
          <p:nvPr/>
        </p:nvSpPr>
        <p:spPr>
          <a:xfrm>
            <a:off x="1554480" y="2377440"/>
            <a:ext cx="383760" cy="310680"/>
          </a:xfrm>
          <a:prstGeom prst="roundRect">
            <a:avLst>
              <a:gd name="adj" fmla="val 23529"/>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 name="Text 15"/>
          <p:cNvSpPr/>
          <p:nvPr/>
        </p:nvSpPr>
        <p:spPr>
          <a:xfrm>
            <a:off x="1600200" y="2414160"/>
            <a:ext cx="2923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a:t>
            </a:r>
            <a:endParaRPr lang="it-IT" sz="850" b="0" u="none" strike="noStrike">
              <a:solidFill>
                <a:srgbClr val="000000"/>
              </a:solidFill>
              <a:effectLst/>
              <a:uFillTx/>
              <a:latin typeface="Arial"/>
            </a:endParaRPr>
          </a:p>
        </p:txBody>
      </p:sp>
      <p:sp>
        <p:nvSpPr>
          <p:cNvPr id="24" name="Shape 16"/>
          <p:cNvSpPr/>
          <p:nvPr/>
        </p:nvSpPr>
        <p:spPr>
          <a:xfrm>
            <a:off x="1527120" y="2990160"/>
            <a:ext cx="438480" cy="43848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 name="Text 17"/>
          <p:cNvSpPr/>
          <p:nvPr/>
        </p:nvSpPr>
        <p:spPr>
          <a:xfrm>
            <a:off x="1527120" y="3008520"/>
            <a:ext cx="4384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h2</a:t>
            </a:r>
            <a:endParaRPr lang="it-IT" sz="750" b="0" u="none" strike="noStrike">
              <a:solidFill>
                <a:srgbClr val="000000"/>
              </a:solidFill>
              <a:effectLst/>
              <a:uFillTx/>
              <a:latin typeface="Arial"/>
            </a:endParaRPr>
          </a:p>
        </p:txBody>
      </p:sp>
      <p:sp>
        <p:nvSpPr>
          <p:cNvPr id="26" name="Shape 18"/>
          <p:cNvSpPr/>
          <p:nvPr/>
        </p:nvSpPr>
        <p:spPr>
          <a:xfrm>
            <a:off x="1947600" y="3209400"/>
            <a:ext cx="246960" cy="360"/>
          </a:xfrm>
          <a:prstGeom prst="line">
            <a:avLst/>
          </a:prstGeom>
          <a:ln w="1524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7" name="Shape 19"/>
          <p:cNvSpPr/>
          <p:nvPr/>
        </p:nvSpPr>
        <p:spPr>
          <a:xfrm>
            <a:off x="1746360" y="2688120"/>
            <a:ext cx="360" cy="301680"/>
          </a:xfrm>
          <a:prstGeom prst="line">
            <a:avLst/>
          </a:prstGeom>
          <a:ln w="1270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8" name="Shape 20"/>
          <p:cNvSpPr/>
          <p:nvPr/>
        </p:nvSpPr>
        <p:spPr>
          <a:xfrm>
            <a:off x="2240280" y="2377440"/>
            <a:ext cx="383760" cy="310680"/>
          </a:xfrm>
          <a:prstGeom prst="roundRect">
            <a:avLst>
              <a:gd name="adj" fmla="val 23529"/>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9" name="Text 21"/>
          <p:cNvSpPr/>
          <p:nvPr/>
        </p:nvSpPr>
        <p:spPr>
          <a:xfrm>
            <a:off x="2286000" y="2414160"/>
            <a:ext cx="2923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x3</a:t>
            </a:r>
            <a:endParaRPr lang="it-IT" sz="850" b="0" u="none" strike="noStrike">
              <a:solidFill>
                <a:srgbClr val="000000"/>
              </a:solidFill>
              <a:effectLst/>
              <a:uFillTx/>
              <a:latin typeface="Arial"/>
            </a:endParaRPr>
          </a:p>
        </p:txBody>
      </p:sp>
      <p:sp>
        <p:nvSpPr>
          <p:cNvPr id="30" name="Shape 22"/>
          <p:cNvSpPr/>
          <p:nvPr/>
        </p:nvSpPr>
        <p:spPr>
          <a:xfrm>
            <a:off x="2212920" y="2990160"/>
            <a:ext cx="438480" cy="43848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 name="Text 23"/>
          <p:cNvSpPr/>
          <p:nvPr/>
        </p:nvSpPr>
        <p:spPr>
          <a:xfrm>
            <a:off x="2212920" y="3008520"/>
            <a:ext cx="4384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h3</a:t>
            </a:r>
            <a:endParaRPr lang="it-IT" sz="750" b="0" u="none" strike="noStrike">
              <a:solidFill>
                <a:srgbClr val="000000"/>
              </a:solidFill>
              <a:effectLst/>
              <a:uFillTx/>
              <a:latin typeface="Arial"/>
            </a:endParaRPr>
          </a:p>
        </p:txBody>
      </p:sp>
      <p:sp>
        <p:nvSpPr>
          <p:cNvPr id="32" name="Shape 24"/>
          <p:cNvSpPr/>
          <p:nvPr/>
        </p:nvSpPr>
        <p:spPr>
          <a:xfrm>
            <a:off x="2633400" y="3209400"/>
            <a:ext cx="246960" cy="360"/>
          </a:xfrm>
          <a:prstGeom prst="line">
            <a:avLst/>
          </a:prstGeom>
          <a:ln w="1524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3" name="Shape 25"/>
          <p:cNvSpPr/>
          <p:nvPr/>
        </p:nvSpPr>
        <p:spPr>
          <a:xfrm>
            <a:off x="2432160" y="2688120"/>
            <a:ext cx="360" cy="301680"/>
          </a:xfrm>
          <a:prstGeom prst="line">
            <a:avLst/>
          </a:prstGeom>
          <a:ln w="1270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4" name="Shape 26"/>
          <p:cNvSpPr/>
          <p:nvPr/>
        </p:nvSpPr>
        <p:spPr>
          <a:xfrm>
            <a:off x="2926080" y="2377440"/>
            <a:ext cx="383760" cy="310680"/>
          </a:xfrm>
          <a:prstGeom prst="roundRect">
            <a:avLst>
              <a:gd name="adj" fmla="val 23529"/>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 name="Text 27"/>
          <p:cNvSpPr/>
          <p:nvPr/>
        </p:nvSpPr>
        <p:spPr>
          <a:xfrm>
            <a:off x="2971800" y="2414160"/>
            <a:ext cx="2923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x4</a:t>
            </a:r>
            <a:endParaRPr lang="it-IT" sz="850" b="0" u="none" strike="noStrike">
              <a:solidFill>
                <a:srgbClr val="000000"/>
              </a:solidFill>
              <a:effectLst/>
              <a:uFillTx/>
              <a:latin typeface="Arial"/>
            </a:endParaRPr>
          </a:p>
        </p:txBody>
      </p:sp>
      <p:sp>
        <p:nvSpPr>
          <p:cNvPr id="36" name="Shape 28"/>
          <p:cNvSpPr/>
          <p:nvPr/>
        </p:nvSpPr>
        <p:spPr>
          <a:xfrm>
            <a:off x="2898720" y="2990160"/>
            <a:ext cx="438480" cy="43848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 name="Text 29"/>
          <p:cNvSpPr/>
          <p:nvPr/>
        </p:nvSpPr>
        <p:spPr>
          <a:xfrm>
            <a:off x="2898720" y="3008520"/>
            <a:ext cx="4384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h4</a:t>
            </a:r>
            <a:endParaRPr lang="it-IT" sz="750" b="0" u="none" strike="noStrike">
              <a:solidFill>
                <a:srgbClr val="000000"/>
              </a:solidFill>
              <a:effectLst/>
              <a:uFillTx/>
              <a:latin typeface="Arial"/>
            </a:endParaRPr>
          </a:p>
        </p:txBody>
      </p:sp>
      <p:sp>
        <p:nvSpPr>
          <p:cNvPr id="38" name="Shape 30"/>
          <p:cNvSpPr/>
          <p:nvPr/>
        </p:nvSpPr>
        <p:spPr>
          <a:xfrm>
            <a:off x="3319200" y="3209400"/>
            <a:ext cx="246960" cy="360"/>
          </a:xfrm>
          <a:prstGeom prst="line">
            <a:avLst/>
          </a:prstGeom>
          <a:ln w="1524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9" name="Shape 31"/>
          <p:cNvSpPr/>
          <p:nvPr/>
        </p:nvSpPr>
        <p:spPr>
          <a:xfrm>
            <a:off x="3117960" y="2688120"/>
            <a:ext cx="360" cy="301680"/>
          </a:xfrm>
          <a:prstGeom prst="line">
            <a:avLst/>
          </a:prstGeom>
          <a:ln w="1270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0" name="Shape 32"/>
          <p:cNvSpPr/>
          <p:nvPr/>
        </p:nvSpPr>
        <p:spPr>
          <a:xfrm>
            <a:off x="3611880" y="2377440"/>
            <a:ext cx="383760" cy="310680"/>
          </a:xfrm>
          <a:prstGeom prst="roundRect">
            <a:avLst>
              <a:gd name="adj" fmla="val 23529"/>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 name="Text 33"/>
          <p:cNvSpPr/>
          <p:nvPr/>
        </p:nvSpPr>
        <p:spPr>
          <a:xfrm>
            <a:off x="3657600" y="2414160"/>
            <a:ext cx="2923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x5</a:t>
            </a:r>
            <a:endParaRPr lang="it-IT" sz="850" b="0" u="none" strike="noStrike">
              <a:solidFill>
                <a:srgbClr val="000000"/>
              </a:solidFill>
              <a:effectLst/>
              <a:uFillTx/>
              <a:latin typeface="Arial"/>
            </a:endParaRPr>
          </a:p>
        </p:txBody>
      </p:sp>
      <p:sp>
        <p:nvSpPr>
          <p:cNvPr id="42" name="Shape 34"/>
          <p:cNvSpPr/>
          <p:nvPr/>
        </p:nvSpPr>
        <p:spPr>
          <a:xfrm>
            <a:off x="3584520" y="2990160"/>
            <a:ext cx="438480" cy="43848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 name="Text 35"/>
          <p:cNvSpPr/>
          <p:nvPr/>
        </p:nvSpPr>
        <p:spPr>
          <a:xfrm>
            <a:off x="3584520" y="3008520"/>
            <a:ext cx="4384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h5</a:t>
            </a:r>
            <a:endParaRPr lang="it-IT" sz="750" b="0" u="none" strike="noStrike">
              <a:solidFill>
                <a:srgbClr val="000000"/>
              </a:solidFill>
              <a:effectLst/>
              <a:uFillTx/>
              <a:latin typeface="Arial"/>
            </a:endParaRPr>
          </a:p>
        </p:txBody>
      </p:sp>
      <p:sp>
        <p:nvSpPr>
          <p:cNvPr id="44" name="Shape 36"/>
          <p:cNvSpPr/>
          <p:nvPr/>
        </p:nvSpPr>
        <p:spPr>
          <a:xfrm>
            <a:off x="3801271" y="2669760"/>
            <a:ext cx="360" cy="301680"/>
          </a:xfrm>
          <a:prstGeom prst="line">
            <a:avLst/>
          </a:prstGeom>
          <a:ln w="1270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5" name="Text 37"/>
          <p:cNvSpPr/>
          <p:nvPr/>
        </p:nvSpPr>
        <p:spPr>
          <a:xfrm>
            <a:off x="749880" y="3566160"/>
            <a:ext cx="37944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sequential state propagation</a:t>
            </a:r>
            <a:endParaRPr lang="it-IT" sz="850" b="0" u="none" strike="noStrike">
              <a:solidFill>
                <a:srgbClr val="000000"/>
              </a:solidFill>
              <a:effectLst/>
              <a:uFillTx/>
              <a:latin typeface="Arial"/>
            </a:endParaRPr>
          </a:p>
        </p:txBody>
      </p:sp>
      <p:sp>
        <p:nvSpPr>
          <p:cNvPr id="46" name="Shape 38"/>
          <p:cNvSpPr/>
          <p:nvPr/>
        </p:nvSpPr>
        <p:spPr>
          <a:xfrm>
            <a:off x="4160520" y="1417320"/>
            <a:ext cx="1828440" cy="438480"/>
          </a:xfrm>
          <a:prstGeom prst="roundRect">
            <a:avLst>
              <a:gd name="adj" fmla="val 16667"/>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 name="Text 39"/>
          <p:cNvSpPr/>
          <p:nvPr/>
        </p:nvSpPr>
        <p:spPr>
          <a:xfrm>
            <a:off x="4206240" y="1454040"/>
            <a:ext cx="173700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Temporal CNN / TCN</a:t>
            </a:r>
            <a:endParaRPr lang="it-IT" sz="1100" b="0" u="none" strike="noStrike">
              <a:solidFill>
                <a:srgbClr val="000000"/>
              </a:solidFill>
              <a:effectLst/>
              <a:uFillTx/>
              <a:latin typeface="Arial"/>
            </a:endParaRPr>
          </a:p>
        </p:txBody>
      </p:sp>
      <p:sp>
        <p:nvSpPr>
          <p:cNvPr id="48" name="Shape 40"/>
          <p:cNvSpPr/>
          <p:nvPr/>
        </p:nvSpPr>
        <p:spPr>
          <a:xfrm>
            <a:off x="414720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 name="Text 41"/>
          <p:cNvSpPr/>
          <p:nvPr/>
        </p:nvSpPr>
        <p:spPr>
          <a:xfrm>
            <a:off x="419292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x1</a:t>
            </a:r>
            <a:endParaRPr lang="it-IT" sz="850" b="0" u="none" strike="noStrike">
              <a:solidFill>
                <a:srgbClr val="000000"/>
              </a:solidFill>
              <a:effectLst/>
              <a:uFillTx/>
              <a:latin typeface="Arial"/>
            </a:endParaRPr>
          </a:p>
        </p:txBody>
      </p:sp>
      <p:sp>
        <p:nvSpPr>
          <p:cNvPr id="50" name="Shape 42"/>
          <p:cNvSpPr/>
          <p:nvPr/>
        </p:nvSpPr>
        <p:spPr>
          <a:xfrm>
            <a:off x="457704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 name="Text 43"/>
          <p:cNvSpPr/>
          <p:nvPr/>
        </p:nvSpPr>
        <p:spPr>
          <a:xfrm>
            <a:off x="462276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a:t>
            </a:r>
            <a:endParaRPr lang="it-IT" sz="850" b="0" u="none" strike="noStrike">
              <a:solidFill>
                <a:srgbClr val="000000"/>
              </a:solidFill>
              <a:effectLst/>
              <a:uFillTx/>
              <a:latin typeface="Arial"/>
            </a:endParaRPr>
          </a:p>
        </p:txBody>
      </p:sp>
      <p:sp>
        <p:nvSpPr>
          <p:cNvPr id="52" name="Shape 44"/>
          <p:cNvSpPr/>
          <p:nvPr/>
        </p:nvSpPr>
        <p:spPr>
          <a:xfrm>
            <a:off x="500688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 name="Text 45"/>
          <p:cNvSpPr/>
          <p:nvPr/>
        </p:nvSpPr>
        <p:spPr>
          <a:xfrm>
            <a:off x="505260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x3</a:t>
            </a:r>
            <a:endParaRPr lang="it-IT" sz="850" b="0" u="none" strike="noStrike">
              <a:solidFill>
                <a:srgbClr val="000000"/>
              </a:solidFill>
              <a:effectLst/>
              <a:uFillTx/>
              <a:latin typeface="Arial"/>
            </a:endParaRPr>
          </a:p>
        </p:txBody>
      </p:sp>
      <p:sp>
        <p:nvSpPr>
          <p:cNvPr id="54" name="Shape 46"/>
          <p:cNvSpPr/>
          <p:nvPr/>
        </p:nvSpPr>
        <p:spPr>
          <a:xfrm>
            <a:off x="543636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 name="Text 47"/>
          <p:cNvSpPr/>
          <p:nvPr/>
        </p:nvSpPr>
        <p:spPr>
          <a:xfrm>
            <a:off x="548208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x4</a:t>
            </a:r>
            <a:endParaRPr lang="it-IT" sz="850" b="0" u="none" strike="noStrike">
              <a:solidFill>
                <a:srgbClr val="000000"/>
              </a:solidFill>
              <a:effectLst/>
              <a:uFillTx/>
              <a:latin typeface="Arial"/>
            </a:endParaRPr>
          </a:p>
        </p:txBody>
      </p:sp>
      <p:sp>
        <p:nvSpPr>
          <p:cNvPr id="56" name="Shape 48"/>
          <p:cNvSpPr/>
          <p:nvPr/>
        </p:nvSpPr>
        <p:spPr>
          <a:xfrm>
            <a:off x="586620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 name="Text 49"/>
          <p:cNvSpPr/>
          <p:nvPr/>
        </p:nvSpPr>
        <p:spPr>
          <a:xfrm>
            <a:off x="591192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x5</a:t>
            </a:r>
            <a:endParaRPr lang="it-IT" sz="850" b="0" u="none" strike="noStrike">
              <a:solidFill>
                <a:srgbClr val="000000"/>
              </a:solidFill>
              <a:effectLst/>
              <a:uFillTx/>
              <a:latin typeface="Arial"/>
            </a:endParaRPr>
          </a:p>
        </p:txBody>
      </p:sp>
      <p:sp>
        <p:nvSpPr>
          <p:cNvPr id="58" name="Shape 50"/>
          <p:cNvSpPr/>
          <p:nvPr/>
        </p:nvSpPr>
        <p:spPr>
          <a:xfrm>
            <a:off x="629604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 name="Text 51"/>
          <p:cNvSpPr/>
          <p:nvPr/>
        </p:nvSpPr>
        <p:spPr>
          <a:xfrm>
            <a:off x="634176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x6</a:t>
            </a:r>
            <a:endParaRPr lang="it-IT" sz="850" b="0" u="none" strike="noStrike">
              <a:solidFill>
                <a:srgbClr val="000000"/>
              </a:solidFill>
              <a:effectLst/>
              <a:uFillTx/>
              <a:latin typeface="Arial"/>
            </a:endParaRPr>
          </a:p>
        </p:txBody>
      </p:sp>
      <p:sp>
        <p:nvSpPr>
          <p:cNvPr id="60" name="Shape 52"/>
          <p:cNvSpPr/>
          <p:nvPr/>
        </p:nvSpPr>
        <p:spPr>
          <a:xfrm>
            <a:off x="6725880" y="4284360"/>
            <a:ext cx="301320" cy="29232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1" name="Text 53"/>
          <p:cNvSpPr/>
          <p:nvPr/>
        </p:nvSpPr>
        <p:spPr>
          <a:xfrm>
            <a:off x="6771600" y="4321080"/>
            <a:ext cx="209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x7</a:t>
            </a:r>
            <a:endParaRPr lang="it-IT" sz="850" b="0" u="none" strike="noStrike">
              <a:solidFill>
                <a:srgbClr val="000000"/>
              </a:solidFill>
              <a:effectLst/>
              <a:uFillTx/>
              <a:latin typeface="Arial"/>
            </a:endParaRPr>
          </a:p>
        </p:txBody>
      </p:sp>
      <p:sp>
        <p:nvSpPr>
          <p:cNvPr id="62" name="Shape 54"/>
          <p:cNvSpPr/>
          <p:nvPr/>
        </p:nvSpPr>
        <p:spPr>
          <a:xfrm>
            <a:off x="4119840" y="4787280"/>
            <a:ext cx="1051200" cy="347040"/>
          </a:xfrm>
          <a:prstGeom prst="rect">
            <a:avLst/>
          </a:prstGeom>
          <a:solidFill>
            <a:srgbClr val="EAF2FE">
              <a:alpha val="80000"/>
            </a:srgbClr>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3" name="Shape 55"/>
          <p:cNvSpPr/>
          <p:nvPr/>
        </p:nvSpPr>
        <p:spPr>
          <a:xfrm>
            <a:off x="4650120" y="5134680"/>
            <a:ext cx="360" cy="274320"/>
          </a:xfrm>
          <a:prstGeom prst="line">
            <a:avLst/>
          </a:prstGeom>
          <a:ln w="13970">
            <a:solidFill>
              <a:srgbClr val="2F80E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4" name="Shape 56"/>
          <p:cNvSpPr/>
          <p:nvPr/>
        </p:nvSpPr>
        <p:spPr>
          <a:xfrm>
            <a:off x="4476240" y="5409000"/>
            <a:ext cx="328680" cy="328680"/>
          </a:xfrm>
          <a:prstGeom prst="ellipse">
            <a:avLst/>
          </a:prstGeom>
          <a:solidFill>
            <a:srgbClr val="2F80ED"/>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65" name="Text 57"/>
          <p:cNvSpPr/>
          <p:nvPr/>
        </p:nvSpPr>
        <p:spPr>
          <a:xfrm>
            <a:off x="4476240" y="5427360"/>
            <a:ext cx="328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66" name="Shape 58"/>
          <p:cNvSpPr/>
          <p:nvPr/>
        </p:nvSpPr>
        <p:spPr>
          <a:xfrm>
            <a:off x="4549680" y="4787280"/>
            <a:ext cx="1051200" cy="347040"/>
          </a:xfrm>
          <a:prstGeom prst="rect">
            <a:avLst/>
          </a:prstGeom>
          <a:solidFill>
            <a:srgbClr val="EAF2FE">
              <a:alpha val="80000"/>
            </a:srgbClr>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7" name="Shape 59"/>
          <p:cNvSpPr/>
          <p:nvPr/>
        </p:nvSpPr>
        <p:spPr>
          <a:xfrm>
            <a:off x="5079600" y="5134680"/>
            <a:ext cx="360" cy="274320"/>
          </a:xfrm>
          <a:prstGeom prst="line">
            <a:avLst/>
          </a:prstGeom>
          <a:ln w="13970">
            <a:solidFill>
              <a:srgbClr val="2F80E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8" name="Shape 60"/>
          <p:cNvSpPr/>
          <p:nvPr/>
        </p:nvSpPr>
        <p:spPr>
          <a:xfrm>
            <a:off x="4906080" y="5409000"/>
            <a:ext cx="328680" cy="328680"/>
          </a:xfrm>
          <a:prstGeom prst="ellipse">
            <a:avLst/>
          </a:prstGeom>
          <a:solidFill>
            <a:srgbClr val="2F80ED"/>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69" name="Text 61"/>
          <p:cNvSpPr/>
          <p:nvPr/>
        </p:nvSpPr>
        <p:spPr>
          <a:xfrm>
            <a:off x="4906080" y="5427360"/>
            <a:ext cx="328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70" name="Shape 62"/>
          <p:cNvSpPr/>
          <p:nvPr/>
        </p:nvSpPr>
        <p:spPr>
          <a:xfrm>
            <a:off x="4979160" y="4787280"/>
            <a:ext cx="1051200" cy="347040"/>
          </a:xfrm>
          <a:prstGeom prst="rect">
            <a:avLst/>
          </a:prstGeom>
          <a:solidFill>
            <a:srgbClr val="EAF2FE">
              <a:alpha val="80000"/>
            </a:srgbClr>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1" name="Shape 63"/>
          <p:cNvSpPr/>
          <p:nvPr/>
        </p:nvSpPr>
        <p:spPr>
          <a:xfrm>
            <a:off x="5509440" y="5134680"/>
            <a:ext cx="360" cy="274320"/>
          </a:xfrm>
          <a:prstGeom prst="line">
            <a:avLst/>
          </a:prstGeom>
          <a:ln w="13970">
            <a:solidFill>
              <a:srgbClr val="2F80E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2" name="Shape 64"/>
          <p:cNvSpPr/>
          <p:nvPr/>
        </p:nvSpPr>
        <p:spPr>
          <a:xfrm>
            <a:off x="5335920" y="5409000"/>
            <a:ext cx="328680" cy="328680"/>
          </a:xfrm>
          <a:prstGeom prst="ellipse">
            <a:avLst/>
          </a:prstGeom>
          <a:solidFill>
            <a:srgbClr val="2F80ED"/>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73" name="Text 65"/>
          <p:cNvSpPr/>
          <p:nvPr/>
        </p:nvSpPr>
        <p:spPr>
          <a:xfrm>
            <a:off x="5335920" y="5427360"/>
            <a:ext cx="328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74" name="Shape 66"/>
          <p:cNvSpPr/>
          <p:nvPr/>
        </p:nvSpPr>
        <p:spPr>
          <a:xfrm>
            <a:off x="5409000" y="4787280"/>
            <a:ext cx="1051200" cy="347040"/>
          </a:xfrm>
          <a:prstGeom prst="rect">
            <a:avLst/>
          </a:prstGeom>
          <a:solidFill>
            <a:srgbClr val="EAF2FE">
              <a:alpha val="80000"/>
            </a:srgbClr>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5" name="Shape 67"/>
          <p:cNvSpPr/>
          <p:nvPr/>
        </p:nvSpPr>
        <p:spPr>
          <a:xfrm>
            <a:off x="5939280" y="5134680"/>
            <a:ext cx="360" cy="274320"/>
          </a:xfrm>
          <a:prstGeom prst="line">
            <a:avLst/>
          </a:prstGeom>
          <a:ln w="13970">
            <a:solidFill>
              <a:srgbClr val="2F80E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6" name="Shape 68"/>
          <p:cNvSpPr/>
          <p:nvPr/>
        </p:nvSpPr>
        <p:spPr>
          <a:xfrm>
            <a:off x="5765760" y="5409000"/>
            <a:ext cx="328680" cy="328680"/>
          </a:xfrm>
          <a:prstGeom prst="ellipse">
            <a:avLst/>
          </a:prstGeom>
          <a:solidFill>
            <a:srgbClr val="2F80ED"/>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77" name="Text 69"/>
          <p:cNvSpPr/>
          <p:nvPr/>
        </p:nvSpPr>
        <p:spPr>
          <a:xfrm>
            <a:off x="5765760" y="5427360"/>
            <a:ext cx="328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78" name="Text 70"/>
          <p:cNvSpPr/>
          <p:nvPr/>
        </p:nvSpPr>
        <p:spPr>
          <a:xfrm>
            <a:off x="4019220" y="5898960"/>
            <a:ext cx="28342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dirty="0">
                <a:solidFill>
                  <a:srgbClr val="475467"/>
                </a:solidFill>
                <a:effectLst/>
                <a:uFillTx/>
                <a:latin typeface="Aptos"/>
                <a:ea typeface="Aptos"/>
              </a:rPr>
              <a:t>local filters + receptive fields</a:t>
            </a:r>
            <a:endParaRPr lang="it-IT" sz="850" b="0" u="none" strike="noStrike" dirty="0">
              <a:solidFill>
                <a:srgbClr val="000000"/>
              </a:solidFill>
              <a:effectLst/>
              <a:uFillTx/>
              <a:latin typeface="Arial"/>
            </a:endParaRPr>
          </a:p>
        </p:txBody>
      </p:sp>
      <p:sp>
        <p:nvSpPr>
          <p:cNvPr id="79" name="Shape 71"/>
          <p:cNvSpPr/>
          <p:nvPr/>
        </p:nvSpPr>
        <p:spPr>
          <a:xfrm>
            <a:off x="7178040" y="1417320"/>
            <a:ext cx="1828440" cy="438480"/>
          </a:xfrm>
          <a:prstGeom prst="roundRect">
            <a:avLst>
              <a:gd name="adj" fmla="val 16667"/>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0" name="Text 72"/>
          <p:cNvSpPr/>
          <p:nvPr/>
        </p:nvSpPr>
        <p:spPr>
          <a:xfrm>
            <a:off x="7223760" y="1454040"/>
            <a:ext cx="173700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Attention</a:t>
            </a:r>
            <a:endParaRPr lang="it-IT" sz="1100" b="0" u="none" strike="noStrike">
              <a:solidFill>
                <a:srgbClr val="000000"/>
              </a:solidFill>
              <a:effectLst/>
              <a:uFillTx/>
              <a:latin typeface="Arial"/>
            </a:endParaRPr>
          </a:p>
        </p:txBody>
      </p:sp>
      <p:sp>
        <p:nvSpPr>
          <p:cNvPr id="81" name="Shape 73"/>
          <p:cNvSpPr/>
          <p:nvPr/>
        </p:nvSpPr>
        <p:spPr>
          <a:xfrm>
            <a:off x="7150680" y="2377440"/>
            <a:ext cx="310680" cy="29232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2" name="Text 74"/>
          <p:cNvSpPr/>
          <p:nvPr/>
        </p:nvSpPr>
        <p:spPr>
          <a:xfrm>
            <a:off x="7196400" y="2414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x1</a:t>
            </a:r>
            <a:endParaRPr lang="it-IT" sz="850" b="0" u="none" strike="noStrike">
              <a:solidFill>
                <a:srgbClr val="000000"/>
              </a:solidFill>
              <a:effectLst/>
              <a:uFillTx/>
              <a:latin typeface="Arial"/>
            </a:endParaRPr>
          </a:p>
        </p:txBody>
      </p:sp>
      <p:sp>
        <p:nvSpPr>
          <p:cNvPr id="83" name="Shape 75"/>
          <p:cNvSpPr/>
          <p:nvPr/>
        </p:nvSpPr>
        <p:spPr>
          <a:xfrm>
            <a:off x="7626240" y="2377440"/>
            <a:ext cx="310680" cy="29232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4" name="Text 76"/>
          <p:cNvSpPr/>
          <p:nvPr/>
        </p:nvSpPr>
        <p:spPr>
          <a:xfrm>
            <a:off x="7671960" y="2414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a:t>
            </a:r>
            <a:endParaRPr lang="it-IT" sz="850" b="0" u="none" strike="noStrike">
              <a:solidFill>
                <a:srgbClr val="000000"/>
              </a:solidFill>
              <a:effectLst/>
              <a:uFillTx/>
              <a:latin typeface="Arial"/>
            </a:endParaRPr>
          </a:p>
        </p:txBody>
      </p:sp>
      <p:sp>
        <p:nvSpPr>
          <p:cNvPr id="85" name="Shape 77"/>
          <p:cNvSpPr/>
          <p:nvPr/>
        </p:nvSpPr>
        <p:spPr>
          <a:xfrm>
            <a:off x="8101440" y="2377440"/>
            <a:ext cx="310680" cy="29232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6" name="Text 78"/>
          <p:cNvSpPr/>
          <p:nvPr/>
        </p:nvSpPr>
        <p:spPr>
          <a:xfrm>
            <a:off x="8147160" y="2414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x3</a:t>
            </a:r>
            <a:endParaRPr lang="it-IT" sz="850" b="0" u="none" strike="noStrike">
              <a:solidFill>
                <a:srgbClr val="000000"/>
              </a:solidFill>
              <a:effectLst/>
              <a:uFillTx/>
              <a:latin typeface="Arial"/>
            </a:endParaRPr>
          </a:p>
        </p:txBody>
      </p:sp>
      <p:sp>
        <p:nvSpPr>
          <p:cNvPr id="87" name="Shape 79"/>
          <p:cNvSpPr/>
          <p:nvPr/>
        </p:nvSpPr>
        <p:spPr>
          <a:xfrm>
            <a:off x="8577000" y="2377440"/>
            <a:ext cx="310680" cy="29232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8" name="Text 80"/>
          <p:cNvSpPr/>
          <p:nvPr/>
        </p:nvSpPr>
        <p:spPr>
          <a:xfrm>
            <a:off x="8622720" y="2414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x4</a:t>
            </a:r>
            <a:endParaRPr lang="it-IT" sz="850" b="0" u="none" strike="noStrike">
              <a:solidFill>
                <a:srgbClr val="000000"/>
              </a:solidFill>
              <a:effectLst/>
              <a:uFillTx/>
              <a:latin typeface="Arial"/>
            </a:endParaRPr>
          </a:p>
        </p:txBody>
      </p:sp>
      <p:sp>
        <p:nvSpPr>
          <p:cNvPr id="89" name="Shape 81"/>
          <p:cNvSpPr/>
          <p:nvPr/>
        </p:nvSpPr>
        <p:spPr>
          <a:xfrm>
            <a:off x="9052560" y="2377440"/>
            <a:ext cx="310680" cy="29232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0" name="Text 82"/>
          <p:cNvSpPr/>
          <p:nvPr/>
        </p:nvSpPr>
        <p:spPr>
          <a:xfrm>
            <a:off x="9098280" y="2414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x5</a:t>
            </a:r>
            <a:endParaRPr lang="it-IT" sz="850" b="0" u="none" strike="noStrike">
              <a:solidFill>
                <a:srgbClr val="000000"/>
              </a:solidFill>
              <a:effectLst/>
              <a:uFillTx/>
              <a:latin typeface="Arial"/>
            </a:endParaRPr>
          </a:p>
        </p:txBody>
      </p:sp>
      <p:sp>
        <p:nvSpPr>
          <p:cNvPr id="91" name="Shape 83"/>
          <p:cNvSpPr/>
          <p:nvPr/>
        </p:nvSpPr>
        <p:spPr>
          <a:xfrm>
            <a:off x="9528120" y="2377440"/>
            <a:ext cx="310680" cy="29232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2" name="Text 84"/>
          <p:cNvSpPr/>
          <p:nvPr/>
        </p:nvSpPr>
        <p:spPr>
          <a:xfrm>
            <a:off x="9573840" y="2414160"/>
            <a:ext cx="2192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x6</a:t>
            </a:r>
            <a:endParaRPr lang="it-IT" sz="850" b="0" u="none" strike="noStrike">
              <a:solidFill>
                <a:srgbClr val="000000"/>
              </a:solidFill>
              <a:effectLst/>
              <a:uFillTx/>
              <a:latin typeface="Arial"/>
            </a:endParaRPr>
          </a:p>
        </p:txBody>
      </p:sp>
      <p:sp>
        <p:nvSpPr>
          <p:cNvPr id="93" name="Shape 85"/>
          <p:cNvSpPr/>
          <p:nvPr/>
        </p:nvSpPr>
        <p:spPr>
          <a:xfrm>
            <a:off x="8101440" y="3474720"/>
            <a:ext cx="456840" cy="456840"/>
          </a:xfrm>
          <a:prstGeom prst="ellipse">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4" name="Text 86"/>
          <p:cNvSpPr/>
          <p:nvPr/>
        </p:nvSpPr>
        <p:spPr>
          <a:xfrm>
            <a:off x="8101440" y="3493080"/>
            <a:ext cx="45684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101828"/>
                </a:solidFill>
                <a:effectLst/>
                <a:uFillTx/>
                <a:latin typeface="Aptos"/>
              </a:rPr>
              <a:t>t</a:t>
            </a:r>
            <a:endParaRPr lang="it-IT" sz="1000" b="0" u="none" strike="noStrike">
              <a:solidFill>
                <a:srgbClr val="000000"/>
              </a:solidFill>
              <a:effectLst/>
              <a:uFillTx/>
              <a:latin typeface="Arial"/>
            </a:endParaRPr>
          </a:p>
        </p:txBody>
      </p:sp>
      <p:sp>
        <p:nvSpPr>
          <p:cNvPr id="95" name="Shape 87"/>
          <p:cNvSpPr/>
          <p:nvPr/>
        </p:nvSpPr>
        <p:spPr>
          <a:xfrm flipH="1" flipV="1">
            <a:off x="7461360" y="2688120"/>
            <a:ext cx="868680" cy="786600"/>
          </a:xfrm>
          <a:prstGeom prst="line">
            <a:avLst/>
          </a:prstGeom>
          <a:ln w="1397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6" name="Shape 88"/>
          <p:cNvSpPr/>
          <p:nvPr/>
        </p:nvSpPr>
        <p:spPr>
          <a:xfrm flipH="1" flipV="1">
            <a:off x="7936920" y="2688120"/>
            <a:ext cx="393120" cy="7866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7" name="Shape 89"/>
          <p:cNvSpPr/>
          <p:nvPr/>
        </p:nvSpPr>
        <p:spPr>
          <a:xfrm flipV="1">
            <a:off x="8330040" y="2688120"/>
            <a:ext cx="82440" cy="7866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8" name="Shape 90"/>
          <p:cNvSpPr/>
          <p:nvPr/>
        </p:nvSpPr>
        <p:spPr>
          <a:xfrm flipV="1">
            <a:off x="8330040" y="2688120"/>
            <a:ext cx="557640" cy="786600"/>
          </a:xfrm>
          <a:prstGeom prst="line">
            <a:avLst/>
          </a:prstGeom>
          <a:ln w="1397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9" name="Shape 91"/>
          <p:cNvSpPr/>
          <p:nvPr/>
        </p:nvSpPr>
        <p:spPr>
          <a:xfrm flipV="1">
            <a:off x="8330040" y="2688120"/>
            <a:ext cx="1033200" cy="786600"/>
          </a:xfrm>
          <a:prstGeom prst="line">
            <a:avLst/>
          </a:prstGeom>
          <a:ln w="2794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00" name="Shape 92"/>
          <p:cNvSpPr/>
          <p:nvPr/>
        </p:nvSpPr>
        <p:spPr>
          <a:xfrm flipV="1">
            <a:off x="8330040" y="2688120"/>
            <a:ext cx="1508760" cy="7866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01" name="Text 93"/>
          <p:cNvSpPr/>
          <p:nvPr/>
        </p:nvSpPr>
        <p:spPr>
          <a:xfrm>
            <a:off x="6995160" y="40233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content-dependent weighting</a:t>
            </a:r>
            <a:endParaRPr lang="it-IT" sz="850" b="0" u="none" strike="noStrike">
              <a:solidFill>
                <a:srgbClr val="000000"/>
              </a:solidFill>
              <a:effectLst/>
              <a:uFillTx/>
              <a:latin typeface="Arial"/>
            </a:endParaRPr>
          </a:p>
        </p:txBody>
      </p:sp>
      <p:sp>
        <p:nvSpPr>
          <p:cNvPr id="102" name="Text 94"/>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475467"/>
                </a:solidFill>
                <a:effectLst/>
                <a:uFillTx/>
                <a:latin typeface="Aptos"/>
              </a:rPr>
              <a:t>Key idea: attention learns which represented positions should interact for the current input.</a:t>
            </a:r>
            <a:endParaRPr lang="it-IT" sz="9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E4909F-1A3E-E470-3210-1F1BE523A931}"/>
              </a:ext>
            </a:extLst>
          </p:cNvPr>
          <p:cNvSpPr>
            <a:spLocks noGrp="1"/>
          </p:cNvSpPr>
          <p:nvPr>
            <p:ph type="title"/>
          </p:nvPr>
        </p:nvSpPr>
        <p:spPr/>
        <p:txBody>
          <a:bodyPr/>
          <a:lstStyle/>
          <a:p>
            <a:r>
              <a:rPr lang="en-GB" dirty="0"/>
              <a:t>Long-range interaction in RNNs and CNNs</a:t>
            </a:r>
          </a:p>
        </p:txBody>
      </p:sp>
      <p:sp>
        <p:nvSpPr>
          <p:cNvPr id="3" name="Segnaposto contenuto 2">
            <a:extLst>
              <a:ext uri="{FF2B5EF4-FFF2-40B4-BE49-F238E27FC236}">
                <a16:creationId xmlns:a16="http://schemas.microsoft.com/office/drawing/2014/main" id="{B666EE65-AF92-7A91-3B0C-A362008B11C6}"/>
              </a:ext>
            </a:extLst>
          </p:cNvPr>
          <p:cNvSpPr>
            <a:spLocks noGrp="1"/>
          </p:cNvSpPr>
          <p:nvPr>
            <p:ph idx="1"/>
          </p:nvPr>
        </p:nvSpPr>
        <p:spPr/>
        <p:txBody>
          <a:bodyPr>
            <a:normAutofit fontScale="92500" lnSpcReduction="20000"/>
          </a:bodyPr>
          <a:lstStyle/>
          <a:p>
            <a:r>
              <a:rPr lang="en-GB" dirty="0"/>
              <a:t>Suppose information at: t = 20 is important for a prediction associated with: t = 200</a:t>
            </a:r>
          </a:p>
          <a:p>
            <a:r>
              <a:rPr lang="en-GB" b="1" dirty="0"/>
              <a:t>In an RNN</a:t>
            </a:r>
          </a:p>
          <a:p>
            <a:pPr lvl="1"/>
            <a:r>
              <a:rPr lang="en-GB" dirty="0"/>
              <a:t>The information must influence a chain of states:</a:t>
            </a:r>
          </a:p>
          <a:p>
            <a:pPr lvl="2"/>
            <a:r>
              <a:rPr lang="en-GB" dirty="0"/>
              <a:t>h[20] → h[21] → h[22] → ... → h[200]</a:t>
            </a:r>
          </a:p>
          <a:p>
            <a:pPr lvl="1"/>
            <a:r>
              <a:rPr lang="en-GB" dirty="0"/>
              <a:t>LSTM and GRU improve this propagation through </a:t>
            </a:r>
            <a:r>
              <a:rPr lang="en-GB" b="1" dirty="0"/>
              <a:t>gates</a:t>
            </a:r>
            <a:r>
              <a:rPr lang="en-GB" dirty="0"/>
              <a:t>, but the recurrent path remains </a:t>
            </a:r>
            <a:r>
              <a:rPr lang="en-GB" b="1" dirty="0"/>
              <a:t>sequential</a:t>
            </a:r>
            <a:r>
              <a:rPr lang="en-GB" dirty="0"/>
              <a:t>.</a:t>
            </a:r>
          </a:p>
          <a:p>
            <a:r>
              <a:rPr lang="en-GB" b="1" dirty="0"/>
              <a:t>In a CNN / TCN</a:t>
            </a:r>
          </a:p>
          <a:p>
            <a:pPr lvl="1"/>
            <a:r>
              <a:rPr lang="en-GB" dirty="0"/>
              <a:t>There must be a </a:t>
            </a:r>
            <a:r>
              <a:rPr lang="en-GB" b="1" dirty="0"/>
              <a:t>convolutional path </a:t>
            </a:r>
            <a:r>
              <a:rPr lang="en-GB" dirty="0"/>
              <a:t>connecting:</a:t>
            </a:r>
          </a:p>
          <a:p>
            <a:pPr lvl="1"/>
            <a:r>
              <a:rPr lang="en-GB" dirty="0"/>
              <a:t>x[20]</a:t>
            </a:r>
          </a:p>
          <a:p>
            <a:pPr lvl="1"/>
            <a:r>
              <a:rPr lang="en-GB" dirty="0"/>
              <a:t>to the representation at:</a:t>
            </a:r>
          </a:p>
          <a:p>
            <a:pPr lvl="1"/>
            <a:r>
              <a:rPr lang="en-GB" dirty="0"/>
              <a:t>t = 200</a:t>
            </a:r>
          </a:p>
          <a:p>
            <a:pPr lvl="1"/>
            <a:r>
              <a:rPr lang="en-GB" dirty="0"/>
              <a:t>This requires a </a:t>
            </a:r>
            <a:r>
              <a:rPr lang="en-GB" b="1" dirty="0"/>
              <a:t>receptive field large enough </a:t>
            </a:r>
            <a:r>
              <a:rPr lang="en-GB" dirty="0"/>
              <a:t>to include both positions.</a:t>
            </a:r>
          </a:p>
          <a:p>
            <a:endParaRPr lang="en-GB" dirty="0"/>
          </a:p>
        </p:txBody>
      </p:sp>
    </p:spTree>
    <p:extLst>
      <p:ext uri="{BB962C8B-B14F-4D97-AF65-F5344CB8AC3E}">
        <p14:creationId xmlns:p14="http://schemas.microsoft.com/office/powerpoint/2010/main" val="299631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91A0D-1C69-05FB-44C4-F795A8824A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29E40DF-C8A2-5F10-2785-62F64EC9FEC3}"/>
              </a:ext>
            </a:extLst>
          </p:cNvPr>
          <p:cNvSpPr>
            <a:spLocks noGrp="1"/>
          </p:cNvSpPr>
          <p:nvPr>
            <p:ph type="title"/>
          </p:nvPr>
        </p:nvSpPr>
        <p:spPr/>
        <p:txBody>
          <a:bodyPr/>
          <a:lstStyle/>
          <a:p>
            <a:r>
              <a:rPr lang="en-GB" dirty="0"/>
              <a:t>Long-range interaction in RNNs and CNNs</a:t>
            </a:r>
          </a:p>
        </p:txBody>
      </p:sp>
      <p:sp>
        <p:nvSpPr>
          <p:cNvPr id="3" name="Segnaposto contenuto 2">
            <a:extLst>
              <a:ext uri="{FF2B5EF4-FFF2-40B4-BE49-F238E27FC236}">
                <a16:creationId xmlns:a16="http://schemas.microsoft.com/office/drawing/2014/main" id="{1B729B36-DD12-1223-FB1B-790AB4DB725A}"/>
              </a:ext>
            </a:extLst>
          </p:cNvPr>
          <p:cNvSpPr>
            <a:spLocks noGrp="1"/>
          </p:cNvSpPr>
          <p:nvPr>
            <p:ph idx="1"/>
          </p:nvPr>
        </p:nvSpPr>
        <p:spPr/>
        <p:txBody>
          <a:bodyPr>
            <a:normAutofit fontScale="70000" lnSpcReduction="20000"/>
          </a:bodyPr>
          <a:lstStyle/>
          <a:p>
            <a:r>
              <a:rPr lang="en-GB" b="1" dirty="0"/>
              <a:t>Therefore</a:t>
            </a:r>
          </a:p>
          <a:p>
            <a:r>
              <a:rPr lang="en-GB" b="1" dirty="0"/>
              <a:t>The architecture determines in advance how temporal information can travel.</a:t>
            </a:r>
          </a:p>
          <a:p>
            <a:r>
              <a:rPr lang="en-GB" dirty="0"/>
              <a:t>RNN:</a:t>
            </a:r>
          </a:p>
          <a:p>
            <a:pPr lvl="1"/>
            <a:r>
              <a:rPr lang="en-GB" dirty="0"/>
              <a:t>through recurrent state transitions. </a:t>
            </a:r>
          </a:p>
          <a:p>
            <a:r>
              <a:rPr lang="en-GB" dirty="0"/>
              <a:t>CNN:</a:t>
            </a:r>
          </a:p>
          <a:p>
            <a:pPr lvl="1"/>
            <a:r>
              <a:rPr lang="en-GB" dirty="0"/>
              <a:t>through stacked local connections. </a:t>
            </a:r>
          </a:p>
          <a:p>
            <a:r>
              <a:rPr lang="en-GB" b="1" dirty="0"/>
              <a:t>Attention proposes another mechanism</a:t>
            </a:r>
          </a:p>
          <a:p>
            <a:pPr lvl="1"/>
            <a:r>
              <a:rPr lang="en-GB" dirty="0"/>
              <a:t>Allow one position to obtain information from another position more directly.</a:t>
            </a:r>
          </a:p>
          <a:p>
            <a:r>
              <a:rPr lang="en-GB" dirty="0"/>
              <a:t>Conceptually:</a:t>
            </a:r>
          </a:p>
          <a:p>
            <a:pPr lvl="1"/>
            <a:r>
              <a:rPr lang="en-GB" dirty="0"/>
              <a:t>position 20 ───────────────────────→ position 200</a:t>
            </a:r>
          </a:p>
          <a:p>
            <a:pPr lvl="1"/>
            <a:r>
              <a:rPr lang="en-GB" dirty="0"/>
              <a:t>if the model learns that the relationship is useful.</a:t>
            </a:r>
          </a:p>
          <a:p>
            <a:endParaRPr lang="en-GB" dirty="0"/>
          </a:p>
          <a:p>
            <a:r>
              <a:rPr lang="en-GB" b="1" dirty="0"/>
              <a:t>Attention reduces the need for information to travel only through a long chain of intermediate temporal transformations.</a:t>
            </a:r>
          </a:p>
          <a:p>
            <a:endParaRPr lang="en-GB" dirty="0"/>
          </a:p>
        </p:txBody>
      </p:sp>
    </p:spTree>
    <p:extLst>
      <p:ext uri="{BB962C8B-B14F-4D97-AF65-F5344CB8AC3E}">
        <p14:creationId xmlns:p14="http://schemas.microsoft.com/office/powerpoint/2010/main" val="1855127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4"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05"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6"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07"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Long-range interaction: chain, receptive field, or shortcut</a:t>
            </a:r>
            <a:endParaRPr lang="it-IT" sz="2200" b="0" u="none" strike="noStrike">
              <a:solidFill>
                <a:srgbClr val="000000"/>
              </a:solidFill>
              <a:effectLst/>
              <a:uFillTx/>
              <a:latin typeface="Arial"/>
            </a:endParaRPr>
          </a:p>
        </p:txBody>
      </p:sp>
      <p:sp>
        <p:nvSpPr>
          <p:cNvPr id="108"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Same dependency, different computational paths</a:t>
            </a:r>
            <a:endParaRPr lang="it-IT" sz="1050" b="0" u="none" strike="noStrike">
              <a:solidFill>
                <a:srgbClr val="000000"/>
              </a:solidFill>
              <a:effectLst/>
              <a:uFillTx/>
              <a:latin typeface="Arial"/>
            </a:endParaRPr>
          </a:p>
        </p:txBody>
      </p:sp>
      <p:sp>
        <p:nvSpPr>
          <p:cNvPr id="109" name="Shape 6"/>
          <p:cNvSpPr/>
          <p:nvPr/>
        </p:nvSpPr>
        <p:spPr>
          <a:xfrm>
            <a:off x="2514780" y="1248300"/>
            <a:ext cx="6217560" cy="411120"/>
          </a:xfrm>
          <a:prstGeom prst="roundRect">
            <a:avLst>
              <a:gd name="adj" fmla="val 17778"/>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0" name="Text 7"/>
          <p:cNvSpPr/>
          <p:nvPr/>
        </p:nvSpPr>
        <p:spPr>
          <a:xfrm>
            <a:off x="2469060" y="1275840"/>
            <a:ext cx="6126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dirty="0">
                <a:solidFill>
                  <a:srgbClr val="101828"/>
                </a:solidFill>
                <a:effectLst/>
                <a:uFillTx/>
                <a:latin typeface="Aptos"/>
              </a:rPr>
              <a:t>Dependency: x[20] is useful for prediction at t=200</a:t>
            </a:r>
            <a:endParaRPr lang="it-IT" sz="1100" b="0" u="none" strike="noStrike" dirty="0">
              <a:solidFill>
                <a:srgbClr val="000000"/>
              </a:solidFill>
              <a:effectLst/>
              <a:uFillTx/>
              <a:latin typeface="Arial"/>
            </a:endParaRPr>
          </a:p>
        </p:txBody>
      </p:sp>
      <p:sp>
        <p:nvSpPr>
          <p:cNvPr id="111" name="Shape 8"/>
          <p:cNvSpPr/>
          <p:nvPr/>
        </p:nvSpPr>
        <p:spPr>
          <a:xfrm>
            <a:off x="777240" y="1737360"/>
            <a:ext cx="1234080" cy="383760"/>
          </a:xfrm>
          <a:prstGeom prst="roundRect">
            <a:avLst>
              <a:gd name="adj" fmla="val 19048"/>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2" name="Text 9"/>
          <p:cNvSpPr/>
          <p:nvPr/>
        </p:nvSpPr>
        <p:spPr>
          <a:xfrm>
            <a:off x="822960" y="1774080"/>
            <a:ext cx="114264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RNN path</a:t>
            </a:r>
            <a:endParaRPr lang="it-IT" sz="1000" b="0" u="none" strike="noStrike">
              <a:solidFill>
                <a:srgbClr val="000000"/>
              </a:solidFill>
              <a:effectLst/>
              <a:uFillTx/>
              <a:latin typeface="Arial"/>
            </a:endParaRPr>
          </a:p>
        </p:txBody>
      </p:sp>
      <p:sp>
        <p:nvSpPr>
          <p:cNvPr id="113" name="Shape 10"/>
          <p:cNvSpPr/>
          <p:nvPr/>
        </p:nvSpPr>
        <p:spPr>
          <a:xfrm>
            <a:off x="822960" y="2423160"/>
            <a:ext cx="420120" cy="42012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4" name="Text 11"/>
          <p:cNvSpPr/>
          <p:nvPr/>
        </p:nvSpPr>
        <p:spPr>
          <a:xfrm>
            <a:off x="82296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1" u="none" strike="noStrike">
                <a:solidFill>
                  <a:srgbClr val="101828"/>
                </a:solidFill>
                <a:effectLst/>
                <a:uFillTx/>
                <a:latin typeface="Aptos"/>
              </a:rPr>
              <a:t>h20</a:t>
            </a:r>
            <a:endParaRPr lang="it-IT" sz="750" b="0" u="none" strike="noStrike">
              <a:solidFill>
                <a:srgbClr val="000000"/>
              </a:solidFill>
              <a:effectLst/>
              <a:uFillTx/>
              <a:latin typeface="Arial"/>
            </a:endParaRPr>
          </a:p>
        </p:txBody>
      </p:sp>
      <p:sp>
        <p:nvSpPr>
          <p:cNvPr id="115" name="Shape 12"/>
          <p:cNvSpPr/>
          <p:nvPr/>
        </p:nvSpPr>
        <p:spPr>
          <a:xfrm>
            <a:off x="1243440" y="2633400"/>
            <a:ext cx="191880" cy="360"/>
          </a:xfrm>
          <a:prstGeom prst="line">
            <a:avLst/>
          </a:prstGeom>
          <a:ln w="1397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16" name="Shape 13"/>
          <p:cNvSpPr/>
          <p:nvPr/>
        </p:nvSpPr>
        <p:spPr>
          <a:xfrm>
            <a:off x="1463040" y="2423160"/>
            <a:ext cx="420120" cy="420120"/>
          </a:xfrm>
          <a:prstGeom prst="ellipse">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7" name="Text 14"/>
          <p:cNvSpPr/>
          <p:nvPr/>
        </p:nvSpPr>
        <p:spPr>
          <a:xfrm>
            <a:off x="146304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a:t>
            </a:r>
            <a:endParaRPr lang="it-IT" sz="750" b="0" u="none" strike="noStrike">
              <a:solidFill>
                <a:srgbClr val="000000"/>
              </a:solidFill>
              <a:effectLst/>
              <a:uFillTx/>
              <a:latin typeface="Arial"/>
            </a:endParaRPr>
          </a:p>
        </p:txBody>
      </p:sp>
      <p:sp>
        <p:nvSpPr>
          <p:cNvPr id="118" name="Shape 15"/>
          <p:cNvSpPr/>
          <p:nvPr/>
        </p:nvSpPr>
        <p:spPr>
          <a:xfrm>
            <a:off x="1883520" y="2633400"/>
            <a:ext cx="191880" cy="360"/>
          </a:xfrm>
          <a:prstGeom prst="line">
            <a:avLst/>
          </a:prstGeom>
          <a:ln w="1397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19" name="Shape 16"/>
          <p:cNvSpPr/>
          <p:nvPr/>
        </p:nvSpPr>
        <p:spPr>
          <a:xfrm>
            <a:off x="2103120" y="2423160"/>
            <a:ext cx="420120" cy="420120"/>
          </a:xfrm>
          <a:prstGeom prst="ellipse">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20" name="Text 17"/>
          <p:cNvSpPr/>
          <p:nvPr/>
        </p:nvSpPr>
        <p:spPr>
          <a:xfrm>
            <a:off x="210312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a:t>
            </a:r>
            <a:endParaRPr lang="it-IT" sz="750" b="0" u="none" strike="noStrike">
              <a:solidFill>
                <a:srgbClr val="000000"/>
              </a:solidFill>
              <a:effectLst/>
              <a:uFillTx/>
              <a:latin typeface="Arial"/>
            </a:endParaRPr>
          </a:p>
        </p:txBody>
      </p:sp>
      <p:sp>
        <p:nvSpPr>
          <p:cNvPr id="121" name="Shape 18"/>
          <p:cNvSpPr/>
          <p:nvPr/>
        </p:nvSpPr>
        <p:spPr>
          <a:xfrm>
            <a:off x="2523600" y="2633400"/>
            <a:ext cx="191880" cy="360"/>
          </a:xfrm>
          <a:prstGeom prst="line">
            <a:avLst/>
          </a:prstGeom>
          <a:ln w="1397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22" name="Shape 19"/>
          <p:cNvSpPr/>
          <p:nvPr/>
        </p:nvSpPr>
        <p:spPr>
          <a:xfrm>
            <a:off x="2743200" y="2423160"/>
            <a:ext cx="420120" cy="420120"/>
          </a:xfrm>
          <a:prstGeom prst="ellipse">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23" name="Text 20"/>
          <p:cNvSpPr/>
          <p:nvPr/>
        </p:nvSpPr>
        <p:spPr>
          <a:xfrm>
            <a:off x="274320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a:t>
            </a:r>
            <a:endParaRPr lang="it-IT" sz="750" b="0" u="none" strike="noStrike">
              <a:solidFill>
                <a:srgbClr val="000000"/>
              </a:solidFill>
              <a:effectLst/>
              <a:uFillTx/>
              <a:latin typeface="Arial"/>
            </a:endParaRPr>
          </a:p>
        </p:txBody>
      </p:sp>
      <p:sp>
        <p:nvSpPr>
          <p:cNvPr id="124" name="Shape 21"/>
          <p:cNvSpPr/>
          <p:nvPr/>
        </p:nvSpPr>
        <p:spPr>
          <a:xfrm>
            <a:off x="3163680" y="2633400"/>
            <a:ext cx="191880" cy="360"/>
          </a:xfrm>
          <a:prstGeom prst="line">
            <a:avLst/>
          </a:prstGeom>
          <a:ln w="1397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25" name="Shape 22"/>
          <p:cNvSpPr/>
          <p:nvPr/>
        </p:nvSpPr>
        <p:spPr>
          <a:xfrm>
            <a:off x="3383280" y="2423160"/>
            <a:ext cx="420120" cy="420120"/>
          </a:xfrm>
          <a:prstGeom prst="ellipse">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26" name="Text 23"/>
          <p:cNvSpPr/>
          <p:nvPr/>
        </p:nvSpPr>
        <p:spPr>
          <a:xfrm>
            <a:off x="338328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a:t>
            </a:r>
            <a:endParaRPr lang="it-IT" sz="750" b="0" u="none" strike="noStrike">
              <a:solidFill>
                <a:srgbClr val="000000"/>
              </a:solidFill>
              <a:effectLst/>
              <a:uFillTx/>
              <a:latin typeface="Arial"/>
            </a:endParaRPr>
          </a:p>
        </p:txBody>
      </p:sp>
      <p:sp>
        <p:nvSpPr>
          <p:cNvPr id="127" name="Shape 24"/>
          <p:cNvSpPr/>
          <p:nvPr/>
        </p:nvSpPr>
        <p:spPr>
          <a:xfrm>
            <a:off x="3803760" y="2633400"/>
            <a:ext cx="191880" cy="360"/>
          </a:xfrm>
          <a:prstGeom prst="line">
            <a:avLst/>
          </a:prstGeom>
          <a:ln w="1397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28" name="Shape 25"/>
          <p:cNvSpPr/>
          <p:nvPr/>
        </p:nvSpPr>
        <p:spPr>
          <a:xfrm>
            <a:off x="4023360" y="2423160"/>
            <a:ext cx="420120" cy="420120"/>
          </a:xfrm>
          <a:prstGeom prst="ellipse">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29" name="Text 26"/>
          <p:cNvSpPr/>
          <p:nvPr/>
        </p:nvSpPr>
        <p:spPr>
          <a:xfrm>
            <a:off x="402336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101828"/>
                </a:solidFill>
                <a:effectLst/>
                <a:uFillTx/>
                <a:latin typeface="Aptos"/>
              </a:rPr>
              <a:t>...</a:t>
            </a:r>
            <a:endParaRPr lang="it-IT" sz="750" b="0" u="none" strike="noStrike">
              <a:solidFill>
                <a:srgbClr val="000000"/>
              </a:solidFill>
              <a:effectLst/>
              <a:uFillTx/>
              <a:latin typeface="Arial"/>
            </a:endParaRPr>
          </a:p>
        </p:txBody>
      </p:sp>
      <p:sp>
        <p:nvSpPr>
          <p:cNvPr id="130" name="Shape 27"/>
          <p:cNvSpPr/>
          <p:nvPr/>
        </p:nvSpPr>
        <p:spPr>
          <a:xfrm>
            <a:off x="4443840" y="2633400"/>
            <a:ext cx="191880" cy="360"/>
          </a:xfrm>
          <a:prstGeom prst="line">
            <a:avLst/>
          </a:prstGeom>
          <a:ln w="1397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31" name="Shape 28"/>
          <p:cNvSpPr/>
          <p:nvPr/>
        </p:nvSpPr>
        <p:spPr>
          <a:xfrm>
            <a:off x="4663440" y="2423160"/>
            <a:ext cx="420120" cy="420120"/>
          </a:xfrm>
          <a:prstGeom prst="ellipse">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32" name="Text 29"/>
          <p:cNvSpPr/>
          <p:nvPr/>
        </p:nvSpPr>
        <p:spPr>
          <a:xfrm>
            <a:off x="4663440" y="2441520"/>
            <a:ext cx="4201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1" u="none" strike="noStrike">
                <a:solidFill>
                  <a:srgbClr val="101828"/>
                </a:solidFill>
                <a:effectLst/>
                <a:uFillTx/>
                <a:latin typeface="Aptos"/>
              </a:rPr>
              <a:t>h200</a:t>
            </a:r>
            <a:endParaRPr lang="it-IT" sz="750" b="0" u="none" strike="noStrike">
              <a:solidFill>
                <a:srgbClr val="000000"/>
              </a:solidFill>
              <a:effectLst/>
              <a:uFillTx/>
              <a:latin typeface="Arial"/>
            </a:endParaRPr>
          </a:p>
        </p:txBody>
      </p:sp>
      <p:sp>
        <p:nvSpPr>
          <p:cNvPr id="133" name="Text 30"/>
          <p:cNvSpPr/>
          <p:nvPr/>
        </p:nvSpPr>
        <p:spPr>
          <a:xfrm>
            <a:off x="804600" y="3063240"/>
            <a:ext cx="47545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information/gradient crosses many recurrent transitions</a:t>
            </a:r>
            <a:endParaRPr lang="it-IT" sz="850" b="0" u="none" strike="noStrike">
              <a:solidFill>
                <a:srgbClr val="000000"/>
              </a:solidFill>
              <a:effectLst/>
              <a:uFillTx/>
              <a:latin typeface="Arial"/>
            </a:endParaRPr>
          </a:p>
        </p:txBody>
      </p:sp>
      <p:sp>
        <p:nvSpPr>
          <p:cNvPr id="134" name="Shape 31"/>
          <p:cNvSpPr/>
          <p:nvPr/>
        </p:nvSpPr>
        <p:spPr>
          <a:xfrm>
            <a:off x="777240" y="3703320"/>
            <a:ext cx="1508400" cy="383760"/>
          </a:xfrm>
          <a:prstGeom prst="roundRect">
            <a:avLst>
              <a:gd name="adj" fmla="val 1904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35" name="Text 32"/>
          <p:cNvSpPr/>
          <p:nvPr/>
        </p:nvSpPr>
        <p:spPr>
          <a:xfrm>
            <a:off x="822960" y="3740040"/>
            <a:ext cx="141696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CNN / TCN path</a:t>
            </a:r>
            <a:endParaRPr lang="it-IT" sz="1000" b="0" u="none" strike="noStrike">
              <a:solidFill>
                <a:srgbClr val="000000"/>
              </a:solidFill>
              <a:effectLst/>
              <a:uFillTx/>
              <a:latin typeface="Arial"/>
            </a:endParaRPr>
          </a:p>
        </p:txBody>
      </p:sp>
      <p:sp>
        <p:nvSpPr>
          <p:cNvPr id="136" name="Shape 33"/>
          <p:cNvSpPr/>
          <p:nvPr/>
        </p:nvSpPr>
        <p:spPr>
          <a:xfrm>
            <a:off x="822960" y="4572000"/>
            <a:ext cx="4480560" cy="360"/>
          </a:xfrm>
          <a:prstGeom prst="line">
            <a:avLst/>
          </a:prstGeom>
          <a:ln w="25400">
            <a:solidFill>
              <a:srgbClr val="D0D5D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37" name="Shape 34"/>
          <p:cNvSpPr/>
          <p:nvPr/>
        </p:nvSpPr>
        <p:spPr>
          <a:xfrm>
            <a:off x="77724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38" name="Text 35"/>
          <p:cNvSpPr/>
          <p:nvPr/>
        </p:nvSpPr>
        <p:spPr>
          <a:xfrm>
            <a:off x="77724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39" name="Shape 36"/>
          <p:cNvSpPr/>
          <p:nvPr/>
        </p:nvSpPr>
        <p:spPr>
          <a:xfrm>
            <a:off x="122544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0" name="Text 37"/>
          <p:cNvSpPr/>
          <p:nvPr/>
        </p:nvSpPr>
        <p:spPr>
          <a:xfrm>
            <a:off x="122544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41" name="Shape 38"/>
          <p:cNvSpPr/>
          <p:nvPr/>
        </p:nvSpPr>
        <p:spPr>
          <a:xfrm>
            <a:off x="167328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2" name="Text 39"/>
          <p:cNvSpPr/>
          <p:nvPr/>
        </p:nvSpPr>
        <p:spPr>
          <a:xfrm>
            <a:off x="167328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43" name="Shape 40"/>
          <p:cNvSpPr/>
          <p:nvPr/>
        </p:nvSpPr>
        <p:spPr>
          <a:xfrm>
            <a:off x="212148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4" name="Text 41"/>
          <p:cNvSpPr/>
          <p:nvPr/>
        </p:nvSpPr>
        <p:spPr>
          <a:xfrm>
            <a:off x="212148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45" name="Shape 42"/>
          <p:cNvSpPr/>
          <p:nvPr/>
        </p:nvSpPr>
        <p:spPr>
          <a:xfrm>
            <a:off x="256932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6" name="Text 43"/>
          <p:cNvSpPr/>
          <p:nvPr/>
        </p:nvSpPr>
        <p:spPr>
          <a:xfrm>
            <a:off x="256932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47" name="Shape 44"/>
          <p:cNvSpPr/>
          <p:nvPr/>
        </p:nvSpPr>
        <p:spPr>
          <a:xfrm>
            <a:off x="301752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8" name="Text 45"/>
          <p:cNvSpPr/>
          <p:nvPr/>
        </p:nvSpPr>
        <p:spPr>
          <a:xfrm>
            <a:off x="301752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49" name="Shape 46"/>
          <p:cNvSpPr/>
          <p:nvPr/>
        </p:nvSpPr>
        <p:spPr>
          <a:xfrm>
            <a:off x="346572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50" name="Text 47"/>
          <p:cNvSpPr/>
          <p:nvPr/>
        </p:nvSpPr>
        <p:spPr>
          <a:xfrm>
            <a:off x="346572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51" name="Shape 48"/>
          <p:cNvSpPr/>
          <p:nvPr/>
        </p:nvSpPr>
        <p:spPr>
          <a:xfrm>
            <a:off x="391356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52" name="Text 49"/>
          <p:cNvSpPr/>
          <p:nvPr/>
        </p:nvSpPr>
        <p:spPr>
          <a:xfrm>
            <a:off x="391356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53" name="Shape 50"/>
          <p:cNvSpPr/>
          <p:nvPr/>
        </p:nvSpPr>
        <p:spPr>
          <a:xfrm>
            <a:off x="436176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54" name="Text 51"/>
          <p:cNvSpPr/>
          <p:nvPr/>
        </p:nvSpPr>
        <p:spPr>
          <a:xfrm>
            <a:off x="436176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55" name="Shape 52"/>
          <p:cNvSpPr/>
          <p:nvPr/>
        </p:nvSpPr>
        <p:spPr>
          <a:xfrm>
            <a:off x="480960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56" name="Text 53"/>
          <p:cNvSpPr/>
          <p:nvPr/>
        </p:nvSpPr>
        <p:spPr>
          <a:xfrm>
            <a:off x="480960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57" name="Shape 54"/>
          <p:cNvSpPr/>
          <p:nvPr/>
        </p:nvSpPr>
        <p:spPr>
          <a:xfrm>
            <a:off x="5257800" y="4462200"/>
            <a:ext cx="164160" cy="164160"/>
          </a:xfrm>
          <a:prstGeom prst="ellipse">
            <a:avLst/>
          </a:prstGeom>
          <a:solidFill>
            <a:srgbClr val="FFFFFF"/>
          </a:solidFill>
          <a:ln w="1016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58" name="Text 55"/>
          <p:cNvSpPr/>
          <p:nvPr/>
        </p:nvSpPr>
        <p:spPr>
          <a:xfrm>
            <a:off x="5257800" y="4480560"/>
            <a:ext cx="164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900" b="0" u="none" strike="noStrike">
              <a:solidFill>
                <a:schemeClr val="dk1"/>
              </a:solidFill>
              <a:effectLst/>
              <a:uFillTx/>
              <a:latin typeface="Aptos"/>
            </a:endParaRPr>
          </a:p>
        </p:txBody>
      </p:sp>
      <p:sp>
        <p:nvSpPr>
          <p:cNvPr id="159" name="Shape 56"/>
          <p:cNvSpPr/>
          <p:nvPr/>
        </p:nvSpPr>
        <p:spPr>
          <a:xfrm>
            <a:off x="1097280" y="4279320"/>
            <a:ext cx="4023000" cy="621360"/>
          </a:xfrm>
          <a:prstGeom prst="rect">
            <a:avLst/>
          </a:prstGeom>
          <a:solidFill>
            <a:srgbClr val="EAF2FE">
              <a:alpha val="65000"/>
            </a:srgbClr>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0" name="Text 57"/>
          <p:cNvSpPr/>
          <p:nvPr/>
        </p:nvSpPr>
        <p:spPr>
          <a:xfrm>
            <a:off x="1325880" y="5074920"/>
            <a:ext cx="365724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receptive field must cover both positions</a:t>
            </a:r>
            <a:endParaRPr lang="it-IT" sz="850" b="0" u="none" strike="noStrike">
              <a:solidFill>
                <a:srgbClr val="000000"/>
              </a:solidFill>
              <a:effectLst/>
              <a:uFillTx/>
              <a:latin typeface="Arial"/>
            </a:endParaRPr>
          </a:p>
        </p:txBody>
      </p:sp>
      <p:sp>
        <p:nvSpPr>
          <p:cNvPr id="161" name="Shape 58"/>
          <p:cNvSpPr/>
          <p:nvPr/>
        </p:nvSpPr>
        <p:spPr>
          <a:xfrm>
            <a:off x="6035040" y="2377440"/>
            <a:ext cx="1416960" cy="383760"/>
          </a:xfrm>
          <a:prstGeom prst="roundRect">
            <a:avLst>
              <a:gd name="adj" fmla="val 19048"/>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2" name="Text 59"/>
          <p:cNvSpPr/>
          <p:nvPr/>
        </p:nvSpPr>
        <p:spPr>
          <a:xfrm>
            <a:off x="6080760" y="2414160"/>
            <a:ext cx="13255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Attention path</a:t>
            </a:r>
            <a:endParaRPr lang="it-IT" sz="1000" b="0" u="none" strike="noStrike">
              <a:solidFill>
                <a:srgbClr val="000000"/>
              </a:solidFill>
              <a:effectLst/>
              <a:uFillTx/>
              <a:latin typeface="Arial"/>
            </a:endParaRPr>
          </a:p>
        </p:txBody>
      </p:sp>
      <p:sp>
        <p:nvSpPr>
          <p:cNvPr id="163" name="Shape 60"/>
          <p:cNvSpPr/>
          <p:nvPr/>
        </p:nvSpPr>
        <p:spPr>
          <a:xfrm>
            <a:off x="5897880" y="3154680"/>
            <a:ext cx="502560" cy="347040"/>
          </a:xfrm>
          <a:prstGeom prst="roundRect">
            <a:avLst>
              <a:gd name="adj" fmla="val 21053"/>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4" name="Text 61"/>
          <p:cNvSpPr/>
          <p:nvPr/>
        </p:nvSpPr>
        <p:spPr>
          <a:xfrm>
            <a:off x="5943600" y="3191400"/>
            <a:ext cx="4111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x20</a:t>
            </a:r>
            <a:endParaRPr lang="it-IT" sz="850" b="0" u="none" strike="noStrike">
              <a:solidFill>
                <a:srgbClr val="000000"/>
              </a:solidFill>
              <a:effectLst/>
              <a:uFillTx/>
              <a:latin typeface="Arial"/>
            </a:endParaRPr>
          </a:p>
        </p:txBody>
      </p:sp>
      <p:sp>
        <p:nvSpPr>
          <p:cNvPr id="165" name="Shape 62"/>
          <p:cNvSpPr/>
          <p:nvPr/>
        </p:nvSpPr>
        <p:spPr>
          <a:xfrm>
            <a:off x="9052560" y="3154680"/>
            <a:ext cx="594000" cy="347040"/>
          </a:xfrm>
          <a:prstGeom prst="roundRect">
            <a:avLst>
              <a:gd name="adj" fmla="val 21053"/>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6" name="Text 63"/>
          <p:cNvSpPr/>
          <p:nvPr/>
        </p:nvSpPr>
        <p:spPr>
          <a:xfrm>
            <a:off x="9098280" y="3191400"/>
            <a:ext cx="50256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x200</a:t>
            </a:r>
            <a:endParaRPr lang="it-IT" sz="850" b="0" u="none" strike="noStrike">
              <a:solidFill>
                <a:srgbClr val="000000"/>
              </a:solidFill>
              <a:effectLst/>
              <a:uFillTx/>
              <a:latin typeface="Arial"/>
            </a:endParaRPr>
          </a:p>
        </p:txBody>
      </p:sp>
      <p:sp>
        <p:nvSpPr>
          <p:cNvPr id="167" name="Shape 64"/>
          <p:cNvSpPr/>
          <p:nvPr/>
        </p:nvSpPr>
        <p:spPr>
          <a:xfrm>
            <a:off x="6446520" y="3328200"/>
            <a:ext cx="2560320" cy="360"/>
          </a:xfrm>
          <a:prstGeom prst="line">
            <a:avLst/>
          </a:prstGeom>
          <a:ln w="2794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68" name="Text 65"/>
          <p:cNvSpPr/>
          <p:nvPr/>
        </p:nvSpPr>
        <p:spPr>
          <a:xfrm>
            <a:off x="6903720" y="3566160"/>
            <a:ext cx="228564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learned direct relevance link</a:t>
            </a:r>
            <a:endParaRPr lang="it-IT" sz="850" b="0" u="none" strike="noStrike">
              <a:solidFill>
                <a:srgbClr val="000000"/>
              </a:solidFill>
              <a:effectLst/>
              <a:uFillTx/>
              <a:latin typeface="Arial"/>
            </a:endParaRPr>
          </a:p>
        </p:txBody>
      </p:sp>
      <p:sp>
        <p:nvSpPr>
          <p:cNvPr id="169" name="Shape 66"/>
          <p:cNvSpPr/>
          <p:nvPr/>
        </p:nvSpPr>
        <p:spPr>
          <a:xfrm>
            <a:off x="5623560" y="4617720"/>
            <a:ext cx="1554120" cy="456840"/>
          </a:xfrm>
          <a:prstGeom prst="roundRect">
            <a:avLst>
              <a:gd name="adj" fmla="val 16000"/>
            </a:avLst>
          </a:prstGeom>
          <a:solidFill>
            <a:srgbClr val="FFFFFF"/>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70" name="Text 67"/>
          <p:cNvSpPr/>
          <p:nvPr/>
        </p:nvSpPr>
        <p:spPr>
          <a:xfrm>
            <a:off x="5669280" y="4654440"/>
            <a:ext cx="146268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RNN: state chain</a:t>
            </a:r>
            <a:endParaRPr lang="it-IT" sz="1000" b="0" u="none" strike="noStrike">
              <a:solidFill>
                <a:srgbClr val="000000"/>
              </a:solidFill>
              <a:effectLst/>
              <a:uFillTx/>
              <a:latin typeface="Arial"/>
            </a:endParaRPr>
          </a:p>
        </p:txBody>
      </p:sp>
      <p:sp>
        <p:nvSpPr>
          <p:cNvPr id="171" name="Shape 68"/>
          <p:cNvSpPr/>
          <p:nvPr/>
        </p:nvSpPr>
        <p:spPr>
          <a:xfrm>
            <a:off x="7360920" y="4617720"/>
            <a:ext cx="1782720" cy="456840"/>
          </a:xfrm>
          <a:prstGeom prst="roundRect">
            <a:avLst>
              <a:gd name="adj" fmla="val 16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72" name="Text 69"/>
          <p:cNvSpPr/>
          <p:nvPr/>
        </p:nvSpPr>
        <p:spPr>
          <a:xfrm>
            <a:off x="7406640" y="4654440"/>
            <a:ext cx="169128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dirty="0">
                <a:solidFill>
                  <a:srgbClr val="101828"/>
                </a:solidFill>
                <a:effectLst/>
                <a:uFillTx/>
                <a:latin typeface="Aptos"/>
              </a:rPr>
              <a:t>CNN: designed receptive field</a:t>
            </a:r>
            <a:endParaRPr lang="it-IT" sz="1000" b="0" u="none" strike="noStrike" dirty="0">
              <a:solidFill>
                <a:srgbClr val="000000"/>
              </a:solidFill>
              <a:effectLst/>
              <a:uFillTx/>
              <a:latin typeface="Arial"/>
            </a:endParaRPr>
          </a:p>
        </p:txBody>
      </p:sp>
      <p:sp>
        <p:nvSpPr>
          <p:cNvPr id="173" name="Shape 70"/>
          <p:cNvSpPr/>
          <p:nvPr/>
        </p:nvSpPr>
        <p:spPr>
          <a:xfrm>
            <a:off x="9372600" y="4617720"/>
            <a:ext cx="1874160" cy="456840"/>
          </a:xfrm>
          <a:prstGeom prst="roundRect">
            <a:avLst>
              <a:gd name="adj" fmla="val 16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74" name="Text 71"/>
          <p:cNvSpPr/>
          <p:nvPr/>
        </p:nvSpPr>
        <p:spPr>
          <a:xfrm>
            <a:off x="9418320" y="4654440"/>
            <a:ext cx="1782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Attention: weighted link</a:t>
            </a:r>
            <a:endParaRPr lang="it-IT" sz="1000" b="0" u="none" strike="noStrike">
              <a:solidFill>
                <a:srgbClr val="000000"/>
              </a:solidFill>
              <a:effectLst/>
              <a:uFillTx/>
              <a:latin typeface="Arial"/>
            </a:endParaRPr>
          </a:p>
        </p:txBody>
      </p:sp>
      <p:sp>
        <p:nvSpPr>
          <p:cNvPr id="175" name="Text 72"/>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i="1" u="none" strike="noStrike" dirty="0">
                <a:solidFill>
                  <a:srgbClr val="475467"/>
                </a:solidFill>
                <a:effectLst/>
                <a:uFillTx/>
                <a:latin typeface="Aptos"/>
              </a:rPr>
              <a:t>Attention can reduce the need for information to travel only through long chains of intermediate transformations.</a:t>
            </a:r>
            <a:endParaRPr lang="it-IT" sz="1050" b="1" u="none" strike="noStrike" dirty="0">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517960-37D3-EC0B-B0BE-0708A9F782F8}"/>
              </a:ext>
            </a:extLst>
          </p:cNvPr>
          <p:cNvSpPr>
            <a:spLocks noGrp="1"/>
          </p:cNvSpPr>
          <p:nvPr>
            <p:ph type="title"/>
          </p:nvPr>
        </p:nvSpPr>
        <p:spPr/>
        <p:txBody>
          <a:bodyPr/>
          <a:lstStyle/>
          <a:p>
            <a:r>
              <a:rPr lang="en-GB" dirty="0"/>
              <a:t>Relevance can </a:t>
            </a:r>
            <a:r>
              <a:rPr lang="en-GB" dirty="0">
                <a:highlight>
                  <a:srgbClr val="FFFF00"/>
                </a:highlight>
              </a:rPr>
              <a:t>depend on the current sequence</a:t>
            </a:r>
          </a:p>
        </p:txBody>
      </p:sp>
      <p:sp>
        <p:nvSpPr>
          <p:cNvPr id="3" name="Segnaposto contenuto 2">
            <a:extLst>
              <a:ext uri="{FF2B5EF4-FFF2-40B4-BE49-F238E27FC236}">
                <a16:creationId xmlns:a16="http://schemas.microsoft.com/office/drawing/2014/main" id="{9F584B8A-6C1C-7F32-2FCF-7439F891ECAF}"/>
              </a:ext>
            </a:extLst>
          </p:cNvPr>
          <p:cNvSpPr>
            <a:spLocks noGrp="1"/>
          </p:cNvSpPr>
          <p:nvPr>
            <p:ph sz="half" idx="1"/>
          </p:nvPr>
        </p:nvSpPr>
        <p:spPr>
          <a:xfrm>
            <a:off x="677334" y="2160589"/>
            <a:ext cx="5217628" cy="4473675"/>
          </a:xfrm>
        </p:spPr>
        <p:txBody>
          <a:bodyPr>
            <a:normAutofit fontScale="85000" lnSpcReduction="20000"/>
          </a:bodyPr>
          <a:lstStyle/>
          <a:p>
            <a:r>
              <a:rPr lang="en-GB" dirty="0"/>
              <a:t>Consider hourly electricity demand.</a:t>
            </a:r>
          </a:p>
          <a:p>
            <a:r>
              <a:rPr lang="en-GB" dirty="0"/>
              <a:t>To represent demand at Monday 14:00</a:t>
            </a:r>
          </a:p>
          <a:p>
            <a:r>
              <a:rPr lang="en-GB" dirty="0"/>
              <a:t>useful information might include:</a:t>
            </a:r>
          </a:p>
          <a:p>
            <a:pPr lvl="1"/>
            <a:r>
              <a:rPr lang="en-GB" dirty="0"/>
              <a:t>the previous hour; </a:t>
            </a:r>
          </a:p>
          <a:p>
            <a:pPr lvl="1"/>
            <a:r>
              <a:rPr lang="en-GB" dirty="0"/>
              <a:t>Monday 13:00; </a:t>
            </a:r>
          </a:p>
          <a:p>
            <a:pPr lvl="1"/>
            <a:r>
              <a:rPr lang="en-GB" dirty="0"/>
              <a:t>Sunday 14:00; </a:t>
            </a:r>
          </a:p>
          <a:p>
            <a:pPr lvl="1"/>
            <a:r>
              <a:rPr lang="en-GB" dirty="0"/>
              <a:t>the previous Monday at 14:00. </a:t>
            </a:r>
          </a:p>
          <a:p>
            <a:r>
              <a:rPr lang="en-GB" dirty="0"/>
              <a:t>But the </a:t>
            </a:r>
            <a:r>
              <a:rPr lang="en-GB" b="1" dirty="0"/>
              <a:t>most useful temporal positions may change depending on the current situation.</a:t>
            </a:r>
          </a:p>
          <a:p>
            <a:r>
              <a:rPr lang="en-GB" b="1" dirty="0"/>
              <a:t>Example</a:t>
            </a:r>
          </a:p>
          <a:p>
            <a:r>
              <a:rPr lang="en-GB" dirty="0"/>
              <a:t>During normal operation: the same hour yesterday may be highly informative. </a:t>
            </a:r>
          </a:p>
          <a:p>
            <a:r>
              <a:rPr lang="en-GB" dirty="0"/>
              <a:t>During a holiday: observations from previous holidays may become more relevant. </a:t>
            </a:r>
          </a:p>
          <a:p>
            <a:r>
              <a:rPr lang="en-GB" dirty="0"/>
              <a:t>During a sudden disturbance: the most recent observations may dominate. </a:t>
            </a:r>
          </a:p>
          <a:p>
            <a:endParaRPr lang="en-GB" dirty="0"/>
          </a:p>
        </p:txBody>
      </p:sp>
      <p:sp>
        <p:nvSpPr>
          <p:cNvPr id="4" name="Segnaposto contenuto 3">
            <a:extLst>
              <a:ext uri="{FF2B5EF4-FFF2-40B4-BE49-F238E27FC236}">
                <a16:creationId xmlns:a16="http://schemas.microsoft.com/office/drawing/2014/main" id="{4A2FBCD2-DE60-EB58-2C0B-377D94097E5A}"/>
              </a:ext>
            </a:extLst>
          </p:cNvPr>
          <p:cNvSpPr>
            <a:spLocks noGrp="1"/>
          </p:cNvSpPr>
          <p:nvPr>
            <p:ph sz="half" idx="2"/>
          </p:nvPr>
        </p:nvSpPr>
        <p:spPr>
          <a:xfrm>
            <a:off x="6532906" y="2004947"/>
            <a:ext cx="5659094" cy="4697411"/>
          </a:xfrm>
        </p:spPr>
        <p:txBody>
          <a:bodyPr>
            <a:normAutofit fontScale="85000" lnSpcReduction="20000"/>
          </a:bodyPr>
          <a:lstStyle/>
          <a:p>
            <a:r>
              <a:rPr lang="en-GB" b="1" dirty="0"/>
              <a:t>Fixed mechanisms</a:t>
            </a:r>
          </a:p>
          <a:p>
            <a:r>
              <a:rPr lang="en-GB" dirty="0"/>
              <a:t>A convolutional filter uses the </a:t>
            </a:r>
            <a:r>
              <a:rPr lang="en-GB" b="1" dirty="0"/>
              <a:t>same relative connectivity pattern</a:t>
            </a:r>
            <a:r>
              <a:rPr lang="en-GB" dirty="0"/>
              <a:t> for every sample.</a:t>
            </a:r>
          </a:p>
          <a:p>
            <a:pPr lvl="1"/>
            <a:r>
              <a:rPr lang="en-GB" dirty="0"/>
              <a:t>For example: t−4, t−3, t−2, t−1, t</a:t>
            </a:r>
          </a:p>
          <a:p>
            <a:pPr lvl="1"/>
            <a:r>
              <a:rPr lang="en-GB" b="1" dirty="0"/>
              <a:t>with learned but fixed filter weights after training.</a:t>
            </a:r>
          </a:p>
          <a:p>
            <a:endParaRPr lang="en-GB" b="1" dirty="0"/>
          </a:p>
          <a:p>
            <a:r>
              <a:rPr lang="en-GB" b="1" dirty="0"/>
              <a:t>Attention</a:t>
            </a:r>
          </a:p>
          <a:p>
            <a:r>
              <a:rPr lang="en-GB" b="1" dirty="0"/>
              <a:t>The interaction weights are computed from the current input.</a:t>
            </a:r>
          </a:p>
          <a:p>
            <a:r>
              <a:rPr lang="en-GB" dirty="0"/>
              <a:t>Therefore: different sequences can produce different patterns of temporal relevance.</a:t>
            </a:r>
          </a:p>
        </p:txBody>
      </p:sp>
      <p:sp>
        <p:nvSpPr>
          <p:cNvPr id="6" name="CasellaDiTesto 5">
            <a:extLst>
              <a:ext uri="{FF2B5EF4-FFF2-40B4-BE49-F238E27FC236}">
                <a16:creationId xmlns:a16="http://schemas.microsoft.com/office/drawing/2014/main" id="{4385F753-9281-AA02-D89D-E07916492A9D}"/>
              </a:ext>
            </a:extLst>
          </p:cNvPr>
          <p:cNvSpPr txBox="1"/>
          <p:nvPr/>
        </p:nvSpPr>
        <p:spPr>
          <a:xfrm>
            <a:off x="6092758" y="5987933"/>
            <a:ext cx="6099242" cy="646331"/>
          </a:xfrm>
          <a:prstGeom prst="rect">
            <a:avLst/>
          </a:prstGeom>
          <a:noFill/>
        </p:spPr>
        <p:txBody>
          <a:bodyPr wrap="square">
            <a:spAutoFit/>
          </a:bodyPr>
          <a:lstStyle/>
          <a:p>
            <a:r>
              <a:rPr lang="en-GB" sz="1800" dirty="0"/>
              <a:t>Attention is content-dependent: what the model looks at can change according to the sequence being processed.</a:t>
            </a:r>
          </a:p>
        </p:txBody>
      </p:sp>
    </p:spTree>
    <p:extLst>
      <p:ext uri="{BB962C8B-B14F-4D97-AF65-F5344CB8AC3E}">
        <p14:creationId xmlns:p14="http://schemas.microsoft.com/office/powerpoint/2010/main" val="1432777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77"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78"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79"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80"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101828"/>
                </a:solidFill>
                <a:effectLst/>
                <a:highlight>
                  <a:srgbClr val="FFFF00"/>
                </a:highlight>
                <a:uFillTx/>
                <a:latin typeface="Aptos Display"/>
                <a:ea typeface="Aptos Display"/>
              </a:rPr>
              <a:t>Attention is content-dependent</a:t>
            </a:r>
            <a:endParaRPr lang="it-IT" sz="2200" b="0" u="none" strike="noStrike" dirty="0">
              <a:solidFill>
                <a:srgbClr val="000000"/>
              </a:solidFill>
              <a:effectLst/>
              <a:highlight>
                <a:srgbClr val="FFFF00"/>
              </a:highlight>
              <a:uFillTx/>
              <a:latin typeface="Arial"/>
            </a:endParaRPr>
          </a:p>
        </p:txBody>
      </p:sp>
      <p:sp>
        <p:nvSpPr>
          <p:cNvPr id="181"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Different input situations can produce different temporal relevance patterns</a:t>
            </a:r>
            <a:endParaRPr lang="it-IT" sz="1050" b="0" u="none" strike="noStrike">
              <a:solidFill>
                <a:srgbClr val="000000"/>
              </a:solidFill>
              <a:effectLst/>
              <a:uFillTx/>
              <a:latin typeface="Arial"/>
            </a:endParaRPr>
          </a:p>
        </p:txBody>
      </p:sp>
      <p:sp>
        <p:nvSpPr>
          <p:cNvPr id="182" name="Shape 6"/>
          <p:cNvSpPr/>
          <p:nvPr/>
        </p:nvSpPr>
        <p:spPr>
          <a:xfrm>
            <a:off x="731520" y="1234440"/>
            <a:ext cx="2331360" cy="420120"/>
          </a:xfrm>
          <a:prstGeom prst="roundRect">
            <a:avLst>
              <a:gd name="adj" fmla="val 17391"/>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83" name="Text 7"/>
          <p:cNvSpPr/>
          <p:nvPr/>
        </p:nvSpPr>
        <p:spPr>
          <a:xfrm>
            <a:off x="777240" y="1271160"/>
            <a:ext cx="223992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Normal day</a:t>
            </a:r>
            <a:endParaRPr lang="it-IT" sz="1100" b="0" u="none" strike="noStrike">
              <a:solidFill>
                <a:srgbClr val="000000"/>
              </a:solidFill>
              <a:effectLst/>
              <a:uFillTx/>
              <a:latin typeface="Arial"/>
            </a:endParaRPr>
          </a:p>
        </p:txBody>
      </p:sp>
      <p:sp>
        <p:nvSpPr>
          <p:cNvPr id="184" name="Text 8"/>
          <p:cNvSpPr/>
          <p:nvPr/>
        </p:nvSpPr>
        <p:spPr>
          <a:xfrm>
            <a:off x="731520" y="193860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t-1</a:t>
            </a:r>
            <a:endParaRPr lang="it-IT" sz="850" b="0" u="none" strike="noStrike">
              <a:solidFill>
                <a:srgbClr val="000000"/>
              </a:solidFill>
              <a:effectLst/>
              <a:uFillTx/>
              <a:latin typeface="Arial"/>
            </a:endParaRPr>
          </a:p>
        </p:txBody>
      </p:sp>
      <p:sp>
        <p:nvSpPr>
          <p:cNvPr id="185" name="Shape 9"/>
          <p:cNvSpPr/>
          <p:nvPr/>
        </p:nvSpPr>
        <p:spPr>
          <a:xfrm>
            <a:off x="1965960" y="192024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86" name="Shape 10"/>
          <p:cNvSpPr/>
          <p:nvPr/>
        </p:nvSpPr>
        <p:spPr>
          <a:xfrm>
            <a:off x="1965960" y="1920240"/>
            <a:ext cx="123120" cy="255600"/>
          </a:xfrm>
          <a:prstGeom prst="rect">
            <a:avLst/>
          </a:prstGeom>
          <a:solidFill>
            <a:srgbClr val="2F80ED"/>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87" name="Text 11"/>
          <p:cNvSpPr/>
          <p:nvPr/>
        </p:nvSpPr>
        <p:spPr>
          <a:xfrm>
            <a:off x="2153520" y="193860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0.10</a:t>
            </a:r>
            <a:endParaRPr lang="it-IT" sz="750" b="0" u="none" strike="noStrike">
              <a:solidFill>
                <a:srgbClr val="000000"/>
              </a:solidFill>
              <a:effectLst/>
              <a:uFillTx/>
              <a:latin typeface="Arial"/>
            </a:endParaRPr>
          </a:p>
        </p:txBody>
      </p:sp>
      <p:sp>
        <p:nvSpPr>
          <p:cNvPr id="188" name="Text 12"/>
          <p:cNvSpPr/>
          <p:nvPr/>
        </p:nvSpPr>
        <p:spPr>
          <a:xfrm>
            <a:off x="731520" y="24141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t-2</a:t>
            </a:r>
            <a:endParaRPr lang="it-IT" sz="850" b="0" u="none" strike="noStrike">
              <a:solidFill>
                <a:srgbClr val="000000"/>
              </a:solidFill>
              <a:effectLst/>
              <a:uFillTx/>
              <a:latin typeface="Arial"/>
            </a:endParaRPr>
          </a:p>
        </p:txBody>
      </p:sp>
      <p:sp>
        <p:nvSpPr>
          <p:cNvPr id="189" name="Shape 13"/>
          <p:cNvSpPr/>
          <p:nvPr/>
        </p:nvSpPr>
        <p:spPr>
          <a:xfrm>
            <a:off x="1965960" y="239580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0" name="Shape 14"/>
          <p:cNvSpPr/>
          <p:nvPr/>
        </p:nvSpPr>
        <p:spPr>
          <a:xfrm>
            <a:off x="1965960" y="2395800"/>
            <a:ext cx="246600" cy="255600"/>
          </a:xfrm>
          <a:prstGeom prst="rect">
            <a:avLst/>
          </a:prstGeom>
          <a:solidFill>
            <a:srgbClr val="2F80ED"/>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91" name="Text 15"/>
          <p:cNvSpPr/>
          <p:nvPr/>
        </p:nvSpPr>
        <p:spPr>
          <a:xfrm>
            <a:off x="2277000" y="24141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0.20</a:t>
            </a:r>
            <a:endParaRPr lang="it-IT" sz="750" b="0" u="none" strike="noStrike">
              <a:solidFill>
                <a:srgbClr val="000000"/>
              </a:solidFill>
              <a:effectLst/>
              <a:uFillTx/>
              <a:latin typeface="Arial"/>
            </a:endParaRPr>
          </a:p>
        </p:txBody>
      </p:sp>
      <p:sp>
        <p:nvSpPr>
          <p:cNvPr id="192" name="Text 16"/>
          <p:cNvSpPr/>
          <p:nvPr/>
        </p:nvSpPr>
        <p:spPr>
          <a:xfrm>
            <a:off x="731520" y="28893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t-24</a:t>
            </a:r>
            <a:endParaRPr lang="it-IT" sz="850" b="0" u="none" strike="noStrike">
              <a:solidFill>
                <a:srgbClr val="000000"/>
              </a:solidFill>
              <a:effectLst/>
              <a:uFillTx/>
              <a:latin typeface="Arial"/>
            </a:endParaRPr>
          </a:p>
        </p:txBody>
      </p:sp>
      <p:sp>
        <p:nvSpPr>
          <p:cNvPr id="193" name="Shape 17"/>
          <p:cNvSpPr/>
          <p:nvPr/>
        </p:nvSpPr>
        <p:spPr>
          <a:xfrm>
            <a:off x="1965960" y="287136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4" name="Shape 18"/>
          <p:cNvSpPr/>
          <p:nvPr/>
        </p:nvSpPr>
        <p:spPr>
          <a:xfrm>
            <a:off x="1965960" y="2871360"/>
            <a:ext cx="493560" cy="255600"/>
          </a:xfrm>
          <a:prstGeom prst="rect">
            <a:avLst/>
          </a:prstGeom>
          <a:solidFill>
            <a:srgbClr val="2F80ED"/>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95" name="Text 19"/>
          <p:cNvSpPr/>
          <p:nvPr/>
        </p:nvSpPr>
        <p:spPr>
          <a:xfrm>
            <a:off x="2523600" y="28893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0.40</a:t>
            </a:r>
            <a:endParaRPr lang="it-IT" sz="750" b="0" u="none" strike="noStrike">
              <a:solidFill>
                <a:srgbClr val="000000"/>
              </a:solidFill>
              <a:effectLst/>
              <a:uFillTx/>
              <a:latin typeface="Arial"/>
            </a:endParaRPr>
          </a:p>
        </p:txBody>
      </p:sp>
      <p:sp>
        <p:nvSpPr>
          <p:cNvPr id="196" name="Text 20"/>
          <p:cNvSpPr/>
          <p:nvPr/>
        </p:nvSpPr>
        <p:spPr>
          <a:xfrm>
            <a:off x="731520" y="336492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t-168</a:t>
            </a:r>
            <a:endParaRPr lang="it-IT" sz="850" b="0" u="none" strike="noStrike">
              <a:solidFill>
                <a:srgbClr val="000000"/>
              </a:solidFill>
              <a:effectLst/>
              <a:uFillTx/>
              <a:latin typeface="Arial"/>
            </a:endParaRPr>
          </a:p>
        </p:txBody>
      </p:sp>
      <p:sp>
        <p:nvSpPr>
          <p:cNvPr id="197" name="Shape 21"/>
          <p:cNvSpPr/>
          <p:nvPr/>
        </p:nvSpPr>
        <p:spPr>
          <a:xfrm>
            <a:off x="1965960" y="334656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8" name="Shape 22"/>
          <p:cNvSpPr/>
          <p:nvPr/>
        </p:nvSpPr>
        <p:spPr>
          <a:xfrm>
            <a:off x="1965960" y="3346560"/>
            <a:ext cx="308160" cy="255600"/>
          </a:xfrm>
          <a:prstGeom prst="rect">
            <a:avLst/>
          </a:prstGeom>
          <a:solidFill>
            <a:srgbClr val="2F80ED"/>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99" name="Text 23"/>
          <p:cNvSpPr/>
          <p:nvPr/>
        </p:nvSpPr>
        <p:spPr>
          <a:xfrm>
            <a:off x="2338560" y="336492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0.25</a:t>
            </a:r>
            <a:endParaRPr lang="it-IT" sz="750" b="0" u="none" strike="noStrike">
              <a:solidFill>
                <a:srgbClr val="000000"/>
              </a:solidFill>
              <a:effectLst/>
              <a:uFillTx/>
              <a:latin typeface="Arial"/>
            </a:endParaRPr>
          </a:p>
        </p:txBody>
      </p:sp>
      <p:sp>
        <p:nvSpPr>
          <p:cNvPr id="200" name="Text 24"/>
          <p:cNvSpPr/>
          <p:nvPr/>
        </p:nvSpPr>
        <p:spPr>
          <a:xfrm>
            <a:off x="731520" y="38404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other</a:t>
            </a:r>
            <a:endParaRPr lang="it-IT" sz="850" b="0" u="none" strike="noStrike">
              <a:solidFill>
                <a:srgbClr val="000000"/>
              </a:solidFill>
              <a:effectLst/>
              <a:uFillTx/>
              <a:latin typeface="Arial"/>
            </a:endParaRPr>
          </a:p>
        </p:txBody>
      </p:sp>
      <p:sp>
        <p:nvSpPr>
          <p:cNvPr id="201" name="Shape 25"/>
          <p:cNvSpPr/>
          <p:nvPr/>
        </p:nvSpPr>
        <p:spPr>
          <a:xfrm>
            <a:off x="1965960" y="382212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2" name="Shape 26"/>
          <p:cNvSpPr/>
          <p:nvPr/>
        </p:nvSpPr>
        <p:spPr>
          <a:xfrm>
            <a:off x="1965960" y="3822120"/>
            <a:ext cx="61200" cy="255600"/>
          </a:xfrm>
          <a:prstGeom prst="rect">
            <a:avLst/>
          </a:prstGeom>
          <a:solidFill>
            <a:srgbClr val="2F80ED"/>
          </a:solidFill>
          <a:ln w="1270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03" name="Text 27"/>
          <p:cNvSpPr/>
          <p:nvPr/>
        </p:nvSpPr>
        <p:spPr>
          <a:xfrm>
            <a:off x="2091600" y="38404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0.05</a:t>
            </a:r>
            <a:endParaRPr lang="it-IT" sz="750" b="0" u="none" strike="noStrike">
              <a:solidFill>
                <a:srgbClr val="000000"/>
              </a:solidFill>
              <a:effectLst/>
              <a:uFillTx/>
              <a:latin typeface="Arial"/>
            </a:endParaRPr>
          </a:p>
        </p:txBody>
      </p:sp>
      <p:sp>
        <p:nvSpPr>
          <p:cNvPr id="204" name="Text 28"/>
          <p:cNvSpPr/>
          <p:nvPr/>
        </p:nvSpPr>
        <p:spPr>
          <a:xfrm>
            <a:off x="731520" y="45720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0" u="none" strike="noStrike">
                <a:solidFill>
                  <a:srgbClr val="475467"/>
                </a:solidFill>
                <a:effectLst/>
                <a:uFillTx/>
                <a:latin typeface="Aptos"/>
                <a:ea typeface="Aptos"/>
              </a:rPr>
              <a:t>daily/weekly history may dominate</a:t>
            </a:r>
            <a:endParaRPr lang="it-IT" sz="800" b="0" u="none" strike="noStrike">
              <a:solidFill>
                <a:srgbClr val="000000"/>
              </a:solidFill>
              <a:effectLst/>
              <a:uFillTx/>
              <a:latin typeface="Arial"/>
            </a:endParaRPr>
          </a:p>
        </p:txBody>
      </p:sp>
      <p:sp>
        <p:nvSpPr>
          <p:cNvPr id="205" name="Shape 29"/>
          <p:cNvSpPr/>
          <p:nvPr/>
        </p:nvSpPr>
        <p:spPr>
          <a:xfrm>
            <a:off x="3703320" y="1234440"/>
            <a:ext cx="2331360" cy="420120"/>
          </a:xfrm>
          <a:prstGeom prst="roundRect">
            <a:avLst>
              <a:gd name="adj" fmla="val 17391"/>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6" name="Text 30"/>
          <p:cNvSpPr/>
          <p:nvPr/>
        </p:nvSpPr>
        <p:spPr>
          <a:xfrm>
            <a:off x="3749040" y="1271160"/>
            <a:ext cx="223992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Holiday</a:t>
            </a:r>
            <a:endParaRPr lang="it-IT" sz="1100" b="0" u="none" strike="noStrike">
              <a:solidFill>
                <a:srgbClr val="000000"/>
              </a:solidFill>
              <a:effectLst/>
              <a:uFillTx/>
              <a:latin typeface="Arial"/>
            </a:endParaRPr>
          </a:p>
        </p:txBody>
      </p:sp>
      <p:sp>
        <p:nvSpPr>
          <p:cNvPr id="207" name="Text 31"/>
          <p:cNvSpPr/>
          <p:nvPr/>
        </p:nvSpPr>
        <p:spPr>
          <a:xfrm>
            <a:off x="3703320" y="193860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t-1</a:t>
            </a:r>
            <a:endParaRPr lang="it-IT" sz="850" b="0" u="none" strike="noStrike">
              <a:solidFill>
                <a:srgbClr val="000000"/>
              </a:solidFill>
              <a:effectLst/>
              <a:uFillTx/>
              <a:latin typeface="Arial"/>
            </a:endParaRPr>
          </a:p>
        </p:txBody>
      </p:sp>
      <p:sp>
        <p:nvSpPr>
          <p:cNvPr id="208" name="Shape 32"/>
          <p:cNvSpPr/>
          <p:nvPr/>
        </p:nvSpPr>
        <p:spPr>
          <a:xfrm>
            <a:off x="4937760" y="192024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9" name="Shape 33"/>
          <p:cNvSpPr/>
          <p:nvPr/>
        </p:nvSpPr>
        <p:spPr>
          <a:xfrm>
            <a:off x="4937760" y="1920240"/>
            <a:ext cx="98280" cy="2556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0" name="Text 34"/>
          <p:cNvSpPr/>
          <p:nvPr/>
        </p:nvSpPr>
        <p:spPr>
          <a:xfrm>
            <a:off x="5100480" y="193860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0.08</a:t>
            </a:r>
            <a:endParaRPr lang="it-IT" sz="750" b="0" u="none" strike="noStrike">
              <a:solidFill>
                <a:srgbClr val="000000"/>
              </a:solidFill>
              <a:effectLst/>
              <a:uFillTx/>
              <a:latin typeface="Arial"/>
            </a:endParaRPr>
          </a:p>
        </p:txBody>
      </p:sp>
      <p:sp>
        <p:nvSpPr>
          <p:cNvPr id="211" name="Text 35"/>
          <p:cNvSpPr/>
          <p:nvPr/>
        </p:nvSpPr>
        <p:spPr>
          <a:xfrm>
            <a:off x="3703320" y="24141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t-2</a:t>
            </a:r>
            <a:endParaRPr lang="it-IT" sz="850" b="0" u="none" strike="noStrike">
              <a:solidFill>
                <a:srgbClr val="000000"/>
              </a:solidFill>
              <a:effectLst/>
              <a:uFillTx/>
              <a:latin typeface="Arial"/>
            </a:endParaRPr>
          </a:p>
        </p:txBody>
      </p:sp>
      <p:sp>
        <p:nvSpPr>
          <p:cNvPr id="212" name="Shape 36"/>
          <p:cNvSpPr/>
          <p:nvPr/>
        </p:nvSpPr>
        <p:spPr>
          <a:xfrm>
            <a:off x="4937760" y="239580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3" name="Shape 37"/>
          <p:cNvSpPr/>
          <p:nvPr/>
        </p:nvSpPr>
        <p:spPr>
          <a:xfrm>
            <a:off x="4937760" y="2395800"/>
            <a:ext cx="123120" cy="2556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4" name="Text 38"/>
          <p:cNvSpPr/>
          <p:nvPr/>
        </p:nvSpPr>
        <p:spPr>
          <a:xfrm>
            <a:off x="5125320" y="24141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0.10</a:t>
            </a:r>
            <a:endParaRPr lang="it-IT" sz="750" b="0" u="none" strike="noStrike">
              <a:solidFill>
                <a:srgbClr val="000000"/>
              </a:solidFill>
              <a:effectLst/>
              <a:uFillTx/>
              <a:latin typeface="Arial"/>
            </a:endParaRPr>
          </a:p>
        </p:txBody>
      </p:sp>
      <p:sp>
        <p:nvSpPr>
          <p:cNvPr id="215" name="Text 39"/>
          <p:cNvSpPr/>
          <p:nvPr/>
        </p:nvSpPr>
        <p:spPr>
          <a:xfrm>
            <a:off x="3703320" y="28893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t-24</a:t>
            </a:r>
            <a:endParaRPr lang="it-IT" sz="850" b="0" u="none" strike="noStrike">
              <a:solidFill>
                <a:srgbClr val="000000"/>
              </a:solidFill>
              <a:effectLst/>
              <a:uFillTx/>
              <a:latin typeface="Arial"/>
            </a:endParaRPr>
          </a:p>
        </p:txBody>
      </p:sp>
      <p:sp>
        <p:nvSpPr>
          <p:cNvPr id="216" name="Shape 40"/>
          <p:cNvSpPr/>
          <p:nvPr/>
        </p:nvSpPr>
        <p:spPr>
          <a:xfrm>
            <a:off x="4937760" y="287136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7" name="Shape 41"/>
          <p:cNvSpPr/>
          <p:nvPr/>
        </p:nvSpPr>
        <p:spPr>
          <a:xfrm>
            <a:off x="4937760" y="2871360"/>
            <a:ext cx="221760" cy="2556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8" name="Text 42"/>
          <p:cNvSpPr/>
          <p:nvPr/>
        </p:nvSpPr>
        <p:spPr>
          <a:xfrm>
            <a:off x="5223960" y="28893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0.18</a:t>
            </a:r>
            <a:endParaRPr lang="it-IT" sz="750" b="0" u="none" strike="noStrike">
              <a:solidFill>
                <a:srgbClr val="000000"/>
              </a:solidFill>
              <a:effectLst/>
              <a:uFillTx/>
              <a:latin typeface="Arial"/>
            </a:endParaRPr>
          </a:p>
        </p:txBody>
      </p:sp>
      <p:sp>
        <p:nvSpPr>
          <p:cNvPr id="219" name="Text 43"/>
          <p:cNvSpPr/>
          <p:nvPr/>
        </p:nvSpPr>
        <p:spPr>
          <a:xfrm>
            <a:off x="3703320" y="336492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t-168</a:t>
            </a:r>
            <a:endParaRPr lang="it-IT" sz="850" b="0" u="none" strike="noStrike">
              <a:solidFill>
                <a:srgbClr val="000000"/>
              </a:solidFill>
              <a:effectLst/>
              <a:uFillTx/>
              <a:latin typeface="Arial"/>
            </a:endParaRPr>
          </a:p>
        </p:txBody>
      </p:sp>
      <p:sp>
        <p:nvSpPr>
          <p:cNvPr id="220" name="Shape 44"/>
          <p:cNvSpPr/>
          <p:nvPr/>
        </p:nvSpPr>
        <p:spPr>
          <a:xfrm>
            <a:off x="4937760" y="334656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21" name="Shape 45"/>
          <p:cNvSpPr/>
          <p:nvPr/>
        </p:nvSpPr>
        <p:spPr>
          <a:xfrm>
            <a:off x="4937760" y="3346560"/>
            <a:ext cx="641520" cy="2556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22" name="Text 46"/>
          <p:cNvSpPr/>
          <p:nvPr/>
        </p:nvSpPr>
        <p:spPr>
          <a:xfrm>
            <a:off x="5643720" y="336492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0.52</a:t>
            </a:r>
            <a:endParaRPr lang="it-IT" sz="750" b="0" u="none" strike="noStrike">
              <a:solidFill>
                <a:srgbClr val="000000"/>
              </a:solidFill>
              <a:effectLst/>
              <a:uFillTx/>
              <a:latin typeface="Arial"/>
            </a:endParaRPr>
          </a:p>
        </p:txBody>
      </p:sp>
      <p:sp>
        <p:nvSpPr>
          <p:cNvPr id="223" name="Text 47"/>
          <p:cNvSpPr/>
          <p:nvPr/>
        </p:nvSpPr>
        <p:spPr>
          <a:xfrm>
            <a:off x="3703320" y="38404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other</a:t>
            </a:r>
            <a:endParaRPr lang="it-IT" sz="850" b="0" u="none" strike="noStrike">
              <a:solidFill>
                <a:srgbClr val="000000"/>
              </a:solidFill>
              <a:effectLst/>
              <a:uFillTx/>
              <a:latin typeface="Arial"/>
            </a:endParaRPr>
          </a:p>
        </p:txBody>
      </p:sp>
      <p:sp>
        <p:nvSpPr>
          <p:cNvPr id="224" name="Shape 48"/>
          <p:cNvSpPr/>
          <p:nvPr/>
        </p:nvSpPr>
        <p:spPr>
          <a:xfrm>
            <a:off x="4937760" y="382212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25" name="Shape 49"/>
          <p:cNvSpPr/>
          <p:nvPr/>
        </p:nvSpPr>
        <p:spPr>
          <a:xfrm>
            <a:off x="4937760" y="3822120"/>
            <a:ext cx="147600" cy="2556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26" name="Text 50"/>
          <p:cNvSpPr/>
          <p:nvPr/>
        </p:nvSpPr>
        <p:spPr>
          <a:xfrm>
            <a:off x="5149800" y="38404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0.12</a:t>
            </a:r>
            <a:endParaRPr lang="it-IT" sz="750" b="0" u="none" strike="noStrike">
              <a:solidFill>
                <a:srgbClr val="000000"/>
              </a:solidFill>
              <a:effectLst/>
              <a:uFillTx/>
              <a:latin typeface="Arial"/>
            </a:endParaRPr>
          </a:p>
        </p:txBody>
      </p:sp>
      <p:sp>
        <p:nvSpPr>
          <p:cNvPr id="227" name="Text 51"/>
          <p:cNvSpPr/>
          <p:nvPr/>
        </p:nvSpPr>
        <p:spPr>
          <a:xfrm>
            <a:off x="3703320" y="45720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0" u="none" strike="noStrike">
                <a:solidFill>
                  <a:srgbClr val="475467"/>
                </a:solidFill>
                <a:effectLst/>
                <a:uFillTx/>
                <a:latin typeface="Aptos"/>
                <a:ea typeface="Aptos"/>
              </a:rPr>
              <a:t>similar holiday periods become more relevant</a:t>
            </a:r>
            <a:endParaRPr lang="it-IT" sz="800" b="0" u="none" strike="noStrike">
              <a:solidFill>
                <a:srgbClr val="000000"/>
              </a:solidFill>
              <a:effectLst/>
              <a:uFillTx/>
              <a:latin typeface="Arial"/>
            </a:endParaRPr>
          </a:p>
        </p:txBody>
      </p:sp>
      <p:sp>
        <p:nvSpPr>
          <p:cNvPr id="228" name="Shape 52"/>
          <p:cNvSpPr/>
          <p:nvPr/>
        </p:nvSpPr>
        <p:spPr>
          <a:xfrm>
            <a:off x="6675120" y="1234440"/>
            <a:ext cx="2331360" cy="420120"/>
          </a:xfrm>
          <a:prstGeom prst="roundRect">
            <a:avLst>
              <a:gd name="adj" fmla="val 17391"/>
            </a:avLst>
          </a:prstGeom>
          <a:solidFill>
            <a:srgbClr val="FDECEC"/>
          </a:solidFill>
          <a:ln w="1524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29" name="Text 53"/>
          <p:cNvSpPr/>
          <p:nvPr/>
        </p:nvSpPr>
        <p:spPr>
          <a:xfrm>
            <a:off x="6720840" y="1271160"/>
            <a:ext cx="2239920" cy="347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Disturbance</a:t>
            </a:r>
            <a:endParaRPr lang="it-IT" sz="1100" b="0" u="none" strike="noStrike">
              <a:solidFill>
                <a:srgbClr val="000000"/>
              </a:solidFill>
              <a:effectLst/>
              <a:uFillTx/>
              <a:latin typeface="Arial"/>
            </a:endParaRPr>
          </a:p>
        </p:txBody>
      </p:sp>
      <p:sp>
        <p:nvSpPr>
          <p:cNvPr id="230" name="Text 54"/>
          <p:cNvSpPr/>
          <p:nvPr/>
        </p:nvSpPr>
        <p:spPr>
          <a:xfrm>
            <a:off x="6675120" y="193860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t-1</a:t>
            </a:r>
            <a:endParaRPr lang="it-IT" sz="850" b="0" u="none" strike="noStrike">
              <a:solidFill>
                <a:srgbClr val="000000"/>
              </a:solidFill>
              <a:effectLst/>
              <a:uFillTx/>
              <a:latin typeface="Arial"/>
            </a:endParaRPr>
          </a:p>
        </p:txBody>
      </p:sp>
      <p:sp>
        <p:nvSpPr>
          <p:cNvPr id="231" name="Shape 55"/>
          <p:cNvSpPr/>
          <p:nvPr/>
        </p:nvSpPr>
        <p:spPr>
          <a:xfrm>
            <a:off x="7909560" y="192024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2" name="Shape 56"/>
          <p:cNvSpPr/>
          <p:nvPr/>
        </p:nvSpPr>
        <p:spPr>
          <a:xfrm>
            <a:off x="7909560" y="1920240"/>
            <a:ext cx="678600" cy="255600"/>
          </a:xfrm>
          <a:prstGeom prst="rect">
            <a:avLst/>
          </a:prstGeom>
          <a:solidFill>
            <a:srgbClr val="EB5757"/>
          </a:solidFill>
          <a:ln w="1270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33" name="Text 57"/>
          <p:cNvSpPr/>
          <p:nvPr/>
        </p:nvSpPr>
        <p:spPr>
          <a:xfrm>
            <a:off x="8652600" y="193860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0.55</a:t>
            </a:r>
            <a:endParaRPr lang="it-IT" sz="750" b="0" u="none" strike="noStrike">
              <a:solidFill>
                <a:srgbClr val="000000"/>
              </a:solidFill>
              <a:effectLst/>
              <a:uFillTx/>
              <a:latin typeface="Arial"/>
            </a:endParaRPr>
          </a:p>
        </p:txBody>
      </p:sp>
      <p:sp>
        <p:nvSpPr>
          <p:cNvPr id="234" name="Text 58"/>
          <p:cNvSpPr/>
          <p:nvPr/>
        </p:nvSpPr>
        <p:spPr>
          <a:xfrm>
            <a:off x="6675120" y="24141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t-2</a:t>
            </a:r>
            <a:endParaRPr lang="it-IT" sz="850" b="0" u="none" strike="noStrike">
              <a:solidFill>
                <a:srgbClr val="000000"/>
              </a:solidFill>
              <a:effectLst/>
              <a:uFillTx/>
              <a:latin typeface="Arial"/>
            </a:endParaRPr>
          </a:p>
        </p:txBody>
      </p:sp>
      <p:sp>
        <p:nvSpPr>
          <p:cNvPr id="235" name="Shape 59"/>
          <p:cNvSpPr/>
          <p:nvPr/>
        </p:nvSpPr>
        <p:spPr>
          <a:xfrm>
            <a:off x="7909560" y="239580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6" name="Shape 60"/>
          <p:cNvSpPr/>
          <p:nvPr/>
        </p:nvSpPr>
        <p:spPr>
          <a:xfrm>
            <a:off x="7909560" y="2395800"/>
            <a:ext cx="271080" cy="255600"/>
          </a:xfrm>
          <a:prstGeom prst="rect">
            <a:avLst/>
          </a:prstGeom>
          <a:solidFill>
            <a:srgbClr val="EB5757"/>
          </a:solidFill>
          <a:ln w="1270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37" name="Text 61"/>
          <p:cNvSpPr/>
          <p:nvPr/>
        </p:nvSpPr>
        <p:spPr>
          <a:xfrm>
            <a:off x="8245080" y="24141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0.22</a:t>
            </a:r>
            <a:endParaRPr lang="it-IT" sz="750" b="0" u="none" strike="noStrike">
              <a:solidFill>
                <a:srgbClr val="000000"/>
              </a:solidFill>
              <a:effectLst/>
              <a:uFillTx/>
              <a:latin typeface="Arial"/>
            </a:endParaRPr>
          </a:p>
        </p:txBody>
      </p:sp>
      <p:sp>
        <p:nvSpPr>
          <p:cNvPr id="238" name="Text 62"/>
          <p:cNvSpPr/>
          <p:nvPr/>
        </p:nvSpPr>
        <p:spPr>
          <a:xfrm>
            <a:off x="6675120" y="28893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t-24</a:t>
            </a:r>
            <a:endParaRPr lang="it-IT" sz="850" b="0" u="none" strike="noStrike">
              <a:solidFill>
                <a:srgbClr val="000000"/>
              </a:solidFill>
              <a:effectLst/>
              <a:uFillTx/>
              <a:latin typeface="Arial"/>
            </a:endParaRPr>
          </a:p>
        </p:txBody>
      </p:sp>
      <p:sp>
        <p:nvSpPr>
          <p:cNvPr id="239" name="Shape 63"/>
          <p:cNvSpPr/>
          <p:nvPr/>
        </p:nvSpPr>
        <p:spPr>
          <a:xfrm>
            <a:off x="7909560" y="287136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0" name="Shape 64"/>
          <p:cNvSpPr/>
          <p:nvPr/>
        </p:nvSpPr>
        <p:spPr>
          <a:xfrm>
            <a:off x="7909560" y="2871360"/>
            <a:ext cx="98280" cy="255600"/>
          </a:xfrm>
          <a:prstGeom prst="rect">
            <a:avLst/>
          </a:prstGeom>
          <a:solidFill>
            <a:srgbClr val="EB5757"/>
          </a:solidFill>
          <a:ln w="1270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41" name="Text 65"/>
          <p:cNvSpPr/>
          <p:nvPr/>
        </p:nvSpPr>
        <p:spPr>
          <a:xfrm>
            <a:off x="8072280" y="28893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0.08</a:t>
            </a:r>
            <a:endParaRPr lang="it-IT" sz="750" b="0" u="none" strike="noStrike">
              <a:solidFill>
                <a:srgbClr val="000000"/>
              </a:solidFill>
              <a:effectLst/>
              <a:uFillTx/>
              <a:latin typeface="Arial"/>
            </a:endParaRPr>
          </a:p>
        </p:txBody>
      </p:sp>
      <p:sp>
        <p:nvSpPr>
          <p:cNvPr id="242" name="Text 66"/>
          <p:cNvSpPr/>
          <p:nvPr/>
        </p:nvSpPr>
        <p:spPr>
          <a:xfrm>
            <a:off x="6675120" y="336492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t-168</a:t>
            </a:r>
            <a:endParaRPr lang="it-IT" sz="850" b="0" u="none" strike="noStrike">
              <a:solidFill>
                <a:srgbClr val="000000"/>
              </a:solidFill>
              <a:effectLst/>
              <a:uFillTx/>
              <a:latin typeface="Arial"/>
            </a:endParaRPr>
          </a:p>
        </p:txBody>
      </p:sp>
      <p:sp>
        <p:nvSpPr>
          <p:cNvPr id="243" name="Shape 67"/>
          <p:cNvSpPr/>
          <p:nvPr/>
        </p:nvSpPr>
        <p:spPr>
          <a:xfrm>
            <a:off x="7909560" y="334656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4" name="Shape 68"/>
          <p:cNvSpPr/>
          <p:nvPr/>
        </p:nvSpPr>
        <p:spPr>
          <a:xfrm>
            <a:off x="7909560" y="3346560"/>
            <a:ext cx="61200" cy="255600"/>
          </a:xfrm>
          <a:prstGeom prst="rect">
            <a:avLst/>
          </a:prstGeom>
          <a:solidFill>
            <a:srgbClr val="EB5757"/>
          </a:solidFill>
          <a:ln w="1270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45" name="Text 69"/>
          <p:cNvSpPr/>
          <p:nvPr/>
        </p:nvSpPr>
        <p:spPr>
          <a:xfrm>
            <a:off x="8035200" y="336492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0.05</a:t>
            </a:r>
            <a:endParaRPr lang="it-IT" sz="750" b="0" u="none" strike="noStrike">
              <a:solidFill>
                <a:srgbClr val="000000"/>
              </a:solidFill>
              <a:effectLst/>
              <a:uFillTx/>
              <a:latin typeface="Arial"/>
            </a:endParaRPr>
          </a:p>
        </p:txBody>
      </p:sp>
      <p:sp>
        <p:nvSpPr>
          <p:cNvPr id="246" name="Text 70"/>
          <p:cNvSpPr/>
          <p:nvPr/>
        </p:nvSpPr>
        <p:spPr>
          <a:xfrm>
            <a:off x="6675120" y="38404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other</a:t>
            </a:r>
            <a:endParaRPr lang="it-IT" sz="850" b="0" u="none" strike="noStrike">
              <a:solidFill>
                <a:srgbClr val="000000"/>
              </a:solidFill>
              <a:effectLst/>
              <a:uFillTx/>
              <a:latin typeface="Arial"/>
            </a:endParaRPr>
          </a:p>
        </p:txBody>
      </p:sp>
      <p:sp>
        <p:nvSpPr>
          <p:cNvPr id="247" name="Shape 71"/>
          <p:cNvSpPr/>
          <p:nvPr/>
        </p:nvSpPr>
        <p:spPr>
          <a:xfrm>
            <a:off x="7909560" y="3822120"/>
            <a:ext cx="123408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8" name="Shape 72"/>
          <p:cNvSpPr/>
          <p:nvPr/>
        </p:nvSpPr>
        <p:spPr>
          <a:xfrm>
            <a:off x="7909560" y="3822120"/>
            <a:ext cx="123120" cy="255600"/>
          </a:xfrm>
          <a:prstGeom prst="rect">
            <a:avLst/>
          </a:prstGeom>
          <a:solidFill>
            <a:srgbClr val="EB5757"/>
          </a:solidFill>
          <a:ln w="1270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49" name="Text 73"/>
          <p:cNvSpPr/>
          <p:nvPr/>
        </p:nvSpPr>
        <p:spPr>
          <a:xfrm>
            <a:off x="8097120" y="38404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0.10</a:t>
            </a:r>
            <a:endParaRPr lang="it-IT" sz="750" b="0" u="none" strike="noStrike">
              <a:solidFill>
                <a:srgbClr val="000000"/>
              </a:solidFill>
              <a:effectLst/>
              <a:uFillTx/>
              <a:latin typeface="Arial"/>
            </a:endParaRPr>
          </a:p>
        </p:txBody>
      </p:sp>
      <p:sp>
        <p:nvSpPr>
          <p:cNvPr id="250" name="Text 74"/>
          <p:cNvSpPr/>
          <p:nvPr/>
        </p:nvSpPr>
        <p:spPr>
          <a:xfrm>
            <a:off x="6675120" y="4572000"/>
            <a:ext cx="233136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0" u="none" strike="noStrike">
                <a:solidFill>
                  <a:srgbClr val="475467"/>
                </a:solidFill>
                <a:effectLst/>
                <a:uFillTx/>
                <a:latin typeface="Aptos"/>
                <a:ea typeface="Aptos"/>
              </a:rPr>
              <a:t>recent observations dominate</a:t>
            </a:r>
            <a:endParaRPr lang="it-IT" sz="800" b="0" u="none" strike="noStrike">
              <a:solidFill>
                <a:srgbClr val="000000"/>
              </a:solidFill>
              <a:effectLst/>
              <a:uFillTx/>
              <a:latin typeface="Arial"/>
            </a:endParaRPr>
          </a:p>
        </p:txBody>
      </p:sp>
      <p:sp>
        <p:nvSpPr>
          <p:cNvPr id="251" name="Shape 75"/>
          <p:cNvSpPr/>
          <p:nvPr/>
        </p:nvSpPr>
        <p:spPr>
          <a:xfrm>
            <a:off x="868680" y="5532120"/>
            <a:ext cx="7954920" cy="438480"/>
          </a:xfrm>
          <a:prstGeom prst="roundRect">
            <a:avLst>
              <a:gd name="adj" fmla="val 16667"/>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2" name="Text 76"/>
          <p:cNvSpPr/>
          <p:nvPr/>
        </p:nvSpPr>
        <p:spPr>
          <a:xfrm>
            <a:off x="914400" y="5568840"/>
            <a:ext cx="786348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Same model, different attention weights</a:t>
            </a:r>
            <a:endParaRPr lang="it-IT" sz="1200" b="0" u="none" strike="noStrike">
              <a:solidFill>
                <a:srgbClr val="000000"/>
              </a:solidFill>
              <a:effectLst/>
              <a:uFillTx/>
              <a:latin typeface="Arial"/>
            </a:endParaRPr>
          </a:p>
        </p:txBody>
      </p:sp>
      <p:sp>
        <p:nvSpPr>
          <p:cNvPr id="253" name="Text 77"/>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i="1" u="none" strike="noStrike" dirty="0">
                <a:solidFill>
                  <a:srgbClr val="475467"/>
                </a:solidFill>
                <a:effectLst/>
                <a:uFillTx/>
                <a:latin typeface="Aptos"/>
              </a:rPr>
              <a:t>The weighting pattern is computed from the current sequence, not fixed once for all samples.</a:t>
            </a:r>
            <a:endParaRPr lang="it-IT" sz="1100" b="1"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4D661F-E8E7-A076-2FB4-13A8306AD2B6}"/>
              </a:ext>
            </a:extLst>
          </p:cNvPr>
          <p:cNvSpPr>
            <a:spLocks noGrp="1"/>
          </p:cNvSpPr>
          <p:nvPr>
            <p:ph type="title"/>
          </p:nvPr>
        </p:nvSpPr>
        <p:spPr/>
        <p:txBody>
          <a:bodyPr/>
          <a:lstStyle/>
          <a:p>
            <a:r>
              <a:rPr lang="en-GB" dirty="0"/>
              <a:t>Attention as adaptive information selection</a:t>
            </a:r>
          </a:p>
        </p:txBody>
      </p:sp>
      <p:sp>
        <p:nvSpPr>
          <p:cNvPr id="3" name="Segnaposto testo 2">
            <a:extLst>
              <a:ext uri="{FF2B5EF4-FFF2-40B4-BE49-F238E27FC236}">
                <a16:creationId xmlns:a16="http://schemas.microsoft.com/office/drawing/2014/main" id="{5CFAB833-327D-9732-1F00-0CCB7CD21157}"/>
              </a:ext>
            </a:extLst>
          </p:cNvPr>
          <p:cNvSpPr>
            <a:spLocks noGrp="1"/>
          </p:cNvSpPr>
          <p:nvPr>
            <p:ph type="body"/>
          </p:nvPr>
        </p:nvSpPr>
        <p:spPr/>
        <p:txBody>
          <a:bodyPr>
            <a:normAutofit lnSpcReduction="10000"/>
          </a:bodyPr>
          <a:lstStyle/>
          <a:p>
            <a:r>
              <a:rPr lang="en-GB" dirty="0"/>
              <a:t>Suppose the model is constructing a representation for time t.</a:t>
            </a:r>
          </a:p>
          <a:p>
            <a:r>
              <a:rPr lang="en-GB" dirty="0"/>
              <a:t>There are many candidate positions: x[1], x[2], ..., x[t−2], x[t−1], x[t]</a:t>
            </a:r>
          </a:p>
          <a:p>
            <a:r>
              <a:rPr lang="en-GB" b="1" dirty="0"/>
              <a:t>The model assigns different importance to them.</a:t>
            </a:r>
          </a:p>
          <a:p>
            <a:r>
              <a:rPr lang="en-GB" dirty="0"/>
              <a:t>Example:</a:t>
            </a:r>
          </a:p>
          <a:p>
            <a:pPr lvl="1"/>
            <a:r>
              <a:rPr lang="en-GB" dirty="0"/>
              <a:t>position       attention weight</a:t>
            </a:r>
          </a:p>
          <a:p>
            <a:pPr lvl="1"/>
            <a:r>
              <a:rPr lang="en-GB" dirty="0"/>
              <a:t>t−1                 0.30</a:t>
            </a:r>
          </a:p>
          <a:p>
            <a:pPr lvl="1"/>
            <a:r>
              <a:rPr lang="en-GB" dirty="0"/>
              <a:t>t−2                 0.08</a:t>
            </a:r>
          </a:p>
          <a:p>
            <a:pPr lvl="1"/>
            <a:r>
              <a:rPr lang="en-GB" dirty="0"/>
              <a:t>t−24                0.35</a:t>
            </a:r>
          </a:p>
          <a:p>
            <a:pPr lvl="1"/>
            <a:r>
              <a:rPr lang="en-GB" dirty="0"/>
              <a:t>t−168               0.22</a:t>
            </a:r>
          </a:p>
          <a:p>
            <a:pPr lvl="1"/>
            <a:r>
              <a:rPr lang="en-GB" dirty="0"/>
              <a:t>other positions      0.05</a:t>
            </a:r>
          </a:p>
          <a:p>
            <a:r>
              <a:rPr lang="en-GB" dirty="0"/>
              <a:t>The resulting representation combines information according to those weights.</a:t>
            </a:r>
          </a:p>
          <a:p>
            <a:endParaRPr lang="en-GB" dirty="0"/>
          </a:p>
        </p:txBody>
      </p:sp>
    </p:spTree>
    <p:extLst>
      <p:ext uri="{BB962C8B-B14F-4D97-AF65-F5344CB8AC3E}">
        <p14:creationId xmlns:p14="http://schemas.microsoft.com/office/powerpoint/2010/main" val="147270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12D54A-C4E3-B71A-0E8E-44559FA41660}"/>
              </a:ext>
            </a:extLst>
          </p:cNvPr>
          <p:cNvSpPr>
            <a:spLocks noGrp="1"/>
          </p:cNvSpPr>
          <p:nvPr>
            <p:ph type="title"/>
          </p:nvPr>
        </p:nvSpPr>
        <p:spPr/>
        <p:txBody>
          <a:bodyPr/>
          <a:lstStyle/>
          <a:p>
            <a:r>
              <a:rPr lang="en-GB" dirty="0"/>
              <a:t>Attention as adaptive information selection</a:t>
            </a:r>
          </a:p>
        </p:txBody>
      </p:sp>
      <p:sp>
        <p:nvSpPr>
          <p:cNvPr id="3" name="Segnaposto contenuto 2">
            <a:extLst>
              <a:ext uri="{FF2B5EF4-FFF2-40B4-BE49-F238E27FC236}">
                <a16:creationId xmlns:a16="http://schemas.microsoft.com/office/drawing/2014/main" id="{C7FF0006-A49E-5FD6-5633-3FF423416A9E}"/>
              </a:ext>
            </a:extLst>
          </p:cNvPr>
          <p:cNvSpPr>
            <a:spLocks noGrp="1"/>
          </p:cNvSpPr>
          <p:nvPr>
            <p:ph idx="1"/>
          </p:nvPr>
        </p:nvSpPr>
        <p:spPr/>
        <p:txBody>
          <a:bodyPr>
            <a:normAutofit fontScale="62500" lnSpcReduction="20000"/>
          </a:bodyPr>
          <a:lstStyle/>
          <a:p>
            <a:r>
              <a:rPr lang="en-GB" b="1" dirty="0"/>
              <a:t>Interpretation</a:t>
            </a:r>
          </a:p>
          <a:p>
            <a:r>
              <a:rPr lang="en-GB" dirty="0"/>
              <a:t>The model may learn simultaneously that:</a:t>
            </a:r>
          </a:p>
          <a:p>
            <a:pPr lvl="1"/>
            <a:r>
              <a:rPr lang="en-GB" dirty="0"/>
              <a:t>very recent history matters; </a:t>
            </a:r>
          </a:p>
          <a:p>
            <a:pPr lvl="1"/>
            <a:r>
              <a:rPr lang="en-GB" dirty="0"/>
              <a:t>daily periodicity matters; </a:t>
            </a:r>
          </a:p>
          <a:p>
            <a:pPr lvl="1"/>
            <a:r>
              <a:rPr lang="en-GB" dirty="0"/>
              <a:t>weekly periodicity matters. </a:t>
            </a:r>
          </a:p>
          <a:p>
            <a:r>
              <a:rPr lang="en-GB" b="1" dirty="0"/>
              <a:t>And the relative importance can vary between samples.</a:t>
            </a:r>
          </a:p>
          <a:p>
            <a:endParaRPr lang="en-GB" b="1" dirty="0"/>
          </a:p>
          <a:p>
            <a:r>
              <a:rPr lang="en-GB" b="1" dirty="0"/>
              <a:t>This is fundamentally different from manually selecting lags</a:t>
            </a:r>
          </a:p>
          <a:p>
            <a:r>
              <a:rPr lang="en-GB" dirty="0"/>
              <a:t>Feature engineering might </a:t>
            </a:r>
            <a:r>
              <a:rPr lang="en-GB" b="1" dirty="0"/>
              <a:t>explicitly provide</a:t>
            </a:r>
            <a:r>
              <a:rPr lang="en-GB" dirty="0"/>
              <a:t>:</a:t>
            </a:r>
          </a:p>
          <a:p>
            <a:pPr lvl="1"/>
            <a:r>
              <a:rPr lang="en-GB" dirty="0"/>
              <a:t>x[t−1]</a:t>
            </a:r>
          </a:p>
          <a:p>
            <a:pPr lvl="1"/>
            <a:r>
              <a:rPr lang="en-GB" dirty="0"/>
              <a:t>x[t−24]</a:t>
            </a:r>
          </a:p>
          <a:p>
            <a:pPr lvl="1"/>
            <a:r>
              <a:rPr lang="en-GB" dirty="0"/>
              <a:t>x[t−168]</a:t>
            </a:r>
          </a:p>
          <a:p>
            <a:endParaRPr lang="en-GB" b="1" dirty="0"/>
          </a:p>
          <a:p>
            <a:r>
              <a:rPr lang="en-GB" b="1" dirty="0"/>
              <a:t>Attention can learn, from the training objective, which input positions are relevant for each current representation, with the relevance weights depending on the specific input.</a:t>
            </a:r>
          </a:p>
        </p:txBody>
      </p:sp>
    </p:spTree>
    <p:extLst>
      <p:ext uri="{BB962C8B-B14F-4D97-AF65-F5344CB8AC3E}">
        <p14:creationId xmlns:p14="http://schemas.microsoft.com/office/powerpoint/2010/main" val="205979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5"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56"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7"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58"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Adaptive information selection</a:t>
            </a:r>
            <a:endParaRPr lang="it-IT" sz="2200" b="0" u="none" strike="noStrike">
              <a:solidFill>
                <a:srgbClr val="000000"/>
              </a:solidFill>
              <a:effectLst/>
              <a:uFillTx/>
              <a:latin typeface="Arial"/>
            </a:endParaRPr>
          </a:p>
        </p:txBody>
      </p:sp>
      <p:sp>
        <p:nvSpPr>
          <p:cNvPr id="259"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dirty="0">
                <a:solidFill>
                  <a:srgbClr val="475467"/>
                </a:solidFill>
                <a:effectLst/>
                <a:uFillTx/>
                <a:latin typeface="Aptos"/>
              </a:rPr>
              <a:t>Attention combines candidate positions according to learned relevance weights, depending on the specific input</a:t>
            </a:r>
            <a:endParaRPr lang="it-IT" sz="1050" b="0" u="none" strike="noStrike" dirty="0">
              <a:solidFill>
                <a:srgbClr val="000000"/>
              </a:solidFill>
              <a:effectLst/>
              <a:uFillTx/>
              <a:latin typeface="Arial"/>
            </a:endParaRPr>
          </a:p>
        </p:txBody>
      </p:sp>
      <p:sp>
        <p:nvSpPr>
          <p:cNvPr id="260" name="Shape 6"/>
          <p:cNvSpPr/>
          <p:nvPr/>
        </p:nvSpPr>
        <p:spPr>
          <a:xfrm>
            <a:off x="914400" y="3017520"/>
            <a:ext cx="7772400" cy="360"/>
          </a:xfrm>
          <a:prstGeom prst="line">
            <a:avLst/>
          </a:prstGeom>
          <a:ln w="19050">
            <a:solidFill>
              <a:srgbClr val="D0D5D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61" name="Shape 7"/>
          <p:cNvSpPr/>
          <p:nvPr/>
        </p:nvSpPr>
        <p:spPr>
          <a:xfrm>
            <a:off x="1097280" y="2788920"/>
            <a:ext cx="502560" cy="411120"/>
          </a:xfrm>
          <a:prstGeom prst="roundRect">
            <a:avLst>
              <a:gd name="adj" fmla="val 17778"/>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2" name="Text 8"/>
          <p:cNvSpPr/>
          <p:nvPr/>
        </p:nvSpPr>
        <p:spPr>
          <a:xfrm>
            <a:off x="1143000" y="2825640"/>
            <a:ext cx="411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t-168</a:t>
            </a:r>
            <a:endParaRPr lang="it-IT" sz="850" b="0" u="none" strike="noStrike">
              <a:solidFill>
                <a:srgbClr val="000000"/>
              </a:solidFill>
              <a:effectLst/>
              <a:uFillTx/>
              <a:latin typeface="Arial"/>
            </a:endParaRPr>
          </a:p>
        </p:txBody>
      </p:sp>
      <p:sp>
        <p:nvSpPr>
          <p:cNvPr id="263" name="Text 9"/>
          <p:cNvSpPr/>
          <p:nvPr/>
        </p:nvSpPr>
        <p:spPr>
          <a:xfrm>
            <a:off x="1024200" y="3337560"/>
            <a:ext cx="685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w=0.22</a:t>
            </a:r>
            <a:endParaRPr lang="it-IT" sz="850" b="0" u="none" strike="noStrike">
              <a:solidFill>
                <a:srgbClr val="000000"/>
              </a:solidFill>
              <a:effectLst/>
              <a:uFillTx/>
              <a:latin typeface="Arial"/>
            </a:endParaRPr>
          </a:p>
        </p:txBody>
      </p:sp>
      <p:sp>
        <p:nvSpPr>
          <p:cNvPr id="264" name="Shape 10"/>
          <p:cNvSpPr/>
          <p:nvPr/>
        </p:nvSpPr>
        <p:spPr>
          <a:xfrm flipV="1">
            <a:off x="1353240" y="2011680"/>
            <a:ext cx="5394960" cy="77724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65" name="Shape 11"/>
          <p:cNvSpPr/>
          <p:nvPr/>
        </p:nvSpPr>
        <p:spPr>
          <a:xfrm>
            <a:off x="2194560" y="2788920"/>
            <a:ext cx="502560" cy="411120"/>
          </a:xfrm>
          <a:prstGeom prst="roundRect">
            <a:avLst>
              <a:gd name="adj" fmla="val 17778"/>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6" name="Text 12"/>
          <p:cNvSpPr/>
          <p:nvPr/>
        </p:nvSpPr>
        <p:spPr>
          <a:xfrm>
            <a:off x="2240280" y="2825640"/>
            <a:ext cx="411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t-24</a:t>
            </a:r>
            <a:endParaRPr lang="it-IT" sz="850" b="0" u="none" strike="noStrike">
              <a:solidFill>
                <a:srgbClr val="000000"/>
              </a:solidFill>
              <a:effectLst/>
              <a:uFillTx/>
              <a:latin typeface="Arial"/>
            </a:endParaRPr>
          </a:p>
        </p:txBody>
      </p:sp>
      <p:sp>
        <p:nvSpPr>
          <p:cNvPr id="267" name="Text 13"/>
          <p:cNvSpPr/>
          <p:nvPr/>
        </p:nvSpPr>
        <p:spPr>
          <a:xfrm>
            <a:off x="2121480" y="3337560"/>
            <a:ext cx="685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w=0.35</a:t>
            </a:r>
            <a:endParaRPr lang="it-IT" sz="850" b="0" u="none" strike="noStrike">
              <a:solidFill>
                <a:srgbClr val="000000"/>
              </a:solidFill>
              <a:effectLst/>
              <a:uFillTx/>
              <a:latin typeface="Arial"/>
            </a:endParaRPr>
          </a:p>
        </p:txBody>
      </p:sp>
      <p:sp>
        <p:nvSpPr>
          <p:cNvPr id="268" name="Shape 14"/>
          <p:cNvSpPr/>
          <p:nvPr/>
        </p:nvSpPr>
        <p:spPr>
          <a:xfrm flipV="1">
            <a:off x="2450520" y="2011680"/>
            <a:ext cx="4297680" cy="777240"/>
          </a:xfrm>
          <a:prstGeom prst="line">
            <a:avLst/>
          </a:prstGeom>
          <a:ln w="2794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69" name="Shape 15"/>
          <p:cNvSpPr/>
          <p:nvPr/>
        </p:nvSpPr>
        <p:spPr>
          <a:xfrm>
            <a:off x="3291840" y="2788920"/>
            <a:ext cx="502560" cy="411120"/>
          </a:xfrm>
          <a:prstGeom prst="roundRect">
            <a:avLst>
              <a:gd name="adj" fmla="val 17778"/>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70" name="Text 16"/>
          <p:cNvSpPr/>
          <p:nvPr/>
        </p:nvSpPr>
        <p:spPr>
          <a:xfrm>
            <a:off x="3337560" y="2825640"/>
            <a:ext cx="411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t-2</a:t>
            </a:r>
            <a:endParaRPr lang="it-IT" sz="850" b="0" u="none" strike="noStrike">
              <a:solidFill>
                <a:srgbClr val="000000"/>
              </a:solidFill>
              <a:effectLst/>
              <a:uFillTx/>
              <a:latin typeface="Arial"/>
            </a:endParaRPr>
          </a:p>
        </p:txBody>
      </p:sp>
      <p:sp>
        <p:nvSpPr>
          <p:cNvPr id="271" name="Text 17"/>
          <p:cNvSpPr/>
          <p:nvPr/>
        </p:nvSpPr>
        <p:spPr>
          <a:xfrm>
            <a:off x="3218760" y="3337560"/>
            <a:ext cx="685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w=0.08</a:t>
            </a:r>
            <a:endParaRPr lang="it-IT" sz="850" b="0" u="none" strike="noStrike">
              <a:solidFill>
                <a:srgbClr val="000000"/>
              </a:solidFill>
              <a:effectLst/>
              <a:uFillTx/>
              <a:latin typeface="Arial"/>
            </a:endParaRPr>
          </a:p>
        </p:txBody>
      </p:sp>
      <p:sp>
        <p:nvSpPr>
          <p:cNvPr id="272" name="Shape 18"/>
          <p:cNvSpPr/>
          <p:nvPr/>
        </p:nvSpPr>
        <p:spPr>
          <a:xfrm flipV="1">
            <a:off x="3547800" y="2011680"/>
            <a:ext cx="3200400" cy="77724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3" name="Shape 19"/>
          <p:cNvSpPr/>
          <p:nvPr/>
        </p:nvSpPr>
        <p:spPr>
          <a:xfrm>
            <a:off x="4846320" y="2788920"/>
            <a:ext cx="502560" cy="411120"/>
          </a:xfrm>
          <a:prstGeom prst="roundRect">
            <a:avLst>
              <a:gd name="adj" fmla="val 17778"/>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74" name="Text 20"/>
          <p:cNvSpPr/>
          <p:nvPr/>
        </p:nvSpPr>
        <p:spPr>
          <a:xfrm>
            <a:off x="4892040" y="2825640"/>
            <a:ext cx="411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t-1</a:t>
            </a:r>
            <a:endParaRPr lang="it-IT" sz="850" b="0" u="none" strike="noStrike">
              <a:solidFill>
                <a:srgbClr val="000000"/>
              </a:solidFill>
              <a:effectLst/>
              <a:uFillTx/>
              <a:latin typeface="Arial"/>
            </a:endParaRPr>
          </a:p>
        </p:txBody>
      </p:sp>
      <p:sp>
        <p:nvSpPr>
          <p:cNvPr id="275" name="Text 21"/>
          <p:cNvSpPr/>
          <p:nvPr/>
        </p:nvSpPr>
        <p:spPr>
          <a:xfrm>
            <a:off x="4773240" y="3337560"/>
            <a:ext cx="685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w=0.30</a:t>
            </a:r>
            <a:endParaRPr lang="it-IT" sz="850" b="0" u="none" strike="noStrike">
              <a:solidFill>
                <a:srgbClr val="000000"/>
              </a:solidFill>
              <a:effectLst/>
              <a:uFillTx/>
              <a:latin typeface="Arial"/>
            </a:endParaRPr>
          </a:p>
        </p:txBody>
      </p:sp>
      <p:sp>
        <p:nvSpPr>
          <p:cNvPr id="276" name="Shape 22"/>
          <p:cNvSpPr/>
          <p:nvPr/>
        </p:nvSpPr>
        <p:spPr>
          <a:xfrm flipV="1">
            <a:off x="5102280" y="2011680"/>
            <a:ext cx="1645920" cy="777240"/>
          </a:xfrm>
          <a:prstGeom prst="line">
            <a:avLst/>
          </a:prstGeom>
          <a:ln w="2794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7" name="Shape 23"/>
          <p:cNvSpPr/>
          <p:nvPr/>
        </p:nvSpPr>
        <p:spPr>
          <a:xfrm>
            <a:off x="6492240" y="2788920"/>
            <a:ext cx="502560" cy="411120"/>
          </a:xfrm>
          <a:prstGeom prst="roundRect">
            <a:avLst>
              <a:gd name="adj" fmla="val 17778"/>
            </a:avLst>
          </a:prstGeom>
          <a:solidFill>
            <a:srgbClr val="FFFFFF"/>
          </a:solidFill>
          <a:ln w="15240">
            <a:solidFill>
              <a:srgbClr val="10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78" name="Text 24"/>
          <p:cNvSpPr/>
          <p:nvPr/>
        </p:nvSpPr>
        <p:spPr>
          <a:xfrm>
            <a:off x="6537960" y="2825640"/>
            <a:ext cx="411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a:t>
            </a:r>
            <a:endParaRPr lang="it-IT" sz="850" b="0" u="none" strike="noStrike">
              <a:solidFill>
                <a:srgbClr val="000000"/>
              </a:solidFill>
              <a:effectLst/>
              <a:uFillTx/>
              <a:latin typeface="Arial"/>
            </a:endParaRPr>
          </a:p>
        </p:txBody>
      </p:sp>
      <p:sp>
        <p:nvSpPr>
          <p:cNvPr id="279" name="Text 25"/>
          <p:cNvSpPr/>
          <p:nvPr/>
        </p:nvSpPr>
        <p:spPr>
          <a:xfrm>
            <a:off x="6419160" y="3337560"/>
            <a:ext cx="685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w=0.00</a:t>
            </a:r>
            <a:endParaRPr lang="it-IT" sz="850" b="0" u="none" strike="noStrike">
              <a:solidFill>
                <a:srgbClr val="000000"/>
              </a:solidFill>
              <a:effectLst/>
              <a:uFillTx/>
              <a:latin typeface="Arial"/>
            </a:endParaRPr>
          </a:p>
        </p:txBody>
      </p:sp>
      <p:sp>
        <p:nvSpPr>
          <p:cNvPr id="280" name="Shape 26"/>
          <p:cNvSpPr/>
          <p:nvPr/>
        </p:nvSpPr>
        <p:spPr>
          <a:xfrm>
            <a:off x="8046720" y="2788920"/>
            <a:ext cx="502560" cy="411120"/>
          </a:xfrm>
          <a:prstGeom prst="roundRect">
            <a:avLst>
              <a:gd name="adj" fmla="val 17778"/>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1" name="Text 27"/>
          <p:cNvSpPr/>
          <p:nvPr/>
        </p:nvSpPr>
        <p:spPr>
          <a:xfrm>
            <a:off x="8092440" y="2825640"/>
            <a:ext cx="41112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other</a:t>
            </a:r>
            <a:endParaRPr lang="it-IT" sz="850" b="0" u="none" strike="noStrike">
              <a:solidFill>
                <a:srgbClr val="000000"/>
              </a:solidFill>
              <a:effectLst/>
              <a:uFillTx/>
              <a:latin typeface="Arial"/>
            </a:endParaRPr>
          </a:p>
        </p:txBody>
      </p:sp>
      <p:sp>
        <p:nvSpPr>
          <p:cNvPr id="282" name="Text 28"/>
          <p:cNvSpPr/>
          <p:nvPr/>
        </p:nvSpPr>
        <p:spPr>
          <a:xfrm>
            <a:off x="7973640" y="3337560"/>
            <a:ext cx="6854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w=0.05</a:t>
            </a:r>
            <a:endParaRPr lang="it-IT" sz="850" b="0" u="none" strike="noStrike">
              <a:solidFill>
                <a:srgbClr val="000000"/>
              </a:solidFill>
              <a:effectLst/>
              <a:uFillTx/>
              <a:latin typeface="Arial"/>
            </a:endParaRPr>
          </a:p>
        </p:txBody>
      </p:sp>
      <p:sp>
        <p:nvSpPr>
          <p:cNvPr id="283" name="Shape 29"/>
          <p:cNvSpPr/>
          <p:nvPr/>
        </p:nvSpPr>
        <p:spPr>
          <a:xfrm flipH="1" flipV="1">
            <a:off x="6748200" y="2011680"/>
            <a:ext cx="1554480" cy="77724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84" name="Shape 30"/>
          <p:cNvSpPr/>
          <p:nvPr/>
        </p:nvSpPr>
        <p:spPr>
          <a:xfrm>
            <a:off x="6537960" y="1417320"/>
            <a:ext cx="822600" cy="822600"/>
          </a:xfrm>
          <a:prstGeom prst="ellipse">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5" name="Text 31"/>
          <p:cNvSpPr/>
          <p:nvPr/>
        </p:nvSpPr>
        <p:spPr>
          <a:xfrm>
            <a:off x="6537960" y="1435680"/>
            <a:ext cx="82260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101828"/>
                </a:solidFill>
                <a:effectLst/>
                <a:uFillTx/>
                <a:latin typeface="Aptos"/>
              </a:rPr>
              <a:t>output</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01828"/>
                </a:solidFill>
                <a:effectLst/>
                <a:uFillTx/>
                <a:latin typeface="Aptos"/>
              </a:rPr>
              <a:t>for t</a:t>
            </a:r>
            <a:endParaRPr lang="it-IT" sz="1000" b="0" u="none" strike="noStrike">
              <a:solidFill>
                <a:srgbClr val="000000"/>
              </a:solidFill>
              <a:effectLst/>
              <a:uFillTx/>
              <a:latin typeface="Arial"/>
            </a:endParaRPr>
          </a:p>
        </p:txBody>
      </p:sp>
      <p:sp>
        <p:nvSpPr>
          <p:cNvPr id="286" name="Shape 32"/>
          <p:cNvSpPr/>
          <p:nvPr/>
        </p:nvSpPr>
        <p:spPr>
          <a:xfrm>
            <a:off x="5212080" y="4160520"/>
            <a:ext cx="2925720" cy="511560"/>
          </a:xfrm>
          <a:prstGeom prst="roundRect">
            <a:avLst>
              <a:gd name="adj" fmla="val 14286"/>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7" name="Text 33"/>
          <p:cNvSpPr/>
          <p:nvPr/>
        </p:nvSpPr>
        <p:spPr>
          <a:xfrm>
            <a:off x="5257800" y="4197240"/>
            <a:ext cx="283428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Weighted combination of values</a:t>
            </a:r>
            <a:endParaRPr lang="it-IT" sz="1200" b="0" u="none" strike="noStrike">
              <a:solidFill>
                <a:srgbClr val="000000"/>
              </a:solidFill>
              <a:effectLst/>
              <a:uFillTx/>
              <a:latin typeface="Arial"/>
            </a:endParaRPr>
          </a:p>
        </p:txBody>
      </p:sp>
      <p:sp>
        <p:nvSpPr>
          <p:cNvPr id="288" name="Shape 34"/>
          <p:cNvSpPr/>
          <p:nvPr/>
        </p:nvSpPr>
        <p:spPr>
          <a:xfrm>
            <a:off x="6949440" y="2148840"/>
            <a:ext cx="360" cy="2011680"/>
          </a:xfrm>
          <a:prstGeom prst="line">
            <a:avLst/>
          </a:prstGeom>
          <a:ln w="20320">
            <a:solidFill>
              <a:srgbClr val="86BC2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89" name="Text 35"/>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475467"/>
                </a:solidFill>
                <a:effectLst/>
                <a:uFillTx/>
                <a:latin typeface="Aptos"/>
              </a:rPr>
              <a:t>Example weights: recent, daily and weekly positions can contribute simultaneously.</a:t>
            </a:r>
            <a:endParaRPr lang="it-IT" sz="9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E2254F2-6732-5882-5DF1-28E2A44E164E}"/>
              </a:ext>
            </a:extLst>
          </p:cNvPr>
          <p:cNvSpPr>
            <a:spLocks noGrp="1"/>
          </p:cNvSpPr>
          <p:nvPr>
            <p:ph type="title"/>
          </p:nvPr>
        </p:nvSpPr>
        <p:spPr/>
        <p:txBody>
          <a:bodyPr/>
          <a:lstStyle/>
          <a:p>
            <a:r>
              <a:rPr lang="en-GB" b="1" dirty="0"/>
              <a:t>Transition</a:t>
            </a:r>
            <a:br>
              <a:rPr lang="en-GB" b="1" dirty="0"/>
            </a:br>
            <a:endParaRPr lang="en-GB" dirty="0"/>
          </a:p>
        </p:txBody>
      </p:sp>
      <p:sp>
        <p:nvSpPr>
          <p:cNvPr id="3" name="Segnaposto contenuto 2">
            <a:extLst>
              <a:ext uri="{FF2B5EF4-FFF2-40B4-BE49-F238E27FC236}">
                <a16:creationId xmlns:a16="http://schemas.microsoft.com/office/drawing/2014/main" id="{96009BE8-230D-888F-1A09-F5E6F918B91D}"/>
              </a:ext>
            </a:extLst>
          </p:cNvPr>
          <p:cNvSpPr>
            <a:spLocks noGrp="1"/>
          </p:cNvSpPr>
          <p:nvPr>
            <p:ph idx="1"/>
          </p:nvPr>
        </p:nvSpPr>
        <p:spPr/>
        <p:txBody>
          <a:bodyPr/>
          <a:lstStyle/>
          <a:p>
            <a:r>
              <a:rPr lang="en-GB" dirty="0"/>
              <a:t>To understand how attention determines these weights, we introduce three concepts:</a:t>
            </a:r>
          </a:p>
          <a:p>
            <a:pPr lvl="1"/>
            <a:r>
              <a:rPr lang="en-GB" b="1" dirty="0"/>
              <a:t>query</a:t>
            </a:r>
            <a:r>
              <a:rPr lang="en-GB" dirty="0"/>
              <a:t>; </a:t>
            </a:r>
          </a:p>
          <a:p>
            <a:pPr lvl="1"/>
            <a:r>
              <a:rPr lang="en-GB" b="1" dirty="0"/>
              <a:t>key</a:t>
            </a:r>
            <a:r>
              <a:rPr lang="en-GB" dirty="0"/>
              <a:t>; </a:t>
            </a:r>
          </a:p>
          <a:p>
            <a:pPr lvl="1"/>
            <a:r>
              <a:rPr lang="en-GB" b="1" dirty="0"/>
              <a:t>value</a:t>
            </a:r>
            <a:r>
              <a:rPr lang="en-GB" dirty="0"/>
              <a:t>.</a:t>
            </a:r>
          </a:p>
          <a:p>
            <a:endParaRPr lang="en-GB" dirty="0"/>
          </a:p>
        </p:txBody>
      </p:sp>
    </p:spTree>
    <p:extLst>
      <p:ext uri="{BB962C8B-B14F-4D97-AF65-F5344CB8AC3E}">
        <p14:creationId xmlns:p14="http://schemas.microsoft.com/office/powerpoint/2010/main" val="1535902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AD6A93-8C85-C02A-C3D4-BA2AAD818360}"/>
              </a:ext>
            </a:extLst>
          </p:cNvPr>
          <p:cNvSpPr>
            <a:spLocks noGrp="1"/>
          </p:cNvSpPr>
          <p:nvPr>
            <p:ph type="title"/>
          </p:nvPr>
        </p:nvSpPr>
        <p:spPr/>
        <p:txBody>
          <a:bodyPr/>
          <a:lstStyle/>
          <a:p>
            <a:r>
              <a:rPr lang="en-GB" dirty="0"/>
              <a:t>Block 6.B — Attention from First Principles</a:t>
            </a:r>
          </a:p>
        </p:txBody>
      </p:sp>
      <p:sp>
        <p:nvSpPr>
          <p:cNvPr id="3" name="Segnaposto contenuto 2">
            <a:extLst>
              <a:ext uri="{FF2B5EF4-FFF2-40B4-BE49-F238E27FC236}">
                <a16:creationId xmlns:a16="http://schemas.microsoft.com/office/drawing/2014/main" id="{53BF90CB-FB62-633B-4B2D-0F447D5F0F6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426706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908FE0-3817-86B9-99D5-61D6CB107B16}"/>
              </a:ext>
            </a:extLst>
          </p:cNvPr>
          <p:cNvSpPr>
            <a:spLocks noGrp="1"/>
          </p:cNvSpPr>
          <p:nvPr>
            <p:ph type="title"/>
          </p:nvPr>
        </p:nvSpPr>
        <p:spPr/>
        <p:txBody>
          <a:bodyPr/>
          <a:lstStyle/>
          <a:p>
            <a:r>
              <a:rPr lang="en-GB" dirty="0"/>
              <a:t>Attention separates relevance from information content</a:t>
            </a:r>
          </a:p>
        </p:txBody>
      </p:sp>
      <p:sp>
        <p:nvSpPr>
          <p:cNvPr id="3" name="Segnaposto contenuto 2">
            <a:extLst>
              <a:ext uri="{FF2B5EF4-FFF2-40B4-BE49-F238E27FC236}">
                <a16:creationId xmlns:a16="http://schemas.microsoft.com/office/drawing/2014/main" id="{A0F6C709-44EF-DCAC-DEF1-F4B7E046AC60}"/>
              </a:ext>
            </a:extLst>
          </p:cNvPr>
          <p:cNvSpPr>
            <a:spLocks noGrp="1"/>
          </p:cNvSpPr>
          <p:nvPr>
            <p:ph idx="1"/>
          </p:nvPr>
        </p:nvSpPr>
        <p:spPr/>
        <p:txBody>
          <a:bodyPr>
            <a:normAutofit fontScale="92500" lnSpcReduction="20000"/>
          </a:bodyPr>
          <a:lstStyle/>
          <a:p>
            <a:r>
              <a:rPr lang="en-GB" dirty="0"/>
              <a:t>Suppose we want to construct an updated representation for one temporal position.</a:t>
            </a:r>
          </a:p>
          <a:p>
            <a:r>
              <a:rPr lang="en-GB" dirty="0"/>
              <a:t>The attention mechanism performs two conceptually different operations:</a:t>
            </a:r>
          </a:p>
          <a:p>
            <a:pPr lvl="1"/>
            <a:r>
              <a:rPr lang="en-GB" dirty="0"/>
              <a:t>determine </a:t>
            </a:r>
            <a:r>
              <a:rPr lang="en-GB" b="1" dirty="0"/>
              <a:t>which positions are relevant</a:t>
            </a:r>
            <a:r>
              <a:rPr lang="en-GB" dirty="0"/>
              <a:t>; </a:t>
            </a:r>
          </a:p>
          <a:p>
            <a:pPr lvl="1"/>
            <a:r>
              <a:rPr lang="en-GB" dirty="0"/>
              <a:t>retrieve and combine </a:t>
            </a:r>
            <a:r>
              <a:rPr lang="en-GB" b="1" dirty="0"/>
              <a:t>the information stored at those positions</a:t>
            </a:r>
            <a:r>
              <a:rPr lang="en-GB" dirty="0"/>
              <a:t>. </a:t>
            </a:r>
          </a:p>
          <a:p>
            <a:r>
              <a:rPr lang="en-GB" dirty="0"/>
              <a:t>This leads to three vectors:</a:t>
            </a:r>
          </a:p>
          <a:p>
            <a:r>
              <a:rPr lang="en-GB" b="1" dirty="0"/>
              <a:t>Query</a:t>
            </a:r>
          </a:p>
          <a:p>
            <a:r>
              <a:rPr lang="en-GB" dirty="0"/>
              <a:t>Represents: What information is the current position looking for?</a:t>
            </a:r>
          </a:p>
          <a:p>
            <a:r>
              <a:rPr lang="en-GB" b="1" dirty="0"/>
              <a:t>Key</a:t>
            </a:r>
          </a:p>
          <a:p>
            <a:r>
              <a:rPr lang="en-GB" dirty="0"/>
              <a:t>Represents: What kind of information does this candidate position contain?</a:t>
            </a:r>
          </a:p>
          <a:p>
            <a:r>
              <a:rPr lang="en-GB" b="1" dirty="0"/>
              <a:t>Value</a:t>
            </a:r>
          </a:p>
          <a:p>
            <a:r>
              <a:rPr lang="en-GB" dirty="0"/>
              <a:t>Represents: What information should actually be retrieved from this position?</a:t>
            </a:r>
          </a:p>
          <a:p>
            <a:endParaRPr lang="en-GB" dirty="0"/>
          </a:p>
        </p:txBody>
      </p:sp>
    </p:spTree>
    <p:extLst>
      <p:ext uri="{BB962C8B-B14F-4D97-AF65-F5344CB8AC3E}">
        <p14:creationId xmlns:p14="http://schemas.microsoft.com/office/powerpoint/2010/main" val="3689777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ADF2-5E19-8A1E-AD0F-C37534B8411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8558DF5-5011-97C8-C5D0-F0F9C5D1D4DA}"/>
              </a:ext>
            </a:extLst>
          </p:cNvPr>
          <p:cNvSpPr>
            <a:spLocks noGrp="1"/>
          </p:cNvSpPr>
          <p:nvPr>
            <p:ph type="title"/>
          </p:nvPr>
        </p:nvSpPr>
        <p:spPr/>
        <p:txBody>
          <a:bodyPr/>
          <a:lstStyle/>
          <a:p>
            <a:r>
              <a:rPr lang="en-GB" dirty="0"/>
              <a:t>Attention separates relevance from information content</a:t>
            </a:r>
          </a:p>
        </p:txBody>
      </p:sp>
      <p:sp>
        <p:nvSpPr>
          <p:cNvPr id="3" name="Segnaposto contenuto 2">
            <a:extLst>
              <a:ext uri="{FF2B5EF4-FFF2-40B4-BE49-F238E27FC236}">
                <a16:creationId xmlns:a16="http://schemas.microsoft.com/office/drawing/2014/main" id="{46DD87F5-F7C8-0EB4-6E6D-80C1A27F660F}"/>
              </a:ext>
            </a:extLst>
          </p:cNvPr>
          <p:cNvSpPr>
            <a:spLocks noGrp="1"/>
          </p:cNvSpPr>
          <p:nvPr>
            <p:ph idx="1"/>
          </p:nvPr>
        </p:nvSpPr>
        <p:spPr/>
        <p:txBody>
          <a:bodyPr>
            <a:normAutofit fontScale="92500" lnSpcReduction="20000"/>
          </a:bodyPr>
          <a:lstStyle/>
          <a:p>
            <a:r>
              <a:rPr lang="en-GB" dirty="0"/>
              <a:t>query</a:t>
            </a:r>
          </a:p>
          <a:p>
            <a:r>
              <a:rPr lang="en-GB" dirty="0"/>
              <a:t>  ↓</a:t>
            </a:r>
          </a:p>
          <a:p>
            <a:r>
              <a:rPr lang="en-GB" dirty="0"/>
              <a:t>compare with keys</a:t>
            </a:r>
          </a:p>
          <a:p>
            <a:r>
              <a:rPr lang="en-GB" dirty="0"/>
              <a:t>  ↓</a:t>
            </a:r>
          </a:p>
          <a:p>
            <a:r>
              <a:rPr lang="en-GB" dirty="0"/>
              <a:t>relevance scores</a:t>
            </a:r>
          </a:p>
          <a:p>
            <a:r>
              <a:rPr lang="en-GB" dirty="0"/>
              <a:t>  ↓</a:t>
            </a:r>
          </a:p>
          <a:p>
            <a:r>
              <a:rPr lang="en-GB" dirty="0"/>
              <a:t>attention weights</a:t>
            </a:r>
          </a:p>
          <a:p>
            <a:r>
              <a:rPr lang="en-GB" dirty="0"/>
              <a:t>  ↓</a:t>
            </a:r>
          </a:p>
          <a:p>
            <a:r>
              <a:rPr lang="en-GB" dirty="0"/>
              <a:t>weighted combination of values</a:t>
            </a:r>
          </a:p>
          <a:p>
            <a:endParaRPr lang="en-GB" dirty="0"/>
          </a:p>
          <a:p>
            <a:r>
              <a:rPr lang="en-GB" b="1" dirty="0"/>
              <a:t>Keys determine relevance for the current query; values provide the information that is combined.</a:t>
            </a:r>
          </a:p>
          <a:p>
            <a:endParaRPr lang="en-GB" dirty="0"/>
          </a:p>
        </p:txBody>
      </p:sp>
    </p:spTree>
    <p:extLst>
      <p:ext uri="{BB962C8B-B14F-4D97-AF65-F5344CB8AC3E}">
        <p14:creationId xmlns:p14="http://schemas.microsoft.com/office/powerpoint/2010/main" val="3400119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91"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292"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93"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94"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Query, key and value: three roles</a:t>
            </a:r>
            <a:endParaRPr lang="it-IT" sz="2200" b="0" u="none" strike="noStrike">
              <a:solidFill>
                <a:srgbClr val="000000"/>
              </a:solidFill>
              <a:effectLst/>
              <a:uFillTx/>
              <a:latin typeface="Arial"/>
            </a:endParaRPr>
          </a:p>
        </p:txBody>
      </p:sp>
      <p:sp>
        <p:nvSpPr>
          <p:cNvPr id="295"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475467"/>
                </a:solidFill>
                <a:effectLst/>
                <a:uFillTx/>
                <a:latin typeface="Aptos"/>
              </a:rPr>
              <a:t>Attention separates matching relevance from retrieved information</a:t>
            </a:r>
            <a:endParaRPr lang="it-IT" sz="1200" b="1" u="none" strike="noStrike" dirty="0">
              <a:solidFill>
                <a:srgbClr val="000000"/>
              </a:solidFill>
              <a:effectLst/>
              <a:uFillTx/>
              <a:latin typeface="Arial"/>
            </a:endParaRPr>
          </a:p>
        </p:txBody>
      </p:sp>
      <p:sp>
        <p:nvSpPr>
          <p:cNvPr id="296" name="Shape 6"/>
          <p:cNvSpPr/>
          <p:nvPr/>
        </p:nvSpPr>
        <p:spPr>
          <a:xfrm>
            <a:off x="914400" y="1508760"/>
            <a:ext cx="2102760" cy="822600"/>
          </a:xfrm>
          <a:prstGeom prst="roundRect">
            <a:avLst>
              <a:gd name="adj" fmla="val 8889"/>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97" name="Text 7"/>
          <p:cNvSpPr/>
          <p:nvPr/>
        </p:nvSpPr>
        <p:spPr>
          <a:xfrm>
            <a:off x="960120" y="1545480"/>
            <a:ext cx="2011320" cy="74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01828"/>
                </a:solidFill>
                <a:effectLst/>
                <a:uFillTx/>
                <a:latin typeface="Aptos"/>
              </a:rPr>
              <a:t>Query</a:t>
            </a:r>
            <a:endParaRPr lang="it-IT" sz="1500" b="0" u="none" strike="noStrike">
              <a:solidFill>
                <a:srgbClr val="000000"/>
              </a:solidFill>
              <a:effectLst/>
              <a:uFillTx/>
              <a:latin typeface="Arial"/>
            </a:endParaRPr>
          </a:p>
        </p:txBody>
      </p:sp>
      <p:sp>
        <p:nvSpPr>
          <p:cNvPr id="298" name="Text 8"/>
          <p:cNvSpPr/>
          <p:nvPr/>
        </p:nvSpPr>
        <p:spPr>
          <a:xfrm>
            <a:off x="841320" y="2487240"/>
            <a:ext cx="223992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0" u="none" strike="noStrike">
                <a:solidFill>
                  <a:srgbClr val="475467"/>
                </a:solidFill>
                <a:effectLst/>
                <a:uFillTx/>
                <a:latin typeface="Aptos"/>
                <a:ea typeface="Aptos"/>
              </a:rPr>
              <a:t>What information am I looking for?</a:t>
            </a:r>
            <a:endParaRPr lang="it-IT" sz="1100" b="0" u="none" strike="noStrike">
              <a:solidFill>
                <a:srgbClr val="000000"/>
              </a:solidFill>
              <a:effectLst/>
              <a:uFillTx/>
              <a:latin typeface="Arial"/>
            </a:endParaRPr>
          </a:p>
        </p:txBody>
      </p:sp>
      <p:sp>
        <p:nvSpPr>
          <p:cNvPr id="299" name="Shape 9"/>
          <p:cNvSpPr/>
          <p:nvPr/>
        </p:nvSpPr>
        <p:spPr>
          <a:xfrm>
            <a:off x="3703320" y="1508760"/>
            <a:ext cx="2102760" cy="822600"/>
          </a:xfrm>
          <a:prstGeom prst="roundRect">
            <a:avLst>
              <a:gd name="adj" fmla="val 8889"/>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0" name="Text 10"/>
          <p:cNvSpPr/>
          <p:nvPr/>
        </p:nvSpPr>
        <p:spPr>
          <a:xfrm>
            <a:off x="3749040" y="1545480"/>
            <a:ext cx="2011320" cy="74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01828"/>
                </a:solidFill>
                <a:effectLst/>
                <a:uFillTx/>
                <a:latin typeface="Aptos"/>
              </a:rPr>
              <a:t>Keys</a:t>
            </a:r>
            <a:endParaRPr lang="it-IT" sz="1500" b="0" u="none" strike="noStrike">
              <a:solidFill>
                <a:srgbClr val="000000"/>
              </a:solidFill>
              <a:effectLst/>
              <a:uFillTx/>
              <a:latin typeface="Arial"/>
            </a:endParaRPr>
          </a:p>
        </p:txBody>
      </p:sp>
      <p:sp>
        <p:nvSpPr>
          <p:cNvPr id="301" name="Text 11"/>
          <p:cNvSpPr/>
          <p:nvPr/>
        </p:nvSpPr>
        <p:spPr>
          <a:xfrm>
            <a:off x="3566160" y="2487240"/>
            <a:ext cx="2377080" cy="639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0" u="none" strike="noStrike">
                <a:solidFill>
                  <a:srgbClr val="475467"/>
                </a:solidFill>
                <a:effectLst/>
                <a:uFillTx/>
                <a:latin typeface="Aptos"/>
                <a:ea typeface="Aptos"/>
              </a:rPr>
              <a:t>What does each position advertise for matching?</a:t>
            </a:r>
            <a:endParaRPr lang="it-IT" sz="1100" b="0" u="none" strike="noStrike">
              <a:solidFill>
                <a:srgbClr val="000000"/>
              </a:solidFill>
              <a:effectLst/>
              <a:uFillTx/>
              <a:latin typeface="Arial"/>
            </a:endParaRPr>
          </a:p>
        </p:txBody>
      </p:sp>
      <p:sp>
        <p:nvSpPr>
          <p:cNvPr id="302" name="Shape 12"/>
          <p:cNvSpPr/>
          <p:nvPr/>
        </p:nvSpPr>
        <p:spPr>
          <a:xfrm>
            <a:off x="6492240" y="1508760"/>
            <a:ext cx="2102760" cy="822600"/>
          </a:xfrm>
          <a:prstGeom prst="roundRect">
            <a:avLst>
              <a:gd name="adj" fmla="val 8889"/>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3" name="Text 13"/>
          <p:cNvSpPr/>
          <p:nvPr/>
        </p:nvSpPr>
        <p:spPr>
          <a:xfrm>
            <a:off x="6537960" y="1545480"/>
            <a:ext cx="2011320" cy="74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01828"/>
                </a:solidFill>
                <a:effectLst/>
                <a:uFillTx/>
                <a:latin typeface="Aptos"/>
              </a:rPr>
              <a:t>Values</a:t>
            </a:r>
            <a:endParaRPr lang="it-IT" sz="1500" b="0" u="none" strike="noStrike">
              <a:solidFill>
                <a:srgbClr val="000000"/>
              </a:solidFill>
              <a:effectLst/>
              <a:uFillTx/>
              <a:latin typeface="Arial"/>
            </a:endParaRPr>
          </a:p>
        </p:txBody>
      </p:sp>
      <p:sp>
        <p:nvSpPr>
          <p:cNvPr id="304" name="Text 14"/>
          <p:cNvSpPr/>
          <p:nvPr/>
        </p:nvSpPr>
        <p:spPr>
          <a:xfrm>
            <a:off x="6355080" y="2487240"/>
            <a:ext cx="237708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0" u="none" strike="noStrike">
                <a:solidFill>
                  <a:srgbClr val="475467"/>
                </a:solidFill>
                <a:effectLst/>
                <a:uFillTx/>
                <a:latin typeface="Aptos"/>
                <a:ea typeface="Aptos"/>
              </a:rPr>
              <a:t>What information is actually retrieved?</a:t>
            </a:r>
            <a:endParaRPr lang="it-IT" sz="1100" b="0" u="none" strike="noStrike">
              <a:solidFill>
                <a:srgbClr val="000000"/>
              </a:solidFill>
              <a:effectLst/>
              <a:uFillTx/>
              <a:latin typeface="Arial"/>
            </a:endParaRPr>
          </a:p>
        </p:txBody>
      </p:sp>
      <p:sp>
        <p:nvSpPr>
          <p:cNvPr id="305" name="Shape 15"/>
          <p:cNvSpPr/>
          <p:nvPr/>
        </p:nvSpPr>
        <p:spPr>
          <a:xfrm>
            <a:off x="3063240" y="1920240"/>
            <a:ext cx="548640" cy="360"/>
          </a:xfrm>
          <a:prstGeom prst="line">
            <a:avLst/>
          </a:prstGeom>
          <a:ln w="1778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06" name="Shape 16"/>
          <p:cNvSpPr/>
          <p:nvPr/>
        </p:nvSpPr>
        <p:spPr>
          <a:xfrm>
            <a:off x="5852160" y="1920240"/>
            <a:ext cx="548640" cy="360"/>
          </a:xfrm>
          <a:prstGeom prst="line">
            <a:avLst/>
          </a:prstGeom>
          <a:ln w="1778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07" name="Shape 17"/>
          <p:cNvSpPr/>
          <p:nvPr/>
        </p:nvSpPr>
        <p:spPr>
          <a:xfrm>
            <a:off x="1143000" y="3886200"/>
            <a:ext cx="2559960" cy="502560"/>
          </a:xfrm>
          <a:prstGeom prst="roundRect">
            <a:avLst>
              <a:gd name="adj" fmla="val 14545"/>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8" name="Text 18"/>
          <p:cNvSpPr/>
          <p:nvPr/>
        </p:nvSpPr>
        <p:spPr>
          <a:xfrm>
            <a:off x="1188720" y="3922920"/>
            <a:ext cx="246852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Compare query with keys</a:t>
            </a:r>
            <a:endParaRPr lang="it-IT" sz="1100" b="0" u="none" strike="noStrike">
              <a:solidFill>
                <a:srgbClr val="000000"/>
              </a:solidFill>
              <a:effectLst/>
              <a:uFillTx/>
              <a:latin typeface="Arial"/>
            </a:endParaRPr>
          </a:p>
        </p:txBody>
      </p:sp>
      <p:sp>
        <p:nvSpPr>
          <p:cNvPr id="309" name="Shape 19"/>
          <p:cNvSpPr/>
          <p:nvPr/>
        </p:nvSpPr>
        <p:spPr>
          <a:xfrm>
            <a:off x="3703320" y="4142160"/>
            <a:ext cx="640080" cy="360"/>
          </a:xfrm>
          <a:prstGeom prst="line">
            <a:avLst/>
          </a:prstGeom>
          <a:ln w="1524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10" name="Shape 20"/>
          <p:cNvSpPr/>
          <p:nvPr/>
        </p:nvSpPr>
        <p:spPr>
          <a:xfrm>
            <a:off x="4389120" y="3886200"/>
            <a:ext cx="1919880" cy="502560"/>
          </a:xfrm>
          <a:prstGeom prst="roundRect">
            <a:avLst>
              <a:gd name="adj" fmla="val 14545"/>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1" name="Text 21"/>
          <p:cNvSpPr/>
          <p:nvPr/>
        </p:nvSpPr>
        <p:spPr>
          <a:xfrm>
            <a:off x="4434840" y="3922920"/>
            <a:ext cx="182844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Attention weights</a:t>
            </a:r>
            <a:endParaRPr lang="it-IT" sz="1100" b="0" u="none" strike="noStrike">
              <a:solidFill>
                <a:srgbClr val="000000"/>
              </a:solidFill>
              <a:effectLst/>
              <a:uFillTx/>
              <a:latin typeface="Arial"/>
            </a:endParaRPr>
          </a:p>
        </p:txBody>
      </p:sp>
      <p:sp>
        <p:nvSpPr>
          <p:cNvPr id="312" name="Shape 22"/>
          <p:cNvSpPr/>
          <p:nvPr/>
        </p:nvSpPr>
        <p:spPr>
          <a:xfrm>
            <a:off x="6309360" y="4142160"/>
            <a:ext cx="594360" cy="360"/>
          </a:xfrm>
          <a:prstGeom prst="line">
            <a:avLst/>
          </a:prstGeom>
          <a:ln w="1524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13" name="Shape 23"/>
          <p:cNvSpPr/>
          <p:nvPr/>
        </p:nvSpPr>
        <p:spPr>
          <a:xfrm>
            <a:off x="6949440" y="3886200"/>
            <a:ext cx="1919880" cy="502560"/>
          </a:xfrm>
          <a:prstGeom prst="roundRect">
            <a:avLst>
              <a:gd name="adj" fmla="val 14545"/>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4" name="Text 24"/>
          <p:cNvSpPr/>
          <p:nvPr/>
        </p:nvSpPr>
        <p:spPr>
          <a:xfrm>
            <a:off x="6995160" y="3922920"/>
            <a:ext cx="182844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Weighted values</a:t>
            </a:r>
            <a:endParaRPr lang="it-IT" sz="1100" b="0" u="none" strike="noStrike">
              <a:solidFill>
                <a:srgbClr val="000000"/>
              </a:solidFill>
              <a:effectLst/>
              <a:uFillTx/>
              <a:latin typeface="Arial"/>
            </a:endParaRPr>
          </a:p>
        </p:txBody>
      </p:sp>
      <p:sp>
        <p:nvSpPr>
          <p:cNvPr id="315" name="Text 25"/>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dirty="0">
                <a:solidFill>
                  <a:srgbClr val="475467"/>
                </a:solidFill>
                <a:effectLst/>
                <a:uFillTx/>
                <a:latin typeface="Aptos"/>
              </a:rPr>
              <a:t>Keys determine relevance </a:t>
            </a:r>
            <a:r>
              <a:rPr lang="en-US" sz="900" b="0" i="1" u="none" strike="noStrike" dirty="0" err="1">
                <a:solidFill>
                  <a:srgbClr val="475467"/>
                </a:solidFill>
                <a:effectLst/>
                <a:uFillTx/>
                <a:latin typeface="Aptos"/>
              </a:rPr>
              <a:t>wrt</a:t>
            </a:r>
            <a:r>
              <a:rPr lang="en-US" sz="900" b="0" i="1" u="none" strike="noStrike" dirty="0">
                <a:solidFill>
                  <a:srgbClr val="475467"/>
                </a:solidFill>
                <a:effectLst/>
                <a:uFillTx/>
                <a:latin typeface="Aptos"/>
              </a:rPr>
              <a:t> the current query; values provide the information that is combined.</a:t>
            </a:r>
            <a:endParaRPr lang="it-IT" sz="900" b="0" u="none" strike="noStrike" dirty="0">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2206CD-9893-C8BE-37C4-1D1A17526035}"/>
              </a:ext>
            </a:extLst>
          </p:cNvPr>
          <p:cNvSpPr>
            <a:spLocks noGrp="1"/>
          </p:cNvSpPr>
          <p:nvPr>
            <p:ph type="title"/>
          </p:nvPr>
        </p:nvSpPr>
        <p:spPr/>
        <p:txBody>
          <a:bodyPr/>
          <a:lstStyle/>
          <a:p>
            <a:r>
              <a:rPr lang="en-GB" dirty="0"/>
              <a:t>Query, key and value are learned representations</a:t>
            </a:r>
          </a:p>
        </p:txBody>
      </p:sp>
      <p:sp>
        <p:nvSpPr>
          <p:cNvPr id="3" name="Segnaposto contenuto 2">
            <a:extLst>
              <a:ext uri="{FF2B5EF4-FFF2-40B4-BE49-F238E27FC236}">
                <a16:creationId xmlns:a16="http://schemas.microsoft.com/office/drawing/2014/main" id="{E10F0D67-4D09-B0BC-2170-5D7D94C288C5}"/>
              </a:ext>
            </a:extLst>
          </p:cNvPr>
          <p:cNvSpPr>
            <a:spLocks noGrp="1"/>
          </p:cNvSpPr>
          <p:nvPr>
            <p:ph sz="half" idx="1"/>
          </p:nvPr>
        </p:nvSpPr>
        <p:spPr>
          <a:xfrm>
            <a:off x="677334" y="2160589"/>
            <a:ext cx="6540589" cy="4444492"/>
          </a:xfrm>
        </p:spPr>
        <p:txBody>
          <a:bodyPr>
            <a:normAutofit fontScale="77500" lnSpcReduction="20000"/>
          </a:bodyPr>
          <a:lstStyle/>
          <a:p>
            <a:r>
              <a:rPr lang="en-GB" dirty="0"/>
              <a:t>For an input representation: x[t] the model generates different projections.</a:t>
            </a:r>
          </a:p>
          <a:p>
            <a:r>
              <a:rPr lang="en-GB" dirty="0"/>
              <a:t>x[t]</a:t>
            </a:r>
          </a:p>
          <a:p>
            <a:r>
              <a:rPr lang="en-GB" dirty="0"/>
              <a:t> ├──→ query q[t]</a:t>
            </a:r>
          </a:p>
          <a:p>
            <a:r>
              <a:rPr lang="en-GB" dirty="0"/>
              <a:t> ├──→ key   k[t]</a:t>
            </a:r>
          </a:p>
          <a:p>
            <a:r>
              <a:rPr lang="en-GB" dirty="0"/>
              <a:t> └──→ value v[t]</a:t>
            </a:r>
          </a:p>
          <a:p>
            <a:r>
              <a:rPr lang="en-GB" dirty="0"/>
              <a:t>These are produced through </a:t>
            </a:r>
            <a:r>
              <a:rPr lang="en-GB" b="1" dirty="0"/>
              <a:t>learned linear transformations</a:t>
            </a:r>
            <a:r>
              <a:rPr lang="en-GB" dirty="0"/>
              <a:t>.</a:t>
            </a:r>
          </a:p>
          <a:p>
            <a:r>
              <a:rPr lang="en-GB" dirty="0"/>
              <a:t>For example:</a:t>
            </a:r>
          </a:p>
          <a:p>
            <a:pPr lvl="1"/>
            <a:r>
              <a:rPr lang="en-GB" dirty="0"/>
              <a:t>q[t] = W_Q x[t]</a:t>
            </a:r>
          </a:p>
          <a:p>
            <a:pPr lvl="1"/>
            <a:r>
              <a:rPr lang="en-GB" dirty="0"/>
              <a:t>k[t] = W_K x[t]</a:t>
            </a:r>
          </a:p>
          <a:p>
            <a:pPr lvl="1"/>
            <a:r>
              <a:rPr lang="en-GB" dirty="0"/>
              <a:t>v[t] = W_V x[t]</a:t>
            </a:r>
          </a:p>
          <a:p>
            <a:r>
              <a:rPr lang="en-GB" dirty="0"/>
              <a:t>where:</a:t>
            </a:r>
          </a:p>
          <a:p>
            <a:pPr lvl="0"/>
            <a:r>
              <a:rPr lang="en-GB" dirty="0"/>
              <a:t>W_Q learns how to represent what a position searches for; </a:t>
            </a:r>
          </a:p>
          <a:p>
            <a:pPr lvl="0"/>
            <a:r>
              <a:rPr lang="en-GB" dirty="0"/>
              <a:t>W_K learns how to represent what a position offers for matching; </a:t>
            </a:r>
          </a:p>
          <a:p>
            <a:pPr lvl="0"/>
            <a:r>
              <a:rPr lang="en-GB" dirty="0"/>
              <a:t>W_V learns the information that can actually be passed onward. </a:t>
            </a:r>
          </a:p>
          <a:p>
            <a:endParaRPr lang="en-GB" dirty="0"/>
          </a:p>
        </p:txBody>
      </p:sp>
      <p:sp>
        <p:nvSpPr>
          <p:cNvPr id="4" name="Segnaposto contenuto 3">
            <a:extLst>
              <a:ext uri="{FF2B5EF4-FFF2-40B4-BE49-F238E27FC236}">
                <a16:creationId xmlns:a16="http://schemas.microsoft.com/office/drawing/2014/main" id="{D3B10D07-CD04-8149-A273-A53661F5A2D3}"/>
              </a:ext>
            </a:extLst>
          </p:cNvPr>
          <p:cNvSpPr>
            <a:spLocks noGrp="1"/>
          </p:cNvSpPr>
          <p:nvPr>
            <p:ph sz="half" idx="2"/>
          </p:nvPr>
        </p:nvSpPr>
        <p:spPr>
          <a:xfrm>
            <a:off x="7560795" y="2160588"/>
            <a:ext cx="4184034" cy="3880773"/>
          </a:xfrm>
        </p:spPr>
        <p:txBody>
          <a:bodyPr>
            <a:normAutofit fontScale="77500" lnSpcReduction="20000"/>
          </a:bodyPr>
          <a:lstStyle/>
          <a:p>
            <a:r>
              <a:rPr lang="en-GB" b="1" dirty="0"/>
              <a:t>Important point</a:t>
            </a:r>
          </a:p>
          <a:p>
            <a:r>
              <a:rPr lang="en-GB" dirty="0"/>
              <a:t>q[t], k[t] and v[t] come from the same original representation but serve different functions.</a:t>
            </a:r>
          </a:p>
          <a:p>
            <a:endParaRPr lang="en-GB" b="1" dirty="0"/>
          </a:p>
          <a:p>
            <a:r>
              <a:rPr lang="en-GB" b="1" dirty="0"/>
              <a:t>Analogy</a:t>
            </a:r>
          </a:p>
          <a:p>
            <a:r>
              <a:rPr lang="en-GB" dirty="0"/>
              <a:t>Think of a </a:t>
            </a:r>
            <a:r>
              <a:rPr lang="en-GB" b="1" dirty="0"/>
              <a:t>database search:</a:t>
            </a:r>
          </a:p>
          <a:p>
            <a:pPr lvl="0"/>
            <a:r>
              <a:rPr lang="en-GB" b="1" dirty="0"/>
              <a:t>query</a:t>
            </a:r>
            <a:r>
              <a:rPr lang="en-GB" dirty="0"/>
              <a:t> = search request; </a:t>
            </a:r>
          </a:p>
          <a:p>
            <a:pPr lvl="0"/>
            <a:r>
              <a:rPr lang="en-GB" b="1" dirty="0"/>
              <a:t>key</a:t>
            </a:r>
            <a:r>
              <a:rPr lang="en-GB" dirty="0"/>
              <a:t> = descriptor used for matching records; </a:t>
            </a:r>
          </a:p>
          <a:p>
            <a:pPr lvl="0"/>
            <a:r>
              <a:rPr lang="en-GB" b="1" dirty="0"/>
              <a:t>value</a:t>
            </a:r>
            <a:r>
              <a:rPr lang="en-GB" dirty="0"/>
              <a:t> = content retrieved from the matching record.</a:t>
            </a:r>
          </a:p>
          <a:p>
            <a:endParaRPr lang="en-GB" dirty="0"/>
          </a:p>
        </p:txBody>
      </p:sp>
    </p:spTree>
    <p:extLst>
      <p:ext uri="{BB962C8B-B14F-4D97-AF65-F5344CB8AC3E}">
        <p14:creationId xmlns:p14="http://schemas.microsoft.com/office/powerpoint/2010/main" val="1220087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7"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18"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9"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20"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Q, K and V are learned projections of the same representation</a:t>
            </a:r>
            <a:endParaRPr lang="it-IT" sz="2200" b="0" u="none" strike="noStrike">
              <a:solidFill>
                <a:srgbClr val="000000"/>
              </a:solidFill>
              <a:effectLst/>
              <a:uFillTx/>
              <a:latin typeface="Arial"/>
            </a:endParaRPr>
          </a:p>
        </p:txBody>
      </p:sp>
      <p:sp>
        <p:nvSpPr>
          <p:cNvPr id="321"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Same input vector, different learned functions</a:t>
            </a:r>
            <a:endParaRPr lang="it-IT" sz="1050" b="0" u="none" strike="noStrike">
              <a:solidFill>
                <a:srgbClr val="000000"/>
              </a:solidFill>
              <a:effectLst/>
              <a:uFillTx/>
              <a:latin typeface="Arial"/>
            </a:endParaRPr>
          </a:p>
        </p:txBody>
      </p:sp>
      <p:sp>
        <p:nvSpPr>
          <p:cNvPr id="322" name="Shape 6"/>
          <p:cNvSpPr/>
          <p:nvPr/>
        </p:nvSpPr>
        <p:spPr>
          <a:xfrm>
            <a:off x="822960" y="2788920"/>
            <a:ext cx="2194200" cy="639720"/>
          </a:xfrm>
          <a:prstGeom prst="roundRect">
            <a:avLst>
              <a:gd name="adj" fmla="val 11429"/>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23" name="Text 7"/>
          <p:cNvSpPr/>
          <p:nvPr/>
        </p:nvSpPr>
        <p:spPr>
          <a:xfrm>
            <a:off x="868680" y="2825640"/>
            <a:ext cx="210276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input representation x[t]</a:t>
            </a:r>
            <a:endParaRPr lang="it-IT" sz="1200" b="0" u="none" strike="noStrike">
              <a:solidFill>
                <a:srgbClr val="000000"/>
              </a:solidFill>
              <a:effectLst/>
              <a:uFillTx/>
              <a:latin typeface="Arial"/>
            </a:endParaRPr>
          </a:p>
        </p:txBody>
      </p:sp>
      <p:sp>
        <p:nvSpPr>
          <p:cNvPr id="324" name="Shape 8"/>
          <p:cNvSpPr/>
          <p:nvPr/>
        </p:nvSpPr>
        <p:spPr>
          <a:xfrm>
            <a:off x="3794760" y="1600200"/>
            <a:ext cx="959760" cy="438480"/>
          </a:xfrm>
          <a:prstGeom prst="roundRect">
            <a:avLst>
              <a:gd name="adj" fmla="val 16667"/>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25" name="Text 9"/>
          <p:cNvSpPr/>
          <p:nvPr/>
        </p:nvSpPr>
        <p:spPr>
          <a:xfrm>
            <a:off x="3840480" y="1636920"/>
            <a:ext cx="86832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W_Q</a:t>
            </a:r>
            <a:endParaRPr lang="it-IT" sz="1000" b="0" u="none" strike="noStrike">
              <a:solidFill>
                <a:srgbClr val="000000"/>
              </a:solidFill>
              <a:effectLst/>
              <a:uFillTx/>
              <a:latin typeface="Arial"/>
            </a:endParaRPr>
          </a:p>
        </p:txBody>
      </p:sp>
      <p:sp>
        <p:nvSpPr>
          <p:cNvPr id="326" name="Shape 10"/>
          <p:cNvSpPr/>
          <p:nvPr/>
        </p:nvSpPr>
        <p:spPr>
          <a:xfrm>
            <a:off x="3794760" y="2788920"/>
            <a:ext cx="959760" cy="438480"/>
          </a:xfrm>
          <a:prstGeom prst="roundRect">
            <a:avLst>
              <a:gd name="adj" fmla="val 16667"/>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27" name="Text 11"/>
          <p:cNvSpPr/>
          <p:nvPr/>
        </p:nvSpPr>
        <p:spPr>
          <a:xfrm>
            <a:off x="3840480" y="2825640"/>
            <a:ext cx="86832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W_K</a:t>
            </a:r>
            <a:endParaRPr lang="it-IT" sz="1000" b="0" u="none" strike="noStrike">
              <a:solidFill>
                <a:srgbClr val="000000"/>
              </a:solidFill>
              <a:effectLst/>
              <a:uFillTx/>
              <a:latin typeface="Arial"/>
            </a:endParaRPr>
          </a:p>
        </p:txBody>
      </p:sp>
      <p:sp>
        <p:nvSpPr>
          <p:cNvPr id="328" name="Shape 12"/>
          <p:cNvSpPr/>
          <p:nvPr/>
        </p:nvSpPr>
        <p:spPr>
          <a:xfrm>
            <a:off x="3794760" y="3977640"/>
            <a:ext cx="959760" cy="438480"/>
          </a:xfrm>
          <a:prstGeom prst="roundRect">
            <a:avLst>
              <a:gd name="adj" fmla="val 16667"/>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29" name="Text 13"/>
          <p:cNvSpPr/>
          <p:nvPr/>
        </p:nvSpPr>
        <p:spPr>
          <a:xfrm>
            <a:off x="3840480" y="4014360"/>
            <a:ext cx="86832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W_V</a:t>
            </a:r>
            <a:endParaRPr lang="it-IT" sz="1000" b="0" u="none" strike="noStrike">
              <a:solidFill>
                <a:srgbClr val="000000"/>
              </a:solidFill>
              <a:effectLst/>
              <a:uFillTx/>
              <a:latin typeface="Arial"/>
            </a:endParaRPr>
          </a:p>
        </p:txBody>
      </p:sp>
      <p:sp>
        <p:nvSpPr>
          <p:cNvPr id="330" name="Shape 14"/>
          <p:cNvSpPr/>
          <p:nvPr/>
        </p:nvSpPr>
        <p:spPr>
          <a:xfrm flipV="1">
            <a:off x="3017520" y="1828800"/>
            <a:ext cx="731520" cy="1280160"/>
          </a:xfrm>
          <a:prstGeom prst="line">
            <a:avLst/>
          </a:prstGeom>
          <a:ln w="1778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1" name="Shape 15"/>
          <p:cNvSpPr/>
          <p:nvPr/>
        </p:nvSpPr>
        <p:spPr>
          <a:xfrm flipV="1">
            <a:off x="3017520" y="3017520"/>
            <a:ext cx="731520" cy="91440"/>
          </a:xfrm>
          <a:prstGeom prst="line">
            <a:avLst/>
          </a:prstGeom>
          <a:ln w="17780">
            <a:solidFill>
              <a:srgbClr val="2F80E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2" name="Shape 16"/>
          <p:cNvSpPr/>
          <p:nvPr/>
        </p:nvSpPr>
        <p:spPr>
          <a:xfrm>
            <a:off x="3017520" y="3108960"/>
            <a:ext cx="731520" cy="1097280"/>
          </a:xfrm>
          <a:prstGeom prst="line">
            <a:avLst/>
          </a:prstGeom>
          <a:ln w="1778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3" name="Shape 17"/>
          <p:cNvSpPr/>
          <p:nvPr/>
        </p:nvSpPr>
        <p:spPr>
          <a:xfrm>
            <a:off x="5486400" y="1508760"/>
            <a:ext cx="1919880" cy="594000"/>
          </a:xfrm>
          <a:prstGeom prst="roundRect">
            <a:avLst>
              <a:gd name="adj" fmla="val 12308"/>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4" name="Text 18"/>
          <p:cNvSpPr/>
          <p:nvPr/>
        </p:nvSpPr>
        <p:spPr>
          <a:xfrm>
            <a:off x="5532120" y="1545480"/>
            <a:ext cx="1828440" cy="520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query q[t]</a:t>
            </a:r>
            <a:endParaRPr lang="it-IT" sz="1200" b="0" u="none" strike="noStrike">
              <a:solidFill>
                <a:srgbClr val="000000"/>
              </a:solidFill>
              <a:effectLst/>
              <a:uFillTx/>
              <a:latin typeface="Arial"/>
            </a:endParaRPr>
          </a:p>
        </p:txBody>
      </p:sp>
      <p:sp>
        <p:nvSpPr>
          <p:cNvPr id="335" name="Shape 19"/>
          <p:cNvSpPr/>
          <p:nvPr/>
        </p:nvSpPr>
        <p:spPr>
          <a:xfrm>
            <a:off x="5486400" y="2697480"/>
            <a:ext cx="1919880" cy="594000"/>
          </a:xfrm>
          <a:prstGeom prst="roundRect">
            <a:avLst>
              <a:gd name="adj" fmla="val 1230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6" name="Text 20"/>
          <p:cNvSpPr/>
          <p:nvPr/>
        </p:nvSpPr>
        <p:spPr>
          <a:xfrm>
            <a:off x="5532120" y="2734200"/>
            <a:ext cx="1828440" cy="520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key k[t]</a:t>
            </a:r>
            <a:endParaRPr lang="it-IT" sz="1200" b="0" u="none" strike="noStrike">
              <a:solidFill>
                <a:srgbClr val="000000"/>
              </a:solidFill>
              <a:effectLst/>
              <a:uFillTx/>
              <a:latin typeface="Arial"/>
            </a:endParaRPr>
          </a:p>
        </p:txBody>
      </p:sp>
      <p:sp>
        <p:nvSpPr>
          <p:cNvPr id="337" name="Shape 21"/>
          <p:cNvSpPr/>
          <p:nvPr/>
        </p:nvSpPr>
        <p:spPr>
          <a:xfrm>
            <a:off x="5486400" y="3886200"/>
            <a:ext cx="1919880" cy="594000"/>
          </a:xfrm>
          <a:prstGeom prst="roundRect">
            <a:avLst>
              <a:gd name="adj" fmla="val 12308"/>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8" name="Text 22"/>
          <p:cNvSpPr/>
          <p:nvPr/>
        </p:nvSpPr>
        <p:spPr>
          <a:xfrm>
            <a:off x="5532120" y="3922920"/>
            <a:ext cx="1828440" cy="520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value v[t]</a:t>
            </a:r>
            <a:endParaRPr lang="it-IT" sz="1200" b="0" u="none" strike="noStrike">
              <a:solidFill>
                <a:srgbClr val="000000"/>
              </a:solidFill>
              <a:effectLst/>
              <a:uFillTx/>
              <a:latin typeface="Arial"/>
            </a:endParaRPr>
          </a:p>
        </p:txBody>
      </p:sp>
      <p:sp>
        <p:nvSpPr>
          <p:cNvPr id="339" name="Shape 23"/>
          <p:cNvSpPr/>
          <p:nvPr/>
        </p:nvSpPr>
        <p:spPr>
          <a:xfrm>
            <a:off x="4754880" y="1828800"/>
            <a:ext cx="685800" cy="360"/>
          </a:xfrm>
          <a:prstGeom prst="line">
            <a:avLst/>
          </a:prstGeom>
          <a:ln w="1778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40" name="Shape 24"/>
          <p:cNvSpPr/>
          <p:nvPr/>
        </p:nvSpPr>
        <p:spPr>
          <a:xfrm>
            <a:off x="4754880" y="3017520"/>
            <a:ext cx="685800" cy="360"/>
          </a:xfrm>
          <a:prstGeom prst="line">
            <a:avLst/>
          </a:prstGeom>
          <a:ln w="17780">
            <a:solidFill>
              <a:srgbClr val="2F80E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41" name="Shape 25"/>
          <p:cNvSpPr/>
          <p:nvPr/>
        </p:nvSpPr>
        <p:spPr>
          <a:xfrm>
            <a:off x="4754880" y="4206240"/>
            <a:ext cx="685800" cy="360"/>
          </a:xfrm>
          <a:prstGeom prst="line">
            <a:avLst/>
          </a:prstGeom>
          <a:ln w="1778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42" name="Shape 26"/>
          <p:cNvSpPr/>
          <p:nvPr/>
        </p:nvSpPr>
        <p:spPr>
          <a:xfrm>
            <a:off x="8001000" y="2468880"/>
            <a:ext cx="1737000" cy="1096920"/>
          </a:xfrm>
          <a:prstGeom prst="roundRect">
            <a:avLst>
              <a:gd name="adj" fmla="val 6667"/>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3" name="Text 27"/>
          <p:cNvSpPr/>
          <p:nvPr/>
        </p:nvSpPr>
        <p:spPr>
          <a:xfrm>
            <a:off x="8046720" y="2505600"/>
            <a:ext cx="1645560" cy="1023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different roles, same source</a:t>
            </a:r>
            <a:endParaRPr lang="it-IT" sz="1200" b="0" u="none" strike="noStrike">
              <a:solidFill>
                <a:srgbClr val="000000"/>
              </a:solidFill>
              <a:effectLst/>
              <a:uFillTx/>
              <a:latin typeface="Arial"/>
            </a:endParaRPr>
          </a:p>
        </p:txBody>
      </p:sp>
      <p:sp>
        <p:nvSpPr>
          <p:cNvPr id="344" name="Text 28"/>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475467"/>
                </a:solidFill>
                <a:effectLst/>
                <a:uFillTx/>
                <a:latin typeface="Aptos"/>
              </a:rPr>
              <a:t>The model learns how to represent search requests, matchable descriptors, and retrievable contents.</a:t>
            </a:r>
            <a:endParaRPr lang="it-IT" sz="9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4F5BB2-FCA1-508D-73AF-1B3B60A756A7}"/>
              </a:ext>
            </a:extLst>
          </p:cNvPr>
          <p:cNvSpPr>
            <a:spLocks noGrp="1"/>
          </p:cNvSpPr>
          <p:nvPr>
            <p:ph type="title"/>
          </p:nvPr>
        </p:nvSpPr>
        <p:spPr/>
        <p:txBody>
          <a:bodyPr/>
          <a:lstStyle/>
          <a:p>
            <a:r>
              <a:rPr lang="en-GB" dirty="0"/>
              <a:t>Query–key similarity produces an attention score</a:t>
            </a:r>
          </a:p>
        </p:txBody>
      </p:sp>
      <p:sp>
        <p:nvSpPr>
          <p:cNvPr id="3" name="Segnaposto contenuto 2">
            <a:extLst>
              <a:ext uri="{FF2B5EF4-FFF2-40B4-BE49-F238E27FC236}">
                <a16:creationId xmlns:a16="http://schemas.microsoft.com/office/drawing/2014/main" id="{D4A8D961-C66F-A463-A23D-1335655E747C}"/>
              </a:ext>
            </a:extLst>
          </p:cNvPr>
          <p:cNvSpPr>
            <a:spLocks noGrp="1"/>
          </p:cNvSpPr>
          <p:nvPr>
            <p:ph sz="half" idx="1"/>
          </p:nvPr>
        </p:nvSpPr>
        <p:spPr/>
        <p:txBody>
          <a:bodyPr>
            <a:normAutofit fontScale="92500" lnSpcReduction="10000"/>
          </a:bodyPr>
          <a:lstStyle/>
          <a:p>
            <a:r>
              <a:rPr lang="en-GB" dirty="0"/>
              <a:t>Suppose we are computing the representation for position t.</a:t>
            </a:r>
          </a:p>
          <a:p>
            <a:r>
              <a:rPr lang="en-GB" dirty="0"/>
              <a:t>Its query is: q[t]</a:t>
            </a:r>
          </a:p>
          <a:p>
            <a:r>
              <a:rPr lang="en-GB" dirty="0"/>
              <a:t>Every candidate temporal position j has a key: k[j]</a:t>
            </a:r>
          </a:p>
          <a:p>
            <a:r>
              <a:rPr lang="en-GB" dirty="0"/>
              <a:t>The model computes a similarity score:</a:t>
            </a:r>
          </a:p>
          <a:p>
            <a:r>
              <a:rPr lang="en-GB" dirty="0"/>
              <a:t>score[</a:t>
            </a:r>
            <a:r>
              <a:rPr lang="en-GB" dirty="0" err="1"/>
              <a:t>t,j</a:t>
            </a:r>
            <a:r>
              <a:rPr lang="en-GB" dirty="0"/>
              <a:t>] = similarity(q[t], k[j])</a:t>
            </a:r>
          </a:p>
          <a:p>
            <a:pPr lvl="1"/>
            <a:r>
              <a:rPr lang="en-GB" dirty="0"/>
              <a:t>A common choice is a dot product: score[</a:t>
            </a:r>
            <a:r>
              <a:rPr lang="en-GB" dirty="0" err="1"/>
              <a:t>t,j</a:t>
            </a:r>
            <a:r>
              <a:rPr lang="en-GB" dirty="0"/>
              <a:t>] = q[t] · k[j]</a:t>
            </a:r>
          </a:p>
          <a:p>
            <a:endParaRPr lang="en-GB" dirty="0"/>
          </a:p>
        </p:txBody>
      </p:sp>
      <p:sp>
        <p:nvSpPr>
          <p:cNvPr id="4" name="Segnaposto contenuto 3">
            <a:extLst>
              <a:ext uri="{FF2B5EF4-FFF2-40B4-BE49-F238E27FC236}">
                <a16:creationId xmlns:a16="http://schemas.microsoft.com/office/drawing/2014/main" id="{5A64D95D-8450-7FF6-2D13-F4D9838A181A}"/>
              </a:ext>
            </a:extLst>
          </p:cNvPr>
          <p:cNvSpPr>
            <a:spLocks noGrp="1"/>
          </p:cNvSpPr>
          <p:nvPr>
            <p:ph sz="half" idx="2"/>
          </p:nvPr>
        </p:nvSpPr>
        <p:spPr>
          <a:xfrm>
            <a:off x="5265068" y="2160589"/>
            <a:ext cx="6573494" cy="4454220"/>
          </a:xfrm>
        </p:spPr>
        <p:txBody>
          <a:bodyPr>
            <a:normAutofit fontScale="92500" lnSpcReduction="10000"/>
          </a:bodyPr>
          <a:lstStyle/>
          <a:p>
            <a:r>
              <a:rPr lang="en-GB" b="1" dirty="0"/>
              <a:t>Interpretation</a:t>
            </a:r>
          </a:p>
          <a:p>
            <a:r>
              <a:rPr lang="en-GB" dirty="0"/>
              <a:t>Large score: Position j appears highly relevant to what position t is looking for.</a:t>
            </a:r>
          </a:p>
          <a:p>
            <a:r>
              <a:rPr lang="en-GB" dirty="0"/>
              <a:t>Small score: Position j appears less relevant.</a:t>
            </a:r>
          </a:p>
          <a:p>
            <a:r>
              <a:rPr lang="en-GB" b="1" dirty="0"/>
              <a:t>Example</a:t>
            </a:r>
          </a:p>
          <a:p>
            <a:r>
              <a:rPr lang="en-GB" dirty="0"/>
              <a:t>For current demand at Monday 14:00:</a:t>
            </a:r>
          </a:p>
          <a:p>
            <a:pPr lvl="1"/>
            <a:r>
              <a:rPr lang="en-GB" dirty="0"/>
              <a:t>candidate position       score</a:t>
            </a:r>
          </a:p>
          <a:p>
            <a:pPr lvl="1"/>
            <a:r>
              <a:rPr lang="en-GB" dirty="0"/>
              <a:t>Monday 13:00                  high</a:t>
            </a:r>
          </a:p>
          <a:p>
            <a:pPr lvl="1"/>
            <a:r>
              <a:rPr lang="en-GB" dirty="0"/>
              <a:t>Sunday 14:00             	   high</a:t>
            </a:r>
          </a:p>
          <a:p>
            <a:pPr lvl="1"/>
            <a:r>
              <a:rPr lang="en-GB" dirty="0"/>
              <a:t>previous Monday 14:00    very high</a:t>
            </a:r>
          </a:p>
          <a:p>
            <a:pPr lvl="1"/>
            <a:r>
              <a:rPr lang="en-GB" dirty="0"/>
              <a:t>Sunday 03:00                  low</a:t>
            </a:r>
          </a:p>
          <a:p>
            <a:r>
              <a:rPr lang="en-GB" b="1" dirty="0"/>
              <a:t>The scores are learned from data rather than manually specified.</a:t>
            </a:r>
          </a:p>
          <a:p>
            <a:endParaRPr lang="en-GB" dirty="0"/>
          </a:p>
        </p:txBody>
      </p:sp>
    </p:spTree>
    <p:extLst>
      <p:ext uri="{BB962C8B-B14F-4D97-AF65-F5344CB8AC3E}">
        <p14:creationId xmlns:p14="http://schemas.microsoft.com/office/powerpoint/2010/main" val="393776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6"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47"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8"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49"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Query–key similarity produces relevance scores</a:t>
            </a:r>
            <a:endParaRPr lang="it-IT" sz="2200" b="0" u="none" strike="noStrike">
              <a:solidFill>
                <a:srgbClr val="000000"/>
              </a:solidFill>
              <a:effectLst/>
              <a:uFillTx/>
              <a:latin typeface="Arial"/>
            </a:endParaRPr>
          </a:p>
        </p:txBody>
      </p:sp>
      <p:sp>
        <p:nvSpPr>
          <p:cNvPr id="350"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Large score: candidate position appears relevant to the current query</a:t>
            </a:r>
            <a:endParaRPr lang="it-IT" sz="1050" b="0" u="none" strike="noStrike">
              <a:solidFill>
                <a:srgbClr val="000000"/>
              </a:solidFill>
              <a:effectLst/>
              <a:uFillTx/>
              <a:latin typeface="Arial"/>
            </a:endParaRPr>
          </a:p>
        </p:txBody>
      </p:sp>
      <p:sp>
        <p:nvSpPr>
          <p:cNvPr id="351" name="Shape 6"/>
          <p:cNvSpPr/>
          <p:nvPr/>
        </p:nvSpPr>
        <p:spPr>
          <a:xfrm>
            <a:off x="914400" y="2743200"/>
            <a:ext cx="1234080" cy="502560"/>
          </a:xfrm>
          <a:prstGeom prst="roundRect">
            <a:avLst>
              <a:gd name="adj" fmla="val 14545"/>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2" name="Text 7"/>
          <p:cNvSpPr/>
          <p:nvPr/>
        </p:nvSpPr>
        <p:spPr>
          <a:xfrm>
            <a:off x="960120" y="2779920"/>
            <a:ext cx="114264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query q[t]</a:t>
            </a:r>
            <a:endParaRPr lang="it-IT" sz="1100" b="0" u="none" strike="noStrike">
              <a:solidFill>
                <a:srgbClr val="000000"/>
              </a:solidFill>
              <a:effectLst/>
              <a:uFillTx/>
              <a:latin typeface="Arial"/>
            </a:endParaRPr>
          </a:p>
        </p:txBody>
      </p:sp>
      <p:sp>
        <p:nvSpPr>
          <p:cNvPr id="353" name="Shape 8"/>
          <p:cNvSpPr/>
          <p:nvPr/>
        </p:nvSpPr>
        <p:spPr>
          <a:xfrm>
            <a:off x="2834640" y="1280160"/>
            <a:ext cx="1142640" cy="411120"/>
          </a:xfrm>
          <a:prstGeom prst="roundRect">
            <a:avLst>
              <a:gd name="adj" fmla="val 1777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4" name="Text 9"/>
          <p:cNvSpPr/>
          <p:nvPr/>
        </p:nvSpPr>
        <p:spPr>
          <a:xfrm>
            <a:off x="2880360" y="1316880"/>
            <a:ext cx="105120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k[t-1]</a:t>
            </a:r>
            <a:endParaRPr lang="it-IT" sz="900" b="0" u="none" strike="noStrike">
              <a:solidFill>
                <a:srgbClr val="000000"/>
              </a:solidFill>
              <a:effectLst/>
              <a:uFillTx/>
              <a:latin typeface="Arial"/>
            </a:endParaRPr>
          </a:p>
        </p:txBody>
      </p:sp>
      <p:sp>
        <p:nvSpPr>
          <p:cNvPr id="355" name="Shape 10"/>
          <p:cNvSpPr/>
          <p:nvPr/>
        </p:nvSpPr>
        <p:spPr>
          <a:xfrm flipV="1">
            <a:off x="2148840" y="1481040"/>
            <a:ext cx="640080" cy="1508760"/>
          </a:xfrm>
          <a:prstGeom prst="line">
            <a:avLst/>
          </a:prstGeom>
          <a:ln w="1270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6" name="Shape 11"/>
          <p:cNvSpPr/>
          <p:nvPr/>
        </p:nvSpPr>
        <p:spPr>
          <a:xfrm>
            <a:off x="4663440" y="1353240"/>
            <a:ext cx="2102760" cy="21924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7" name="Shape 12"/>
          <p:cNvSpPr/>
          <p:nvPr/>
        </p:nvSpPr>
        <p:spPr>
          <a:xfrm>
            <a:off x="4663440" y="1353240"/>
            <a:ext cx="1640160" cy="21924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58" name="Text 13"/>
          <p:cNvSpPr/>
          <p:nvPr/>
        </p:nvSpPr>
        <p:spPr>
          <a:xfrm>
            <a:off x="6903720" y="1280160"/>
            <a:ext cx="1005480" cy="411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900" b="0" u="none" strike="noStrike">
                <a:solidFill>
                  <a:srgbClr val="475467"/>
                </a:solidFill>
                <a:effectLst/>
                <a:uFillTx/>
                <a:latin typeface="Aptos"/>
                <a:ea typeface="Aptos"/>
              </a:rPr>
              <a:t>high</a:t>
            </a:r>
            <a:endParaRPr lang="it-IT" sz="900" b="0" u="none" strike="noStrike">
              <a:solidFill>
                <a:srgbClr val="000000"/>
              </a:solidFill>
              <a:effectLst/>
              <a:uFillTx/>
              <a:latin typeface="Arial"/>
            </a:endParaRPr>
          </a:p>
        </p:txBody>
      </p:sp>
      <p:sp>
        <p:nvSpPr>
          <p:cNvPr id="359" name="Shape 14"/>
          <p:cNvSpPr/>
          <p:nvPr/>
        </p:nvSpPr>
        <p:spPr>
          <a:xfrm>
            <a:off x="2834640" y="1938600"/>
            <a:ext cx="1142640" cy="411120"/>
          </a:xfrm>
          <a:prstGeom prst="roundRect">
            <a:avLst>
              <a:gd name="adj" fmla="val 1777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0" name="Text 15"/>
          <p:cNvSpPr/>
          <p:nvPr/>
        </p:nvSpPr>
        <p:spPr>
          <a:xfrm>
            <a:off x="2880360" y="1974960"/>
            <a:ext cx="105120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k[t-2]</a:t>
            </a:r>
            <a:endParaRPr lang="it-IT" sz="900" b="0" u="none" strike="noStrike">
              <a:solidFill>
                <a:srgbClr val="000000"/>
              </a:solidFill>
              <a:effectLst/>
              <a:uFillTx/>
              <a:latin typeface="Arial"/>
            </a:endParaRPr>
          </a:p>
        </p:txBody>
      </p:sp>
      <p:sp>
        <p:nvSpPr>
          <p:cNvPr id="361" name="Shape 16"/>
          <p:cNvSpPr/>
          <p:nvPr/>
        </p:nvSpPr>
        <p:spPr>
          <a:xfrm flipV="1">
            <a:off x="2148840" y="2139480"/>
            <a:ext cx="640080" cy="850320"/>
          </a:xfrm>
          <a:prstGeom prst="line">
            <a:avLst/>
          </a:prstGeom>
          <a:ln w="1270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62" name="Shape 17"/>
          <p:cNvSpPr/>
          <p:nvPr/>
        </p:nvSpPr>
        <p:spPr>
          <a:xfrm>
            <a:off x="4663440" y="2011680"/>
            <a:ext cx="2102760" cy="21924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3" name="Shape 18"/>
          <p:cNvSpPr/>
          <p:nvPr/>
        </p:nvSpPr>
        <p:spPr>
          <a:xfrm>
            <a:off x="4663440" y="2011680"/>
            <a:ext cx="883080" cy="21924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64" name="Text 19"/>
          <p:cNvSpPr/>
          <p:nvPr/>
        </p:nvSpPr>
        <p:spPr>
          <a:xfrm>
            <a:off x="6903720" y="1938600"/>
            <a:ext cx="1005480" cy="411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900" b="0" u="none" strike="noStrike">
                <a:solidFill>
                  <a:srgbClr val="475467"/>
                </a:solidFill>
                <a:effectLst/>
                <a:uFillTx/>
                <a:latin typeface="Aptos"/>
                <a:ea typeface="Aptos"/>
              </a:rPr>
              <a:t>medium</a:t>
            </a:r>
            <a:endParaRPr lang="it-IT" sz="900" b="0" u="none" strike="noStrike">
              <a:solidFill>
                <a:srgbClr val="000000"/>
              </a:solidFill>
              <a:effectLst/>
              <a:uFillTx/>
              <a:latin typeface="Arial"/>
            </a:endParaRPr>
          </a:p>
        </p:txBody>
      </p:sp>
      <p:sp>
        <p:nvSpPr>
          <p:cNvPr id="365" name="Shape 20"/>
          <p:cNvSpPr/>
          <p:nvPr/>
        </p:nvSpPr>
        <p:spPr>
          <a:xfrm>
            <a:off x="2834640" y="2597040"/>
            <a:ext cx="1142640" cy="411120"/>
          </a:xfrm>
          <a:prstGeom prst="roundRect">
            <a:avLst>
              <a:gd name="adj" fmla="val 1777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6" name="Text 21"/>
          <p:cNvSpPr/>
          <p:nvPr/>
        </p:nvSpPr>
        <p:spPr>
          <a:xfrm>
            <a:off x="2880360" y="2633400"/>
            <a:ext cx="105120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k[t-24]</a:t>
            </a:r>
            <a:endParaRPr lang="it-IT" sz="900" b="0" u="none" strike="noStrike">
              <a:solidFill>
                <a:srgbClr val="000000"/>
              </a:solidFill>
              <a:effectLst/>
              <a:uFillTx/>
              <a:latin typeface="Arial"/>
            </a:endParaRPr>
          </a:p>
        </p:txBody>
      </p:sp>
      <p:sp>
        <p:nvSpPr>
          <p:cNvPr id="367" name="Shape 22"/>
          <p:cNvSpPr/>
          <p:nvPr/>
        </p:nvSpPr>
        <p:spPr>
          <a:xfrm flipV="1">
            <a:off x="2148840" y="2797920"/>
            <a:ext cx="640080" cy="191880"/>
          </a:xfrm>
          <a:prstGeom prst="line">
            <a:avLst/>
          </a:prstGeom>
          <a:ln w="1270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68" name="Shape 23"/>
          <p:cNvSpPr/>
          <p:nvPr/>
        </p:nvSpPr>
        <p:spPr>
          <a:xfrm>
            <a:off x="4663440" y="2670120"/>
            <a:ext cx="2102760" cy="21924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9" name="Shape 24"/>
          <p:cNvSpPr/>
          <p:nvPr/>
        </p:nvSpPr>
        <p:spPr>
          <a:xfrm>
            <a:off x="4663440" y="2670120"/>
            <a:ext cx="1724040" cy="21924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70" name="Text 25"/>
          <p:cNvSpPr/>
          <p:nvPr/>
        </p:nvSpPr>
        <p:spPr>
          <a:xfrm>
            <a:off x="6903720" y="2597040"/>
            <a:ext cx="1005480" cy="411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900" b="0" u="none" strike="noStrike">
                <a:solidFill>
                  <a:srgbClr val="475467"/>
                </a:solidFill>
                <a:effectLst/>
                <a:uFillTx/>
                <a:latin typeface="Aptos"/>
                <a:ea typeface="Aptos"/>
              </a:rPr>
              <a:t>high</a:t>
            </a:r>
            <a:endParaRPr lang="it-IT" sz="900" b="0" u="none" strike="noStrike">
              <a:solidFill>
                <a:srgbClr val="000000"/>
              </a:solidFill>
              <a:effectLst/>
              <a:uFillTx/>
              <a:latin typeface="Arial"/>
            </a:endParaRPr>
          </a:p>
        </p:txBody>
      </p:sp>
      <p:sp>
        <p:nvSpPr>
          <p:cNvPr id="371" name="Shape 26"/>
          <p:cNvSpPr/>
          <p:nvPr/>
        </p:nvSpPr>
        <p:spPr>
          <a:xfrm>
            <a:off x="2834640" y="3255120"/>
            <a:ext cx="1142640" cy="411120"/>
          </a:xfrm>
          <a:prstGeom prst="roundRect">
            <a:avLst>
              <a:gd name="adj" fmla="val 1777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2" name="Text 27"/>
          <p:cNvSpPr/>
          <p:nvPr/>
        </p:nvSpPr>
        <p:spPr>
          <a:xfrm>
            <a:off x="2880360" y="3291840"/>
            <a:ext cx="105120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k[t-168]</a:t>
            </a:r>
            <a:endParaRPr lang="it-IT" sz="900" b="0" u="none" strike="noStrike">
              <a:solidFill>
                <a:srgbClr val="000000"/>
              </a:solidFill>
              <a:effectLst/>
              <a:uFillTx/>
              <a:latin typeface="Arial"/>
            </a:endParaRPr>
          </a:p>
        </p:txBody>
      </p:sp>
      <p:sp>
        <p:nvSpPr>
          <p:cNvPr id="373" name="Shape 28"/>
          <p:cNvSpPr/>
          <p:nvPr/>
        </p:nvSpPr>
        <p:spPr>
          <a:xfrm>
            <a:off x="2148840" y="2989800"/>
            <a:ext cx="640080" cy="466560"/>
          </a:xfrm>
          <a:prstGeom prst="line">
            <a:avLst/>
          </a:prstGeom>
          <a:ln w="1270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74" name="Shape 29"/>
          <p:cNvSpPr/>
          <p:nvPr/>
        </p:nvSpPr>
        <p:spPr>
          <a:xfrm>
            <a:off x="4663440" y="3328560"/>
            <a:ext cx="2102760" cy="21924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5" name="Shape 30"/>
          <p:cNvSpPr/>
          <p:nvPr/>
        </p:nvSpPr>
        <p:spPr>
          <a:xfrm>
            <a:off x="4663440" y="3328560"/>
            <a:ext cx="1976400" cy="21924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76" name="Text 31"/>
          <p:cNvSpPr/>
          <p:nvPr/>
        </p:nvSpPr>
        <p:spPr>
          <a:xfrm>
            <a:off x="6903720" y="3255120"/>
            <a:ext cx="1005480" cy="411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900" b="0" u="none" strike="noStrike">
                <a:solidFill>
                  <a:srgbClr val="475467"/>
                </a:solidFill>
                <a:effectLst/>
                <a:uFillTx/>
                <a:latin typeface="Aptos"/>
                <a:ea typeface="Aptos"/>
              </a:rPr>
              <a:t>very high</a:t>
            </a:r>
            <a:endParaRPr lang="it-IT" sz="900" b="0" u="none" strike="noStrike">
              <a:solidFill>
                <a:srgbClr val="000000"/>
              </a:solidFill>
              <a:effectLst/>
              <a:uFillTx/>
              <a:latin typeface="Arial"/>
            </a:endParaRPr>
          </a:p>
        </p:txBody>
      </p:sp>
      <p:sp>
        <p:nvSpPr>
          <p:cNvPr id="377" name="Shape 32"/>
          <p:cNvSpPr/>
          <p:nvPr/>
        </p:nvSpPr>
        <p:spPr>
          <a:xfrm>
            <a:off x="2834640" y="3913560"/>
            <a:ext cx="1142640" cy="411120"/>
          </a:xfrm>
          <a:prstGeom prst="roundRect">
            <a:avLst>
              <a:gd name="adj" fmla="val 17778"/>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8" name="Text 33"/>
          <p:cNvSpPr/>
          <p:nvPr/>
        </p:nvSpPr>
        <p:spPr>
          <a:xfrm>
            <a:off x="2880360" y="3950280"/>
            <a:ext cx="1051200" cy="338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k[other]</a:t>
            </a:r>
            <a:endParaRPr lang="it-IT" sz="900" b="0" u="none" strike="noStrike">
              <a:solidFill>
                <a:srgbClr val="000000"/>
              </a:solidFill>
              <a:effectLst/>
              <a:uFillTx/>
              <a:latin typeface="Arial"/>
            </a:endParaRPr>
          </a:p>
        </p:txBody>
      </p:sp>
      <p:sp>
        <p:nvSpPr>
          <p:cNvPr id="379" name="Shape 34"/>
          <p:cNvSpPr/>
          <p:nvPr/>
        </p:nvSpPr>
        <p:spPr>
          <a:xfrm>
            <a:off x="2148840" y="2989800"/>
            <a:ext cx="640080" cy="1125000"/>
          </a:xfrm>
          <a:prstGeom prst="line">
            <a:avLst/>
          </a:prstGeom>
          <a:ln w="1270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80" name="Shape 35"/>
          <p:cNvSpPr/>
          <p:nvPr/>
        </p:nvSpPr>
        <p:spPr>
          <a:xfrm>
            <a:off x="4663440" y="3986640"/>
            <a:ext cx="2102760" cy="21924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81" name="Shape 36"/>
          <p:cNvSpPr/>
          <p:nvPr/>
        </p:nvSpPr>
        <p:spPr>
          <a:xfrm>
            <a:off x="4663440" y="3986640"/>
            <a:ext cx="378360" cy="21924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82" name="Text 37"/>
          <p:cNvSpPr/>
          <p:nvPr/>
        </p:nvSpPr>
        <p:spPr>
          <a:xfrm>
            <a:off x="6903720" y="3913560"/>
            <a:ext cx="1005480" cy="411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900" b="0" u="none" strike="noStrike">
                <a:solidFill>
                  <a:srgbClr val="475467"/>
                </a:solidFill>
                <a:effectLst/>
                <a:uFillTx/>
                <a:latin typeface="Aptos"/>
                <a:ea typeface="Aptos"/>
              </a:rPr>
              <a:t>low</a:t>
            </a:r>
            <a:endParaRPr lang="it-IT" sz="900" b="0" u="none" strike="noStrike">
              <a:solidFill>
                <a:srgbClr val="000000"/>
              </a:solidFill>
              <a:effectLst/>
              <a:uFillTx/>
              <a:latin typeface="Arial"/>
            </a:endParaRPr>
          </a:p>
        </p:txBody>
      </p:sp>
      <p:sp>
        <p:nvSpPr>
          <p:cNvPr id="383" name="Shape 38"/>
          <p:cNvSpPr/>
          <p:nvPr/>
        </p:nvSpPr>
        <p:spPr>
          <a:xfrm>
            <a:off x="1005840" y="5349240"/>
            <a:ext cx="6491880" cy="502560"/>
          </a:xfrm>
          <a:prstGeom prst="roundRect">
            <a:avLst>
              <a:gd name="adj" fmla="val 14545"/>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84" name="Text 39"/>
          <p:cNvSpPr/>
          <p:nvPr/>
        </p:nvSpPr>
        <p:spPr>
          <a:xfrm>
            <a:off x="1051560" y="5385960"/>
            <a:ext cx="640044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01828"/>
                </a:solidFill>
                <a:effectLst/>
                <a:uFillTx/>
                <a:latin typeface="Aptos"/>
              </a:rPr>
              <a:t>score[t,j] = similarity(q[t], k[j])</a:t>
            </a:r>
            <a:endParaRPr lang="it-IT" sz="1400" b="0" u="none" strike="noStrike">
              <a:solidFill>
                <a:srgbClr val="000000"/>
              </a:solidFill>
              <a:effectLst/>
              <a:uFillTx/>
              <a:latin typeface="Arial"/>
            </a:endParaRPr>
          </a:p>
        </p:txBody>
      </p:sp>
      <p:sp>
        <p:nvSpPr>
          <p:cNvPr id="385" name="Text 40"/>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i="1" u="none" strike="noStrike" dirty="0">
                <a:solidFill>
                  <a:srgbClr val="475467"/>
                </a:solidFill>
                <a:effectLst/>
                <a:uFillTx/>
                <a:latin typeface="Aptos"/>
              </a:rPr>
              <a:t>Scores are computed dynamically </a:t>
            </a:r>
            <a:r>
              <a:rPr lang="en-US" sz="1100" b="0" i="1" u="none" strike="noStrike" dirty="0">
                <a:solidFill>
                  <a:srgbClr val="475467"/>
                </a:solidFill>
                <a:effectLst/>
                <a:uFillTx/>
                <a:latin typeface="Aptos"/>
              </a:rPr>
              <a:t>for the current query and candidate keys.</a:t>
            </a:r>
            <a:endParaRPr lang="it-IT" sz="1100" b="0" u="none" strike="noStrike" dirty="0">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FD704B-DF52-C1AA-B57D-E71A4B09E051}"/>
              </a:ext>
            </a:extLst>
          </p:cNvPr>
          <p:cNvSpPr>
            <a:spLocks noGrp="1"/>
          </p:cNvSpPr>
          <p:nvPr>
            <p:ph type="title"/>
          </p:nvPr>
        </p:nvSpPr>
        <p:spPr/>
        <p:txBody>
          <a:bodyPr/>
          <a:lstStyle/>
          <a:p>
            <a:r>
              <a:rPr lang="en-GB" dirty="0"/>
              <a:t>Scores become attention weights</a:t>
            </a:r>
          </a:p>
        </p:txBody>
      </p:sp>
      <p:sp>
        <p:nvSpPr>
          <p:cNvPr id="3" name="Segnaposto contenuto 2">
            <a:extLst>
              <a:ext uri="{FF2B5EF4-FFF2-40B4-BE49-F238E27FC236}">
                <a16:creationId xmlns:a16="http://schemas.microsoft.com/office/drawing/2014/main" id="{30823171-4F4D-A677-6406-C0482BB44F88}"/>
              </a:ext>
            </a:extLst>
          </p:cNvPr>
          <p:cNvSpPr>
            <a:spLocks noGrp="1"/>
          </p:cNvSpPr>
          <p:nvPr>
            <p:ph sz="half" idx="1"/>
          </p:nvPr>
        </p:nvSpPr>
        <p:spPr/>
        <p:txBody>
          <a:bodyPr>
            <a:normAutofit fontScale="85000" lnSpcReduction="20000"/>
          </a:bodyPr>
          <a:lstStyle/>
          <a:p>
            <a:r>
              <a:rPr lang="en-GB" dirty="0"/>
              <a:t>Raw similarity scores are converted into normalized weights.</a:t>
            </a:r>
          </a:p>
          <a:p>
            <a:r>
              <a:rPr lang="en-GB" dirty="0"/>
              <a:t>A common operation is </a:t>
            </a:r>
            <a:r>
              <a:rPr lang="en-GB" b="1" dirty="0" err="1"/>
              <a:t>softmax</a:t>
            </a:r>
            <a:r>
              <a:rPr lang="en-GB" dirty="0"/>
              <a:t>.</a:t>
            </a:r>
          </a:p>
          <a:p>
            <a:endParaRPr lang="en-GB" dirty="0"/>
          </a:p>
          <a:p>
            <a:r>
              <a:rPr lang="en-GB" dirty="0"/>
              <a:t>similarity scores</a:t>
            </a:r>
          </a:p>
          <a:p>
            <a:r>
              <a:rPr lang="en-GB" dirty="0"/>
              <a:t>       ↓</a:t>
            </a:r>
          </a:p>
          <a:p>
            <a:r>
              <a:rPr lang="en-GB" dirty="0"/>
              <a:t>     </a:t>
            </a:r>
            <a:r>
              <a:rPr lang="en-GB" dirty="0" err="1"/>
              <a:t>softmax</a:t>
            </a:r>
            <a:endParaRPr lang="en-GB" dirty="0"/>
          </a:p>
          <a:p>
            <a:r>
              <a:rPr lang="en-GB" dirty="0"/>
              <a:t>       ↓</a:t>
            </a:r>
          </a:p>
          <a:p>
            <a:r>
              <a:rPr lang="en-GB" dirty="0"/>
              <a:t>attention weights</a:t>
            </a:r>
          </a:p>
          <a:p>
            <a:endParaRPr lang="en-GB" dirty="0"/>
          </a:p>
          <a:p>
            <a:r>
              <a:rPr lang="en-GB" dirty="0"/>
              <a:t>The resulting weights:</a:t>
            </a:r>
          </a:p>
          <a:p>
            <a:pPr lvl="1"/>
            <a:r>
              <a:rPr lang="en-GB" dirty="0"/>
              <a:t>are positive; </a:t>
            </a:r>
          </a:p>
          <a:p>
            <a:pPr lvl="1"/>
            <a:r>
              <a:rPr lang="en-GB" dirty="0"/>
              <a:t>sum to 1 across the candidate positions. </a:t>
            </a:r>
          </a:p>
          <a:p>
            <a:endParaRPr lang="en-GB" dirty="0"/>
          </a:p>
        </p:txBody>
      </p:sp>
      <p:sp>
        <p:nvSpPr>
          <p:cNvPr id="4" name="Segnaposto contenuto 3">
            <a:extLst>
              <a:ext uri="{FF2B5EF4-FFF2-40B4-BE49-F238E27FC236}">
                <a16:creationId xmlns:a16="http://schemas.microsoft.com/office/drawing/2014/main" id="{93E1E1FD-FD64-062F-9993-354317596417}"/>
              </a:ext>
            </a:extLst>
          </p:cNvPr>
          <p:cNvSpPr>
            <a:spLocks noGrp="1"/>
          </p:cNvSpPr>
          <p:nvPr>
            <p:ph sz="half" idx="2"/>
          </p:nvPr>
        </p:nvSpPr>
        <p:spPr>
          <a:xfrm>
            <a:off x="5381800" y="2015722"/>
            <a:ext cx="6515128" cy="4715817"/>
          </a:xfrm>
        </p:spPr>
        <p:txBody>
          <a:bodyPr>
            <a:normAutofit fontScale="85000" lnSpcReduction="20000"/>
          </a:bodyPr>
          <a:lstStyle/>
          <a:p>
            <a:r>
              <a:rPr lang="en-GB" b="1" dirty="0"/>
              <a:t>Example</a:t>
            </a:r>
          </a:p>
          <a:p>
            <a:r>
              <a:rPr lang="en-GB" dirty="0"/>
              <a:t>Raw relevance scores might become:</a:t>
            </a:r>
          </a:p>
          <a:p>
            <a:pPr lvl="1"/>
            <a:r>
              <a:rPr lang="en-GB" dirty="0"/>
              <a:t>position 1 → 0.05</a:t>
            </a:r>
          </a:p>
          <a:p>
            <a:pPr lvl="1"/>
            <a:r>
              <a:rPr lang="en-GB" dirty="0"/>
              <a:t>position 2 → 0.10</a:t>
            </a:r>
          </a:p>
          <a:p>
            <a:pPr lvl="1"/>
            <a:r>
              <a:rPr lang="en-GB" dirty="0"/>
              <a:t>position 3 → 0.60</a:t>
            </a:r>
          </a:p>
          <a:p>
            <a:pPr lvl="1"/>
            <a:r>
              <a:rPr lang="en-GB" dirty="0"/>
              <a:t>position 4 → 0.20</a:t>
            </a:r>
          </a:p>
          <a:p>
            <a:pPr lvl="1"/>
            <a:r>
              <a:rPr lang="en-GB" dirty="0"/>
              <a:t>position 5 → 0.05</a:t>
            </a:r>
          </a:p>
          <a:p>
            <a:r>
              <a:rPr lang="en-GB" b="1" dirty="0"/>
              <a:t>Interpretation</a:t>
            </a:r>
          </a:p>
          <a:p>
            <a:pPr lvl="1"/>
            <a:r>
              <a:rPr lang="en-GB" dirty="0"/>
              <a:t>Position 3 contributes most strongly.</a:t>
            </a:r>
          </a:p>
          <a:p>
            <a:pPr lvl="1"/>
            <a:r>
              <a:rPr lang="en-GB" dirty="0"/>
              <a:t>Position 1 contributes very little.</a:t>
            </a:r>
          </a:p>
          <a:p>
            <a:r>
              <a:rPr lang="en-GB" b="1" dirty="0"/>
              <a:t>Important point</a:t>
            </a:r>
          </a:p>
          <a:p>
            <a:pPr lvl="1"/>
            <a:r>
              <a:rPr lang="en-GB" dirty="0"/>
              <a:t>These weights are not fixed model parameters.</a:t>
            </a:r>
          </a:p>
          <a:p>
            <a:pPr lvl="1"/>
            <a:r>
              <a:rPr lang="en-GB" dirty="0"/>
              <a:t>They are computed dynamically from the query and keys for the current input sequence.</a:t>
            </a:r>
          </a:p>
          <a:p>
            <a:r>
              <a:rPr lang="en-GB" dirty="0"/>
              <a:t>Attention weights describe how strongly the current representation uses information from different candidate positions.</a:t>
            </a:r>
          </a:p>
          <a:p>
            <a:endParaRPr lang="en-GB" dirty="0"/>
          </a:p>
        </p:txBody>
      </p:sp>
    </p:spTree>
    <p:extLst>
      <p:ext uri="{BB962C8B-B14F-4D97-AF65-F5344CB8AC3E}">
        <p14:creationId xmlns:p14="http://schemas.microsoft.com/office/powerpoint/2010/main" val="3336510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87"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88"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89"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90"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Scores become attention weights</a:t>
            </a:r>
            <a:endParaRPr lang="it-IT" sz="2200" b="0" u="none" strike="noStrike">
              <a:solidFill>
                <a:srgbClr val="000000"/>
              </a:solidFill>
              <a:effectLst/>
              <a:uFillTx/>
              <a:latin typeface="Arial"/>
            </a:endParaRPr>
          </a:p>
        </p:txBody>
      </p:sp>
      <p:sp>
        <p:nvSpPr>
          <p:cNvPr id="391"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Softmax normalizes relevance scores into positive weights that sum to one</a:t>
            </a:r>
            <a:endParaRPr lang="it-IT" sz="1050" b="0" u="none" strike="noStrike">
              <a:solidFill>
                <a:srgbClr val="000000"/>
              </a:solidFill>
              <a:effectLst/>
              <a:uFillTx/>
              <a:latin typeface="Arial"/>
            </a:endParaRPr>
          </a:p>
        </p:txBody>
      </p:sp>
      <p:sp>
        <p:nvSpPr>
          <p:cNvPr id="392" name="Shape 6"/>
          <p:cNvSpPr/>
          <p:nvPr/>
        </p:nvSpPr>
        <p:spPr>
          <a:xfrm>
            <a:off x="914400" y="1371600"/>
            <a:ext cx="1919880" cy="475200"/>
          </a:xfrm>
          <a:prstGeom prst="roundRect">
            <a:avLst>
              <a:gd name="adj" fmla="val 15385"/>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3" name="Text 7"/>
          <p:cNvSpPr/>
          <p:nvPr/>
        </p:nvSpPr>
        <p:spPr>
          <a:xfrm>
            <a:off x="960120" y="1408320"/>
            <a:ext cx="18284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raw scores</a:t>
            </a:r>
            <a:endParaRPr lang="it-IT" sz="1200" b="0" u="none" strike="noStrike">
              <a:solidFill>
                <a:srgbClr val="000000"/>
              </a:solidFill>
              <a:effectLst/>
              <a:uFillTx/>
              <a:latin typeface="Arial"/>
            </a:endParaRPr>
          </a:p>
        </p:txBody>
      </p:sp>
      <p:sp>
        <p:nvSpPr>
          <p:cNvPr id="394" name="Shape 8"/>
          <p:cNvSpPr/>
          <p:nvPr/>
        </p:nvSpPr>
        <p:spPr>
          <a:xfrm>
            <a:off x="4069080" y="2377440"/>
            <a:ext cx="1462680" cy="529920"/>
          </a:xfrm>
          <a:prstGeom prst="roundRect">
            <a:avLst>
              <a:gd name="adj" fmla="val 13793"/>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5" name="Text 9"/>
          <p:cNvSpPr/>
          <p:nvPr/>
        </p:nvSpPr>
        <p:spPr>
          <a:xfrm>
            <a:off x="4114800" y="2414160"/>
            <a:ext cx="1371240" cy="456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softmax</a:t>
            </a:r>
            <a:endParaRPr lang="it-IT" sz="1200" b="0" u="none" strike="noStrike">
              <a:solidFill>
                <a:srgbClr val="000000"/>
              </a:solidFill>
              <a:effectLst/>
              <a:uFillTx/>
              <a:latin typeface="Arial"/>
            </a:endParaRPr>
          </a:p>
        </p:txBody>
      </p:sp>
      <p:sp>
        <p:nvSpPr>
          <p:cNvPr id="396" name="Shape 10"/>
          <p:cNvSpPr/>
          <p:nvPr/>
        </p:nvSpPr>
        <p:spPr>
          <a:xfrm>
            <a:off x="6766560" y="1371600"/>
            <a:ext cx="2011320" cy="475200"/>
          </a:xfrm>
          <a:prstGeom prst="roundRect">
            <a:avLst>
              <a:gd name="adj" fmla="val 15385"/>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7" name="Text 11"/>
          <p:cNvSpPr/>
          <p:nvPr/>
        </p:nvSpPr>
        <p:spPr>
          <a:xfrm>
            <a:off x="6812280" y="1408320"/>
            <a:ext cx="191988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attention weights</a:t>
            </a:r>
            <a:endParaRPr lang="it-IT" sz="1200" b="0" u="none" strike="noStrike">
              <a:solidFill>
                <a:srgbClr val="000000"/>
              </a:solidFill>
              <a:effectLst/>
              <a:uFillTx/>
              <a:latin typeface="Arial"/>
            </a:endParaRPr>
          </a:p>
        </p:txBody>
      </p:sp>
      <p:sp>
        <p:nvSpPr>
          <p:cNvPr id="398" name="Shape 12"/>
          <p:cNvSpPr/>
          <p:nvPr/>
        </p:nvSpPr>
        <p:spPr>
          <a:xfrm>
            <a:off x="2834640" y="1627560"/>
            <a:ext cx="1234440" cy="1005840"/>
          </a:xfrm>
          <a:prstGeom prst="line">
            <a:avLst/>
          </a:prstGeom>
          <a:ln w="1524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99" name="Shape 13"/>
          <p:cNvSpPr/>
          <p:nvPr/>
        </p:nvSpPr>
        <p:spPr>
          <a:xfrm flipV="1">
            <a:off x="5532120" y="1627560"/>
            <a:ext cx="1234440" cy="1005840"/>
          </a:xfrm>
          <a:prstGeom prst="line">
            <a:avLst/>
          </a:prstGeom>
          <a:ln w="1524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00" name="Text 14"/>
          <p:cNvSpPr/>
          <p:nvPr/>
        </p:nvSpPr>
        <p:spPr>
          <a:xfrm>
            <a:off x="914400" y="20757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1</a:t>
            </a:r>
            <a:endParaRPr lang="it-IT" sz="850" b="0" u="none" strike="noStrike">
              <a:solidFill>
                <a:srgbClr val="000000"/>
              </a:solidFill>
              <a:effectLst/>
              <a:uFillTx/>
              <a:latin typeface="Arial"/>
            </a:endParaRPr>
          </a:p>
        </p:txBody>
      </p:sp>
      <p:sp>
        <p:nvSpPr>
          <p:cNvPr id="401" name="Shape 15"/>
          <p:cNvSpPr/>
          <p:nvPr/>
        </p:nvSpPr>
        <p:spPr>
          <a:xfrm>
            <a:off x="2148840" y="205740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02" name="Shape 16"/>
          <p:cNvSpPr/>
          <p:nvPr/>
        </p:nvSpPr>
        <p:spPr>
          <a:xfrm>
            <a:off x="2148840" y="2057400"/>
            <a:ext cx="570240" cy="25560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03" name="Text 17"/>
          <p:cNvSpPr/>
          <p:nvPr/>
        </p:nvSpPr>
        <p:spPr>
          <a:xfrm>
            <a:off x="2783520" y="20757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0.48</a:t>
            </a:r>
            <a:endParaRPr lang="it-IT" sz="750" b="0" u="none" strike="noStrike">
              <a:solidFill>
                <a:srgbClr val="000000"/>
              </a:solidFill>
              <a:effectLst/>
              <a:uFillTx/>
              <a:latin typeface="Arial"/>
            </a:endParaRPr>
          </a:p>
        </p:txBody>
      </p:sp>
      <p:sp>
        <p:nvSpPr>
          <p:cNvPr id="404" name="Text 18"/>
          <p:cNvSpPr/>
          <p:nvPr/>
        </p:nvSpPr>
        <p:spPr>
          <a:xfrm>
            <a:off x="6766560" y="20757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1</a:t>
            </a:r>
            <a:endParaRPr lang="it-IT" sz="850" b="0" u="none" strike="noStrike">
              <a:solidFill>
                <a:srgbClr val="000000"/>
              </a:solidFill>
              <a:effectLst/>
              <a:uFillTx/>
              <a:latin typeface="Arial"/>
            </a:endParaRPr>
          </a:p>
        </p:txBody>
      </p:sp>
      <p:sp>
        <p:nvSpPr>
          <p:cNvPr id="405" name="Shape 19"/>
          <p:cNvSpPr/>
          <p:nvPr/>
        </p:nvSpPr>
        <p:spPr>
          <a:xfrm>
            <a:off x="8001000" y="205740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06" name="Shape 20"/>
          <p:cNvSpPr/>
          <p:nvPr/>
        </p:nvSpPr>
        <p:spPr>
          <a:xfrm>
            <a:off x="8001000" y="2057400"/>
            <a:ext cx="142200" cy="255600"/>
          </a:xfrm>
          <a:prstGeom prst="rect">
            <a:avLst/>
          </a:prstGeom>
          <a:solidFill>
            <a:srgbClr val="86BC25"/>
          </a:solidFill>
          <a:ln w="1270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07" name="Text 21"/>
          <p:cNvSpPr/>
          <p:nvPr/>
        </p:nvSpPr>
        <p:spPr>
          <a:xfrm>
            <a:off x="8207640" y="20757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0.12</a:t>
            </a:r>
            <a:endParaRPr lang="it-IT" sz="750" b="0" u="none" strike="noStrike">
              <a:solidFill>
                <a:srgbClr val="000000"/>
              </a:solidFill>
              <a:effectLst/>
              <a:uFillTx/>
              <a:latin typeface="Arial"/>
            </a:endParaRPr>
          </a:p>
        </p:txBody>
      </p:sp>
      <p:sp>
        <p:nvSpPr>
          <p:cNvPr id="408" name="Text 22"/>
          <p:cNvSpPr/>
          <p:nvPr/>
        </p:nvSpPr>
        <p:spPr>
          <a:xfrm>
            <a:off x="914400" y="24598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2</a:t>
            </a:r>
            <a:endParaRPr lang="it-IT" sz="850" b="0" u="none" strike="noStrike">
              <a:solidFill>
                <a:srgbClr val="000000"/>
              </a:solidFill>
              <a:effectLst/>
              <a:uFillTx/>
              <a:latin typeface="Arial"/>
            </a:endParaRPr>
          </a:p>
        </p:txBody>
      </p:sp>
      <p:sp>
        <p:nvSpPr>
          <p:cNvPr id="409" name="Shape 23"/>
          <p:cNvSpPr/>
          <p:nvPr/>
        </p:nvSpPr>
        <p:spPr>
          <a:xfrm>
            <a:off x="2148840" y="244152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0" name="Shape 24"/>
          <p:cNvSpPr/>
          <p:nvPr/>
        </p:nvSpPr>
        <p:spPr>
          <a:xfrm>
            <a:off x="2148840" y="2441520"/>
            <a:ext cx="380160" cy="25560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11" name="Text 25"/>
          <p:cNvSpPr/>
          <p:nvPr/>
        </p:nvSpPr>
        <p:spPr>
          <a:xfrm>
            <a:off x="2593080" y="24598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0.32</a:t>
            </a:r>
            <a:endParaRPr lang="it-IT" sz="750" b="0" u="none" strike="noStrike">
              <a:solidFill>
                <a:srgbClr val="000000"/>
              </a:solidFill>
              <a:effectLst/>
              <a:uFillTx/>
              <a:latin typeface="Arial"/>
            </a:endParaRPr>
          </a:p>
        </p:txBody>
      </p:sp>
      <p:sp>
        <p:nvSpPr>
          <p:cNvPr id="412" name="Text 26"/>
          <p:cNvSpPr/>
          <p:nvPr/>
        </p:nvSpPr>
        <p:spPr>
          <a:xfrm>
            <a:off x="6766560" y="24598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2</a:t>
            </a:r>
            <a:endParaRPr lang="it-IT" sz="850" b="0" u="none" strike="noStrike">
              <a:solidFill>
                <a:srgbClr val="000000"/>
              </a:solidFill>
              <a:effectLst/>
              <a:uFillTx/>
              <a:latin typeface="Arial"/>
            </a:endParaRPr>
          </a:p>
        </p:txBody>
      </p:sp>
      <p:sp>
        <p:nvSpPr>
          <p:cNvPr id="413" name="Shape 27"/>
          <p:cNvSpPr/>
          <p:nvPr/>
        </p:nvSpPr>
        <p:spPr>
          <a:xfrm>
            <a:off x="8001000" y="244152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4" name="Shape 28"/>
          <p:cNvSpPr/>
          <p:nvPr/>
        </p:nvSpPr>
        <p:spPr>
          <a:xfrm>
            <a:off x="8001000" y="2441520"/>
            <a:ext cx="94680" cy="255600"/>
          </a:xfrm>
          <a:prstGeom prst="rect">
            <a:avLst/>
          </a:prstGeom>
          <a:solidFill>
            <a:srgbClr val="86BC25"/>
          </a:solidFill>
          <a:ln w="1270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5" name="Text 29"/>
          <p:cNvSpPr/>
          <p:nvPr/>
        </p:nvSpPr>
        <p:spPr>
          <a:xfrm>
            <a:off x="8160120" y="24598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0.08</a:t>
            </a:r>
            <a:endParaRPr lang="it-IT" sz="750" b="0" u="none" strike="noStrike">
              <a:solidFill>
                <a:srgbClr val="000000"/>
              </a:solidFill>
              <a:effectLst/>
              <a:uFillTx/>
              <a:latin typeface="Arial"/>
            </a:endParaRPr>
          </a:p>
        </p:txBody>
      </p:sp>
      <p:sp>
        <p:nvSpPr>
          <p:cNvPr id="416" name="Text 30"/>
          <p:cNvSpPr/>
          <p:nvPr/>
        </p:nvSpPr>
        <p:spPr>
          <a:xfrm>
            <a:off x="914400" y="284364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3</a:t>
            </a:r>
            <a:endParaRPr lang="it-IT" sz="850" b="0" u="none" strike="noStrike">
              <a:solidFill>
                <a:srgbClr val="000000"/>
              </a:solidFill>
              <a:effectLst/>
              <a:uFillTx/>
              <a:latin typeface="Arial"/>
            </a:endParaRPr>
          </a:p>
        </p:txBody>
      </p:sp>
      <p:sp>
        <p:nvSpPr>
          <p:cNvPr id="417" name="Shape 31"/>
          <p:cNvSpPr/>
          <p:nvPr/>
        </p:nvSpPr>
        <p:spPr>
          <a:xfrm>
            <a:off x="2148840" y="282564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8" name="Shape 32"/>
          <p:cNvSpPr/>
          <p:nvPr/>
        </p:nvSpPr>
        <p:spPr>
          <a:xfrm>
            <a:off x="2148840" y="2825640"/>
            <a:ext cx="1140840" cy="25560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19" name="Text 33"/>
          <p:cNvSpPr/>
          <p:nvPr/>
        </p:nvSpPr>
        <p:spPr>
          <a:xfrm>
            <a:off x="3354120" y="284364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0.96</a:t>
            </a:r>
            <a:endParaRPr lang="it-IT" sz="750" b="0" u="none" strike="noStrike">
              <a:solidFill>
                <a:srgbClr val="000000"/>
              </a:solidFill>
              <a:effectLst/>
              <a:uFillTx/>
              <a:latin typeface="Arial"/>
            </a:endParaRPr>
          </a:p>
        </p:txBody>
      </p:sp>
      <p:sp>
        <p:nvSpPr>
          <p:cNvPr id="420" name="Text 34"/>
          <p:cNvSpPr/>
          <p:nvPr/>
        </p:nvSpPr>
        <p:spPr>
          <a:xfrm>
            <a:off x="6766560" y="284364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3</a:t>
            </a:r>
            <a:endParaRPr lang="it-IT" sz="850" b="0" u="none" strike="noStrike">
              <a:solidFill>
                <a:srgbClr val="000000"/>
              </a:solidFill>
              <a:effectLst/>
              <a:uFillTx/>
              <a:latin typeface="Arial"/>
            </a:endParaRPr>
          </a:p>
        </p:txBody>
      </p:sp>
      <p:sp>
        <p:nvSpPr>
          <p:cNvPr id="421" name="Shape 35"/>
          <p:cNvSpPr/>
          <p:nvPr/>
        </p:nvSpPr>
        <p:spPr>
          <a:xfrm>
            <a:off x="8001000" y="282564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2" name="Shape 36"/>
          <p:cNvSpPr/>
          <p:nvPr/>
        </p:nvSpPr>
        <p:spPr>
          <a:xfrm>
            <a:off x="8001000" y="2825640"/>
            <a:ext cx="665280" cy="255600"/>
          </a:xfrm>
          <a:prstGeom prst="rect">
            <a:avLst/>
          </a:prstGeom>
          <a:solidFill>
            <a:srgbClr val="86BC25"/>
          </a:solidFill>
          <a:ln w="1270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3" name="Text 37"/>
          <p:cNvSpPr/>
          <p:nvPr/>
        </p:nvSpPr>
        <p:spPr>
          <a:xfrm>
            <a:off x="8730720" y="284364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0.56</a:t>
            </a:r>
            <a:endParaRPr lang="it-IT" sz="750" b="0" u="none" strike="noStrike">
              <a:solidFill>
                <a:srgbClr val="000000"/>
              </a:solidFill>
              <a:effectLst/>
              <a:uFillTx/>
              <a:latin typeface="Arial"/>
            </a:endParaRPr>
          </a:p>
        </p:txBody>
      </p:sp>
      <p:sp>
        <p:nvSpPr>
          <p:cNvPr id="424" name="Text 38"/>
          <p:cNvSpPr/>
          <p:nvPr/>
        </p:nvSpPr>
        <p:spPr>
          <a:xfrm>
            <a:off x="914400" y="32277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4</a:t>
            </a:r>
            <a:endParaRPr lang="it-IT" sz="850" b="0" u="none" strike="noStrike">
              <a:solidFill>
                <a:srgbClr val="000000"/>
              </a:solidFill>
              <a:effectLst/>
              <a:uFillTx/>
              <a:latin typeface="Arial"/>
            </a:endParaRPr>
          </a:p>
        </p:txBody>
      </p:sp>
      <p:sp>
        <p:nvSpPr>
          <p:cNvPr id="425" name="Shape 39"/>
          <p:cNvSpPr/>
          <p:nvPr/>
        </p:nvSpPr>
        <p:spPr>
          <a:xfrm>
            <a:off x="2148840" y="320940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6" name="Shape 40"/>
          <p:cNvSpPr/>
          <p:nvPr/>
        </p:nvSpPr>
        <p:spPr>
          <a:xfrm>
            <a:off x="2148840" y="3209400"/>
            <a:ext cx="855360" cy="25560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27" name="Text 41"/>
          <p:cNvSpPr/>
          <p:nvPr/>
        </p:nvSpPr>
        <p:spPr>
          <a:xfrm>
            <a:off x="3068640" y="32277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0.72</a:t>
            </a:r>
            <a:endParaRPr lang="it-IT" sz="750" b="0" u="none" strike="noStrike">
              <a:solidFill>
                <a:srgbClr val="000000"/>
              </a:solidFill>
              <a:effectLst/>
              <a:uFillTx/>
              <a:latin typeface="Arial"/>
            </a:endParaRPr>
          </a:p>
        </p:txBody>
      </p:sp>
      <p:sp>
        <p:nvSpPr>
          <p:cNvPr id="428" name="Text 42"/>
          <p:cNvSpPr/>
          <p:nvPr/>
        </p:nvSpPr>
        <p:spPr>
          <a:xfrm>
            <a:off x="6766560" y="322776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4</a:t>
            </a:r>
            <a:endParaRPr lang="it-IT" sz="850" b="0" u="none" strike="noStrike">
              <a:solidFill>
                <a:srgbClr val="000000"/>
              </a:solidFill>
              <a:effectLst/>
              <a:uFillTx/>
              <a:latin typeface="Arial"/>
            </a:endParaRPr>
          </a:p>
        </p:txBody>
      </p:sp>
      <p:sp>
        <p:nvSpPr>
          <p:cNvPr id="429" name="Shape 43"/>
          <p:cNvSpPr/>
          <p:nvPr/>
        </p:nvSpPr>
        <p:spPr>
          <a:xfrm>
            <a:off x="8001000" y="320940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0" name="Shape 44"/>
          <p:cNvSpPr/>
          <p:nvPr/>
        </p:nvSpPr>
        <p:spPr>
          <a:xfrm>
            <a:off x="8001000" y="3209400"/>
            <a:ext cx="249120" cy="255600"/>
          </a:xfrm>
          <a:prstGeom prst="rect">
            <a:avLst/>
          </a:prstGeom>
          <a:solidFill>
            <a:srgbClr val="86BC25"/>
          </a:solidFill>
          <a:ln w="1270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1" name="Text 45"/>
          <p:cNvSpPr/>
          <p:nvPr/>
        </p:nvSpPr>
        <p:spPr>
          <a:xfrm>
            <a:off x="8314560" y="322776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0.21</a:t>
            </a:r>
            <a:endParaRPr lang="it-IT" sz="750" b="0" u="none" strike="noStrike">
              <a:solidFill>
                <a:srgbClr val="000000"/>
              </a:solidFill>
              <a:effectLst/>
              <a:uFillTx/>
              <a:latin typeface="Arial"/>
            </a:endParaRPr>
          </a:p>
        </p:txBody>
      </p:sp>
      <p:sp>
        <p:nvSpPr>
          <p:cNvPr id="432" name="Text 46"/>
          <p:cNvSpPr/>
          <p:nvPr/>
        </p:nvSpPr>
        <p:spPr>
          <a:xfrm>
            <a:off x="914400" y="36118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5</a:t>
            </a:r>
            <a:endParaRPr lang="it-IT" sz="850" b="0" u="none" strike="noStrike">
              <a:solidFill>
                <a:srgbClr val="000000"/>
              </a:solidFill>
              <a:effectLst/>
              <a:uFillTx/>
              <a:latin typeface="Arial"/>
            </a:endParaRPr>
          </a:p>
        </p:txBody>
      </p:sp>
      <p:sp>
        <p:nvSpPr>
          <p:cNvPr id="433" name="Shape 47"/>
          <p:cNvSpPr/>
          <p:nvPr/>
        </p:nvSpPr>
        <p:spPr>
          <a:xfrm>
            <a:off x="2148840" y="359352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4" name="Shape 48"/>
          <p:cNvSpPr/>
          <p:nvPr/>
        </p:nvSpPr>
        <p:spPr>
          <a:xfrm>
            <a:off x="2148840" y="3593520"/>
            <a:ext cx="47160" cy="255600"/>
          </a:xfrm>
          <a:prstGeom prst="rect">
            <a:avLst/>
          </a:prstGeom>
          <a:solidFill>
            <a:srgbClr val="9B51E0"/>
          </a:solidFill>
          <a:ln w="1270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35" name="Text 49"/>
          <p:cNvSpPr/>
          <p:nvPr/>
        </p:nvSpPr>
        <p:spPr>
          <a:xfrm>
            <a:off x="2260440" y="36118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0.04</a:t>
            </a:r>
            <a:endParaRPr lang="it-IT" sz="750" b="0" u="none" strike="noStrike">
              <a:solidFill>
                <a:srgbClr val="000000"/>
              </a:solidFill>
              <a:effectLst/>
              <a:uFillTx/>
              <a:latin typeface="Arial"/>
            </a:endParaRPr>
          </a:p>
        </p:txBody>
      </p:sp>
      <p:sp>
        <p:nvSpPr>
          <p:cNvPr id="436" name="Text 50"/>
          <p:cNvSpPr/>
          <p:nvPr/>
        </p:nvSpPr>
        <p:spPr>
          <a:xfrm>
            <a:off x="6766560" y="3611880"/>
            <a:ext cx="1142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101828"/>
                </a:solidFill>
                <a:effectLst/>
                <a:uFillTx/>
                <a:latin typeface="Aptos"/>
              </a:rPr>
              <a:t>pos 5</a:t>
            </a:r>
            <a:endParaRPr lang="it-IT" sz="850" b="0" u="none" strike="noStrike">
              <a:solidFill>
                <a:srgbClr val="000000"/>
              </a:solidFill>
              <a:effectLst/>
              <a:uFillTx/>
              <a:latin typeface="Arial"/>
            </a:endParaRPr>
          </a:p>
        </p:txBody>
      </p:sp>
      <p:sp>
        <p:nvSpPr>
          <p:cNvPr id="437" name="Shape 51"/>
          <p:cNvSpPr/>
          <p:nvPr/>
        </p:nvSpPr>
        <p:spPr>
          <a:xfrm>
            <a:off x="8001000" y="3593520"/>
            <a:ext cx="1188360" cy="255600"/>
          </a:xfrm>
          <a:prstGeom prst="rect">
            <a:avLst/>
          </a:prstGeom>
          <a:solidFill>
            <a:srgbClr val="F2F4F7"/>
          </a:solidFill>
          <a:ln w="12700">
            <a:solidFill>
              <a:srgbClr val="F2F4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8" name="Shape 52"/>
          <p:cNvSpPr/>
          <p:nvPr/>
        </p:nvSpPr>
        <p:spPr>
          <a:xfrm>
            <a:off x="8001000" y="3593520"/>
            <a:ext cx="35280" cy="255600"/>
          </a:xfrm>
          <a:prstGeom prst="rect">
            <a:avLst/>
          </a:prstGeom>
          <a:solidFill>
            <a:srgbClr val="86BC25"/>
          </a:solidFill>
          <a:ln w="1270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9" name="Text 53"/>
          <p:cNvSpPr/>
          <p:nvPr/>
        </p:nvSpPr>
        <p:spPr>
          <a:xfrm>
            <a:off x="8100720" y="3611880"/>
            <a:ext cx="4111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475467"/>
                </a:solidFill>
                <a:effectLst/>
                <a:uFillTx/>
                <a:latin typeface="Aptos"/>
              </a:rPr>
              <a:t>0.03</a:t>
            </a:r>
            <a:endParaRPr lang="it-IT" sz="750" b="0" u="none" strike="noStrike">
              <a:solidFill>
                <a:srgbClr val="000000"/>
              </a:solidFill>
              <a:effectLst/>
              <a:uFillTx/>
              <a:latin typeface="Arial"/>
            </a:endParaRPr>
          </a:p>
        </p:txBody>
      </p:sp>
      <p:sp>
        <p:nvSpPr>
          <p:cNvPr id="440" name="Shape 54"/>
          <p:cNvSpPr/>
          <p:nvPr/>
        </p:nvSpPr>
        <p:spPr>
          <a:xfrm>
            <a:off x="3703320" y="3840480"/>
            <a:ext cx="2148480" cy="685440"/>
          </a:xfrm>
          <a:prstGeom prst="roundRect">
            <a:avLst>
              <a:gd name="adj" fmla="val 10667"/>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1" name="Text 55"/>
          <p:cNvSpPr/>
          <p:nvPr/>
        </p:nvSpPr>
        <p:spPr>
          <a:xfrm>
            <a:off x="3749040" y="3877200"/>
            <a:ext cx="20570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weights &gt; 0</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01828"/>
                </a:solidFill>
                <a:effectLst/>
                <a:uFillTx/>
                <a:latin typeface="Aptos"/>
              </a:rPr>
              <a:t>Σ weights = 1</a:t>
            </a:r>
            <a:endParaRPr lang="it-IT" sz="1200" b="0" u="none" strike="noStrike">
              <a:solidFill>
                <a:srgbClr val="000000"/>
              </a:solidFill>
              <a:effectLst/>
              <a:uFillTx/>
              <a:latin typeface="Arial"/>
            </a:endParaRPr>
          </a:p>
        </p:txBody>
      </p:sp>
      <p:sp>
        <p:nvSpPr>
          <p:cNvPr id="442" name="Text 56"/>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475467"/>
                </a:solidFill>
                <a:effectLst/>
                <a:uFillTx/>
                <a:latin typeface="Aptos"/>
              </a:rPr>
              <a:t>Weights are not fixed parameters; they are computed from the current query and keys.</a:t>
            </a:r>
            <a:endParaRPr lang="it-IT" sz="9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85BAE4-8FE6-A70E-2380-7DE9CF40B3D8}"/>
              </a:ext>
            </a:extLst>
          </p:cNvPr>
          <p:cNvSpPr>
            <a:spLocks noGrp="1"/>
          </p:cNvSpPr>
          <p:nvPr>
            <p:ph type="title"/>
          </p:nvPr>
        </p:nvSpPr>
        <p:spPr/>
        <p:txBody>
          <a:bodyPr/>
          <a:lstStyle/>
          <a:p>
            <a:r>
              <a:rPr lang="en-GB" dirty="0"/>
              <a:t>Values contain the information that is retrieved</a:t>
            </a:r>
          </a:p>
        </p:txBody>
      </p:sp>
      <p:sp>
        <p:nvSpPr>
          <p:cNvPr id="3" name="Segnaposto contenuto 2">
            <a:extLst>
              <a:ext uri="{FF2B5EF4-FFF2-40B4-BE49-F238E27FC236}">
                <a16:creationId xmlns:a16="http://schemas.microsoft.com/office/drawing/2014/main" id="{91B81793-99C3-89FC-FF8B-365DFAC91030}"/>
              </a:ext>
            </a:extLst>
          </p:cNvPr>
          <p:cNvSpPr>
            <a:spLocks noGrp="1"/>
          </p:cNvSpPr>
          <p:nvPr>
            <p:ph idx="1"/>
          </p:nvPr>
        </p:nvSpPr>
        <p:spPr/>
        <p:txBody>
          <a:bodyPr>
            <a:normAutofit/>
          </a:bodyPr>
          <a:lstStyle/>
          <a:p>
            <a:r>
              <a:rPr lang="en-GB" dirty="0"/>
              <a:t>After computing attention weights, the model combines the corresponding value vectors.</a:t>
            </a:r>
          </a:p>
          <a:p>
            <a:r>
              <a:rPr lang="en-GB" dirty="0"/>
              <a:t>Suppose the weights are: a[1], a[2], ..., a[L]</a:t>
            </a:r>
          </a:p>
          <a:p>
            <a:r>
              <a:rPr lang="en-GB" dirty="0"/>
              <a:t>and the value vectors are: v[1], v[2], ..., v[L]</a:t>
            </a:r>
          </a:p>
          <a:p>
            <a:r>
              <a:rPr lang="en-GB" dirty="0"/>
              <a:t>attention output = a[1]v[1] + a[2]v[2] + ... + a[L]v[L]</a:t>
            </a:r>
          </a:p>
          <a:p>
            <a:endParaRPr lang="en-GB" dirty="0"/>
          </a:p>
        </p:txBody>
      </p:sp>
    </p:spTree>
    <p:extLst>
      <p:ext uri="{BB962C8B-B14F-4D97-AF65-F5344CB8AC3E}">
        <p14:creationId xmlns:p14="http://schemas.microsoft.com/office/powerpoint/2010/main" val="1006704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3CA9F-5807-FE30-7284-2C39453FE32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11256C-F76E-53F5-572D-29EEACDD6D63}"/>
              </a:ext>
            </a:extLst>
          </p:cNvPr>
          <p:cNvSpPr>
            <a:spLocks noGrp="1"/>
          </p:cNvSpPr>
          <p:nvPr>
            <p:ph type="title"/>
          </p:nvPr>
        </p:nvSpPr>
        <p:spPr/>
        <p:txBody>
          <a:bodyPr/>
          <a:lstStyle/>
          <a:p>
            <a:r>
              <a:rPr lang="en-GB" dirty="0"/>
              <a:t>Values contain the information that is retrieved</a:t>
            </a:r>
          </a:p>
        </p:txBody>
      </p:sp>
      <p:sp>
        <p:nvSpPr>
          <p:cNvPr id="3" name="Segnaposto contenuto 2">
            <a:extLst>
              <a:ext uri="{FF2B5EF4-FFF2-40B4-BE49-F238E27FC236}">
                <a16:creationId xmlns:a16="http://schemas.microsoft.com/office/drawing/2014/main" id="{F17C5FD0-1A54-043D-E107-AE51E90C9AA6}"/>
              </a:ext>
            </a:extLst>
          </p:cNvPr>
          <p:cNvSpPr>
            <a:spLocks noGrp="1"/>
          </p:cNvSpPr>
          <p:nvPr>
            <p:ph idx="1"/>
          </p:nvPr>
        </p:nvSpPr>
        <p:spPr/>
        <p:txBody>
          <a:bodyPr>
            <a:normAutofit fontScale="85000" lnSpcReduction="20000"/>
          </a:bodyPr>
          <a:lstStyle/>
          <a:p>
            <a:r>
              <a:rPr lang="en-GB" b="1" dirty="0"/>
              <a:t>Example</a:t>
            </a:r>
          </a:p>
          <a:p>
            <a:r>
              <a:rPr lang="en-GB" dirty="0"/>
              <a:t>If:</a:t>
            </a:r>
          </a:p>
          <a:p>
            <a:pPr lvl="1"/>
            <a:r>
              <a:rPr lang="en-GB" dirty="0"/>
              <a:t>a[1] = 0.05</a:t>
            </a:r>
          </a:p>
          <a:p>
            <a:pPr lvl="1"/>
            <a:r>
              <a:rPr lang="en-GB" dirty="0"/>
              <a:t>a[2] = 0.15</a:t>
            </a:r>
          </a:p>
          <a:p>
            <a:pPr lvl="1"/>
            <a:r>
              <a:rPr lang="en-GB" dirty="0"/>
              <a:t>a[3] = 0.70</a:t>
            </a:r>
          </a:p>
          <a:p>
            <a:pPr lvl="1"/>
            <a:r>
              <a:rPr lang="en-GB" dirty="0"/>
              <a:t>a[4] = 0.10</a:t>
            </a:r>
          </a:p>
          <a:p>
            <a:r>
              <a:rPr lang="en-GB" dirty="0"/>
              <a:t>then information from: v[3] dominates the output.</a:t>
            </a:r>
          </a:p>
          <a:p>
            <a:endParaRPr lang="en-GB" b="1" dirty="0"/>
          </a:p>
          <a:p>
            <a:r>
              <a:rPr lang="en-GB" dirty="0"/>
              <a:t>The attention weight tells us: How much should this position contribute?</a:t>
            </a:r>
          </a:p>
          <a:p>
            <a:r>
              <a:rPr lang="en-GB" dirty="0"/>
              <a:t>The value tells us: What information does that position contribute?</a:t>
            </a:r>
          </a:p>
          <a:p>
            <a:endParaRPr lang="en-GB" b="1" dirty="0"/>
          </a:p>
          <a:p>
            <a:r>
              <a:rPr lang="en-GB" b="1" dirty="0"/>
              <a:t>Attention does not simply select a time step; it constructs a weighted combination of information from multiple positions.</a:t>
            </a:r>
          </a:p>
          <a:p>
            <a:endParaRPr lang="en-GB" dirty="0"/>
          </a:p>
        </p:txBody>
      </p:sp>
    </p:spTree>
    <p:extLst>
      <p:ext uri="{BB962C8B-B14F-4D97-AF65-F5344CB8AC3E}">
        <p14:creationId xmlns:p14="http://schemas.microsoft.com/office/powerpoint/2010/main" val="300868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4"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45"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6"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47"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Values are combined according to attention weights</a:t>
            </a:r>
            <a:endParaRPr lang="it-IT" sz="2200" b="0" u="none" strike="noStrike">
              <a:solidFill>
                <a:srgbClr val="000000"/>
              </a:solidFill>
              <a:effectLst/>
              <a:uFillTx/>
              <a:latin typeface="Arial"/>
            </a:endParaRPr>
          </a:p>
        </p:txBody>
      </p:sp>
      <p:sp>
        <p:nvSpPr>
          <p:cNvPr id="448"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475467"/>
                </a:solidFill>
                <a:effectLst/>
                <a:uFillTx/>
                <a:latin typeface="Aptos"/>
              </a:rPr>
              <a:t>The output is a weighted sum of retrieved information</a:t>
            </a:r>
            <a:endParaRPr lang="it-IT" sz="1200" b="1" u="none" strike="noStrike" dirty="0">
              <a:solidFill>
                <a:srgbClr val="000000"/>
              </a:solidFill>
              <a:effectLst/>
              <a:uFillTx/>
              <a:latin typeface="Arial"/>
            </a:endParaRPr>
          </a:p>
        </p:txBody>
      </p:sp>
      <p:sp>
        <p:nvSpPr>
          <p:cNvPr id="449" name="Shape 6"/>
          <p:cNvSpPr/>
          <p:nvPr/>
        </p:nvSpPr>
        <p:spPr>
          <a:xfrm>
            <a:off x="914400" y="1417320"/>
            <a:ext cx="1462680" cy="456840"/>
          </a:xfrm>
          <a:prstGeom prst="roundRect">
            <a:avLst>
              <a:gd name="adj" fmla="val 16000"/>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0" name="Text 7"/>
          <p:cNvSpPr/>
          <p:nvPr/>
        </p:nvSpPr>
        <p:spPr>
          <a:xfrm>
            <a:off x="960120" y="1454040"/>
            <a:ext cx="137124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value v[1]</a:t>
            </a:r>
            <a:endParaRPr lang="it-IT" sz="1000" b="0" u="none" strike="noStrike">
              <a:solidFill>
                <a:srgbClr val="000000"/>
              </a:solidFill>
              <a:effectLst/>
              <a:uFillTx/>
              <a:latin typeface="Arial"/>
            </a:endParaRPr>
          </a:p>
        </p:txBody>
      </p:sp>
      <p:sp>
        <p:nvSpPr>
          <p:cNvPr id="451" name="Shape 8"/>
          <p:cNvSpPr/>
          <p:nvPr/>
        </p:nvSpPr>
        <p:spPr>
          <a:xfrm>
            <a:off x="2971800" y="1417320"/>
            <a:ext cx="1279800" cy="456840"/>
          </a:xfrm>
          <a:prstGeom prst="roundRect">
            <a:avLst>
              <a:gd name="adj" fmla="val 16000"/>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2" name="Text 9"/>
          <p:cNvSpPr/>
          <p:nvPr/>
        </p:nvSpPr>
        <p:spPr>
          <a:xfrm>
            <a:off x="3017520" y="1454040"/>
            <a:ext cx="1188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weight 0.05</a:t>
            </a:r>
            <a:endParaRPr lang="it-IT" sz="900" b="0" u="none" strike="noStrike">
              <a:solidFill>
                <a:srgbClr val="000000"/>
              </a:solidFill>
              <a:effectLst/>
              <a:uFillTx/>
              <a:latin typeface="Arial"/>
            </a:endParaRPr>
          </a:p>
        </p:txBody>
      </p:sp>
      <p:sp>
        <p:nvSpPr>
          <p:cNvPr id="453" name="Shape 10"/>
          <p:cNvSpPr/>
          <p:nvPr/>
        </p:nvSpPr>
        <p:spPr>
          <a:xfrm>
            <a:off x="2377440" y="1645920"/>
            <a:ext cx="594360" cy="360"/>
          </a:xfrm>
          <a:prstGeom prst="line">
            <a:avLst/>
          </a:prstGeom>
          <a:ln w="1397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54" name="Shape 11"/>
          <p:cNvSpPr/>
          <p:nvPr/>
        </p:nvSpPr>
        <p:spPr>
          <a:xfrm>
            <a:off x="4251960" y="1645920"/>
            <a:ext cx="1508760" cy="1097280"/>
          </a:xfrm>
          <a:prstGeom prst="line">
            <a:avLst/>
          </a:prstGeom>
          <a:ln w="1397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55" name="Shape 12"/>
          <p:cNvSpPr/>
          <p:nvPr/>
        </p:nvSpPr>
        <p:spPr>
          <a:xfrm>
            <a:off x="914400" y="2148840"/>
            <a:ext cx="1462680" cy="456840"/>
          </a:xfrm>
          <a:prstGeom prst="roundRect">
            <a:avLst>
              <a:gd name="adj" fmla="val 16000"/>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6" name="Text 13"/>
          <p:cNvSpPr/>
          <p:nvPr/>
        </p:nvSpPr>
        <p:spPr>
          <a:xfrm>
            <a:off x="960120" y="2185560"/>
            <a:ext cx="137124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value v[2]</a:t>
            </a:r>
            <a:endParaRPr lang="it-IT" sz="1000" b="0" u="none" strike="noStrike">
              <a:solidFill>
                <a:srgbClr val="000000"/>
              </a:solidFill>
              <a:effectLst/>
              <a:uFillTx/>
              <a:latin typeface="Arial"/>
            </a:endParaRPr>
          </a:p>
        </p:txBody>
      </p:sp>
      <p:sp>
        <p:nvSpPr>
          <p:cNvPr id="457" name="Shape 14"/>
          <p:cNvSpPr/>
          <p:nvPr/>
        </p:nvSpPr>
        <p:spPr>
          <a:xfrm>
            <a:off x="2971800" y="2148840"/>
            <a:ext cx="1279800" cy="456840"/>
          </a:xfrm>
          <a:prstGeom prst="roundRect">
            <a:avLst>
              <a:gd name="adj" fmla="val 16000"/>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8" name="Text 15"/>
          <p:cNvSpPr/>
          <p:nvPr/>
        </p:nvSpPr>
        <p:spPr>
          <a:xfrm>
            <a:off x="3017520" y="2185560"/>
            <a:ext cx="1188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weight 0.15</a:t>
            </a:r>
            <a:endParaRPr lang="it-IT" sz="900" b="0" u="none" strike="noStrike">
              <a:solidFill>
                <a:srgbClr val="000000"/>
              </a:solidFill>
              <a:effectLst/>
              <a:uFillTx/>
              <a:latin typeface="Arial"/>
            </a:endParaRPr>
          </a:p>
        </p:txBody>
      </p:sp>
      <p:sp>
        <p:nvSpPr>
          <p:cNvPr id="459" name="Shape 16"/>
          <p:cNvSpPr/>
          <p:nvPr/>
        </p:nvSpPr>
        <p:spPr>
          <a:xfrm>
            <a:off x="2377440" y="2377440"/>
            <a:ext cx="594360" cy="360"/>
          </a:xfrm>
          <a:prstGeom prst="line">
            <a:avLst/>
          </a:prstGeom>
          <a:ln w="1397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60" name="Shape 17"/>
          <p:cNvSpPr/>
          <p:nvPr/>
        </p:nvSpPr>
        <p:spPr>
          <a:xfrm>
            <a:off x="4251960" y="2377440"/>
            <a:ext cx="1508760" cy="365760"/>
          </a:xfrm>
          <a:prstGeom prst="line">
            <a:avLst/>
          </a:prstGeom>
          <a:ln w="1397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61" name="Shape 18"/>
          <p:cNvSpPr/>
          <p:nvPr/>
        </p:nvSpPr>
        <p:spPr>
          <a:xfrm>
            <a:off x="914400" y="2880360"/>
            <a:ext cx="1462680" cy="456840"/>
          </a:xfrm>
          <a:prstGeom prst="roundRect">
            <a:avLst>
              <a:gd name="adj" fmla="val 16000"/>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2" name="Text 19"/>
          <p:cNvSpPr/>
          <p:nvPr/>
        </p:nvSpPr>
        <p:spPr>
          <a:xfrm>
            <a:off x="960120" y="2917080"/>
            <a:ext cx="137124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value v[3]</a:t>
            </a:r>
            <a:endParaRPr lang="it-IT" sz="1000" b="0" u="none" strike="noStrike">
              <a:solidFill>
                <a:srgbClr val="000000"/>
              </a:solidFill>
              <a:effectLst/>
              <a:uFillTx/>
              <a:latin typeface="Arial"/>
            </a:endParaRPr>
          </a:p>
        </p:txBody>
      </p:sp>
      <p:sp>
        <p:nvSpPr>
          <p:cNvPr id="463" name="Shape 20"/>
          <p:cNvSpPr/>
          <p:nvPr/>
        </p:nvSpPr>
        <p:spPr>
          <a:xfrm>
            <a:off x="2971800" y="2880360"/>
            <a:ext cx="1279800" cy="456840"/>
          </a:xfrm>
          <a:prstGeom prst="roundRect">
            <a:avLst>
              <a:gd name="adj" fmla="val 16000"/>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4" name="Text 21"/>
          <p:cNvSpPr/>
          <p:nvPr/>
        </p:nvSpPr>
        <p:spPr>
          <a:xfrm>
            <a:off x="3017520" y="2917080"/>
            <a:ext cx="1188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weight 0.70</a:t>
            </a:r>
            <a:endParaRPr lang="it-IT" sz="900" b="0" u="none" strike="noStrike">
              <a:solidFill>
                <a:srgbClr val="000000"/>
              </a:solidFill>
              <a:effectLst/>
              <a:uFillTx/>
              <a:latin typeface="Arial"/>
            </a:endParaRPr>
          </a:p>
        </p:txBody>
      </p:sp>
      <p:sp>
        <p:nvSpPr>
          <p:cNvPr id="465" name="Shape 22"/>
          <p:cNvSpPr/>
          <p:nvPr/>
        </p:nvSpPr>
        <p:spPr>
          <a:xfrm>
            <a:off x="2377440" y="3108960"/>
            <a:ext cx="594360" cy="360"/>
          </a:xfrm>
          <a:prstGeom prst="line">
            <a:avLst/>
          </a:prstGeom>
          <a:ln w="1397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66" name="Shape 23"/>
          <p:cNvSpPr/>
          <p:nvPr/>
        </p:nvSpPr>
        <p:spPr>
          <a:xfrm flipV="1">
            <a:off x="4251960" y="2743200"/>
            <a:ext cx="1508760" cy="365760"/>
          </a:xfrm>
          <a:prstGeom prst="line">
            <a:avLst/>
          </a:prstGeom>
          <a:ln w="1397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67" name="Shape 24"/>
          <p:cNvSpPr/>
          <p:nvPr/>
        </p:nvSpPr>
        <p:spPr>
          <a:xfrm>
            <a:off x="914400" y="3611880"/>
            <a:ext cx="1462680" cy="456840"/>
          </a:xfrm>
          <a:prstGeom prst="roundRect">
            <a:avLst>
              <a:gd name="adj" fmla="val 16000"/>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8" name="Text 25"/>
          <p:cNvSpPr/>
          <p:nvPr/>
        </p:nvSpPr>
        <p:spPr>
          <a:xfrm>
            <a:off x="960120" y="3648600"/>
            <a:ext cx="137124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01828"/>
                </a:solidFill>
                <a:effectLst/>
                <a:uFillTx/>
                <a:latin typeface="Aptos"/>
              </a:rPr>
              <a:t>value v[4]</a:t>
            </a:r>
            <a:endParaRPr lang="it-IT" sz="1000" b="0" u="none" strike="noStrike">
              <a:solidFill>
                <a:srgbClr val="000000"/>
              </a:solidFill>
              <a:effectLst/>
              <a:uFillTx/>
              <a:latin typeface="Arial"/>
            </a:endParaRPr>
          </a:p>
        </p:txBody>
      </p:sp>
      <p:sp>
        <p:nvSpPr>
          <p:cNvPr id="469" name="Shape 26"/>
          <p:cNvSpPr/>
          <p:nvPr/>
        </p:nvSpPr>
        <p:spPr>
          <a:xfrm>
            <a:off x="2971800" y="3611880"/>
            <a:ext cx="1279800" cy="456840"/>
          </a:xfrm>
          <a:prstGeom prst="roundRect">
            <a:avLst>
              <a:gd name="adj" fmla="val 16000"/>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0" name="Text 27"/>
          <p:cNvSpPr/>
          <p:nvPr/>
        </p:nvSpPr>
        <p:spPr>
          <a:xfrm>
            <a:off x="3017520" y="3648600"/>
            <a:ext cx="11883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weight 0.10</a:t>
            </a:r>
            <a:endParaRPr lang="it-IT" sz="900" b="0" u="none" strike="noStrike">
              <a:solidFill>
                <a:srgbClr val="000000"/>
              </a:solidFill>
              <a:effectLst/>
              <a:uFillTx/>
              <a:latin typeface="Arial"/>
            </a:endParaRPr>
          </a:p>
        </p:txBody>
      </p:sp>
      <p:sp>
        <p:nvSpPr>
          <p:cNvPr id="471" name="Shape 28"/>
          <p:cNvSpPr/>
          <p:nvPr/>
        </p:nvSpPr>
        <p:spPr>
          <a:xfrm>
            <a:off x="2377440" y="3840480"/>
            <a:ext cx="594360" cy="360"/>
          </a:xfrm>
          <a:prstGeom prst="line">
            <a:avLst/>
          </a:prstGeom>
          <a:ln w="1397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72" name="Shape 29"/>
          <p:cNvSpPr/>
          <p:nvPr/>
        </p:nvSpPr>
        <p:spPr>
          <a:xfrm flipV="1">
            <a:off x="4251960" y="2743200"/>
            <a:ext cx="1508760" cy="1097280"/>
          </a:xfrm>
          <a:prstGeom prst="line">
            <a:avLst/>
          </a:prstGeom>
          <a:ln w="1397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73" name="Shape 30"/>
          <p:cNvSpPr/>
          <p:nvPr/>
        </p:nvSpPr>
        <p:spPr>
          <a:xfrm>
            <a:off x="5806440" y="2423160"/>
            <a:ext cx="1645560" cy="685440"/>
          </a:xfrm>
          <a:prstGeom prst="roundRect">
            <a:avLst>
              <a:gd name="adj" fmla="val 10667"/>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4" name="Text 31"/>
          <p:cNvSpPr/>
          <p:nvPr/>
        </p:nvSpPr>
        <p:spPr>
          <a:xfrm>
            <a:off x="5852160" y="2459880"/>
            <a:ext cx="155412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01828"/>
                </a:solidFill>
                <a:effectLst/>
                <a:uFillTx/>
                <a:latin typeface="Aptos"/>
              </a:rPr>
              <a:t>weighted sum</a:t>
            </a:r>
            <a:endParaRPr lang="it-IT" sz="1300" b="0" u="none" strike="noStrike">
              <a:solidFill>
                <a:srgbClr val="000000"/>
              </a:solidFill>
              <a:effectLst/>
              <a:uFillTx/>
              <a:latin typeface="Arial"/>
            </a:endParaRPr>
          </a:p>
        </p:txBody>
      </p:sp>
      <p:sp>
        <p:nvSpPr>
          <p:cNvPr id="475" name="Shape 32"/>
          <p:cNvSpPr/>
          <p:nvPr/>
        </p:nvSpPr>
        <p:spPr>
          <a:xfrm>
            <a:off x="7452360" y="2770560"/>
            <a:ext cx="960120" cy="360"/>
          </a:xfrm>
          <a:prstGeom prst="line">
            <a:avLst/>
          </a:prstGeom>
          <a:ln w="1778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76" name="Shape 33"/>
          <p:cNvSpPr/>
          <p:nvPr/>
        </p:nvSpPr>
        <p:spPr>
          <a:xfrm>
            <a:off x="8458200" y="2423160"/>
            <a:ext cx="1828440" cy="685440"/>
          </a:xfrm>
          <a:prstGeom prst="roundRect">
            <a:avLst>
              <a:gd name="adj" fmla="val 10667"/>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7" name="Text 34"/>
          <p:cNvSpPr/>
          <p:nvPr/>
        </p:nvSpPr>
        <p:spPr>
          <a:xfrm>
            <a:off x="8503920" y="2459880"/>
            <a:ext cx="173700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01828"/>
                </a:solidFill>
                <a:effectLst/>
                <a:uFillTx/>
                <a:latin typeface="Aptos"/>
              </a:rPr>
              <a:t>attention output</a:t>
            </a:r>
            <a:endParaRPr lang="it-IT" sz="1300" b="0" u="none" strike="noStrike">
              <a:solidFill>
                <a:srgbClr val="000000"/>
              </a:solidFill>
              <a:effectLst/>
              <a:uFillTx/>
              <a:latin typeface="Arial"/>
            </a:endParaRPr>
          </a:p>
        </p:txBody>
      </p:sp>
      <p:sp>
        <p:nvSpPr>
          <p:cNvPr id="478" name="Shape 35"/>
          <p:cNvSpPr/>
          <p:nvPr/>
        </p:nvSpPr>
        <p:spPr>
          <a:xfrm>
            <a:off x="960120" y="4892040"/>
            <a:ext cx="7772040" cy="456840"/>
          </a:xfrm>
          <a:prstGeom prst="roundRect">
            <a:avLst>
              <a:gd name="adj" fmla="val 16000"/>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9" name="Text 36"/>
          <p:cNvSpPr/>
          <p:nvPr/>
        </p:nvSpPr>
        <p:spPr>
          <a:xfrm>
            <a:off x="1005840" y="4928760"/>
            <a:ext cx="768060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output = 0.05 v[1] + 0.15 v[2] + 0.70 v[3] + 0.10 v[4]</a:t>
            </a:r>
            <a:endParaRPr lang="it-IT" sz="1200" b="0" u="none" strike="noStrike">
              <a:solidFill>
                <a:srgbClr val="000000"/>
              </a:solidFill>
              <a:effectLst/>
              <a:uFillTx/>
              <a:latin typeface="Arial"/>
            </a:endParaRPr>
          </a:p>
        </p:txBody>
      </p:sp>
      <p:sp>
        <p:nvSpPr>
          <p:cNvPr id="480" name="Text 37"/>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475467"/>
                </a:solidFill>
                <a:effectLst/>
                <a:uFillTx/>
                <a:latin typeface="Aptos"/>
              </a:rPr>
              <a:t>The strongest contribution comes from the value associated with the largest weight.</a:t>
            </a:r>
            <a:endParaRPr lang="it-IT" sz="9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C2F514-1F7B-CB03-3629-E45D1B519B01}"/>
              </a:ext>
            </a:extLst>
          </p:cNvPr>
          <p:cNvSpPr>
            <a:spLocks noGrp="1"/>
          </p:cNvSpPr>
          <p:nvPr>
            <p:ph type="title"/>
          </p:nvPr>
        </p:nvSpPr>
        <p:spPr/>
        <p:txBody>
          <a:bodyPr/>
          <a:lstStyle/>
          <a:p>
            <a:r>
              <a:rPr lang="en-GB" dirty="0"/>
              <a:t>The complete attention mechanism</a:t>
            </a:r>
          </a:p>
        </p:txBody>
      </p:sp>
      <p:sp>
        <p:nvSpPr>
          <p:cNvPr id="3" name="Segnaposto contenuto 2">
            <a:extLst>
              <a:ext uri="{FF2B5EF4-FFF2-40B4-BE49-F238E27FC236}">
                <a16:creationId xmlns:a16="http://schemas.microsoft.com/office/drawing/2014/main" id="{83FEFD09-AF78-7C6B-24EC-5903427B71E2}"/>
              </a:ext>
            </a:extLst>
          </p:cNvPr>
          <p:cNvSpPr>
            <a:spLocks noGrp="1"/>
          </p:cNvSpPr>
          <p:nvPr>
            <p:ph idx="1"/>
          </p:nvPr>
        </p:nvSpPr>
        <p:spPr/>
        <p:txBody>
          <a:bodyPr>
            <a:normAutofit/>
          </a:bodyPr>
          <a:lstStyle/>
          <a:p>
            <a:r>
              <a:rPr lang="en-GB" dirty="0"/>
              <a:t>For one query position:</a:t>
            </a:r>
          </a:p>
          <a:p>
            <a:r>
              <a:rPr lang="en-GB" b="1" dirty="0"/>
              <a:t>Step 1 — Create a query</a:t>
            </a:r>
          </a:p>
          <a:p>
            <a:r>
              <a:rPr lang="en-GB" dirty="0"/>
              <a:t>q[t]</a:t>
            </a:r>
          </a:p>
          <a:p>
            <a:r>
              <a:rPr lang="en-GB" b="1" dirty="0"/>
              <a:t>Step 2 — Compare it with candidate keys</a:t>
            </a:r>
          </a:p>
          <a:p>
            <a:r>
              <a:rPr lang="en-GB" dirty="0"/>
              <a:t>q[t] ↔ k[1]</a:t>
            </a:r>
          </a:p>
          <a:p>
            <a:r>
              <a:rPr lang="en-GB" dirty="0"/>
              <a:t>q[t] ↔ k[2]</a:t>
            </a:r>
          </a:p>
          <a:p>
            <a:r>
              <a:rPr lang="en-GB" dirty="0"/>
              <a:t>...</a:t>
            </a:r>
          </a:p>
          <a:p>
            <a:r>
              <a:rPr lang="en-GB" dirty="0"/>
              <a:t>q[t] ↔ k[L]</a:t>
            </a:r>
          </a:p>
          <a:p>
            <a:endParaRPr lang="en-GB" dirty="0"/>
          </a:p>
        </p:txBody>
      </p:sp>
    </p:spTree>
    <p:extLst>
      <p:ext uri="{BB962C8B-B14F-4D97-AF65-F5344CB8AC3E}">
        <p14:creationId xmlns:p14="http://schemas.microsoft.com/office/powerpoint/2010/main" val="544334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05D5DBAC-1C91-01E2-4B64-80010C952C9C}"/>
              </a:ext>
            </a:extLst>
          </p:cNvPr>
          <p:cNvSpPr>
            <a:spLocks noGrp="1"/>
          </p:cNvSpPr>
          <p:nvPr>
            <p:ph type="title"/>
          </p:nvPr>
        </p:nvSpPr>
        <p:spPr/>
        <p:txBody>
          <a:bodyPr/>
          <a:lstStyle/>
          <a:p>
            <a:r>
              <a:rPr lang="en-GB" dirty="0"/>
              <a:t>The complete attention mechanism</a:t>
            </a:r>
          </a:p>
        </p:txBody>
      </p:sp>
      <p:sp>
        <p:nvSpPr>
          <p:cNvPr id="3" name="Segnaposto contenuto 2">
            <a:extLst>
              <a:ext uri="{FF2B5EF4-FFF2-40B4-BE49-F238E27FC236}">
                <a16:creationId xmlns:a16="http://schemas.microsoft.com/office/drawing/2014/main" id="{001447FC-C6E4-5795-6655-297CA4925F24}"/>
              </a:ext>
            </a:extLst>
          </p:cNvPr>
          <p:cNvSpPr>
            <a:spLocks noGrp="1"/>
          </p:cNvSpPr>
          <p:nvPr>
            <p:ph sz="half" idx="1"/>
          </p:nvPr>
        </p:nvSpPr>
        <p:spPr/>
        <p:txBody>
          <a:bodyPr>
            <a:normAutofit fontScale="47500" lnSpcReduction="20000"/>
          </a:bodyPr>
          <a:lstStyle/>
          <a:p>
            <a:r>
              <a:rPr lang="en-GB" b="1" dirty="0"/>
              <a:t>Step 3 — Obtain similarity scores</a:t>
            </a:r>
          </a:p>
          <a:p>
            <a:r>
              <a:rPr lang="en-GB" dirty="0"/>
              <a:t>s[t,1], s[t,2], ..., s[</a:t>
            </a:r>
            <a:r>
              <a:rPr lang="en-GB" dirty="0" err="1"/>
              <a:t>t,L</a:t>
            </a:r>
            <a:r>
              <a:rPr lang="en-GB" dirty="0"/>
              <a:t>]</a:t>
            </a:r>
          </a:p>
          <a:p>
            <a:r>
              <a:rPr lang="en-GB" b="1" dirty="0"/>
              <a:t>Step 4 — Normalize the scores</a:t>
            </a:r>
          </a:p>
          <a:p>
            <a:r>
              <a:rPr lang="en-GB" dirty="0" err="1"/>
              <a:t>softmax</a:t>
            </a:r>
            <a:endParaRPr lang="en-GB" dirty="0"/>
          </a:p>
          <a:p>
            <a:r>
              <a:rPr lang="en-GB" dirty="0"/>
              <a:t>   ↓</a:t>
            </a:r>
          </a:p>
          <a:p>
            <a:r>
              <a:rPr lang="en-GB" dirty="0"/>
              <a:t>a[t,1], a[t,2], ..., a[</a:t>
            </a:r>
            <a:r>
              <a:rPr lang="en-GB" dirty="0" err="1"/>
              <a:t>t,L</a:t>
            </a:r>
            <a:r>
              <a:rPr lang="en-GB" dirty="0"/>
              <a:t>]</a:t>
            </a:r>
          </a:p>
          <a:p>
            <a:r>
              <a:rPr lang="en-GB" b="1" dirty="0"/>
              <a:t>Step 5 — Combine the values</a:t>
            </a:r>
          </a:p>
          <a:p>
            <a:r>
              <a:rPr lang="en-GB" dirty="0"/>
              <a:t>output[t]</a:t>
            </a:r>
          </a:p>
          <a:p>
            <a:r>
              <a:rPr lang="en-GB" dirty="0"/>
              <a:t>=</a:t>
            </a:r>
          </a:p>
          <a:p>
            <a:r>
              <a:rPr lang="en-GB" dirty="0"/>
              <a:t>a[t,1]v[1]</a:t>
            </a:r>
          </a:p>
          <a:p>
            <a:r>
              <a:rPr lang="en-GB" dirty="0"/>
              <a:t>+</a:t>
            </a:r>
          </a:p>
          <a:p>
            <a:r>
              <a:rPr lang="en-GB" dirty="0"/>
              <a:t>a[t,2]v[2]</a:t>
            </a:r>
          </a:p>
          <a:p>
            <a:r>
              <a:rPr lang="en-GB" dirty="0"/>
              <a:t>+</a:t>
            </a:r>
          </a:p>
          <a:p>
            <a:r>
              <a:rPr lang="en-GB" dirty="0"/>
              <a:t>...</a:t>
            </a:r>
          </a:p>
          <a:p>
            <a:r>
              <a:rPr lang="en-GB" dirty="0"/>
              <a:t>+</a:t>
            </a:r>
          </a:p>
          <a:p>
            <a:r>
              <a:rPr lang="en-GB" dirty="0"/>
              <a:t>a[</a:t>
            </a:r>
            <a:r>
              <a:rPr lang="en-GB" dirty="0" err="1"/>
              <a:t>t,L</a:t>
            </a:r>
            <a:r>
              <a:rPr lang="en-GB" dirty="0"/>
              <a:t>]v[L]</a:t>
            </a:r>
          </a:p>
          <a:p>
            <a:endParaRPr lang="en-GB" dirty="0"/>
          </a:p>
        </p:txBody>
      </p:sp>
      <p:sp>
        <p:nvSpPr>
          <p:cNvPr id="5" name="Segnaposto contenuto 4">
            <a:extLst>
              <a:ext uri="{FF2B5EF4-FFF2-40B4-BE49-F238E27FC236}">
                <a16:creationId xmlns:a16="http://schemas.microsoft.com/office/drawing/2014/main" id="{F90865A4-AAB8-0FA2-3BBE-25EE0303CF98}"/>
              </a:ext>
            </a:extLst>
          </p:cNvPr>
          <p:cNvSpPr>
            <a:spLocks noGrp="1"/>
          </p:cNvSpPr>
          <p:nvPr>
            <p:ph sz="half" idx="2"/>
          </p:nvPr>
        </p:nvSpPr>
        <p:spPr>
          <a:xfrm>
            <a:off x="5089969" y="2160589"/>
            <a:ext cx="5055979" cy="4561224"/>
          </a:xfrm>
        </p:spPr>
        <p:txBody>
          <a:bodyPr>
            <a:normAutofit fontScale="47500" lnSpcReduction="20000"/>
          </a:bodyPr>
          <a:lstStyle/>
          <a:p>
            <a:r>
              <a:rPr lang="en-GB" sz="3800" b="1" dirty="0"/>
              <a:t>Compact view</a:t>
            </a:r>
          </a:p>
          <a:p>
            <a:r>
              <a:rPr lang="en-GB" sz="3800" dirty="0"/>
              <a:t>Query</a:t>
            </a:r>
          </a:p>
          <a:p>
            <a:r>
              <a:rPr lang="en-GB" sz="3800" dirty="0"/>
              <a:t>  ↓</a:t>
            </a:r>
          </a:p>
          <a:p>
            <a:r>
              <a:rPr lang="en-GB" sz="3800" dirty="0"/>
              <a:t>Query–Key comparison</a:t>
            </a:r>
          </a:p>
          <a:p>
            <a:r>
              <a:rPr lang="en-GB" sz="3800" dirty="0"/>
              <a:t>  ↓</a:t>
            </a:r>
          </a:p>
          <a:p>
            <a:r>
              <a:rPr lang="en-GB" sz="3800" dirty="0"/>
              <a:t>Attention weights</a:t>
            </a:r>
          </a:p>
          <a:p>
            <a:r>
              <a:rPr lang="en-GB" sz="3800" dirty="0"/>
              <a:t>  ↓</a:t>
            </a:r>
          </a:p>
          <a:p>
            <a:r>
              <a:rPr lang="en-GB" sz="3800" dirty="0"/>
              <a:t>Weighted sum of Values</a:t>
            </a:r>
          </a:p>
          <a:p>
            <a:r>
              <a:rPr lang="en-GB" sz="3800" dirty="0"/>
              <a:t>  ↓</a:t>
            </a:r>
          </a:p>
          <a:p>
            <a:r>
              <a:rPr lang="en-GB" sz="3800" dirty="0"/>
              <a:t>Attention output</a:t>
            </a:r>
          </a:p>
          <a:p>
            <a:endParaRPr lang="en-GB" dirty="0"/>
          </a:p>
        </p:txBody>
      </p:sp>
    </p:spTree>
    <p:extLst>
      <p:ext uri="{BB962C8B-B14F-4D97-AF65-F5344CB8AC3E}">
        <p14:creationId xmlns:p14="http://schemas.microsoft.com/office/powerpoint/2010/main" val="1240747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2"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483"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4"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85"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Complete attention mechanism</a:t>
            </a:r>
            <a:endParaRPr lang="it-IT" sz="2200" b="0" u="none" strike="noStrike">
              <a:solidFill>
                <a:srgbClr val="000000"/>
              </a:solidFill>
              <a:effectLst/>
              <a:uFillTx/>
              <a:latin typeface="Arial"/>
            </a:endParaRPr>
          </a:p>
        </p:txBody>
      </p:sp>
      <p:sp>
        <p:nvSpPr>
          <p:cNvPr id="486"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Compare query with keys, normalize relevance, combine values</a:t>
            </a:r>
            <a:endParaRPr lang="it-IT" sz="1050" b="0" u="none" strike="noStrike">
              <a:solidFill>
                <a:srgbClr val="000000"/>
              </a:solidFill>
              <a:effectLst/>
              <a:uFillTx/>
              <a:latin typeface="Arial"/>
            </a:endParaRPr>
          </a:p>
        </p:txBody>
      </p:sp>
      <p:sp>
        <p:nvSpPr>
          <p:cNvPr id="487" name="Shape 6"/>
          <p:cNvSpPr/>
          <p:nvPr/>
        </p:nvSpPr>
        <p:spPr>
          <a:xfrm>
            <a:off x="822960" y="2560320"/>
            <a:ext cx="1234080" cy="685440"/>
          </a:xfrm>
          <a:prstGeom prst="roundRect">
            <a:avLst>
              <a:gd name="adj" fmla="val 10667"/>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8" name="Text 7"/>
          <p:cNvSpPr/>
          <p:nvPr/>
        </p:nvSpPr>
        <p:spPr>
          <a:xfrm>
            <a:off x="868680" y="2597040"/>
            <a:ext cx="11426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Query</a:t>
            </a:r>
            <a:endParaRPr lang="it-IT" sz="1100" b="0" u="none" strike="noStrike">
              <a:solidFill>
                <a:srgbClr val="000000"/>
              </a:solidFill>
              <a:effectLst/>
              <a:uFillTx/>
              <a:latin typeface="Arial"/>
            </a:endParaRPr>
          </a:p>
        </p:txBody>
      </p:sp>
      <p:sp>
        <p:nvSpPr>
          <p:cNvPr id="489" name="Shape 8"/>
          <p:cNvSpPr/>
          <p:nvPr/>
        </p:nvSpPr>
        <p:spPr>
          <a:xfrm>
            <a:off x="2057400" y="2898360"/>
            <a:ext cx="365760" cy="360"/>
          </a:xfrm>
          <a:prstGeom prst="line">
            <a:avLst/>
          </a:prstGeom>
          <a:ln w="1651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90" name="Shape 9"/>
          <p:cNvSpPr/>
          <p:nvPr/>
        </p:nvSpPr>
        <p:spPr>
          <a:xfrm>
            <a:off x="2468880" y="2560320"/>
            <a:ext cx="1234080" cy="685440"/>
          </a:xfrm>
          <a:prstGeom prst="roundRect">
            <a:avLst>
              <a:gd name="adj" fmla="val 10667"/>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1" name="Text 10"/>
          <p:cNvSpPr/>
          <p:nvPr/>
        </p:nvSpPr>
        <p:spPr>
          <a:xfrm>
            <a:off x="2514600" y="2597040"/>
            <a:ext cx="11426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Compare</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01828"/>
                </a:solidFill>
                <a:effectLst/>
                <a:uFillTx/>
                <a:latin typeface="Aptos"/>
              </a:rPr>
              <a:t>with Keys</a:t>
            </a:r>
            <a:endParaRPr lang="it-IT" sz="1100" b="0" u="none" strike="noStrike">
              <a:solidFill>
                <a:srgbClr val="000000"/>
              </a:solidFill>
              <a:effectLst/>
              <a:uFillTx/>
              <a:latin typeface="Arial"/>
            </a:endParaRPr>
          </a:p>
        </p:txBody>
      </p:sp>
      <p:sp>
        <p:nvSpPr>
          <p:cNvPr id="492" name="Shape 11"/>
          <p:cNvSpPr/>
          <p:nvPr/>
        </p:nvSpPr>
        <p:spPr>
          <a:xfrm>
            <a:off x="3703320" y="2898360"/>
            <a:ext cx="411480" cy="360"/>
          </a:xfrm>
          <a:prstGeom prst="line">
            <a:avLst/>
          </a:prstGeom>
          <a:ln w="1651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93" name="Shape 12"/>
          <p:cNvSpPr/>
          <p:nvPr/>
        </p:nvSpPr>
        <p:spPr>
          <a:xfrm>
            <a:off x="4160520" y="2560320"/>
            <a:ext cx="1234080" cy="685440"/>
          </a:xfrm>
          <a:prstGeom prst="roundRect">
            <a:avLst>
              <a:gd name="adj" fmla="val 10667"/>
            </a:avLst>
          </a:prstGeom>
          <a:solidFill>
            <a:srgbClr val="FFFFFF"/>
          </a:solidFill>
          <a:ln w="15240">
            <a:solidFill>
              <a:srgbClr val="10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4" name="Text 13"/>
          <p:cNvSpPr/>
          <p:nvPr/>
        </p:nvSpPr>
        <p:spPr>
          <a:xfrm>
            <a:off x="4206240" y="2597040"/>
            <a:ext cx="11426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Scores</a:t>
            </a:r>
            <a:endParaRPr lang="it-IT" sz="1100" b="0" u="none" strike="noStrike">
              <a:solidFill>
                <a:srgbClr val="000000"/>
              </a:solidFill>
              <a:effectLst/>
              <a:uFillTx/>
              <a:latin typeface="Arial"/>
            </a:endParaRPr>
          </a:p>
        </p:txBody>
      </p:sp>
      <p:sp>
        <p:nvSpPr>
          <p:cNvPr id="495" name="Shape 14"/>
          <p:cNvSpPr/>
          <p:nvPr/>
        </p:nvSpPr>
        <p:spPr>
          <a:xfrm>
            <a:off x="5394960" y="2898360"/>
            <a:ext cx="228600" cy="360"/>
          </a:xfrm>
          <a:prstGeom prst="line">
            <a:avLst/>
          </a:prstGeom>
          <a:ln w="1651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96" name="Shape 15"/>
          <p:cNvSpPr/>
          <p:nvPr/>
        </p:nvSpPr>
        <p:spPr>
          <a:xfrm>
            <a:off x="5669280" y="2560320"/>
            <a:ext cx="1234080" cy="685440"/>
          </a:xfrm>
          <a:prstGeom prst="roundRect">
            <a:avLst>
              <a:gd name="adj" fmla="val 10667"/>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7" name="Text 16"/>
          <p:cNvSpPr/>
          <p:nvPr/>
        </p:nvSpPr>
        <p:spPr>
          <a:xfrm>
            <a:off x="5715000" y="2597040"/>
            <a:ext cx="11426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Softmax</a:t>
            </a:r>
            <a:endParaRPr lang="it-IT" sz="1100" b="0" u="none" strike="noStrike">
              <a:solidFill>
                <a:srgbClr val="000000"/>
              </a:solidFill>
              <a:effectLst/>
              <a:uFillTx/>
              <a:latin typeface="Arial"/>
            </a:endParaRPr>
          </a:p>
        </p:txBody>
      </p:sp>
      <p:sp>
        <p:nvSpPr>
          <p:cNvPr id="498" name="Shape 17"/>
          <p:cNvSpPr/>
          <p:nvPr/>
        </p:nvSpPr>
        <p:spPr>
          <a:xfrm>
            <a:off x="6903720" y="2898360"/>
            <a:ext cx="274320" cy="360"/>
          </a:xfrm>
          <a:prstGeom prst="line">
            <a:avLst/>
          </a:prstGeom>
          <a:ln w="1651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99" name="Shape 18"/>
          <p:cNvSpPr/>
          <p:nvPr/>
        </p:nvSpPr>
        <p:spPr>
          <a:xfrm>
            <a:off x="7223760" y="2560320"/>
            <a:ext cx="1234080" cy="685440"/>
          </a:xfrm>
          <a:prstGeom prst="roundRect">
            <a:avLst>
              <a:gd name="adj" fmla="val 10667"/>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0" name="Text 19"/>
          <p:cNvSpPr/>
          <p:nvPr/>
        </p:nvSpPr>
        <p:spPr>
          <a:xfrm>
            <a:off x="7269480" y="2597040"/>
            <a:ext cx="11426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Weights</a:t>
            </a:r>
            <a:endParaRPr lang="it-IT" sz="1100" b="0" u="none" strike="noStrike">
              <a:solidFill>
                <a:srgbClr val="000000"/>
              </a:solidFill>
              <a:effectLst/>
              <a:uFillTx/>
              <a:latin typeface="Arial"/>
            </a:endParaRPr>
          </a:p>
        </p:txBody>
      </p:sp>
      <p:sp>
        <p:nvSpPr>
          <p:cNvPr id="501" name="Shape 20"/>
          <p:cNvSpPr/>
          <p:nvPr/>
        </p:nvSpPr>
        <p:spPr>
          <a:xfrm>
            <a:off x="8458200" y="2898360"/>
            <a:ext cx="274320" cy="360"/>
          </a:xfrm>
          <a:prstGeom prst="line">
            <a:avLst/>
          </a:prstGeom>
          <a:ln w="1651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02" name="Shape 21"/>
          <p:cNvSpPr/>
          <p:nvPr/>
        </p:nvSpPr>
        <p:spPr>
          <a:xfrm>
            <a:off x="8778240" y="2560320"/>
            <a:ext cx="1234080" cy="685440"/>
          </a:xfrm>
          <a:prstGeom prst="roundRect">
            <a:avLst>
              <a:gd name="adj" fmla="val 10667"/>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3" name="Text 22"/>
          <p:cNvSpPr/>
          <p:nvPr/>
        </p:nvSpPr>
        <p:spPr>
          <a:xfrm>
            <a:off x="8823960" y="2597040"/>
            <a:ext cx="1142640" cy="612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Weighted</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01828"/>
                </a:solidFill>
                <a:effectLst/>
                <a:uFillTx/>
                <a:latin typeface="Aptos"/>
              </a:rPr>
              <a:t>Values</a:t>
            </a:r>
            <a:endParaRPr lang="it-IT" sz="1100" b="0" u="none" strike="noStrike">
              <a:solidFill>
                <a:srgbClr val="000000"/>
              </a:solidFill>
              <a:effectLst/>
              <a:uFillTx/>
              <a:latin typeface="Arial"/>
            </a:endParaRPr>
          </a:p>
        </p:txBody>
      </p:sp>
      <p:sp>
        <p:nvSpPr>
          <p:cNvPr id="504" name="Shape 23"/>
          <p:cNvSpPr/>
          <p:nvPr/>
        </p:nvSpPr>
        <p:spPr>
          <a:xfrm>
            <a:off x="4754880" y="4572000"/>
            <a:ext cx="2285640" cy="621360"/>
          </a:xfrm>
          <a:prstGeom prst="roundRect">
            <a:avLst>
              <a:gd name="adj" fmla="val 11765"/>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5" name="Text 24"/>
          <p:cNvSpPr/>
          <p:nvPr/>
        </p:nvSpPr>
        <p:spPr>
          <a:xfrm>
            <a:off x="4800600" y="4608720"/>
            <a:ext cx="21942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01828"/>
                </a:solidFill>
                <a:effectLst/>
                <a:uFillTx/>
                <a:latin typeface="Aptos"/>
              </a:rPr>
              <a:t>Attention output</a:t>
            </a:r>
            <a:endParaRPr lang="it-IT" sz="1400" b="0" u="none" strike="noStrike">
              <a:solidFill>
                <a:srgbClr val="000000"/>
              </a:solidFill>
              <a:effectLst/>
              <a:uFillTx/>
              <a:latin typeface="Arial"/>
            </a:endParaRPr>
          </a:p>
        </p:txBody>
      </p:sp>
      <p:sp>
        <p:nvSpPr>
          <p:cNvPr id="506" name="Shape 25"/>
          <p:cNvSpPr/>
          <p:nvPr/>
        </p:nvSpPr>
        <p:spPr>
          <a:xfrm flipH="1">
            <a:off x="5897880" y="3246120"/>
            <a:ext cx="3520440" cy="1325880"/>
          </a:xfrm>
          <a:prstGeom prst="line">
            <a:avLst/>
          </a:prstGeom>
          <a:ln w="1778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07" name="Shape 26"/>
          <p:cNvSpPr/>
          <p:nvPr/>
        </p:nvSpPr>
        <p:spPr>
          <a:xfrm>
            <a:off x="2377440" y="1234440"/>
            <a:ext cx="1416960" cy="502560"/>
          </a:xfrm>
          <a:prstGeom prst="roundRect">
            <a:avLst>
              <a:gd name="adj" fmla="val 14545"/>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8" name="Text 27"/>
          <p:cNvSpPr/>
          <p:nvPr/>
        </p:nvSpPr>
        <p:spPr>
          <a:xfrm>
            <a:off x="2423160" y="1271160"/>
            <a:ext cx="132552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candidate keys</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01828"/>
                </a:solidFill>
                <a:effectLst/>
                <a:uFillTx/>
                <a:latin typeface="Aptos"/>
              </a:rPr>
              <a:t>k[1]...k[L]</a:t>
            </a:r>
            <a:endParaRPr lang="it-IT" sz="900" b="0" u="none" strike="noStrike">
              <a:solidFill>
                <a:srgbClr val="000000"/>
              </a:solidFill>
              <a:effectLst/>
              <a:uFillTx/>
              <a:latin typeface="Arial"/>
            </a:endParaRPr>
          </a:p>
        </p:txBody>
      </p:sp>
      <p:sp>
        <p:nvSpPr>
          <p:cNvPr id="509" name="Shape 28"/>
          <p:cNvSpPr/>
          <p:nvPr/>
        </p:nvSpPr>
        <p:spPr>
          <a:xfrm>
            <a:off x="8549640" y="1234440"/>
            <a:ext cx="1599840" cy="502560"/>
          </a:xfrm>
          <a:prstGeom prst="roundRect">
            <a:avLst>
              <a:gd name="adj" fmla="val 14545"/>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0" name="Text 29"/>
          <p:cNvSpPr/>
          <p:nvPr/>
        </p:nvSpPr>
        <p:spPr>
          <a:xfrm>
            <a:off x="8595360" y="1271160"/>
            <a:ext cx="150840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01828"/>
                </a:solidFill>
                <a:effectLst/>
                <a:uFillTx/>
                <a:latin typeface="Aptos"/>
              </a:rPr>
              <a:t>candidate values</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01828"/>
                </a:solidFill>
                <a:effectLst/>
                <a:uFillTx/>
                <a:latin typeface="Aptos"/>
              </a:rPr>
              <a:t>v[1]...v[L]</a:t>
            </a:r>
            <a:endParaRPr lang="it-IT" sz="900" b="0" u="none" strike="noStrike">
              <a:solidFill>
                <a:srgbClr val="000000"/>
              </a:solidFill>
              <a:effectLst/>
              <a:uFillTx/>
              <a:latin typeface="Arial"/>
            </a:endParaRPr>
          </a:p>
        </p:txBody>
      </p:sp>
      <p:sp>
        <p:nvSpPr>
          <p:cNvPr id="511" name="Text 30"/>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dirty="0">
                <a:solidFill>
                  <a:srgbClr val="475467"/>
                </a:solidFill>
                <a:effectLst/>
                <a:uFillTx/>
                <a:latin typeface="Aptos"/>
              </a:rPr>
              <a:t>The essential concept is: compare → normalize → retrieve and combine.</a:t>
            </a:r>
            <a:endParaRPr lang="it-IT" sz="900" b="0" u="none" strike="noStrike" dirty="0">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D581A37-DA50-8EA0-C168-121BF278F4CC}"/>
              </a:ext>
            </a:extLst>
          </p:cNvPr>
          <p:cNvSpPr>
            <a:spLocks noGrp="1"/>
          </p:cNvSpPr>
          <p:nvPr>
            <p:ph type="title"/>
          </p:nvPr>
        </p:nvSpPr>
        <p:spPr/>
        <p:txBody>
          <a:bodyPr/>
          <a:lstStyle/>
          <a:p>
            <a:r>
              <a:rPr lang="en-GB" dirty="0"/>
              <a:t>Why use separate keys and values?</a:t>
            </a:r>
          </a:p>
        </p:txBody>
      </p:sp>
      <p:sp>
        <p:nvSpPr>
          <p:cNvPr id="3" name="Segnaposto contenuto 2">
            <a:extLst>
              <a:ext uri="{FF2B5EF4-FFF2-40B4-BE49-F238E27FC236}">
                <a16:creationId xmlns:a16="http://schemas.microsoft.com/office/drawing/2014/main" id="{D9D4D720-7373-8475-B681-E8F89C4A37F6}"/>
              </a:ext>
            </a:extLst>
          </p:cNvPr>
          <p:cNvSpPr>
            <a:spLocks noGrp="1"/>
          </p:cNvSpPr>
          <p:nvPr>
            <p:ph idx="1"/>
          </p:nvPr>
        </p:nvSpPr>
        <p:spPr/>
        <p:txBody>
          <a:bodyPr>
            <a:normAutofit fontScale="70000" lnSpcReduction="20000"/>
          </a:bodyPr>
          <a:lstStyle/>
          <a:p>
            <a:r>
              <a:rPr lang="en-GB" dirty="0"/>
              <a:t>It might seem that the model could simply compare and retrieve the same representation.</a:t>
            </a:r>
          </a:p>
          <a:p>
            <a:r>
              <a:rPr lang="en-GB" dirty="0"/>
              <a:t>Separating keys and values provides additional flexibility.</a:t>
            </a:r>
          </a:p>
          <a:p>
            <a:r>
              <a:rPr lang="en-GB" b="1" dirty="0"/>
              <a:t>Key representation</a:t>
            </a:r>
          </a:p>
          <a:p>
            <a:r>
              <a:rPr lang="en-GB" dirty="0"/>
              <a:t>Can </a:t>
            </a:r>
            <a:r>
              <a:rPr lang="en-GB" b="1" dirty="0"/>
              <a:t>emphasize information useful for determining relevance</a:t>
            </a:r>
            <a:r>
              <a:rPr lang="en-GB" dirty="0"/>
              <a:t>.</a:t>
            </a:r>
          </a:p>
          <a:p>
            <a:r>
              <a:rPr lang="en-GB" dirty="0"/>
              <a:t>Example:</a:t>
            </a:r>
          </a:p>
          <a:p>
            <a:pPr lvl="1"/>
            <a:r>
              <a:rPr lang="en-GB" dirty="0"/>
              <a:t>temporal pattern type; </a:t>
            </a:r>
          </a:p>
          <a:p>
            <a:pPr lvl="1"/>
            <a:r>
              <a:rPr lang="en-GB" dirty="0"/>
              <a:t>operating regime; </a:t>
            </a:r>
          </a:p>
          <a:p>
            <a:pPr lvl="1"/>
            <a:r>
              <a:rPr lang="en-GB" dirty="0"/>
              <a:t>similarity to current context. </a:t>
            </a:r>
          </a:p>
          <a:p>
            <a:r>
              <a:rPr lang="en-GB" b="1" dirty="0"/>
              <a:t>Value representation</a:t>
            </a:r>
          </a:p>
          <a:p>
            <a:r>
              <a:rPr lang="en-GB" dirty="0"/>
              <a:t>Can emphasize information useful for </a:t>
            </a:r>
            <a:r>
              <a:rPr lang="en-GB" b="1" dirty="0"/>
              <a:t>constructing the output</a:t>
            </a:r>
            <a:r>
              <a:rPr lang="en-GB" dirty="0"/>
              <a:t>.</a:t>
            </a:r>
          </a:p>
          <a:p>
            <a:r>
              <a:rPr lang="en-GB" dirty="0"/>
              <a:t>Example:</a:t>
            </a:r>
          </a:p>
          <a:p>
            <a:pPr lvl="1"/>
            <a:r>
              <a:rPr lang="en-GB" dirty="0"/>
              <a:t>magnitude; </a:t>
            </a:r>
          </a:p>
          <a:p>
            <a:pPr lvl="1"/>
            <a:r>
              <a:rPr lang="en-GB" dirty="0"/>
              <a:t>latent feature content; </a:t>
            </a:r>
          </a:p>
          <a:p>
            <a:pPr lvl="1"/>
            <a:r>
              <a:rPr lang="en-GB" dirty="0"/>
              <a:t>contextual information. </a:t>
            </a:r>
          </a:p>
          <a:p>
            <a:endParaRPr lang="en-GB" dirty="0"/>
          </a:p>
        </p:txBody>
      </p:sp>
    </p:spTree>
    <p:extLst>
      <p:ext uri="{BB962C8B-B14F-4D97-AF65-F5344CB8AC3E}">
        <p14:creationId xmlns:p14="http://schemas.microsoft.com/office/powerpoint/2010/main" val="2815444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7CC1E-71C4-A9A0-8940-E65FF011FB2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00A7D25-72F3-6A37-202D-822D1C5745AF}"/>
              </a:ext>
            </a:extLst>
          </p:cNvPr>
          <p:cNvSpPr>
            <a:spLocks noGrp="1"/>
          </p:cNvSpPr>
          <p:nvPr>
            <p:ph type="title"/>
          </p:nvPr>
        </p:nvSpPr>
        <p:spPr/>
        <p:txBody>
          <a:bodyPr/>
          <a:lstStyle/>
          <a:p>
            <a:r>
              <a:rPr lang="en-GB" dirty="0"/>
              <a:t>Why use separate keys and values?</a:t>
            </a:r>
          </a:p>
        </p:txBody>
      </p:sp>
      <p:sp>
        <p:nvSpPr>
          <p:cNvPr id="3" name="Segnaposto contenuto 2">
            <a:extLst>
              <a:ext uri="{FF2B5EF4-FFF2-40B4-BE49-F238E27FC236}">
                <a16:creationId xmlns:a16="http://schemas.microsoft.com/office/drawing/2014/main" id="{4B0E649B-C8F7-A2D7-72AB-48163FF0A052}"/>
              </a:ext>
            </a:extLst>
          </p:cNvPr>
          <p:cNvSpPr>
            <a:spLocks noGrp="1"/>
          </p:cNvSpPr>
          <p:nvPr>
            <p:ph idx="1"/>
          </p:nvPr>
        </p:nvSpPr>
        <p:spPr/>
        <p:txBody>
          <a:bodyPr>
            <a:normAutofit fontScale="70000" lnSpcReduction="20000"/>
          </a:bodyPr>
          <a:lstStyle/>
          <a:p>
            <a:r>
              <a:rPr lang="en-GB" b="1" dirty="0"/>
              <a:t>Analogy</a:t>
            </a:r>
          </a:p>
          <a:p>
            <a:r>
              <a:rPr lang="en-GB" dirty="0"/>
              <a:t>A book catalogue contains:</a:t>
            </a:r>
          </a:p>
          <a:p>
            <a:pPr lvl="1"/>
            <a:r>
              <a:rPr lang="en-GB" dirty="0"/>
              <a:t>searchable metadata → </a:t>
            </a:r>
            <a:r>
              <a:rPr lang="en-GB" b="1" dirty="0"/>
              <a:t>key</a:t>
            </a:r>
            <a:r>
              <a:rPr lang="en-GB" dirty="0"/>
              <a:t>; </a:t>
            </a:r>
          </a:p>
          <a:p>
            <a:pPr lvl="1"/>
            <a:r>
              <a:rPr lang="en-GB" dirty="0"/>
              <a:t>actual book content → </a:t>
            </a:r>
            <a:r>
              <a:rPr lang="en-GB" b="1" dirty="0"/>
              <a:t>value</a:t>
            </a:r>
            <a:r>
              <a:rPr lang="en-GB" dirty="0"/>
              <a:t>. </a:t>
            </a:r>
          </a:p>
          <a:p>
            <a:r>
              <a:rPr lang="en-GB" dirty="0"/>
              <a:t>The search query is matched against metadata, but the retrieved object is the content.</a:t>
            </a:r>
          </a:p>
          <a:p>
            <a:endParaRPr lang="en-GB" b="1" dirty="0"/>
          </a:p>
          <a:p>
            <a:r>
              <a:rPr lang="en-GB" b="1" dirty="0"/>
              <a:t>Neural attention</a:t>
            </a:r>
          </a:p>
          <a:p>
            <a:r>
              <a:rPr lang="en-GB" dirty="0"/>
              <a:t>All three representations are learned jointly:</a:t>
            </a:r>
          </a:p>
          <a:p>
            <a:pPr lvl="1"/>
            <a:r>
              <a:rPr lang="en-GB" dirty="0"/>
              <a:t>query; </a:t>
            </a:r>
          </a:p>
          <a:p>
            <a:pPr lvl="1"/>
            <a:r>
              <a:rPr lang="en-GB" dirty="0"/>
              <a:t>key; </a:t>
            </a:r>
          </a:p>
          <a:p>
            <a:pPr lvl="1"/>
            <a:r>
              <a:rPr lang="en-GB" dirty="0"/>
              <a:t>value. </a:t>
            </a:r>
          </a:p>
          <a:p>
            <a:r>
              <a:rPr lang="en-GB" dirty="0"/>
              <a:t>Therefore the network learns both:</a:t>
            </a:r>
          </a:p>
          <a:p>
            <a:pPr lvl="1"/>
            <a:r>
              <a:rPr lang="en-GB" dirty="0"/>
              <a:t>how to identify relevant positions; </a:t>
            </a:r>
          </a:p>
          <a:p>
            <a:pPr lvl="1"/>
            <a:r>
              <a:rPr lang="en-GB" dirty="0"/>
              <a:t>what information should be transferred from them.</a:t>
            </a:r>
          </a:p>
          <a:p>
            <a:endParaRPr lang="en-GB" dirty="0"/>
          </a:p>
        </p:txBody>
      </p:sp>
    </p:spTree>
    <p:extLst>
      <p:ext uri="{BB962C8B-B14F-4D97-AF65-F5344CB8AC3E}">
        <p14:creationId xmlns:p14="http://schemas.microsoft.com/office/powerpoint/2010/main" val="1781007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5961FF0-7A32-9659-C1DA-C3D4D56AA728}"/>
              </a:ext>
            </a:extLst>
          </p:cNvPr>
          <p:cNvSpPr>
            <a:spLocks noGrp="1"/>
          </p:cNvSpPr>
          <p:nvPr>
            <p:ph type="title"/>
          </p:nvPr>
        </p:nvSpPr>
        <p:spPr/>
        <p:txBody>
          <a:bodyPr/>
          <a:lstStyle/>
          <a:p>
            <a:r>
              <a:rPr lang="en-GB" dirty="0"/>
              <a:t>Attention is differentiable and learned end-to-end</a:t>
            </a:r>
          </a:p>
        </p:txBody>
      </p:sp>
      <p:sp>
        <p:nvSpPr>
          <p:cNvPr id="3" name="Segnaposto contenuto 2">
            <a:extLst>
              <a:ext uri="{FF2B5EF4-FFF2-40B4-BE49-F238E27FC236}">
                <a16:creationId xmlns:a16="http://schemas.microsoft.com/office/drawing/2014/main" id="{B569BBA7-4F6B-65E1-E0EE-8C932422FD65}"/>
              </a:ext>
            </a:extLst>
          </p:cNvPr>
          <p:cNvSpPr>
            <a:spLocks noGrp="1"/>
          </p:cNvSpPr>
          <p:nvPr>
            <p:ph sz="half" idx="1"/>
          </p:nvPr>
        </p:nvSpPr>
        <p:spPr/>
        <p:txBody>
          <a:bodyPr>
            <a:normAutofit fontScale="77500" lnSpcReduction="20000"/>
          </a:bodyPr>
          <a:lstStyle/>
          <a:p>
            <a:r>
              <a:rPr lang="en-GB" dirty="0"/>
              <a:t>No manual rule says: always attend to t−24</a:t>
            </a:r>
          </a:p>
          <a:p>
            <a:r>
              <a:rPr lang="en-GB" dirty="0"/>
              <a:t>or: always give recent samples more weight</a:t>
            </a:r>
          </a:p>
          <a:p>
            <a:endParaRPr lang="en-GB" dirty="0"/>
          </a:p>
          <a:p>
            <a:r>
              <a:rPr lang="en-GB" dirty="0"/>
              <a:t>Instead:</a:t>
            </a:r>
          </a:p>
          <a:p>
            <a:pPr lvl="1"/>
            <a:r>
              <a:rPr lang="en-GB" dirty="0"/>
              <a:t>query projections are learned; </a:t>
            </a:r>
          </a:p>
          <a:p>
            <a:pPr lvl="1"/>
            <a:r>
              <a:rPr lang="en-GB" dirty="0"/>
              <a:t>key projections are learned; </a:t>
            </a:r>
          </a:p>
          <a:p>
            <a:pPr lvl="1"/>
            <a:r>
              <a:rPr lang="en-GB" dirty="0"/>
              <a:t>value projections are learned; </a:t>
            </a:r>
          </a:p>
          <a:p>
            <a:pPr lvl="0"/>
            <a:r>
              <a:rPr lang="en-GB" b="1" dirty="0"/>
              <a:t>the prediction loss determines which attention patterns become useful. </a:t>
            </a:r>
          </a:p>
          <a:p>
            <a:endParaRPr lang="en-GB" dirty="0"/>
          </a:p>
        </p:txBody>
      </p:sp>
      <p:sp>
        <p:nvSpPr>
          <p:cNvPr id="4" name="Segnaposto contenuto 3">
            <a:extLst>
              <a:ext uri="{FF2B5EF4-FFF2-40B4-BE49-F238E27FC236}">
                <a16:creationId xmlns:a16="http://schemas.microsoft.com/office/drawing/2014/main" id="{E9C532AE-5E2D-D891-BB8E-B4793A1D4B5F}"/>
              </a:ext>
            </a:extLst>
          </p:cNvPr>
          <p:cNvSpPr>
            <a:spLocks noGrp="1"/>
          </p:cNvSpPr>
          <p:nvPr>
            <p:ph sz="half" idx="2"/>
          </p:nvPr>
        </p:nvSpPr>
        <p:spPr>
          <a:xfrm>
            <a:off x="5690681" y="2160588"/>
            <a:ext cx="5675338" cy="4570952"/>
          </a:xfrm>
        </p:spPr>
        <p:txBody>
          <a:bodyPr>
            <a:normAutofit fontScale="77500" lnSpcReduction="20000"/>
          </a:bodyPr>
          <a:lstStyle/>
          <a:p>
            <a:r>
              <a:rPr lang="en-GB" b="1" dirty="0"/>
              <a:t>During training</a:t>
            </a:r>
          </a:p>
          <a:p>
            <a:r>
              <a:rPr lang="en-GB" dirty="0"/>
              <a:t>If attending to a particular position helps reduce prediction error, the model can learn transformations that increase its relevance score.</a:t>
            </a:r>
          </a:p>
          <a:p>
            <a:r>
              <a:rPr lang="en-GB" b="1" dirty="0"/>
              <a:t>Therefore attention can learn patterns such as</a:t>
            </a:r>
          </a:p>
          <a:p>
            <a:pPr lvl="1"/>
            <a:r>
              <a:rPr lang="en-GB" dirty="0"/>
              <a:t>recent dependencies; </a:t>
            </a:r>
          </a:p>
          <a:p>
            <a:pPr lvl="1"/>
            <a:r>
              <a:rPr lang="en-GB" dirty="0"/>
              <a:t>periodic relationships; </a:t>
            </a:r>
          </a:p>
          <a:p>
            <a:pPr lvl="1"/>
            <a:r>
              <a:rPr lang="en-GB" dirty="0"/>
              <a:t>event-to-event relationships; </a:t>
            </a:r>
          </a:p>
          <a:p>
            <a:pPr lvl="1"/>
            <a:r>
              <a:rPr lang="en-GB" dirty="0"/>
              <a:t>long-distance interactions. </a:t>
            </a:r>
          </a:p>
          <a:p>
            <a:endParaRPr lang="en-GB" b="1" dirty="0"/>
          </a:p>
          <a:p>
            <a:r>
              <a:rPr lang="en-GB" b="1" dirty="0"/>
              <a:t>Important caution</a:t>
            </a:r>
          </a:p>
          <a:p>
            <a:r>
              <a:rPr lang="en-GB" dirty="0"/>
              <a:t>Attention weights are learned for predictive usefulness.</a:t>
            </a:r>
          </a:p>
          <a:p>
            <a:r>
              <a:rPr lang="en-GB" dirty="0"/>
              <a:t>They should not automatically be interpreted as:</a:t>
            </a:r>
          </a:p>
          <a:p>
            <a:pPr lvl="1"/>
            <a:r>
              <a:rPr lang="en-GB" dirty="0"/>
              <a:t>causal importance; </a:t>
            </a:r>
          </a:p>
          <a:p>
            <a:pPr lvl="1"/>
            <a:r>
              <a:rPr lang="en-GB" dirty="0"/>
              <a:t>scientific explanation; </a:t>
            </a:r>
          </a:p>
          <a:p>
            <a:pPr lvl="1"/>
            <a:r>
              <a:rPr lang="en-GB" dirty="0"/>
              <a:t>proof that one variable or time point caused another.</a:t>
            </a:r>
          </a:p>
          <a:p>
            <a:endParaRPr lang="en-GB" dirty="0"/>
          </a:p>
        </p:txBody>
      </p:sp>
    </p:spTree>
    <p:extLst>
      <p:ext uri="{BB962C8B-B14F-4D97-AF65-F5344CB8AC3E}">
        <p14:creationId xmlns:p14="http://schemas.microsoft.com/office/powerpoint/2010/main" val="1440720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3E728D-6064-0178-16FC-711B14DAF73E}"/>
              </a:ext>
            </a:extLst>
          </p:cNvPr>
          <p:cNvSpPr>
            <a:spLocks noGrp="1"/>
          </p:cNvSpPr>
          <p:nvPr>
            <p:ph type="title"/>
          </p:nvPr>
        </p:nvSpPr>
        <p:spPr/>
        <p:txBody>
          <a:bodyPr/>
          <a:lstStyle/>
          <a:p>
            <a:r>
              <a:rPr lang="en-GB" dirty="0"/>
              <a:t>Scaled dot-product attention</a:t>
            </a:r>
          </a:p>
        </p:txBody>
      </p:sp>
      <p:sp>
        <p:nvSpPr>
          <p:cNvPr id="3" name="Segnaposto contenuto 2">
            <a:extLst>
              <a:ext uri="{FF2B5EF4-FFF2-40B4-BE49-F238E27FC236}">
                <a16:creationId xmlns:a16="http://schemas.microsoft.com/office/drawing/2014/main" id="{DB0C60D3-05CB-BCF5-152B-2031B1FCE0AE}"/>
              </a:ext>
            </a:extLst>
          </p:cNvPr>
          <p:cNvSpPr>
            <a:spLocks noGrp="1"/>
          </p:cNvSpPr>
          <p:nvPr>
            <p:ph sz="half" idx="1"/>
          </p:nvPr>
        </p:nvSpPr>
        <p:spPr>
          <a:xfrm>
            <a:off x="677334" y="2160588"/>
            <a:ext cx="5188445" cy="4337487"/>
          </a:xfrm>
        </p:spPr>
        <p:txBody>
          <a:bodyPr>
            <a:normAutofit fontScale="62500" lnSpcReduction="20000"/>
          </a:bodyPr>
          <a:lstStyle/>
          <a:p>
            <a:r>
              <a:rPr lang="en-GB" dirty="0"/>
              <a:t>The standard Transformer uses a scaled dot product.</a:t>
            </a:r>
          </a:p>
          <a:p>
            <a:r>
              <a:rPr lang="en-GB" dirty="0"/>
              <a:t>score = (query · key) / sqrt(</a:t>
            </a:r>
            <a:r>
              <a:rPr lang="en-GB" dirty="0" err="1"/>
              <a:t>d_k</a:t>
            </a:r>
            <a:r>
              <a:rPr lang="en-GB" dirty="0"/>
              <a:t>)</a:t>
            </a:r>
          </a:p>
          <a:p>
            <a:r>
              <a:rPr lang="en-GB" dirty="0"/>
              <a:t>where: </a:t>
            </a:r>
            <a:r>
              <a:rPr lang="en-GB" dirty="0" err="1"/>
              <a:t>d_k</a:t>
            </a:r>
            <a:r>
              <a:rPr lang="en-GB" dirty="0"/>
              <a:t> is the query/key vector dimension.</a:t>
            </a:r>
          </a:p>
          <a:p>
            <a:r>
              <a:rPr lang="en-GB" dirty="0"/>
              <a:t>The scores are then normalized: weights = </a:t>
            </a:r>
            <a:r>
              <a:rPr lang="en-GB" dirty="0" err="1"/>
              <a:t>softmax</a:t>
            </a:r>
            <a:r>
              <a:rPr lang="en-GB" dirty="0"/>
              <a:t>(scores) and applied to the values.</a:t>
            </a:r>
          </a:p>
          <a:p>
            <a:r>
              <a:rPr lang="en-GB" dirty="0"/>
              <a:t>In compact form:</a:t>
            </a:r>
          </a:p>
          <a:p>
            <a:r>
              <a:rPr lang="en-GB" dirty="0"/>
              <a:t>queries × keys</a:t>
            </a:r>
          </a:p>
          <a:p>
            <a:r>
              <a:rPr lang="en-GB" dirty="0"/>
              <a:t>      ↓</a:t>
            </a:r>
          </a:p>
          <a:p>
            <a:r>
              <a:rPr lang="en-GB" dirty="0"/>
              <a:t>similarity scores</a:t>
            </a:r>
          </a:p>
          <a:p>
            <a:r>
              <a:rPr lang="en-GB" dirty="0"/>
              <a:t>      ↓</a:t>
            </a:r>
          </a:p>
          <a:p>
            <a:r>
              <a:rPr lang="en-GB" dirty="0"/>
              <a:t>scaling</a:t>
            </a:r>
          </a:p>
          <a:p>
            <a:r>
              <a:rPr lang="en-GB" dirty="0"/>
              <a:t>      ↓</a:t>
            </a:r>
          </a:p>
          <a:p>
            <a:r>
              <a:rPr lang="en-GB" dirty="0" err="1"/>
              <a:t>softmax</a:t>
            </a:r>
            <a:endParaRPr lang="en-GB" dirty="0"/>
          </a:p>
          <a:p>
            <a:r>
              <a:rPr lang="en-GB" dirty="0"/>
              <a:t>      ↓</a:t>
            </a:r>
          </a:p>
          <a:p>
            <a:r>
              <a:rPr lang="en-GB" dirty="0"/>
              <a:t>attention weights</a:t>
            </a:r>
          </a:p>
          <a:p>
            <a:r>
              <a:rPr lang="en-GB" dirty="0"/>
              <a:t>      ↓</a:t>
            </a:r>
          </a:p>
          <a:p>
            <a:r>
              <a:rPr lang="en-GB" dirty="0"/>
              <a:t>weighted values</a:t>
            </a:r>
          </a:p>
          <a:p>
            <a:endParaRPr lang="en-GB" dirty="0"/>
          </a:p>
        </p:txBody>
      </p:sp>
      <p:sp>
        <p:nvSpPr>
          <p:cNvPr id="4" name="Segnaposto contenuto 3">
            <a:extLst>
              <a:ext uri="{FF2B5EF4-FFF2-40B4-BE49-F238E27FC236}">
                <a16:creationId xmlns:a16="http://schemas.microsoft.com/office/drawing/2014/main" id="{D0FE5F9D-AD35-24E6-C8DC-BB0B6DD2D48C}"/>
              </a:ext>
            </a:extLst>
          </p:cNvPr>
          <p:cNvSpPr>
            <a:spLocks noGrp="1"/>
          </p:cNvSpPr>
          <p:nvPr>
            <p:ph sz="half" idx="2"/>
          </p:nvPr>
        </p:nvSpPr>
        <p:spPr>
          <a:xfrm>
            <a:off x="6208651" y="2161638"/>
            <a:ext cx="5610456" cy="4337488"/>
          </a:xfrm>
        </p:spPr>
        <p:txBody>
          <a:bodyPr>
            <a:normAutofit fontScale="62500" lnSpcReduction="20000"/>
          </a:bodyPr>
          <a:lstStyle/>
          <a:p>
            <a:r>
              <a:rPr lang="en-GB" b="1" dirty="0"/>
              <a:t>Why scaling?</a:t>
            </a:r>
          </a:p>
          <a:p>
            <a:r>
              <a:rPr lang="en-GB" dirty="0"/>
              <a:t>When query/key dimension becomes large, raw dot products can become large in magnitude.</a:t>
            </a:r>
          </a:p>
          <a:p>
            <a:r>
              <a:rPr lang="en-GB" b="1" dirty="0">
                <a:highlight>
                  <a:srgbClr val="FFFF00"/>
                </a:highlight>
              </a:rPr>
              <a:t>This can make </a:t>
            </a:r>
            <a:r>
              <a:rPr lang="en-GB" b="1" dirty="0" err="1">
                <a:highlight>
                  <a:srgbClr val="FFFF00"/>
                </a:highlight>
              </a:rPr>
              <a:t>softmax</a:t>
            </a:r>
            <a:r>
              <a:rPr lang="en-GB" b="1" dirty="0">
                <a:highlight>
                  <a:srgbClr val="FFFF00"/>
                </a:highlight>
              </a:rPr>
              <a:t> extremely peaked and gradients less useful.</a:t>
            </a:r>
          </a:p>
          <a:p>
            <a:r>
              <a:rPr lang="en-GB" dirty="0"/>
              <a:t>Scaling helps keep score magnitudes in a more manageable range.</a:t>
            </a:r>
          </a:p>
          <a:p>
            <a:endParaRPr lang="en-GB" b="1" dirty="0"/>
          </a:p>
          <a:p>
            <a:r>
              <a:rPr lang="en-GB" dirty="0"/>
              <a:t>The essential concept is not the scaling constant.</a:t>
            </a:r>
          </a:p>
          <a:p>
            <a:r>
              <a:rPr lang="en-GB" dirty="0"/>
              <a:t>It is the sequence:</a:t>
            </a:r>
          </a:p>
          <a:p>
            <a:r>
              <a:rPr lang="en-GB" b="1" dirty="0"/>
              <a:t>compare query with keys → normalize relevance → combine values</a:t>
            </a:r>
            <a:endParaRPr lang="en-GB" dirty="0"/>
          </a:p>
          <a:p>
            <a:endParaRPr lang="en-GB" dirty="0"/>
          </a:p>
        </p:txBody>
      </p:sp>
    </p:spTree>
    <p:extLst>
      <p:ext uri="{BB962C8B-B14F-4D97-AF65-F5344CB8AC3E}">
        <p14:creationId xmlns:p14="http://schemas.microsoft.com/office/powerpoint/2010/main" val="27602306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D80B4A-072A-1DB1-50F3-FC9D72F143DD}"/>
              </a:ext>
            </a:extLst>
          </p:cNvPr>
          <p:cNvSpPr>
            <a:spLocks noGrp="1"/>
          </p:cNvSpPr>
          <p:nvPr>
            <p:ph type="title"/>
          </p:nvPr>
        </p:nvSpPr>
        <p:spPr/>
        <p:txBody>
          <a:bodyPr/>
          <a:lstStyle/>
          <a:p>
            <a:r>
              <a:rPr lang="en-GB" dirty="0"/>
              <a:t>Attention versus convolution</a:t>
            </a:r>
          </a:p>
        </p:txBody>
      </p:sp>
      <p:sp>
        <p:nvSpPr>
          <p:cNvPr id="3" name="Segnaposto contenuto 2">
            <a:extLst>
              <a:ext uri="{FF2B5EF4-FFF2-40B4-BE49-F238E27FC236}">
                <a16:creationId xmlns:a16="http://schemas.microsoft.com/office/drawing/2014/main" id="{0C474CED-5279-5DC0-49F6-2BD1A1346D54}"/>
              </a:ext>
            </a:extLst>
          </p:cNvPr>
          <p:cNvSpPr>
            <a:spLocks noGrp="1"/>
          </p:cNvSpPr>
          <p:nvPr>
            <p:ph idx="1"/>
          </p:nvPr>
        </p:nvSpPr>
        <p:spPr/>
        <p:txBody>
          <a:bodyPr>
            <a:normAutofit lnSpcReduction="10000"/>
          </a:bodyPr>
          <a:lstStyle/>
          <a:p>
            <a:r>
              <a:rPr lang="en-GB" dirty="0"/>
              <a:t>Consider the representation at position t.</a:t>
            </a:r>
          </a:p>
          <a:p>
            <a:endParaRPr lang="en-GB" b="1" dirty="0"/>
          </a:p>
          <a:p>
            <a:r>
              <a:rPr lang="en-GB" b="1" dirty="0"/>
              <a:t>Convolution</a:t>
            </a:r>
          </a:p>
          <a:p>
            <a:r>
              <a:rPr lang="en-GB" dirty="0"/>
              <a:t>Uses a predefined local connectivity pattern.</a:t>
            </a:r>
          </a:p>
          <a:p>
            <a:r>
              <a:rPr lang="en-GB" dirty="0"/>
              <a:t>Example with kernel size 5: t−2, t−1, t, t+1, t+2</a:t>
            </a:r>
          </a:p>
          <a:p>
            <a:r>
              <a:rPr lang="en-GB" dirty="0"/>
              <a:t>The learned kernel parameters are the same across sequences.</a:t>
            </a:r>
          </a:p>
          <a:p>
            <a:endParaRPr lang="en-GB" b="1" dirty="0"/>
          </a:p>
          <a:p>
            <a:r>
              <a:rPr lang="en-GB" b="1" dirty="0"/>
              <a:t>Attention</a:t>
            </a:r>
          </a:p>
          <a:p>
            <a:r>
              <a:rPr lang="en-GB" dirty="0"/>
              <a:t>Potentially considers many positions: 1, 2, ..., L</a:t>
            </a:r>
          </a:p>
          <a:p>
            <a:r>
              <a:rPr lang="en-GB" dirty="0"/>
              <a:t>and computes input-dependent weights.</a:t>
            </a:r>
          </a:p>
          <a:p>
            <a:endParaRPr lang="en-GB" dirty="0"/>
          </a:p>
        </p:txBody>
      </p:sp>
    </p:spTree>
    <p:extLst>
      <p:ext uri="{BB962C8B-B14F-4D97-AF65-F5344CB8AC3E}">
        <p14:creationId xmlns:p14="http://schemas.microsoft.com/office/powerpoint/2010/main" val="2009016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4408-7887-6BFA-3CB0-246054D87D2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4865CB5-CF0B-1DDE-BD13-7F2AC35F875C}"/>
              </a:ext>
            </a:extLst>
          </p:cNvPr>
          <p:cNvSpPr>
            <a:spLocks noGrp="1"/>
          </p:cNvSpPr>
          <p:nvPr>
            <p:ph type="title"/>
          </p:nvPr>
        </p:nvSpPr>
        <p:spPr/>
        <p:txBody>
          <a:bodyPr/>
          <a:lstStyle/>
          <a:p>
            <a:r>
              <a:rPr lang="en-GB" dirty="0"/>
              <a:t>Attention versus convolution</a:t>
            </a:r>
          </a:p>
        </p:txBody>
      </p:sp>
      <p:sp>
        <p:nvSpPr>
          <p:cNvPr id="3" name="Segnaposto contenuto 2">
            <a:extLst>
              <a:ext uri="{FF2B5EF4-FFF2-40B4-BE49-F238E27FC236}">
                <a16:creationId xmlns:a16="http://schemas.microsoft.com/office/drawing/2014/main" id="{B13453BE-F32B-60DF-41E7-C4F16E4AD049}"/>
              </a:ext>
            </a:extLst>
          </p:cNvPr>
          <p:cNvSpPr>
            <a:spLocks noGrp="1"/>
          </p:cNvSpPr>
          <p:nvPr>
            <p:ph idx="1"/>
          </p:nvPr>
        </p:nvSpPr>
        <p:spPr/>
        <p:txBody>
          <a:bodyPr>
            <a:normAutofit fontScale="77500" lnSpcReduction="20000"/>
          </a:bodyPr>
          <a:lstStyle/>
          <a:p>
            <a:r>
              <a:rPr lang="en-GB" b="1" dirty="0"/>
              <a:t>Convolution therefore has a strong local inductive bias</a:t>
            </a:r>
          </a:p>
          <a:p>
            <a:r>
              <a:rPr lang="en-GB" dirty="0"/>
              <a:t>This can be beneficial when:</a:t>
            </a:r>
          </a:p>
          <a:p>
            <a:pPr lvl="1"/>
            <a:r>
              <a:rPr lang="en-GB" dirty="0"/>
              <a:t>local patterns are important; </a:t>
            </a:r>
          </a:p>
          <a:p>
            <a:pPr lvl="1"/>
            <a:r>
              <a:rPr lang="en-GB" dirty="0"/>
              <a:t>data are limited; </a:t>
            </a:r>
          </a:p>
          <a:p>
            <a:pPr lvl="1"/>
            <a:r>
              <a:rPr lang="en-GB" dirty="0"/>
              <a:t>computational efficiency matters. </a:t>
            </a:r>
          </a:p>
          <a:p>
            <a:endParaRPr lang="en-GB" b="1" dirty="0"/>
          </a:p>
          <a:p>
            <a:r>
              <a:rPr lang="en-GB" b="1" dirty="0"/>
              <a:t>Attention provides more flexible interaction</a:t>
            </a:r>
          </a:p>
          <a:p>
            <a:r>
              <a:rPr lang="en-GB" dirty="0"/>
              <a:t>This can be beneficial when:</a:t>
            </a:r>
          </a:p>
          <a:p>
            <a:pPr lvl="1"/>
            <a:r>
              <a:rPr lang="en-GB" dirty="0"/>
              <a:t>distant positions interact; </a:t>
            </a:r>
          </a:p>
          <a:p>
            <a:pPr lvl="1"/>
            <a:r>
              <a:rPr lang="en-GB" dirty="0"/>
              <a:t>the relevant lag varies; </a:t>
            </a:r>
          </a:p>
          <a:p>
            <a:pPr lvl="1"/>
            <a:r>
              <a:rPr lang="en-GB" dirty="0"/>
              <a:t>several temporal scales matter. </a:t>
            </a:r>
          </a:p>
          <a:p>
            <a:endParaRPr lang="en-GB" dirty="0"/>
          </a:p>
          <a:p>
            <a:r>
              <a:rPr lang="en-GB" b="1" dirty="0"/>
              <a:t>Convolution learns what local pattern to detect; attention learns which represented positions should interact for the current input.</a:t>
            </a:r>
          </a:p>
          <a:p>
            <a:endParaRPr lang="en-GB" dirty="0"/>
          </a:p>
        </p:txBody>
      </p:sp>
    </p:spTree>
    <p:extLst>
      <p:ext uri="{BB962C8B-B14F-4D97-AF65-F5344CB8AC3E}">
        <p14:creationId xmlns:p14="http://schemas.microsoft.com/office/powerpoint/2010/main" val="3457817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3"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514"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5"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16"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Attention versus convolution</a:t>
            </a:r>
            <a:endParaRPr lang="it-IT" sz="2200" b="0" u="none" strike="noStrike">
              <a:solidFill>
                <a:srgbClr val="000000"/>
              </a:solidFill>
              <a:effectLst/>
              <a:uFillTx/>
              <a:latin typeface="Arial"/>
            </a:endParaRPr>
          </a:p>
        </p:txBody>
      </p:sp>
      <p:sp>
        <p:nvSpPr>
          <p:cNvPr id="517"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Local fixed connectivity versus input-dependent global weighting</a:t>
            </a:r>
            <a:endParaRPr lang="it-IT" sz="1050" b="0" u="none" strike="noStrike">
              <a:solidFill>
                <a:srgbClr val="000000"/>
              </a:solidFill>
              <a:effectLst/>
              <a:uFillTx/>
              <a:latin typeface="Arial"/>
            </a:endParaRPr>
          </a:p>
        </p:txBody>
      </p:sp>
      <p:sp>
        <p:nvSpPr>
          <p:cNvPr id="518" name="Shape 6"/>
          <p:cNvSpPr/>
          <p:nvPr/>
        </p:nvSpPr>
        <p:spPr>
          <a:xfrm>
            <a:off x="822960" y="1143000"/>
            <a:ext cx="1828440" cy="456840"/>
          </a:xfrm>
          <a:prstGeom prst="roundRect">
            <a:avLst>
              <a:gd name="adj" fmla="val 16000"/>
            </a:avLst>
          </a:prstGeom>
          <a:solidFill>
            <a:srgbClr val="EAF2FE"/>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9" name="Text 7"/>
          <p:cNvSpPr/>
          <p:nvPr/>
        </p:nvSpPr>
        <p:spPr>
          <a:xfrm>
            <a:off x="868680" y="1179720"/>
            <a:ext cx="173700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01828"/>
                </a:solidFill>
                <a:effectLst/>
                <a:uFillTx/>
                <a:latin typeface="Aptos"/>
              </a:rPr>
              <a:t>Convolution</a:t>
            </a:r>
            <a:endParaRPr lang="it-IT" sz="1300" b="0" u="none" strike="noStrike">
              <a:solidFill>
                <a:srgbClr val="000000"/>
              </a:solidFill>
              <a:effectLst/>
              <a:uFillTx/>
              <a:latin typeface="Arial"/>
            </a:endParaRPr>
          </a:p>
        </p:txBody>
      </p:sp>
      <p:sp>
        <p:nvSpPr>
          <p:cNvPr id="520" name="Shape 8"/>
          <p:cNvSpPr/>
          <p:nvPr/>
        </p:nvSpPr>
        <p:spPr>
          <a:xfrm>
            <a:off x="914400" y="2331720"/>
            <a:ext cx="3840480" cy="360"/>
          </a:xfrm>
          <a:prstGeom prst="line">
            <a:avLst/>
          </a:prstGeom>
          <a:ln w="19050">
            <a:solidFill>
              <a:srgbClr val="D0D5D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21" name="Shape 9"/>
          <p:cNvSpPr/>
          <p:nvPr/>
        </p:nvSpPr>
        <p:spPr>
          <a:xfrm>
            <a:off x="91440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2" name="Text 10"/>
          <p:cNvSpPr/>
          <p:nvPr/>
        </p:nvSpPr>
        <p:spPr>
          <a:xfrm>
            <a:off x="96012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x1</a:t>
            </a:r>
            <a:endParaRPr lang="it-IT" sz="850" b="0" u="none" strike="noStrike">
              <a:solidFill>
                <a:srgbClr val="000000"/>
              </a:solidFill>
              <a:effectLst/>
              <a:uFillTx/>
              <a:latin typeface="Arial"/>
            </a:endParaRPr>
          </a:p>
        </p:txBody>
      </p:sp>
      <p:sp>
        <p:nvSpPr>
          <p:cNvPr id="523" name="Shape 11"/>
          <p:cNvSpPr/>
          <p:nvPr/>
        </p:nvSpPr>
        <p:spPr>
          <a:xfrm>
            <a:off x="132588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4" name="Text 12"/>
          <p:cNvSpPr/>
          <p:nvPr/>
        </p:nvSpPr>
        <p:spPr>
          <a:xfrm>
            <a:off x="137160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a:t>
            </a:r>
            <a:endParaRPr lang="it-IT" sz="850" b="0" u="none" strike="noStrike">
              <a:solidFill>
                <a:srgbClr val="000000"/>
              </a:solidFill>
              <a:effectLst/>
              <a:uFillTx/>
              <a:latin typeface="Arial"/>
            </a:endParaRPr>
          </a:p>
        </p:txBody>
      </p:sp>
      <p:sp>
        <p:nvSpPr>
          <p:cNvPr id="525" name="Shape 13"/>
          <p:cNvSpPr/>
          <p:nvPr/>
        </p:nvSpPr>
        <p:spPr>
          <a:xfrm>
            <a:off x="173736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6" name="Text 14"/>
          <p:cNvSpPr/>
          <p:nvPr/>
        </p:nvSpPr>
        <p:spPr>
          <a:xfrm>
            <a:off x="178308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x3</a:t>
            </a:r>
            <a:endParaRPr lang="it-IT" sz="850" b="0" u="none" strike="noStrike">
              <a:solidFill>
                <a:srgbClr val="000000"/>
              </a:solidFill>
              <a:effectLst/>
              <a:uFillTx/>
              <a:latin typeface="Arial"/>
            </a:endParaRPr>
          </a:p>
        </p:txBody>
      </p:sp>
      <p:sp>
        <p:nvSpPr>
          <p:cNvPr id="527" name="Shape 15"/>
          <p:cNvSpPr/>
          <p:nvPr/>
        </p:nvSpPr>
        <p:spPr>
          <a:xfrm>
            <a:off x="214884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8" name="Text 16"/>
          <p:cNvSpPr/>
          <p:nvPr/>
        </p:nvSpPr>
        <p:spPr>
          <a:xfrm>
            <a:off x="219456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x4</a:t>
            </a:r>
            <a:endParaRPr lang="it-IT" sz="850" b="0" u="none" strike="noStrike">
              <a:solidFill>
                <a:srgbClr val="000000"/>
              </a:solidFill>
              <a:effectLst/>
              <a:uFillTx/>
              <a:latin typeface="Arial"/>
            </a:endParaRPr>
          </a:p>
        </p:txBody>
      </p:sp>
      <p:sp>
        <p:nvSpPr>
          <p:cNvPr id="529" name="Shape 17"/>
          <p:cNvSpPr/>
          <p:nvPr/>
        </p:nvSpPr>
        <p:spPr>
          <a:xfrm>
            <a:off x="256032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0" name="Text 18"/>
          <p:cNvSpPr/>
          <p:nvPr/>
        </p:nvSpPr>
        <p:spPr>
          <a:xfrm>
            <a:off x="260604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x5</a:t>
            </a:r>
            <a:endParaRPr lang="it-IT" sz="850" b="0" u="none" strike="noStrike">
              <a:solidFill>
                <a:srgbClr val="000000"/>
              </a:solidFill>
              <a:effectLst/>
              <a:uFillTx/>
              <a:latin typeface="Arial"/>
            </a:endParaRPr>
          </a:p>
        </p:txBody>
      </p:sp>
      <p:sp>
        <p:nvSpPr>
          <p:cNvPr id="531" name="Shape 19"/>
          <p:cNvSpPr/>
          <p:nvPr/>
        </p:nvSpPr>
        <p:spPr>
          <a:xfrm>
            <a:off x="297180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2" name="Text 20"/>
          <p:cNvSpPr/>
          <p:nvPr/>
        </p:nvSpPr>
        <p:spPr>
          <a:xfrm>
            <a:off x="301752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x6</a:t>
            </a:r>
            <a:endParaRPr lang="it-IT" sz="850" b="0" u="none" strike="noStrike">
              <a:solidFill>
                <a:srgbClr val="000000"/>
              </a:solidFill>
              <a:effectLst/>
              <a:uFillTx/>
              <a:latin typeface="Arial"/>
            </a:endParaRPr>
          </a:p>
        </p:txBody>
      </p:sp>
      <p:sp>
        <p:nvSpPr>
          <p:cNvPr id="533" name="Shape 21"/>
          <p:cNvSpPr/>
          <p:nvPr/>
        </p:nvSpPr>
        <p:spPr>
          <a:xfrm>
            <a:off x="338328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4" name="Text 22"/>
          <p:cNvSpPr/>
          <p:nvPr/>
        </p:nvSpPr>
        <p:spPr>
          <a:xfrm>
            <a:off x="342900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x7</a:t>
            </a:r>
            <a:endParaRPr lang="it-IT" sz="850" b="0" u="none" strike="noStrike">
              <a:solidFill>
                <a:srgbClr val="000000"/>
              </a:solidFill>
              <a:effectLst/>
              <a:uFillTx/>
              <a:latin typeface="Arial"/>
            </a:endParaRPr>
          </a:p>
        </p:txBody>
      </p:sp>
      <p:sp>
        <p:nvSpPr>
          <p:cNvPr id="535" name="Shape 23"/>
          <p:cNvSpPr/>
          <p:nvPr/>
        </p:nvSpPr>
        <p:spPr>
          <a:xfrm>
            <a:off x="379476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6" name="Text 24"/>
          <p:cNvSpPr/>
          <p:nvPr/>
        </p:nvSpPr>
        <p:spPr>
          <a:xfrm>
            <a:off x="384048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x8</a:t>
            </a:r>
            <a:endParaRPr lang="it-IT" sz="850" b="0" u="none" strike="noStrike">
              <a:solidFill>
                <a:srgbClr val="000000"/>
              </a:solidFill>
              <a:effectLst/>
              <a:uFillTx/>
              <a:latin typeface="Arial"/>
            </a:endParaRPr>
          </a:p>
        </p:txBody>
      </p:sp>
      <p:sp>
        <p:nvSpPr>
          <p:cNvPr id="537" name="Shape 25"/>
          <p:cNvSpPr/>
          <p:nvPr/>
        </p:nvSpPr>
        <p:spPr>
          <a:xfrm>
            <a:off x="4206240" y="2121480"/>
            <a:ext cx="292320" cy="310680"/>
          </a:xfrm>
          <a:prstGeom prst="roundRect">
            <a:avLst>
              <a:gd name="adj" fmla="val 25000"/>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8" name="Text 26"/>
          <p:cNvSpPr/>
          <p:nvPr/>
        </p:nvSpPr>
        <p:spPr>
          <a:xfrm>
            <a:off x="425196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x9</a:t>
            </a:r>
            <a:endParaRPr lang="it-IT" sz="850" b="0" u="none" strike="noStrike">
              <a:solidFill>
                <a:srgbClr val="000000"/>
              </a:solidFill>
              <a:effectLst/>
              <a:uFillTx/>
              <a:latin typeface="Arial"/>
            </a:endParaRPr>
          </a:p>
        </p:txBody>
      </p:sp>
      <p:sp>
        <p:nvSpPr>
          <p:cNvPr id="539" name="Shape 27"/>
          <p:cNvSpPr/>
          <p:nvPr/>
        </p:nvSpPr>
        <p:spPr>
          <a:xfrm>
            <a:off x="1828800" y="1993320"/>
            <a:ext cx="1142640" cy="594000"/>
          </a:xfrm>
          <a:prstGeom prst="rect">
            <a:avLst/>
          </a:prstGeom>
          <a:solidFill>
            <a:srgbClr val="EAF2FE">
              <a:alpha val="75000"/>
            </a:srgbClr>
          </a:solidFill>
          <a:ln w="1778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0" name="Text 28"/>
          <p:cNvSpPr/>
          <p:nvPr/>
        </p:nvSpPr>
        <p:spPr>
          <a:xfrm>
            <a:off x="1874520" y="2788920"/>
            <a:ext cx="10512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kernel K=3</a:t>
            </a:r>
            <a:endParaRPr lang="it-IT" sz="850" b="0" u="none" strike="noStrike">
              <a:solidFill>
                <a:srgbClr val="000000"/>
              </a:solidFill>
              <a:effectLst/>
              <a:uFillTx/>
              <a:latin typeface="Arial"/>
            </a:endParaRPr>
          </a:p>
        </p:txBody>
      </p:sp>
      <p:sp>
        <p:nvSpPr>
          <p:cNvPr id="541" name="Shape 29"/>
          <p:cNvSpPr/>
          <p:nvPr/>
        </p:nvSpPr>
        <p:spPr>
          <a:xfrm>
            <a:off x="1280160" y="3840480"/>
            <a:ext cx="3108600" cy="658080"/>
          </a:xfrm>
          <a:prstGeom prst="roundRect">
            <a:avLst>
              <a:gd name="adj" fmla="val 11111"/>
            </a:avLst>
          </a:prstGeom>
          <a:solidFill>
            <a:srgbClr val="FFFFFF"/>
          </a:solidFill>
          <a:ln w="15240">
            <a:solidFill>
              <a:srgbClr val="2F80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2" name="Text 30"/>
          <p:cNvSpPr/>
          <p:nvPr/>
        </p:nvSpPr>
        <p:spPr>
          <a:xfrm>
            <a:off x="1325880" y="3877200"/>
            <a:ext cx="3017160" cy="585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fixed local pattern</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01828"/>
                </a:solidFill>
                <a:effectLst/>
                <a:uFillTx/>
                <a:latin typeface="Aptos"/>
              </a:rPr>
              <a:t>learned filter weights</a:t>
            </a:r>
            <a:endParaRPr lang="it-IT" sz="1100" b="0" u="none" strike="noStrike">
              <a:solidFill>
                <a:srgbClr val="000000"/>
              </a:solidFill>
              <a:effectLst/>
              <a:uFillTx/>
              <a:latin typeface="Arial"/>
            </a:endParaRPr>
          </a:p>
        </p:txBody>
      </p:sp>
      <p:sp>
        <p:nvSpPr>
          <p:cNvPr id="543" name="Shape 31"/>
          <p:cNvSpPr/>
          <p:nvPr/>
        </p:nvSpPr>
        <p:spPr>
          <a:xfrm>
            <a:off x="5577840" y="1143000"/>
            <a:ext cx="1828440" cy="456840"/>
          </a:xfrm>
          <a:prstGeom prst="roundRect">
            <a:avLst>
              <a:gd name="adj" fmla="val 16000"/>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4" name="Text 32"/>
          <p:cNvSpPr/>
          <p:nvPr/>
        </p:nvSpPr>
        <p:spPr>
          <a:xfrm>
            <a:off x="5623560" y="1179720"/>
            <a:ext cx="173700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01828"/>
                </a:solidFill>
                <a:effectLst/>
                <a:uFillTx/>
                <a:latin typeface="Aptos"/>
              </a:rPr>
              <a:t>Attention</a:t>
            </a:r>
            <a:endParaRPr lang="it-IT" sz="1300" b="0" u="none" strike="noStrike">
              <a:solidFill>
                <a:srgbClr val="000000"/>
              </a:solidFill>
              <a:effectLst/>
              <a:uFillTx/>
              <a:latin typeface="Arial"/>
            </a:endParaRPr>
          </a:p>
        </p:txBody>
      </p:sp>
      <p:sp>
        <p:nvSpPr>
          <p:cNvPr id="545" name="Shape 33"/>
          <p:cNvSpPr/>
          <p:nvPr/>
        </p:nvSpPr>
        <p:spPr>
          <a:xfrm>
            <a:off x="553212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6" name="Text 34"/>
          <p:cNvSpPr/>
          <p:nvPr/>
        </p:nvSpPr>
        <p:spPr>
          <a:xfrm>
            <a:off x="557784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x1</a:t>
            </a:r>
            <a:endParaRPr lang="it-IT" sz="850" b="0" u="none" strike="noStrike">
              <a:solidFill>
                <a:srgbClr val="000000"/>
              </a:solidFill>
              <a:effectLst/>
              <a:uFillTx/>
              <a:latin typeface="Arial"/>
            </a:endParaRPr>
          </a:p>
        </p:txBody>
      </p:sp>
      <p:sp>
        <p:nvSpPr>
          <p:cNvPr id="547" name="Shape 35"/>
          <p:cNvSpPr/>
          <p:nvPr/>
        </p:nvSpPr>
        <p:spPr>
          <a:xfrm>
            <a:off x="594360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8" name="Text 36"/>
          <p:cNvSpPr/>
          <p:nvPr/>
        </p:nvSpPr>
        <p:spPr>
          <a:xfrm>
            <a:off x="598932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x2</a:t>
            </a:r>
            <a:endParaRPr lang="it-IT" sz="850" b="0" u="none" strike="noStrike">
              <a:solidFill>
                <a:srgbClr val="000000"/>
              </a:solidFill>
              <a:effectLst/>
              <a:uFillTx/>
              <a:latin typeface="Arial"/>
            </a:endParaRPr>
          </a:p>
        </p:txBody>
      </p:sp>
      <p:sp>
        <p:nvSpPr>
          <p:cNvPr id="549" name="Shape 37"/>
          <p:cNvSpPr/>
          <p:nvPr/>
        </p:nvSpPr>
        <p:spPr>
          <a:xfrm>
            <a:off x="635508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0" name="Text 38"/>
          <p:cNvSpPr/>
          <p:nvPr/>
        </p:nvSpPr>
        <p:spPr>
          <a:xfrm>
            <a:off x="640080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x3</a:t>
            </a:r>
            <a:endParaRPr lang="it-IT" sz="850" b="0" u="none" strike="noStrike">
              <a:solidFill>
                <a:srgbClr val="000000"/>
              </a:solidFill>
              <a:effectLst/>
              <a:uFillTx/>
              <a:latin typeface="Arial"/>
            </a:endParaRPr>
          </a:p>
        </p:txBody>
      </p:sp>
      <p:sp>
        <p:nvSpPr>
          <p:cNvPr id="551" name="Shape 39"/>
          <p:cNvSpPr/>
          <p:nvPr/>
        </p:nvSpPr>
        <p:spPr>
          <a:xfrm>
            <a:off x="676656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2" name="Text 40"/>
          <p:cNvSpPr/>
          <p:nvPr/>
        </p:nvSpPr>
        <p:spPr>
          <a:xfrm>
            <a:off x="681228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x4</a:t>
            </a:r>
            <a:endParaRPr lang="it-IT" sz="850" b="0" u="none" strike="noStrike">
              <a:solidFill>
                <a:srgbClr val="000000"/>
              </a:solidFill>
              <a:effectLst/>
              <a:uFillTx/>
              <a:latin typeface="Arial"/>
            </a:endParaRPr>
          </a:p>
        </p:txBody>
      </p:sp>
      <p:sp>
        <p:nvSpPr>
          <p:cNvPr id="553" name="Shape 41"/>
          <p:cNvSpPr/>
          <p:nvPr/>
        </p:nvSpPr>
        <p:spPr>
          <a:xfrm>
            <a:off x="717804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4" name="Text 42"/>
          <p:cNvSpPr/>
          <p:nvPr/>
        </p:nvSpPr>
        <p:spPr>
          <a:xfrm>
            <a:off x="722376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x5</a:t>
            </a:r>
            <a:endParaRPr lang="it-IT" sz="850" b="0" u="none" strike="noStrike">
              <a:solidFill>
                <a:srgbClr val="000000"/>
              </a:solidFill>
              <a:effectLst/>
              <a:uFillTx/>
              <a:latin typeface="Arial"/>
            </a:endParaRPr>
          </a:p>
        </p:txBody>
      </p:sp>
      <p:sp>
        <p:nvSpPr>
          <p:cNvPr id="555" name="Shape 43"/>
          <p:cNvSpPr/>
          <p:nvPr/>
        </p:nvSpPr>
        <p:spPr>
          <a:xfrm>
            <a:off x="758952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6" name="Text 44"/>
          <p:cNvSpPr/>
          <p:nvPr/>
        </p:nvSpPr>
        <p:spPr>
          <a:xfrm>
            <a:off x="763524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x6</a:t>
            </a:r>
            <a:endParaRPr lang="it-IT" sz="850" b="0" u="none" strike="noStrike">
              <a:solidFill>
                <a:srgbClr val="000000"/>
              </a:solidFill>
              <a:effectLst/>
              <a:uFillTx/>
              <a:latin typeface="Arial"/>
            </a:endParaRPr>
          </a:p>
        </p:txBody>
      </p:sp>
      <p:sp>
        <p:nvSpPr>
          <p:cNvPr id="557" name="Shape 45"/>
          <p:cNvSpPr/>
          <p:nvPr/>
        </p:nvSpPr>
        <p:spPr>
          <a:xfrm>
            <a:off x="800100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8" name="Text 46"/>
          <p:cNvSpPr/>
          <p:nvPr/>
        </p:nvSpPr>
        <p:spPr>
          <a:xfrm>
            <a:off x="804672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x7</a:t>
            </a:r>
            <a:endParaRPr lang="it-IT" sz="850" b="0" u="none" strike="noStrike">
              <a:solidFill>
                <a:srgbClr val="000000"/>
              </a:solidFill>
              <a:effectLst/>
              <a:uFillTx/>
              <a:latin typeface="Arial"/>
            </a:endParaRPr>
          </a:p>
        </p:txBody>
      </p:sp>
      <p:sp>
        <p:nvSpPr>
          <p:cNvPr id="559" name="Shape 47"/>
          <p:cNvSpPr/>
          <p:nvPr/>
        </p:nvSpPr>
        <p:spPr>
          <a:xfrm>
            <a:off x="841248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0" name="Text 48"/>
          <p:cNvSpPr/>
          <p:nvPr/>
        </p:nvSpPr>
        <p:spPr>
          <a:xfrm>
            <a:off x="845820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x8</a:t>
            </a:r>
            <a:endParaRPr lang="it-IT" sz="850" b="0" u="none" strike="noStrike">
              <a:solidFill>
                <a:srgbClr val="000000"/>
              </a:solidFill>
              <a:effectLst/>
              <a:uFillTx/>
              <a:latin typeface="Arial"/>
            </a:endParaRPr>
          </a:p>
        </p:txBody>
      </p:sp>
      <p:sp>
        <p:nvSpPr>
          <p:cNvPr id="561" name="Shape 49"/>
          <p:cNvSpPr/>
          <p:nvPr/>
        </p:nvSpPr>
        <p:spPr>
          <a:xfrm>
            <a:off x="8823960" y="2121480"/>
            <a:ext cx="292320" cy="310680"/>
          </a:xfrm>
          <a:prstGeom prst="roundRect">
            <a:avLst>
              <a:gd name="adj" fmla="val 25000"/>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2" name="Text 50"/>
          <p:cNvSpPr/>
          <p:nvPr/>
        </p:nvSpPr>
        <p:spPr>
          <a:xfrm>
            <a:off x="8869680" y="2157840"/>
            <a:ext cx="2008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x9</a:t>
            </a:r>
            <a:endParaRPr lang="it-IT" sz="850" b="0" u="none" strike="noStrike">
              <a:solidFill>
                <a:srgbClr val="000000"/>
              </a:solidFill>
              <a:effectLst/>
              <a:uFillTx/>
              <a:latin typeface="Arial"/>
            </a:endParaRPr>
          </a:p>
        </p:txBody>
      </p:sp>
      <p:sp>
        <p:nvSpPr>
          <p:cNvPr id="563" name="Shape 51"/>
          <p:cNvSpPr/>
          <p:nvPr/>
        </p:nvSpPr>
        <p:spPr>
          <a:xfrm>
            <a:off x="7086600" y="3337560"/>
            <a:ext cx="456840" cy="456840"/>
          </a:xfrm>
          <a:prstGeom prst="ellipse">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4" name="Text 52"/>
          <p:cNvSpPr/>
          <p:nvPr/>
        </p:nvSpPr>
        <p:spPr>
          <a:xfrm>
            <a:off x="7086600" y="3355920"/>
            <a:ext cx="45684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101828"/>
                </a:solidFill>
                <a:effectLst/>
                <a:uFillTx/>
                <a:latin typeface="Aptos"/>
              </a:rPr>
              <a:t>t</a:t>
            </a:r>
            <a:endParaRPr lang="it-IT" sz="900" b="0" u="none" strike="noStrike">
              <a:solidFill>
                <a:srgbClr val="000000"/>
              </a:solidFill>
              <a:effectLst/>
              <a:uFillTx/>
              <a:latin typeface="Arial"/>
            </a:endParaRPr>
          </a:p>
        </p:txBody>
      </p:sp>
      <p:sp>
        <p:nvSpPr>
          <p:cNvPr id="565" name="Shape 53"/>
          <p:cNvSpPr/>
          <p:nvPr/>
        </p:nvSpPr>
        <p:spPr>
          <a:xfrm flipH="1" flipV="1">
            <a:off x="5678280" y="2432160"/>
            <a:ext cx="1636920" cy="9054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66" name="Shape 54"/>
          <p:cNvSpPr/>
          <p:nvPr/>
        </p:nvSpPr>
        <p:spPr>
          <a:xfrm flipH="1" flipV="1">
            <a:off x="6501240" y="2432160"/>
            <a:ext cx="813960" cy="9054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67" name="Shape 55"/>
          <p:cNvSpPr/>
          <p:nvPr/>
        </p:nvSpPr>
        <p:spPr>
          <a:xfrm flipV="1">
            <a:off x="7315200" y="2432160"/>
            <a:ext cx="9000" cy="9054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68" name="Shape 56"/>
          <p:cNvSpPr/>
          <p:nvPr/>
        </p:nvSpPr>
        <p:spPr>
          <a:xfrm flipV="1">
            <a:off x="7315200" y="2432160"/>
            <a:ext cx="1243440" cy="905400"/>
          </a:xfrm>
          <a:prstGeom prst="line">
            <a:avLst/>
          </a:prstGeom>
          <a:ln w="2540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69" name="Shape 57"/>
          <p:cNvSpPr/>
          <p:nvPr/>
        </p:nvSpPr>
        <p:spPr>
          <a:xfrm flipV="1">
            <a:off x="7315200" y="2432160"/>
            <a:ext cx="1654920" cy="905400"/>
          </a:xfrm>
          <a:prstGeom prst="line">
            <a:avLst/>
          </a:prstGeom>
          <a:ln w="1397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70" name="Shape 58"/>
          <p:cNvSpPr/>
          <p:nvPr/>
        </p:nvSpPr>
        <p:spPr>
          <a:xfrm>
            <a:off x="6080760" y="3840480"/>
            <a:ext cx="3154320" cy="658080"/>
          </a:xfrm>
          <a:prstGeom prst="roundRect">
            <a:avLst>
              <a:gd name="adj" fmla="val 11111"/>
            </a:avLst>
          </a:prstGeom>
          <a:solidFill>
            <a:srgbClr val="FFFFFF"/>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1" name="Text 59"/>
          <p:cNvSpPr/>
          <p:nvPr/>
        </p:nvSpPr>
        <p:spPr>
          <a:xfrm>
            <a:off x="6126480" y="3877200"/>
            <a:ext cx="3062880" cy="585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01828"/>
                </a:solidFill>
                <a:effectLst/>
                <a:uFillTx/>
                <a:latin typeface="Aptos"/>
              </a:rPr>
              <a:t>input-dependent weights</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01828"/>
                </a:solidFill>
                <a:effectLst/>
                <a:uFillTx/>
                <a:latin typeface="Aptos"/>
              </a:rPr>
              <a:t>over many positions</a:t>
            </a:r>
            <a:endParaRPr lang="it-IT" sz="1100" b="0" u="none" strike="noStrike">
              <a:solidFill>
                <a:srgbClr val="000000"/>
              </a:solidFill>
              <a:effectLst/>
              <a:uFillTx/>
              <a:latin typeface="Arial"/>
            </a:endParaRPr>
          </a:p>
        </p:txBody>
      </p:sp>
      <p:sp>
        <p:nvSpPr>
          <p:cNvPr id="572" name="Text 60"/>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i="1" u="none" strike="noStrike" dirty="0">
                <a:solidFill>
                  <a:srgbClr val="475467"/>
                </a:solidFill>
                <a:effectLst/>
                <a:uFillTx/>
                <a:latin typeface="Aptos"/>
              </a:rPr>
              <a:t>Convolution has a strong </a:t>
            </a:r>
            <a:r>
              <a:rPr lang="en-US" sz="1000" b="1" i="1" u="none" strike="noStrike" dirty="0">
                <a:solidFill>
                  <a:srgbClr val="475467"/>
                </a:solidFill>
                <a:effectLst/>
                <a:uFillTx/>
                <a:latin typeface="Aptos"/>
              </a:rPr>
              <a:t>local inductive bias</a:t>
            </a:r>
            <a:r>
              <a:rPr lang="en-US" sz="1000" b="0" i="1" u="none" strike="noStrike" dirty="0">
                <a:solidFill>
                  <a:srgbClr val="475467"/>
                </a:solidFill>
                <a:effectLst/>
                <a:uFillTx/>
                <a:latin typeface="Aptos"/>
              </a:rPr>
              <a:t>; attention is more flexible but potentially more costly.</a:t>
            </a:r>
            <a:endParaRPr lang="it-IT" sz="1000" b="0" u="none" strike="noStrike" dirty="0">
              <a:solidFill>
                <a:srgbClr val="000000"/>
              </a:solidFill>
              <a:effectLst/>
              <a:uFillTx/>
              <a:latin typeface="Arial"/>
            </a:endParaRPr>
          </a:p>
        </p:txBody>
      </p:sp>
      <p:sp>
        <p:nvSpPr>
          <p:cNvPr id="3" name="CasellaDiTesto 2">
            <a:extLst>
              <a:ext uri="{FF2B5EF4-FFF2-40B4-BE49-F238E27FC236}">
                <a16:creationId xmlns:a16="http://schemas.microsoft.com/office/drawing/2014/main" id="{FEAC5901-20FA-DD45-8052-E5A4CCED4992}"/>
              </a:ext>
            </a:extLst>
          </p:cNvPr>
          <p:cNvSpPr txBox="1"/>
          <p:nvPr/>
        </p:nvSpPr>
        <p:spPr>
          <a:xfrm>
            <a:off x="6007320" y="5803761"/>
            <a:ext cx="6099242" cy="276999"/>
          </a:xfrm>
          <a:prstGeom prst="rect">
            <a:avLst/>
          </a:prstGeom>
          <a:noFill/>
        </p:spPr>
        <p:txBody>
          <a:bodyPr wrap="square">
            <a:spAutoFit/>
          </a:bodyPr>
          <a:lstStyle/>
          <a:p>
            <a:r>
              <a:rPr lang="en-GB" sz="1200" dirty="0"/>
              <a:t>deriving a general rule or prediction from specific observed examples</a:t>
            </a:r>
          </a:p>
        </p:txBody>
      </p:sp>
      <p:cxnSp>
        <p:nvCxnSpPr>
          <p:cNvPr id="5" name="Connettore 2 4">
            <a:extLst>
              <a:ext uri="{FF2B5EF4-FFF2-40B4-BE49-F238E27FC236}">
                <a16:creationId xmlns:a16="http://schemas.microsoft.com/office/drawing/2014/main" id="{F597517E-BCBC-77A6-301C-C31E9D2687B3}"/>
              </a:ext>
            </a:extLst>
          </p:cNvPr>
          <p:cNvCxnSpPr/>
          <p:nvPr/>
        </p:nvCxnSpPr>
        <p:spPr>
          <a:xfrm flipV="1">
            <a:off x="2706480" y="5943600"/>
            <a:ext cx="311796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4E6DDF2-39A6-40AA-518F-130F5EF49EFB}"/>
              </a:ext>
            </a:extLst>
          </p:cNvPr>
          <p:cNvSpPr>
            <a:spLocks noGrp="1"/>
          </p:cNvSpPr>
          <p:nvPr>
            <p:ph type="title"/>
          </p:nvPr>
        </p:nvSpPr>
        <p:spPr/>
        <p:txBody>
          <a:bodyPr/>
          <a:lstStyle/>
          <a:p>
            <a:r>
              <a:rPr lang="en-GB" dirty="0"/>
              <a:t>Attention does not yet know temporal order</a:t>
            </a:r>
          </a:p>
        </p:txBody>
      </p:sp>
      <p:sp>
        <p:nvSpPr>
          <p:cNvPr id="3" name="Segnaposto contenuto 2">
            <a:extLst>
              <a:ext uri="{FF2B5EF4-FFF2-40B4-BE49-F238E27FC236}">
                <a16:creationId xmlns:a16="http://schemas.microsoft.com/office/drawing/2014/main" id="{6F92AE78-FA5E-B9BB-060A-C12AC13090E7}"/>
              </a:ext>
            </a:extLst>
          </p:cNvPr>
          <p:cNvSpPr>
            <a:spLocks noGrp="1"/>
          </p:cNvSpPr>
          <p:nvPr>
            <p:ph idx="1"/>
          </p:nvPr>
        </p:nvSpPr>
        <p:spPr/>
        <p:txBody>
          <a:bodyPr>
            <a:normAutofit fontScale="77500" lnSpcReduction="20000"/>
          </a:bodyPr>
          <a:lstStyle/>
          <a:p>
            <a:r>
              <a:rPr lang="en-GB" dirty="0"/>
              <a:t>Suppose the input consists of representations: x[1], x[2], x[3], x[4]</a:t>
            </a:r>
          </a:p>
          <a:p>
            <a:r>
              <a:rPr lang="en-GB" dirty="0"/>
              <a:t>Self-attention compares their content.</a:t>
            </a:r>
          </a:p>
          <a:p>
            <a:r>
              <a:rPr lang="en-GB" dirty="0"/>
              <a:t>But the attention mechanism itself does not inherently provide enough information about whether: x[1] occurred before: x[4] or how far apart the positions are.</a:t>
            </a:r>
          </a:p>
          <a:p>
            <a:r>
              <a:rPr lang="en-GB" b="1" dirty="0"/>
              <a:t>This creates an important problem for temporal data</a:t>
            </a:r>
          </a:p>
          <a:p>
            <a:r>
              <a:rPr lang="en-GB" dirty="0"/>
              <a:t>Order matters.</a:t>
            </a:r>
          </a:p>
          <a:p>
            <a:r>
              <a:rPr lang="en-GB" dirty="0"/>
              <a:t>For example:</a:t>
            </a:r>
          </a:p>
          <a:p>
            <a:pPr lvl="1"/>
            <a:r>
              <a:rPr lang="en-GB" dirty="0"/>
              <a:t>temperature rises → pressure rises</a:t>
            </a:r>
          </a:p>
          <a:p>
            <a:pPr lvl="1"/>
            <a:r>
              <a:rPr lang="en-GB" dirty="0"/>
              <a:t>is different from:</a:t>
            </a:r>
          </a:p>
          <a:p>
            <a:pPr lvl="1"/>
            <a:r>
              <a:rPr lang="en-GB" dirty="0"/>
              <a:t>pressure rises → temperature rises</a:t>
            </a:r>
          </a:p>
          <a:p>
            <a:r>
              <a:rPr lang="en-GB" b="1" dirty="0"/>
              <a:t>Therefore</a:t>
            </a:r>
          </a:p>
          <a:p>
            <a:r>
              <a:rPr lang="en-GB" b="1" dirty="0"/>
              <a:t>Temporal position must be represented explicitly.</a:t>
            </a:r>
          </a:p>
          <a:p>
            <a:r>
              <a:rPr lang="en-GB" dirty="0"/>
              <a:t>This will lead to: </a:t>
            </a:r>
            <a:r>
              <a:rPr lang="en-GB" b="1" dirty="0"/>
              <a:t>positional information (</a:t>
            </a:r>
            <a:r>
              <a:rPr lang="en-GB" dirty="0"/>
              <a:t>after introducing self-attention over the complete sequence).</a:t>
            </a:r>
          </a:p>
          <a:p>
            <a:endParaRPr lang="en-GB" dirty="0"/>
          </a:p>
        </p:txBody>
      </p:sp>
    </p:spTree>
    <p:extLst>
      <p:ext uri="{BB962C8B-B14F-4D97-AF65-F5344CB8AC3E}">
        <p14:creationId xmlns:p14="http://schemas.microsoft.com/office/powerpoint/2010/main" val="3801335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Shape 0"/>
          <p:cNvSpPr/>
          <p:nvPr/>
        </p:nvSpPr>
        <p:spPr>
          <a:xfrm>
            <a:off x="10561320" y="0"/>
            <a:ext cx="1627200" cy="6857640"/>
          </a:xfrm>
          <a:prstGeom prst="rect">
            <a:avLst/>
          </a:prstGeom>
          <a:solidFill>
            <a:srgbClr val="9BD22F">
              <a:alpha val="92000"/>
            </a:srgbClr>
          </a:solidFill>
          <a:ln w="12700">
            <a:solidFill>
              <a:srgbClr val="9BD22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4" name="Shape 1"/>
          <p:cNvSpPr/>
          <p:nvPr/>
        </p:nvSpPr>
        <p:spPr>
          <a:xfrm>
            <a:off x="10012680" y="0"/>
            <a:ext cx="1142640" cy="6857640"/>
          </a:xfrm>
          <a:prstGeom prst="trapezoid">
            <a:avLst>
              <a:gd name="adj" fmla="val 25000"/>
            </a:avLst>
          </a:prstGeom>
          <a:solidFill>
            <a:srgbClr val="4E7D2A">
              <a:alpha val="80000"/>
            </a:srgbClr>
          </a:solidFill>
          <a:ln w="12700">
            <a:solidFill>
              <a:srgbClr val="4E7D2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575" name="Shape 2"/>
          <p:cNvSpPr/>
          <p:nvPr/>
        </p:nvSpPr>
        <p:spPr>
          <a:xfrm>
            <a:off x="9646920" y="2743200"/>
            <a:ext cx="1645560" cy="4114440"/>
          </a:xfrm>
          <a:prstGeom prst="trapezoid">
            <a:avLst>
              <a:gd name="adj" fmla="val 25000"/>
            </a:avLst>
          </a:prstGeom>
          <a:solidFill>
            <a:srgbClr val="BDEB6C">
              <a:alpha val="65000"/>
            </a:srgbClr>
          </a:solidFill>
          <a:ln w="12700">
            <a:solidFill>
              <a:srgbClr val="BDEB6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6" name="Shape 3"/>
          <p:cNvSpPr/>
          <p:nvPr/>
        </p:nvSpPr>
        <p:spPr>
          <a:xfrm>
            <a:off x="9555480" y="0"/>
            <a:ext cx="731520" cy="6858000"/>
          </a:xfrm>
          <a:prstGeom prst="line">
            <a:avLst/>
          </a:prstGeom>
          <a:ln w="12700">
            <a:solidFill>
              <a:srgbClr val="D0D5DD">
                <a:alpha val="4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77" name="Text 4"/>
          <p:cNvSpPr/>
          <p:nvPr/>
        </p:nvSpPr>
        <p:spPr>
          <a:xfrm>
            <a:off x="594360" y="347400"/>
            <a:ext cx="89607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101828"/>
                </a:solidFill>
                <a:effectLst/>
                <a:uFillTx/>
                <a:latin typeface="Aptos Display"/>
                <a:ea typeface="Aptos Display"/>
              </a:rPr>
              <a:t>Attention needs positional information</a:t>
            </a:r>
            <a:endParaRPr lang="it-IT" sz="2200" b="0" u="none" strike="noStrike">
              <a:solidFill>
                <a:srgbClr val="000000"/>
              </a:solidFill>
              <a:effectLst/>
              <a:uFillTx/>
              <a:latin typeface="Arial"/>
            </a:endParaRPr>
          </a:p>
        </p:txBody>
      </p:sp>
      <p:sp>
        <p:nvSpPr>
          <p:cNvPr id="578" name="Text 5"/>
          <p:cNvSpPr/>
          <p:nvPr/>
        </p:nvSpPr>
        <p:spPr>
          <a:xfrm>
            <a:off x="603360" y="841320"/>
            <a:ext cx="8960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a:solidFill>
                  <a:srgbClr val="475467"/>
                </a:solidFill>
                <a:effectLst/>
                <a:uFillTx/>
                <a:latin typeface="Aptos"/>
              </a:rPr>
              <a:t>Self-attention compares contents, but temporal order must be represented</a:t>
            </a:r>
            <a:endParaRPr lang="it-IT" sz="1050" b="0" u="none" strike="noStrike">
              <a:solidFill>
                <a:srgbClr val="000000"/>
              </a:solidFill>
              <a:effectLst/>
              <a:uFillTx/>
              <a:latin typeface="Arial"/>
            </a:endParaRPr>
          </a:p>
        </p:txBody>
      </p:sp>
      <p:grpSp>
        <p:nvGrpSpPr>
          <p:cNvPr id="2" name="Gruppo 1">
            <a:extLst>
              <a:ext uri="{FF2B5EF4-FFF2-40B4-BE49-F238E27FC236}">
                <a16:creationId xmlns:a16="http://schemas.microsoft.com/office/drawing/2014/main" id="{D0D30345-9B70-DAAF-B6B1-DAD2D8B0633D}"/>
              </a:ext>
            </a:extLst>
          </p:cNvPr>
          <p:cNvGrpSpPr/>
          <p:nvPr/>
        </p:nvGrpSpPr>
        <p:grpSpPr>
          <a:xfrm>
            <a:off x="3762720" y="1328668"/>
            <a:ext cx="2742840" cy="475200"/>
            <a:chOff x="822960" y="1051560"/>
            <a:chExt cx="2742840" cy="475200"/>
          </a:xfrm>
        </p:grpSpPr>
        <p:sp>
          <p:nvSpPr>
            <p:cNvPr id="579" name="Shape 6"/>
            <p:cNvSpPr/>
            <p:nvPr/>
          </p:nvSpPr>
          <p:spPr>
            <a:xfrm>
              <a:off x="822960" y="1051560"/>
              <a:ext cx="2742840" cy="475200"/>
            </a:xfrm>
            <a:prstGeom prst="roundRect">
              <a:avLst>
                <a:gd name="adj" fmla="val 15385"/>
              </a:avLst>
            </a:prstGeom>
            <a:solidFill>
              <a:srgbClr val="FDECEC"/>
            </a:solidFill>
            <a:ln w="15240">
              <a:solidFill>
                <a:srgbClr val="EB57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0" name="Text 7"/>
            <p:cNvSpPr/>
            <p:nvPr/>
          </p:nvSpPr>
          <p:spPr>
            <a:xfrm>
              <a:off x="868680" y="1088280"/>
              <a:ext cx="26514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dirty="0">
                  <a:solidFill>
                    <a:srgbClr val="101828"/>
                  </a:solidFill>
                  <a:effectLst/>
                  <a:uFillTx/>
                  <a:latin typeface="Aptos"/>
                </a:rPr>
                <a:t>Same contents, different order</a:t>
              </a:r>
              <a:endParaRPr lang="it-IT" sz="1200" b="0" u="none" strike="noStrike" dirty="0">
                <a:solidFill>
                  <a:srgbClr val="000000"/>
                </a:solidFill>
                <a:effectLst/>
                <a:uFillTx/>
                <a:latin typeface="Arial"/>
              </a:endParaRPr>
            </a:p>
          </p:txBody>
        </p:sp>
      </p:grpSp>
      <p:sp>
        <p:nvSpPr>
          <p:cNvPr id="581" name="Text 8"/>
          <p:cNvSpPr/>
          <p:nvPr/>
        </p:nvSpPr>
        <p:spPr>
          <a:xfrm>
            <a:off x="1156860" y="2688840"/>
            <a:ext cx="100548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Sequence A</a:t>
            </a:r>
            <a:endParaRPr lang="it-IT" sz="850" b="0" u="none" strike="noStrike">
              <a:solidFill>
                <a:srgbClr val="000000"/>
              </a:solidFill>
              <a:effectLst/>
              <a:uFillTx/>
              <a:latin typeface="Arial"/>
            </a:endParaRPr>
          </a:p>
        </p:txBody>
      </p:sp>
      <p:sp>
        <p:nvSpPr>
          <p:cNvPr id="582" name="Shape 9"/>
          <p:cNvSpPr/>
          <p:nvPr/>
        </p:nvSpPr>
        <p:spPr>
          <a:xfrm>
            <a:off x="2162700" y="2551680"/>
            <a:ext cx="1142640" cy="475200"/>
          </a:xfrm>
          <a:prstGeom prst="roundRect">
            <a:avLst>
              <a:gd name="adj" fmla="val 15385"/>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3" name="Text 10"/>
          <p:cNvSpPr/>
          <p:nvPr/>
        </p:nvSpPr>
        <p:spPr>
          <a:xfrm>
            <a:off x="2208420" y="2588400"/>
            <a:ext cx="10512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temperature rises</a:t>
            </a:r>
            <a:endParaRPr lang="it-IT" sz="850" b="0" u="none" strike="noStrike">
              <a:solidFill>
                <a:srgbClr val="000000"/>
              </a:solidFill>
              <a:effectLst/>
              <a:uFillTx/>
              <a:latin typeface="Arial"/>
            </a:endParaRPr>
          </a:p>
        </p:txBody>
      </p:sp>
      <p:sp>
        <p:nvSpPr>
          <p:cNvPr id="584" name="Shape 11"/>
          <p:cNvSpPr/>
          <p:nvPr/>
        </p:nvSpPr>
        <p:spPr>
          <a:xfrm>
            <a:off x="3580020" y="2551680"/>
            <a:ext cx="1142640" cy="475200"/>
          </a:xfrm>
          <a:prstGeom prst="roundRect">
            <a:avLst>
              <a:gd name="adj" fmla="val 15385"/>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5" name="Text 12"/>
          <p:cNvSpPr/>
          <p:nvPr/>
        </p:nvSpPr>
        <p:spPr>
          <a:xfrm>
            <a:off x="3625740" y="2588400"/>
            <a:ext cx="10512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0" u="none" strike="noStrike">
                <a:solidFill>
                  <a:srgbClr val="101828"/>
                </a:solidFill>
                <a:effectLst/>
                <a:uFillTx/>
                <a:latin typeface="Aptos"/>
              </a:rPr>
              <a:t>then</a:t>
            </a:r>
            <a:endParaRPr lang="it-IT" sz="850" b="0" u="none" strike="noStrike">
              <a:solidFill>
                <a:srgbClr val="000000"/>
              </a:solidFill>
              <a:effectLst/>
              <a:uFillTx/>
              <a:latin typeface="Arial"/>
            </a:endParaRPr>
          </a:p>
        </p:txBody>
      </p:sp>
      <p:sp>
        <p:nvSpPr>
          <p:cNvPr id="586" name="Shape 13"/>
          <p:cNvSpPr/>
          <p:nvPr/>
        </p:nvSpPr>
        <p:spPr>
          <a:xfrm>
            <a:off x="4997340" y="2551680"/>
            <a:ext cx="1142640" cy="475200"/>
          </a:xfrm>
          <a:prstGeom prst="roundRect">
            <a:avLst>
              <a:gd name="adj" fmla="val 15385"/>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7" name="Text 14"/>
          <p:cNvSpPr/>
          <p:nvPr/>
        </p:nvSpPr>
        <p:spPr>
          <a:xfrm>
            <a:off x="5043060" y="2588400"/>
            <a:ext cx="10512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pressure rises</a:t>
            </a:r>
            <a:endParaRPr lang="it-IT" sz="850" b="0" u="none" strike="noStrike">
              <a:solidFill>
                <a:srgbClr val="000000"/>
              </a:solidFill>
              <a:effectLst/>
              <a:uFillTx/>
              <a:latin typeface="Arial"/>
            </a:endParaRPr>
          </a:p>
        </p:txBody>
      </p:sp>
      <p:sp>
        <p:nvSpPr>
          <p:cNvPr id="588" name="Shape 15"/>
          <p:cNvSpPr/>
          <p:nvPr/>
        </p:nvSpPr>
        <p:spPr>
          <a:xfrm>
            <a:off x="3305700" y="2789280"/>
            <a:ext cx="246600" cy="360"/>
          </a:xfrm>
          <a:prstGeom prst="line">
            <a:avLst/>
          </a:prstGeom>
          <a:ln w="1270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89" name="Shape 16"/>
          <p:cNvSpPr/>
          <p:nvPr/>
        </p:nvSpPr>
        <p:spPr>
          <a:xfrm>
            <a:off x="4723020" y="2789280"/>
            <a:ext cx="246600" cy="360"/>
          </a:xfrm>
          <a:prstGeom prst="line">
            <a:avLst/>
          </a:prstGeom>
          <a:ln w="1270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90" name="Text 17"/>
          <p:cNvSpPr/>
          <p:nvPr/>
        </p:nvSpPr>
        <p:spPr>
          <a:xfrm>
            <a:off x="1156860" y="3740400"/>
            <a:ext cx="100548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50" b="0" u="none" strike="noStrike">
                <a:solidFill>
                  <a:srgbClr val="475467"/>
                </a:solidFill>
                <a:effectLst/>
                <a:uFillTx/>
                <a:latin typeface="Aptos"/>
                <a:ea typeface="Aptos"/>
              </a:rPr>
              <a:t>Sequence B</a:t>
            </a:r>
            <a:endParaRPr lang="it-IT" sz="850" b="0" u="none" strike="noStrike">
              <a:solidFill>
                <a:srgbClr val="000000"/>
              </a:solidFill>
              <a:effectLst/>
              <a:uFillTx/>
              <a:latin typeface="Arial"/>
            </a:endParaRPr>
          </a:p>
        </p:txBody>
      </p:sp>
      <p:sp>
        <p:nvSpPr>
          <p:cNvPr id="591" name="Shape 18"/>
          <p:cNvSpPr/>
          <p:nvPr/>
        </p:nvSpPr>
        <p:spPr>
          <a:xfrm>
            <a:off x="2162700" y="3603240"/>
            <a:ext cx="1142640" cy="475200"/>
          </a:xfrm>
          <a:prstGeom prst="roundRect">
            <a:avLst>
              <a:gd name="adj" fmla="val 15385"/>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2" name="Text 19"/>
          <p:cNvSpPr/>
          <p:nvPr/>
        </p:nvSpPr>
        <p:spPr>
          <a:xfrm>
            <a:off x="2208420" y="3639960"/>
            <a:ext cx="10512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pressure rises</a:t>
            </a:r>
            <a:endParaRPr lang="it-IT" sz="850" b="0" u="none" strike="noStrike">
              <a:solidFill>
                <a:srgbClr val="000000"/>
              </a:solidFill>
              <a:effectLst/>
              <a:uFillTx/>
              <a:latin typeface="Arial"/>
            </a:endParaRPr>
          </a:p>
        </p:txBody>
      </p:sp>
      <p:sp>
        <p:nvSpPr>
          <p:cNvPr id="593" name="Shape 20"/>
          <p:cNvSpPr/>
          <p:nvPr/>
        </p:nvSpPr>
        <p:spPr>
          <a:xfrm>
            <a:off x="3580020" y="3603240"/>
            <a:ext cx="1142640" cy="475200"/>
          </a:xfrm>
          <a:prstGeom prst="roundRect">
            <a:avLst>
              <a:gd name="adj" fmla="val 15385"/>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4" name="Text 21"/>
          <p:cNvSpPr/>
          <p:nvPr/>
        </p:nvSpPr>
        <p:spPr>
          <a:xfrm>
            <a:off x="3625740" y="3639960"/>
            <a:ext cx="10512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0" u="none" strike="noStrike">
                <a:solidFill>
                  <a:srgbClr val="101828"/>
                </a:solidFill>
                <a:effectLst/>
                <a:uFillTx/>
                <a:latin typeface="Aptos"/>
              </a:rPr>
              <a:t>then</a:t>
            </a:r>
            <a:endParaRPr lang="it-IT" sz="850" b="0" u="none" strike="noStrike">
              <a:solidFill>
                <a:srgbClr val="000000"/>
              </a:solidFill>
              <a:effectLst/>
              <a:uFillTx/>
              <a:latin typeface="Arial"/>
            </a:endParaRPr>
          </a:p>
        </p:txBody>
      </p:sp>
      <p:sp>
        <p:nvSpPr>
          <p:cNvPr id="595" name="Shape 22"/>
          <p:cNvSpPr/>
          <p:nvPr/>
        </p:nvSpPr>
        <p:spPr>
          <a:xfrm>
            <a:off x="4997340" y="3603240"/>
            <a:ext cx="1142640" cy="475200"/>
          </a:xfrm>
          <a:prstGeom prst="roundRect">
            <a:avLst>
              <a:gd name="adj" fmla="val 15385"/>
            </a:avLst>
          </a:prstGeom>
          <a:solidFill>
            <a:srgbClr val="FFF2E8"/>
          </a:solidFill>
          <a:ln w="1524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6" name="Text 23"/>
          <p:cNvSpPr/>
          <p:nvPr/>
        </p:nvSpPr>
        <p:spPr>
          <a:xfrm>
            <a:off x="5043060" y="3639960"/>
            <a:ext cx="105120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50" b="1" u="none" strike="noStrike">
                <a:solidFill>
                  <a:srgbClr val="101828"/>
                </a:solidFill>
                <a:effectLst/>
                <a:uFillTx/>
                <a:latin typeface="Aptos"/>
              </a:rPr>
              <a:t>temperature rises</a:t>
            </a:r>
            <a:endParaRPr lang="it-IT" sz="850" b="0" u="none" strike="noStrike">
              <a:solidFill>
                <a:srgbClr val="000000"/>
              </a:solidFill>
              <a:effectLst/>
              <a:uFillTx/>
              <a:latin typeface="Arial"/>
            </a:endParaRPr>
          </a:p>
        </p:txBody>
      </p:sp>
      <p:sp>
        <p:nvSpPr>
          <p:cNvPr id="597" name="Shape 24"/>
          <p:cNvSpPr/>
          <p:nvPr/>
        </p:nvSpPr>
        <p:spPr>
          <a:xfrm>
            <a:off x="3305700" y="3840840"/>
            <a:ext cx="246600" cy="360"/>
          </a:xfrm>
          <a:prstGeom prst="line">
            <a:avLst/>
          </a:prstGeom>
          <a:ln w="1270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98" name="Shape 25"/>
          <p:cNvSpPr/>
          <p:nvPr/>
        </p:nvSpPr>
        <p:spPr>
          <a:xfrm>
            <a:off x="4723020" y="3840840"/>
            <a:ext cx="246600" cy="360"/>
          </a:xfrm>
          <a:prstGeom prst="line">
            <a:avLst/>
          </a:prstGeom>
          <a:ln w="12700">
            <a:solidFill>
              <a:srgbClr val="D0D5D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99" name="Shape 26"/>
          <p:cNvSpPr/>
          <p:nvPr/>
        </p:nvSpPr>
        <p:spPr>
          <a:xfrm>
            <a:off x="2757060" y="4883400"/>
            <a:ext cx="2377080" cy="502560"/>
          </a:xfrm>
          <a:prstGeom prst="roundRect">
            <a:avLst>
              <a:gd name="adj" fmla="val 14545"/>
            </a:avLst>
          </a:prstGeom>
          <a:solidFill>
            <a:srgbClr val="F4EAFE"/>
          </a:solidFill>
          <a:ln w="15240">
            <a:solidFill>
              <a:srgbClr val="9B51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0" name="Text 27"/>
          <p:cNvSpPr/>
          <p:nvPr/>
        </p:nvSpPr>
        <p:spPr>
          <a:xfrm>
            <a:off x="2802780" y="4920120"/>
            <a:ext cx="2285640" cy="429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01828"/>
                </a:solidFill>
                <a:effectLst/>
                <a:uFillTx/>
                <a:latin typeface="Aptos"/>
              </a:rPr>
              <a:t>order changes meaning</a:t>
            </a:r>
            <a:endParaRPr lang="it-IT" sz="1200" b="0" u="none" strike="noStrike">
              <a:solidFill>
                <a:srgbClr val="000000"/>
              </a:solidFill>
              <a:effectLst/>
              <a:uFillTx/>
              <a:latin typeface="Arial"/>
            </a:endParaRPr>
          </a:p>
        </p:txBody>
      </p:sp>
      <p:sp>
        <p:nvSpPr>
          <p:cNvPr id="601" name="Shape 28"/>
          <p:cNvSpPr/>
          <p:nvPr/>
        </p:nvSpPr>
        <p:spPr>
          <a:xfrm>
            <a:off x="3991500" y="4151880"/>
            <a:ext cx="360" cy="731520"/>
          </a:xfrm>
          <a:prstGeom prst="line">
            <a:avLst/>
          </a:prstGeom>
          <a:ln w="16510">
            <a:solidFill>
              <a:srgbClr val="9B51E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02" name="Shape 29"/>
          <p:cNvSpPr/>
          <p:nvPr/>
        </p:nvSpPr>
        <p:spPr>
          <a:xfrm>
            <a:off x="6780420" y="2917440"/>
            <a:ext cx="2285640" cy="594000"/>
          </a:xfrm>
          <a:prstGeom prst="roundRect">
            <a:avLst>
              <a:gd name="adj" fmla="val 12308"/>
            </a:avLst>
          </a:prstGeom>
          <a:solidFill>
            <a:srgbClr val="F1F8E8"/>
          </a:solidFill>
          <a:ln w="15240">
            <a:solidFill>
              <a:srgbClr val="86BC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3" name="Text 30"/>
          <p:cNvSpPr/>
          <p:nvPr/>
        </p:nvSpPr>
        <p:spPr>
          <a:xfrm>
            <a:off x="6826140" y="2954160"/>
            <a:ext cx="2194200" cy="520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01828"/>
                </a:solidFill>
                <a:effectLst/>
                <a:uFillTx/>
                <a:latin typeface="Aptos"/>
              </a:rPr>
              <a:t>positional information</a:t>
            </a:r>
            <a:endParaRPr lang="it-IT" sz="1300" b="0" u="none" strike="noStrike">
              <a:solidFill>
                <a:srgbClr val="000000"/>
              </a:solidFill>
              <a:effectLst/>
              <a:uFillTx/>
              <a:latin typeface="Arial"/>
            </a:endParaRPr>
          </a:p>
        </p:txBody>
      </p:sp>
      <p:sp>
        <p:nvSpPr>
          <p:cNvPr id="604" name="Shape 31"/>
          <p:cNvSpPr/>
          <p:nvPr/>
        </p:nvSpPr>
        <p:spPr>
          <a:xfrm>
            <a:off x="6963300" y="3831840"/>
            <a:ext cx="1919880" cy="959760"/>
          </a:xfrm>
          <a:prstGeom prst="roundRect">
            <a:avLst>
              <a:gd name="adj" fmla="val 7619"/>
            </a:avLst>
          </a:prstGeom>
          <a:solidFill>
            <a:srgbClr val="FFFFFF"/>
          </a:solidFill>
          <a:ln w="15240">
            <a:solidFill>
              <a:srgbClr val="D0D5D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5" name="Text 32"/>
          <p:cNvSpPr/>
          <p:nvPr/>
        </p:nvSpPr>
        <p:spPr>
          <a:xfrm>
            <a:off x="7009020" y="3868560"/>
            <a:ext cx="1828440" cy="886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0" u="none" strike="noStrike">
                <a:solidFill>
                  <a:srgbClr val="101828"/>
                </a:solidFill>
                <a:effectLst/>
                <a:uFillTx/>
                <a:latin typeface="Aptos"/>
              </a:rPr>
              <a:t>absolute position</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0" u="none" strike="noStrike">
                <a:solidFill>
                  <a:srgbClr val="101828"/>
                </a:solidFill>
                <a:effectLst/>
                <a:uFillTx/>
                <a:latin typeface="Aptos"/>
              </a:rPr>
              <a:t>relative distance</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0" u="none" strike="noStrike">
                <a:solidFill>
                  <a:srgbClr val="101828"/>
                </a:solidFill>
                <a:effectLst/>
                <a:uFillTx/>
                <a:latin typeface="Aptos"/>
              </a:rPr>
              <a:t>temporal order</a:t>
            </a:r>
            <a:endParaRPr lang="it-IT" sz="1000" b="0" u="none" strike="noStrike">
              <a:solidFill>
                <a:srgbClr val="000000"/>
              </a:solidFill>
              <a:effectLst/>
              <a:uFillTx/>
              <a:latin typeface="Arial"/>
            </a:endParaRPr>
          </a:p>
        </p:txBody>
      </p:sp>
      <p:sp>
        <p:nvSpPr>
          <p:cNvPr id="606" name="Text 33"/>
          <p:cNvSpPr/>
          <p:nvPr/>
        </p:nvSpPr>
        <p:spPr>
          <a:xfrm>
            <a:off x="621720" y="6355080"/>
            <a:ext cx="8869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a:solidFill>
                  <a:srgbClr val="475467"/>
                </a:solidFill>
                <a:effectLst/>
                <a:uFillTx/>
                <a:latin typeface="Aptos"/>
              </a:rPr>
              <a:t>Attention determines relevance; positional information tells the model where observations occur in the sequence.</a:t>
            </a:r>
            <a:endParaRPr lang="it-IT" sz="9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2634C1-3B61-644E-9E61-A31BC9EEA2CC}"/>
              </a:ext>
            </a:extLst>
          </p:cNvPr>
          <p:cNvSpPr>
            <a:spLocks noGrp="1"/>
          </p:cNvSpPr>
          <p:nvPr>
            <p:ph type="title"/>
          </p:nvPr>
        </p:nvSpPr>
        <p:spPr/>
        <p:txBody>
          <a:bodyPr>
            <a:normAutofit/>
          </a:bodyPr>
          <a:lstStyle/>
          <a:p>
            <a:r>
              <a:rPr lang="en-GB" dirty="0"/>
              <a:t>Block 6.C — Self-Attention in a Temporal Sequence</a:t>
            </a:r>
          </a:p>
        </p:txBody>
      </p:sp>
      <p:sp>
        <p:nvSpPr>
          <p:cNvPr id="3" name="Segnaposto contenuto 2">
            <a:extLst>
              <a:ext uri="{FF2B5EF4-FFF2-40B4-BE49-F238E27FC236}">
                <a16:creationId xmlns:a16="http://schemas.microsoft.com/office/drawing/2014/main" id="{323CED59-0CEE-C963-1D11-222B7965C0B7}"/>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11132428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F3131F-3D58-3806-A9B1-F00BBB4BD258}"/>
              </a:ext>
            </a:extLst>
          </p:cNvPr>
          <p:cNvSpPr>
            <a:spLocks noGrp="1"/>
          </p:cNvSpPr>
          <p:nvPr>
            <p:ph type="title"/>
          </p:nvPr>
        </p:nvSpPr>
        <p:spPr/>
        <p:txBody>
          <a:bodyPr/>
          <a:lstStyle/>
          <a:p>
            <a:r>
              <a:rPr lang="en-GB" dirty="0"/>
              <a:t>Self-attention: queries, keys and values come from the same sequence</a:t>
            </a:r>
          </a:p>
        </p:txBody>
      </p:sp>
      <p:sp>
        <p:nvSpPr>
          <p:cNvPr id="3" name="Segnaposto contenuto 2">
            <a:extLst>
              <a:ext uri="{FF2B5EF4-FFF2-40B4-BE49-F238E27FC236}">
                <a16:creationId xmlns:a16="http://schemas.microsoft.com/office/drawing/2014/main" id="{DC1E474B-EAC9-7FD0-1664-D0883529520E}"/>
              </a:ext>
            </a:extLst>
          </p:cNvPr>
          <p:cNvSpPr>
            <a:spLocks noGrp="1"/>
          </p:cNvSpPr>
          <p:nvPr>
            <p:ph idx="1"/>
          </p:nvPr>
        </p:nvSpPr>
        <p:spPr/>
        <p:txBody>
          <a:bodyPr>
            <a:normAutofit fontScale="92500" lnSpcReduction="20000"/>
          </a:bodyPr>
          <a:lstStyle/>
          <a:p>
            <a:r>
              <a:rPr lang="en-GB" dirty="0"/>
              <a:t>In </a:t>
            </a:r>
            <a:r>
              <a:rPr lang="en-GB" b="1" dirty="0"/>
              <a:t>self-attention</a:t>
            </a:r>
            <a:r>
              <a:rPr lang="en-GB" dirty="0"/>
              <a:t>, the query, key and value representations are all obtained from the same input sequence.</a:t>
            </a:r>
          </a:p>
          <a:p>
            <a:r>
              <a:rPr lang="en-GB" dirty="0"/>
              <a:t>Suppose the temporal input is: x[1], x[2], ..., x[L]</a:t>
            </a:r>
          </a:p>
          <a:p>
            <a:r>
              <a:rPr lang="en-GB" dirty="0"/>
              <a:t>For every position t, the model computes:</a:t>
            </a:r>
          </a:p>
          <a:p>
            <a:pPr lvl="1"/>
            <a:r>
              <a:rPr lang="en-GB" dirty="0"/>
              <a:t>query q[t]; </a:t>
            </a:r>
          </a:p>
          <a:p>
            <a:pPr lvl="1"/>
            <a:r>
              <a:rPr lang="en-GB" dirty="0"/>
              <a:t>key k[t]; </a:t>
            </a:r>
          </a:p>
          <a:p>
            <a:pPr lvl="1"/>
            <a:r>
              <a:rPr lang="en-GB" dirty="0"/>
              <a:t>value v[t]. </a:t>
            </a:r>
          </a:p>
          <a:p>
            <a:endParaRPr lang="en-GB" dirty="0"/>
          </a:p>
          <a:p>
            <a:r>
              <a:rPr lang="en-GB" dirty="0"/>
              <a:t>x[1] → q[1], k[1], v[1]</a:t>
            </a:r>
          </a:p>
          <a:p>
            <a:r>
              <a:rPr lang="en-GB" dirty="0"/>
              <a:t>x[2] → q[2], k[2], v[2]</a:t>
            </a:r>
          </a:p>
          <a:p>
            <a:r>
              <a:rPr lang="en-GB" dirty="0"/>
              <a:t>...</a:t>
            </a:r>
          </a:p>
          <a:p>
            <a:r>
              <a:rPr lang="en-GB" dirty="0"/>
              <a:t>x[L] → q[L], k[L], v[L]</a:t>
            </a:r>
          </a:p>
          <a:p>
            <a:endParaRPr lang="en-GB" dirty="0"/>
          </a:p>
        </p:txBody>
      </p:sp>
    </p:spTree>
    <p:extLst>
      <p:ext uri="{BB962C8B-B14F-4D97-AF65-F5344CB8AC3E}">
        <p14:creationId xmlns:p14="http://schemas.microsoft.com/office/powerpoint/2010/main" val="2081295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B0781D-51CF-F4E8-2931-6FFE9C4EBCEC}"/>
              </a:ext>
            </a:extLst>
          </p:cNvPr>
          <p:cNvSpPr>
            <a:spLocks noGrp="1"/>
          </p:cNvSpPr>
          <p:nvPr>
            <p:ph type="title"/>
          </p:nvPr>
        </p:nvSpPr>
        <p:spPr/>
        <p:txBody>
          <a:bodyPr/>
          <a:lstStyle/>
          <a:p>
            <a:r>
              <a:rPr lang="en-GB" dirty="0"/>
              <a:t>Self-attention: queries, keys and values come from the same sequence</a:t>
            </a:r>
          </a:p>
        </p:txBody>
      </p:sp>
      <p:sp>
        <p:nvSpPr>
          <p:cNvPr id="3" name="Segnaposto contenuto 2">
            <a:extLst>
              <a:ext uri="{FF2B5EF4-FFF2-40B4-BE49-F238E27FC236}">
                <a16:creationId xmlns:a16="http://schemas.microsoft.com/office/drawing/2014/main" id="{D3DE3D58-E4CD-D49A-DEE4-EA2058F78205}"/>
              </a:ext>
            </a:extLst>
          </p:cNvPr>
          <p:cNvSpPr>
            <a:spLocks noGrp="1"/>
          </p:cNvSpPr>
          <p:nvPr>
            <p:ph idx="1"/>
          </p:nvPr>
        </p:nvSpPr>
        <p:spPr/>
        <p:txBody>
          <a:bodyPr>
            <a:normAutofit lnSpcReduction="10000"/>
          </a:bodyPr>
          <a:lstStyle/>
          <a:p>
            <a:r>
              <a:rPr lang="en-GB" b="1" dirty="0"/>
              <a:t>Then, for each position</a:t>
            </a:r>
          </a:p>
          <a:p>
            <a:r>
              <a:rPr lang="en-GB" dirty="0"/>
              <a:t>Its query is compared with the keys of the candidate positions.</a:t>
            </a:r>
          </a:p>
          <a:p>
            <a:r>
              <a:rPr lang="en-GB" dirty="0"/>
              <a:t>For position t:</a:t>
            </a:r>
          </a:p>
          <a:p>
            <a:pPr lvl="1"/>
            <a:r>
              <a:rPr lang="en-GB" dirty="0"/>
              <a:t>q[t] ↔ k[1]</a:t>
            </a:r>
          </a:p>
          <a:p>
            <a:pPr lvl="1"/>
            <a:r>
              <a:rPr lang="en-GB" dirty="0"/>
              <a:t>q[t] ↔ k[2]</a:t>
            </a:r>
          </a:p>
          <a:p>
            <a:pPr lvl="1"/>
            <a:r>
              <a:rPr lang="en-GB" dirty="0"/>
              <a:t>...</a:t>
            </a:r>
          </a:p>
          <a:p>
            <a:pPr lvl="1"/>
            <a:r>
              <a:rPr lang="en-GB" dirty="0"/>
              <a:t>q[t] ↔ k[L]</a:t>
            </a:r>
          </a:p>
          <a:p>
            <a:r>
              <a:rPr lang="en-GB" dirty="0"/>
              <a:t>This produces a different set of attention weights for every query position.</a:t>
            </a:r>
          </a:p>
          <a:p>
            <a:endParaRPr lang="en-GB" dirty="0"/>
          </a:p>
          <a:p>
            <a:r>
              <a:rPr lang="en-GB" dirty="0"/>
              <a:t>Self-attention allows every temporal position to construct a new representation using information from other positions in the same sequence.</a:t>
            </a:r>
          </a:p>
          <a:p>
            <a:endParaRPr lang="en-GB" dirty="0"/>
          </a:p>
        </p:txBody>
      </p:sp>
    </p:spTree>
    <p:extLst>
      <p:ext uri="{BB962C8B-B14F-4D97-AF65-F5344CB8AC3E}">
        <p14:creationId xmlns:p14="http://schemas.microsoft.com/office/powerpoint/2010/main" val="2031497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Self-attention: Q, K and V from the same sequence</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Each temporal token is projected into </a:t>
            </a:r>
            <a:r>
              <a:rPr lang="en-US" sz="1250" b="1" dirty="0">
                <a:solidFill>
                  <a:srgbClr val="475569"/>
                </a:solidFill>
              </a:rPr>
              <a:t>three learned roles.</a:t>
            </a:r>
            <a:endParaRPr lang="en-US" sz="1250" b="1" dirty="0"/>
          </a:p>
        </p:txBody>
      </p:sp>
      <p:sp>
        <p:nvSpPr>
          <p:cNvPr id="5" name="Text 3"/>
          <p:cNvSpPr/>
          <p:nvPr/>
        </p:nvSpPr>
        <p:spPr>
          <a:xfrm>
            <a:off x="1600200" y="141732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x[1]</a:t>
            </a:r>
            <a:endParaRPr lang="en-US" sz="1300" dirty="0"/>
          </a:p>
        </p:txBody>
      </p:sp>
      <p:sp>
        <p:nvSpPr>
          <p:cNvPr id="6" name="Text 4"/>
          <p:cNvSpPr/>
          <p:nvPr/>
        </p:nvSpPr>
        <p:spPr>
          <a:xfrm>
            <a:off x="2834640" y="141732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x[2]</a:t>
            </a:r>
            <a:endParaRPr lang="en-US" sz="1300" dirty="0"/>
          </a:p>
        </p:txBody>
      </p:sp>
      <p:sp>
        <p:nvSpPr>
          <p:cNvPr id="7" name="Text 5"/>
          <p:cNvSpPr/>
          <p:nvPr/>
        </p:nvSpPr>
        <p:spPr>
          <a:xfrm>
            <a:off x="4069080" y="141732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x[3]</a:t>
            </a:r>
            <a:endParaRPr lang="en-US" sz="1300" dirty="0"/>
          </a:p>
        </p:txBody>
      </p:sp>
      <p:sp>
        <p:nvSpPr>
          <p:cNvPr id="8" name="Text 6"/>
          <p:cNvSpPr/>
          <p:nvPr/>
        </p:nvSpPr>
        <p:spPr>
          <a:xfrm>
            <a:off x="5303520" y="141732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x[4]</a:t>
            </a:r>
            <a:endParaRPr lang="en-US" sz="1300" dirty="0"/>
          </a:p>
        </p:txBody>
      </p:sp>
      <p:sp>
        <p:nvSpPr>
          <p:cNvPr id="9" name="Text 7"/>
          <p:cNvSpPr/>
          <p:nvPr/>
        </p:nvSpPr>
        <p:spPr>
          <a:xfrm>
            <a:off x="6537960" y="141732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x[5]</a:t>
            </a:r>
            <a:endParaRPr lang="en-US" sz="1300" dirty="0"/>
          </a:p>
        </p:txBody>
      </p:sp>
      <p:sp>
        <p:nvSpPr>
          <p:cNvPr id="10" name="Text 8"/>
          <p:cNvSpPr/>
          <p:nvPr/>
        </p:nvSpPr>
        <p:spPr>
          <a:xfrm>
            <a:off x="594360" y="1481328"/>
            <a:ext cx="320040" cy="182880"/>
          </a:xfrm>
          <a:prstGeom prst="rect">
            <a:avLst/>
          </a:prstGeom>
          <a:noFill/>
          <a:ln/>
        </p:spPr>
        <p:txBody>
          <a:bodyPr wrap="square" lIns="0" tIns="0" rIns="0" bIns="0" rtlCol="0" anchor="ctr">
            <a:normAutofit fontScale="92500"/>
          </a:bodyPr>
          <a:lstStyle/>
          <a:p>
            <a:pPr marL="0" indent="0" algn="l">
              <a:buNone/>
            </a:pPr>
            <a:r>
              <a:rPr lang="en-US" sz="1100" b="1" dirty="0">
                <a:solidFill>
                  <a:srgbClr val="2563EB"/>
                </a:solidFill>
                <a:latin typeface="Aptos" pitchFamily="34" charset="0"/>
                <a:ea typeface="Aptos" pitchFamily="34" charset="-122"/>
                <a:cs typeface="Aptos" pitchFamily="34" charset="-120"/>
              </a:rPr>
              <a:t>input</a:t>
            </a:r>
            <a:endParaRPr lang="en-US" sz="1100" dirty="0"/>
          </a:p>
        </p:txBody>
      </p:sp>
      <p:sp>
        <p:nvSpPr>
          <p:cNvPr id="11" name="Text 9"/>
          <p:cNvSpPr/>
          <p:nvPr/>
        </p:nvSpPr>
        <p:spPr>
          <a:xfrm>
            <a:off x="603504" y="2496312"/>
            <a:ext cx="914400" cy="182880"/>
          </a:xfrm>
          <a:prstGeom prst="rect">
            <a:avLst/>
          </a:prstGeom>
          <a:noFill/>
          <a:ln/>
        </p:spPr>
        <p:txBody>
          <a:bodyPr wrap="square" lIns="0" tIns="0" rIns="0" bIns="0" rtlCol="0" anchor="ctr">
            <a:normAutofit/>
          </a:bodyPr>
          <a:lstStyle/>
          <a:p>
            <a:pPr marL="0" indent="0" algn="l">
              <a:buNone/>
            </a:pPr>
            <a:r>
              <a:rPr lang="en-US" sz="1150" b="1" dirty="0">
                <a:solidFill>
                  <a:srgbClr val="7C3AED"/>
                </a:solidFill>
                <a:latin typeface="Aptos" pitchFamily="34" charset="0"/>
                <a:ea typeface="Aptos" pitchFamily="34" charset="-122"/>
                <a:cs typeface="Aptos" pitchFamily="34" charset="-120"/>
              </a:rPr>
              <a:t>queries q[t]</a:t>
            </a:r>
            <a:endParaRPr lang="en-US" sz="1150" dirty="0"/>
          </a:p>
        </p:txBody>
      </p:sp>
      <p:sp>
        <p:nvSpPr>
          <p:cNvPr id="12" name="Shape 10"/>
          <p:cNvSpPr/>
          <p:nvPr/>
        </p:nvSpPr>
        <p:spPr>
          <a:xfrm>
            <a:off x="1943100" y="1847088"/>
            <a:ext cx="0" cy="530352"/>
          </a:xfrm>
          <a:prstGeom prst="line">
            <a:avLst/>
          </a:prstGeom>
          <a:noFill/>
          <a:ln w="13970">
            <a:solidFill>
              <a:srgbClr val="7C3AED"/>
            </a:solidFill>
            <a:prstDash val="solid"/>
            <a:headEnd type="none"/>
            <a:tailEnd type="triangle"/>
          </a:ln>
        </p:spPr>
        <p:txBody>
          <a:bodyPr/>
          <a:lstStyle/>
          <a:p>
            <a:endParaRPr lang="en-GB"/>
          </a:p>
        </p:txBody>
      </p:sp>
      <p:sp>
        <p:nvSpPr>
          <p:cNvPr id="13" name="Text 11"/>
          <p:cNvSpPr/>
          <p:nvPr/>
        </p:nvSpPr>
        <p:spPr>
          <a:xfrm>
            <a:off x="1655064" y="2423160"/>
            <a:ext cx="566928" cy="329184"/>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q[1]</a:t>
            </a:r>
            <a:endParaRPr lang="en-US" sz="1150" dirty="0"/>
          </a:p>
        </p:txBody>
      </p:sp>
      <p:sp>
        <p:nvSpPr>
          <p:cNvPr id="14" name="Shape 12"/>
          <p:cNvSpPr/>
          <p:nvPr/>
        </p:nvSpPr>
        <p:spPr>
          <a:xfrm>
            <a:off x="3177540" y="1847088"/>
            <a:ext cx="0" cy="530352"/>
          </a:xfrm>
          <a:prstGeom prst="line">
            <a:avLst/>
          </a:prstGeom>
          <a:noFill/>
          <a:ln w="13970">
            <a:solidFill>
              <a:srgbClr val="7C3AED"/>
            </a:solidFill>
            <a:prstDash val="solid"/>
            <a:headEnd type="none"/>
            <a:tailEnd type="triangle"/>
          </a:ln>
        </p:spPr>
        <p:txBody>
          <a:bodyPr/>
          <a:lstStyle/>
          <a:p>
            <a:endParaRPr lang="en-GB"/>
          </a:p>
        </p:txBody>
      </p:sp>
      <p:sp>
        <p:nvSpPr>
          <p:cNvPr id="15" name="Text 13"/>
          <p:cNvSpPr/>
          <p:nvPr/>
        </p:nvSpPr>
        <p:spPr>
          <a:xfrm>
            <a:off x="2889504" y="2423160"/>
            <a:ext cx="566928" cy="329184"/>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q[2]</a:t>
            </a:r>
            <a:endParaRPr lang="en-US" sz="1150" dirty="0"/>
          </a:p>
        </p:txBody>
      </p:sp>
      <p:sp>
        <p:nvSpPr>
          <p:cNvPr id="16" name="Shape 14"/>
          <p:cNvSpPr/>
          <p:nvPr/>
        </p:nvSpPr>
        <p:spPr>
          <a:xfrm>
            <a:off x="4411980" y="1847088"/>
            <a:ext cx="0" cy="530352"/>
          </a:xfrm>
          <a:prstGeom prst="line">
            <a:avLst/>
          </a:prstGeom>
          <a:noFill/>
          <a:ln w="13970">
            <a:solidFill>
              <a:srgbClr val="7C3AED"/>
            </a:solidFill>
            <a:prstDash val="solid"/>
            <a:headEnd type="none"/>
            <a:tailEnd type="triangle"/>
          </a:ln>
        </p:spPr>
        <p:txBody>
          <a:bodyPr/>
          <a:lstStyle/>
          <a:p>
            <a:endParaRPr lang="en-GB"/>
          </a:p>
        </p:txBody>
      </p:sp>
      <p:sp>
        <p:nvSpPr>
          <p:cNvPr id="17" name="Text 15"/>
          <p:cNvSpPr/>
          <p:nvPr/>
        </p:nvSpPr>
        <p:spPr>
          <a:xfrm>
            <a:off x="4123944" y="2423160"/>
            <a:ext cx="566928" cy="329184"/>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q[3]</a:t>
            </a:r>
            <a:endParaRPr lang="en-US" sz="1150" dirty="0"/>
          </a:p>
        </p:txBody>
      </p:sp>
      <p:sp>
        <p:nvSpPr>
          <p:cNvPr id="18" name="Shape 16"/>
          <p:cNvSpPr/>
          <p:nvPr/>
        </p:nvSpPr>
        <p:spPr>
          <a:xfrm>
            <a:off x="5646420" y="1847088"/>
            <a:ext cx="0" cy="530352"/>
          </a:xfrm>
          <a:prstGeom prst="line">
            <a:avLst/>
          </a:prstGeom>
          <a:noFill/>
          <a:ln w="13970">
            <a:solidFill>
              <a:srgbClr val="7C3AED"/>
            </a:solidFill>
            <a:prstDash val="solid"/>
            <a:headEnd type="none"/>
            <a:tailEnd type="triangle"/>
          </a:ln>
        </p:spPr>
        <p:txBody>
          <a:bodyPr/>
          <a:lstStyle/>
          <a:p>
            <a:endParaRPr lang="en-GB"/>
          </a:p>
        </p:txBody>
      </p:sp>
      <p:sp>
        <p:nvSpPr>
          <p:cNvPr id="19" name="Text 17"/>
          <p:cNvSpPr/>
          <p:nvPr/>
        </p:nvSpPr>
        <p:spPr>
          <a:xfrm>
            <a:off x="5358384" y="2423160"/>
            <a:ext cx="566928" cy="329184"/>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q[4]</a:t>
            </a:r>
            <a:endParaRPr lang="en-US" sz="1150" dirty="0"/>
          </a:p>
        </p:txBody>
      </p:sp>
      <p:sp>
        <p:nvSpPr>
          <p:cNvPr id="20" name="Shape 18"/>
          <p:cNvSpPr/>
          <p:nvPr/>
        </p:nvSpPr>
        <p:spPr>
          <a:xfrm>
            <a:off x="6880860" y="1847088"/>
            <a:ext cx="0" cy="530352"/>
          </a:xfrm>
          <a:prstGeom prst="line">
            <a:avLst/>
          </a:prstGeom>
          <a:noFill/>
          <a:ln w="13970">
            <a:solidFill>
              <a:srgbClr val="7C3AED"/>
            </a:solidFill>
            <a:prstDash val="solid"/>
            <a:headEnd type="none"/>
            <a:tailEnd type="triangle"/>
          </a:ln>
        </p:spPr>
        <p:txBody>
          <a:bodyPr/>
          <a:lstStyle/>
          <a:p>
            <a:endParaRPr lang="en-GB"/>
          </a:p>
        </p:txBody>
      </p:sp>
      <p:sp>
        <p:nvSpPr>
          <p:cNvPr id="21" name="Text 19"/>
          <p:cNvSpPr/>
          <p:nvPr/>
        </p:nvSpPr>
        <p:spPr>
          <a:xfrm>
            <a:off x="6592824" y="2423160"/>
            <a:ext cx="566928" cy="329184"/>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q[5]</a:t>
            </a:r>
            <a:endParaRPr lang="en-US" sz="1150" dirty="0"/>
          </a:p>
        </p:txBody>
      </p:sp>
      <p:sp>
        <p:nvSpPr>
          <p:cNvPr id="22" name="Text 20"/>
          <p:cNvSpPr/>
          <p:nvPr/>
        </p:nvSpPr>
        <p:spPr>
          <a:xfrm>
            <a:off x="603504" y="3474720"/>
            <a:ext cx="914400" cy="182880"/>
          </a:xfrm>
          <a:prstGeom prst="rect">
            <a:avLst/>
          </a:prstGeom>
          <a:noFill/>
          <a:ln/>
        </p:spPr>
        <p:txBody>
          <a:bodyPr wrap="square" lIns="0" tIns="0" rIns="0" bIns="0" rtlCol="0" anchor="ctr">
            <a:normAutofit/>
          </a:bodyPr>
          <a:lstStyle/>
          <a:p>
            <a:pPr marL="0" indent="0" algn="l">
              <a:buNone/>
            </a:pPr>
            <a:r>
              <a:rPr lang="en-US" sz="1150" b="1" dirty="0">
                <a:solidFill>
                  <a:srgbClr val="79A80D"/>
                </a:solidFill>
                <a:latin typeface="Aptos" pitchFamily="34" charset="0"/>
                <a:ea typeface="Aptos" pitchFamily="34" charset="-122"/>
                <a:cs typeface="Aptos" pitchFamily="34" charset="-120"/>
              </a:rPr>
              <a:t>keys k[t]</a:t>
            </a:r>
            <a:endParaRPr lang="en-US" sz="1150" dirty="0"/>
          </a:p>
        </p:txBody>
      </p:sp>
      <p:sp>
        <p:nvSpPr>
          <p:cNvPr id="23" name="Shape 21"/>
          <p:cNvSpPr/>
          <p:nvPr/>
        </p:nvSpPr>
        <p:spPr>
          <a:xfrm>
            <a:off x="1943100" y="1847088"/>
            <a:ext cx="0" cy="1508760"/>
          </a:xfrm>
          <a:prstGeom prst="line">
            <a:avLst/>
          </a:prstGeom>
          <a:noFill/>
          <a:ln w="13970">
            <a:solidFill>
              <a:srgbClr val="79A80D"/>
            </a:solidFill>
            <a:prstDash val="solid"/>
            <a:headEnd type="none"/>
            <a:tailEnd type="triangle"/>
          </a:ln>
        </p:spPr>
        <p:txBody>
          <a:bodyPr/>
          <a:lstStyle/>
          <a:p>
            <a:endParaRPr lang="en-GB"/>
          </a:p>
        </p:txBody>
      </p:sp>
      <p:sp>
        <p:nvSpPr>
          <p:cNvPr id="24" name="Text 22"/>
          <p:cNvSpPr/>
          <p:nvPr/>
        </p:nvSpPr>
        <p:spPr>
          <a:xfrm>
            <a:off x="1655064" y="3401568"/>
            <a:ext cx="566928" cy="329184"/>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k[1]</a:t>
            </a:r>
            <a:endParaRPr lang="en-US" sz="1150" dirty="0"/>
          </a:p>
        </p:txBody>
      </p:sp>
      <p:sp>
        <p:nvSpPr>
          <p:cNvPr id="25" name="Shape 23"/>
          <p:cNvSpPr/>
          <p:nvPr/>
        </p:nvSpPr>
        <p:spPr>
          <a:xfrm>
            <a:off x="3177540" y="1847088"/>
            <a:ext cx="0" cy="1508760"/>
          </a:xfrm>
          <a:prstGeom prst="line">
            <a:avLst/>
          </a:prstGeom>
          <a:noFill/>
          <a:ln w="13970">
            <a:solidFill>
              <a:srgbClr val="79A80D"/>
            </a:solidFill>
            <a:prstDash val="solid"/>
            <a:headEnd type="none"/>
            <a:tailEnd type="triangle"/>
          </a:ln>
        </p:spPr>
        <p:txBody>
          <a:bodyPr/>
          <a:lstStyle/>
          <a:p>
            <a:endParaRPr lang="en-GB"/>
          </a:p>
        </p:txBody>
      </p:sp>
      <p:sp>
        <p:nvSpPr>
          <p:cNvPr id="26" name="Text 24"/>
          <p:cNvSpPr/>
          <p:nvPr/>
        </p:nvSpPr>
        <p:spPr>
          <a:xfrm>
            <a:off x="2889504" y="3401568"/>
            <a:ext cx="566928" cy="329184"/>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k[2]</a:t>
            </a:r>
            <a:endParaRPr lang="en-US" sz="1150" dirty="0"/>
          </a:p>
        </p:txBody>
      </p:sp>
      <p:sp>
        <p:nvSpPr>
          <p:cNvPr id="27" name="Shape 25"/>
          <p:cNvSpPr/>
          <p:nvPr/>
        </p:nvSpPr>
        <p:spPr>
          <a:xfrm>
            <a:off x="4411980" y="1847088"/>
            <a:ext cx="0" cy="1508760"/>
          </a:xfrm>
          <a:prstGeom prst="line">
            <a:avLst/>
          </a:prstGeom>
          <a:noFill/>
          <a:ln w="13970">
            <a:solidFill>
              <a:srgbClr val="79A80D"/>
            </a:solidFill>
            <a:prstDash val="solid"/>
            <a:headEnd type="none"/>
            <a:tailEnd type="triangle"/>
          </a:ln>
        </p:spPr>
        <p:txBody>
          <a:bodyPr/>
          <a:lstStyle/>
          <a:p>
            <a:endParaRPr lang="en-GB"/>
          </a:p>
        </p:txBody>
      </p:sp>
      <p:sp>
        <p:nvSpPr>
          <p:cNvPr id="28" name="Text 26"/>
          <p:cNvSpPr/>
          <p:nvPr/>
        </p:nvSpPr>
        <p:spPr>
          <a:xfrm>
            <a:off x="4123944" y="3401568"/>
            <a:ext cx="566928" cy="329184"/>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k[3]</a:t>
            </a:r>
            <a:endParaRPr lang="en-US" sz="1150" dirty="0"/>
          </a:p>
        </p:txBody>
      </p:sp>
      <p:sp>
        <p:nvSpPr>
          <p:cNvPr id="29" name="Shape 27"/>
          <p:cNvSpPr/>
          <p:nvPr/>
        </p:nvSpPr>
        <p:spPr>
          <a:xfrm>
            <a:off x="5646420" y="1847088"/>
            <a:ext cx="0" cy="1508760"/>
          </a:xfrm>
          <a:prstGeom prst="line">
            <a:avLst/>
          </a:prstGeom>
          <a:noFill/>
          <a:ln w="13970">
            <a:solidFill>
              <a:srgbClr val="79A80D"/>
            </a:solidFill>
            <a:prstDash val="solid"/>
            <a:headEnd type="none"/>
            <a:tailEnd type="triangle"/>
          </a:ln>
        </p:spPr>
        <p:txBody>
          <a:bodyPr/>
          <a:lstStyle/>
          <a:p>
            <a:endParaRPr lang="en-GB"/>
          </a:p>
        </p:txBody>
      </p:sp>
      <p:sp>
        <p:nvSpPr>
          <p:cNvPr id="30" name="Text 28"/>
          <p:cNvSpPr/>
          <p:nvPr/>
        </p:nvSpPr>
        <p:spPr>
          <a:xfrm>
            <a:off x="5358384" y="3401568"/>
            <a:ext cx="566928" cy="329184"/>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k[4]</a:t>
            </a:r>
            <a:endParaRPr lang="en-US" sz="1150" dirty="0"/>
          </a:p>
        </p:txBody>
      </p:sp>
      <p:sp>
        <p:nvSpPr>
          <p:cNvPr id="31" name="Shape 29"/>
          <p:cNvSpPr/>
          <p:nvPr/>
        </p:nvSpPr>
        <p:spPr>
          <a:xfrm>
            <a:off x="6880860" y="1847088"/>
            <a:ext cx="0" cy="1508760"/>
          </a:xfrm>
          <a:prstGeom prst="line">
            <a:avLst/>
          </a:prstGeom>
          <a:noFill/>
          <a:ln w="13970">
            <a:solidFill>
              <a:srgbClr val="79A80D"/>
            </a:solidFill>
            <a:prstDash val="solid"/>
            <a:headEnd type="none"/>
            <a:tailEnd type="triangle"/>
          </a:ln>
        </p:spPr>
        <p:txBody>
          <a:bodyPr/>
          <a:lstStyle/>
          <a:p>
            <a:endParaRPr lang="en-GB"/>
          </a:p>
        </p:txBody>
      </p:sp>
      <p:sp>
        <p:nvSpPr>
          <p:cNvPr id="32" name="Text 30"/>
          <p:cNvSpPr/>
          <p:nvPr/>
        </p:nvSpPr>
        <p:spPr>
          <a:xfrm>
            <a:off x="6592824" y="3401568"/>
            <a:ext cx="566928" cy="329184"/>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k[5]</a:t>
            </a:r>
            <a:endParaRPr lang="en-US" sz="1150" dirty="0"/>
          </a:p>
        </p:txBody>
      </p:sp>
      <p:sp>
        <p:nvSpPr>
          <p:cNvPr id="33" name="Text 31"/>
          <p:cNvSpPr/>
          <p:nvPr/>
        </p:nvSpPr>
        <p:spPr>
          <a:xfrm>
            <a:off x="603504" y="4453128"/>
            <a:ext cx="914400" cy="182880"/>
          </a:xfrm>
          <a:prstGeom prst="rect">
            <a:avLst/>
          </a:prstGeom>
          <a:noFill/>
          <a:ln/>
        </p:spPr>
        <p:txBody>
          <a:bodyPr wrap="square" lIns="0" tIns="0" rIns="0" bIns="0" rtlCol="0" anchor="ctr">
            <a:normAutofit/>
          </a:bodyPr>
          <a:lstStyle/>
          <a:p>
            <a:pPr marL="0" indent="0" algn="l">
              <a:buNone/>
            </a:pPr>
            <a:r>
              <a:rPr lang="en-US" sz="1150" b="1" dirty="0">
                <a:solidFill>
                  <a:srgbClr val="F59E0B"/>
                </a:solidFill>
                <a:latin typeface="Aptos" pitchFamily="34" charset="0"/>
                <a:ea typeface="Aptos" pitchFamily="34" charset="-122"/>
                <a:cs typeface="Aptos" pitchFamily="34" charset="-120"/>
              </a:rPr>
              <a:t>values v[t]</a:t>
            </a:r>
            <a:endParaRPr lang="en-US" sz="1150" dirty="0"/>
          </a:p>
        </p:txBody>
      </p:sp>
      <p:sp>
        <p:nvSpPr>
          <p:cNvPr id="34" name="Shape 32"/>
          <p:cNvSpPr/>
          <p:nvPr/>
        </p:nvSpPr>
        <p:spPr>
          <a:xfrm>
            <a:off x="1943100" y="1847088"/>
            <a:ext cx="0" cy="2487168"/>
          </a:xfrm>
          <a:prstGeom prst="line">
            <a:avLst/>
          </a:prstGeom>
          <a:noFill/>
          <a:ln w="13970">
            <a:solidFill>
              <a:srgbClr val="F59E0B"/>
            </a:solidFill>
            <a:prstDash val="solid"/>
            <a:headEnd type="none"/>
            <a:tailEnd type="triangle"/>
          </a:ln>
        </p:spPr>
        <p:txBody>
          <a:bodyPr/>
          <a:lstStyle/>
          <a:p>
            <a:endParaRPr lang="en-GB"/>
          </a:p>
        </p:txBody>
      </p:sp>
      <p:sp>
        <p:nvSpPr>
          <p:cNvPr id="35" name="Text 33"/>
          <p:cNvSpPr/>
          <p:nvPr/>
        </p:nvSpPr>
        <p:spPr>
          <a:xfrm>
            <a:off x="1655064" y="4379976"/>
            <a:ext cx="566928" cy="329184"/>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v[1]</a:t>
            </a:r>
            <a:endParaRPr lang="en-US" sz="1150" dirty="0"/>
          </a:p>
        </p:txBody>
      </p:sp>
      <p:sp>
        <p:nvSpPr>
          <p:cNvPr id="36" name="Shape 34"/>
          <p:cNvSpPr/>
          <p:nvPr/>
        </p:nvSpPr>
        <p:spPr>
          <a:xfrm>
            <a:off x="3177540" y="1847088"/>
            <a:ext cx="0" cy="2487168"/>
          </a:xfrm>
          <a:prstGeom prst="line">
            <a:avLst/>
          </a:prstGeom>
          <a:noFill/>
          <a:ln w="13970">
            <a:solidFill>
              <a:srgbClr val="F59E0B"/>
            </a:solidFill>
            <a:prstDash val="solid"/>
            <a:headEnd type="none"/>
            <a:tailEnd type="triangle"/>
          </a:ln>
        </p:spPr>
        <p:txBody>
          <a:bodyPr/>
          <a:lstStyle/>
          <a:p>
            <a:endParaRPr lang="en-GB"/>
          </a:p>
        </p:txBody>
      </p:sp>
      <p:sp>
        <p:nvSpPr>
          <p:cNvPr id="37" name="Text 35"/>
          <p:cNvSpPr/>
          <p:nvPr/>
        </p:nvSpPr>
        <p:spPr>
          <a:xfrm>
            <a:off x="2889504" y="4379976"/>
            <a:ext cx="566928" cy="329184"/>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v[2]</a:t>
            </a:r>
            <a:endParaRPr lang="en-US" sz="1150" dirty="0"/>
          </a:p>
        </p:txBody>
      </p:sp>
      <p:sp>
        <p:nvSpPr>
          <p:cNvPr id="38" name="Shape 36"/>
          <p:cNvSpPr/>
          <p:nvPr/>
        </p:nvSpPr>
        <p:spPr>
          <a:xfrm>
            <a:off x="4411980" y="1847088"/>
            <a:ext cx="0" cy="2487168"/>
          </a:xfrm>
          <a:prstGeom prst="line">
            <a:avLst/>
          </a:prstGeom>
          <a:noFill/>
          <a:ln w="13970">
            <a:solidFill>
              <a:srgbClr val="F59E0B"/>
            </a:solidFill>
            <a:prstDash val="solid"/>
            <a:headEnd type="none"/>
            <a:tailEnd type="triangle"/>
          </a:ln>
        </p:spPr>
        <p:txBody>
          <a:bodyPr/>
          <a:lstStyle/>
          <a:p>
            <a:endParaRPr lang="en-GB"/>
          </a:p>
        </p:txBody>
      </p:sp>
      <p:sp>
        <p:nvSpPr>
          <p:cNvPr id="39" name="Text 37"/>
          <p:cNvSpPr/>
          <p:nvPr/>
        </p:nvSpPr>
        <p:spPr>
          <a:xfrm>
            <a:off x="4123944" y="4379976"/>
            <a:ext cx="566928" cy="329184"/>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v[3]</a:t>
            </a:r>
            <a:endParaRPr lang="en-US" sz="1150" dirty="0"/>
          </a:p>
        </p:txBody>
      </p:sp>
      <p:sp>
        <p:nvSpPr>
          <p:cNvPr id="40" name="Shape 38"/>
          <p:cNvSpPr/>
          <p:nvPr/>
        </p:nvSpPr>
        <p:spPr>
          <a:xfrm>
            <a:off x="5646420" y="1847088"/>
            <a:ext cx="0" cy="2487168"/>
          </a:xfrm>
          <a:prstGeom prst="line">
            <a:avLst/>
          </a:prstGeom>
          <a:noFill/>
          <a:ln w="13970">
            <a:solidFill>
              <a:srgbClr val="F59E0B"/>
            </a:solidFill>
            <a:prstDash val="solid"/>
            <a:headEnd type="none"/>
            <a:tailEnd type="triangle"/>
          </a:ln>
        </p:spPr>
        <p:txBody>
          <a:bodyPr/>
          <a:lstStyle/>
          <a:p>
            <a:endParaRPr lang="en-GB"/>
          </a:p>
        </p:txBody>
      </p:sp>
      <p:sp>
        <p:nvSpPr>
          <p:cNvPr id="41" name="Text 39"/>
          <p:cNvSpPr/>
          <p:nvPr/>
        </p:nvSpPr>
        <p:spPr>
          <a:xfrm>
            <a:off x="5358384" y="4379976"/>
            <a:ext cx="566928" cy="329184"/>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v[4]</a:t>
            </a:r>
            <a:endParaRPr lang="en-US" sz="1150" dirty="0"/>
          </a:p>
        </p:txBody>
      </p:sp>
      <p:sp>
        <p:nvSpPr>
          <p:cNvPr id="42" name="Shape 40"/>
          <p:cNvSpPr/>
          <p:nvPr/>
        </p:nvSpPr>
        <p:spPr>
          <a:xfrm>
            <a:off x="6880860" y="1847088"/>
            <a:ext cx="0" cy="2487168"/>
          </a:xfrm>
          <a:prstGeom prst="line">
            <a:avLst/>
          </a:prstGeom>
          <a:noFill/>
          <a:ln w="13970">
            <a:solidFill>
              <a:srgbClr val="F59E0B"/>
            </a:solidFill>
            <a:prstDash val="solid"/>
            <a:headEnd type="none"/>
            <a:tailEnd type="triangle"/>
          </a:ln>
        </p:spPr>
        <p:txBody>
          <a:bodyPr/>
          <a:lstStyle/>
          <a:p>
            <a:endParaRPr lang="en-GB"/>
          </a:p>
        </p:txBody>
      </p:sp>
      <p:sp>
        <p:nvSpPr>
          <p:cNvPr id="43" name="Text 41"/>
          <p:cNvSpPr/>
          <p:nvPr/>
        </p:nvSpPr>
        <p:spPr>
          <a:xfrm>
            <a:off x="6592824" y="4379976"/>
            <a:ext cx="566928" cy="329184"/>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v[5]</a:t>
            </a:r>
            <a:endParaRPr lang="en-US" sz="1150" dirty="0"/>
          </a:p>
        </p:txBody>
      </p:sp>
      <p:sp>
        <p:nvSpPr>
          <p:cNvPr id="44" name="Shape 42"/>
          <p:cNvSpPr/>
          <p:nvPr/>
        </p:nvSpPr>
        <p:spPr>
          <a:xfrm>
            <a:off x="868680" y="2121408"/>
            <a:ext cx="6675120" cy="0"/>
          </a:xfrm>
          <a:prstGeom prst="line">
            <a:avLst/>
          </a:prstGeom>
          <a:noFill/>
          <a:ln w="10160">
            <a:solidFill>
              <a:srgbClr val="CBD5E1"/>
            </a:solidFill>
            <a:prstDash val="solid"/>
            <a:headEnd type="none"/>
            <a:tailEnd type="none"/>
          </a:ln>
        </p:spPr>
        <p:txBody>
          <a:bodyPr/>
          <a:lstStyle/>
          <a:p>
            <a:endParaRPr lang="en-GB"/>
          </a:p>
        </p:txBody>
      </p:sp>
      <p:sp>
        <p:nvSpPr>
          <p:cNvPr id="45" name="Text 43"/>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Self-attention uses the same temporal sequence as source, but learns different projections for search, matching and retrieval.</a:t>
            </a:r>
            <a:endParaRPr lang="en-US" sz="111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367DA2-DC3B-5CCD-75A2-4A9818FB4E0B}"/>
              </a:ext>
            </a:extLst>
          </p:cNvPr>
          <p:cNvSpPr>
            <a:spLocks noGrp="1"/>
          </p:cNvSpPr>
          <p:nvPr>
            <p:ph type="title"/>
          </p:nvPr>
        </p:nvSpPr>
        <p:spPr/>
        <p:txBody>
          <a:bodyPr/>
          <a:lstStyle/>
          <a:p>
            <a:r>
              <a:rPr lang="en-GB" dirty="0"/>
              <a:t>Every position obtains its own context-dependent representation</a:t>
            </a:r>
          </a:p>
        </p:txBody>
      </p:sp>
      <p:sp>
        <p:nvSpPr>
          <p:cNvPr id="3" name="Segnaposto contenuto 2">
            <a:extLst>
              <a:ext uri="{FF2B5EF4-FFF2-40B4-BE49-F238E27FC236}">
                <a16:creationId xmlns:a16="http://schemas.microsoft.com/office/drawing/2014/main" id="{6697C81E-3417-C50A-9600-42D27A6042F8}"/>
              </a:ext>
            </a:extLst>
          </p:cNvPr>
          <p:cNvSpPr>
            <a:spLocks noGrp="1"/>
          </p:cNvSpPr>
          <p:nvPr>
            <p:ph sz="half" idx="1"/>
          </p:nvPr>
        </p:nvSpPr>
        <p:spPr>
          <a:xfrm>
            <a:off x="677334" y="2160589"/>
            <a:ext cx="5490002" cy="4523362"/>
          </a:xfrm>
        </p:spPr>
        <p:txBody>
          <a:bodyPr>
            <a:normAutofit lnSpcReduction="10000"/>
          </a:bodyPr>
          <a:lstStyle/>
          <a:p>
            <a:r>
              <a:rPr lang="en-GB" dirty="0"/>
              <a:t>Consider an input sequence:</a:t>
            </a:r>
          </a:p>
          <a:p>
            <a:r>
              <a:rPr lang="en-GB" dirty="0"/>
              <a:t>x[1]  x[2]  x[3]  x[4]</a:t>
            </a:r>
          </a:p>
          <a:p>
            <a:r>
              <a:rPr lang="en-GB" dirty="0"/>
              <a:t>The representation at position 3 is not simply replaced by a fixed transformation of: x[3]</a:t>
            </a:r>
          </a:p>
          <a:p>
            <a:r>
              <a:rPr lang="en-GB" dirty="0"/>
              <a:t>Instead, </a:t>
            </a:r>
            <a:r>
              <a:rPr lang="en-GB" b="1" dirty="0"/>
              <a:t>its query can retrieve information from several positions</a:t>
            </a:r>
            <a:r>
              <a:rPr lang="en-GB" dirty="0"/>
              <a:t>.</a:t>
            </a:r>
          </a:p>
          <a:p>
            <a:r>
              <a:rPr lang="en-GB" dirty="0"/>
              <a:t>For example:</a:t>
            </a:r>
          </a:p>
          <a:p>
            <a:pPr lvl="1"/>
            <a:r>
              <a:rPr lang="en-GB" dirty="0"/>
              <a:t>position 1 → weight 0.10</a:t>
            </a:r>
          </a:p>
          <a:p>
            <a:pPr lvl="1"/>
            <a:r>
              <a:rPr lang="en-GB" dirty="0"/>
              <a:t>position 2 → weight 0.25</a:t>
            </a:r>
          </a:p>
          <a:p>
            <a:pPr lvl="1"/>
            <a:r>
              <a:rPr lang="en-GB" dirty="0"/>
              <a:t>position 3 → weight 0.20</a:t>
            </a:r>
          </a:p>
          <a:p>
            <a:pPr lvl="1"/>
            <a:r>
              <a:rPr lang="en-GB" dirty="0"/>
              <a:t>position 4 → weight 0.45</a:t>
            </a:r>
          </a:p>
          <a:p>
            <a:r>
              <a:rPr lang="en-GB" dirty="0"/>
              <a:t>Then the new representation at position 3 is a weighted combination of: v[1], v[2], v[3], v[4]</a:t>
            </a:r>
          </a:p>
          <a:p>
            <a:endParaRPr lang="en-GB" dirty="0"/>
          </a:p>
        </p:txBody>
      </p:sp>
      <p:sp>
        <p:nvSpPr>
          <p:cNvPr id="4" name="Segnaposto contenuto 3">
            <a:extLst>
              <a:ext uri="{FF2B5EF4-FFF2-40B4-BE49-F238E27FC236}">
                <a16:creationId xmlns:a16="http://schemas.microsoft.com/office/drawing/2014/main" id="{52A70117-EFF3-31C4-F4A0-5909D5B00B86}"/>
              </a:ext>
            </a:extLst>
          </p:cNvPr>
          <p:cNvSpPr>
            <a:spLocks noGrp="1"/>
          </p:cNvSpPr>
          <p:nvPr>
            <p:ph sz="half" idx="2"/>
          </p:nvPr>
        </p:nvSpPr>
        <p:spPr>
          <a:xfrm>
            <a:off x="6477359" y="2142183"/>
            <a:ext cx="5386719" cy="4541768"/>
          </a:xfrm>
        </p:spPr>
        <p:txBody>
          <a:bodyPr>
            <a:normAutofit lnSpcReduction="10000"/>
          </a:bodyPr>
          <a:lstStyle/>
          <a:p>
            <a:r>
              <a:rPr lang="en-GB" b="1" dirty="0"/>
              <a:t>At </a:t>
            </a:r>
            <a:r>
              <a:rPr lang="en-GB" b="1" dirty="0">
                <a:highlight>
                  <a:srgbClr val="FFFF00"/>
                </a:highlight>
              </a:rPr>
              <a:t>another</a:t>
            </a:r>
            <a:r>
              <a:rPr lang="en-GB" b="1" dirty="0"/>
              <a:t> position</a:t>
            </a:r>
          </a:p>
          <a:p>
            <a:r>
              <a:rPr lang="en-GB" dirty="0"/>
              <a:t>The weights can be completely different.</a:t>
            </a:r>
          </a:p>
          <a:p>
            <a:r>
              <a:rPr lang="en-GB" dirty="0"/>
              <a:t>For position 1: 0.60, 0.20, 0.10, 0.10</a:t>
            </a:r>
          </a:p>
          <a:p>
            <a:r>
              <a:rPr lang="en-GB" dirty="0"/>
              <a:t>For position 3: 0.10, 0.25, 0.20, 0.45</a:t>
            </a:r>
          </a:p>
          <a:p>
            <a:endParaRPr lang="en-GB" dirty="0"/>
          </a:p>
          <a:p>
            <a:r>
              <a:rPr lang="en-GB" b="1" dirty="0"/>
              <a:t>There is no single fixed attention pattern for the complete sequence.</a:t>
            </a:r>
          </a:p>
          <a:p>
            <a:r>
              <a:rPr lang="en-GB" b="1" dirty="0"/>
              <a:t>Each position decides which other positions are relevant to its own representation.</a:t>
            </a:r>
          </a:p>
          <a:p>
            <a:endParaRPr lang="en-GB" dirty="0"/>
          </a:p>
        </p:txBody>
      </p:sp>
      <p:cxnSp>
        <p:nvCxnSpPr>
          <p:cNvPr id="6" name="Connettore 2 5">
            <a:extLst>
              <a:ext uri="{FF2B5EF4-FFF2-40B4-BE49-F238E27FC236}">
                <a16:creationId xmlns:a16="http://schemas.microsoft.com/office/drawing/2014/main" id="{5BACFA92-2F44-69F2-1A02-025D05D1A40E}"/>
              </a:ext>
            </a:extLst>
          </p:cNvPr>
          <p:cNvCxnSpPr/>
          <p:nvPr/>
        </p:nvCxnSpPr>
        <p:spPr>
          <a:xfrm>
            <a:off x="7772400" y="2451370"/>
            <a:ext cx="408562" cy="977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772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Every query position builds its own context</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Example: </a:t>
            </a:r>
            <a:r>
              <a:rPr lang="en-US" sz="1250" b="1" dirty="0">
                <a:solidFill>
                  <a:srgbClr val="475569"/>
                </a:solidFill>
              </a:rPr>
              <a:t>position 3 retrieves information from all value vectors with its own weights.</a:t>
            </a:r>
            <a:endParaRPr lang="en-US" sz="1250" b="1" dirty="0"/>
          </a:p>
        </p:txBody>
      </p:sp>
      <p:sp>
        <p:nvSpPr>
          <p:cNvPr id="5" name="Text 3"/>
          <p:cNvSpPr/>
          <p:nvPr/>
        </p:nvSpPr>
        <p:spPr>
          <a:xfrm>
            <a:off x="914400" y="1463040"/>
            <a:ext cx="685800" cy="41148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v[1]</a:t>
            </a:r>
            <a:endParaRPr lang="en-US" sz="1300" dirty="0"/>
          </a:p>
        </p:txBody>
      </p:sp>
      <p:sp>
        <p:nvSpPr>
          <p:cNvPr id="6" name="Text 4"/>
          <p:cNvSpPr/>
          <p:nvPr/>
        </p:nvSpPr>
        <p:spPr>
          <a:xfrm>
            <a:off x="1965960" y="1463040"/>
            <a:ext cx="685800" cy="41148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v[2]</a:t>
            </a:r>
            <a:endParaRPr lang="en-US" sz="1300" dirty="0"/>
          </a:p>
        </p:txBody>
      </p:sp>
      <p:sp>
        <p:nvSpPr>
          <p:cNvPr id="7" name="Text 5"/>
          <p:cNvSpPr/>
          <p:nvPr/>
        </p:nvSpPr>
        <p:spPr>
          <a:xfrm>
            <a:off x="3017520" y="1463040"/>
            <a:ext cx="685800" cy="41148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v[3]</a:t>
            </a:r>
            <a:endParaRPr lang="en-US" sz="1300" dirty="0"/>
          </a:p>
        </p:txBody>
      </p:sp>
      <p:sp>
        <p:nvSpPr>
          <p:cNvPr id="8" name="Text 6"/>
          <p:cNvSpPr/>
          <p:nvPr/>
        </p:nvSpPr>
        <p:spPr>
          <a:xfrm>
            <a:off x="4069080" y="1463040"/>
            <a:ext cx="685800" cy="41148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v[4]</a:t>
            </a:r>
            <a:endParaRPr lang="en-US" sz="1300" dirty="0"/>
          </a:p>
        </p:txBody>
      </p:sp>
      <p:sp>
        <p:nvSpPr>
          <p:cNvPr id="9" name="Text 7"/>
          <p:cNvSpPr/>
          <p:nvPr/>
        </p:nvSpPr>
        <p:spPr>
          <a:xfrm>
            <a:off x="5120640" y="1463040"/>
            <a:ext cx="685800" cy="41148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v[5]</a:t>
            </a:r>
            <a:endParaRPr lang="en-US" sz="1300" dirty="0"/>
          </a:p>
        </p:txBody>
      </p:sp>
      <p:sp>
        <p:nvSpPr>
          <p:cNvPr id="10" name="Text 8"/>
          <p:cNvSpPr/>
          <p:nvPr/>
        </p:nvSpPr>
        <p:spPr>
          <a:xfrm>
            <a:off x="1030986" y="3534155"/>
            <a:ext cx="1143000" cy="502920"/>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500" b="1" dirty="0">
                <a:solidFill>
                  <a:srgbClr val="0F172A"/>
                </a:solidFill>
                <a:latin typeface="Aptos" pitchFamily="34" charset="0"/>
                <a:ea typeface="Aptos" pitchFamily="34" charset="-122"/>
                <a:cs typeface="Aptos" pitchFamily="34" charset="-120"/>
              </a:rPr>
              <a:t>q[3]</a:t>
            </a:r>
            <a:endParaRPr lang="en-US" sz="1500" dirty="0"/>
          </a:p>
        </p:txBody>
      </p:sp>
      <p:sp>
        <p:nvSpPr>
          <p:cNvPr id="11" name="Shape 9"/>
          <p:cNvSpPr/>
          <p:nvPr/>
        </p:nvSpPr>
        <p:spPr>
          <a:xfrm>
            <a:off x="1597914" y="3534155"/>
            <a:ext cx="0" cy="0"/>
          </a:xfrm>
          <a:prstGeom prst="line">
            <a:avLst/>
          </a:prstGeom>
          <a:noFill/>
          <a:ln w="17780">
            <a:solidFill>
              <a:srgbClr val="7C3AED"/>
            </a:solidFill>
            <a:prstDash val="solid"/>
            <a:headEnd type="none"/>
            <a:tailEnd type="triangle"/>
          </a:ln>
        </p:spPr>
        <p:txBody>
          <a:bodyPr/>
          <a:lstStyle/>
          <a:p>
            <a:endParaRPr lang="en-GB"/>
          </a:p>
        </p:txBody>
      </p:sp>
      <p:sp>
        <p:nvSpPr>
          <p:cNvPr id="12" name="Text 10"/>
          <p:cNvSpPr/>
          <p:nvPr/>
        </p:nvSpPr>
        <p:spPr>
          <a:xfrm>
            <a:off x="2606040" y="2560320"/>
            <a:ext cx="502920" cy="164592"/>
          </a:xfrm>
          <a:prstGeom prst="rect">
            <a:avLst/>
          </a:prstGeom>
          <a:noFill/>
          <a:ln/>
        </p:spPr>
        <p:txBody>
          <a:bodyPr wrap="square" lIns="0" tIns="0" rIns="0" bIns="0" rtlCol="0" anchor="ctr">
            <a:normAutofit/>
          </a:bodyPr>
          <a:lstStyle/>
          <a:p>
            <a:pPr marL="0" indent="0" algn="ctr">
              <a:buNone/>
            </a:pPr>
            <a:r>
              <a:rPr lang="en-US" sz="1050" b="1" dirty="0">
                <a:solidFill>
                  <a:srgbClr val="7C3AED"/>
                </a:solidFill>
                <a:latin typeface="Aptos" pitchFamily="34" charset="0"/>
                <a:ea typeface="Aptos" pitchFamily="34" charset="-122"/>
                <a:cs typeface="Aptos" pitchFamily="34" charset="-120"/>
              </a:rPr>
              <a:t>0.10</a:t>
            </a:r>
            <a:endParaRPr lang="en-US" sz="1050" dirty="0"/>
          </a:p>
        </p:txBody>
      </p:sp>
      <p:sp>
        <p:nvSpPr>
          <p:cNvPr id="13" name="Shape 11"/>
          <p:cNvSpPr/>
          <p:nvPr/>
        </p:nvSpPr>
        <p:spPr>
          <a:xfrm>
            <a:off x="1597914" y="3534155"/>
            <a:ext cx="0" cy="0"/>
          </a:xfrm>
          <a:prstGeom prst="line">
            <a:avLst/>
          </a:prstGeom>
          <a:noFill/>
          <a:ln w="25400">
            <a:solidFill>
              <a:srgbClr val="7C3AED"/>
            </a:solidFill>
            <a:prstDash val="solid"/>
            <a:headEnd type="none"/>
            <a:tailEnd type="triangle"/>
          </a:ln>
        </p:spPr>
        <p:txBody>
          <a:bodyPr/>
          <a:lstStyle/>
          <a:p>
            <a:endParaRPr lang="en-GB"/>
          </a:p>
        </p:txBody>
      </p:sp>
      <p:sp>
        <p:nvSpPr>
          <p:cNvPr id="14" name="Text 12"/>
          <p:cNvSpPr/>
          <p:nvPr/>
        </p:nvSpPr>
        <p:spPr>
          <a:xfrm>
            <a:off x="3131820" y="2560320"/>
            <a:ext cx="502920" cy="164592"/>
          </a:xfrm>
          <a:prstGeom prst="rect">
            <a:avLst/>
          </a:prstGeom>
          <a:noFill/>
          <a:ln/>
        </p:spPr>
        <p:txBody>
          <a:bodyPr wrap="square" lIns="0" tIns="0" rIns="0" bIns="0" rtlCol="0" anchor="ctr">
            <a:normAutofit/>
          </a:bodyPr>
          <a:lstStyle/>
          <a:p>
            <a:pPr marL="0" indent="0" algn="ctr">
              <a:buNone/>
            </a:pPr>
            <a:r>
              <a:rPr lang="en-US" sz="1050" b="1" dirty="0">
                <a:solidFill>
                  <a:srgbClr val="7C3AED"/>
                </a:solidFill>
                <a:latin typeface="Aptos" pitchFamily="34" charset="0"/>
                <a:ea typeface="Aptos" pitchFamily="34" charset="-122"/>
                <a:cs typeface="Aptos" pitchFamily="34" charset="-120"/>
              </a:rPr>
              <a:t>0.25</a:t>
            </a:r>
            <a:endParaRPr lang="en-US" sz="1050" dirty="0"/>
          </a:p>
        </p:txBody>
      </p:sp>
      <p:sp>
        <p:nvSpPr>
          <p:cNvPr id="15" name="Shape 13"/>
          <p:cNvSpPr/>
          <p:nvPr/>
        </p:nvSpPr>
        <p:spPr>
          <a:xfrm>
            <a:off x="1597914" y="3534155"/>
            <a:ext cx="0" cy="0"/>
          </a:xfrm>
          <a:prstGeom prst="line">
            <a:avLst/>
          </a:prstGeom>
          <a:noFill/>
          <a:ln w="22860">
            <a:solidFill>
              <a:srgbClr val="7C3AED"/>
            </a:solidFill>
            <a:prstDash val="solid"/>
            <a:headEnd type="none"/>
            <a:tailEnd type="triangle"/>
          </a:ln>
        </p:spPr>
        <p:txBody>
          <a:bodyPr/>
          <a:lstStyle/>
          <a:p>
            <a:endParaRPr lang="en-GB"/>
          </a:p>
        </p:txBody>
      </p:sp>
      <p:sp>
        <p:nvSpPr>
          <p:cNvPr id="16" name="Text 14"/>
          <p:cNvSpPr/>
          <p:nvPr/>
        </p:nvSpPr>
        <p:spPr>
          <a:xfrm>
            <a:off x="3657600" y="2560320"/>
            <a:ext cx="502920" cy="164592"/>
          </a:xfrm>
          <a:prstGeom prst="rect">
            <a:avLst/>
          </a:prstGeom>
          <a:noFill/>
          <a:ln/>
        </p:spPr>
        <p:txBody>
          <a:bodyPr wrap="square" lIns="0" tIns="0" rIns="0" bIns="0" rtlCol="0" anchor="ctr">
            <a:normAutofit/>
          </a:bodyPr>
          <a:lstStyle/>
          <a:p>
            <a:pPr marL="0" indent="0" algn="ctr">
              <a:buNone/>
            </a:pPr>
            <a:r>
              <a:rPr lang="en-US" sz="1050" b="1" dirty="0">
                <a:solidFill>
                  <a:srgbClr val="7C3AED"/>
                </a:solidFill>
                <a:latin typeface="Aptos" pitchFamily="34" charset="0"/>
                <a:ea typeface="Aptos" pitchFamily="34" charset="-122"/>
                <a:cs typeface="Aptos" pitchFamily="34" charset="-120"/>
              </a:rPr>
              <a:t>0.20</a:t>
            </a:r>
            <a:endParaRPr lang="en-US" sz="1050" dirty="0"/>
          </a:p>
        </p:txBody>
      </p:sp>
      <p:sp>
        <p:nvSpPr>
          <p:cNvPr id="18" name="Text 16"/>
          <p:cNvSpPr/>
          <p:nvPr/>
        </p:nvSpPr>
        <p:spPr>
          <a:xfrm>
            <a:off x="4183380" y="2560320"/>
            <a:ext cx="502920" cy="164592"/>
          </a:xfrm>
          <a:prstGeom prst="rect">
            <a:avLst/>
          </a:prstGeom>
          <a:noFill/>
          <a:ln/>
        </p:spPr>
        <p:txBody>
          <a:bodyPr wrap="square" lIns="0" tIns="0" rIns="0" bIns="0" rtlCol="0" anchor="ctr">
            <a:normAutofit/>
          </a:bodyPr>
          <a:lstStyle/>
          <a:p>
            <a:pPr marL="0" indent="0" algn="ctr">
              <a:buNone/>
            </a:pPr>
            <a:r>
              <a:rPr lang="en-US" sz="1050" b="1" dirty="0">
                <a:solidFill>
                  <a:srgbClr val="7C3AED"/>
                </a:solidFill>
                <a:latin typeface="Aptos" pitchFamily="34" charset="0"/>
                <a:ea typeface="Aptos" pitchFamily="34" charset="-122"/>
                <a:cs typeface="Aptos" pitchFamily="34" charset="-120"/>
              </a:rPr>
              <a:t>0.35</a:t>
            </a:r>
            <a:endParaRPr lang="en-US" sz="1050" dirty="0"/>
          </a:p>
        </p:txBody>
      </p:sp>
      <p:sp>
        <p:nvSpPr>
          <p:cNvPr id="20" name="Text 18"/>
          <p:cNvSpPr/>
          <p:nvPr/>
        </p:nvSpPr>
        <p:spPr>
          <a:xfrm>
            <a:off x="4709160" y="2560320"/>
            <a:ext cx="502920" cy="164592"/>
          </a:xfrm>
          <a:prstGeom prst="rect">
            <a:avLst/>
          </a:prstGeom>
          <a:noFill/>
          <a:ln/>
        </p:spPr>
        <p:txBody>
          <a:bodyPr wrap="square" lIns="0" tIns="0" rIns="0" bIns="0" rtlCol="0" anchor="ctr">
            <a:normAutofit/>
          </a:bodyPr>
          <a:lstStyle/>
          <a:p>
            <a:pPr marL="0" indent="0" algn="ctr">
              <a:buNone/>
            </a:pPr>
            <a:r>
              <a:rPr lang="en-US" sz="1050" b="1" dirty="0">
                <a:solidFill>
                  <a:srgbClr val="7C3AED"/>
                </a:solidFill>
                <a:latin typeface="Aptos" pitchFamily="34" charset="0"/>
                <a:ea typeface="Aptos" pitchFamily="34" charset="-122"/>
                <a:cs typeface="Aptos" pitchFamily="34" charset="-120"/>
              </a:rPr>
              <a:t>0.10</a:t>
            </a:r>
            <a:endParaRPr lang="en-US" sz="1050" dirty="0"/>
          </a:p>
        </p:txBody>
      </p:sp>
      <p:sp>
        <p:nvSpPr>
          <p:cNvPr id="21" name="Text 19"/>
          <p:cNvSpPr/>
          <p:nvPr/>
        </p:nvSpPr>
        <p:spPr>
          <a:xfrm>
            <a:off x="7562088" y="3419856"/>
            <a:ext cx="1508760" cy="658368"/>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500" b="1" dirty="0">
                <a:solidFill>
                  <a:srgbClr val="0F172A"/>
                </a:solidFill>
                <a:latin typeface="Aptos" pitchFamily="34" charset="0"/>
                <a:ea typeface="Aptos" pitchFamily="34" charset="-122"/>
                <a:cs typeface="Aptos" pitchFamily="34" charset="-120"/>
              </a:rPr>
              <a:t>output[3]</a:t>
            </a:r>
            <a:endParaRPr lang="en-US" sz="1500" dirty="0"/>
          </a:p>
        </p:txBody>
      </p:sp>
      <p:sp>
        <p:nvSpPr>
          <p:cNvPr id="22" name="Shape 20"/>
          <p:cNvSpPr/>
          <p:nvPr/>
        </p:nvSpPr>
        <p:spPr>
          <a:xfrm flipV="1">
            <a:off x="2173986" y="3749040"/>
            <a:ext cx="5324094" cy="36576"/>
          </a:xfrm>
          <a:prstGeom prst="line">
            <a:avLst/>
          </a:prstGeom>
          <a:noFill/>
          <a:ln w="25400">
            <a:solidFill>
              <a:srgbClr val="79A80D"/>
            </a:solidFill>
            <a:prstDash val="solid"/>
            <a:headEnd type="none"/>
            <a:tailEnd type="triangle"/>
          </a:ln>
        </p:spPr>
        <p:txBody>
          <a:bodyPr/>
          <a:lstStyle/>
          <a:p>
            <a:endParaRPr lang="en-GB"/>
          </a:p>
        </p:txBody>
      </p:sp>
      <p:sp>
        <p:nvSpPr>
          <p:cNvPr id="23" name="Text 21"/>
          <p:cNvSpPr/>
          <p:nvPr/>
        </p:nvSpPr>
        <p:spPr>
          <a:xfrm>
            <a:off x="5074920" y="3977640"/>
            <a:ext cx="2103120" cy="365760"/>
          </a:xfrm>
          <a:prstGeom prst="rect">
            <a:avLst/>
          </a:prstGeom>
          <a:noFill/>
          <a:ln/>
        </p:spPr>
        <p:txBody>
          <a:bodyPr wrap="square" lIns="0" tIns="0" rIns="0" bIns="0" rtlCol="0" anchor="ctr">
            <a:normAutofit/>
          </a:bodyPr>
          <a:lstStyle/>
          <a:p>
            <a:pPr marL="0" indent="0" algn="ctr">
              <a:buNone/>
            </a:pPr>
            <a:r>
              <a:rPr lang="en-US" sz="1250" b="1" dirty="0">
                <a:solidFill>
                  <a:srgbClr val="79A80D"/>
                </a:solidFill>
                <a:latin typeface="Aptos" pitchFamily="34" charset="0"/>
                <a:ea typeface="Aptos" pitchFamily="34" charset="-122"/>
                <a:cs typeface="Aptos" pitchFamily="34" charset="-120"/>
              </a:rPr>
              <a:t>weighted sum of values</a:t>
            </a:r>
            <a:endParaRPr lang="en-US" sz="1250" dirty="0"/>
          </a:p>
        </p:txBody>
      </p:sp>
      <p:sp>
        <p:nvSpPr>
          <p:cNvPr id="24" name="Text 22"/>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A different query position would have a different row of weights and therefore a different context.</a:t>
            </a:r>
            <a:endParaRPr lang="en-US" sz="1110" dirty="0"/>
          </a:p>
        </p:txBody>
      </p:sp>
      <p:sp>
        <p:nvSpPr>
          <p:cNvPr id="25" name="CasellaDiTesto 24">
            <a:extLst>
              <a:ext uri="{FF2B5EF4-FFF2-40B4-BE49-F238E27FC236}">
                <a16:creationId xmlns:a16="http://schemas.microsoft.com/office/drawing/2014/main" id="{5F14A055-8A28-6D15-3452-375FAFA1E05A}"/>
              </a:ext>
            </a:extLst>
          </p:cNvPr>
          <p:cNvSpPr txBox="1"/>
          <p:nvPr/>
        </p:nvSpPr>
        <p:spPr>
          <a:xfrm>
            <a:off x="5593404" y="2461098"/>
            <a:ext cx="3546024" cy="307777"/>
          </a:xfrm>
          <a:prstGeom prst="rect">
            <a:avLst/>
          </a:prstGeom>
          <a:noFill/>
        </p:spPr>
        <p:txBody>
          <a:bodyPr wrap="square" rtlCol="0">
            <a:spAutoFit/>
          </a:bodyPr>
          <a:lstStyle/>
          <a:p>
            <a:r>
              <a:rPr lang="it-IT" sz="1400" dirty="0"/>
              <a:t>The </a:t>
            </a:r>
            <a:r>
              <a:rPr lang="it-IT" sz="1400" dirty="0" err="1"/>
              <a:t>attention</a:t>
            </a:r>
            <a:r>
              <a:rPr lang="it-IT" sz="1400" dirty="0"/>
              <a:t> weights for position [3]</a:t>
            </a:r>
            <a:endParaRPr lang="en-GB"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43AFCF-479F-4CED-E0AF-3DC5CD348ED8}"/>
              </a:ext>
            </a:extLst>
          </p:cNvPr>
          <p:cNvSpPr>
            <a:spLocks noGrp="1"/>
          </p:cNvSpPr>
          <p:nvPr>
            <p:ph type="title"/>
          </p:nvPr>
        </p:nvSpPr>
        <p:spPr/>
        <p:txBody>
          <a:bodyPr/>
          <a:lstStyle/>
          <a:p>
            <a:r>
              <a:rPr lang="en-GB" dirty="0"/>
              <a:t>The attention matrix</a:t>
            </a:r>
          </a:p>
        </p:txBody>
      </p:sp>
      <p:sp>
        <p:nvSpPr>
          <p:cNvPr id="3" name="Segnaposto contenuto 2">
            <a:extLst>
              <a:ext uri="{FF2B5EF4-FFF2-40B4-BE49-F238E27FC236}">
                <a16:creationId xmlns:a16="http://schemas.microsoft.com/office/drawing/2014/main" id="{DC7C1F32-A95D-8E38-A49C-04EF4CA7CEA5}"/>
              </a:ext>
            </a:extLst>
          </p:cNvPr>
          <p:cNvSpPr>
            <a:spLocks noGrp="1"/>
          </p:cNvSpPr>
          <p:nvPr>
            <p:ph idx="1"/>
          </p:nvPr>
        </p:nvSpPr>
        <p:spPr/>
        <p:txBody>
          <a:bodyPr/>
          <a:lstStyle/>
          <a:p>
            <a:r>
              <a:rPr lang="en-GB" dirty="0"/>
              <a:t>For a sequence of length L, self-attention produces a set of weights that can be represented as an: L × L matrix.</a:t>
            </a:r>
          </a:p>
          <a:p>
            <a:r>
              <a:rPr lang="en-GB" dirty="0"/>
              <a:t>Each row corresponds to one query position.</a:t>
            </a:r>
          </a:p>
          <a:p>
            <a:r>
              <a:rPr lang="en-GB" dirty="0"/>
              <a:t>Each column corresponds to one key/value position.</a:t>
            </a:r>
          </a:p>
          <a:p>
            <a:r>
              <a:rPr lang="en-GB" dirty="0"/>
              <a:t>Example for L = 4:</a:t>
            </a:r>
          </a:p>
          <a:p>
            <a:endParaRPr lang="en-GB" dirty="0"/>
          </a:p>
        </p:txBody>
      </p:sp>
      <p:pic>
        <p:nvPicPr>
          <p:cNvPr id="5" name="Immagine 4">
            <a:extLst>
              <a:ext uri="{FF2B5EF4-FFF2-40B4-BE49-F238E27FC236}">
                <a16:creationId xmlns:a16="http://schemas.microsoft.com/office/drawing/2014/main" id="{D1BAF682-AAEC-32B2-DC23-170D04E6F6D0}"/>
              </a:ext>
            </a:extLst>
          </p:cNvPr>
          <p:cNvPicPr>
            <a:picLocks noChangeAspect="1"/>
          </p:cNvPicPr>
          <p:nvPr/>
        </p:nvPicPr>
        <p:blipFill>
          <a:blip r:embed="rId2"/>
          <a:stretch>
            <a:fillRect/>
          </a:stretch>
        </p:blipFill>
        <p:spPr>
          <a:xfrm>
            <a:off x="3130444" y="3757829"/>
            <a:ext cx="7718874" cy="2604060"/>
          </a:xfrm>
          <a:prstGeom prst="rect">
            <a:avLst/>
          </a:prstGeom>
        </p:spPr>
      </p:pic>
    </p:spTree>
    <p:extLst>
      <p:ext uri="{BB962C8B-B14F-4D97-AF65-F5344CB8AC3E}">
        <p14:creationId xmlns:p14="http://schemas.microsoft.com/office/powerpoint/2010/main" val="30679175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D5FD9B-906D-F522-7958-DA84F0A1D2E0}"/>
              </a:ext>
            </a:extLst>
          </p:cNvPr>
          <p:cNvSpPr>
            <a:spLocks noGrp="1"/>
          </p:cNvSpPr>
          <p:nvPr>
            <p:ph type="title"/>
          </p:nvPr>
        </p:nvSpPr>
        <p:spPr/>
        <p:txBody>
          <a:bodyPr/>
          <a:lstStyle/>
          <a:p>
            <a:r>
              <a:rPr lang="en-GB" dirty="0"/>
              <a:t>The attention matrix</a:t>
            </a:r>
          </a:p>
        </p:txBody>
      </p:sp>
      <p:sp>
        <p:nvSpPr>
          <p:cNvPr id="3" name="Segnaposto contenuto 2">
            <a:extLst>
              <a:ext uri="{FF2B5EF4-FFF2-40B4-BE49-F238E27FC236}">
                <a16:creationId xmlns:a16="http://schemas.microsoft.com/office/drawing/2014/main" id="{5CFCF6E2-CB1F-D58D-9F6C-6263731E3EFB}"/>
              </a:ext>
            </a:extLst>
          </p:cNvPr>
          <p:cNvSpPr>
            <a:spLocks noGrp="1"/>
          </p:cNvSpPr>
          <p:nvPr>
            <p:ph idx="1"/>
          </p:nvPr>
        </p:nvSpPr>
        <p:spPr/>
        <p:txBody>
          <a:bodyPr>
            <a:normAutofit fontScale="92500" lnSpcReduction="10000"/>
          </a:bodyPr>
          <a:lstStyle/>
          <a:p>
            <a:r>
              <a:rPr lang="en-GB" b="1" dirty="0"/>
              <a:t>Interpretation</a:t>
            </a:r>
          </a:p>
          <a:p>
            <a:r>
              <a:rPr lang="en-GB" dirty="0"/>
              <a:t>Row 3 answers:</a:t>
            </a:r>
          </a:p>
          <a:p>
            <a:pPr lvl="1"/>
            <a:r>
              <a:rPr lang="en-GB" dirty="0"/>
              <a:t>Which sequence positions contribute to the updated representation of position 3?</a:t>
            </a:r>
          </a:p>
          <a:p>
            <a:pPr lvl="1"/>
            <a:r>
              <a:rPr lang="en-GB" dirty="0"/>
              <a:t>The weights in each row sum to approximately 1 after </a:t>
            </a:r>
            <a:r>
              <a:rPr lang="en-GB" dirty="0" err="1"/>
              <a:t>softmax</a:t>
            </a:r>
            <a:r>
              <a:rPr lang="en-GB" dirty="0"/>
              <a:t>.</a:t>
            </a:r>
          </a:p>
          <a:p>
            <a:r>
              <a:rPr lang="en-GB" b="1" dirty="0"/>
              <a:t>Useful visualization</a:t>
            </a:r>
          </a:p>
          <a:p>
            <a:r>
              <a:rPr lang="en-GB" dirty="0"/>
              <a:t>Represent the matrix as a heatmap:</a:t>
            </a:r>
          </a:p>
          <a:p>
            <a:pPr lvl="0"/>
            <a:r>
              <a:rPr lang="en-GB" dirty="0"/>
              <a:t>dark cell → high attention weight; </a:t>
            </a:r>
          </a:p>
          <a:p>
            <a:pPr lvl="0"/>
            <a:r>
              <a:rPr lang="en-GB" dirty="0"/>
              <a:t>light cell → low attention weight. </a:t>
            </a:r>
          </a:p>
          <a:p>
            <a:endParaRPr lang="en-GB" dirty="0"/>
          </a:p>
          <a:p>
            <a:r>
              <a:rPr lang="en-GB" b="1" dirty="0"/>
              <a:t>The attention matrix describes the pattern of information exchange among temporal positions.</a:t>
            </a:r>
          </a:p>
          <a:p>
            <a:endParaRPr lang="en-GB" dirty="0"/>
          </a:p>
        </p:txBody>
      </p:sp>
    </p:spTree>
    <p:extLst>
      <p:ext uri="{BB962C8B-B14F-4D97-AF65-F5344CB8AC3E}">
        <p14:creationId xmlns:p14="http://schemas.microsoft.com/office/powerpoint/2010/main" val="8158832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The attention matrix</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Rows are query positions; columns are key/value positions.</a:t>
            </a:r>
            <a:endParaRPr lang="en-US" sz="1250" dirty="0"/>
          </a:p>
        </p:txBody>
      </p:sp>
      <p:sp>
        <p:nvSpPr>
          <p:cNvPr id="5" name="Text 3"/>
          <p:cNvSpPr/>
          <p:nvPr/>
        </p:nvSpPr>
        <p:spPr>
          <a:xfrm>
            <a:off x="2871216" y="1193292"/>
            <a:ext cx="1920240" cy="27432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Key / value position</a:t>
            </a:r>
            <a:endParaRPr lang="en-US" sz="1300" dirty="0"/>
          </a:p>
        </p:txBody>
      </p:sp>
      <p:sp>
        <p:nvSpPr>
          <p:cNvPr id="6" name="Text 4"/>
          <p:cNvSpPr/>
          <p:nvPr/>
        </p:nvSpPr>
        <p:spPr>
          <a:xfrm>
            <a:off x="2487168" y="1399032"/>
            <a:ext cx="658368"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1</a:t>
            </a:r>
            <a:endParaRPr lang="en-US" sz="1200" dirty="0"/>
          </a:p>
        </p:txBody>
      </p:sp>
      <p:sp>
        <p:nvSpPr>
          <p:cNvPr id="7" name="Text 5"/>
          <p:cNvSpPr/>
          <p:nvPr/>
        </p:nvSpPr>
        <p:spPr>
          <a:xfrm>
            <a:off x="3145536" y="1399032"/>
            <a:ext cx="658368"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2</a:t>
            </a:r>
            <a:endParaRPr lang="en-US" sz="1200" dirty="0"/>
          </a:p>
        </p:txBody>
      </p:sp>
      <p:sp>
        <p:nvSpPr>
          <p:cNvPr id="8" name="Text 6"/>
          <p:cNvSpPr/>
          <p:nvPr/>
        </p:nvSpPr>
        <p:spPr>
          <a:xfrm>
            <a:off x="3803904" y="1399032"/>
            <a:ext cx="658368"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3</a:t>
            </a:r>
            <a:endParaRPr lang="en-US" sz="1200" dirty="0"/>
          </a:p>
        </p:txBody>
      </p:sp>
      <p:sp>
        <p:nvSpPr>
          <p:cNvPr id="9" name="Text 7"/>
          <p:cNvSpPr/>
          <p:nvPr/>
        </p:nvSpPr>
        <p:spPr>
          <a:xfrm>
            <a:off x="4462272" y="1399032"/>
            <a:ext cx="658368"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4</a:t>
            </a:r>
            <a:endParaRPr lang="en-US" sz="1200" dirty="0"/>
          </a:p>
        </p:txBody>
      </p:sp>
      <p:sp>
        <p:nvSpPr>
          <p:cNvPr id="10" name="Text 8"/>
          <p:cNvSpPr/>
          <p:nvPr/>
        </p:nvSpPr>
        <p:spPr>
          <a:xfrm>
            <a:off x="1097280" y="2167128"/>
            <a:ext cx="548640" cy="658368"/>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Q1</a:t>
            </a:r>
            <a:endParaRPr lang="en-US" sz="1200" dirty="0"/>
          </a:p>
        </p:txBody>
      </p:sp>
      <p:sp>
        <p:nvSpPr>
          <p:cNvPr id="11" name="Text 9"/>
          <p:cNvSpPr/>
          <p:nvPr/>
        </p:nvSpPr>
        <p:spPr>
          <a:xfrm>
            <a:off x="1097280" y="2825496"/>
            <a:ext cx="548640" cy="658368"/>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Q2</a:t>
            </a:r>
            <a:endParaRPr lang="en-US" sz="1200" dirty="0"/>
          </a:p>
        </p:txBody>
      </p:sp>
      <p:sp>
        <p:nvSpPr>
          <p:cNvPr id="12" name="Text 10"/>
          <p:cNvSpPr/>
          <p:nvPr/>
        </p:nvSpPr>
        <p:spPr>
          <a:xfrm>
            <a:off x="1097280" y="3483864"/>
            <a:ext cx="548640" cy="658368"/>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Q3</a:t>
            </a:r>
            <a:endParaRPr lang="en-US" sz="1200" dirty="0"/>
          </a:p>
        </p:txBody>
      </p:sp>
      <p:sp>
        <p:nvSpPr>
          <p:cNvPr id="13" name="Text 11"/>
          <p:cNvSpPr/>
          <p:nvPr/>
        </p:nvSpPr>
        <p:spPr>
          <a:xfrm>
            <a:off x="1097280" y="4142232"/>
            <a:ext cx="548640" cy="658368"/>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Q4</a:t>
            </a:r>
            <a:endParaRPr lang="en-US" sz="1200" dirty="0"/>
          </a:p>
        </p:txBody>
      </p:sp>
      <p:sp>
        <p:nvSpPr>
          <p:cNvPr id="14" name="Text 12"/>
          <p:cNvSpPr/>
          <p:nvPr/>
        </p:nvSpPr>
        <p:spPr>
          <a:xfrm>
            <a:off x="2487168" y="2167128"/>
            <a:ext cx="658368" cy="658368"/>
          </a:xfrm>
          <a:prstGeom prst="rect">
            <a:avLst/>
          </a:prstGeom>
          <a:solidFill>
            <a:srgbClr val="22C55E"/>
          </a:solidFill>
          <a:ln w="10160">
            <a:solidFill>
              <a:srgbClr val="FFFFFF"/>
            </a:solidFill>
          </a:ln>
        </p:spPr>
        <p:txBody>
          <a:bodyPr wrap="square" lIns="0" tIns="0" rIns="0" bIns="0" rtlCol="0" anchor="ctr">
            <a:normAutofit/>
          </a:bodyPr>
          <a:lstStyle/>
          <a:p>
            <a:pPr marL="0" indent="0" algn="ctr">
              <a:buNone/>
            </a:pPr>
            <a:r>
              <a:rPr lang="en-US" sz="1050" b="1" dirty="0">
                <a:solidFill>
                  <a:srgbClr val="0F172A"/>
                </a:solidFill>
              </a:rPr>
              <a:t>0.60</a:t>
            </a:r>
            <a:endParaRPr lang="en-US" sz="1050" dirty="0"/>
          </a:p>
        </p:txBody>
      </p:sp>
      <p:sp>
        <p:nvSpPr>
          <p:cNvPr id="15" name="Text 13"/>
          <p:cNvSpPr/>
          <p:nvPr/>
        </p:nvSpPr>
        <p:spPr>
          <a:xfrm>
            <a:off x="3145536" y="2167128"/>
            <a:ext cx="658368" cy="658368"/>
          </a:xfrm>
          <a:prstGeom prst="rect">
            <a:avLst/>
          </a:prstGeom>
          <a:solidFill>
            <a:srgbClr val="BBF7D0"/>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0.20</a:t>
            </a:r>
            <a:endParaRPr lang="en-US" sz="1050" dirty="0"/>
          </a:p>
        </p:txBody>
      </p:sp>
      <p:sp>
        <p:nvSpPr>
          <p:cNvPr id="16" name="Text 14"/>
          <p:cNvSpPr/>
          <p:nvPr/>
        </p:nvSpPr>
        <p:spPr>
          <a:xfrm>
            <a:off x="3803904" y="2167128"/>
            <a:ext cx="658368" cy="658368"/>
          </a:xfrm>
          <a:prstGeom prst="rect">
            <a:avLst/>
          </a:prstGeom>
          <a:solidFill>
            <a:srgbClr val="DCFCE7"/>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0.10</a:t>
            </a:r>
            <a:endParaRPr lang="en-US" sz="1050" dirty="0"/>
          </a:p>
        </p:txBody>
      </p:sp>
      <p:sp>
        <p:nvSpPr>
          <p:cNvPr id="17" name="Text 15"/>
          <p:cNvSpPr/>
          <p:nvPr/>
        </p:nvSpPr>
        <p:spPr>
          <a:xfrm>
            <a:off x="4462272" y="2167128"/>
            <a:ext cx="658368" cy="658368"/>
          </a:xfrm>
          <a:prstGeom prst="rect">
            <a:avLst/>
          </a:prstGeom>
          <a:solidFill>
            <a:srgbClr val="DCFCE7"/>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0.10</a:t>
            </a:r>
            <a:endParaRPr lang="en-US" sz="1050" dirty="0"/>
          </a:p>
        </p:txBody>
      </p:sp>
      <p:sp>
        <p:nvSpPr>
          <p:cNvPr id="18" name="Text 16"/>
          <p:cNvSpPr/>
          <p:nvPr/>
        </p:nvSpPr>
        <p:spPr>
          <a:xfrm>
            <a:off x="2487168" y="2825496"/>
            <a:ext cx="658368" cy="658368"/>
          </a:xfrm>
          <a:prstGeom prst="rect">
            <a:avLst/>
          </a:prstGeom>
          <a:solidFill>
            <a:srgbClr val="DCFCE7"/>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0.15</a:t>
            </a:r>
            <a:endParaRPr lang="en-US" sz="1050" dirty="0"/>
          </a:p>
        </p:txBody>
      </p:sp>
      <p:sp>
        <p:nvSpPr>
          <p:cNvPr id="19" name="Text 17"/>
          <p:cNvSpPr/>
          <p:nvPr/>
        </p:nvSpPr>
        <p:spPr>
          <a:xfrm>
            <a:off x="3145536" y="2825496"/>
            <a:ext cx="658368" cy="658368"/>
          </a:xfrm>
          <a:prstGeom prst="rect">
            <a:avLst/>
          </a:prstGeom>
          <a:solidFill>
            <a:srgbClr val="86EFAC"/>
          </a:solidFill>
          <a:ln w="10160">
            <a:solidFill>
              <a:srgbClr val="FFFFFF"/>
            </a:solidFill>
          </a:ln>
        </p:spPr>
        <p:txBody>
          <a:bodyPr wrap="square" lIns="0" tIns="0" rIns="0" bIns="0" rtlCol="0" anchor="ctr">
            <a:normAutofit/>
          </a:bodyPr>
          <a:lstStyle/>
          <a:p>
            <a:pPr marL="0" indent="0" algn="ctr">
              <a:buNone/>
            </a:pPr>
            <a:r>
              <a:rPr lang="en-US" sz="1050" b="1" dirty="0">
                <a:solidFill>
                  <a:srgbClr val="0F172A"/>
                </a:solidFill>
              </a:rPr>
              <a:t>0.50</a:t>
            </a:r>
            <a:endParaRPr lang="en-US" sz="1050" dirty="0"/>
          </a:p>
        </p:txBody>
      </p:sp>
      <p:sp>
        <p:nvSpPr>
          <p:cNvPr id="20" name="Text 18"/>
          <p:cNvSpPr/>
          <p:nvPr/>
        </p:nvSpPr>
        <p:spPr>
          <a:xfrm>
            <a:off x="3803904" y="2825496"/>
            <a:ext cx="658368" cy="658368"/>
          </a:xfrm>
          <a:prstGeom prst="rect">
            <a:avLst/>
          </a:prstGeom>
          <a:solidFill>
            <a:srgbClr val="BBF7D0"/>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0.25</a:t>
            </a:r>
            <a:endParaRPr lang="en-US" sz="1050" dirty="0"/>
          </a:p>
        </p:txBody>
      </p:sp>
      <p:sp>
        <p:nvSpPr>
          <p:cNvPr id="21" name="Text 19"/>
          <p:cNvSpPr/>
          <p:nvPr/>
        </p:nvSpPr>
        <p:spPr>
          <a:xfrm>
            <a:off x="4462272" y="2825496"/>
            <a:ext cx="658368" cy="658368"/>
          </a:xfrm>
          <a:prstGeom prst="rect">
            <a:avLst/>
          </a:prstGeom>
          <a:solidFill>
            <a:srgbClr val="DCFCE7"/>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0.10</a:t>
            </a:r>
            <a:endParaRPr lang="en-US" sz="1050" dirty="0"/>
          </a:p>
        </p:txBody>
      </p:sp>
      <p:sp>
        <p:nvSpPr>
          <p:cNvPr id="22" name="Text 20"/>
          <p:cNvSpPr/>
          <p:nvPr/>
        </p:nvSpPr>
        <p:spPr>
          <a:xfrm>
            <a:off x="2487168" y="3483864"/>
            <a:ext cx="658368" cy="658368"/>
          </a:xfrm>
          <a:prstGeom prst="rect">
            <a:avLst/>
          </a:prstGeom>
          <a:solidFill>
            <a:srgbClr val="DCFCE7"/>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0.10</a:t>
            </a:r>
            <a:endParaRPr lang="en-US" sz="1050" dirty="0"/>
          </a:p>
        </p:txBody>
      </p:sp>
      <p:sp>
        <p:nvSpPr>
          <p:cNvPr id="23" name="Text 21"/>
          <p:cNvSpPr/>
          <p:nvPr/>
        </p:nvSpPr>
        <p:spPr>
          <a:xfrm>
            <a:off x="3145536" y="3483864"/>
            <a:ext cx="658368" cy="658368"/>
          </a:xfrm>
          <a:prstGeom prst="rect">
            <a:avLst/>
          </a:prstGeom>
          <a:solidFill>
            <a:srgbClr val="BBF7D0"/>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0.20</a:t>
            </a:r>
            <a:endParaRPr lang="en-US" sz="1050" dirty="0"/>
          </a:p>
        </p:txBody>
      </p:sp>
      <p:sp>
        <p:nvSpPr>
          <p:cNvPr id="24" name="Text 22"/>
          <p:cNvSpPr/>
          <p:nvPr/>
        </p:nvSpPr>
        <p:spPr>
          <a:xfrm>
            <a:off x="3803904" y="3483864"/>
            <a:ext cx="658368" cy="658368"/>
          </a:xfrm>
          <a:prstGeom prst="rect">
            <a:avLst/>
          </a:prstGeom>
          <a:solidFill>
            <a:srgbClr val="BBF7D0"/>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0.20</a:t>
            </a:r>
            <a:endParaRPr lang="en-US" sz="1050" dirty="0"/>
          </a:p>
        </p:txBody>
      </p:sp>
      <p:sp>
        <p:nvSpPr>
          <p:cNvPr id="25" name="Text 23"/>
          <p:cNvSpPr/>
          <p:nvPr/>
        </p:nvSpPr>
        <p:spPr>
          <a:xfrm>
            <a:off x="4462272" y="3483864"/>
            <a:ext cx="658368" cy="658368"/>
          </a:xfrm>
          <a:prstGeom prst="rect">
            <a:avLst/>
          </a:prstGeom>
          <a:solidFill>
            <a:srgbClr val="86EFAC"/>
          </a:solidFill>
          <a:ln w="10160">
            <a:solidFill>
              <a:srgbClr val="FFFFFF"/>
            </a:solidFill>
          </a:ln>
        </p:spPr>
        <p:txBody>
          <a:bodyPr wrap="square" lIns="0" tIns="0" rIns="0" bIns="0" rtlCol="0" anchor="ctr">
            <a:normAutofit/>
          </a:bodyPr>
          <a:lstStyle/>
          <a:p>
            <a:pPr marL="0" indent="0" algn="ctr">
              <a:buNone/>
            </a:pPr>
            <a:r>
              <a:rPr lang="en-US" sz="1050" b="1" dirty="0">
                <a:solidFill>
                  <a:srgbClr val="0F172A"/>
                </a:solidFill>
              </a:rPr>
              <a:t>0.50</a:t>
            </a:r>
            <a:endParaRPr lang="en-US" sz="1050" dirty="0"/>
          </a:p>
        </p:txBody>
      </p:sp>
      <p:sp>
        <p:nvSpPr>
          <p:cNvPr id="26" name="Text 24"/>
          <p:cNvSpPr/>
          <p:nvPr/>
        </p:nvSpPr>
        <p:spPr>
          <a:xfrm>
            <a:off x="2487168" y="4142232"/>
            <a:ext cx="658368" cy="658368"/>
          </a:xfrm>
          <a:prstGeom prst="rect">
            <a:avLst/>
          </a:prstGeom>
          <a:solidFill>
            <a:srgbClr val="F8FAFC"/>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0.05</a:t>
            </a:r>
            <a:endParaRPr lang="en-US" sz="1050" dirty="0"/>
          </a:p>
        </p:txBody>
      </p:sp>
      <p:sp>
        <p:nvSpPr>
          <p:cNvPr id="27" name="Text 25"/>
          <p:cNvSpPr/>
          <p:nvPr/>
        </p:nvSpPr>
        <p:spPr>
          <a:xfrm>
            <a:off x="3145536" y="4142232"/>
            <a:ext cx="658368" cy="658368"/>
          </a:xfrm>
          <a:prstGeom prst="rect">
            <a:avLst/>
          </a:prstGeom>
          <a:solidFill>
            <a:srgbClr val="DCFCE7"/>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0.10</a:t>
            </a:r>
            <a:endParaRPr lang="en-US" sz="1050" dirty="0"/>
          </a:p>
        </p:txBody>
      </p:sp>
      <p:sp>
        <p:nvSpPr>
          <p:cNvPr id="28" name="Text 26"/>
          <p:cNvSpPr/>
          <p:nvPr/>
        </p:nvSpPr>
        <p:spPr>
          <a:xfrm>
            <a:off x="3803904" y="4142232"/>
            <a:ext cx="658368" cy="658368"/>
          </a:xfrm>
          <a:prstGeom prst="rect">
            <a:avLst/>
          </a:prstGeom>
          <a:solidFill>
            <a:srgbClr val="BBF7D0"/>
          </a:solidFill>
          <a:ln w="10160">
            <a:solidFill>
              <a:srgbClr val="FFFFFF"/>
            </a:solidFill>
          </a:ln>
        </p:spPr>
        <p:txBody>
          <a:bodyPr wrap="square" lIns="0" tIns="0" rIns="0" bIns="0" rtlCol="0" anchor="ctr">
            <a:normAutofit/>
          </a:bodyPr>
          <a:lstStyle/>
          <a:p>
            <a:pPr marL="0" indent="0" algn="ctr">
              <a:buNone/>
            </a:pPr>
            <a:r>
              <a:rPr lang="en-US" sz="1050" dirty="0">
                <a:solidFill>
                  <a:srgbClr val="0F172A"/>
                </a:solidFill>
              </a:rPr>
              <a:t>0.25</a:t>
            </a:r>
            <a:endParaRPr lang="en-US" sz="1050" dirty="0"/>
          </a:p>
        </p:txBody>
      </p:sp>
      <p:sp>
        <p:nvSpPr>
          <p:cNvPr id="29" name="Text 27"/>
          <p:cNvSpPr/>
          <p:nvPr/>
        </p:nvSpPr>
        <p:spPr>
          <a:xfrm>
            <a:off x="4462272" y="4142232"/>
            <a:ext cx="658368" cy="658368"/>
          </a:xfrm>
          <a:prstGeom prst="rect">
            <a:avLst/>
          </a:prstGeom>
          <a:solidFill>
            <a:srgbClr val="22C55E"/>
          </a:solidFill>
          <a:ln w="10160">
            <a:solidFill>
              <a:srgbClr val="FFFFFF"/>
            </a:solidFill>
          </a:ln>
        </p:spPr>
        <p:txBody>
          <a:bodyPr wrap="square" lIns="0" tIns="0" rIns="0" bIns="0" rtlCol="0" anchor="ctr">
            <a:normAutofit/>
          </a:bodyPr>
          <a:lstStyle/>
          <a:p>
            <a:pPr marL="0" indent="0" algn="ctr">
              <a:buNone/>
            </a:pPr>
            <a:r>
              <a:rPr lang="en-US" sz="1050" b="1" dirty="0">
                <a:solidFill>
                  <a:srgbClr val="0F172A"/>
                </a:solidFill>
              </a:rPr>
              <a:t>0.60</a:t>
            </a:r>
            <a:endParaRPr lang="en-US" sz="1050" dirty="0"/>
          </a:p>
        </p:txBody>
      </p:sp>
      <p:sp>
        <p:nvSpPr>
          <p:cNvPr id="30" name="Shape 28"/>
          <p:cNvSpPr/>
          <p:nvPr/>
        </p:nvSpPr>
        <p:spPr>
          <a:xfrm>
            <a:off x="2487168" y="3483864"/>
            <a:ext cx="2633472" cy="658368"/>
          </a:xfrm>
          <a:prstGeom prst="rect">
            <a:avLst/>
          </a:prstGeom>
          <a:solidFill>
            <a:srgbClr val="FFFFFF">
              <a:alpha val="0"/>
            </a:srgbClr>
          </a:solidFill>
          <a:ln w="31750">
            <a:solidFill>
              <a:srgbClr val="7C3AED"/>
            </a:solidFill>
            <a:prstDash val="solid"/>
          </a:ln>
        </p:spPr>
        <p:txBody>
          <a:bodyPr/>
          <a:lstStyle/>
          <a:p>
            <a:endParaRPr lang="en-GB"/>
          </a:p>
        </p:txBody>
      </p:sp>
      <p:sp>
        <p:nvSpPr>
          <p:cNvPr id="31" name="Text 29"/>
          <p:cNvSpPr/>
          <p:nvPr/>
        </p:nvSpPr>
        <p:spPr>
          <a:xfrm>
            <a:off x="6707124" y="3264408"/>
            <a:ext cx="2834640" cy="1097280"/>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300" dirty="0">
                <a:solidFill>
                  <a:srgbClr val="0F172A"/>
                </a:solidFill>
                <a:latin typeface="Aptos" pitchFamily="34" charset="0"/>
                <a:ea typeface="Aptos" pitchFamily="34" charset="-122"/>
                <a:cs typeface="Aptos" pitchFamily="34" charset="-120"/>
              </a:rPr>
              <a:t>Row 3 answers:</a:t>
            </a:r>
            <a:endParaRPr lang="en-US" sz="1300" dirty="0"/>
          </a:p>
          <a:p>
            <a:pPr marL="0" indent="0" algn="ctr">
              <a:buNone/>
            </a:pPr>
            <a:r>
              <a:rPr lang="en-US" sz="1300" dirty="0">
                <a:solidFill>
                  <a:srgbClr val="0F172A"/>
                </a:solidFill>
                <a:latin typeface="Aptos" pitchFamily="34" charset="0"/>
                <a:ea typeface="Aptos" pitchFamily="34" charset="-122"/>
                <a:cs typeface="Aptos" pitchFamily="34" charset="-120"/>
              </a:rPr>
              <a:t>which positions contribute</a:t>
            </a:r>
            <a:endParaRPr lang="en-US" sz="1300" dirty="0"/>
          </a:p>
          <a:p>
            <a:pPr marL="0" indent="0" algn="ctr">
              <a:buNone/>
            </a:pPr>
            <a:r>
              <a:rPr lang="en-US" sz="1300" dirty="0">
                <a:solidFill>
                  <a:srgbClr val="0F172A"/>
                </a:solidFill>
                <a:latin typeface="Aptos" pitchFamily="34" charset="0"/>
                <a:ea typeface="Aptos" pitchFamily="34" charset="-122"/>
                <a:cs typeface="Aptos" pitchFamily="34" charset="-120"/>
              </a:rPr>
              <a:t>to output at position 3? (i.e., to update position 3 representation)</a:t>
            </a:r>
            <a:endParaRPr lang="en-US" sz="1300" dirty="0"/>
          </a:p>
        </p:txBody>
      </p:sp>
      <p:sp>
        <p:nvSpPr>
          <p:cNvPr id="32" name="Shape 30"/>
          <p:cNvSpPr/>
          <p:nvPr/>
        </p:nvSpPr>
        <p:spPr>
          <a:xfrm>
            <a:off x="5234940" y="3779196"/>
            <a:ext cx="1234440" cy="0"/>
          </a:xfrm>
          <a:prstGeom prst="line">
            <a:avLst/>
          </a:prstGeom>
          <a:noFill/>
          <a:ln w="19050">
            <a:solidFill>
              <a:srgbClr val="7C3AED"/>
            </a:solidFill>
            <a:prstDash val="solid"/>
            <a:headEnd type="none"/>
            <a:tailEnd type="triangle"/>
          </a:ln>
        </p:spPr>
        <p:txBody>
          <a:bodyPr/>
          <a:lstStyle/>
          <a:p>
            <a:endParaRPr lang="en-GB"/>
          </a:p>
        </p:txBody>
      </p:sp>
      <p:sp>
        <p:nvSpPr>
          <p:cNvPr id="33" name="Text 31"/>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The attention matrix is often visualized as a heatmap of </a:t>
            </a:r>
            <a:r>
              <a:rPr lang="en-US" sz="1110" b="1" dirty="0">
                <a:solidFill>
                  <a:srgbClr val="0F172A"/>
                </a:solidFill>
              </a:rPr>
              <a:t>information exchange among temporal positions.</a:t>
            </a:r>
            <a:endParaRPr lang="en-US" sz="111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8B7414-9B43-D35E-FD8A-431326496877}"/>
              </a:ext>
            </a:extLst>
          </p:cNvPr>
          <p:cNvSpPr>
            <a:spLocks noGrp="1"/>
          </p:cNvSpPr>
          <p:nvPr>
            <p:ph type="title"/>
          </p:nvPr>
        </p:nvSpPr>
        <p:spPr/>
        <p:txBody>
          <a:bodyPr/>
          <a:lstStyle/>
          <a:p>
            <a:r>
              <a:rPr lang="en-GB" dirty="0"/>
              <a:t>Self-attention can connect distant temporal positions directly</a:t>
            </a:r>
          </a:p>
        </p:txBody>
      </p:sp>
      <p:sp>
        <p:nvSpPr>
          <p:cNvPr id="3" name="Segnaposto contenuto 2">
            <a:extLst>
              <a:ext uri="{FF2B5EF4-FFF2-40B4-BE49-F238E27FC236}">
                <a16:creationId xmlns:a16="http://schemas.microsoft.com/office/drawing/2014/main" id="{64D7A0A7-EAD5-C816-E47A-443B12204947}"/>
              </a:ext>
            </a:extLst>
          </p:cNvPr>
          <p:cNvSpPr>
            <a:spLocks noGrp="1"/>
          </p:cNvSpPr>
          <p:nvPr>
            <p:ph sz="half" idx="1"/>
          </p:nvPr>
        </p:nvSpPr>
        <p:spPr>
          <a:xfrm>
            <a:off x="677334" y="2160588"/>
            <a:ext cx="6725415" cy="4697411"/>
          </a:xfrm>
        </p:spPr>
        <p:txBody>
          <a:bodyPr>
            <a:normAutofit fontScale="70000" lnSpcReduction="20000"/>
          </a:bodyPr>
          <a:lstStyle/>
          <a:p>
            <a:r>
              <a:rPr lang="en-GB" dirty="0"/>
              <a:t>Suppose hourly demand at time t is related to:</a:t>
            </a:r>
          </a:p>
          <a:p>
            <a:pPr lvl="1"/>
            <a:r>
              <a:rPr lang="en-GB" dirty="0"/>
              <a:t>t−1; </a:t>
            </a:r>
          </a:p>
          <a:p>
            <a:pPr lvl="1"/>
            <a:r>
              <a:rPr lang="en-GB" dirty="0"/>
              <a:t>t−24; </a:t>
            </a:r>
          </a:p>
          <a:p>
            <a:pPr lvl="1"/>
            <a:r>
              <a:rPr lang="en-GB" dirty="0"/>
              <a:t>t−168. </a:t>
            </a:r>
          </a:p>
          <a:p>
            <a:r>
              <a:rPr lang="en-GB" b="1" dirty="0"/>
              <a:t>With a convolutional network</a:t>
            </a:r>
          </a:p>
          <a:p>
            <a:pPr lvl="1"/>
            <a:r>
              <a:rPr lang="en-GB" dirty="0"/>
              <a:t>The architecture must have a receptive field large enough to connect these positions.</a:t>
            </a:r>
          </a:p>
          <a:p>
            <a:r>
              <a:rPr lang="en-GB" b="1" dirty="0"/>
              <a:t>With an RNN</a:t>
            </a:r>
          </a:p>
          <a:p>
            <a:pPr lvl="1"/>
            <a:r>
              <a:rPr lang="en-GB" dirty="0"/>
              <a:t>Information from t−168 must propagate through many recurrent state updates.</a:t>
            </a:r>
          </a:p>
          <a:p>
            <a:r>
              <a:rPr lang="en-GB" b="1" dirty="0"/>
              <a:t>With self-attention</a:t>
            </a:r>
          </a:p>
          <a:p>
            <a:pPr lvl="1"/>
            <a:r>
              <a:rPr lang="en-GB" dirty="0"/>
              <a:t>The query at t can directly assign high weight to the key at:</a:t>
            </a:r>
          </a:p>
          <a:p>
            <a:pPr lvl="1"/>
            <a:r>
              <a:rPr lang="en-GB" dirty="0"/>
              <a:t>t−168</a:t>
            </a:r>
          </a:p>
          <a:p>
            <a:r>
              <a:rPr lang="en-GB" dirty="0"/>
              <a:t>Conceptually:</a:t>
            </a:r>
          </a:p>
          <a:p>
            <a:r>
              <a:rPr lang="en-GB" dirty="0"/>
              <a:t>t−168 ───────────────────────────────→ t</a:t>
            </a:r>
          </a:p>
          <a:p>
            <a:r>
              <a:rPr lang="en-GB" dirty="0"/>
              <a:t>       high attention weight</a:t>
            </a:r>
          </a:p>
          <a:p>
            <a:endParaRPr lang="en-GB" dirty="0"/>
          </a:p>
        </p:txBody>
      </p:sp>
      <p:sp>
        <p:nvSpPr>
          <p:cNvPr id="4" name="Segnaposto contenuto 3">
            <a:extLst>
              <a:ext uri="{FF2B5EF4-FFF2-40B4-BE49-F238E27FC236}">
                <a16:creationId xmlns:a16="http://schemas.microsoft.com/office/drawing/2014/main" id="{36566CE3-675F-E122-F1FB-DA5EA194D042}"/>
              </a:ext>
            </a:extLst>
          </p:cNvPr>
          <p:cNvSpPr>
            <a:spLocks noGrp="1"/>
          </p:cNvSpPr>
          <p:nvPr>
            <p:ph sz="half" idx="2"/>
          </p:nvPr>
        </p:nvSpPr>
        <p:spPr>
          <a:xfrm>
            <a:off x="7256834" y="2151909"/>
            <a:ext cx="4756825" cy="4096491"/>
          </a:xfrm>
        </p:spPr>
        <p:txBody>
          <a:bodyPr>
            <a:normAutofit fontScale="70000" lnSpcReduction="20000"/>
          </a:bodyPr>
          <a:lstStyle/>
          <a:p>
            <a:r>
              <a:rPr lang="en-GB" sz="2400" b="1" dirty="0"/>
              <a:t>Important advantage</a:t>
            </a:r>
          </a:p>
          <a:p>
            <a:r>
              <a:rPr lang="en-GB" sz="2400" dirty="0"/>
              <a:t>The number of intermediate temporal transformations between two positions can be reduced.</a:t>
            </a:r>
          </a:p>
          <a:p>
            <a:r>
              <a:rPr lang="en-GB" sz="2400" b="1" dirty="0"/>
              <a:t>However</a:t>
            </a:r>
          </a:p>
          <a:p>
            <a:r>
              <a:rPr lang="en-GB" sz="2400" dirty="0"/>
              <a:t>The model must still learn:</a:t>
            </a:r>
          </a:p>
          <a:p>
            <a:pPr lvl="1"/>
            <a:r>
              <a:rPr lang="en-GB" sz="2200" dirty="0"/>
              <a:t>that the distant position is relevant; </a:t>
            </a:r>
          </a:p>
          <a:p>
            <a:pPr lvl="1"/>
            <a:r>
              <a:rPr lang="en-GB" sz="2200" dirty="0"/>
              <a:t>how temporal position itself should be represented. </a:t>
            </a:r>
          </a:p>
          <a:p>
            <a:endParaRPr lang="en-GB" sz="2400" dirty="0"/>
          </a:p>
          <a:p>
            <a:r>
              <a:rPr lang="en-GB" sz="2400" b="1" dirty="0"/>
              <a:t>Self-attention enables direct long-range interaction, but it does not automatically know which lag is meaningful.</a:t>
            </a:r>
          </a:p>
          <a:p>
            <a:endParaRPr lang="en-GB" dirty="0"/>
          </a:p>
        </p:txBody>
      </p:sp>
    </p:spTree>
    <p:extLst>
      <p:ext uri="{BB962C8B-B14F-4D97-AF65-F5344CB8AC3E}">
        <p14:creationId xmlns:p14="http://schemas.microsoft.com/office/powerpoint/2010/main" val="2490829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Self-attention can connect distant positions directly</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The model can assign high weight to a far historical position.</a:t>
            </a:r>
            <a:endParaRPr lang="en-US" sz="1250" dirty="0"/>
          </a:p>
        </p:txBody>
      </p:sp>
      <p:sp>
        <p:nvSpPr>
          <p:cNvPr id="5" name="Shape 3"/>
          <p:cNvSpPr/>
          <p:nvPr/>
        </p:nvSpPr>
        <p:spPr>
          <a:xfrm>
            <a:off x="1005840" y="2926080"/>
            <a:ext cx="7772400" cy="0"/>
          </a:xfrm>
          <a:prstGeom prst="line">
            <a:avLst/>
          </a:prstGeom>
          <a:noFill/>
          <a:ln w="25400">
            <a:solidFill>
              <a:srgbClr val="CBD5E1"/>
            </a:solidFill>
            <a:prstDash val="solid"/>
            <a:headEnd type="none"/>
            <a:tailEnd type="none"/>
          </a:ln>
        </p:spPr>
        <p:txBody>
          <a:bodyPr/>
          <a:lstStyle/>
          <a:p>
            <a:endParaRPr lang="en-GB"/>
          </a:p>
        </p:txBody>
      </p:sp>
      <p:sp>
        <p:nvSpPr>
          <p:cNvPr id="6" name="Shape 4"/>
          <p:cNvSpPr/>
          <p:nvPr/>
        </p:nvSpPr>
        <p:spPr>
          <a:xfrm>
            <a:off x="1207008" y="2852928"/>
            <a:ext cx="146304" cy="146304"/>
          </a:xfrm>
          <a:prstGeom prst="ellipse">
            <a:avLst/>
          </a:prstGeom>
          <a:solidFill>
            <a:srgbClr val="0F172A"/>
          </a:solidFill>
          <a:ln w="12700">
            <a:solidFill>
              <a:srgbClr val="0F172A"/>
            </a:solidFill>
            <a:prstDash val="solid"/>
          </a:ln>
        </p:spPr>
        <p:txBody>
          <a:bodyPr/>
          <a:lstStyle/>
          <a:p>
            <a:endParaRPr lang="en-GB"/>
          </a:p>
        </p:txBody>
      </p:sp>
      <p:sp>
        <p:nvSpPr>
          <p:cNvPr id="7" name="Text 5"/>
          <p:cNvSpPr/>
          <p:nvPr/>
        </p:nvSpPr>
        <p:spPr>
          <a:xfrm>
            <a:off x="868680" y="3154680"/>
            <a:ext cx="822960" cy="228600"/>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Aptos" pitchFamily="34" charset="0"/>
                <a:ea typeface="Aptos" pitchFamily="34" charset="-122"/>
                <a:cs typeface="Aptos" pitchFamily="34" charset="-120"/>
              </a:rPr>
              <a:t>t−168</a:t>
            </a:r>
            <a:endParaRPr lang="en-US" sz="1200" dirty="0"/>
          </a:p>
        </p:txBody>
      </p:sp>
      <p:sp>
        <p:nvSpPr>
          <p:cNvPr id="8" name="Shape 6"/>
          <p:cNvSpPr/>
          <p:nvPr/>
        </p:nvSpPr>
        <p:spPr>
          <a:xfrm>
            <a:off x="3584448" y="2852928"/>
            <a:ext cx="146304" cy="146304"/>
          </a:xfrm>
          <a:prstGeom prst="ellipse">
            <a:avLst/>
          </a:prstGeom>
          <a:solidFill>
            <a:srgbClr val="0F172A"/>
          </a:solidFill>
          <a:ln w="12700">
            <a:solidFill>
              <a:srgbClr val="0F172A"/>
            </a:solidFill>
            <a:prstDash val="solid"/>
          </a:ln>
        </p:spPr>
        <p:txBody>
          <a:bodyPr/>
          <a:lstStyle/>
          <a:p>
            <a:endParaRPr lang="en-GB"/>
          </a:p>
        </p:txBody>
      </p:sp>
      <p:sp>
        <p:nvSpPr>
          <p:cNvPr id="9" name="Text 7"/>
          <p:cNvSpPr/>
          <p:nvPr/>
        </p:nvSpPr>
        <p:spPr>
          <a:xfrm>
            <a:off x="3246120" y="3154680"/>
            <a:ext cx="822960" cy="228600"/>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Aptos" pitchFamily="34" charset="0"/>
                <a:ea typeface="Aptos" pitchFamily="34" charset="-122"/>
                <a:cs typeface="Aptos" pitchFamily="34" charset="-120"/>
              </a:rPr>
              <a:t>t−24</a:t>
            </a:r>
            <a:endParaRPr lang="en-US" sz="1200" dirty="0"/>
          </a:p>
        </p:txBody>
      </p:sp>
      <p:sp>
        <p:nvSpPr>
          <p:cNvPr id="10" name="Shape 8"/>
          <p:cNvSpPr/>
          <p:nvPr/>
        </p:nvSpPr>
        <p:spPr>
          <a:xfrm>
            <a:off x="6327648" y="2852928"/>
            <a:ext cx="146304" cy="146304"/>
          </a:xfrm>
          <a:prstGeom prst="ellipse">
            <a:avLst/>
          </a:prstGeom>
          <a:solidFill>
            <a:srgbClr val="0F172A"/>
          </a:solidFill>
          <a:ln w="12700">
            <a:solidFill>
              <a:srgbClr val="0F172A"/>
            </a:solidFill>
            <a:prstDash val="solid"/>
          </a:ln>
        </p:spPr>
        <p:txBody>
          <a:bodyPr/>
          <a:lstStyle/>
          <a:p>
            <a:endParaRPr lang="en-GB"/>
          </a:p>
        </p:txBody>
      </p:sp>
      <p:sp>
        <p:nvSpPr>
          <p:cNvPr id="11" name="Text 9"/>
          <p:cNvSpPr/>
          <p:nvPr/>
        </p:nvSpPr>
        <p:spPr>
          <a:xfrm>
            <a:off x="5989320" y="3154680"/>
            <a:ext cx="822960" cy="228600"/>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Aptos" pitchFamily="34" charset="0"/>
                <a:ea typeface="Aptos" pitchFamily="34" charset="-122"/>
                <a:cs typeface="Aptos" pitchFamily="34" charset="-120"/>
              </a:rPr>
              <a:t>t−1</a:t>
            </a:r>
            <a:endParaRPr lang="en-US" sz="1200" dirty="0"/>
          </a:p>
        </p:txBody>
      </p:sp>
      <p:sp>
        <p:nvSpPr>
          <p:cNvPr id="12" name="Shape 10"/>
          <p:cNvSpPr/>
          <p:nvPr/>
        </p:nvSpPr>
        <p:spPr>
          <a:xfrm>
            <a:off x="8065008" y="2852928"/>
            <a:ext cx="146304" cy="146304"/>
          </a:xfrm>
          <a:prstGeom prst="ellipse">
            <a:avLst/>
          </a:prstGeom>
          <a:solidFill>
            <a:srgbClr val="0F172A"/>
          </a:solidFill>
          <a:ln w="12700">
            <a:solidFill>
              <a:srgbClr val="0F172A"/>
            </a:solidFill>
            <a:prstDash val="solid"/>
          </a:ln>
        </p:spPr>
        <p:txBody>
          <a:bodyPr/>
          <a:lstStyle/>
          <a:p>
            <a:endParaRPr lang="en-GB"/>
          </a:p>
        </p:txBody>
      </p:sp>
      <p:sp>
        <p:nvSpPr>
          <p:cNvPr id="13" name="Text 11"/>
          <p:cNvSpPr/>
          <p:nvPr/>
        </p:nvSpPr>
        <p:spPr>
          <a:xfrm>
            <a:off x="7726680" y="3154680"/>
            <a:ext cx="822960" cy="228600"/>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Aptos" pitchFamily="34" charset="0"/>
                <a:ea typeface="Aptos" pitchFamily="34" charset="-122"/>
                <a:cs typeface="Aptos" pitchFamily="34" charset="-120"/>
              </a:rPr>
              <a:t>t</a:t>
            </a:r>
            <a:endParaRPr lang="en-US" sz="1200" dirty="0"/>
          </a:p>
        </p:txBody>
      </p:sp>
      <p:sp>
        <p:nvSpPr>
          <p:cNvPr id="14" name="Shape 12"/>
          <p:cNvSpPr/>
          <p:nvPr/>
        </p:nvSpPr>
        <p:spPr>
          <a:xfrm>
            <a:off x="1280160" y="1874520"/>
            <a:ext cx="6858000" cy="0"/>
          </a:xfrm>
          <a:prstGeom prst="line">
            <a:avLst/>
          </a:prstGeom>
          <a:noFill/>
          <a:ln w="38100">
            <a:solidFill>
              <a:srgbClr val="7C3AED"/>
            </a:solidFill>
            <a:prstDash val="solid"/>
            <a:headEnd type="none"/>
            <a:tailEnd type="triangle"/>
          </a:ln>
        </p:spPr>
        <p:txBody>
          <a:bodyPr/>
          <a:lstStyle/>
          <a:p>
            <a:endParaRPr lang="en-GB"/>
          </a:p>
        </p:txBody>
      </p:sp>
      <p:sp>
        <p:nvSpPr>
          <p:cNvPr id="15" name="Text 13"/>
          <p:cNvSpPr/>
          <p:nvPr/>
        </p:nvSpPr>
        <p:spPr>
          <a:xfrm>
            <a:off x="3383280" y="1417320"/>
            <a:ext cx="2103120" cy="228600"/>
          </a:xfrm>
          <a:prstGeom prst="rect">
            <a:avLst/>
          </a:prstGeom>
          <a:noFill/>
          <a:ln/>
        </p:spPr>
        <p:txBody>
          <a:bodyPr wrap="square" lIns="0" tIns="0" rIns="0" bIns="0" rtlCol="0" anchor="ctr">
            <a:normAutofit/>
          </a:bodyPr>
          <a:lstStyle/>
          <a:p>
            <a:pPr marL="0" indent="0" algn="ctr">
              <a:buNone/>
            </a:pPr>
            <a:r>
              <a:rPr lang="en-US" sz="1250" b="1" dirty="0">
                <a:solidFill>
                  <a:srgbClr val="7C3AED"/>
                </a:solidFill>
                <a:latin typeface="Aptos" pitchFamily="34" charset="0"/>
                <a:ea typeface="Aptos" pitchFamily="34" charset="-122"/>
                <a:cs typeface="Aptos" pitchFamily="34" charset="-120"/>
              </a:rPr>
              <a:t>high attention weight</a:t>
            </a:r>
            <a:endParaRPr lang="en-US" sz="1250" dirty="0"/>
          </a:p>
        </p:txBody>
      </p:sp>
      <p:sp>
        <p:nvSpPr>
          <p:cNvPr id="16" name="Text 14"/>
          <p:cNvSpPr/>
          <p:nvPr/>
        </p:nvSpPr>
        <p:spPr>
          <a:xfrm>
            <a:off x="914400" y="4114800"/>
            <a:ext cx="2834640" cy="73152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dirty="0">
                <a:solidFill>
                  <a:srgbClr val="0F172A"/>
                </a:solidFill>
                <a:latin typeface="Aptos" pitchFamily="34" charset="0"/>
                <a:ea typeface="Aptos" pitchFamily="34" charset="-122"/>
                <a:cs typeface="Aptos" pitchFamily="34" charset="-120"/>
              </a:rPr>
              <a:t>RNN: information travels</a:t>
            </a:r>
            <a:endParaRPr lang="en-US" sz="1300" dirty="0"/>
          </a:p>
          <a:p>
            <a:pPr marL="0" indent="0" algn="ctr">
              <a:buNone/>
            </a:pPr>
            <a:r>
              <a:rPr lang="en-US" sz="1300" dirty="0">
                <a:solidFill>
                  <a:srgbClr val="0F172A"/>
                </a:solidFill>
                <a:latin typeface="Aptos" pitchFamily="34" charset="0"/>
                <a:ea typeface="Aptos" pitchFamily="34" charset="-122"/>
                <a:cs typeface="Aptos" pitchFamily="34" charset="-120"/>
              </a:rPr>
              <a:t>through many states</a:t>
            </a:r>
            <a:endParaRPr lang="en-US" sz="1300" dirty="0"/>
          </a:p>
        </p:txBody>
      </p:sp>
      <p:sp>
        <p:nvSpPr>
          <p:cNvPr id="17" name="Text 15"/>
          <p:cNvSpPr/>
          <p:nvPr/>
        </p:nvSpPr>
        <p:spPr>
          <a:xfrm>
            <a:off x="3977640" y="4114800"/>
            <a:ext cx="2834640" cy="73152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300" dirty="0">
                <a:solidFill>
                  <a:srgbClr val="0F172A"/>
                </a:solidFill>
                <a:latin typeface="Aptos" pitchFamily="34" charset="0"/>
                <a:ea typeface="Aptos" pitchFamily="34" charset="-122"/>
                <a:cs typeface="Aptos" pitchFamily="34" charset="-120"/>
              </a:rPr>
              <a:t>CNN: requires a large</a:t>
            </a:r>
            <a:endParaRPr lang="en-US" sz="1300" dirty="0"/>
          </a:p>
          <a:p>
            <a:pPr marL="0" indent="0" algn="ctr">
              <a:buNone/>
            </a:pPr>
            <a:r>
              <a:rPr lang="en-US" sz="1300" dirty="0">
                <a:solidFill>
                  <a:srgbClr val="0F172A"/>
                </a:solidFill>
                <a:latin typeface="Aptos" pitchFamily="34" charset="0"/>
                <a:ea typeface="Aptos" pitchFamily="34" charset="-122"/>
                <a:cs typeface="Aptos" pitchFamily="34" charset="-120"/>
              </a:rPr>
              <a:t>receptive field</a:t>
            </a:r>
            <a:endParaRPr lang="en-US" sz="1300" dirty="0"/>
          </a:p>
        </p:txBody>
      </p:sp>
      <p:sp>
        <p:nvSpPr>
          <p:cNvPr id="18" name="Text 16"/>
          <p:cNvSpPr/>
          <p:nvPr/>
        </p:nvSpPr>
        <p:spPr>
          <a:xfrm>
            <a:off x="7040880" y="4114800"/>
            <a:ext cx="2743200" cy="731520"/>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300" dirty="0">
                <a:solidFill>
                  <a:srgbClr val="0F172A"/>
                </a:solidFill>
                <a:latin typeface="Aptos" pitchFamily="34" charset="0"/>
                <a:ea typeface="Aptos" pitchFamily="34" charset="-122"/>
                <a:cs typeface="Aptos" pitchFamily="34" charset="-120"/>
              </a:rPr>
              <a:t>Attention: can weight</a:t>
            </a:r>
            <a:endParaRPr lang="en-US" sz="1300" dirty="0"/>
          </a:p>
          <a:p>
            <a:pPr marL="0" indent="0" algn="ctr">
              <a:buNone/>
            </a:pPr>
            <a:r>
              <a:rPr lang="en-US" sz="1300" dirty="0">
                <a:solidFill>
                  <a:srgbClr val="0F172A"/>
                </a:solidFill>
                <a:latin typeface="Aptos" pitchFamily="34" charset="0"/>
                <a:ea typeface="Aptos" pitchFamily="34" charset="-122"/>
                <a:cs typeface="Aptos" pitchFamily="34" charset="-120"/>
              </a:rPr>
              <a:t>a distant position directly</a:t>
            </a:r>
            <a:endParaRPr lang="en-US" sz="1300" dirty="0"/>
          </a:p>
        </p:txBody>
      </p:sp>
      <p:sp>
        <p:nvSpPr>
          <p:cNvPr id="19" name="Text 17"/>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Direct interaction does not mean the model automatically knows which lag matters; </a:t>
            </a:r>
            <a:r>
              <a:rPr lang="en-US" sz="1110" b="1" dirty="0">
                <a:solidFill>
                  <a:srgbClr val="0F172A"/>
                </a:solidFill>
              </a:rPr>
              <a:t>this must be learned.</a:t>
            </a:r>
            <a:endParaRPr lang="en-US" sz="1110"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D6908A-424E-C8FC-6923-0BFDC0181457}"/>
              </a:ext>
            </a:extLst>
          </p:cNvPr>
          <p:cNvSpPr>
            <a:spLocks noGrp="1"/>
          </p:cNvSpPr>
          <p:nvPr>
            <p:ph type="title"/>
          </p:nvPr>
        </p:nvSpPr>
        <p:spPr/>
        <p:txBody>
          <a:bodyPr/>
          <a:lstStyle/>
          <a:p>
            <a:r>
              <a:rPr lang="en-GB" dirty="0"/>
              <a:t>Attention weights are input-dependent</a:t>
            </a:r>
          </a:p>
        </p:txBody>
      </p:sp>
      <p:sp>
        <p:nvSpPr>
          <p:cNvPr id="3" name="Segnaposto contenuto 2">
            <a:extLst>
              <a:ext uri="{FF2B5EF4-FFF2-40B4-BE49-F238E27FC236}">
                <a16:creationId xmlns:a16="http://schemas.microsoft.com/office/drawing/2014/main" id="{27A6CE0E-6F55-7E5F-B3C6-6A2F1C1B08E2}"/>
              </a:ext>
            </a:extLst>
          </p:cNvPr>
          <p:cNvSpPr>
            <a:spLocks noGrp="1"/>
          </p:cNvSpPr>
          <p:nvPr>
            <p:ph sz="half" idx="1"/>
          </p:nvPr>
        </p:nvSpPr>
        <p:spPr>
          <a:xfrm>
            <a:off x="677334" y="2160589"/>
            <a:ext cx="6209849" cy="4619590"/>
          </a:xfrm>
        </p:spPr>
        <p:txBody>
          <a:bodyPr>
            <a:normAutofit fontScale="85000" lnSpcReduction="20000"/>
          </a:bodyPr>
          <a:lstStyle/>
          <a:p>
            <a:r>
              <a:rPr lang="en-GB" dirty="0"/>
              <a:t>Consider two different demand sequences.</a:t>
            </a:r>
          </a:p>
          <a:p>
            <a:r>
              <a:rPr lang="en-GB" b="1" dirty="0"/>
              <a:t>Sequence A — normal weekday</a:t>
            </a:r>
          </a:p>
          <a:p>
            <a:r>
              <a:rPr lang="en-GB" dirty="0"/>
              <a:t>The model might focus on:</a:t>
            </a:r>
          </a:p>
          <a:p>
            <a:r>
              <a:rPr lang="en-GB" dirty="0"/>
              <a:t>t−1</a:t>
            </a:r>
          </a:p>
          <a:p>
            <a:r>
              <a:rPr lang="en-GB" dirty="0"/>
              <a:t>t−24</a:t>
            </a:r>
          </a:p>
          <a:p>
            <a:r>
              <a:rPr lang="en-GB" dirty="0"/>
              <a:t>t−168</a:t>
            </a:r>
          </a:p>
          <a:p>
            <a:r>
              <a:rPr lang="en-GB" b="1" dirty="0"/>
              <a:t>Sequence B — holiday or unusual event</a:t>
            </a:r>
          </a:p>
          <a:p>
            <a:r>
              <a:rPr lang="en-GB" dirty="0"/>
              <a:t>The model might focus more strongly on:</a:t>
            </a:r>
          </a:p>
          <a:p>
            <a:r>
              <a:rPr lang="en-GB" dirty="0"/>
              <a:t>recent observations</a:t>
            </a:r>
          </a:p>
          <a:p>
            <a:r>
              <a:rPr lang="en-GB" dirty="0"/>
              <a:t>similar unusual periods</a:t>
            </a:r>
          </a:p>
          <a:p>
            <a:r>
              <a:rPr lang="en-GB" dirty="0"/>
              <a:t>other contextual positions</a:t>
            </a:r>
          </a:p>
          <a:p>
            <a:r>
              <a:rPr lang="en-GB" dirty="0"/>
              <a:t>The same trained attention layer can produce different weights because the scores depend on:</a:t>
            </a:r>
          </a:p>
          <a:p>
            <a:pPr lvl="0"/>
            <a:r>
              <a:rPr lang="en-GB" dirty="0"/>
              <a:t>the current query; </a:t>
            </a:r>
          </a:p>
          <a:p>
            <a:pPr lvl="0"/>
            <a:r>
              <a:rPr lang="en-GB" dirty="0"/>
              <a:t>the candidate keys. </a:t>
            </a:r>
          </a:p>
          <a:p>
            <a:endParaRPr lang="en-GB" dirty="0"/>
          </a:p>
        </p:txBody>
      </p:sp>
      <p:sp>
        <p:nvSpPr>
          <p:cNvPr id="4" name="Segnaposto contenuto 3">
            <a:extLst>
              <a:ext uri="{FF2B5EF4-FFF2-40B4-BE49-F238E27FC236}">
                <a16:creationId xmlns:a16="http://schemas.microsoft.com/office/drawing/2014/main" id="{B1290BD0-487A-B1D0-9F2B-6EEDCC826B71}"/>
              </a:ext>
            </a:extLst>
          </p:cNvPr>
          <p:cNvSpPr>
            <a:spLocks noGrp="1"/>
          </p:cNvSpPr>
          <p:nvPr>
            <p:ph sz="half" idx="2"/>
          </p:nvPr>
        </p:nvSpPr>
        <p:spPr>
          <a:xfrm>
            <a:off x="7181985" y="2160589"/>
            <a:ext cx="4685760" cy="4493130"/>
          </a:xfrm>
        </p:spPr>
        <p:txBody>
          <a:bodyPr>
            <a:normAutofit fontScale="85000" lnSpcReduction="20000"/>
          </a:bodyPr>
          <a:lstStyle/>
          <a:p>
            <a:r>
              <a:rPr lang="en-GB" b="1" dirty="0"/>
              <a:t>Contrast with convolution</a:t>
            </a:r>
          </a:p>
          <a:p>
            <a:r>
              <a:rPr lang="en-GB" dirty="0"/>
              <a:t>For a convolutional kernel, learned kernel weights are fixed after training.</a:t>
            </a:r>
          </a:p>
          <a:p>
            <a:r>
              <a:rPr lang="en-GB" dirty="0"/>
              <a:t>The filter may be applied at every position, but its relative local weighting structure is fixed.</a:t>
            </a:r>
          </a:p>
          <a:p>
            <a:r>
              <a:rPr lang="en-GB" b="1" dirty="0"/>
              <a:t>Self-attention</a:t>
            </a:r>
          </a:p>
          <a:p>
            <a:r>
              <a:rPr lang="en-GB" dirty="0"/>
              <a:t>The weights between positions are recomputed for every input.</a:t>
            </a:r>
          </a:p>
          <a:p>
            <a:r>
              <a:rPr lang="en-GB" b="1" dirty="0"/>
              <a:t>Key message</a:t>
            </a:r>
          </a:p>
          <a:p>
            <a:r>
              <a:rPr lang="en-GB" dirty="0"/>
              <a:t>Attention adapts the pattern of temporal interaction to the content of the current sequence.</a:t>
            </a:r>
          </a:p>
          <a:p>
            <a:endParaRPr lang="en-GB" dirty="0"/>
          </a:p>
        </p:txBody>
      </p:sp>
    </p:spTree>
    <p:extLst>
      <p:ext uri="{BB962C8B-B14F-4D97-AF65-F5344CB8AC3E}">
        <p14:creationId xmlns:p14="http://schemas.microsoft.com/office/powerpoint/2010/main" val="24838974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Attention weights are input-dependent</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The same attention layer can produce different temporal relevance patterns for different sequences.</a:t>
            </a:r>
            <a:endParaRPr lang="en-US" sz="1250" dirty="0"/>
          </a:p>
        </p:txBody>
      </p:sp>
      <p:sp>
        <p:nvSpPr>
          <p:cNvPr id="5" name="Text 3"/>
          <p:cNvSpPr/>
          <p:nvPr/>
        </p:nvSpPr>
        <p:spPr>
          <a:xfrm>
            <a:off x="777240" y="1874520"/>
            <a:ext cx="1280160" cy="320040"/>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ptos" pitchFamily="34" charset="0"/>
                <a:ea typeface="Aptos" pitchFamily="34" charset="-122"/>
                <a:cs typeface="Aptos" pitchFamily="34" charset="-120"/>
              </a:rPr>
              <a:t>Normal weekday</a:t>
            </a:r>
            <a:endParaRPr lang="en-US" sz="1300" dirty="0"/>
          </a:p>
        </p:txBody>
      </p:sp>
      <p:sp>
        <p:nvSpPr>
          <p:cNvPr id="6" name="Shape 4"/>
          <p:cNvSpPr/>
          <p:nvPr/>
        </p:nvSpPr>
        <p:spPr>
          <a:xfrm>
            <a:off x="2148840" y="1828800"/>
            <a:ext cx="936346" cy="274320"/>
          </a:xfrm>
          <a:prstGeom prst="rect">
            <a:avLst/>
          </a:prstGeom>
          <a:solidFill>
            <a:srgbClr val="79A80D"/>
          </a:solidFill>
          <a:ln w="12700">
            <a:solidFill>
              <a:srgbClr val="FFFFFF">
                <a:alpha val="0"/>
              </a:srgbClr>
            </a:solidFill>
            <a:prstDash val="solid"/>
          </a:ln>
        </p:spPr>
        <p:txBody>
          <a:bodyPr/>
          <a:lstStyle/>
          <a:p>
            <a:endParaRPr lang="en-GB"/>
          </a:p>
        </p:txBody>
      </p:sp>
      <p:sp>
        <p:nvSpPr>
          <p:cNvPr id="7" name="Text 5"/>
          <p:cNvSpPr/>
          <p:nvPr/>
        </p:nvSpPr>
        <p:spPr>
          <a:xfrm>
            <a:off x="2148840" y="2157984"/>
            <a:ext cx="936346"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t−1</a:t>
            </a:r>
            <a:endParaRPr lang="en-US" sz="950" dirty="0"/>
          </a:p>
        </p:txBody>
      </p:sp>
      <p:sp>
        <p:nvSpPr>
          <p:cNvPr id="8" name="Shape 6"/>
          <p:cNvSpPr/>
          <p:nvPr/>
        </p:nvSpPr>
        <p:spPr>
          <a:xfrm>
            <a:off x="3249778" y="1828800"/>
            <a:ext cx="1528877" cy="274320"/>
          </a:xfrm>
          <a:prstGeom prst="rect">
            <a:avLst/>
          </a:prstGeom>
          <a:solidFill>
            <a:srgbClr val="79A80D"/>
          </a:solidFill>
          <a:ln w="12700">
            <a:solidFill>
              <a:srgbClr val="FFFFFF">
                <a:alpha val="0"/>
              </a:srgbClr>
            </a:solidFill>
            <a:prstDash val="solid"/>
          </a:ln>
        </p:spPr>
        <p:txBody>
          <a:bodyPr/>
          <a:lstStyle/>
          <a:p>
            <a:endParaRPr lang="en-GB"/>
          </a:p>
        </p:txBody>
      </p:sp>
      <p:sp>
        <p:nvSpPr>
          <p:cNvPr id="9" name="Text 7"/>
          <p:cNvSpPr/>
          <p:nvPr/>
        </p:nvSpPr>
        <p:spPr>
          <a:xfrm>
            <a:off x="3249778" y="2157984"/>
            <a:ext cx="1528877"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t−24</a:t>
            </a:r>
            <a:endParaRPr lang="en-US" sz="950" dirty="0"/>
          </a:p>
        </p:txBody>
      </p:sp>
      <p:sp>
        <p:nvSpPr>
          <p:cNvPr id="10" name="Shape 8"/>
          <p:cNvSpPr/>
          <p:nvPr/>
        </p:nvSpPr>
        <p:spPr>
          <a:xfrm>
            <a:off x="4943246" y="1828800"/>
            <a:ext cx="1677010" cy="274320"/>
          </a:xfrm>
          <a:prstGeom prst="rect">
            <a:avLst/>
          </a:prstGeom>
          <a:solidFill>
            <a:srgbClr val="79A80D"/>
          </a:solidFill>
          <a:ln w="12700">
            <a:solidFill>
              <a:srgbClr val="FFFFFF">
                <a:alpha val="0"/>
              </a:srgbClr>
            </a:solidFill>
            <a:prstDash val="solid"/>
          </a:ln>
        </p:spPr>
        <p:txBody>
          <a:bodyPr/>
          <a:lstStyle/>
          <a:p>
            <a:endParaRPr lang="en-GB"/>
          </a:p>
        </p:txBody>
      </p:sp>
      <p:sp>
        <p:nvSpPr>
          <p:cNvPr id="11" name="Text 9"/>
          <p:cNvSpPr/>
          <p:nvPr/>
        </p:nvSpPr>
        <p:spPr>
          <a:xfrm>
            <a:off x="4943246" y="2157984"/>
            <a:ext cx="1677010"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t−168</a:t>
            </a:r>
            <a:endParaRPr lang="en-US" sz="950" dirty="0"/>
          </a:p>
        </p:txBody>
      </p:sp>
      <p:sp>
        <p:nvSpPr>
          <p:cNvPr id="12" name="Shape 10"/>
          <p:cNvSpPr/>
          <p:nvPr/>
        </p:nvSpPr>
        <p:spPr>
          <a:xfrm>
            <a:off x="6784848" y="1828800"/>
            <a:ext cx="886968" cy="274320"/>
          </a:xfrm>
          <a:prstGeom prst="rect">
            <a:avLst/>
          </a:prstGeom>
          <a:solidFill>
            <a:srgbClr val="7C3AED"/>
          </a:solidFill>
          <a:ln w="12700">
            <a:solidFill>
              <a:srgbClr val="FFFFFF">
                <a:alpha val="0"/>
              </a:srgbClr>
            </a:solidFill>
            <a:prstDash val="solid"/>
          </a:ln>
        </p:spPr>
        <p:txBody>
          <a:bodyPr/>
          <a:lstStyle/>
          <a:p>
            <a:endParaRPr lang="en-GB"/>
          </a:p>
        </p:txBody>
      </p:sp>
      <p:sp>
        <p:nvSpPr>
          <p:cNvPr id="13" name="Text 11"/>
          <p:cNvSpPr/>
          <p:nvPr/>
        </p:nvSpPr>
        <p:spPr>
          <a:xfrm>
            <a:off x="6784848" y="2157984"/>
            <a:ext cx="886968"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other</a:t>
            </a:r>
            <a:endParaRPr lang="en-US" sz="950" dirty="0"/>
          </a:p>
        </p:txBody>
      </p:sp>
      <p:sp>
        <p:nvSpPr>
          <p:cNvPr id="14" name="Text 12"/>
          <p:cNvSpPr/>
          <p:nvPr/>
        </p:nvSpPr>
        <p:spPr>
          <a:xfrm>
            <a:off x="777240" y="3246120"/>
            <a:ext cx="1280160" cy="320040"/>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ptos" pitchFamily="34" charset="0"/>
                <a:ea typeface="Aptos" pitchFamily="34" charset="-122"/>
                <a:cs typeface="Aptos" pitchFamily="34" charset="-120"/>
              </a:rPr>
              <a:t>Holiday / event</a:t>
            </a:r>
            <a:endParaRPr lang="en-US" sz="1300" dirty="0"/>
          </a:p>
        </p:txBody>
      </p:sp>
      <p:sp>
        <p:nvSpPr>
          <p:cNvPr id="15" name="Shape 13"/>
          <p:cNvSpPr/>
          <p:nvPr/>
        </p:nvSpPr>
        <p:spPr>
          <a:xfrm>
            <a:off x="2148840" y="3200400"/>
            <a:ext cx="1751076" cy="274320"/>
          </a:xfrm>
          <a:prstGeom prst="rect">
            <a:avLst/>
          </a:prstGeom>
          <a:solidFill>
            <a:srgbClr val="79A80D"/>
          </a:solidFill>
          <a:ln w="12700">
            <a:solidFill>
              <a:srgbClr val="FFFFFF">
                <a:alpha val="0"/>
              </a:srgbClr>
            </a:solidFill>
            <a:prstDash val="solid"/>
          </a:ln>
        </p:spPr>
        <p:txBody>
          <a:bodyPr/>
          <a:lstStyle/>
          <a:p>
            <a:endParaRPr lang="en-GB"/>
          </a:p>
        </p:txBody>
      </p:sp>
      <p:sp>
        <p:nvSpPr>
          <p:cNvPr id="16" name="Text 14"/>
          <p:cNvSpPr/>
          <p:nvPr/>
        </p:nvSpPr>
        <p:spPr>
          <a:xfrm>
            <a:off x="2148840" y="3529584"/>
            <a:ext cx="1751076"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recent</a:t>
            </a:r>
            <a:endParaRPr lang="en-US" sz="950" dirty="0"/>
          </a:p>
        </p:txBody>
      </p:sp>
      <p:sp>
        <p:nvSpPr>
          <p:cNvPr id="17" name="Shape 15"/>
          <p:cNvSpPr/>
          <p:nvPr/>
        </p:nvSpPr>
        <p:spPr>
          <a:xfrm>
            <a:off x="4064508" y="3200400"/>
            <a:ext cx="1035101" cy="274320"/>
          </a:xfrm>
          <a:prstGeom prst="rect">
            <a:avLst/>
          </a:prstGeom>
          <a:solidFill>
            <a:srgbClr val="79A80D"/>
          </a:solidFill>
          <a:ln w="12700">
            <a:solidFill>
              <a:srgbClr val="FFFFFF">
                <a:alpha val="0"/>
              </a:srgbClr>
            </a:solidFill>
            <a:prstDash val="solid"/>
          </a:ln>
        </p:spPr>
        <p:txBody>
          <a:bodyPr/>
          <a:lstStyle/>
          <a:p>
            <a:endParaRPr lang="en-GB"/>
          </a:p>
        </p:txBody>
      </p:sp>
      <p:sp>
        <p:nvSpPr>
          <p:cNvPr id="18" name="Text 16"/>
          <p:cNvSpPr/>
          <p:nvPr/>
        </p:nvSpPr>
        <p:spPr>
          <a:xfrm>
            <a:off x="4064508" y="3529584"/>
            <a:ext cx="1035101"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yesterday</a:t>
            </a:r>
            <a:endParaRPr lang="en-US" sz="950" dirty="0"/>
          </a:p>
        </p:txBody>
      </p:sp>
      <p:sp>
        <p:nvSpPr>
          <p:cNvPr id="19" name="Shape 17"/>
          <p:cNvSpPr/>
          <p:nvPr/>
        </p:nvSpPr>
        <p:spPr>
          <a:xfrm>
            <a:off x="5264201" y="3200400"/>
            <a:ext cx="936346" cy="274320"/>
          </a:xfrm>
          <a:prstGeom prst="rect">
            <a:avLst/>
          </a:prstGeom>
          <a:solidFill>
            <a:srgbClr val="79A80D"/>
          </a:solidFill>
          <a:ln w="12700">
            <a:solidFill>
              <a:srgbClr val="FFFFFF">
                <a:alpha val="0"/>
              </a:srgbClr>
            </a:solidFill>
            <a:prstDash val="solid"/>
          </a:ln>
        </p:spPr>
        <p:txBody>
          <a:bodyPr/>
          <a:lstStyle/>
          <a:p>
            <a:endParaRPr lang="en-GB"/>
          </a:p>
        </p:txBody>
      </p:sp>
      <p:sp>
        <p:nvSpPr>
          <p:cNvPr id="20" name="Text 18"/>
          <p:cNvSpPr/>
          <p:nvPr/>
        </p:nvSpPr>
        <p:spPr>
          <a:xfrm>
            <a:off x="5264201" y="3529584"/>
            <a:ext cx="936346"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last week</a:t>
            </a:r>
            <a:endParaRPr lang="en-US" sz="950" dirty="0"/>
          </a:p>
        </p:txBody>
      </p:sp>
      <p:sp>
        <p:nvSpPr>
          <p:cNvPr id="21" name="Shape 19"/>
          <p:cNvSpPr/>
          <p:nvPr/>
        </p:nvSpPr>
        <p:spPr>
          <a:xfrm>
            <a:off x="6365138" y="3200400"/>
            <a:ext cx="1306678" cy="274320"/>
          </a:xfrm>
          <a:prstGeom prst="rect">
            <a:avLst/>
          </a:prstGeom>
          <a:solidFill>
            <a:srgbClr val="7C3AED"/>
          </a:solidFill>
          <a:ln w="12700">
            <a:solidFill>
              <a:srgbClr val="FFFFFF">
                <a:alpha val="0"/>
              </a:srgbClr>
            </a:solidFill>
            <a:prstDash val="solid"/>
          </a:ln>
        </p:spPr>
        <p:txBody>
          <a:bodyPr/>
          <a:lstStyle/>
          <a:p>
            <a:endParaRPr lang="en-GB"/>
          </a:p>
        </p:txBody>
      </p:sp>
      <p:sp>
        <p:nvSpPr>
          <p:cNvPr id="22" name="Text 20"/>
          <p:cNvSpPr/>
          <p:nvPr/>
        </p:nvSpPr>
        <p:spPr>
          <a:xfrm>
            <a:off x="6365138" y="3529584"/>
            <a:ext cx="1306678" cy="201168"/>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similar events</a:t>
            </a:r>
            <a:endParaRPr lang="en-US" sz="950" dirty="0"/>
          </a:p>
        </p:txBody>
      </p:sp>
      <p:sp>
        <p:nvSpPr>
          <p:cNvPr id="23" name="Text 21"/>
          <p:cNvSpPr/>
          <p:nvPr/>
        </p:nvSpPr>
        <p:spPr>
          <a:xfrm>
            <a:off x="2057400" y="4709160"/>
            <a:ext cx="5852160" cy="621792"/>
          </a:xfrm>
          <a:prstGeom prst="rect">
            <a:avLst/>
          </a:prstGeom>
          <a:solidFill>
            <a:srgbClr val="F8FAFC"/>
          </a:solidFill>
          <a:ln w="15240">
            <a:solidFill>
              <a:srgbClr val="CBD5E1"/>
            </a:solidFill>
          </a:ln>
        </p:spPr>
        <p:txBody>
          <a:bodyPr wrap="square" lIns="635" tIns="635" rIns="635" bIns="635" rtlCol="0" anchor="ctr">
            <a:normAutofit/>
          </a:bodyPr>
          <a:lstStyle/>
          <a:p>
            <a:pPr marL="0" indent="0" algn="ctr">
              <a:buNone/>
            </a:pPr>
            <a:r>
              <a:rPr lang="en-US" sz="1400" dirty="0">
                <a:solidFill>
                  <a:srgbClr val="0F172A"/>
                </a:solidFill>
                <a:latin typeface="Aptos" pitchFamily="34" charset="0"/>
                <a:ea typeface="Aptos" pitchFamily="34" charset="-122"/>
                <a:cs typeface="Aptos" pitchFamily="34" charset="-120"/>
              </a:rPr>
              <a:t>Weights are recomputed from the current queries and keys, not stored as fixed model parameters.</a:t>
            </a:r>
            <a:endParaRPr lang="en-US" sz="1400" dirty="0"/>
          </a:p>
        </p:txBody>
      </p:sp>
      <p:sp>
        <p:nvSpPr>
          <p:cNvPr id="24" name="Text 22"/>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400" b="1" dirty="0">
                <a:solidFill>
                  <a:srgbClr val="0F172A"/>
                </a:solidFill>
              </a:rPr>
              <a:t>Content-dependent weighting is one of the main differences between attention and fixed convolutional filters.</a:t>
            </a:r>
            <a:endParaRPr lang="en-US" sz="1400" b="1" dirty="0"/>
          </a:p>
        </p:txBody>
      </p:sp>
      <p:cxnSp>
        <p:nvCxnSpPr>
          <p:cNvPr id="26" name="Connettore 2 25">
            <a:extLst>
              <a:ext uri="{FF2B5EF4-FFF2-40B4-BE49-F238E27FC236}">
                <a16:creationId xmlns:a16="http://schemas.microsoft.com/office/drawing/2014/main" id="{04AE6B49-4383-1A2F-7D06-E8C25E9A8023}"/>
              </a:ext>
            </a:extLst>
          </p:cNvPr>
          <p:cNvCxnSpPr>
            <a:endCxn id="17" idx="0"/>
          </p:cNvCxnSpPr>
          <p:nvPr/>
        </p:nvCxnSpPr>
        <p:spPr>
          <a:xfrm>
            <a:off x="4202349" y="2359152"/>
            <a:ext cx="379710" cy="84124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Connettore 2 26">
            <a:extLst>
              <a:ext uri="{FF2B5EF4-FFF2-40B4-BE49-F238E27FC236}">
                <a16:creationId xmlns:a16="http://schemas.microsoft.com/office/drawing/2014/main" id="{2BB364CA-B91E-FF25-F408-1A5277151713}"/>
              </a:ext>
            </a:extLst>
          </p:cNvPr>
          <p:cNvCxnSpPr>
            <a:cxnSpLocks/>
          </p:cNvCxnSpPr>
          <p:nvPr/>
        </p:nvCxnSpPr>
        <p:spPr>
          <a:xfrm>
            <a:off x="5736372" y="2404872"/>
            <a:ext cx="189855" cy="67665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40E2B3-0B8E-BCAC-958F-F123B0CD317B}"/>
              </a:ext>
            </a:extLst>
          </p:cNvPr>
          <p:cNvSpPr>
            <a:spLocks noGrp="1"/>
          </p:cNvSpPr>
          <p:nvPr>
            <p:ph type="title"/>
          </p:nvPr>
        </p:nvSpPr>
        <p:spPr/>
        <p:txBody>
          <a:bodyPr/>
          <a:lstStyle/>
          <a:p>
            <a:r>
              <a:rPr lang="en-GB" dirty="0"/>
              <a:t>Self-attention mixes information, but does not by itself encode order</a:t>
            </a:r>
          </a:p>
        </p:txBody>
      </p:sp>
      <p:sp>
        <p:nvSpPr>
          <p:cNvPr id="3" name="Segnaposto contenuto 2">
            <a:extLst>
              <a:ext uri="{FF2B5EF4-FFF2-40B4-BE49-F238E27FC236}">
                <a16:creationId xmlns:a16="http://schemas.microsoft.com/office/drawing/2014/main" id="{5872C578-4B84-2B76-E212-720825E1F4F7}"/>
              </a:ext>
            </a:extLst>
          </p:cNvPr>
          <p:cNvSpPr>
            <a:spLocks noGrp="1"/>
          </p:cNvSpPr>
          <p:nvPr>
            <p:ph idx="1"/>
          </p:nvPr>
        </p:nvSpPr>
        <p:spPr/>
        <p:txBody>
          <a:bodyPr>
            <a:normAutofit fontScale="92500" lnSpcReduction="20000"/>
          </a:bodyPr>
          <a:lstStyle/>
          <a:p>
            <a:r>
              <a:rPr lang="en-GB" dirty="0"/>
              <a:t>Suppose the sequence contains four representations: x[1], x[2], x[3], x[4]</a:t>
            </a:r>
          </a:p>
          <a:p>
            <a:r>
              <a:rPr lang="en-GB" dirty="0"/>
              <a:t>Self-attention can compare their content and combine their values.</a:t>
            </a:r>
          </a:p>
          <a:p>
            <a:r>
              <a:rPr lang="en-GB" dirty="0"/>
              <a:t>But without additional positional information, the mechanism does not intrinsically distinguish sufficiently between: x[1] before x[4]</a:t>
            </a:r>
          </a:p>
          <a:p>
            <a:r>
              <a:rPr lang="en-GB" dirty="0"/>
              <a:t>and </a:t>
            </a:r>
            <a:r>
              <a:rPr lang="en-GB" b="1" dirty="0"/>
              <a:t>a reordered sequence containing the same representations.</a:t>
            </a:r>
          </a:p>
          <a:p>
            <a:r>
              <a:rPr lang="en-GB" b="1" dirty="0"/>
              <a:t>For temporal data, this is critical</a:t>
            </a:r>
          </a:p>
          <a:p>
            <a:r>
              <a:rPr lang="en-GB" dirty="0"/>
              <a:t>For example:</a:t>
            </a:r>
          </a:p>
          <a:p>
            <a:pPr lvl="1"/>
            <a:r>
              <a:rPr lang="en-GB" dirty="0"/>
              <a:t>temperature increases</a:t>
            </a:r>
          </a:p>
          <a:p>
            <a:pPr lvl="1"/>
            <a:r>
              <a:rPr lang="en-GB" dirty="0"/>
              <a:t>then pressure increases</a:t>
            </a:r>
          </a:p>
          <a:p>
            <a:r>
              <a:rPr lang="en-GB" dirty="0"/>
              <a:t>is different from:</a:t>
            </a:r>
          </a:p>
          <a:p>
            <a:pPr lvl="1"/>
            <a:r>
              <a:rPr lang="en-GB" dirty="0"/>
              <a:t>pressure increases</a:t>
            </a:r>
          </a:p>
          <a:p>
            <a:pPr lvl="1"/>
            <a:r>
              <a:rPr lang="en-GB" dirty="0"/>
              <a:t>then temperature increases</a:t>
            </a:r>
          </a:p>
          <a:p>
            <a:endParaRPr lang="en-GB" dirty="0"/>
          </a:p>
        </p:txBody>
      </p:sp>
    </p:spTree>
    <p:extLst>
      <p:ext uri="{BB962C8B-B14F-4D97-AF65-F5344CB8AC3E}">
        <p14:creationId xmlns:p14="http://schemas.microsoft.com/office/powerpoint/2010/main" val="2247271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C119-9A64-C76E-B9C7-74B20A3D47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00E67FD-80F8-D477-7706-5BF561F3784D}"/>
              </a:ext>
            </a:extLst>
          </p:cNvPr>
          <p:cNvSpPr>
            <a:spLocks noGrp="1"/>
          </p:cNvSpPr>
          <p:nvPr>
            <p:ph type="title"/>
          </p:nvPr>
        </p:nvSpPr>
        <p:spPr/>
        <p:txBody>
          <a:bodyPr/>
          <a:lstStyle/>
          <a:p>
            <a:r>
              <a:rPr lang="en-GB" dirty="0"/>
              <a:t>Self-attention mixes information, but does not by itself encode order</a:t>
            </a:r>
          </a:p>
        </p:txBody>
      </p:sp>
      <p:sp>
        <p:nvSpPr>
          <p:cNvPr id="3" name="Segnaposto contenuto 2">
            <a:extLst>
              <a:ext uri="{FF2B5EF4-FFF2-40B4-BE49-F238E27FC236}">
                <a16:creationId xmlns:a16="http://schemas.microsoft.com/office/drawing/2014/main" id="{0CA8E9B1-E7A4-306E-FCC4-D4A88F3DC54D}"/>
              </a:ext>
            </a:extLst>
          </p:cNvPr>
          <p:cNvSpPr>
            <a:spLocks noGrp="1"/>
          </p:cNvSpPr>
          <p:nvPr>
            <p:ph idx="1"/>
          </p:nvPr>
        </p:nvSpPr>
        <p:spPr/>
        <p:txBody>
          <a:bodyPr>
            <a:normAutofit/>
          </a:bodyPr>
          <a:lstStyle/>
          <a:p>
            <a:r>
              <a:rPr lang="en-GB" b="1" dirty="0"/>
              <a:t>Therefore self-attention needs information about temporal position</a:t>
            </a:r>
          </a:p>
          <a:p>
            <a:r>
              <a:rPr lang="en-GB" dirty="0"/>
              <a:t>This can include:</a:t>
            </a:r>
          </a:p>
          <a:p>
            <a:pPr lvl="1"/>
            <a:r>
              <a:rPr lang="en-GB" dirty="0"/>
              <a:t>absolute position; </a:t>
            </a:r>
          </a:p>
          <a:p>
            <a:pPr lvl="1"/>
            <a:r>
              <a:rPr lang="en-GB" dirty="0"/>
              <a:t>relative temporal distance; </a:t>
            </a:r>
          </a:p>
          <a:p>
            <a:pPr lvl="1"/>
            <a:r>
              <a:rPr lang="en-GB" dirty="0"/>
              <a:t>other positional representations. </a:t>
            </a:r>
          </a:p>
          <a:p>
            <a:r>
              <a:rPr lang="en-GB" b="1" dirty="0"/>
              <a:t>Transition</a:t>
            </a:r>
          </a:p>
          <a:p>
            <a:r>
              <a:rPr lang="en-GB" dirty="0"/>
              <a:t>Before introducing positional information, we must first decide another fundamental property:</a:t>
            </a:r>
          </a:p>
          <a:p>
            <a:pPr lvl="1"/>
            <a:r>
              <a:rPr lang="en-GB" dirty="0"/>
              <a:t>Should a position be allowed to attend to future observations?</a:t>
            </a:r>
          </a:p>
          <a:p>
            <a:r>
              <a:rPr lang="en-GB" dirty="0"/>
              <a:t>This leads to </a:t>
            </a:r>
            <a:r>
              <a:rPr lang="en-GB" b="1" dirty="0"/>
              <a:t>causal and non-causal attention</a:t>
            </a:r>
            <a:r>
              <a:rPr lang="en-GB" dirty="0"/>
              <a:t>.</a:t>
            </a:r>
          </a:p>
          <a:p>
            <a:endParaRPr lang="en-GB" dirty="0"/>
          </a:p>
        </p:txBody>
      </p:sp>
    </p:spTree>
    <p:extLst>
      <p:ext uri="{BB962C8B-B14F-4D97-AF65-F5344CB8AC3E}">
        <p14:creationId xmlns:p14="http://schemas.microsoft.com/office/powerpoint/2010/main" val="36288303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Self-attention mixes content; position must be represented</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Without positional information, temporal order is not sufficiently encoded.</a:t>
            </a:r>
            <a:endParaRPr lang="en-US" sz="1250" dirty="0"/>
          </a:p>
        </p:txBody>
      </p:sp>
      <p:sp>
        <p:nvSpPr>
          <p:cNvPr id="5" name="Text 3"/>
          <p:cNvSpPr/>
          <p:nvPr/>
        </p:nvSpPr>
        <p:spPr>
          <a:xfrm>
            <a:off x="914400" y="182880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A</a:t>
            </a:r>
            <a:endParaRPr lang="en-US" sz="1300" dirty="0"/>
          </a:p>
        </p:txBody>
      </p:sp>
      <p:sp>
        <p:nvSpPr>
          <p:cNvPr id="6" name="Text 4"/>
          <p:cNvSpPr/>
          <p:nvPr/>
        </p:nvSpPr>
        <p:spPr>
          <a:xfrm>
            <a:off x="2011680" y="182880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B</a:t>
            </a:r>
            <a:endParaRPr lang="en-US" sz="1300" dirty="0"/>
          </a:p>
        </p:txBody>
      </p:sp>
      <p:sp>
        <p:nvSpPr>
          <p:cNvPr id="7" name="Text 5"/>
          <p:cNvSpPr/>
          <p:nvPr/>
        </p:nvSpPr>
        <p:spPr>
          <a:xfrm>
            <a:off x="3108960" y="182880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C</a:t>
            </a:r>
            <a:endParaRPr lang="en-US" sz="1300" dirty="0"/>
          </a:p>
        </p:txBody>
      </p:sp>
      <p:sp>
        <p:nvSpPr>
          <p:cNvPr id="8" name="Text 6"/>
          <p:cNvSpPr/>
          <p:nvPr/>
        </p:nvSpPr>
        <p:spPr>
          <a:xfrm>
            <a:off x="4206240" y="182880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D</a:t>
            </a:r>
            <a:endParaRPr lang="en-US" sz="1300" dirty="0"/>
          </a:p>
        </p:txBody>
      </p:sp>
      <p:sp>
        <p:nvSpPr>
          <p:cNvPr id="9" name="Text 7"/>
          <p:cNvSpPr/>
          <p:nvPr/>
        </p:nvSpPr>
        <p:spPr>
          <a:xfrm>
            <a:off x="914400" y="384048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C</a:t>
            </a:r>
            <a:endParaRPr lang="en-US" sz="1300" dirty="0"/>
          </a:p>
        </p:txBody>
      </p:sp>
      <p:sp>
        <p:nvSpPr>
          <p:cNvPr id="10" name="Text 8"/>
          <p:cNvSpPr/>
          <p:nvPr/>
        </p:nvSpPr>
        <p:spPr>
          <a:xfrm>
            <a:off x="2011680" y="384048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A</a:t>
            </a:r>
            <a:endParaRPr lang="en-US" sz="1300" dirty="0"/>
          </a:p>
        </p:txBody>
      </p:sp>
      <p:sp>
        <p:nvSpPr>
          <p:cNvPr id="11" name="Text 9"/>
          <p:cNvSpPr/>
          <p:nvPr/>
        </p:nvSpPr>
        <p:spPr>
          <a:xfrm>
            <a:off x="3108960" y="384048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D</a:t>
            </a:r>
            <a:endParaRPr lang="en-US" sz="1300" dirty="0"/>
          </a:p>
        </p:txBody>
      </p:sp>
      <p:sp>
        <p:nvSpPr>
          <p:cNvPr id="12" name="Text 10"/>
          <p:cNvSpPr/>
          <p:nvPr/>
        </p:nvSpPr>
        <p:spPr>
          <a:xfrm>
            <a:off x="4206240" y="3840480"/>
            <a:ext cx="685800" cy="41148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B</a:t>
            </a:r>
            <a:endParaRPr lang="en-US" sz="1300" dirty="0"/>
          </a:p>
        </p:txBody>
      </p:sp>
      <p:sp>
        <p:nvSpPr>
          <p:cNvPr id="13" name="Text 11"/>
          <p:cNvSpPr/>
          <p:nvPr/>
        </p:nvSpPr>
        <p:spPr>
          <a:xfrm>
            <a:off x="822960" y="1417320"/>
            <a:ext cx="4480560" cy="2286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Original temporal order</a:t>
            </a:r>
            <a:endParaRPr lang="en-US" sz="1300" dirty="0"/>
          </a:p>
        </p:txBody>
      </p:sp>
      <p:sp>
        <p:nvSpPr>
          <p:cNvPr id="14" name="Text 12"/>
          <p:cNvSpPr/>
          <p:nvPr/>
        </p:nvSpPr>
        <p:spPr>
          <a:xfrm>
            <a:off x="822960" y="3429000"/>
            <a:ext cx="4480560" cy="2286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Same contents, different order</a:t>
            </a:r>
            <a:endParaRPr lang="en-US" sz="1300" dirty="0"/>
          </a:p>
        </p:txBody>
      </p:sp>
      <p:sp>
        <p:nvSpPr>
          <p:cNvPr id="15" name="Text 13"/>
          <p:cNvSpPr/>
          <p:nvPr/>
        </p:nvSpPr>
        <p:spPr>
          <a:xfrm>
            <a:off x="6400800" y="2194560"/>
            <a:ext cx="2194560" cy="1280160"/>
          </a:xfrm>
          <a:prstGeom prst="rect">
            <a:avLst/>
          </a:prstGeom>
          <a:solidFill>
            <a:srgbClr val="FEE2E2"/>
          </a:solidFill>
          <a:ln w="15240">
            <a:solidFill>
              <a:srgbClr val="DC2626"/>
            </a:solidFill>
          </a:ln>
        </p:spPr>
        <p:txBody>
          <a:bodyPr wrap="square" lIns="635" tIns="635" rIns="635" bIns="635" rtlCol="0" anchor="ctr">
            <a:normAutofit/>
          </a:bodyPr>
          <a:lstStyle/>
          <a:p>
            <a:pPr marL="0" indent="0" algn="ctr">
              <a:buNone/>
            </a:pPr>
            <a:r>
              <a:rPr lang="en-US" sz="1600" b="1" dirty="0">
                <a:solidFill>
                  <a:srgbClr val="0F172A"/>
                </a:solidFill>
                <a:latin typeface="Aptos" pitchFamily="34" charset="0"/>
                <a:ea typeface="Aptos" pitchFamily="34" charset="-122"/>
                <a:cs typeface="Aptos" pitchFamily="34" charset="-120"/>
              </a:rPr>
              <a:t>Content alone</a:t>
            </a:r>
            <a:endParaRPr lang="en-US" sz="1600" dirty="0"/>
          </a:p>
          <a:p>
            <a:pPr marL="0" indent="0" algn="ctr">
              <a:buNone/>
            </a:pPr>
            <a:r>
              <a:rPr lang="en-US" sz="1600" b="1" dirty="0">
                <a:solidFill>
                  <a:srgbClr val="0F172A"/>
                </a:solidFill>
                <a:latin typeface="Aptos" pitchFamily="34" charset="0"/>
                <a:ea typeface="Aptos" pitchFamily="34" charset="-122"/>
                <a:cs typeface="Aptos" pitchFamily="34" charset="-120"/>
              </a:rPr>
              <a:t>is not enough</a:t>
            </a:r>
            <a:endParaRPr lang="en-US" sz="1600" dirty="0"/>
          </a:p>
          <a:p>
            <a:pPr marL="0" indent="0" algn="ctr">
              <a:buNone/>
            </a:pPr>
            <a:r>
              <a:rPr lang="en-US" sz="1600" b="1" dirty="0">
                <a:solidFill>
                  <a:srgbClr val="0F172A"/>
                </a:solidFill>
                <a:latin typeface="Aptos" pitchFamily="34" charset="0"/>
                <a:ea typeface="Aptos" pitchFamily="34" charset="-122"/>
                <a:cs typeface="Aptos" pitchFamily="34" charset="-120"/>
              </a:rPr>
              <a:t>for temporal data</a:t>
            </a:r>
            <a:endParaRPr lang="en-US" sz="1600" dirty="0"/>
          </a:p>
        </p:txBody>
      </p:sp>
      <p:sp>
        <p:nvSpPr>
          <p:cNvPr id="16" name="Shape 14"/>
          <p:cNvSpPr/>
          <p:nvPr/>
        </p:nvSpPr>
        <p:spPr>
          <a:xfrm>
            <a:off x="5029200" y="2057400"/>
            <a:ext cx="1280160" cy="685800"/>
          </a:xfrm>
          <a:prstGeom prst="line">
            <a:avLst/>
          </a:prstGeom>
          <a:noFill/>
          <a:ln w="22860">
            <a:solidFill>
              <a:srgbClr val="DC2626"/>
            </a:solidFill>
            <a:prstDash val="solid"/>
            <a:headEnd type="none"/>
            <a:tailEnd type="triangle"/>
          </a:ln>
        </p:spPr>
        <p:txBody>
          <a:bodyPr/>
          <a:lstStyle/>
          <a:p>
            <a:endParaRPr lang="en-GB"/>
          </a:p>
        </p:txBody>
      </p:sp>
      <p:sp>
        <p:nvSpPr>
          <p:cNvPr id="17" name="Shape 15"/>
          <p:cNvSpPr/>
          <p:nvPr/>
        </p:nvSpPr>
        <p:spPr>
          <a:xfrm flipV="1">
            <a:off x="5029200" y="3054485"/>
            <a:ext cx="1280160" cy="1014595"/>
          </a:xfrm>
          <a:prstGeom prst="line">
            <a:avLst/>
          </a:prstGeom>
          <a:noFill/>
          <a:ln w="22860">
            <a:solidFill>
              <a:srgbClr val="DC2626"/>
            </a:solidFill>
            <a:prstDash val="solid"/>
            <a:headEnd type="none"/>
            <a:tailEnd type="triangle"/>
          </a:ln>
        </p:spPr>
        <p:txBody>
          <a:bodyPr/>
          <a:lstStyle/>
          <a:p>
            <a:endParaRPr lang="en-GB"/>
          </a:p>
        </p:txBody>
      </p:sp>
      <p:sp>
        <p:nvSpPr>
          <p:cNvPr id="18" name="Text 16"/>
          <p:cNvSpPr/>
          <p:nvPr/>
        </p:nvSpPr>
        <p:spPr>
          <a:xfrm>
            <a:off x="1005840" y="4800600"/>
            <a:ext cx="5120640" cy="365760"/>
          </a:xfrm>
          <a:prstGeom prst="rect">
            <a:avLst/>
          </a:prstGeom>
          <a:noFill/>
          <a:ln/>
        </p:spPr>
        <p:txBody>
          <a:bodyPr wrap="square" lIns="0" tIns="0" rIns="0" bIns="0" rtlCol="0" anchor="ctr">
            <a:normAutofit fontScale="92500" lnSpcReduction="10000"/>
          </a:bodyPr>
          <a:lstStyle/>
          <a:p>
            <a:pPr marL="0" indent="0" algn="ctr">
              <a:buNone/>
            </a:pPr>
            <a:r>
              <a:rPr lang="en-US" sz="1400" b="1" dirty="0">
                <a:solidFill>
                  <a:srgbClr val="0F172A"/>
                </a:solidFill>
                <a:latin typeface="Aptos" pitchFamily="34" charset="0"/>
                <a:ea typeface="Aptos" pitchFamily="34" charset="-122"/>
                <a:cs typeface="Aptos" pitchFamily="34" charset="-120"/>
              </a:rPr>
              <a:t>temperature rises → pressure rises  ≠  pressure rises → temperature rises</a:t>
            </a:r>
            <a:endParaRPr lang="en-US" sz="1400" dirty="0"/>
          </a:p>
        </p:txBody>
      </p:sp>
      <p:sp>
        <p:nvSpPr>
          <p:cNvPr id="19" name="Text 17"/>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This motivates positional information after introducing full and causal self-attention.</a:t>
            </a:r>
            <a:endParaRPr lang="en-US" sz="1110" dirty="0"/>
          </a:p>
        </p:txBody>
      </p:sp>
      <p:sp>
        <p:nvSpPr>
          <p:cNvPr id="21" name="CasellaDiTesto 20">
            <a:extLst>
              <a:ext uri="{FF2B5EF4-FFF2-40B4-BE49-F238E27FC236}">
                <a16:creationId xmlns:a16="http://schemas.microsoft.com/office/drawing/2014/main" id="{550F2B2C-F170-BD7B-E3E0-0686E89BE664}"/>
              </a:ext>
            </a:extLst>
          </p:cNvPr>
          <p:cNvSpPr txBox="1"/>
          <p:nvPr/>
        </p:nvSpPr>
        <p:spPr>
          <a:xfrm>
            <a:off x="5920643" y="5126087"/>
            <a:ext cx="6099242" cy="1015663"/>
          </a:xfrm>
          <a:prstGeom prst="rect">
            <a:avLst/>
          </a:prstGeom>
          <a:noFill/>
        </p:spPr>
        <p:txBody>
          <a:bodyPr wrap="square">
            <a:spAutoFit/>
          </a:bodyPr>
          <a:lstStyle/>
          <a:p>
            <a:pPr>
              <a:buNone/>
            </a:pPr>
            <a:r>
              <a:rPr lang="en-GB" sz="1200" dirty="0"/>
              <a:t>Without positional encodings, Q,K,V are computed only from content. Therefore, for example, the compatibility between </a:t>
            </a:r>
            <a:r>
              <a:rPr lang="en-GB" sz="1200" b="1" dirty="0"/>
              <a:t>A and C</a:t>
            </a:r>
            <a:endParaRPr lang="en-GB" sz="1200" dirty="0"/>
          </a:p>
          <a:p>
            <a:pPr>
              <a:buNone/>
            </a:pPr>
            <a:r>
              <a:rPr lang="en-GB" sz="1200" dirty="0" err="1"/>
              <a:t>qA</a:t>
            </a:r>
            <a:r>
              <a:rPr lang="en-GB" sz="1200" dirty="0"/>
              <a:t>⊤​</a:t>
            </a:r>
            <a:r>
              <a:rPr lang="en-GB" sz="1200" dirty="0" err="1"/>
              <a:t>kC</a:t>
            </a:r>
            <a:r>
              <a:rPr lang="en-GB" sz="1200" dirty="0"/>
              <a:t>​ </a:t>
            </a:r>
          </a:p>
          <a:p>
            <a:pPr>
              <a:buNone/>
            </a:pPr>
            <a:r>
              <a:rPr lang="en-GB" sz="1200" dirty="0"/>
              <a:t>is exactly the same in both sequences. So if A assigns weight 0.6 to C in the first sequence, it will also assign weight 0.6 to C in the permuted sequence.</a:t>
            </a:r>
          </a:p>
        </p:txBody>
      </p:sp>
      <p:sp>
        <p:nvSpPr>
          <p:cNvPr id="23" name="CasellaDiTesto 22">
            <a:extLst>
              <a:ext uri="{FF2B5EF4-FFF2-40B4-BE49-F238E27FC236}">
                <a16:creationId xmlns:a16="http://schemas.microsoft.com/office/drawing/2014/main" id="{74DCEFEF-CB4C-17F5-293E-115D4E7981B9}"/>
              </a:ext>
            </a:extLst>
          </p:cNvPr>
          <p:cNvSpPr txBox="1"/>
          <p:nvPr/>
        </p:nvSpPr>
        <p:spPr>
          <a:xfrm>
            <a:off x="7039664" y="3800207"/>
            <a:ext cx="4793887" cy="1169551"/>
          </a:xfrm>
          <a:prstGeom prst="rect">
            <a:avLst/>
          </a:prstGeom>
          <a:noFill/>
        </p:spPr>
        <p:txBody>
          <a:bodyPr wrap="square">
            <a:spAutoFit/>
          </a:bodyPr>
          <a:lstStyle/>
          <a:p>
            <a:r>
              <a:rPr lang="en-GB" sz="1400" b="1" dirty="0"/>
              <a:t>Full self-attention without positional information is permutation equivariant: it models relationships among contents but does not encode their temporal order (i.e., it does not know that A was originally at position 1 and C at position 3).</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0E619D-F219-7AEC-9987-97F0D1716970}"/>
              </a:ext>
            </a:extLst>
          </p:cNvPr>
          <p:cNvSpPr>
            <a:spLocks noGrp="1"/>
          </p:cNvSpPr>
          <p:nvPr>
            <p:ph type="title"/>
          </p:nvPr>
        </p:nvSpPr>
        <p:spPr/>
        <p:txBody>
          <a:bodyPr/>
          <a:lstStyle/>
          <a:p>
            <a:r>
              <a:rPr lang="it-IT" dirty="0" err="1"/>
              <a:t>Permutation</a:t>
            </a:r>
            <a:r>
              <a:rPr lang="it-IT" dirty="0"/>
              <a:t> </a:t>
            </a:r>
            <a:r>
              <a:rPr lang="it-IT" dirty="0" err="1"/>
              <a:t>equivariance</a:t>
            </a:r>
            <a:endParaRPr lang="en-GB" dirty="0"/>
          </a:p>
        </p:txBody>
      </p:sp>
      <p:sp>
        <p:nvSpPr>
          <p:cNvPr id="3" name="Segnaposto contenuto 2">
            <a:extLst>
              <a:ext uri="{FF2B5EF4-FFF2-40B4-BE49-F238E27FC236}">
                <a16:creationId xmlns:a16="http://schemas.microsoft.com/office/drawing/2014/main" id="{3BA91994-4D45-0117-FCC2-72636E23DD0B}"/>
              </a:ext>
            </a:extLst>
          </p:cNvPr>
          <p:cNvSpPr>
            <a:spLocks noGrp="1"/>
          </p:cNvSpPr>
          <p:nvPr>
            <p:ph idx="1"/>
          </p:nvPr>
        </p:nvSpPr>
        <p:spPr/>
        <p:txBody>
          <a:bodyPr>
            <a:normAutofit/>
          </a:bodyPr>
          <a:lstStyle/>
          <a:p>
            <a:r>
              <a:rPr lang="en-GB" dirty="0"/>
              <a:t>If you permute the input positions, the outputs are permuted in exactly the same way.</a:t>
            </a:r>
          </a:p>
          <a:p>
            <a:r>
              <a:rPr lang="en-GB" dirty="0"/>
              <a:t>Formally, if P is a permutation matrix, f(PX)=</a:t>
            </a:r>
            <a:r>
              <a:rPr lang="en-GB" dirty="0" err="1"/>
              <a:t>Pf</a:t>
            </a:r>
            <a:r>
              <a:rPr lang="en-GB" dirty="0"/>
              <a:t>(X). </a:t>
            </a:r>
          </a:p>
          <a:p>
            <a:r>
              <a:rPr lang="en-GB" dirty="0"/>
              <a:t>For self-attention without positional information: X=[A,B,C,D] </a:t>
            </a:r>
          </a:p>
          <a:p>
            <a:r>
              <a:rPr lang="en-GB" dirty="0"/>
              <a:t>might produce Y=[</a:t>
            </a:r>
            <a:r>
              <a:rPr lang="en-GB" dirty="0" err="1"/>
              <a:t>yA</a:t>
            </a:r>
            <a:r>
              <a:rPr lang="en-GB" dirty="0"/>
              <a:t>​,</a:t>
            </a:r>
            <a:r>
              <a:rPr lang="en-GB" dirty="0" err="1"/>
              <a:t>yB</a:t>
            </a:r>
            <a:r>
              <a:rPr lang="en-GB" dirty="0"/>
              <a:t>​,</a:t>
            </a:r>
            <a:r>
              <a:rPr lang="en-GB" dirty="0" err="1"/>
              <a:t>yC</a:t>
            </a:r>
            <a:r>
              <a:rPr lang="en-GB" dirty="0"/>
              <a:t>​,</a:t>
            </a:r>
            <a:r>
              <a:rPr lang="en-GB" dirty="0" err="1"/>
              <a:t>yD</a:t>
            </a:r>
            <a:r>
              <a:rPr lang="en-GB" dirty="0"/>
              <a:t>​]. </a:t>
            </a:r>
          </a:p>
          <a:p>
            <a:r>
              <a:rPr lang="en-GB" dirty="0"/>
              <a:t>If we reorder the input as X′=[C,A,D,B], </a:t>
            </a:r>
          </a:p>
          <a:p>
            <a:r>
              <a:rPr lang="en-GB" dirty="0"/>
              <a:t>the output becomes Y′=[</a:t>
            </a:r>
            <a:r>
              <a:rPr lang="en-GB" dirty="0" err="1"/>
              <a:t>yC</a:t>
            </a:r>
            <a:r>
              <a:rPr lang="en-GB" dirty="0"/>
              <a:t>​,</a:t>
            </a:r>
            <a:r>
              <a:rPr lang="en-GB" dirty="0" err="1"/>
              <a:t>yA</a:t>
            </a:r>
            <a:r>
              <a:rPr lang="en-GB" dirty="0"/>
              <a:t>​,</a:t>
            </a:r>
            <a:r>
              <a:rPr lang="en-GB" dirty="0" err="1"/>
              <a:t>yD</a:t>
            </a:r>
            <a:r>
              <a:rPr lang="en-GB" dirty="0"/>
              <a:t>​,</a:t>
            </a:r>
            <a:r>
              <a:rPr lang="en-GB" dirty="0" err="1"/>
              <a:t>yB</a:t>
            </a:r>
            <a:r>
              <a:rPr lang="en-GB" dirty="0"/>
              <a:t>​]. </a:t>
            </a:r>
          </a:p>
          <a:p>
            <a:endParaRPr lang="en-GB" dirty="0"/>
          </a:p>
          <a:p>
            <a:r>
              <a:rPr lang="en-GB" dirty="0"/>
              <a:t>So the representations associated with the contents are essentially unchanged; they are just </a:t>
            </a:r>
            <a:r>
              <a:rPr lang="en-GB" b="1" dirty="0"/>
              <a:t>moved along with the corresponding inputs</a:t>
            </a:r>
            <a:r>
              <a:rPr lang="en-GB" dirty="0"/>
              <a:t>.</a:t>
            </a:r>
          </a:p>
          <a:p>
            <a:endParaRPr lang="en-GB" dirty="0"/>
          </a:p>
        </p:txBody>
      </p:sp>
    </p:spTree>
    <p:extLst>
      <p:ext uri="{BB962C8B-B14F-4D97-AF65-F5344CB8AC3E}">
        <p14:creationId xmlns:p14="http://schemas.microsoft.com/office/powerpoint/2010/main" val="22743098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027B0B-96B2-6EDD-8E92-D191620F0EB4}"/>
              </a:ext>
            </a:extLst>
          </p:cNvPr>
          <p:cNvSpPr>
            <a:spLocks noGrp="1"/>
          </p:cNvSpPr>
          <p:nvPr>
            <p:ph type="title"/>
          </p:nvPr>
        </p:nvSpPr>
        <p:spPr/>
        <p:txBody>
          <a:bodyPr/>
          <a:lstStyle/>
          <a:p>
            <a:r>
              <a:rPr lang="en-GB" dirty="0"/>
              <a:t>Block 6.D — Causal and Non-Causal Attention</a:t>
            </a:r>
          </a:p>
        </p:txBody>
      </p:sp>
      <p:sp>
        <p:nvSpPr>
          <p:cNvPr id="3" name="Segnaposto contenuto 2">
            <a:extLst>
              <a:ext uri="{FF2B5EF4-FFF2-40B4-BE49-F238E27FC236}">
                <a16:creationId xmlns:a16="http://schemas.microsoft.com/office/drawing/2014/main" id="{86BBC6BB-E70F-B24A-BC38-51A5AE340FF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8853088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E4763-05CA-BDEC-4D7D-FAB18284179D}"/>
              </a:ext>
            </a:extLst>
          </p:cNvPr>
          <p:cNvSpPr>
            <a:spLocks noGrp="1"/>
          </p:cNvSpPr>
          <p:nvPr>
            <p:ph type="title"/>
          </p:nvPr>
        </p:nvSpPr>
        <p:spPr/>
        <p:txBody>
          <a:bodyPr/>
          <a:lstStyle/>
          <a:p>
            <a:r>
              <a:rPr lang="en-GB" dirty="0"/>
              <a:t>Standard self-attention may use the future</a:t>
            </a:r>
          </a:p>
        </p:txBody>
      </p:sp>
      <p:sp>
        <p:nvSpPr>
          <p:cNvPr id="3" name="Segnaposto contenuto 2">
            <a:extLst>
              <a:ext uri="{FF2B5EF4-FFF2-40B4-BE49-F238E27FC236}">
                <a16:creationId xmlns:a16="http://schemas.microsoft.com/office/drawing/2014/main" id="{5061C0E9-B080-A5DE-3B64-63FCB4616E24}"/>
              </a:ext>
            </a:extLst>
          </p:cNvPr>
          <p:cNvSpPr>
            <a:spLocks noGrp="1"/>
          </p:cNvSpPr>
          <p:nvPr>
            <p:ph sz="half" idx="1"/>
          </p:nvPr>
        </p:nvSpPr>
        <p:spPr>
          <a:xfrm>
            <a:off x="677334" y="2160588"/>
            <a:ext cx="5418666" cy="4279123"/>
          </a:xfrm>
        </p:spPr>
        <p:txBody>
          <a:bodyPr>
            <a:normAutofit/>
          </a:bodyPr>
          <a:lstStyle/>
          <a:p>
            <a:r>
              <a:rPr lang="en-GB" dirty="0"/>
              <a:t>Suppose we compute the representation associated with time: t</a:t>
            </a:r>
          </a:p>
          <a:p>
            <a:r>
              <a:rPr lang="en-GB" dirty="0"/>
              <a:t>In unrestricted self-attention, the query at t can compare itself with keys at:</a:t>
            </a:r>
          </a:p>
          <a:p>
            <a:pPr lvl="1"/>
            <a:r>
              <a:rPr lang="en-GB" dirty="0"/>
              <a:t>1, 2, ..., t−1, t, t+1, ..., L</a:t>
            </a:r>
          </a:p>
          <a:p>
            <a:r>
              <a:rPr lang="en-GB" dirty="0"/>
              <a:t>Therefore the updated representation at time t may use:</a:t>
            </a:r>
          </a:p>
          <a:p>
            <a:pPr lvl="1"/>
            <a:r>
              <a:rPr lang="en-GB" dirty="0"/>
              <a:t>past information; </a:t>
            </a:r>
          </a:p>
          <a:p>
            <a:pPr lvl="1"/>
            <a:r>
              <a:rPr lang="en-GB" dirty="0"/>
              <a:t>current information; </a:t>
            </a:r>
          </a:p>
          <a:p>
            <a:pPr lvl="1"/>
            <a:r>
              <a:rPr lang="en-GB" dirty="0"/>
              <a:t>future information. </a:t>
            </a:r>
          </a:p>
          <a:p>
            <a:r>
              <a:rPr lang="en-GB" b="1" dirty="0"/>
              <a:t>This is valid for some tasks</a:t>
            </a:r>
          </a:p>
          <a:p>
            <a:endParaRPr lang="en-GB" dirty="0"/>
          </a:p>
        </p:txBody>
      </p:sp>
      <p:sp>
        <p:nvSpPr>
          <p:cNvPr id="4" name="Segnaposto contenuto 3">
            <a:extLst>
              <a:ext uri="{FF2B5EF4-FFF2-40B4-BE49-F238E27FC236}">
                <a16:creationId xmlns:a16="http://schemas.microsoft.com/office/drawing/2014/main" id="{438A515F-1860-CA4B-BA92-F81B79EFDCED}"/>
              </a:ext>
            </a:extLst>
          </p:cNvPr>
          <p:cNvSpPr>
            <a:spLocks noGrp="1"/>
          </p:cNvSpPr>
          <p:nvPr>
            <p:ph sz="half" idx="2"/>
          </p:nvPr>
        </p:nvSpPr>
        <p:spPr>
          <a:xfrm>
            <a:off x="6772855" y="2160589"/>
            <a:ext cx="5250532" cy="4532041"/>
          </a:xfrm>
        </p:spPr>
        <p:txBody>
          <a:bodyPr>
            <a:normAutofit/>
          </a:bodyPr>
          <a:lstStyle/>
          <a:p>
            <a:r>
              <a:rPr lang="en-GB" dirty="0"/>
              <a:t>Examples:</a:t>
            </a:r>
          </a:p>
          <a:p>
            <a:pPr lvl="1"/>
            <a:r>
              <a:rPr lang="en-GB" dirty="0"/>
              <a:t>classification of a complete recording; </a:t>
            </a:r>
          </a:p>
          <a:p>
            <a:pPr lvl="1"/>
            <a:r>
              <a:rPr lang="en-GB" dirty="0"/>
              <a:t>retrospective sequence analysis; </a:t>
            </a:r>
          </a:p>
          <a:p>
            <a:pPr lvl="1"/>
            <a:r>
              <a:rPr lang="en-GB" dirty="0"/>
              <a:t>offline sequence labelling. </a:t>
            </a:r>
          </a:p>
          <a:p>
            <a:r>
              <a:rPr lang="en-GB" b="1" dirty="0"/>
              <a:t>But not for online forecasting</a:t>
            </a:r>
          </a:p>
          <a:p>
            <a:r>
              <a:rPr lang="en-GB" dirty="0"/>
              <a:t>At prediction time t, observations such as: x[t+1] do not yet exist.</a:t>
            </a:r>
          </a:p>
          <a:p>
            <a:endParaRPr lang="en-GB" dirty="0"/>
          </a:p>
          <a:p>
            <a:r>
              <a:rPr lang="en-GB" b="1" dirty="0"/>
              <a:t>Self-attention is not automatically causal.</a:t>
            </a:r>
          </a:p>
          <a:p>
            <a:endParaRPr lang="en-GB" dirty="0"/>
          </a:p>
        </p:txBody>
      </p:sp>
    </p:spTree>
    <p:extLst>
      <p:ext uri="{BB962C8B-B14F-4D97-AF65-F5344CB8AC3E}">
        <p14:creationId xmlns:p14="http://schemas.microsoft.com/office/powerpoint/2010/main" val="39721937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C28F1B-C989-C92B-3CC9-74900BDF4DB9}"/>
              </a:ext>
            </a:extLst>
          </p:cNvPr>
          <p:cNvSpPr>
            <a:spLocks noGrp="1"/>
          </p:cNvSpPr>
          <p:nvPr>
            <p:ph type="title"/>
          </p:nvPr>
        </p:nvSpPr>
        <p:spPr/>
        <p:txBody>
          <a:bodyPr/>
          <a:lstStyle/>
          <a:p>
            <a:r>
              <a:rPr lang="en-GB" dirty="0"/>
              <a:t>Non-causal self-attention</a:t>
            </a:r>
          </a:p>
        </p:txBody>
      </p:sp>
      <p:sp>
        <p:nvSpPr>
          <p:cNvPr id="3" name="Segnaposto contenuto 2">
            <a:extLst>
              <a:ext uri="{FF2B5EF4-FFF2-40B4-BE49-F238E27FC236}">
                <a16:creationId xmlns:a16="http://schemas.microsoft.com/office/drawing/2014/main" id="{161A9C02-BEE8-05BF-FE07-3EBF1A01363D}"/>
              </a:ext>
            </a:extLst>
          </p:cNvPr>
          <p:cNvSpPr>
            <a:spLocks noGrp="1"/>
          </p:cNvSpPr>
          <p:nvPr>
            <p:ph idx="1"/>
          </p:nvPr>
        </p:nvSpPr>
        <p:spPr/>
        <p:txBody>
          <a:bodyPr>
            <a:normAutofit lnSpcReduction="10000"/>
          </a:bodyPr>
          <a:lstStyle/>
          <a:p>
            <a:r>
              <a:rPr lang="en-GB" dirty="0"/>
              <a:t>In non-causal attention, every position may attend to every other position.</a:t>
            </a:r>
          </a:p>
          <a:p>
            <a:r>
              <a:rPr lang="en-GB" dirty="0"/>
              <a:t>For a sequence:</a:t>
            </a:r>
          </a:p>
          <a:p>
            <a:r>
              <a:rPr lang="en-GB" dirty="0"/>
              <a:t>x[1] x[2] x[3] x[4]</a:t>
            </a:r>
          </a:p>
          <a:p>
            <a:r>
              <a:rPr lang="en-GB" dirty="0"/>
              <a:t>the attention matrix can contain weights everywhere:</a:t>
            </a:r>
          </a:p>
          <a:p>
            <a:r>
              <a:rPr lang="en-GB" dirty="0"/>
              <a:t>          Key position</a:t>
            </a:r>
          </a:p>
          <a:p>
            <a:r>
              <a:rPr lang="en-GB" dirty="0"/>
              <a:t>          1   2   3   4</a:t>
            </a:r>
          </a:p>
          <a:p>
            <a:r>
              <a:rPr lang="en-GB" dirty="0"/>
              <a:t>Query 1   ✓   ✓   ✓   ✓</a:t>
            </a:r>
          </a:p>
          <a:p>
            <a:r>
              <a:rPr lang="en-GB" dirty="0"/>
              <a:t>Query 2   ✓   ✓   ✓   ✓</a:t>
            </a:r>
          </a:p>
          <a:p>
            <a:r>
              <a:rPr lang="en-GB" dirty="0"/>
              <a:t>Query 3   ✓   ✓   ✓   ✓</a:t>
            </a:r>
          </a:p>
          <a:p>
            <a:r>
              <a:rPr lang="en-GB" dirty="0"/>
              <a:t>Query 4   ✓   ✓   ✓   ✓</a:t>
            </a:r>
          </a:p>
          <a:p>
            <a:endParaRPr lang="en-GB" dirty="0"/>
          </a:p>
        </p:txBody>
      </p:sp>
    </p:spTree>
    <p:extLst>
      <p:ext uri="{BB962C8B-B14F-4D97-AF65-F5344CB8AC3E}">
        <p14:creationId xmlns:p14="http://schemas.microsoft.com/office/powerpoint/2010/main" val="316465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78AB4-5716-3B7C-5FC5-D4D9A658499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0EF16A3-129E-350A-0AA6-2606F9B7EDB0}"/>
              </a:ext>
            </a:extLst>
          </p:cNvPr>
          <p:cNvSpPr>
            <a:spLocks noGrp="1"/>
          </p:cNvSpPr>
          <p:nvPr>
            <p:ph type="title"/>
          </p:nvPr>
        </p:nvSpPr>
        <p:spPr/>
        <p:txBody>
          <a:bodyPr/>
          <a:lstStyle/>
          <a:p>
            <a:r>
              <a:rPr lang="en-GB" dirty="0"/>
              <a:t>Non-causal self-attention</a:t>
            </a:r>
          </a:p>
        </p:txBody>
      </p:sp>
      <p:sp>
        <p:nvSpPr>
          <p:cNvPr id="3" name="Segnaposto contenuto 2">
            <a:extLst>
              <a:ext uri="{FF2B5EF4-FFF2-40B4-BE49-F238E27FC236}">
                <a16:creationId xmlns:a16="http://schemas.microsoft.com/office/drawing/2014/main" id="{D4A69F5A-5155-42CF-0090-3AB6CBC180B6}"/>
              </a:ext>
            </a:extLst>
          </p:cNvPr>
          <p:cNvSpPr>
            <a:spLocks noGrp="1"/>
          </p:cNvSpPr>
          <p:nvPr>
            <p:ph idx="1"/>
          </p:nvPr>
        </p:nvSpPr>
        <p:spPr/>
        <p:txBody>
          <a:bodyPr>
            <a:normAutofit fontScale="62500" lnSpcReduction="20000"/>
          </a:bodyPr>
          <a:lstStyle/>
          <a:p>
            <a:r>
              <a:rPr lang="en-GB" b="1" dirty="0"/>
              <a:t>Example</a:t>
            </a:r>
          </a:p>
          <a:p>
            <a:r>
              <a:rPr lang="en-GB" dirty="0"/>
              <a:t>Representation at position 2 can use:</a:t>
            </a:r>
          </a:p>
          <a:p>
            <a:pPr lvl="1"/>
            <a:r>
              <a:rPr lang="en-GB" dirty="0"/>
              <a:t>position 1; </a:t>
            </a:r>
          </a:p>
          <a:p>
            <a:pPr lvl="1"/>
            <a:r>
              <a:rPr lang="en-GB" dirty="0"/>
              <a:t>position 2; </a:t>
            </a:r>
          </a:p>
          <a:p>
            <a:pPr lvl="1"/>
            <a:r>
              <a:rPr lang="en-GB" dirty="0"/>
              <a:t>position 3; </a:t>
            </a:r>
          </a:p>
          <a:p>
            <a:pPr lvl="1"/>
            <a:r>
              <a:rPr lang="en-GB" dirty="0"/>
              <a:t>position 4. </a:t>
            </a:r>
          </a:p>
          <a:p>
            <a:r>
              <a:rPr lang="en-GB" b="1" dirty="0"/>
              <a:t>Advantages</a:t>
            </a:r>
          </a:p>
          <a:p>
            <a:r>
              <a:rPr lang="en-GB" dirty="0"/>
              <a:t>Future context can help interpret ambiguous current observations.</a:t>
            </a:r>
          </a:p>
          <a:p>
            <a:r>
              <a:rPr lang="en-GB" b="1" dirty="0"/>
              <a:t>Applications</a:t>
            </a:r>
          </a:p>
          <a:p>
            <a:pPr lvl="1"/>
            <a:r>
              <a:rPr lang="en-GB" dirty="0"/>
              <a:t>offline classification; </a:t>
            </a:r>
          </a:p>
          <a:p>
            <a:pPr lvl="1"/>
            <a:r>
              <a:rPr lang="en-GB" dirty="0"/>
              <a:t>retrospective segmentation; </a:t>
            </a:r>
          </a:p>
          <a:p>
            <a:pPr lvl="1"/>
            <a:r>
              <a:rPr lang="en-GB" dirty="0"/>
              <a:t>completed-sequence analysis. </a:t>
            </a:r>
          </a:p>
          <a:p>
            <a:endParaRPr lang="en-GB" dirty="0"/>
          </a:p>
          <a:p>
            <a:r>
              <a:rPr lang="en-GB" b="1" dirty="0"/>
              <a:t>Non-causal attention is not leakage if the deployment task legitimately has access to the whole sequence before prediction.</a:t>
            </a:r>
          </a:p>
          <a:p>
            <a:endParaRPr lang="en-GB" dirty="0"/>
          </a:p>
        </p:txBody>
      </p:sp>
    </p:spTree>
    <p:extLst>
      <p:ext uri="{BB962C8B-B14F-4D97-AF65-F5344CB8AC3E}">
        <p14:creationId xmlns:p14="http://schemas.microsoft.com/office/powerpoint/2010/main" val="14428688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Non-causal self-attention: every position can attend to every position</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Useful when the complete sequence is legitimately available before prediction.</a:t>
            </a:r>
            <a:endParaRPr lang="en-US" sz="1250" dirty="0"/>
          </a:p>
        </p:txBody>
      </p:sp>
      <p:sp>
        <p:nvSpPr>
          <p:cNvPr id="5" name="Text 3"/>
          <p:cNvSpPr/>
          <p:nvPr/>
        </p:nvSpPr>
        <p:spPr>
          <a:xfrm>
            <a:off x="3337560" y="1234440"/>
            <a:ext cx="1828800" cy="2286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Key position</a:t>
            </a:r>
            <a:endParaRPr lang="en-US" sz="1300" dirty="0"/>
          </a:p>
        </p:txBody>
      </p:sp>
      <p:sp>
        <p:nvSpPr>
          <p:cNvPr id="6" name="Text 4"/>
          <p:cNvSpPr/>
          <p:nvPr/>
        </p:nvSpPr>
        <p:spPr>
          <a:xfrm>
            <a:off x="868680" y="2788920"/>
            <a:ext cx="594360" cy="2286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Query</a:t>
            </a:r>
            <a:endParaRPr lang="en-US" sz="1300" dirty="0"/>
          </a:p>
        </p:txBody>
      </p:sp>
      <p:sp>
        <p:nvSpPr>
          <p:cNvPr id="7" name="Text 5"/>
          <p:cNvSpPr/>
          <p:nvPr/>
        </p:nvSpPr>
        <p:spPr>
          <a:xfrm>
            <a:off x="274320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1</a:t>
            </a:r>
            <a:endParaRPr lang="en-US" sz="1200" dirty="0"/>
          </a:p>
        </p:txBody>
      </p:sp>
      <p:sp>
        <p:nvSpPr>
          <p:cNvPr id="8" name="Text 6"/>
          <p:cNvSpPr/>
          <p:nvPr/>
        </p:nvSpPr>
        <p:spPr>
          <a:xfrm>
            <a:off x="338328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2</a:t>
            </a:r>
            <a:endParaRPr lang="en-US" sz="1200" dirty="0"/>
          </a:p>
        </p:txBody>
      </p:sp>
      <p:sp>
        <p:nvSpPr>
          <p:cNvPr id="9" name="Text 7"/>
          <p:cNvSpPr/>
          <p:nvPr/>
        </p:nvSpPr>
        <p:spPr>
          <a:xfrm>
            <a:off x="402336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3</a:t>
            </a:r>
            <a:endParaRPr lang="en-US" sz="1200" dirty="0"/>
          </a:p>
        </p:txBody>
      </p:sp>
      <p:sp>
        <p:nvSpPr>
          <p:cNvPr id="10" name="Text 8"/>
          <p:cNvSpPr/>
          <p:nvPr/>
        </p:nvSpPr>
        <p:spPr>
          <a:xfrm>
            <a:off x="466344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4</a:t>
            </a:r>
            <a:endParaRPr lang="en-US" sz="1200" dirty="0"/>
          </a:p>
        </p:txBody>
      </p:sp>
      <p:sp>
        <p:nvSpPr>
          <p:cNvPr id="11" name="Text 9"/>
          <p:cNvSpPr/>
          <p:nvPr/>
        </p:nvSpPr>
        <p:spPr>
          <a:xfrm>
            <a:off x="1554480" y="214884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1</a:t>
            </a:r>
            <a:endParaRPr lang="en-US" sz="1200" dirty="0"/>
          </a:p>
        </p:txBody>
      </p:sp>
      <p:sp>
        <p:nvSpPr>
          <p:cNvPr id="12" name="Text 10"/>
          <p:cNvSpPr/>
          <p:nvPr/>
        </p:nvSpPr>
        <p:spPr>
          <a:xfrm>
            <a:off x="2743200" y="214884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3" name="Text 11"/>
          <p:cNvSpPr/>
          <p:nvPr/>
        </p:nvSpPr>
        <p:spPr>
          <a:xfrm>
            <a:off x="3383280" y="214884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4" name="Text 12"/>
          <p:cNvSpPr/>
          <p:nvPr/>
        </p:nvSpPr>
        <p:spPr>
          <a:xfrm>
            <a:off x="4023360" y="214884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5" name="Text 13"/>
          <p:cNvSpPr/>
          <p:nvPr/>
        </p:nvSpPr>
        <p:spPr>
          <a:xfrm>
            <a:off x="4663440" y="214884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6" name="Text 14"/>
          <p:cNvSpPr/>
          <p:nvPr/>
        </p:nvSpPr>
        <p:spPr>
          <a:xfrm>
            <a:off x="1554480" y="278892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2</a:t>
            </a:r>
            <a:endParaRPr lang="en-US" sz="1200" dirty="0"/>
          </a:p>
        </p:txBody>
      </p:sp>
      <p:sp>
        <p:nvSpPr>
          <p:cNvPr id="17" name="Text 15"/>
          <p:cNvSpPr/>
          <p:nvPr/>
        </p:nvSpPr>
        <p:spPr>
          <a:xfrm>
            <a:off x="2743200" y="278892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8" name="Text 16"/>
          <p:cNvSpPr/>
          <p:nvPr/>
        </p:nvSpPr>
        <p:spPr>
          <a:xfrm>
            <a:off x="3383280" y="278892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9" name="Text 17"/>
          <p:cNvSpPr/>
          <p:nvPr/>
        </p:nvSpPr>
        <p:spPr>
          <a:xfrm>
            <a:off x="4023360" y="278892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0" name="Text 18"/>
          <p:cNvSpPr/>
          <p:nvPr/>
        </p:nvSpPr>
        <p:spPr>
          <a:xfrm>
            <a:off x="4663440" y="278892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1" name="Text 19"/>
          <p:cNvSpPr/>
          <p:nvPr/>
        </p:nvSpPr>
        <p:spPr>
          <a:xfrm>
            <a:off x="1554480" y="342900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3</a:t>
            </a:r>
            <a:endParaRPr lang="en-US" sz="1200" dirty="0"/>
          </a:p>
        </p:txBody>
      </p:sp>
      <p:sp>
        <p:nvSpPr>
          <p:cNvPr id="22" name="Text 20"/>
          <p:cNvSpPr/>
          <p:nvPr/>
        </p:nvSpPr>
        <p:spPr>
          <a:xfrm>
            <a:off x="274320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3" name="Text 21"/>
          <p:cNvSpPr/>
          <p:nvPr/>
        </p:nvSpPr>
        <p:spPr>
          <a:xfrm>
            <a:off x="338328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4" name="Text 22"/>
          <p:cNvSpPr/>
          <p:nvPr/>
        </p:nvSpPr>
        <p:spPr>
          <a:xfrm>
            <a:off x="402336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5" name="Text 23"/>
          <p:cNvSpPr/>
          <p:nvPr/>
        </p:nvSpPr>
        <p:spPr>
          <a:xfrm>
            <a:off x="466344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6" name="Text 24"/>
          <p:cNvSpPr/>
          <p:nvPr/>
        </p:nvSpPr>
        <p:spPr>
          <a:xfrm>
            <a:off x="1554480" y="406908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4</a:t>
            </a:r>
            <a:endParaRPr lang="en-US" sz="1200" dirty="0"/>
          </a:p>
        </p:txBody>
      </p:sp>
      <p:sp>
        <p:nvSpPr>
          <p:cNvPr id="27" name="Text 25"/>
          <p:cNvSpPr/>
          <p:nvPr/>
        </p:nvSpPr>
        <p:spPr>
          <a:xfrm>
            <a:off x="274320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8" name="Text 26"/>
          <p:cNvSpPr/>
          <p:nvPr/>
        </p:nvSpPr>
        <p:spPr>
          <a:xfrm>
            <a:off x="338328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9" name="Text 27"/>
          <p:cNvSpPr/>
          <p:nvPr/>
        </p:nvSpPr>
        <p:spPr>
          <a:xfrm>
            <a:off x="402336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30" name="Text 28"/>
          <p:cNvSpPr/>
          <p:nvPr/>
        </p:nvSpPr>
        <p:spPr>
          <a:xfrm>
            <a:off x="466344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31" name="Text 29"/>
          <p:cNvSpPr/>
          <p:nvPr/>
        </p:nvSpPr>
        <p:spPr>
          <a:xfrm>
            <a:off x="6035040" y="1965960"/>
            <a:ext cx="2926080" cy="109728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500" b="1" dirty="0">
                <a:solidFill>
                  <a:srgbClr val="0F172A"/>
                </a:solidFill>
                <a:latin typeface="Aptos" pitchFamily="34" charset="0"/>
                <a:ea typeface="Aptos" pitchFamily="34" charset="-122"/>
                <a:cs typeface="Aptos" pitchFamily="34" charset="-120"/>
              </a:rPr>
              <a:t>Position 2 may use</a:t>
            </a:r>
            <a:endParaRPr lang="en-US" sz="1500" dirty="0"/>
          </a:p>
          <a:p>
            <a:pPr marL="0" indent="0" algn="ctr">
              <a:buNone/>
            </a:pPr>
            <a:r>
              <a:rPr lang="en-US" sz="1500" b="1" dirty="0">
                <a:solidFill>
                  <a:srgbClr val="0F172A"/>
                </a:solidFill>
                <a:latin typeface="Aptos" pitchFamily="34" charset="0"/>
                <a:ea typeface="Aptos" pitchFamily="34" charset="-122"/>
                <a:cs typeface="Aptos" pitchFamily="34" charset="-120"/>
              </a:rPr>
              <a:t>positions 1, 2, 3 and 4</a:t>
            </a:r>
            <a:endParaRPr lang="en-US" sz="1500" dirty="0"/>
          </a:p>
        </p:txBody>
      </p:sp>
      <p:sp>
        <p:nvSpPr>
          <p:cNvPr id="32" name="Text 30"/>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Non-causal attention is appropriate for offline analysis, but invalid for online forecasting if it uses future samples.</a:t>
            </a:r>
            <a:endParaRPr lang="en-US" sz="111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94E6A9-09ED-70AA-588B-720AC47CF7B9}"/>
              </a:ext>
            </a:extLst>
          </p:cNvPr>
          <p:cNvSpPr>
            <a:spLocks noGrp="1"/>
          </p:cNvSpPr>
          <p:nvPr>
            <p:ph type="title"/>
          </p:nvPr>
        </p:nvSpPr>
        <p:spPr/>
        <p:txBody>
          <a:bodyPr/>
          <a:lstStyle/>
          <a:p>
            <a:r>
              <a:rPr lang="en-GB" dirty="0"/>
              <a:t>Causal self-attention</a:t>
            </a:r>
          </a:p>
        </p:txBody>
      </p:sp>
      <p:sp>
        <p:nvSpPr>
          <p:cNvPr id="3" name="Segnaposto contenuto 2">
            <a:extLst>
              <a:ext uri="{FF2B5EF4-FFF2-40B4-BE49-F238E27FC236}">
                <a16:creationId xmlns:a16="http://schemas.microsoft.com/office/drawing/2014/main" id="{9FDAB446-044A-F49F-2E08-C6872A1026A7}"/>
              </a:ext>
            </a:extLst>
          </p:cNvPr>
          <p:cNvSpPr>
            <a:spLocks noGrp="1"/>
          </p:cNvSpPr>
          <p:nvPr>
            <p:ph sz="half" idx="1"/>
          </p:nvPr>
        </p:nvSpPr>
        <p:spPr>
          <a:xfrm>
            <a:off x="677334" y="2160588"/>
            <a:ext cx="5055979" cy="4288849"/>
          </a:xfrm>
        </p:spPr>
        <p:txBody>
          <a:bodyPr>
            <a:normAutofit/>
          </a:bodyPr>
          <a:lstStyle/>
          <a:p>
            <a:r>
              <a:rPr lang="en-GB" dirty="0"/>
              <a:t>For forecasting or real-time prediction, position t must not use future observations.</a:t>
            </a:r>
          </a:p>
          <a:p>
            <a:r>
              <a:rPr lang="en-GB" dirty="0"/>
              <a:t>Therefore attention is restricted to:</a:t>
            </a:r>
          </a:p>
          <a:p>
            <a:pPr lvl="1"/>
            <a:r>
              <a:rPr lang="en-GB" dirty="0"/>
              <a:t>1, ..., t</a:t>
            </a:r>
          </a:p>
          <a:p>
            <a:r>
              <a:rPr lang="en-GB" b="1" dirty="0"/>
              <a:t>Allowed connections</a:t>
            </a:r>
          </a:p>
          <a:p>
            <a:r>
              <a:rPr lang="en-GB" dirty="0"/>
              <a:t>          Key position</a:t>
            </a:r>
          </a:p>
          <a:p>
            <a:r>
              <a:rPr lang="en-GB" dirty="0"/>
              <a:t>          1   2   3   4</a:t>
            </a:r>
          </a:p>
          <a:p>
            <a:r>
              <a:rPr lang="en-GB" dirty="0"/>
              <a:t>Query 1   ✓   ✗   ✗   ✗</a:t>
            </a:r>
          </a:p>
          <a:p>
            <a:r>
              <a:rPr lang="en-GB" dirty="0"/>
              <a:t>Query 2   ✓   ✓   ✗   ✗</a:t>
            </a:r>
          </a:p>
          <a:p>
            <a:r>
              <a:rPr lang="en-GB" dirty="0"/>
              <a:t>Query 3   ✓   ✓   ✓   ✗</a:t>
            </a:r>
          </a:p>
          <a:p>
            <a:r>
              <a:rPr lang="en-GB" dirty="0"/>
              <a:t>Query 4   ✓   ✓   ✓   ✓</a:t>
            </a:r>
          </a:p>
          <a:p>
            <a:endParaRPr lang="en-GB" dirty="0"/>
          </a:p>
        </p:txBody>
      </p:sp>
      <p:sp>
        <p:nvSpPr>
          <p:cNvPr id="4" name="Segnaposto contenuto 3">
            <a:extLst>
              <a:ext uri="{FF2B5EF4-FFF2-40B4-BE49-F238E27FC236}">
                <a16:creationId xmlns:a16="http://schemas.microsoft.com/office/drawing/2014/main" id="{6B227BA6-B289-7F40-50B1-7B958588524D}"/>
              </a:ext>
            </a:extLst>
          </p:cNvPr>
          <p:cNvSpPr>
            <a:spLocks noGrp="1"/>
          </p:cNvSpPr>
          <p:nvPr>
            <p:ph sz="half" idx="2"/>
          </p:nvPr>
        </p:nvSpPr>
        <p:spPr>
          <a:xfrm>
            <a:off x="6918769" y="2160589"/>
            <a:ext cx="5055979" cy="4288849"/>
          </a:xfrm>
        </p:spPr>
        <p:txBody>
          <a:bodyPr>
            <a:normAutofit/>
          </a:bodyPr>
          <a:lstStyle/>
          <a:p>
            <a:r>
              <a:rPr lang="en-GB" b="1" dirty="0"/>
              <a:t>This produces a triangular attention pattern.</a:t>
            </a:r>
          </a:p>
          <a:p>
            <a:r>
              <a:rPr lang="en-GB" b="1" dirty="0"/>
              <a:t>At time 3</a:t>
            </a:r>
          </a:p>
          <a:p>
            <a:r>
              <a:rPr lang="en-GB" dirty="0"/>
              <a:t>The query can attend to:</a:t>
            </a:r>
          </a:p>
          <a:p>
            <a:r>
              <a:rPr lang="en-GB" dirty="0"/>
              <a:t>x[1], x[2], x[3]</a:t>
            </a:r>
          </a:p>
          <a:p>
            <a:r>
              <a:rPr lang="en-GB" dirty="0"/>
              <a:t>but not:</a:t>
            </a:r>
          </a:p>
          <a:p>
            <a:r>
              <a:rPr lang="en-GB" dirty="0"/>
              <a:t>x[4]</a:t>
            </a:r>
          </a:p>
          <a:p>
            <a:pPr marL="0" indent="0">
              <a:buNone/>
            </a:pPr>
            <a:endParaRPr lang="en-GB" b="1" dirty="0"/>
          </a:p>
          <a:p>
            <a:r>
              <a:rPr lang="en-GB" b="1" dirty="0"/>
              <a:t>Causal attention preserves the direction of time by preventing access to future positions.</a:t>
            </a:r>
          </a:p>
          <a:p>
            <a:endParaRPr lang="en-GB" dirty="0"/>
          </a:p>
        </p:txBody>
      </p:sp>
    </p:spTree>
    <p:extLst>
      <p:ext uri="{BB962C8B-B14F-4D97-AF65-F5344CB8AC3E}">
        <p14:creationId xmlns:p14="http://schemas.microsoft.com/office/powerpoint/2010/main" val="1028264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Causal self-attention: future positions are forbidden</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The attention matrix becomes triangular.</a:t>
            </a:r>
            <a:endParaRPr lang="en-US" sz="1250" dirty="0"/>
          </a:p>
        </p:txBody>
      </p:sp>
      <p:sp>
        <p:nvSpPr>
          <p:cNvPr id="5" name="Text 3"/>
          <p:cNvSpPr/>
          <p:nvPr/>
        </p:nvSpPr>
        <p:spPr>
          <a:xfrm>
            <a:off x="3063240" y="1188720"/>
            <a:ext cx="1828800" cy="2286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Key position</a:t>
            </a:r>
            <a:endParaRPr lang="en-US" sz="1300" dirty="0"/>
          </a:p>
        </p:txBody>
      </p:sp>
      <p:sp>
        <p:nvSpPr>
          <p:cNvPr id="6" name="Text 4"/>
          <p:cNvSpPr/>
          <p:nvPr/>
        </p:nvSpPr>
        <p:spPr>
          <a:xfrm>
            <a:off x="868680" y="2788920"/>
            <a:ext cx="594360" cy="2286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Query</a:t>
            </a:r>
            <a:endParaRPr lang="en-US" sz="1300" dirty="0"/>
          </a:p>
        </p:txBody>
      </p:sp>
      <p:sp>
        <p:nvSpPr>
          <p:cNvPr id="7" name="Text 5"/>
          <p:cNvSpPr/>
          <p:nvPr/>
        </p:nvSpPr>
        <p:spPr>
          <a:xfrm>
            <a:off x="274320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1</a:t>
            </a:r>
            <a:endParaRPr lang="en-US" sz="1200" dirty="0"/>
          </a:p>
        </p:txBody>
      </p:sp>
      <p:sp>
        <p:nvSpPr>
          <p:cNvPr id="8" name="Text 6"/>
          <p:cNvSpPr/>
          <p:nvPr/>
        </p:nvSpPr>
        <p:spPr>
          <a:xfrm>
            <a:off x="338328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2</a:t>
            </a:r>
            <a:endParaRPr lang="en-US" sz="1200" dirty="0"/>
          </a:p>
        </p:txBody>
      </p:sp>
      <p:sp>
        <p:nvSpPr>
          <p:cNvPr id="9" name="Text 7"/>
          <p:cNvSpPr/>
          <p:nvPr/>
        </p:nvSpPr>
        <p:spPr>
          <a:xfrm>
            <a:off x="402336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3</a:t>
            </a:r>
            <a:endParaRPr lang="en-US" sz="1200" dirty="0"/>
          </a:p>
        </p:txBody>
      </p:sp>
      <p:sp>
        <p:nvSpPr>
          <p:cNvPr id="10" name="Text 8"/>
          <p:cNvSpPr/>
          <p:nvPr/>
        </p:nvSpPr>
        <p:spPr>
          <a:xfrm>
            <a:off x="4663440" y="1417320"/>
            <a:ext cx="640080" cy="22860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4</a:t>
            </a:r>
            <a:endParaRPr lang="en-US" sz="1200" dirty="0"/>
          </a:p>
        </p:txBody>
      </p:sp>
      <p:sp>
        <p:nvSpPr>
          <p:cNvPr id="11" name="Text 9"/>
          <p:cNvSpPr/>
          <p:nvPr/>
        </p:nvSpPr>
        <p:spPr>
          <a:xfrm>
            <a:off x="1554480" y="214884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1</a:t>
            </a:r>
            <a:endParaRPr lang="en-US" sz="1200" dirty="0"/>
          </a:p>
        </p:txBody>
      </p:sp>
      <p:sp>
        <p:nvSpPr>
          <p:cNvPr id="12" name="Text 10"/>
          <p:cNvSpPr/>
          <p:nvPr/>
        </p:nvSpPr>
        <p:spPr>
          <a:xfrm>
            <a:off x="2743200" y="214884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3" name="Text 11"/>
          <p:cNvSpPr/>
          <p:nvPr/>
        </p:nvSpPr>
        <p:spPr>
          <a:xfrm>
            <a:off x="3383280" y="2148840"/>
            <a:ext cx="640080" cy="640080"/>
          </a:xfrm>
          <a:prstGeom prst="rect">
            <a:avLst/>
          </a:prstGeom>
          <a:solidFill>
            <a:srgbClr val="FEE2E2"/>
          </a:solidFill>
          <a:ln w="10160">
            <a:solidFill>
              <a:srgbClr val="FFFFFF"/>
            </a:solidFill>
          </a:ln>
        </p:spPr>
        <p:txBody>
          <a:bodyPr wrap="square" lIns="0" tIns="0" rIns="0" bIns="0" rtlCol="0" anchor="ctr">
            <a:normAutofit/>
          </a:bodyPr>
          <a:lstStyle/>
          <a:p>
            <a:pPr marL="0" indent="0" algn="ctr">
              <a:buNone/>
            </a:pPr>
            <a:r>
              <a:rPr lang="en-US" sz="1050" b="1" dirty="0">
                <a:solidFill>
                  <a:srgbClr val="DC2626"/>
                </a:solidFill>
              </a:rPr>
              <a:t>×</a:t>
            </a:r>
            <a:endParaRPr lang="en-US" sz="1050" dirty="0"/>
          </a:p>
        </p:txBody>
      </p:sp>
      <p:sp>
        <p:nvSpPr>
          <p:cNvPr id="14" name="Text 12"/>
          <p:cNvSpPr/>
          <p:nvPr/>
        </p:nvSpPr>
        <p:spPr>
          <a:xfrm>
            <a:off x="4023360" y="2148840"/>
            <a:ext cx="640080" cy="640080"/>
          </a:xfrm>
          <a:prstGeom prst="rect">
            <a:avLst/>
          </a:prstGeom>
          <a:solidFill>
            <a:srgbClr val="FEE2E2"/>
          </a:solidFill>
          <a:ln w="10160">
            <a:solidFill>
              <a:srgbClr val="FFFFFF"/>
            </a:solidFill>
          </a:ln>
        </p:spPr>
        <p:txBody>
          <a:bodyPr wrap="square" lIns="0" tIns="0" rIns="0" bIns="0" rtlCol="0" anchor="ctr">
            <a:normAutofit/>
          </a:bodyPr>
          <a:lstStyle/>
          <a:p>
            <a:pPr marL="0" indent="0" algn="ctr">
              <a:buNone/>
            </a:pPr>
            <a:r>
              <a:rPr lang="en-US" sz="1050" b="1" dirty="0">
                <a:solidFill>
                  <a:srgbClr val="DC2626"/>
                </a:solidFill>
              </a:rPr>
              <a:t>×</a:t>
            </a:r>
            <a:endParaRPr lang="en-US" sz="1050" dirty="0"/>
          </a:p>
        </p:txBody>
      </p:sp>
      <p:sp>
        <p:nvSpPr>
          <p:cNvPr id="15" name="Text 13"/>
          <p:cNvSpPr/>
          <p:nvPr/>
        </p:nvSpPr>
        <p:spPr>
          <a:xfrm>
            <a:off x="4663440" y="2148840"/>
            <a:ext cx="640080" cy="640080"/>
          </a:xfrm>
          <a:prstGeom prst="rect">
            <a:avLst/>
          </a:prstGeom>
          <a:solidFill>
            <a:srgbClr val="FEE2E2"/>
          </a:solidFill>
          <a:ln w="10160">
            <a:solidFill>
              <a:srgbClr val="FFFFFF"/>
            </a:solidFill>
          </a:ln>
        </p:spPr>
        <p:txBody>
          <a:bodyPr wrap="square" lIns="0" tIns="0" rIns="0" bIns="0" rtlCol="0" anchor="ctr">
            <a:normAutofit/>
          </a:bodyPr>
          <a:lstStyle/>
          <a:p>
            <a:pPr marL="0" indent="0" algn="ctr">
              <a:buNone/>
            </a:pPr>
            <a:r>
              <a:rPr lang="en-US" sz="1050" b="1" dirty="0">
                <a:solidFill>
                  <a:srgbClr val="DC2626"/>
                </a:solidFill>
              </a:rPr>
              <a:t>×</a:t>
            </a:r>
            <a:endParaRPr lang="en-US" sz="1050" dirty="0"/>
          </a:p>
        </p:txBody>
      </p:sp>
      <p:sp>
        <p:nvSpPr>
          <p:cNvPr id="16" name="Text 14"/>
          <p:cNvSpPr/>
          <p:nvPr/>
        </p:nvSpPr>
        <p:spPr>
          <a:xfrm>
            <a:off x="1554480" y="278892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2</a:t>
            </a:r>
            <a:endParaRPr lang="en-US" sz="1200" dirty="0"/>
          </a:p>
        </p:txBody>
      </p:sp>
      <p:sp>
        <p:nvSpPr>
          <p:cNvPr id="17" name="Text 15"/>
          <p:cNvSpPr/>
          <p:nvPr/>
        </p:nvSpPr>
        <p:spPr>
          <a:xfrm>
            <a:off x="2743200" y="278892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8" name="Text 16"/>
          <p:cNvSpPr/>
          <p:nvPr/>
        </p:nvSpPr>
        <p:spPr>
          <a:xfrm>
            <a:off x="3383280" y="278892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19" name="Text 17"/>
          <p:cNvSpPr/>
          <p:nvPr/>
        </p:nvSpPr>
        <p:spPr>
          <a:xfrm>
            <a:off x="4023360" y="2788920"/>
            <a:ext cx="640080" cy="640080"/>
          </a:xfrm>
          <a:prstGeom prst="rect">
            <a:avLst/>
          </a:prstGeom>
          <a:solidFill>
            <a:srgbClr val="FEE2E2"/>
          </a:solidFill>
          <a:ln w="10160">
            <a:solidFill>
              <a:srgbClr val="FFFFFF"/>
            </a:solidFill>
          </a:ln>
        </p:spPr>
        <p:txBody>
          <a:bodyPr wrap="square" lIns="0" tIns="0" rIns="0" bIns="0" rtlCol="0" anchor="ctr">
            <a:normAutofit/>
          </a:bodyPr>
          <a:lstStyle/>
          <a:p>
            <a:pPr marL="0" indent="0" algn="ctr">
              <a:buNone/>
            </a:pPr>
            <a:r>
              <a:rPr lang="en-US" sz="1050" b="1" dirty="0">
                <a:solidFill>
                  <a:srgbClr val="DC2626"/>
                </a:solidFill>
              </a:rPr>
              <a:t>×</a:t>
            </a:r>
            <a:endParaRPr lang="en-US" sz="1050" dirty="0"/>
          </a:p>
        </p:txBody>
      </p:sp>
      <p:sp>
        <p:nvSpPr>
          <p:cNvPr id="20" name="Text 18"/>
          <p:cNvSpPr/>
          <p:nvPr/>
        </p:nvSpPr>
        <p:spPr>
          <a:xfrm>
            <a:off x="4663440" y="2788920"/>
            <a:ext cx="640080" cy="640080"/>
          </a:xfrm>
          <a:prstGeom prst="rect">
            <a:avLst/>
          </a:prstGeom>
          <a:solidFill>
            <a:srgbClr val="FEE2E2"/>
          </a:solidFill>
          <a:ln w="10160">
            <a:solidFill>
              <a:srgbClr val="FFFFFF"/>
            </a:solidFill>
          </a:ln>
        </p:spPr>
        <p:txBody>
          <a:bodyPr wrap="square" lIns="0" tIns="0" rIns="0" bIns="0" rtlCol="0" anchor="ctr">
            <a:normAutofit/>
          </a:bodyPr>
          <a:lstStyle/>
          <a:p>
            <a:pPr marL="0" indent="0" algn="ctr">
              <a:buNone/>
            </a:pPr>
            <a:r>
              <a:rPr lang="en-US" sz="1050" b="1" dirty="0">
                <a:solidFill>
                  <a:srgbClr val="DC2626"/>
                </a:solidFill>
              </a:rPr>
              <a:t>×</a:t>
            </a:r>
            <a:endParaRPr lang="en-US" sz="1050" dirty="0"/>
          </a:p>
        </p:txBody>
      </p:sp>
      <p:sp>
        <p:nvSpPr>
          <p:cNvPr id="21" name="Text 19"/>
          <p:cNvSpPr/>
          <p:nvPr/>
        </p:nvSpPr>
        <p:spPr>
          <a:xfrm>
            <a:off x="1554480" y="342900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3</a:t>
            </a:r>
            <a:endParaRPr lang="en-US" sz="1200" dirty="0"/>
          </a:p>
        </p:txBody>
      </p:sp>
      <p:sp>
        <p:nvSpPr>
          <p:cNvPr id="22" name="Text 20"/>
          <p:cNvSpPr/>
          <p:nvPr/>
        </p:nvSpPr>
        <p:spPr>
          <a:xfrm>
            <a:off x="274320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3" name="Text 21"/>
          <p:cNvSpPr/>
          <p:nvPr/>
        </p:nvSpPr>
        <p:spPr>
          <a:xfrm>
            <a:off x="338328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4" name="Text 22"/>
          <p:cNvSpPr/>
          <p:nvPr/>
        </p:nvSpPr>
        <p:spPr>
          <a:xfrm>
            <a:off x="4023360" y="342900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5" name="Text 23"/>
          <p:cNvSpPr/>
          <p:nvPr/>
        </p:nvSpPr>
        <p:spPr>
          <a:xfrm>
            <a:off x="4663440" y="3429000"/>
            <a:ext cx="640080" cy="640080"/>
          </a:xfrm>
          <a:prstGeom prst="rect">
            <a:avLst/>
          </a:prstGeom>
          <a:solidFill>
            <a:srgbClr val="FEE2E2"/>
          </a:solidFill>
          <a:ln w="10160">
            <a:solidFill>
              <a:srgbClr val="FFFFFF"/>
            </a:solidFill>
          </a:ln>
        </p:spPr>
        <p:txBody>
          <a:bodyPr wrap="square" lIns="0" tIns="0" rIns="0" bIns="0" rtlCol="0" anchor="ctr">
            <a:normAutofit/>
          </a:bodyPr>
          <a:lstStyle/>
          <a:p>
            <a:pPr marL="0" indent="0" algn="ctr">
              <a:buNone/>
            </a:pPr>
            <a:r>
              <a:rPr lang="en-US" sz="1050" b="1" dirty="0">
                <a:solidFill>
                  <a:srgbClr val="DC2626"/>
                </a:solidFill>
              </a:rPr>
              <a:t>×</a:t>
            </a:r>
            <a:endParaRPr lang="en-US" sz="1050" dirty="0"/>
          </a:p>
        </p:txBody>
      </p:sp>
      <p:sp>
        <p:nvSpPr>
          <p:cNvPr id="26" name="Text 24"/>
          <p:cNvSpPr/>
          <p:nvPr/>
        </p:nvSpPr>
        <p:spPr>
          <a:xfrm>
            <a:off x="1554480" y="4069080"/>
            <a:ext cx="411480" cy="640080"/>
          </a:xfrm>
          <a:prstGeom prst="rect">
            <a:avLst/>
          </a:prstGeom>
          <a:noFill/>
          <a:ln/>
        </p:spPr>
        <p:txBody>
          <a:bodyPr wrap="square" lIns="0" tIns="0" rIns="0" bIns="0" rtlCol="0" anchor="ctr">
            <a:normAutofit/>
          </a:bodyPr>
          <a:lstStyle/>
          <a:p>
            <a:pPr marL="0" indent="0" algn="ctr">
              <a:buNone/>
            </a:pPr>
            <a:r>
              <a:rPr lang="en-US" sz="1200" b="1" dirty="0">
                <a:solidFill>
                  <a:srgbClr val="475569"/>
                </a:solidFill>
                <a:latin typeface="Aptos" pitchFamily="34" charset="0"/>
                <a:ea typeface="Aptos" pitchFamily="34" charset="-122"/>
                <a:cs typeface="Aptos" pitchFamily="34" charset="-120"/>
              </a:rPr>
              <a:t>4</a:t>
            </a:r>
            <a:endParaRPr lang="en-US" sz="1200" dirty="0"/>
          </a:p>
        </p:txBody>
      </p:sp>
      <p:sp>
        <p:nvSpPr>
          <p:cNvPr id="27" name="Text 25"/>
          <p:cNvSpPr/>
          <p:nvPr/>
        </p:nvSpPr>
        <p:spPr>
          <a:xfrm>
            <a:off x="274320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8" name="Text 26"/>
          <p:cNvSpPr/>
          <p:nvPr/>
        </p:nvSpPr>
        <p:spPr>
          <a:xfrm>
            <a:off x="338328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29" name="Text 27"/>
          <p:cNvSpPr/>
          <p:nvPr/>
        </p:nvSpPr>
        <p:spPr>
          <a:xfrm>
            <a:off x="402336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30" name="Text 28"/>
          <p:cNvSpPr/>
          <p:nvPr/>
        </p:nvSpPr>
        <p:spPr>
          <a:xfrm>
            <a:off x="4663440" y="4069080"/>
            <a:ext cx="640080" cy="640080"/>
          </a:xfrm>
          <a:prstGeom prst="rect">
            <a:avLst/>
          </a:prstGeom>
          <a:solidFill>
            <a:srgbClr val="EAF6D2"/>
          </a:solidFill>
          <a:ln w="10160">
            <a:solidFill>
              <a:srgbClr val="FFFFFF"/>
            </a:solidFill>
          </a:ln>
        </p:spPr>
        <p:txBody>
          <a:bodyPr wrap="square" lIns="0" tIns="0" rIns="0" bIns="0" rtlCol="0" anchor="ctr">
            <a:normAutofit/>
          </a:bodyPr>
          <a:lstStyle/>
          <a:p>
            <a:pPr marL="0" indent="0" algn="ctr">
              <a:buNone/>
            </a:pPr>
            <a:r>
              <a:rPr lang="en-US" sz="1050" b="1" dirty="0">
                <a:solidFill>
                  <a:srgbClr val="79A80D"/>
                </a:solidFill>
              </a:rPr>
              <a:t>✓</a:t>
            </a:r>
            <a:endParaRPr lang="en-US" sz="1050" dirty="0"/>
          </a:p>
        </p:txBody>
      </p:sp>
      <p:sp>
        <p:nvSpPr>
          <p:cNvPr id="31" name="Text 29"/>
          <p:cNvSpPr/>
          <p:nvPr/>
        </p:nvSpPr>
        <p:spPr>
          <a:xfrm>
            <a:off x="5852160" y="1874520"/>
            <a:ext cx="3200400" cy="1280160"/>
          </a:xfrm>
          <a:prstGeom prst="rect">
            <a:avLst/>
          </a:prstGeom>
          <a:solidFill>
            <a:srgbClr val="FEE2E2"/>
          </a:solidFill>
          <a:ln w="15240">
            <a:solidFill>
              <a:srgbClr val="DC2626"/>
            </a:solidFill>
          </a:ln>
        </p:spPr>
        <p:txBody>
          <a:bodyPr wrap="square" lIns="635" tIns="635" rIns="635" bIns="635" rtlCol="0" anchor="ctr">
            <a:normAutofit/>
          </a:bodyPr>
          <a:lstStyle/>
          <a:p>
            <a:pPr marL="0" indent="0" algn="ctr">
              <a:buNone/>
            </a:pPr>
            <a:r>
              <a:rPr lang="en-US" sz="1400" b="1" dirty="0">
                <a:solidFill>
                  <a:srgbClr val="0F172A"/>
                </a:solidFill>
                <a:latin typeface="Aptos" pitchFamily="34" charset="0"/>
                <a:ea typeface="Aptos" pitchFamily="34" charset="-122"/>
                <a:cs typeface="Aptos" pitchFamily="34" charset="-120"/>
              </a:rPr>
              <a:t>At time 3:</a:t>
            </a:r>
            <a:endParaRPr lang="en-US" sz="1400" dirty="0"/>
          </a:p>
          <a:p>
            <a:pPr marL="0" indent="0" algn="ctr">
              <a:buNone/>
            </a:pPr>
            <a:r>
              <a:rPr lang="en-US" sz="1400" b="1" dirty="0">
                <a:solidFill>
                  <a:srgbClr val="0F172A"/>
                </a:solidFill>
                <a:latin typeface="Aptos" pitchFamily="34" charset="0"/>
                <a:ea typeface="Aptos" pitchFamily="34" charset="-122"/>
                <a:cs typeface="Aptos" pitchFamily="34" charset="-120"/>
              </a:rPr>
              <a:t>allowed → x[1], x[2], x[3]</a:t>
            </a:r>
            <a:endParaRPr lang="en-US" sz="1400" dirty="0"/>
          </a:p>
          <a:p>
            <a:pPr marL="0" indent="0" algn="ctr">
              <a:buNone/>
            </a:pPr>
            <a:r>
              <a:rPr lang="en-US" sz="1400" b="1" dirty="0">
                <a:solidFill>
                  <a:srgbClr val="0F172A"/>
                </a:solidFill>
                <a:latin typeface="Aptos" pitchFamily="34" charset="0"/>
                <a:ea typeface="Aptos" pitchFamily="34" charset="-122"/>
                <a:cs typeface="Aptos" pitchFamily="34" charset="-120"/>
              </a:rPr>
              <a:t>forbidden → x[4]</a:t>
            </a:r>
            <a:endParaRPr lang="en-US" sz="1400" dirty="0"/>
          </a:p>
        </p:txBody>
      </p:sp>
      <p:sp>
        <p:nvSpPr>
          <p:cNvPr id="32" name="Text 30"/>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Causal masking preserves the direction of time by suppressing future-position attention scores.</a:t>
            </a:r>
            <a:endParaRPr lang="en-US" sz="111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ACC53F-CC51-9305-6606-8E6AAA551BD9}"/>
              </a:ext>
            </a:extLst>
          </p:cNvPr>
          <p:cNvSpPr>
            <a:spLocks noGrp="1"/>
          </p:cNvSpPr>
          <p:nvPr>
            <p:ph type="title"/>
          </p:nvPr>
        </p:nvSpPr>
        <p:spPr/>
        <p:txBody>
          <a:bodyPr/>
          <a:lstStyle/>
          <a:p>
            <a:r>
              <a:rPr lang="en-GB" dirty="0"/>
              <a:t>Causal masking</a:t>
            </a:r>
          </a:p>
        </p:txBody>
      </p:sp>
      <p:sp>
        <p:nvSpPr>
          <p:cNvPr id="3" name="Segnaposto contenuto 2">
            <a:extLst>
              <a:ext uri="{FF2B5EF4-FFF2-40B4-BE49-F238E27FC236}">
                <a16:creationId xmlns:a16="http://schemas.microsoft.com/office/drawing/2014/main" id="{80A24827-2024-2E5D-4CD5-752665729686}"/>
              </a:ext>
            </a:extLst>
          </p:cNvPr>
          <p:cNvSpPr>
            <a:spLocks noGrp="1"/>
          </p:cNvSpPr>
          <p:nvPr>
            <p:ph sz="half" idx="1"/>
          </p:nvPr>
        </p:nvSpPr>
        <p:spPr>
          <a:xfrm>
            <a:off x="677334" y="2160588"/>
            <a:ext cx="6190394" cy="4425037"/>
          </a:xfrm>
        </p:spPr>
        <p:txBody>
          <a:bodyPr>
            <a:normAutofit fontScale="92500" lnSpcReduction="20000"/>
          </a:bodyPr>
          <a:lstStyle/>
          <a:p>
            <a:r>
              <a:rPr lang="en-GB" dirty="0"/>
              <a:t>Causality is commonly implemented using an </a:t>
            </a:r>
            <a:r>
              <a:rPr lang="en-GB" b="1" dirty="0"/>
              <a:t>attention mask</a:t>
            </a:r>
            <a:r>
              <a:rPr lang="en-GB" dirty="0"/>
              <a:t>.</a:t>
            </a:r>
          </a:p>
          <a:p>
            <a:r>
              <a:rPr lang="en-GB" dirty="0"/>
              <a:t>Before </a:t>
            </a:r>
            <a:r>
              <a:rPr lang="en-GB" dirty="0" err="1"/>
              <a:t>softmax</a:t>
            </a:r>
            <a:r>
              <a:rPr lang="en-GB" dirty="0"/>
              <a:t>, scores corresponding to forbidden future positions are suppressed.</a:t>
            </a:r>
          </a:p>
          <a:p>
            <a:r>
              <a:rPr lang="en-GB" dirty="0"/>
              <a:t>Conceptually:</a:t>
            </a:r>
          </a:p>
          <a:p>
            <a:r>
              <a:rPr lang="en-GB" dirty="0"/>
              <a:t>raw attention scores</a:t>
            </a:r>
          </a:p>
          <a:p>
            <a:r>
              <a:rPr lang="en-GB" dirty="0"/>
              <a:t>       ↓</a:t>
            </a:r>
          </a:p>
          <a:p>
            <a:r>
              <a:rPr lang="en-GB" dirty="0"/>
              <a:t>apply causal mask</a:t>
            </a:r>
          </a:p>
          <a:p>
            <a:r>
              <a:rPr lang="en-GB" dirty="0"/>
              <a:t>       ↓</a:t>
            </a:r>
          </a:p>
          <a:p>
            <a:r>
              <a:rPr lang="en-GB" dirty="0"/>
              <a:t>future-position scores become unavailable</a:t>
            </a:r>
          </a:p>
          <a:p>
            <a:r>
              <a:rPr lang="en-GB" dirty="0"/>
              <a:t>       ↓</a:t>
            </a:r>
          </a:p>
          <a:p>
            <a:r>
              <a:rPr lang="en-GB" dirty="0" err="1"/>
              <a:t>softmax</a:t>
            </a:r>
            <a:endParaRPr lang="en-GB" dirty="0"/>
          </a:p>
          <a:p>
            <a:r>
              <a:rPr lang="en-GB" dirty="0"/>
              <a:t>       ↓</a:t>
            </a:r>
          </a:p>
          <a:p>
            <a:r>
              <a:rPr lang="en-GB" dirty="0"/>
              <a:t>attention weights over past/current positions only</a:t>
            </a:r>
          </a:p>
          <a:p>
            <a:endParaRPr lang="en-GB" dirty="0"/>
          </a:p>
        </p:txBody>
      </p:sp>
      <p:sp>
        <p:nvSpPr>
          <p:cNvPr id="4" name="Segnaposto contenuto 3">
            <a:extLst>
              <a:ext uri="{FF2B5EF4-FFF2-40B4-BE49-F238E27FC236}">
                <a16:creationId xmlns:a16="http://schemas.microsoft.com/office/drawing/2014/main" id="{C60AA619-965E-820B-8B51-C5BB74C6C6D4}"/>
              </a:ext>
            </a:extLst>
          </p:cNvPr>
          <p:cNvSpPr>
            <a:spLocks noGrp="1"/>
          </p:cNvSpPr>
          <p:nvPr>
            <p:ph sz="half" idx="2"/>
          </p:nvPr>
        </p:nvSpPr>
        <p:spPr>
          <a:xfrm>
            <a:off x="7045230" y="2160588"/>
            <a:ext cx="5026796" cy="4697412"/>
          </a:xfrm>
        </p:spPr>
        <p:txBody>
          <a:bodyPr>
            <a:normAutofit fontScale="92500" lnSpcReduction="20000"/>
          </a:bodyPr>
          <a:lstStyle/>
          <a:p>
            <a:r>
              <a:rPr lang="en-GB" b="1" dirty="0"/>
              <a:t>Example for query at time 3</a:t>
            </a:r>
          </a:p>
          <a:p>
            <a:r>
              <a:rPr lang="en-GB" dirty="0"/>
              <a:t>Before masking:</a:t>
            </a:r>
          </a:p>
          <a:p>
            <a:pPr lvl="1"/>
            <a:r>
              <a:rPr lang="en-GB" dirty="0"/>
              <a:t>scores:</a:t>
            </a:r>
          </a:p>
          <a:p>
            <a:pPr lvl="1"/>
            <a:r>
              <a:rPr lang="en-GB" dirty="0"/>
              <a:t>[1.1, 0.8, 1.5, 2.2]</a:t>
            </a:r>
          </a:p>
          <a:p>
            <a:pPr lvl="1"/>
            <a:r>
              <a:rPr lang="en-GB" dirty="0"/>
              <a:t>Position 4 is future information.</a:t>
            </a:r>
          </a:p>
          <a:p>
            <a:r>
              <a:rPr lang="en-GB" dirty="0"/>
              <a:t>After causal masking:</a:t>
            </a:r>
          </a:p>
          <a:p>
            <a:pPr lvl="1"/>
            <a:r>
              <a:rPr lang="en-GB" dirty="0"/>
              <a:t>[1.1, 0.8, 1.5, unavailable]</a:t>
            </a:r>
          </a:p>
          <a:p>
            <a:pPr lvl="1"/>
            <a:r>
              <a:rPr lang="en-GB" dirty="0" err="1"/>
              <a:t>Softmax</a:t>
            </a:r>
            <a:r>
              <a:rPr lang="en-GB" dirty="0"/>
              <a:t> is then computed only over allowed positions.</a:t>
            </a:r>
          </a:p>
          <a:p>
            <a:endParaRPr lang="en-GB" dirty="0"/>
          </a:p>
          <a:p>
            <a:r>
              <a:rPr lang="en-GB" b="1" dirty="0"/>
              <a:t>The mask changes the allowed information flow.</a:t>
            </a:r>
          </a:p>
          <a:p>
            <a:r>
              <a:rPr lang="en-GB" dirty="0"/>
              <a:t>It does not change the learned query, key or value projections.</a:t>
            </a:r>
          </a:p>
          <a:p>
            <a:endParaRPr lang="en-GB" dirty="0"/>
          </a:p>
        </p:txBody>
      </p:sp>
    </p:spTree>
    <p:extLst>
      <p:ext uri="{BB962C8B-B14F-4D97-AF65-F5344CB8AC3E}">
        <p14:creationId xmlns:p14="http://schemas.microsoft.com/office/powerpoint/2010/main" val="30108048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Causal masking workflow</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Forbidden future scores are removed before softmax.</a:t>
            </a:r>
            <a:endParaRPr lang="en-US" sz="1250" dirty="0"/>
          </a:p>
        </p:txBody>
      </p:sp>
      <p:sp>
        <p:nvSpPr>
          <p:cNvPr id="5" name="Text 3"/>
          <p:cNvSpPr/>
          <p:nvPr/>
        </p:nvSpPr>
        <p:spPr>
          <a:xfrm>
            <a:off x="914400" y="2377440"/>
            <a:ext cx="1737360" cy="960120"/>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250" b="1" dirty="0">
                <a:solidFill>
                  <a:srgbClr val="0F172A"/>
                </a:solidFill>
                <a:latin typeface="Aptos" pitchFamily="34" charset="0"/>
                <a:ea typeface="Aptos" pitchFamily="34" charset="-122"/>
                <a:cs typeface="Aptos" pitchFamily="34" charset="-120"/>
              </a:rPr>
              <a:t>raw scores</a:t>
            </a:r>
            <a:endParaRPr lang="en-US" sz="1250" dirty="0"/>
          </a:p>
          <a:p>
            <a:pPr marL="0" indent="0" algn="ctr">
              <a:buNone/>
            </a:pPr>
            <a:r>
              <a:rPr lang="en-US" sz="1250" b="1" dirty="0">
                <a:solidFill>
                  <a:srgbClr val="0F172A"/>
                </a:solidFill>
                <a:latin typeface="Aptos" pitchFamily="34" charset="0"/>
                <a:ea typeface="Aptos" pitchFamily="34" charset="-122"/>
                <a:cs typeface="Aptos" pitchFamily="34" charset="-120"/>
              </a:rPr>
              <a:t>[1.1, 0.8, 1.5, 2.2]</a:t>
            </a:r>
            <a:endParaRPr lang="en-US" sz="1250" dirty="0"/>
          </a:p>
        </p:txBody>
      </p:sp>
      <p:sp>
        <p:nvSpPr>
          <p:cNvPr id="6" name="Shape 4"/>
          <p:cNvSpPr/>
          <p:nvPr/>
        </p:nvSpPr>
        <p:spPr>
          <a:xfrm>
            <a:off x="2651760" y="2852928"/>
            <a:ext cx="457200" cy="0"/>
          </a:xfrm>
          <a:prstGeom prst="line">
            <a:avLst/>
          </a:prstGeom>
          <a:noFill/>
          <a:ln w="22860">
            <a:solidFill>
              <a:srgbClr val="475569"/>
            </a:solidFill>
            <a:prstDash val="solid"/>
            <a:headEnd type="none"/>
            <a:tailEnd type="triangle"/>
          </a:ln>
        </p:spPr>
        <p:txBody>
          <a:bodyPr/>
          <a:lstStyle/>
          <a:p>
            <a:endParaRPr lang="en-GB"/>
          </a:p>
        </p:txBody>
      </p:sp>
      <p:sp>
        <p:nvSpPr>
          <p:cNvPr id="7" name="Text 5"/>
          <p:cNvSpPr/>
          <p:nvPr/>
        </p:nvSpPr>
        <p:spPr>
          <a:xfrm>
            <a:off x="3154680" y="2377440"/>
            <a:ext cx="1737360" cy="960120"/>
          </a:xfrm>
          <a:prstGeom prst="rect">
            <a:avLst/>
          </a:prstGeom>
          <a:solidFill>
            <a:srgbClr val="FEE2E2"/>
          </a:solidFill>
          <a:ln w="15240">
            <a:solidFill>
              <a:srgbClr val="DC2626"/>
            </a:solidFill>
          </a:ln>
        </p:spPr>
        <p:txBody>
          <a:bodyPr wrap="square" lIns="635" tIns="635" rIns="635" bIns="635" rtlCol="0" anchor="ctr">
            <a:normAutofit/>
          </a:bodyPr>
          <a:lstStyle/>
          <a:p>
            <a:pPr marL="0" indent="0" algn="ctr">
              <a:buNone/>
            </a:pPr>
            <a:r>
              <a:rPr lang="en-US" sz="1250" dirty="0">
                <a:solidFill>
                  <a:srgbClr val="0F172A"/>
                </a:solidFill>
                <a:latin typeface="Aptos" pitchFamily="34" charset="0"/>
                <a:ea typeface="Aptos" pitchFamily="34" charset="-122"/>
                <a:cs typeface="Aptos" pitchFamily="34" charset="-120"/>
              </a:rPr>
              <a:t>causal mask</a:t>
            </a:r>
            <a:endParaRPr lang="en-US" sz="1250" dirty="0"/>
          </a:p>
          <a:p>
            <a:pPr marL="0" indent="0" algn="ctr">
              <a:buNone/>
            </a:pPr>
            <a:r>
              <a:rPr lang="en-US" sz="1250" dirty="0">
                <a:solidFill>
                  <a:srgbClr val="0F172A"/>
                </a:solidFill>
                <a:latin typeface="Aptos" pitchFamily="34" charset="0"/>
                <a:ea typeface="Aptos" pitchFamily="34" charset="-122"/>
                <a:cs typeface="Aptos" pitchFamily="34" charset="-120"/>
              </a:rPr>
              <a:t>future position unavailable</a:t>
            </a:r>
            <a:endParaRPr lang="en-US" sz="1250" dirty="0"/>
          </a:p>
        </p:txBody>
      </p:sp>
      <p:sp>
        <p:nvSpPr>
          <p:cNvPr id="8" name="Shape 6"/>
          <p:cNvSpPr/>
          <p:nvPr/>
        </p:nvSpPr>
        <p:spPr>
          <a:xfrm>
            <a:off x="4892040" y="2852928"/>
            <a:ext cx="457200" cy="0"/>
          </a:xfrm>
          <a:prstGeom prst="line">
            <a:avLst/>
          </a:prstGeom>
          <a:noFill/>
          <a:ln w="22860">
            <a:solidFill>
              <a:srgbClr val="475569"/>
            </a:solidFill>
            <a:prstDash val="solid"/>
            <a:headEnd type="none"/>
            <a:tailEnd type="triangle"/>
          </a:ln>
        </p:spPr>
        <p:txBody>
          <a:bodyPr/>
          <a:lstStyle/>
          <a:p>
            <a:endParaRPr lang="en-GB"/>
          </a:p>
        </p:txBody>
      </p:sp>
      <p:sp>
        <p:nvSpPr>
          <p:cNvPr id="9" name="Text 7"/>
          <p:cNvSpPr/>
          <p:nvPr/>
        </p:nvSpPr>
        <p:spPr>
          <a:xfrm>
            <a:off x="5394960" y="2377440"/>
            <a:ext cx="1737360" cy="96012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250" dirty="0">
                <a:solidFill>
                  <a:srgbClr val="0F172A"/>
                </a:solidFill>
                <a:latin typeface="Aptos" pitchFamily="34" charset="0"/>
                <a:ea typeface="Aptos" pitchFamily="34" charset="-122"/>
                <a:cs typeface="Aptos" pitchFamily="34" charset="-120"/>
              </a:rPr>
              <a:t>softmax</a:t>
            </a:r>
            <a:endParaRPr lang="en-US" sz="1250" dirty="0"/>
          </a:p>
          <a:p>
            <a:pPr marL="0" indent="0" algn="ctr">
              <a:buNone/>
            </a:pPr>
            <a:r>
              <a:rPr lang="en-US" sz="1250" dirty="0">
                <a:solidFill>
                  <a:srgbClr val="0F172A"/>
                </a:solidFill>
                <a:latin typeface="Aptos" pitchFamily="34" charset="0"/>
                <a:ea typeface="Aptos" pitchFamily="34" charset="-122"/>
                <a:cs typeface="Aptos" pitchFamily="34" charset="-120"/>
              </a:rPr>
              <a:t>weights over allowed positions</a:t>
            </a:r>
            <a:endParaRPr lang="en-US" sz="1250" dirty="0"/>
          </a:p>
        </p:txBody>
      </p:sp>
      <p:sp>
        <p:nvSpPr>
          <p:cNvPr id="10" name="Shape 8"/>
          <p:cNvSpPr/>
          <p:nvPr/>
        </p:nvSpPr>
        <p:spPr>
          <a:xfrm>
            <a:off x="7132320" y="2852928"/>
            <a:ext cx="457200" cy="0"/>
          </a:xfrm>
          <a:prstGeom prst="line">
            <a:avLst/>
          </a:prstGeom>
          <a:noFill/>
          <a:ln w="22860">
            <a:solidFill>
              <a:srgbClr val="475569"/>
            </a:solidFill>
            <a:prstDash val="solid"/>
            <a:headEnd type="none"/>
            <a:tailEnd type="triangle"/>
          </a:ln>
        </p:spPr>
        <p:txBody>
          <a:bodyPr/>
          <a:lstStyle/>
          <a:p>
            <a:endParaRPr lang="en-GB"/>
          </a:p>
        </p:txBody>
      </p:sp>
      <p:sp>
        <p:nvSpPr>
          <p:cNvPr id="11" name="Text 9"/>
          <p:cNvSpPr/>
          <p:nvPr/>
        </p:nvSpPr>
        <p:spPr>
          <a:xfrm>
            <a:off x="7635240" y="2377440"/>
            <a:ext cx="1737360" cy="96012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250" dirty="0">
                <a:solidFill>
                  <a:srgbClr val="0F172A"/>
                </a:solidFill>
                <a:latin typeface="Aptos" pitchFamily="34" charset="0"/>
                <a:ea typeface="Aptos" pitchFamily="34" charset="-122"/>
                <a:cs typeface="Aptos" pitchFamily="34" charset="-120"/>
              </a:rPr>
              <a:t>weighted values</a:t>
            </a:r>
            <a:endParaRPr lang="en-US" sz="1250" dirty="0"/>
          </a:p>
          <a:p>
            <a:pPr marL="0" indent="0" algn="ctr">
              <a:buNone/>
            </a:pPr>
            <a:r>
              <a:rPr lang="en-US" sz="1250" dirty="0">
                <a:solidFill>
                  <a:srgbClr val="0F172A"/>
                </a:solidFill>
                <a:latin typeface="Aptos" pitchFamily="34" charset="0"/>
                <a:ea typeface="Aptos" pitchFamily="34" charset="-122"/>
                <a:cs typeface="Aptos" pitchFamily="34" charset="-120"/>
              </a:rPr>
              <a:t>attention output</a:t>
            </a:r>
            <a:endParaRPr lang="en-US" sz="1250" dirty="0"/>
          </a:p>
        </p:txBody>
      </p:sp>
      <p:sp>
        <p:nvSpPr>
          <p:cNvPr id="12" name="Text 10"/>
          <p:cNvSpPr/>
          <p:nvPr/>
        </p:nvSpPr>
        <p:spPr>
          <a:xfrm>
            <a:off x="914400" y="3931920"/>
            <a:ext cx="8686800" cy="365760"/>
          </a:xfrm>
          <a:prstGeom prst="rect">
            <a:avLst/>
          </a:prstGeom>
          <a:noFill/>
          <a:ln/>
        </p:spPr>
        <p:txBody>
          <a:bodyPr wrap="square" lIns="0" tIns="0" rIns="0" bIns="0" rtlCol="0" anchor="ctr">
            <a:normAutofit/>
          </a:bodyPr>
          <a:lstStyle/>
          <a:p>
            <a:pPr marL="0" indent="0" algn="ctr">
              <a:buNone/>
            </a:pPr>
            <a:r>
              <a:rPr lang="en-US" sz="1500" b="1" dirty="0">
                <a:solidFill>
                  <a:srgbClr val="0F172A"/>
                </a:solidFill>
                <a:latin typeface="Aptos" pitchFamily="34" charset="0"/>
                <a:ea typeface="Aptos" pitchFamily="34" charset="-122"/>
                <a:cs typeface="Aptos" pitchFamily="34" charset="-120"/>
              </a:rPr>
              <a:t>Example query at time 3: score for position 4 is suppressed before normalization.</a:t>
            </a:r>
            <a:endParaRPr lang="en-US" sz="1500" dirty="0"/>
          </a:p>
        </p:txBody>
      </p:sp>
      <p:sp>
        <p:nvSpPr>
          <p:cNvPr id="13" name="Text 11"/>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The mask changes allowed information flow.</a:t>
            </a:r>
            <a:endParaRPr lang="en-US" sz="111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025C66-5AD8-8AFD-2A18-6472E740BF25}"/>
              </a:ext>
            </a:extLst>
          </p:cNvPr>
          <p:cNvSpPr>
            <a:spLocks noGrp="1"/>
          </p:cNvSpPr>
          <p:nvPr>
            <p:ph type="title"/>
          </p:nvPr>
        </p:nvSpPr>
        <p:spPr/>
        <p:txBody>
          <a:bodyPr/>
          <a:lstStyle/>
          <a:p>
            <a:r>
              <a:rPr lang="en-GB" dirty="0"/>
              <a:t>Causal attention for forecasting</a:t>
            </a:r>
          </a:p>
        </p:txBody>
      </p:sp>
      <p:sp>
        <p:nvSpPr>
          <p:cNvPr id="3" name="Segnaposto contenuto 2">
            <a:extLst>
              <a:ext uri="{FF2B5EF4-FFF2-40B4-BE49-F238E27FC236}">
                <a16:creationId xmlns:a16="http://schemas.microsoft.com/office/drawing/2014/main" id="{8F81C723-AEF8-B8F9-6805-6C24C829D3C9}"/>
              </a:ext>
            </a:extLst>
          </p:cNvPr>
          <p:cNvSpPr>
            <a:spLocks noGrp="1"/>
          </p:cNvSpPr>
          <p:nvPr>
            <p:ph sz="half" idx="1"/>
          </p:nvPr>
        </p:nvSpPr>
        <p:spPr/>
        <p:txBody>
          <a:bodyPr>
            <a:normAutofit fontScale="47500" lnSpcReduction="20000"/>
          </a:bodyPr>
          <a:lstStyle/>
          <a:p>
            <a:r>
              <a:rPr lang="en-GB" dirty="0"/>
              <a:t>Suppose the model forecasts:</a:t>
            </a:r>
          </a:p>
          <a:p>
            <a:r>
              <a:rPr lang="en-GB" dirty="0"/>
              <a:t>y[t+1]</a:t>
            </a:r>
          </a:p>
          <a:p>
            <a:r>
              <a:rPr lang="en-GB" dirty="0"/>
              <a:t>using information available up to:</a:t>
            </a:r>
          </a:p>
          <a:p>
            <a:r>
              <a:rPr lang="en-GB" dirty="0"/>
              <a:t>t</a:t>
            </a:r>
          </a:p>
          <a:p>
            <a:r>
              <a:rPr lang="en-GB" dirty="0"/>
              <a:t>A causal attention model can build a representation using:</a:t>
            </a:r>
          </a:p>
          <a:p>
            <a:r>
              <a:rPr lang="en-GB" dirty="0"/>
              <a:t>x[1], x[2], ..., x[t]</a:t>
            </a:r>
          </a:p>
          <a:p>
            <a:r>
              <a:rPr lang="en-GB" b="1" dirty="0"/>
              <a:t>Architecture</a:t>
            </a:r>
          </a:p>
          <a:p>
            <a:r>
              <a:rPr lang="en-GB" dirty="0"/>
              <a:t>historical sequence</a:t>
            </a:r>
          </a:p>
          <a:p>
            <a:r>
              <a:rPr lang="en-GB" dirty="0"/>
              <a:t>       ↓</a:t>
            </a:r>
          </a:p>
          <a:p>
            <a:r>
              <a:rPr lang="en-GB" dirty="0"/>
              <a:t>causal self-attention</a:t>
            </a:r>
          </a:p>
          <a:p>
            <a:r>
              <a:rPr lang="en-GB" dirty="0"/>
              <a:t>       ↓</a:t>
            </a:r>
          </a:p>
          <a:p>
            <a:r>
              <a:rPr lang="en-GB" dirty="0"/>
              <a:t>representation at time t</a:t>
            </a:r>
          </a:p>
          <a:p>
            <a:r>
              <a:rPr lang="en-GB" dirty="0"/>
              <a:t>       ↓</a:t>
            </a:r>
          </a:p>
          <a:p>
            <a:r>
              <a:rPr lang="en-GB" dirty="0"/>
              <a:t>forecasting layer</a:t>
            </a:r>
          </a:p>
          <a:p>
            <a:r>
              <a:rPr lang="en-GB" dirty="0"/>
              <a:t>       ↓</a:t>
            </a:r>
          </a:p>
          <a:p>
            <a:r>
              <a:rPr lang="en-GB" dirty="0" err="1"/>
              <a:t>y_hat</a:t>
            </a:r>
            <a:r>
              <a:rPr lang="en-GB" dirty="0"/>
              <a:t>[t+1]</a:t>
            </a:r>
          </a:p>
          <a:p>
            <a:endParaRPr lang="en-GB" dirty="0"/>
          </a:p>
        </p:txBody>
      </p:sp>
      <p:sp>
        <p:nvSpPr>
          <p:cNvPr id="4" name="Segnaposto contenuto 3">
            <a:extLst>
              <a:ext uri="{FF2B5EF4-FFF2-40B4-BE49-F238E27FC236}">
                <a16:creationId xmlns:a16="http://schemas.microsoft.com/office/drawing/2014/main" id="{C531D64D-3022-5C9A-61E2-B16DD1F71FFE}"/>
              </a:ext>
            </a:extLst>
          </p:cNvPr>
          <p:cNvSpPr>
            <a:spLocks noGrp="1"/>
          </p:cNvSpPr>
          <p:nvPr>
            <p:ph sz="half" idx="2"/>
          </p:nvPr>
        </p:nvSpPr>
        <p:spPr/>
        <p:txBody>
          <a:bodyPr>
            <a:normAutofit fontScale="47500" lnSpcReduction="20000"/>
          </a:bodyPr>
          <a:lstStyle/>
          <a:p>
            <a:r>
              <a:rPr lang="en-GB" b="1" dirty="0"/>
              <a:t>Multi-horizon forecasting</a:t>
            </a:r>
          </a:p>
          <a:p>
            <a:r>
              <a:rPr lang="en-GB" dirty="0"/>
              <a:t>The same representation can produce:</a:t>
            </a:r>
          </a:p>
          <a:p>
            <a:r>
              <a:rPr lang="en-GB" dirty="0"/>
              <a:t>[</a:t>
            </a:r>
            <a:r>
              <a:rPr lang="en-GB" dirty="0" err="1"/>
              <a:t>y_hat</a:t>
            </a:r>
            <a:r>
              <a:rPr lang="en-GB" dirty="0"/>
              <a:t>[t+1], ..., </a:t>
            </a:r>
            <a:r>
              <a:rPr lang="en-GB" dirty="0" err="1"/>
              <a:t>y_hat</a:t>
            </a:r>
            <a:r>
              <a:rPr lang="en-GB" dirty="0"/>
              <a:t>[</a:t>
            </a:r>
            <a:r>
              <a:rPr lang="en-GB" dirty="0" err="1"/>
              <a:t>t+H</a:t>
            </a:r>
            <a:r>
              <a:rPr lang="en-GB" dirty="0"/>
              <a:t>]]</a:t>
            </a:r>
          </a:p>
          <a:p>
            <a:r>
              <a:rPr lang="en-GB" b="1" dirty="0"/>
              <a:t>Important requirement</a:t>
            </a:r>
          </a:p>
          <a:p>
            <a:r>
              <a:rPr lang="en-GB" dirty="0"/>
              <a:t>The attention mask alone is not enough.</a:t>
            </a:r>
          </a:p>
          <a:p>
            <a:r>
              <a:rPr lang="en-GB" dirty="0"/>
              <a:t>The complete pipeline must also avoid future information in:</a:t>
            </a:r>
          </a:p>
          <a:p>
            <a:pPr lvl="0"/>
            <a:r>
              <a:rPr lang="en-GB" dirty="0"/>
              <a:t>normalization; </a:t>
            </a:r>
          </a:p>
          <a:p>
            <a:pPr lvl="0"/>
            <a:r>
              <a:rPr lang="en-GB" dirty="0"/>
              <a:t>interpolation; </a:t>
            </a:r>
          </a:p>
          <a:p>
            <a:pPr lvl="0"/>
            <a:r>
              <a:rPr lang="en-GB" dirty="0"/>
              <a:t>derived features; </a:t>
            </a:r>
          </a:p>
          <a:p>
            <a:pPr lvl="0"/>
            <a:r>
              <a:rPr lang="en-GB" dirty="0"/>
              <a:t>external variables. </a:t>
            </a:r>
          </a:p>
          <a:p>
            <a:r>
              <a:rPr lang="en-GB" b="1" dirty="0"/>
              <a:t>Connection to Lecture 2</a:t>
            </a:r>
          </a:p>
          <a:p>
            <a:r>
              <a:rPr lang="en-GB" dirty="0"/>
              <a:t>Causal modelling is an end-to-end information constraint.</a:t>
            </a:r>
          </a:p>
          <a:p>
            <a:endParaRPr lang="en-GB" dirty="0"/>
          </a:p>
        </p:txBody>
      </p:sp>
    </p:spTree>
    <p:extLst>
      <p:ext uri="{BB962C8B-B14F-4D97-AF65-F5344CB8AC3E}">
        <p14:creationId xmlns:p14="http://schemas.microsoft.com/office/powerpoint/2010/main" val="39156321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Causal attention for forecasting</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Build a representation from history only, then predict future horizons.</a:t>
            </a:r>
            <a:endParaRPr lang="en-US" sz="1250" dirty="0"/>
          </a:p>
        </p:txBody>
      </p:sp>
      <p:sp>
        <p:nvSpPr>
          <p:cNvPr id="5" name="Text 3"/>
          <p:cNvSpPr/>
          <p:nvPr/>
        </p:nvSpPr>
        <p:spPr>
          <a:xfrm>
            <a:off x="1545336" y="2190669"/>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x[t−4]</a:t>
            </a:r>
            <a:endParaRPr lang="en-US" sz="1150" dirty="0"/>
          </a:p>
        </p:txBody>
      </p:sp>
      <p:sp>
        <p:nvSpPr>
          <p:cNvPr id="6" name="Text 4"/>
          <p:cNvSpPr/>
          <p:nvPr/>
        </p:nvSpPr>
        <p:spPr>
          <a:xfrm>
            <a:off x="2231136" y="2190669"/>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x[t−3]</a:t>
            </a:r>
            <a:endParaRPr lang="en-US" sz="1150" dirty="0"/>
          </a:p>
        </p:txBody>
      </p:sp>
      <p:sp>
        <p:nvSpPr>
          <p:cNvPr id="7" name="Text 5"/>
          <p:cNvSpPr/>
          <p:nvPr/>
        </p:nvSpPr>
        <p:spPr>
          <a:xfrm>
            <a:off x="2916936" y="2190669"/>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x[t−2]</a:t>
            </a:r>
            <a:endParaRPr lang="en-US" sz="1150" dirty="0"/>
          </a:p>
        </p:txBody>
      </p:sp>
      <p:sp>
        <p:nvSpPr>
          <p:cNvPr id="8" name="Text 6"/>
          <p:cNvSpPr/>
          <p:nvPr/>
        </p:nvSpPr>
        <p:spPr>
          <a:xfrm>
            <a:off x="3602736" y="2190669"/>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x[t−1]</a:t>
            </a:r>
            <a:endParaRPr lang="en-US" sz="1150" dirty="0"/>
          </a:p>
        </p:txBody>
      </p:sp>
      <p:sp>
        <p:nvSpPr>
          <p:cNvPr id="10" name="Text 8"/>
          <p:cNvSpPr/>
          <p:nvPr/>
        </p:nvSpPr>
        <p:spPr>
          <a:xfrm>
            <a:off x="4251960" y="219456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x[t]</a:t>
            </a:r>
            <a:endParaRPr lang="en-US" sz="1150" dirty="0"/>
          </a:p>
        </p:txBody>
      </p:sp>
      <p:sp>
        <p:nvSpPr>
          <p:cNvPr id="11" name="Text 9"/>
          <p:cNvSpPr/>
          <p:nvPr/>
        </p:nvSpPr>
        <p:spPr>
          <a:xfrm>
            <a:off x="5486400" y="1965960"/>
            <a:ext cx="2103120" cy="82296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600" b="1" dirty="0">
                <a:solidFill>
                  <a:srgbClr val="0F172A"/>
                </a:solidFill>
                <a:latin typeface="Aptos" pitchFamily="34" charset="0"/>
                <a:ea typeface="Aptos" pitchFamily="34" charset="-122"/>
                <a:cs typeface="Aptos" pitchFamily="34" charset="-120"/>
              </a:rPr>
              <a:t>causal</a:t>
            </a:r>
            <a:endParaRPr lang="en-US" sz="1600" dirty="0"/>
          </a:p>
          <a:p>
            <a:pPr marL="0" indent="0" algn="ctr">
              <a:buNone/>
            </a:pPr>
            <a:r>
              <a:rPr lang="en-US" sz="1600" b="1" dirty="0">
                <a:solidFill>
                  <a:srgbClr val="0F172A"/>
                </a:solidFill>
                <a:latin typeface="Aptos" pitchFamily="34" charset="0"/>
                <a:ea typeface="Aptos" pitchFamily="34" charset="-122"/>
                <a:cs typeface="Aptos" pitchFamily="34" charset="-120"/>
              </a:rPr>
              <a:t>self-attention</a:t>
            </a:r>
            <a:endParaRPr lang="en-US" sz="1600" dirty="0"/>
          </a:p>
        </p:txBody>
      </p:sp>
      <p:sp>
        <p:nvSpPr>
          <p:cNvPr id="12" name="Text 10"/>
          <p:cNvSpPr/>
          <p:nvPr/>
        </p:nvSpPr>
        <p:spPr>
          <a:xfrm>
            <a:off x="8001000" y="1965960"/>
            <a:ext cx="1554480" cy="822960"/>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500" b="1" dirty="0">
                <a:solidFill>
                  <a:srgbClr val="0F172A"/>
                </a:solidFill>
                <a:latin typeface="Aptos" pitchFamily="34" charset="0"/>
                <a:ea typeface="Aptos" pitchFamily="34" charset="-122"/>
                <a:cs typeface="Aptos" pitchFamily="34" charset="-120"/>
              </a:rPr>
              <a:t>representation</a:t>
            </a:r>
            <a:endParaRPr lang="en-US" sz="1500" dirty="0"/>
          </a:p>
          <a:p>
            <a:pPr marL="0" indent="0" algn="ctr">
              <a:buNone/>
            </a:pPr>
            <a:r>
              <a:rPr lang="en-US" sz="1500" b="1" dirty="0">
                <a:solidFill>
                  <a:srgbClr val="0F172A"/>
                </a:solidFill>
                <a:latin typeface="Aptos" pitchFamily="34" charset="0"/>
                <a:ea typeface="Aptos" pitchFamily="34" charset="-122"/>
                <a:cs typeface="Aptos" pitchFamily="34" charset="-120"/>
              </a:rPr>
              <a:t>at t</a:t>
            </a:r>
            <a:endParaRPr lang="en-US" sz="1500" dirty="0"/>
          </a:p>
        </p:txBody>
      </p:sp>
      <p:sp>
        <p:nvSpPr>
          <p:cNvPr id="13" name="Text 11"/>
          <p:cNvSpPr/>
          <p:nvPr/>
        </p:nvSpPr>
        <p:spPr>
          <a:xfrm>
            <a:off x="7315200" y="3794760"/>
            <a:ext cx="2560320" cy="658368"/>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500" b="1" dirty="0">
                <a:solidFill>
                  <a:srgbClr val="0F172A"/>
                </a:solidFill>
                <a:latin typeface="Aptos" pitchFamily="34" charset="0"/>
                <a:ea typeface="Aptos" pitchFamily="34" charset="-122"/>
                <a:cs typeface="Aptos" pitchFamily="34" charset="-120"/>
              </a:rPr>
              <a:t>ŷ[t+1], ..., ŷ[t+H]</a:t>
            </a:r>
            <a:endParaRPr lang="en-US" sz="1500" dirty="0"/>
          </a:p>
        </p:txBody>
      </p:sp>
      <p:sp>
        <p:nvSpPr>
          <p:cNvPr id="14" name="Shape 12"/>
          <p:cNvSpPr/>
          <p:nvPr/>
        </p:nvSpPr>
        <p:spPr>
          <a:xfrm>
            <a:off x="4846320" y="2395728"/>
            <a:ext cx="594360" cy="0"/>
          </a:xfrm>
          <a:prstGeom prst="line">
            <a:avLst/>
          </a:prstGeom>
          <a:noFill/>
          <a:ln w="21590">
            <a:solidFill>
              <a:srgbClr val="475569"/>
            </a:solidFill>
            <a:prstDash val="solid"/>
            <a:headEnd type="none"/>
            <a:tailEnd type="triangle"/>
          </a:ln>
        </p:spPr>
        <p:txBody>
          <a:bodyPr/>
          <a:lstStyle/>
          <a:p>
            <a:endParaRPr lang="en-GB"/>
          </a:p>
        </p:txBody>
      </p:sp>
      <p:sp>
        <p:nvSpPr>
          <p:cNvPr id="15" name="Shape 13"/>
          <p:cNvSpPr/>
          <p:nvPr/>
        </p:nvSpPr>
        <p:spPr>
          <a:xfrm>
            <a:off x="7589520" y="2395728"/>
            <a:ext cx="365760" cy="0"/>
          </a:xfrm>
          <a:prstGeom prst="line">
            <a:avLst/>
          </a:prstGeom>
          <a:noFill/>
          <a:ln w="21590">
            <a:solidFill>
              <a:srgbClr val="475569"/>
            </a:solidFill>
            <a:prstDash val="solid"/>
            <a:headEnd type="none"/>
            <a:tailEnd type="triangle"/>
          </a:ln>
        </p:spPr>
        <p:txBody>
          <a:bodyPr/>
          <a:lstStyle/>
          <a:p>
            <a:endParaRPr lang="en-GB"/>
          </a:p>
        </p:txBody>
      </p:sp>
      <p:sp>
        <p:nvSpPr>
          <p:cNvPr id="16" name="Shape 14"/>
          <p:cNvSpPr/>
          <p:nvPr/>
        </p:nvSpPr>
        <p:spPr>
          <a:xfrm>
            <a:off x="8778240" y="2788920"/>
            <a:ext cx="0" cy="960120"/>
          </a:xfrm>
          <a:prstGeom prst="line">
            <a:avLst/>
          </a:prstGeom>
          <a:noFill/>
          <a:ln w="21590">
            <a:solidFill>
              <a:srgbClr val="F59E0B"/>
            </a:solidFill>
            <a:prstDash val="solid"/>
            <a:headEnd type="none"/>
            <a:tailEnd type="triangle"/>
          </a:ln>
        </p:spPr>
        <p:txBody>
          <a:bodyPr/>
          <a:lstStyle/>
          <a:p>
            <a:endParaRPr lang="en-GB"/>
          </a:p>
        </p:txBody>
      </p:sp>
      <p:sp>
        <p:nvSpPr>
          <p:cNvPr id="17" name="Text 15"/>
          <p:cNvSpPr/>
          <p:nvPr/>
        </p:nvSpPr>
        <p:spPr>
          <a:xfrm>
            <a:off x="868680" y="1783080"/>
            <a:ext cx="3931920" cy="274320"/>
          </a:xfrm>
          <a:prstGeom prst="rect">
            <a:avLst/>
          </a:prstGeom>
          <a:noFill/>
          <a:ln/>
        </p:spPr>
        <p:txBody>
          <a:bodyPr wrap="square" lIns="0" tIns="0" rIns="0" bIns="0" rtlCol="0" anchor="ctr">
            <a:normAutofit/>
          </a:bodyPr>
          <a:lstStyle/>
          <a:p>
            <a:pPr marL="0" indent="0" algn="ctr">
              <a:buNone/>
            </a:pPr>
            <a:r>
              <a:rPr lang="en-US" sz="1250" b="1" dirty="0">
                <a:solidFill>
                  <a:srgbClr val="2563EB"/>
                </a:solidFill>
                <a:latin typeface="Aptos" pitchFamily="34" charset="0"/>
                <a:ea typeface="Aptos" pitchFamily="34" charset="-122"/>
                <a:cs typeface="Aptos" pitchFamily="34" charset="-120"/>
              </a:rPr>
              <a:t>historical sequence available at time t</a:t>
            </a:r>
            <a:endParaRPr lang="en-US" sz="1250" dirty="0"/>
          </a:p>
        </p:txBody>
      </p:sp>
      <p:sp>
        <p:nvSpPr>
          <p:cNvPr id="18" name="Text 16"/>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The same representation can support one-step or direct multi-horizon forecasting.</a:t>
            </a:r>
            <a:endParaRPr lang="en-US" sz="111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7A0FFF-AB0B-3F6F-3EF4-B14963A4D6A4}"/>
              </a:ext>
            </a:extLst>
          </p:cNvPr>
          <p:cNvSpPr>
            <a:spLocks noGrp="1"/>
          </p:cNvSpPr>
          <p:nvPr>
            <p:ph type="title"/>
          </p:nvPr>
        </p:nvSpPr>
        <p:spPr/>
        <p:txBody>
          <a:bodyPr/>
          <a:lstStyle/>
          <a:p>
            <a:r>
              <a:rPr lang="en-GB" dirty="0"/>
              <a:t>Online and offline sequence labelling</a:t>
            </a:r>
          </a:p>
        </p:txBody>
      </p:sp>
      <p:sp>
        <p:nvSpPr>
          <p:cNvPr id="3" name="Segnaposto contenuto 2">
            <a:extLst>
              <a:ext uri="{FF2B5EF4-FFF2-40B4-BE49-F238E27FC236}">
                <a16:creationId xmlns:a16="http://schemas.microsoft.com/office/drawing/2014/main" id="{AB01AF85-1525-0EB6-5E3E-D626D69A85DA}"/>
              </a:ext>
            </a:extLst>
          </p:cNvPr>
          <p:cNvSpPr>
            <a:spLocks noGrp="1"/>
          </p:cNvSpPr>
          <p:nvPr>
            <p:ph sz="half" idx="1"/>
          </p:nvPr>
        </p:nvSpPr>
        <p:spPr/>
        <p:txBody>
          <a:bodyPr>
            <a:normAutofit fontScale="70000" lnSpcReduction="20000"/>
          </a:bodyPr>
          <a:lstStyle/>
          <a:p>
            <a:r>
              <a:rPr lang="en-GB" dirty="0"/>
              <a:t>Consider sequence labelling.</a:t>
            </a:r>
          </a:p>
          <a:p>
            <a:r>
              <a:rPr lang="en-GB" b="1" dirty="0"/>
              <a:t>Online case</a:t>
            </a:r>
          </a:p>
          <a:p>
            <a:r>
              <a:rPr lang="en-GB" dirty="0"/>
              <a:t>At time t, the system must immediately produce:</a:t>
            </a:r>
          </a:p>
          <a:p>
            <a:r>
              <a:rPr lang="en-GB" dirty="0" err="1"/>
              <a:t>y_hat</a:t>
            </a:r>
            <a:r>
              <a:rPr lang="en-GB" dirty="0"/>
              <a:t>[t]</a:t>
            </a:r>
          </a:p>
          <a:p>
            <a:r>
              <a:rPr lang="en-GB" dirty="0"/>
              <a:t>Use causal attention:</a:t>
            </a:r>
          </a:p>
          <a:p>
            <a:r>
              <a:rPr lang="en-GB" dirty="0"/>
              <a:t>x[1] ... x[t]</a:t>
            </a:r>
          </a:p>
          <a:p>
            <a:r>
              <a:rPr lang="en-GB" dirty="0"/>
              <a:t>       ↓</a:t>
            </a:r>
          </a:p>
          <a:p>
            <a:r>
              <a:rPr lang="en-GB" dirty="0"/>
              <a:t>    </a:t>
            </a:r>
            <a:r>
              <a:rPr lang="en-GB" dirty="0" err="1"/>
              <a:t>y_hat</a:t>
            </a:r>
            <a:r>
              <a:rPr lang="en-GB" dirty="0"/>
              <a:t>[t]</a:t>
            </a:r>
          </a:p>
          <a:p>
            <a:endParaRPr lang="en-GB" dirty="0"/>
          </a:p>
        </p:txBody>
      </p:sp>
      <p:sp>
        <p:nvSpPr>
          <p:cNvPr id="4" name="Segnaposto contenuto 3">
            <a:extLst>
              <a:ext uri="{FF2B5EF4-FFF2-40B4-BE49-F238E27FC236}">
                <a16:creationId xmlns:a16="http://schemas.microsoft.com/office/drawing/2014/main" id="{9D8E4D42-1E57-F6D8-3863-95557EE53BD3}"/>
              </a:ext>
            </a:extLst>
          </p:cNvPr>
          <p:cNvSpPr>
            <a:spLocks noGrp="1"/>
          </p:cNvSpPr>
          <p:nvPr>
            <p:ph sz="half" idx="2"/>
          </p:nvPr>
        </p:nvSpPr>
        <p:spPr>
          <a:xfrm>
            <a:off x="5089970" y="2160589"/>
            <a:ext cx="6330302" cy="4580679"/>
          </a:xfrm>
        </p:spPr>
        <p:txBody>
          <a:bodyPr>
            <a:normAutofit fontScale="70000" lnSpcReduction="20000"/>
          </a:bodyPr>
          <a:lstStyle/>
          <a:p>
            <a:r>
              <a:rPr lang="en-GB" b="1" dirty="0"/>
              <a:t>Offline case</a:t>
            </a:r>
          </a:p>
          <a:p>
            <a:r>
              <a:rPr lang="en-GB" dirty="0"/>
              <a:t>The full recording is available.</a:t>
            </a:r>
          </a:p>
          <a:p>
            <a:r>
              <a:rPr lang="en-GB" dirty="0"/>
              <a:t>Then prediction at t may legitimately use:</a:t>
            </a:r>
          </a:p>
          <a:p>
            <a:r>
              <a:rPr lang="en-GB" dirty="0"/>
              <a:t>x[1], ..., x[t], ..., x[L]</a:t>
            </a:r>
          </a:p>
          <a:p>
            <a:r>
              <a:rPr lang="en-GB" dirty="0"/>
              <a:t>Non-causal attention can exploit both:</a:t>
            </a:r>
          </a:p>
          <a:p>
            <a:pPr lvl="1"/>
            <a:r>
              <a:rPr lang="en-GB" dirty="0"/>
              <a:t>preceding context; </a:t>
            </a:r>
          </a:p>
          <a:p>
            <a:pPr lvl="1"/>
            <a:r>
              <a:rPr lang="en-GB" dirty="0"/>
              <a:t>following context. </a:t>
            </a:r>
          </a:p>
          <a:p>
            <a:endParaRPr lang="en-GB" b="1" dirty="0"/>
          </a:p>
          <a:p>
            <a:r>
              <a:rPr lang="en-GB" b="1" dirty="0"/>
              <a:t>Example</a:t>
            </a:r>
          </a:p>
          <a:p>
            <a:r>
              <a:rPr lang="en-GB" b="1" dirty="0"/>
              <a:t>A short transient may be ambiguous at its onset.</a:t>
            </a:r>
          </a:p>
          <a:p>
            <a:r>
              <a:rPr lang="en-GB" dirty="0"/>
              <a:t>Later observations may clarify whether it was:</a:t>
            </a:r>
          </a:p>
          <a:p>
            <a:pPr lvl="1"/>
            <a:r>
              <a:rPr lang="en-GB" dirty="0"/>
              <a:t>noise; </a:t>
            </a:r>
          </a:p>
          <a:p>
            <a:pPr lvl="1"/>
            <a:r>
              <a:rPr lang="en-GB" dirty="0"/>
              <a:t>a true event; </a:t>
            </a:r>
          </a:p>
          <a:p>
            <a:pPr lvl="1"/>
            <a:r>
              <a:rPr lang="en-GB" dirty="0"/>
              <a:t>a transition between states. </a:t>
            </a:r>
          </a:p>
          <a:p>
            <a:endParaRPr lang="en-GB" dirty="0"/>
          </a:p>
          <a:p>
            <a:r>
              <a:rPr lang="en-GB" b="1" dirty="0"/>
              <a:t>Causality should follow deployment timing, not architectural preference.</a:t>
            </a:r>
          </a:p>
          <a:p>
            <a:endParaRPr lang="en-GB" dirty="0"/>
          </a:p>
        </p:txBody>
      </p:sp>
    </p:spTree>
    <p:extLst>
      <p:ext uri="{BB962C8B-B14F-4D97-AF65-F5344CB8AC3E}">
        <p14:creationId xmlns:p14="http://schemas.microsoft.com/office/powerpoint/2010/main" val="29777626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Online versus offline sequence labelling</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The deployment timing determines whether future context is allowed.</a:t>
            </a:r>
            <a:endParaRPr lang="en-US" sz="1250" dirty="0"/>
          </a:p>
        </p:txBody>
      </p:sp>
      <p:sp>
        <p:nvSpPr>
          <p:cNvPr id="5" name="Text 3"/>
          <p:cNvSpPr/>
          <p:nvPr/>
        </p:nvSpPr>
        <p:spPr>
          <a:xfrm>
            <a:off x="777240" y="1417320"/>
            <a:ext cx="4160520" cy="4160520"/>
          </a:xfrm>
          <a:prstGeom prst="rect">
            <a:avLst/>
          </a:prstGeom>
          <a:solidFill>
            <a:srgbClr val="F8FAFC"/>
          </a:solidFill>
          <a:ln w="15240">
            <a:solidFill>
              <a:srgbClr val="CBD5E1"/>
            </a:solidFill>
          </a:ln>
        </p:spPr>
        <p:txBody>
          <a:bodyPr wrap="square" lIns="635" tIns="635" rIns="635" bIns="635" rtlCol="0" anchor="ctr">
            <a:normAutofit/>
          </a:bodyPr>
          <a:lstStyle/>
          <a:p>
            <a:pPr marL="0" indent="0" algn="ctr">
              <a:buNone/>
            </a:pPr>
            <a:endParaRPr lang="en-US" sz="1300" dirty="0"/>
          </a:p>
        </p:txBody>
      </p:sp>
      <p:sp>
        <p:nvSpPr>
          <p:cNvPr id="6" name="Text 4"/>
          <p:cNvSpPr/>
          <p:nvPr/>
        </p:nvSpPr>
        <p:spPr>
          <a:xfrm>
            <a:off x="5440680" y="1417320"/>
            <a:ext cx="4160520" cy="4160520"/>
          </a:xfrm>
          <a:prstGeom prst="rect">
            <a:avLst/>
          </a:prstGeom>
          <a:solidFill>
            <a:srgbClr val="F8FAFC"/>
          </a:solidFill>
          <a:ln w="15240">
            <a:solidFill>
              <a:srgbClr val="CBD5E1"/>
            </a:solidFill>
          </a:ln>
        </p:spPr>
        <p:txBody>
          <a:bodyPr wrap="square" lIns="635" tIns="635" rIns="635" bIns="635" rtlCol="0" anchor="ctr">
            <a:normAutofit/>
          </a:bodyPr>
          <a:lstStyle/>
          <a:p>
            <a:pPr marL="0" indent="0" algn="ctr">
              <a:buNone/>
            </a:pPr>
            <a:endParaRPr lang="en-US" sz="1300" dirty="0"/>
          </a:p>
        </p:txBody>
      </p:sp>
      <p:sp>
        <p:nvSpPr>
          <p:cNvPr id="7" name="Text 5"/>
          <p:cNvSpPr/>
          <p:nvPr/>
        </p:nvSpPr>
        <p:spPr>
          <a:xfrm>
            <a:off x="960120" y="1600200"/>
            <a:ext cx="3566160" cy="274320"/>
          </a:xfrm>
          <a:prstGeom prst="rect">
            <a:avLst/>
          </a:prstGeom>
          <a:noFill/>
          <a:ln/>
        </p:spPr>
        <p:txBody>
          <a:bodyPr wrap="square" lIns="0" tIns="0" rIns="0" bIns="0" rtlCol="0" anchor="ctr">
            <a:normAutofit/>
          </a:bodyPr>
          <a:lstStyle/>
          <a:p>
            <a:pPr marL="0" indent="0" algn="ctr">
              <a:buNone/>
            </a:pPr>
            <a:r>
              <a:rPr lang="en-US" sz="1600" b="1" dirty="0">
                <a:solidFill>
                  <a:srgbClr val="79A80D"/>
                </a:solidFill>
                <a:latin typeface="Aptos" pitchFamily="34" charset="0"/>
                <a:ea typeface="Aptos" pitchFamily="34" charset="-122"/>
                <a:cs typeface="Aptos" pitchFamily="34" charset="-120"/>
              </a:rPr>
              <a:t>Online labelling</a:t>
            </a:r>
            <a:endParaRPr lang="en-US" sz="1600" dirty="0"/>
          </a:p>
        </p:txBody>
      </p:sp>
      <p:sp>
        <p:nvSpPr>
          <p:cNvPr id="8" name="Text 6"/>
          <p:cNvSpPr/>
          <p:nvPr/>
        </p:nvSpPr>
        <p:spPr>
          <a:xfrm>
            <a:off x="5623560" y="1600200"/>
            <a:ext cx="3566160" cy="274320"/>
          </a:xfrm>
          <a:prstGeom prst="rect">
            <a:avLst/>
          </a:prstGeom>
          <a:noFill/>
          <a:ln/>
        </p:spPr>
        <p:txBody>
          <a:bodyPr wrap="square" lIns="0" tIns="0" rIns="0" bIns="0" rtlCol="0" anchor="ctr">
            <a:normAutofit/>
          </a:bodyPr>
          <a:lstStyle/>
          <a:p>
            <a:pPr marL="0" indent="0" algn="ctr">
              <a:buNone/>
            </a:pPr>
            <a:r>
              <a:rPr lang="en-US" sz="1600" b="1" dirty="0">
                <a:solidFill>
                  <a:srgbClr val="7C3AED"/>
                </a:solidFill>
                <a:latin typeface="Aptos" pitchFamily="34" charset="0"/>
                <a:ea typeface="Aptos" pitchFamily="34" charset="-122"/>
                <a:cs typeface="Aptos" pitchFamily="34" charset="-120"/>
              </a:rPr>
              <a:t>Offline labelling</a:t>
            </a:r>
            <a:endParaRPr lang="en-US" sz="1600" dirty="0"/>
          </a:p>
        </p:txBody>
      </p:sp>
      <p:sp>
        <p:nvSpPr>
          <p:cNvPr id="9" name="Shape 7"/>
          <p:cNvSpPr/>
          <p:nvPr/>
        </p:nvSpPr>
        <p:spPr>
          <a:xfrm>
            <a:off x="1188720" y="2926080"/>
            <a:ext cx="3200400" cy="0"/>
          </a:xfrm>
          <a:prstGeom prst="line">
            <a:avLst/>
          </a:prstGeom>
          <a:noFill/>
          <a:ln w="25400">
            <a:solidFill>
              <a:srgbClr val="CBD5E1"/>
            </a:solidFill>
            <a:prstDash val="solid"/>
            <a:headEnd type="none"/>
            <a:tailEnd type="none"/>
          </a:ln>
        </p:spPr>
        <p:txBody>
          <a:bodyPr/>
          <a:lstStyle/>
          <a:p>
            <a:endParaRPr lang="en-GB"/>
          </a:p>
        </p:txBody>
      </p:sp>
      <p:sp>
        <p:nvSpPr>
          <p:cNvPr id="10" name="Shape 8"/>
          <p:cNvSpPr/>
          <p:nvPr/>
        </p:nvSpPr>
        <p:spPr>
          <a:xfrm>
            <a:off x="5852160" y="2926080"/>
            <a:ext cx="3200400" cy="0"/>
          </a:xfrm>
          <a:prstGeom prst="line">
            <a:avLst/>
          </a:prstGeom>
          <a:noFill/>
          <a:ln w="25400">
            <a:solidFill>
              <a:srgbClr val="CBD5E1"/>
            </a:solidFill>
            <a:prstDash val="solid"/>
            <a:headEnd type="none"/>
            <a:tailEnd type="none"/>
          </a:ln>
        </p:spPr>
        <p:txBody>
          <a:bodyPr/>
          <a:lstStyle/>
          <a:p>
            <a:endParaRPr lang="en-GB"/>
          </a:p>
        </p:txBody>
      </p:sp>
      <p:sp>
        <p:nvSpPr>
          <p:cNvPr id="11" name="Text 9"/>
          <p:cNvSpPr/>
          <p:nvPr/>
        </p:nvSpPr>
        <p:spPr>
          <a:xfrm>
            <a:off x="137160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x1</a:t>
            </a:r>
            <a:endParaRPr lang="en-US" sz="1150" dirty="0"/>
          </a:p>
        </p:txBody>
      </p:sp>
      <p:sp>
        <p:nvSpPr>
          <p:cNvPr id="12" name="Text 10"/>
          <p:cNvSpPr/>
          <p:nvPr/>
        </p:nvSpPr>
        <p:spPr>
          <a:xfrm>
            <a:off x="201168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x2</a:t>
            </a:r>
            <a:endParaRPr lang="en-US" sz="1150" dirty="0"/>
          </a:p>
        </p:txBody>
      </p:sp>
      <p:sp>
        <p:nvSpPr>
          <p:cNvPr id="13" name="Text 11"/>
          <p:cNvSpPr/>
          <p:nvPr/>
        </p:nvSpPr>
        <p:spPr>
          <a:xfrm>
            <a:off x="265176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x3</a:t>
            </a:r>
            <a:endParaRPr lang="en-US" sz="1150" dirty="0"/>
          </a:p>
        </p:txBody>
      </p:sp>
      <p:sp>
        <p:nvSpPr>
          <p:cNvPr id="14" name="Text 12"/>
          <p:cNvSpPr/>
          <p:nvPr/>
        </p:nvSpPr>
        <p:spPr>
          <a:xfrm>
            <a:off x="329184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x4</a:t>
            </a:r>
            <a:endParaRPr lang="en-US" sz="1150" dirty="0"/>
          </a:p>
        </p:txBody>
      </p:sp>
      <p:sp>
        <p:nvSpPr>
          <p:cNvPr id="15" name="Text 13"/>
          <p:cNvSpPr/>
          <p:nvPr/>
        </p:nvSpPr>
        <p:spPr>
          <a:xfrm>
            <a:off x="393192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x[t]</a:t>
            </a:r>
            <a:endParaRPr lang="en-US" sz="1150" dirty="0"/>
          </a:p>
        </p:txBody>
      </p:sp>
      <p:sp>
        <p:nvSpPr>
          <p:cNvPr id="16" name="Text 14"/>
          <p:cNvSpPr/>
          <p:nvPr/>
        </p:nvSpPr>
        <p:spPr>
          <a:xfrm>
            <a:off x="603504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x1</a:t>
            </a:r>
            <a:endParaRPr lang="en-US" sz="1150" dirty="0"/>
          </a:p>
        </p:txBody>
      </p:sp>
      <p:sp>
        <p:nvSpPr>
          <p:cNvPr id="17" name="Text 15"/>
          <p:cNvSpPr/>
          <p:nvPr/>
        </p:nvSpPr>
        <p:spPr>
          <a:xfrm>
            <a:off x="667512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x2</a:t>
            </a:r>
            <a:endParaRPr lang="en-US" sz="1150" dirty="0"/>
          </a:p>
        </p:txBody>
      </p:sp>
      <p:sp>
        <p:nvSpPr>
          <p:cNvPr id="18" name="Text 16"/>
          <p:cNvSpPr/>
          <p:nvPr/>
        </p:nvSpPr>
        <p:spPr>
          <a:xfrm>
            <a:off x="731520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x3</a:t>
            </a:r>
            <a:endParaRPr lang="en-US" sz="1150" dirty="0"/>
          </a:p>
        </p:txBody>
      </p:sp>
      <p:sp>
        <p:nvSpPr>
          <p:cNvPr id="19" name="Text 17"/>
          <p:cNvSpPr/>
          <p:nvPr/>
        </p:nvSpPr>
        <p:spPr>
          <a:xfrm>
            <a:off x="795528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x4</a:t>
            </a:r>
            <a:endParaRPr lang="en-US" sz="1150" dirty="0"/>
          </a:p>
        </p:txBody>
      </p:sp>
      <p:sp>
        <p:nvSpPr>
          <p:cNvPr id="20" name="Text 18"/>
          <p:cNvSpPr/>
          <p:nvPr/>
        </p:nvSpPr>
        <p:spPr>
          <a:xfrm>
            <a:off x="8595360" y="2148840"/>
            <a:ext cx="566928" cy="329184"/>
          </a:xfrm>
          <a:prstGeom prst="rect">
            <a:avLst/>
          </a:prstGeom>
          <a:solidFill>
            <a:srgbClr val="DBEAFE"/>
          </a:solidFill>
          <a:ln w="15240">
            <a:solidFill>
              <a:srgbClr val="2563EB"/>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x5</a:t>
            </a:r>
            <a:endParaRPr lang="en-US" sz="1150" dirty="0"/>
          </a:p>
        </p:txBody>
      </p:sp>
      <p:sp>
        <p:nvSpPr>
          <p:cNvPr id="21" name="Text 19"/>
          <p:cNvSpPr/>
          <p:nvPr/>
        </p:nvSpPr>
        <p:spPr>
          <a:xfrm>
            <a:off x="3291840" y="3886200"/>
            <a:ext cx="1188720" cy="50292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ŷ[t]</a:t>
            </a:r>
            <a:endParaRPr lang="en-US" sz="1300" dirty="0"/>
          </a:p>
        </p:txBody>
      </p:sp>
      <p:sp>
        <p:nvSpPr>
          <p:cNvPr id="22" name="Text 20"/>
          <p:cNvSpPr/>
          <p:nvPr/>
        </p:nvSpPr>
        <p:spPr>
          <a:xfrm>
            <a:off x="7315200" y="3886200"/>
            <a:ext cx="1188720" cy="502920"/>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ŷ[t]</a:t>
            </a:r>
            <a:endParaRPr lang="en-US" sz="1300" dirty="0"/>
          </a:p>
        </p:txBody>
      </p:sp>
      <p:sp>
        <p:nvSpPr>
          <p:cNvPr id="23" name="Shape 21"/>
          <p:cNvSpPr/>
          <p:nvPr/>
        </p:nvSpPr>
        <p:spPr>
          <a:xfrm>
            <a:off x="2834640" y="2743200"/>
            <a:ext cx="960120" cy="1097280"/>
          </a:xfrm>
          <a:prstGeom prst="line">
            <a:avLst/>
          </a:prstGeom>
          <a:noFill/>
          <a:ln w="19050">
            <a:solidFill>
              <a:srgbClr val="79A80D"/>
            </a:solidFill>
            <a:prstDash val="solid"/>
            <a:headEnd type="none"/>
            <a:tailEnd type="triangle"/>
          </a:ln>
        </p:spPr>
        <p:txBody>
          <a:bodyPr/>
          <a:lstStyle/>
          <a:p>
            <a:endParaRPr lang="en-GB"/>
          </a:p>
        </p:txBody>
      </p:sp>
      <p:sp>
        <p:nvSpPr>
          <p:cNvPr id="24" name="Shape 22"/>
          <p:cNvSpPr/>
          <p:nvPr/>
        </p:nvSpPr>
        <p:spPr>
          <a:xfrm>
            <a:off x="7315200" y="2743200"/>
            <a:ext cx="594360" cy="1097280"/>
          </a:xfrm>
          <a:prstGeom prst="line">
            <a:avLst/>
          </a:prstGeom>
          <a:noFill/>
          <a:ln w="19050">
            <a:solidFill>
              <a:srgbClr val="7C3AED"/>
            </a:solidFill>
            <a:prstDash val="solid"/>
            <a:headEnd type="none"/>
            <a:tailEnd type="triangle"/>
          </a:ln>
        </p:spPr>
        <p:txBody>
          <a:bodyPr/>
          <a:lstStyle/>
          <a:p>
            <a:endParaRPr lang="en-GB"/>
          </a:p>
        </p:txBody>
      </p:sp>
      <p:sp>
        <p:nvSpPr>
          <p:cNvPr id="25" name="Shape 23"/>
          <p:cNvSpPr/>
          <p:nvPr/>
        </p:nvSpPr>
        <p:spPr>
          <a:xfrm flipH="1">
            <a:off x="7955280" y="2743200"/>
            <a:ext cx="685800" cy="1097269"/>
          </a:xfrm>
          <a:prstGeom prst="line">
            <a:avLst/>
          </a:prstGeom>
          <a:noFill/>
          <a:ln w="19050">
            <a:solidFill>
              <a:srgbClr val="7C3AED"/>
            </a:solidFill>
            <a:prstDash val="solid"/>
            <a:headEnd type="none"/>
            <a:tailEnd type="triangle"/>
          </a:ln>
        </p:spPr>
        <p:txBody>
          <a:bodyPr/>
          <a:lstStyle/>
          <a:p>
            <a:endParaRPr lang="en-GB"/>
          </a:p>
        </p:txBody>
      </p:sp>
      <p:sp>
        <p:nvSpPr>
          <p:cNvPr id="26" name="Text 24"/>
          <p:cNvSpPr/>
          <p:nvPr/>
        </p:nvSpPr>
        <p:spPr>
          <a:xfrm>
            <a:off x="1051560" y="4709160"/>
            <a:ext cx="3474720" cy="320040"/>
          </a:xfrm>
          <a:prstGeom prst="rect">
            <a:avLst/>
          </a:prstGeom>
          <a:noFill/>
          <a:ln/>
        </p:spPr>
        <p:txBody>
          <a:bodyPr wrap="square" lIns="0" tIns="0" rIns="0" bIns="0" rtlCol="0" anchor="ctr">
            <a:normAutofit/>
          </a:bodyPr>
          <a:lstStyle/>
          <a:p>
            <a:pPr marL="0" indent="0" algn="ctr">
              <a:buNone/>
            </a:pPr>
            <a:r>
              <a:rPr lang="en-US" sz="1300" b="1" dirty="0">
                <a:solidFill>
                  <a:srgbClr val="79A80D"/>
                </a:solidFill>
                <a:latin typeface="Aptos" pitchFamily="34" charset="0"/>
                <a:ea typeface="Aptos" pitchFamily="34" charset="-122"/>
                <a:cs typeface="Aptos" pitchFamily="34" charset="-120"/>
              </a:rPr>
              <a:t>past/current only</a:t>
            </a:r>
            <a:endParaRPr lang="en-US" sz="1300" dirty="0"/>
          </a:p>
        </p:txBody>
      </p:sp>
      <p:sp>
        <p:nvSpPr>
          <p:cNvPr id="27" name="Text 25"/>
          <p:cNvSpPr/>
          <p:nvPr/>
        </p:nvSpPr>
        <p:spPr>
          <a:xfrm>
            <a:off x="5715000" y="4709160"/>
            <a:ext cx="3474720" cy="320040"/>
          </a:xfrm>
          <a:prstGeom prst="rect">
            <a:avLst/>
          </a:prstGeom>
          <a:noFill/>
          <a:ln/>
        </p:spPr>
        <p:txBody>
          <a:bodyPr wrap="square" lIns="0" tIns="0" rIns="0" bIns="0" rtlCol="0" anchor="ctr">
            <a:normAutofit/>
          </a:bodyPr>
          <a:lstStyle/>
          <a:p>
            <a:pPr marL="0" indent="0" algn="ctr">
              <a:buNone/>
            </a:pPr>
            <a:r>
              <a:rPr lang="en-US" sz="1300" b="1" dirty="0">
                <a:solidFill>
                  <a:srgbClr val="7C3AED"/>
                </a:solidFill>
                <a:latin typeface="Aptos" pitchFamily="34" charset="0"/>
                <a:ea typeface="Aptos" pitchFamily="34" charset="-122"/>
                <a:cs typeface="Aptos" pitchFamily="34" charset="-120"/>
              </a:rPr>
              <a:t>past + future context</a:t>
            </a:r>
            <a:endParaRPr lang="en-US" sz="1300" dirty="0"/>
          </a:p>
        </p:txBody>
      </p:sp>
      <p:sp>
        <p:nvSpPr>
          <p:cNvPr id="28" name="Text 26"/>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Future context may improve retrospective labels, but it cannot be used when the decision is required immediately.</a:t>
            </a:r>
            <a:endParaRPr lang="en-US" sz="111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9844BA-320B-1F6B-3604-2752F3848C26}"/>
              </a:ext>
            </a:extLst>
          </p:cNvPr>
          <p:cNvSpPr>
            <a:spLocks noGrp="1"/>
          </p:cNvSpPr>
          <p:nvPr>
            <p:ph type="title"/>
          </p:nvPr>
        </p:nvSpPr>
        <p:spPr/>
        <p:txBody>
          <a:bodyPr/>
          <a:lstStyle/>
          <a:p>
            <a:r>
              <a:rPr lang="en-GB" dirty="0"/>
              <a:t>Causal attention and causal convolution are conceptually similar</a:t>
            </a:r>
          </a:p>
        </p:txBody>
      </p:sp>
      <p:sp>
        <p:nvSpPr>
          <p:cNvPr id="3" name="Segnaposto contenuto 2">
            <a:extLst>
              <a:ext uri="{FF2B5EF4-FFF2-40B4-BE49-F238E27FC236}">
                <a16:creationId xmlns:a16="http://schemas.microsoft.com/office/drawing/2014/main" id="{F96F4043-F7EC-7DFC-EF13-89E5FFA1DC7F}"/>
              </a:ext>
            </a:extLst>
          </p:cNvPr>
          <p:cNvSpPr>
            <a:spLocks noGrp="1"/>
          </p:cNvSpPr>
          <p:nvPr>
            <p:ph sz="half" idx="1"/>
          </p:nvPr>
        </p:nvSpPr>
        <p:spPr>
          <a:xfrm>
            <a:off x="677334" y="2160588"/>
            <a:ext cx="5256538" cy="4347215"/>
          </a:xfrm>
        </p:spPr>
        <p:txBody>
          <a:bodyPr>
            <a:normAutofit/>
          </a:bodyPr>
          <a:lstStyle/>
          <a:p>
            <a:r>
              <a:rPr lang="en-GB" dirty="0"/>
              <a:t>Both enforce the same fundamental rule:</a:t>
            </a:r>
          </a:p>
          <a:p>
            <a:r>
              <a:rPr lang="en-GB" dirty="0"/>
              <a:t>An output associated with time t must not use observations after t.</a:t>
            </a:r>
          </a:p>
          <a:p>
            <a:r>
              <a:rPr lang="en-GB" b="1" dirty="0"/>
              <a:t>Causal convolution</a:t>
            </a:r>
          </a:p>
          <a:p>
            <a:r>
              <a:rPr lang="en-GB" dirty="0"/>
              <a:t>Restricts the receptive field to the past.</a:t>
            </a:r>
          </a:p>
          <a:p>
            <a:r>
              <a:rPr lang="en-GB" dirty="0"/>
              <a:t>x[t−4] ... x[t−1] x[t]</a:t>
            </a:r>
          </a:p>
          <a:p>
            <a:r>
              <a:rPr lang="en-GB" b="1" dirty="0"/>
              <a:t>Causal attention</a:t>
            </a:r>
          </a:p>
          <a:p>
            <a:r>
              <a:rPr lang="en-GB" dirty="0"/>
              <a:t>Restricts the set of positions that can receive non-zero attention.</a:t>
            </a:r>
          </a:p>
          <a:p>
            <a:r>
              <a:rPr lang="en-GB" dirty="0"/>
              <a:t>1, 2, ..., t</a:t>
            </a:r>
          </a:p>
          <a:p>
            <a:endParaRPr lang="en-GB" dirty="0"/>
          </a:p>
        </p:txBody>
      </p:sp>
      <p:sp>
        <p:nvSpPr>
          <p:cNvPr id="4" name="Segnaposto contenuto 3">
            <a:extLst>
              <a:ext uri="{FF2B5EF4-FFF2-40B4-BE49-F238E27FC236}">
                <a16:creationId xmlns:a16="http://schemas.microsoft.com/office/drawing/2014/main" id="{33930DE8-3096-0201-BE4B-7761E4D721E5}"/>
              </a:ext>
            </a:extLst>
          </p:cNvPr>
          <p:cNvSpPr>
            <a:spLocks noGrp="1"/>
          </p:cNvSpPr>
          <p:nvPr>
            <p:ph sz="half" idx="2"/>
          </p:nvPr>
        </p:nvSpPr>
        <p:spPr>
          <a:xfrm>
            <a:off x="6977136" y="2190820"/>
            <a:ext cx="5133800" cy="4501810"/>
          </a:xfrm>
        </p:spPr>
        <p:txBody>
          <a:bodyPr>
            <a:normAutofit/>
          </a:bodyPr>
          <a:lstStyle/>
          <a:p>
            <a:r>
              <a:rPr lang="en-GB" b="1" dirty="0"/>
              <a:t>Main difference</a:t>
            </a:r>
          </a:p>
          <a:p>
            <a:r>
              <a:rPr lang="en-GB" dirty="0"/>
              <a:t>Causal convolution:</a:t>
            </a:r>
          </a:p>
          <a:p>
            <a:pPr lvl="1"/>
            <a:r>
              <a:rPr lang="en-GB" dirty="0"/>
              <a:t>uses a predefined connectivity pattern determined by kernel/receptive field. </a:t>
            </a:r>
          </a:p>
          <a:p>
            <a:r>
              <a:rPr lang="en-GB" dirty="0"/>
              <a:t>Causal attention:</a:t>
            </a:r>
          </a:p>
          <a:p>
            <a:pPr lvl="1"/>
            <a:r>
              <a:rPr lang="en-GB" dirty="0"/>
              <a:t>can assign different weights to any allowed historical positions. </a:t>
            </a:r>
          </a:p>
          <a:p>
            <a:endParaRPr lang="en-GB" dirty="0"/>
          </a:p>
          <a:p>
            <a:r>
              <a:rPr lang="en-GB" dirty="0"/>
              <a:t>Causality determines what is allowed; attention determines how much each allowed position contributes.</a:t>
            </a:r>
          </a:p>
          <a:p>
            <a:endParaRPr lang="en-GB" dirty="0"/>
          </a:p>
        </p:txBody>
      </p:sp>
    </p:spTree>
    <p:extLst>
      <p:ext uri="{BB962C8B-B14F-4D97-AF65-F5344CB8AC3E}">
        <p14:creationId xmlns:p14="http://schemas.microsoft.com/office/powerpoint/2010/main" val="10712264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Causal convolution versus causal attention</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b="1" dirty="0">
                <a:solidFill>
                  <a:srgbClr val="475569"/>
                </a:solidFill>
              </a:rPr>
              <a:t>Both obey time direction; they differ in how allowed history is weighted.</a:t>
            </a:r>
            <a:endParaRPr lang="en-US" sz="1250" b="1" dirty="0"/>
          </a:p>
        </p:txBody>
      </p:sp>
      <p:sp>
        <p:nvSpPr>
          <p:cNvPr id="5" name="Text 3"/>
          <p:cNvSpPr/>
          <p:nvPr/>
        </p:nvSpPr>
        <p:spPr>
          <a:xfrm>
            <a:off x="777240" y="1508760"/>
            <a:ext cx="4297680" cy="356616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endParaRPr lang="en-US" sz="1300" dirty="0"/>
          </a:p>
        </p:txBody>
      </p:sp>
      <p:sp>
        <p:nvSpPr>
          <p:cNvPr id="6" name="Text 4"/>
          <p:cNvSpPr/>
          <p:nvPr/>
        </p:nvSpPr>
        <p:spPr>
          <a:xfrm>
            <a:off x="5486400" y="1508760"/>
            <a:ext cx="4297680" cy="3566160"/>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endParaRPr lang="en-US" sz="1300" dirty="0"/>
          </a:p>
        </p:txBody>
      </p:sp>
      <p:sp>
        <p:nvSpPr>
          <p:cNvPr id="7" name="Text 5"/>
          <p:cNvSpPr/>
          <p:nvPr/>
        </p:nvSpPr>
        <p:spPr>
          <a:xfrm>
            <a:off x="1051560" y="1783080"/>
            <a:ext cx="3566160" cy="274320"/>
          </a:xfrm>
          <a:prstGeom prst="rect">
            <a:avLst/>
          </a:prstGeom>
          <a:noFill/>
          <a:ln/>
        </p:spPr>
        <p:txBody>
          <a:bodyPr wrap="square" lIns="0" tIns="0" rIns="0" bIns="0" rtlCol="0" anchor="ctr">
            <a:normAutofit/>
          </a:bodyPr>
          <a:lstStyle/>
          <a:p>
            <a:pPr marL="0" indent="0" algn="ctr">
              <a:buNone/>
            </a:pPr>
            <a:r>
              <a:rPr lang="en-US" sz="1600" b="1" dirty="0">
                <a:solidFill>
                  <a:srgbClr val="79A80D"/>
                </a:solidFill>
                <a:latin typeface="Aptos" pitchFamily="34" charset="0"/>
                <a:ea typeface="Aptos" pitchFamily="34" charset="-122"/>
                <a:cs typeface="Aptos" pitchFamily="34" charset="-120"/>
              </a:rPr>
              <a:t>Causal convolution</a:t>
            </a:r>
            <a:endParaRPr lang="en-US" sz="1600" dirty="0"/>
          </a:p>
        </p:txBody>
      </p:sp>
      <p:sp>
        <p:nvSpPr>
          <p:cNvPr id="8" name="Text 6"/>
          <p:cNvSpPr/>
          <p:nvPr/>
        </p:nvSpPr>
        <p:spPr>
          <a:xfrm>
            <a:off x="5760720" y="1783080"/>
            <a:ext cx="3566160" cy="274320"/>
          </a:xfrm>
          <a:prstGeom prst="rect">
            <a:avLst/>
          </a:prstGeom>
          <a:noFill/>
          <a:ln/>
        </p:spPr>
        <p:txBody>
          <a:bodyPr wrap="square" lIns="0" tIns="0" rIns="0" bIns="0" rtlCol="0" anchor="ctr">
            <a:normAutofit/>
          </a:bodyPr>
          <a:lstStyle/>
          <a:p>
            <a:pPr marL="0" indent="0" algn="ctr">
              <a:buNone/>
            </a:pPr>
            <a:r>
              <a:rPr lang="en-US" sz="1600" b="1" dirty="0">
                <a:solidFill>
                  <a:srgbClr val="7C3AED"/>
                </a:solidFill>
                <a:latin typeface="Aptos" pitchFamily="34" charset="0"/>
                <a:ea typeface="Aptos" pitchFamily="34" charset="-122"/>
                <a:cs typeface="Aptos" pitchFamily="34" charset="-120"/>
              </a:rPr>
              <a:t>Causal attention</a:t>
            </a:r>
            <a:endParaRPr lang="en-US" sz="1600" dirty="0"/>
          </a:p>
        </p:txBody>
      </p:sp>
      <p:sp>
        <p:nvSpPr>
          <p:cNvPr id="9" name="Shape 7"/>
          <p:cNvSpPr/>
          <p:nvPr/>
        </p:nvSpPr>
        <p:spPr>
          <a:xfrm>
            <a:off x="1234440" y="3108960"/>
            <a:ext cx="3337560" cy="0"/>
          </a:xfrm>
          <a:prstGeom prst="line">
            <a:avLst/>
          </a:prstGeom>
          <a:noFill/>
          <a:ln w="19050">
            <a:solidFill>
              <a:srgbClr val="475569"/>
            </a:solidFill>
            <a:prstDash val="solid"/>
            <a:headEnd type="none"/>
            <a:tailEnd type="none"/>
          </a:ln>
        </p:spPr>
        <p:txBody>
          <a:bodyPr/>
          <a:lstStyle/>
          <a:p>
            <a:endParaRPr lang="en-GB"/>
          </a:p>
        </p:txBody>
      </p:sp>
      <p:sp>
        <p:nvSpPr>
          <p:cNvPr id="10" name="Shape 8"/>
          <p:cNvSpPr/>
          <p:nvPr/>
        </p:nvSpPr>
        <p:spPr>
          <a:xfrm>
            <a:off x="5943600" y="3108960"/>
            <a:ext cx="3337560" cy="0"/>
          </a:xfrm>
          <a:prstGeom prst="line">
            <a:avLst/>
          </a:prstGeom>
          <a:noFill/>
          <a:ln w="19050">
            <a:solidFill>
              <a:srgbClr val="475569"/>
            </a:solidFill>
            <a:prstDash val="solid"/>
            <a:headEnd type="none"/>
            <a:tailEnd type="none"/>
          </a:ln>
        </p:spPr>
        <p:txBody>
          <a:bodyPr/>
          <a:lstStyle/>
          <a:p>
            <a:endParaRPr lang="en-GB"/>
          </a:p>
        </p:txBody>
      </p:sp>
      <p:sp>
        <p:nvSpPr>
          <p:cNvPr id="11" name="Text 9"/>
          <p:cNvSpPr/>
          <p:nvPr/>
        </p:nvSpPr>
        <p:spPr>
          <a:xfrm>
            <a:off x="1188720" y="2560320"/>
            <a:ext cx="566928" cy="329184"/>
          </a:xfrm>
          <a:prstGeom prst="rect">
            <a:avLst/>
          </a:prstGeom>
          <a:solidFill>
            <a:srgbClr val="FFFFFF"/>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t−4</a:t>
            </a:r>
            <a:endParaRPr lang="en-US" sz="1150" dirty="0"/>
          </a:p>
        </p:txBody>
      </p:sp>
      <p:sp>
        <p:nvSpPr>
          <p:cNvPr id="12" name="Text 10"/>
          <p:cNvSpPr/>
          <p:nvPr/>
        </p:nvSpPr>
        <p:spPr>
          <a:xfrm>
            <a:off x="5897880" y="2560320"/>
            <a:ext cx="566928" cy="329184"/>
          </a:xfrm>
          <a:prstGeom prst="rect">
            <a:avLst/>
          </a:prstGeom>
          <a:solidFill>
            <a:srgbClr val="FFFFFF"/>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t−4</a:t>
            </a:r>
            <a:endParaRPr lang="en-US" sz="1150" dirty="0"/>
          </a:p>
        </p:txBody>
      </p:sp>
      <p:sp>
        <p:nvSpPr>
          <p:cNvPr id="13" name="Text 11"/>
          <p:cNvSpPr/>
          <p:nvPr/>
        </p:nvSpPr>
        <p:spPr>
          <a:xfrm>
            <a:off x="1847088" y="2560320"/>
            <a:ext cx="566928" cy="329184"/>
          </a:xfrm>
          <a:prstGeom prst="rect">
            <a:avLst/>
          </a:prstGeom>
          <a:solidFill>
            <a:srgbClr val="FFFFFF"/>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t−3</a:t>
            </a:r>
            <a:endParaRPr lang="en-US" sz="1150" dirty="0"/>
          </a:p>
        </p:txBody>
      </p:sp>
      <p:sp>
        <p:nvSpPr>
          <p:cNvPr id="14" name="Text 12"/>
          <p:cNvSpPr/>
          <p:nvPr/>
        </p:nvSpPr>
        <p:spPr>
          <a:xfrm>
            <a:off x="6556248" y="2560320"/>
            <a:ext cx="566928" cy="329184"/>
          </a:xfrm>
          <a:prstGeom prst="rect">
            <a:avLst/>
          </a:prstGeom>
          <a:solidFill>
            <a:srgbClr val="FFFFFF"/>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t−3</a:t>
            </a:r>
            <a:endParaRPr lang="en-US" sz="1150" dirty="0"/>
          </a:p>
        </p:txBody>
      </p:sp>
      <p:sp>
        <p:nvSpPr>
          <p:cNvPr id="15" name="Text 13"/>
          <p:cNvSpPr/>
          <p:nvPr/>
        </p:nvSpPr>
        <p:spPr>
          <a:xfrm>
            <a:off x="2505456" y="2560320"/>
            <a:ext cx="566928" cy="329184"/>
          </a:xfrm>
          <a:prstGeom prst="rect">
            <a:avLst/>
          </a:prstGeom>
          <a:solidFill>
            <a:srgbClr val="FFFFFF"/>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t−2</a:t>
            </a:r>
            <a:endParaRPr lang="en-US" sz="1150" dirty="0"/>
          </a:p>
        </p:txBody>
      </p:sp>
      <p:sp>
        <p:nvSpPr>
          <p:cNvPr id="16" name="Text 14"/>
          <p:cNvSpPr/>
          <p:nvPr/>
        </p:nvSpPr>
        <p:spPr>
          <a:xfrm>
            <a:off x="7214616" y="2560320"/>
            <a:ext cx="566928" cy="329184"/>
          </a:xfrm>
          <a:prstGeom prst="rect">
            <a:avLst/>
          </a:prstGeom>
          <a:solidFill>
            <a:srgbClr val="FFFFFF"/>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t−2</a:t>
            </a:r>
            <a:endParaRPr lang="en-US" sz="1150" dirty="0"/>
          </a:p>
        </p:txBody>
      </p:sp>
      <p:sp>
        <p:nvSpPr>
          <p:cNvPr id="17" name="Text 15"/>
          <p:cNvSpPr/>
          <p:nvPr/>
        </p:nvSpPr>
        <p:spPr>
          <a:xfrm>
            <a:off x="3163824" y="2560320"/>
            <a:ext cx="566928" cy="329184"/>
          </a:xfrm>
          <a:prstGeom prst="rect">
            <a:avLst/>
          </a:prstGeom>
          <a:solidFill>
            <a:srgbClr val="FFFFFF"/>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t−1</a:t>
            </a:r>
            <a:endParaRPr lang="en-US" sz="1150" dirty="0"/>
          </a:p>
        </p:txBody>
      </p:sp>
      <p:sp>
        <p:nvSpPr>
          <p:cNvPr id="18" name="Text 16"/>
          <p:cNvSpPr/>
          <p:nvPr/>
        </p:nvSpPr>
        <p:spPr>
          <a:xfrm>
            <a:off x="7872984" y="2560320"/>
            <a:ext cx="566928" cy="329184"/>
          </a:xfrm>
          <a:prstGeom prst="rect">
            <a:avLst/>
          </a:prstGeom>
          <a:solidFill>
            <a:srgbClr val="FFFFFF"/>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t−1</a:t>
            </a:r>
            <a:endParaRPr lang="en-US" sz="1150" dirty="0"/>
          </a:p>
        </p:txBody>
      </p:sp>
      <p:sp>
        <p:nvSpPr>
          <p:cNvPr id="19" name="Text 17"/>
          <p:cNvSpPr/>
          <p:nvPr/>
        </p:nvSpPr>
        <p:spPr>
          <a:xfrm>
            <a:off x="3822192" y="2560320"/>
            <a:ext cx="566928" cy="329184"/>
          </a:xfrm>
          <a:prstGeom prst="rect">
            <a:avLst/>
          </a:prstGeom>
          <a:solidFill>
            <a:srgbClr val="FFFFFF"/>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a:t>
            </a:r>
            <a:endParaRPr lang="en-US" sz="1150" dirty="0"/>
          </a:p>
        </p:txBody>
      </p:sp>
      <p:sp>
        <p:nvSpPr>
          <p:cNvPr id="20" name="Text 18"/>
          <p:cNvSpPr/>
          <p:nvPr/>
        </p:nvSpPr>
        <p:spPr>
          <a:xfrm>
            <a:off x="8531352" y="2560320"/>
            <a:ext cx="566928" cy="329184"/>
          </a:xfrm>
          <a:prstGeom prst="rect">
            <a:avLst/>
          </a:prstGeom>
          <a:solidFill>
            <a:srgbClr val="FFFFFF"/>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a:t>
            </a:r>
            <a:endParaRPr lang="en-US" sz="1150" dirty="0"/>
          </a:p>
        </p:txBody>
      </p:sp>
      <p:sp>
        <p:nvSpPr>
          <p:cNvPr id="21" name="Shape 19"/>
          <p:cNvSpPr/>
          <p:nvPr/>
        </p:nvSpPr>
        <p:spPr>
          <a:xfrm flipV="1">
            <a:off x="1097280" y="2880360"/>
            <a:ext cx="2926080" cy="685800"/>
          </a:xfrm>
          <a:prstGeom prst="bracePair">
            <a:avLst/>
          </a:prstGeom>
          <a:noFill/>
          <a:ln w="25400">
            <a:solidFill>
              <a:srgbClr val="79A80D"/>
            </a:solidFill>
            <a:prstDash val="solid"/>
          </a:ln>
        </p:spPr>
        <p:txBody>
          <a:bodyPr/>
          <a:lstStyle/>
          <a:p>
            <a:endParaRPr lang="en-GB"/>
          </a:p>
        </p:txBody>
      </p:sp>
      <p:sp>
        <p:nvSpPr>
          <p:cNvPr id="22" name="Text 20"/>
          <p:cNvSpPr/>
          <p:nvPr/>
        </p:nvSpPr>
        <p:spPr>
          <a:xfrm>
            <a:off x="1554480" y="3749040"/>
            <a:ext cx="2377440" cy="228600"/>
          </a:xfrm>
          <a:prstGeom prst="rect">
            <a:avLst/>
          </a:prstGeom>
          <a:noFill/>
          <a:ln/>
        </p:spPr>
        <p:txBody>
          <a:bodyPr wrap="square" lIns="0" tIns="0" rIns="0" bIns="0" rtlCol="0" anchor="ctr">
            <a:normAutofit/>
          </a:bodyPr>
          <a:lstStyle/>
          <a:p>
            <a:pPr marL="0" indent="0" algn="ctr">
              <a:buNone/>
            </a:pPr>
            <a:r>
              <a:rPr lang="en-US" sz="1200" b="1" dirty="0">
                <a:solidFill>
                  <a:srgbClr val="79A80D"/>
                </a:solidFill>
                <a:latin typeface="Aptos" pitchFamily="34" charset="0"/>
                <a:ea typeface="Aptos" pitchFamily="34" charset="-122"/>
                <a:cs typeface="Aptos" pitchFamily="34" charset="-120"/>
              </a:rPr>
              <a:t>predefined receptive field</a:t>
            </a:r>
            <a:endParaRPr lang="en-US" sz="1200" dirty="0"/>
          </a:p>
        </p:txBody>
      </p:sp>
      <p:sp>
        <p:nvSpPr>
          <p:cNvPr id="23" name="Shape 21"/>
          <p:cNvSpPr/>
          <p:nvPr/>
        </p:nvSpPr>
        <p:spPr>
          <a:xfrm>
            <a:off x="7543800" y="4297680"/>
            <a:ext cx="0" cy="0"/>
          </a:xfrm>
          <a:prstGeom prst="line">
            <a:avLst/>
          </a:prstGeom>
          <a:noFill/>
          <a:ln w="12700">
            <a:solidFill>
              <a:srgbClr val="7C3AED"/>
            </a:solidFill>
            <a:prstDash val="solid"/>
            <a:headEnd type="none"/>
            <a:tailEnd type="triangle"/>
          </a:ln>
        </p:spPr>
        <p:txBody>
          <a:bodyPr/>
          <a:lstStyle/>
          <a:p>
            <a:endParaRPr lang="en-GB"/>
          </a:p>
        </p:txBody>
      </p:sp>
      <p:sp>
        <p:nvSpPr>
          <p:cNvPr id="24" name="Shape 22"/>
          <p:cNvSpPr/>
          <p:nvPr/>
        </p:nvSpPr>
        <p:spPr>
          <a:xfrm>
            <a:off x="7543800" y="4297680"/>
            <a:ext cx="0" cy="0"/>
          </a:xfrm>
          <a:prstGeom prst="line">
            <a:avLst/>
          </a:prstGeom>
          <a:noFill/>
          <a:ln w="17780">
            <a:solidFill>
              <a:srgbClr val="7C3AED"/>
            </a:solidFill>
            <a:prstDash val="solid"/>
            <a:headEnd type="none"/>
            <a:tailEnd type="triangle"/>
          </a:ln>
        </p:spPr>
        <p:txBody>
          <a:bodyPr/>
          <a:lstStyle/>
          <a:p>
            <a:endParaRPr lang="en-GB"/>
          </a:p>
        </p:txBody>
      </p:sp>
      <p:sp>
        <p:nvSpPr>
          <p:cNvPr id="25" name="Shape 23"/>
          <p:cNvSpPr/>
          <p:nvPr/>
        </p:nvSpPr>
        <p:spPr>
          <a:xfrm>
            <a:off x="7543800" y="4297680"/>
            <a:ext cx="0" cy="0"/>
          </a:xfrm>
          <a:prstGeom prst="line">
            <a:avLst/>
          </a:prstGeom>
          <a:noFill/>
          <a:ln w="15240">
            <a:solidFill>
              <a:srgbClr val="7C3AED"/>
            </a:solidFill>
            <a:prstDash val="solid"/>
            <a:headEnd type="none"/>
            <a:tailEnd type="triangle"/>
          </a:ln>
        </p:spPr>
        <p:txBody>
          <a:bodyPr/>
          <a:lstStyle/>
          <a:p>
            <a:endParaRPr lang="en-GB"/>
          </a:p>
        </p:txBody>
      </p:sp>
      <p:sp>
        <p:nvSpPr>
          <p:cNvPr id="26" name="Shape 24"/>
          <p:cNvSpPr/>
          <p:nvPr/>
        </p:nvSpPr>
        <p:spPr>
          <a:xfrm>
            <a:off x="7543800" y="4297680"/>
            <a:ext cx="603504" cy="0"/>
          </a:xfrm>
          <a:prstGeom prst="line">
            <a:avLst/>
          </a:prstGeom>
          <a:noFill/>
          <a:ln w="22860">
            <a:solidFill>
              <a:srgbClr val="7C3AED"/>
            </a:solidFill>
            <a:prstDash val="solid"/>
            <a:headEnd type="none"/>
            <a:tailEnd type="triangle"/>
          </a:ln>
        </p:spPr>
        <p:txBody>
          <a:bodyPr/>
          <a:lstStyle/>
          <a:p>
            <a:endParaRPr lang="en-GB"/>
          </a:p>
        </p:txBody>
      </p:sp>
      <p:sp>
        <p:nvSpPr>
          <p:cNvPr id="27" name="Shape 25"/>
          <p:cNvSpPr/>
          <p:nvPr/>
        </p:nvSpPr>
        <p:spPr>
          <a:xfrm>
            <a:off x="7543800" y="4297680"/>
            <a:ext cx="1261872" cy="0"/>
          </a:xfrm>
          <a:prstGeom prst="line">
            <a:avLst/>
          </a:prstGeom>
          <a:noFill/>
          <a:ln w="33020">
            <a:solidFill>
              <a:srgbClr val="7C3AED"/>
            </a:solidFill>
            <a:prstDash val="solid"/>
            <a:headEnd type="none"/>
            <a:tailEnd type="triangle"/>
          </a:ln>
        </p:spPr>
        <p:txBody>
          <a:bodyPr/>
          <a:lstStyle/>
          <a:p>
            <a:endParaRPr lang="en-GB"/>
          </a:p>
        </p:txBody>
      </p:sp>
      <p:sp>
        <p:nvSpPr>
          <p:cNvPr id="28" name="Text 26"/>
          <p:cNvSpPr/>
          <p:nvPr/>
        </p:nvSpPr>
        <p:spPr>
          <a:xfrm>
            <a:off x="6355080" y="4526280"/>
            <a:ext cx="2560320" cy="228600"/>
          </a:xfrm>
          <a:prstGeom prst="rect">
            <a:avLst/>
          </a:prstGeom>
          <a:noFill/>
          <a:ln/>
        </p:spPr>
        <p:txBody>
          <a:bodyPr wrap="square" lIns="0" tIns="0" rIns="0" bIns="0" rtlCol="0" anchor="ctr">
            <a:normAutofit fontScale="92500"/>
          </a:bodyPr>
          <a:lstStyle/>
          <a:p>
            <a:pPr marL="0" indent="0" algn="ctr">
              <a:buNone/>
            </a:pPr>
            <a:r>
              <a:rPr lang="en-US" sz="1200" b="1" dirty="0">
                <a:solidFill>
                  <a:srgbClr val="7C3AED"/>
                </a:solidFill>
                <a:latin typeface="Aptos" pitchFamily="34" charset="0"/>
                <a:ea typeface="Aptos" pitchFamily="34" charset="-122"/>
                <a:cs typeface="Aptos" pitchFamily="34" charset="-120"/>
              </a:rPr>
              <a:t>adaptive weights over allowed history</a:t>
            </a:r>
            <a:endParaRPr lang="en-US" sz="1200" dirty="0"/>
          </a:p>
        </p:txBody>
      </p:sp>
      <p:sp>
        <p:nvSpPr>
          <p:cNvPr id="29" name="Text 27"/>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Causality determines what is allowed; convolution and attention determine how the allowed history is represented.</a:t>
            </a:r>
            <a:endParaRPr lang="en-US" sz="111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E94754-0FC0-CDC9-A554-622118B23FDA}"/>
              </a:ext>
            </a:extLst>
          </p:cNvPr>
          <p:cNvSpPr>
            <a:spLocks noGrp="1"/>
          </p:cNvSpPr>
          <p:nvPr>
            <p:ph type="title"/>
          </p:nvPr>
        </p:nvSpPr>
        <p:spPr/>
        <p:txBody>
          <a:bodyPr/>
          <a:lstStyle/>
          <a:p>
            <a:r>
              <a:rPr lang="en-GB" dirty="0"/>
              <a:t>Causality and context length are separate questions</a:t>
            </a:r>
          </a:p>
        </p:txBody>
      </p:sp>
      <p:sp>
        <p:nvSpPr>
          <p:cNvPr id="3" name="Segnaposto contenuto 2">
            <a:extLst>
              <a:ext uri="{FF2B5EF4-FFF2-40B4-BE49-F238E27FC236}">
                <a16:creationId xmlns:a16="http://schemas.microsoft.com/office/drawing/2014/main" id="{DA61A9B4-53D8-84E0-FAFE-92EDF1FE8981}"/>
              </a:ext>
            </a:extLst>
          </p:cNvPr>
          <p:cNvSpPr>
            <a:spLocks noGrp="1"/>
          </p:cNvSpPr>
          <p:nvPr>
            <p:ph idx="1"/>
          </p:nvPr>
        </p:nvSpPr>
        <p:spPr/>
        <p:txBody>
          <a:bodyPr>
            <a:normAutofit fontScale="77500" lnSpcReduction="20000"/>
          </a:bodyPr>
          <a:lstStyle/>
          <a:p>
            <a:r>
              <a:rPr lang="en-GB" dirty="0"/>
              <a:t>A causal model can still have:</a:t>
            </a:r>
          </a:p>
          <a:p>
            <a:pPr lvl="1"/>
            <a:r>
              <a:rPr lang="en-GB" dirty="0"/>
              <a:t>short context; </a:t>
            </a:r>
          </a:p>
          <a:p>
            <a:pPr lvl="1"/>
            <a:r>
              <a:rPr lang="en-GB" dirty="0"/>
              <a:t>long context. </a:t>
            </a:r>
          </a:p>
          <a:p>
            <a:r>
              <a:rPr lang="en-GB" b="1" dirty="0"/>
              <a:t>Causal convolution with receptive field 50</a:t>
            </a:r>
          </a:p>
          <a:p>
            <a:r>
              <a:rPr lang="en-GB" dirty="0"/>
              <a:t>Can use at most: x[t−49], ..., x[t]</a:t>
            </a:r>
          </a:p>
          <a:p>
            <a:r>
              <a:rPr lang="en-GB" b="1" dirty="0"/>
              <a:t>Causal attention over a history of 500 positions</a:t>
            </a:r>
          </a:p>
          <a:p>
            <a:r>
              <a:rPr lang="en-GB" dirty="0"/>
              <a:t>Can potentially attend to: x[t−499], ..., x[t]</a:t>
            </a:r>
          </a:p>
          <a:p>
            <a:endParaRPr lang="en-GB" b="1" dirty="0"/>
          </a:p>
          <a:p>
            <a:r>
              <a:rPr lang="en-GB" b="1" dirty="0"/>
              <a:t>Therefore two questions must be separated</a:t>
            </a:r>
          </a:p>
          <a:p>
            <a:pPr lvl="1"/>
            <a:r>
              <a:rPr lang="en-GB" b="1" dirty="0"/>
              <a:t>Direction:</a:t>
            </a:r>
            <a:r>
              <a:rPr lang="en-GB" dirty="0"/>
              <a:t> can the model use future information? </a:t>
            </a:r>
          </a:p>
          <a:p>
            <a:pPr lvl="1"/>
            <a:r>
              <a:rPr lang="en-GB" b="1" dirty="0"/>
              <a:t>Context length:</a:t>
            </a:r>
            <a:r>
              <a:rPr lang="en-GB" dirty="0"/>
              <a:t> how far into the past can the model look? </a:t>
            </a:r>
          </a:p>
          <a:p>
            <a:endParaRPr lang="en-GB" dirty="0"/>
          </a:p>
          <a:p>
            <a:r>
              <a:rPr lang="en-GB" b="1" dirty="0"/>
              <a:t>A model can be perfectly causal and still have insufficient historical context.</a:t>
            </a:r>
          </a:p>
          <a:p>
            <a:endParaRPr lang="en-GB" dirty="0"/>
          </a:p>
        </p:txBody>
      </p:sp>
    </p:spTree>
    <p:extLst>
      <p:ext uri="{BB962C8B-B14F-4D97-AF65-F5344CB8AC3E}">
        <p14:creationId xmlns:p14="http://schemas.microsoft.com/office/powerpoint/2010/main" val="32286501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Causality and context length are separate questions</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A model can be causal but still look too little into the past.</a:t>
            </a:r>
            <a:endParaRPr lang="en-US" sz="1250" dirty="0"/>
          </a:p>
        </p:txBody>
      </p:sp>
      <p:sp>
        <p:nvSpPr>
          <p:cNvPr id="5" name="Text 3"/>
          <p:cNvSpPr/>
          <p:nvPr/>
        </p:nvSpPr>
        <p:spPr>
          <a:xfrm>
            <a:off x="1005840" y="1691640"/>
            <a:ext cx="2377440" cy="274320"/>
          </a:xfrm>
          <a:prstGeom prst="rect">
            <a:avLst/>
          </a:prstGeom>
          <a:noFill/>
          <a:ln/>
        </p:spPr>
        <p:txBody>
          <a:bodyPr wrap="square" lIns="0" tIns="0" rIns="0" bIns="0" rtlCol="0" anchor="ctr">
            <a:normAutofit/>
          </a:bodyPr>
          <a:lstStyle/>
          <a:p>
            <a:pPr marL="0" indent="0" algn="ctr">
              <a:buNone/>
            </a:pPr>
            <a:r>
              <a:rPr lang="en-US" sz="1500" b="1" dirty="0">
                <a:solidFill>
                  <a:srgbClr val="79A80D"/>
                </a:solidFill>
                <a:latin typeface="Aptos" pitchFamily="34" charset="0"/>
                <a:ea typeface="Aptos" pitchFamily="34" charset="-122"/>
                <a:cs typeface="Aptos" pitchFamily="34" charset="-120"/>
              </a:rPr>
              <a:t>Causal, short context</a:t>
            </a:r>
            <a:endParaRPr lang="en-US" sz="1500" dirty="0"/>
          </a:p>
        </p:txBody>
      </p:sp>
      <p:sp>
        <p:nvSpPr>
          <p:cNvPr id="6" name="Shape 4"/>
          <p:cNvSpPr/>
          <p:nvPr/>
        </p:nvSpPr>
        <p:spPr>
          <a:xfrm>
            <a:off x="1097280" y="2514600"/>
            <a:ext cx="6583680" cy="0"/>
          </a:xfrm>
          <a:prstGeom prst="line">
            <a:avLst/>
          </a:prstGeom>
          <a:noFill/>
          <a:ln w="25400">
            <a:solidFill>
              <a:srgbClr val="CBD5E1"/>
            </a:solidFill>
            <a:prstDash val="solid"/>
            <a:headEnd type="none"/>
            <a:tailEnd type="none"/>
          </a:ln>
        </p:spPr>
        <p:txBody>
          <a:bodyPr/>
          <a:lstStyle/>
          <a:p>
            <a:endParaRPr lang="en-GB"/>
          </a:p>
        </p:txBody>
      </p:sp>
      <p:sp>
        <p:nvSpPr>
          <p:cNvPr id="7" name="Text 5"/>
          <p:cNvSpPr/>
          <p:nvPr/>
        </p:nvSpPr>
        <p:spPr>
          <a:xfrm>
            <a:off x="6903720" y="2011680"/>
            <a:ext cx="566928" cy="329184"/>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a:t>
            </a:r>
            <a:endParaRPr lang="en-US" sz="1150" dirty="0"/>
          </a:p>
        </p:txBody>
      </p:sp>
      <p:sp>
        <p:nvSpPr>
          <p:cNvPr id="8" name="Shape 6"/>
          <p:cNvSpPr/>
          <p:nvPr/>
        </p:nvSpPr>
        <p:spPr>
          <a:xfrm flipV="1">
            <a:off x="5623560" y="2331720"/>
            <a:ext cx="1810512" cy="594360"/>
          </a:xfrm>
          <a:prstGeom prst="bracePair">
            <a:avLst/>
          </a:prstGeom>
          <a:noFill/>
          <a:ln w="25400">
            <a:solidFill>
              <a:srgbClr val="79A80D"/>
            </a:solidFill>
            <a:prstDash val="solid"/>
          </a:ln>
        </p:spPr>
        <p:txBody>
          <a:bodyPr/>
          <a:lstStyle/>
          <a:p>
            <a:endParaRPr lang="en-GB"/>
          </a:p>
        </p:txBody>
      </p:sp>
      <p:sp>
        <p:nvSpPr>
          <p:cNvPr id="9" name="Text 7"/>
          <p:cNvSpPr/>
          <p:nvPr/>
        </p:nvSpPr>
        <p:spPr>
          <a:xfrm>
            <a:off x="5760720" y="3108960"/>
            <a:ext cx="1645920" cy="228600"/>
          </a:xfrm>
          <a:prstGeom prst="rect">
            <a:avLst/>
          </a:prstGeom>
          <a:noFill/>
          <a:ln/>
        </p:spPr>
        <p:txBody>
          <a:bodyPr wrap="square" lIns="0" tIns="0" rIns="0" bIns="0" rtlCol="0" anchor="ctr">
            <a:normAutofit/>
          </a:bodyPr>
          <a:lstStyle/>
          <a:p>
            <a:pPr marL="0" indent="0" algn="ctr">
              <a:buNone/>
            </a:pPr>
            <a:r>
              <a:rPr lang="en-US" sz="1200" b="1" dirty="0">
                <a:solidFill>
                  <a:srgbClr val="79A80D"/>
                </a:solidFill>
                <a:latin typeface="Aptos" pitchFamily="34" charset="0"/>
                <a:ea typeface="Aptos" pitchFamily="34" charset="-122"/>
                <a:cs typeface="Aptos" pitchFamily="34" charset="-120"/>
              </a:rPr>
              <a:t>50 samples</a:t>
            </a:r>
            <a:endParaRPr lang="en-US" sz="1200" dirty="0"/>
          </a:p>
        </p:txBody>
      </p:sp>
      <p:sp>
        <p:nvSpPr>
          <p:cNvPr id="10" name="Text 8"/>
          <p:cNvSpPr/>
          <p:nvPr/>
        </p:nvSpPr>
        <p:spPr>
          <a:xfrm>
            <a:off x="1005840" y="3840480"/>
            <a:ext cx="2377440" cy="274320"/>
          </a:xfrm>
          <a:prstGeom prst="rect">
            <a:avLst/>
          </a:prstGeom>
          <a:noFill/>
          <a:ln/>
        </p:spPr>
        <p:txBody>
          <a:bodyPr wrap="square" lIns="0" tIns="0" rIns="0" bIns="0" rtlCol="0" anchor="ctr">
            <a:normAutofit/>
          </a:bodyPr>
          <a:lstStyle/>
          <a:p>
            <a:pPr marL="0" indent="0" algn="ctr">
              <a:buNone/>
            </a:pPr>
            <a:r>
              <a:rPr lang="en-US" sz="1500" b="1" dirty="0">
                <a:solidFill>
                  <a:srgbClr val="7C3AED"/>
                </a:solidFill>
                <a:latin typeface="Aptos" pitchFamily="34" charset="0"/>
                <a:ea typeface="Aptos" pitchFamily="34" charset="-122"/>
                <a:cs typeface="Aptos" pitchFamily="34" charset="-120"/>
              </a:rPr>
              <a:t>Causal, long context</a:t>
            </a:r>
            <a:endParaRPr lang="en-US" sz="1500" dirty="0"/>
          </a:p>
        </p:txBody>
      </p:sp>
      <p:sp>
        <p:nvSpPr>
          <p:cNvPr id="11" name="Shape 9"/>
          <p:cNvSpPr/>
          <p:nvPr/>
        </p:nvSpPr>
        <p:spPr>
          <a:xfrm>
            <a:off x="1097280" y="4663440"/>
            <a:ext cx="6583680" cy="0"/>
          </a:xfrm>
          <a:prstGeom prst="line">
            <a:avLst/>
          </a:prstGeom>
          <a:noFill/>
          <a:ln w="25400">
            <a:solidFill>
              <a:srgbClr val="CBD5E1"/>
            </a:solidFill>
            <a:prstDash val="solid"/>
            <a:headEnd type="none"/>
            <a:tailEnd type="none"/>
          </a:ln>
        </p:spPr>
        <p:txBody>
          <a:bodyPr/>
          <a:lstStyle/>
          <a:p>
            <a:endParaRPr lang="en-GB"/>
          </a:p>
        </p:txBody>
      </p:sp>
      <p:sp>
        <p:nvSpPr>
          <p:cNvPr id="12" name="Text 10"/>
          <p:cNvSpPr/>
          <p:nvPr/>
        </p:nvSpPr>
        <p:spPr>
          <a:xfrm>
            <a:off x="6903720" y="4160520"/>
            <a:ext cx="566928" cy="329184"/>
          </a:xfrm>
          <a:prstGeom prst="rect">
            <a:avLst/>
          </a:prstGeom>
          <a:solidFill>
            <a:srgbClr val="EDE9FE"/>
          </a:solidFill>
          <a:ln w="15240">
            <a:solidFill>
              <a:srgbClr val="7C3AED"/>
            </a:solidFill>
          </a:ln>
        </p:spPr>
        <p:txBody>
          <a:bodyPr wrap="square" lIns="635" tIns="635" rIns="635" bIns="635"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t</a:t>
            </a:r>
            <a:endParaRPr lang="en-US" sz="1150" dirty="0"/>
          </a:p>
        </p:txBody>
      </p:sp>
      <p:sp>
        <p:nvSpPr>
          <p:cNvPr id="13" name="Shape 11"/>
          <p:cNvSpPr/>
          <p:nvPr/>
        </p:nvSpPr>
        <p:spPr>
          <a:xfrm flipV="1">
            <a:off x="2148840" y="4480560"/>
            <a:ext cx="5285232" cy="594360"/>
          </a:xfrm>
          <a:prstGeom prst="bracePair">
            <a:avLst/>
          </a:prstGeom>
          <a:noFill/>
          <a:ln w="25400">
            <a:solidFill>
              <a:srgbClr val="7C3AED"/>
            </a:solidFill>
            <a:prstDash val="solid"/>
          </a:ln>
        </p:spPr>
        <p:txBody>
          <a:bodyPr/>
          <a:lstStyle/>
          <a:p>
            <a:endParaRPr lang="en-GB"/>
          </a:p>
        </p:txBody>
      </p:sp>
      <p:sp>
        <p:nvSpPr>
          <p:cNvPr id="14" name="Text 12"/>
          <p:cNvSpPr/>
          <p:nvPr/>
        </p:nvSpPr>
        <p:spPr>
          <a:xfrm>
            <a:off x="4023360" y="5257800"/>
            <a:ext cx="2011680" cy="228600"/>
          </a:xfrm>
          <a:prstGeom prst="rect">
            <a:avLst/>
          </a:prstGeom>
          <a:noFill/>
          <a:ln/>
        </p:spPr>
        <p:txBody>
          <a:bodyPr wrap="square" lIns="0" tIns="0" rIns="0" bIns="0" rtlCol="0" anchor="ctr">
            <a:normAutofit/>
          </a:bodyPr>
          <a:lstStyle/>
          <a:p>
            <a:pPr marL="0" indent="0" algn="ctr">
              <a:buNone/>
            </a:pPr>
            <a:r>
              <a:rPr lang="en-US" sz="1200" b="1" dirty="0">
                <a:solidFill>
                  <a:srgbClr val="7C3AED"/>
                </a:solidFill>
                <a:latin typeface="Aptos" pitchFamily="34" charset="0"/>
                <a:ea typeface="Aptos" pitchFamily="34" charset="-122"/>
                <a:cs typeface="Aptos" pitchFamily="34" charset="-120"/>
              </a:rPr>
              <a:t>500 samples</a:t>
            </a:r>
            <a:endParaRPr lang="en-US" sz="1200" dirty="0"/>
          </a:p>
        </p:txBody>
      </p:sp>
      <p:sp>
        <p:nvSpPr>
          <p:cNvPr id="15" name="Text 13"/>
          <p:cNvSpPr/>
          <p:nvPr/>
        </p:nvSpPr>
        <p:spPr>
          <a:xfrm>
            <a:off x="8046720" y="2743200"/>
            <a:ext cx="1920240" cy="914400"/>
          </a:xfrm>
          <a:prstGeom prst="rect">
            <a:avLst/>
          </a:prstGeom>
          <a:solidFill>
            <a:srgbClr val="FDE68A"/>
          </a:solidFill>
          <a:ln w="15240">
            <a:solidFill>
              <a:srgbClr val="F59E0B"/>
            </a:solidFill>
          </a:ln>
        </p:spPr>
        <p:txBody>
          <a:bodyPr wrap="square" lIns="635" tIns="635" rIns="635" bIns="635" rtlCol="0" anchor="ctr">
            <a:normAutofit/>
          </a:bodyPr>
          <a:lstStyle/>
          <a:p>
            <a:pPr marL="0" indent="0" algn="ctr">
              <a:buNone/>
            </a:pPr>
            <a:r>
              <a:rPr lang="en-US" sz="1350" b="1" dirty="0">
                <a:solidFill>
                  <a:srgbClr val="0F172A"/>
                </a:solidFill>
                <a:latin typeface="Aptos" pitchFamily="34" charset="0"/>
                <a:ea typeface="Aptos" pitchFamily="34" charset="-122"/>
                <a:cs typeface="Aptos" pitchFamily="34" charset="-120"/>
              </a:rPr>
              <a:t>Direction: no future</a:t>
            </a:r>
            <a:endParaRPr lang="en-US" sz="1350" dirty="0"/>
          </a:p>
          <a:p>
            <a:pPr marL="0" indent="0" algn="ctr">
              <a:buNone/>
            </a:pPr>
            <a:r>
              <a:rPr lang="en-US" sz="1350" b="1" dirty="0">
                <a:solidFill>
                  <a:srgbClr val="0F172A"/>
                </a:solidFill>
                <a:latin typeface="Aptos" pitchFamily="34" charset="0"/>
                <a:ea typeface="Aptos" pitchFamily="34" charset="-122"/>
                <a:cs typeface="Aptos" pitchFamily="34" charset="-120"/>
              </a:rPr>
              <a:t>Context: how far back?</a:t>
            </a:r>
            <a:endParaRPr lang="en-US" sz="1350" dirty="0"/>
          </a:p>
        </p:txBody>
      </p:sp>
      <p:sp>
        <p:nvSpPr>
          <p:cNvPr id="16" name="Text 14"/>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Choosing a causal model does not automatically guarantee enough historical context for the task.</a:t>
            </a:r>
            <a:endParaRPr lang="en-US" sz="111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905304-A5F2-5020-F6DF-861D85EDDE18}"/>
              </a:ext>
            </a:extLst>
          </p:cNvPr>
          <p:cNvSpPr>
            <a:spLocks noGrp="1"/>
          </p:cNvSpPr>
          <p:nvPr>
            <p:ph type="title"/>
          </p:nvPr>
        </p:nvSpPr>
        <p:spPr/>
        <p:txBody>
          <a:bodyPr/>
          <a:lstStyle/>
          <a:p>
            <a:r>
              <a:rPr lang="en-GB" dirty="0"/>
              <a:t>Attention mask depends on the task</a:t>
            </a:r>
          </a:p>
        </p:txBody>
      </p:sp>
      <p:sp>
        <p:nvSpPr>
          <p:cNvPr id="3" name="Segnaposto contenuto 2">
            <a:extLst>
              <a:ext uri="{FF2B5EF4-FFF2-40B4-BE49-F238E27FC236}">
                <a16:creationId xmlns:a16="http://schemas.microsoft.com/office/drawing/2014/main" id="{E1CC5942-C3D9-34EA-9D64-D72441309608}"/>
              </a:ext>
            </a:extLst>
          </p:cNvPr>
          <p:cNvSpPr>
            <a:spLocks noGrp="1"/>
          </p:cNvSpPr>
          <p:nvPr>
            <p:ph sz="half" idx="1"/>
          </p:nvPr>
        </p:nvSpPr>
        <p:spPr>
          <a:xfrm>
            <a:off x="677334" y="2160589"/>
            <a:ext cx="5305177" cy="4376398"/>
          </a:xfrm>
        </p:spPr>
        <p:txBody>
          <a:bodyPr>
            <a:normAutofit lnSpcReduction="10000"/>
          </a:bodyPr>
          <a:lstStyle/>
          <a:p>
            <a:r>
              <a:rPr lang="en-GB" b="1" dirty="0"/>
              <a:t>Full attention</a:t>
            </a:r>
          </a:p>
          <a:p>
            <a:r>
              <a:rPr lang="en-GB" dirty="0"/>
              <a:t>past + current + future</a:t>
            </a:r>
          </a:p>
          <a:p>
            <a:r>
              <a:rPr lang="en-GB" dirty="0"/>
              <a:t>Suitable for:</a:t>
            </a:r>
          </a:p>
          <a:p>
            <a:pPr lvl="1"/>
            <a:r>
              <a:rPr lang="en-GB" dirty="0"/>
              <a:t>offline sequence classification; </a:t>
            </a:r>
          </a:p>
          <a:p>
            <a:pPr lvl="1"/>
            <a:r>
              <a:rPr lang="en-GB" dirty="0"/>
              <a:t>retrospective analysis. </a:t>
            </a:r>
          </a:p>
          <a:p>
            <a:endParaRPr lang="en-GB" b="1" dirty="0"/>
          </a:p>
          <a:p>
            <a:r>
              <a:rPr lang="en-GB" b="1" dirty="0"/>
              <a:t>Causal attention</a:t>
            </a:r>
          </a:p>
          <a:p>
            <a:r>
              <a:rPr lang="en-GB" dirty="0"/>
              <a:t>past + current</a:t>
            </a:r>
          </a:p>
          <a:p>
            <a:r>
              <a:rPr lang="en-GB" dirty="0"/>
              <a:t>Suitable for:</a:t>
            </a:r>
          </a:p>
          <a:p>
            <a:pPr lvl="1"/>
            <a:r>
              <a:rPr lang="en-GB" dirty="0"/>
              <a:t>forecasting; </a:t>
            </a:r>
          </a:p>
          <a:p>
            <a:pPr lvl="1"/>
            <a:r>
              <a:rPr lang="en-GB" dirty="0"/>
              <a:t>online monitoring; </a:t>
            </a:r>
          </a:p>
          <a:p>
            <a:pPr lvl="1"/>
            <a:r>
              <a:rPr lang="en-GB" dirty="0"/>
              <a:t>autoregressive modelling. </a:t>
            </a:r>
          </a:p>
          <a:p>
            <a:endParaRPr lang="en-GB" dirty="0"/>
          </a:p>
        </p:txBody>
      </p:sp>
      <p:sp>
        <p:nvSpPr>
          <p:cNvPr id="4" name="Segnaposto contenuto 3">
            <a:extLst>
              <a:ext uri="{FF2B5EF4-FFF2-40B4-BE49-F238E27FC236}">
                <a16:creationId xmlns:a16="http://schemas.microsoft.com/office/drawing/2014/main" id="{111B6FD5-B843-8289-A593-69C45F3A98F5}"/>
              </a:ext>
            </a:extLst>
          </p:cNvPr>
          <p:cNvSpPr>
            <a:spLocks noGrp="1"/>
          </p:cNvSpPr>
          <p:nvPr>
            <p:ph sz="half" idx="2"/>
          </p:nvPr>
        </p:nvSpPr>
        <p:spPr>
          <a:xfrm>
            <a:off x="6607484" y="2160589"/>
            <a:ext cx="4822515" cy="4376398"/>
          </a:xfrm>
        </p:spPr>
        <p:txBody>
          <a:bodyPr>
            <a:normAutofit lnSpcReduction="10000"/>
          </a:bodyPr>
          <a:lstStyle/>
          <a:p>
            <a:r>
              <a:rPr lang="en-GB" b="1" dirty="0"/>
              <a:t>Other masks are possible</a:t>
            </a:r>
          </a:p>
          <a:p>
            <a:r>
              <a:rPr lang="en-GB" dirty="0"/>
              <a:t>A model could restrict attention to:</a:t>
            </a:r>
          </a:p>
          <a:p>
            <a:pPr lvl="1"/>
            <a:r>
              <a:rPr lang="en-GB" dirty="0"/>
              <a:t>a local temporal </a:t>
            </a:r>
            <a:r>
              <a:rPr lang="en-GB" dirty="0" err="1"/>
              <a:t>neighborhood</a:t>
            </a:r>
            <a:r>
              <a:rPr lang="en-GB" dirty="0"/>
              <a:t>; </a:t>
            </a:r>
          </a:p>
          <a:p>
            <a:pPr lvl="1"/>
            <a:r>
              <a:rPr lang="en-GB" dirty="0"/>
              <a:t>selected sparse positions; </a:t>
            </a:r>
          </a:p>
          <a:p>
            <a:pPr lvl="1"/>
            <a:r>
              <a:rPr lang="en-GB" dirty="0"/>
              <a:t>particular temporal blocks. </a:t>
            </a:r>
          </a:p>
          <a:p>
            <a:r>
              <a:rPr lang="en-GB" dirty="0"/>
              <a:t>These can reduce computational cost or encode domain structure.</a:t>
            </a:r>
          </a:p>
          <a:p>
            <a:r>
              <a:rPr lang="en-GB" dirty="0"/>
              <a:t>For this course, the essential distinction is:</a:t>
            </a:r>
          </a:p>
          <a:p>
            <a:r>
              <a:rPr lang="en-GB" b="1" dirty="0"/>
              <a:t>full self-attention versus causal self-attention</a:t>
            </a:r>
            <a:r>
              <a:rPr lang="en-GB" dirty="0"/>
              <a:t>.</a:t>
            </a:r>
          </a:p>
          <a:p>
            <a:endParaRPr lang="en-GB" dirty="0"/>
          </a:p>
        </p:txBody>
      </p:sp>
    </p:spTree>
    <p:extLst>
      <p:ext uri="{BB962C8B-B14F-4D97-AF65-F5344CB8AC3E}">
        <p14:creationId xmlns:p14="http://schemas.microsoft.com/office/powerpoint/2010/main" val="8154218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31168" y="0"/>
            <a:ext cx="557784" cy="6858000"/>
          </a:xfrm>
          <a:prstGeom prst="rect">
            <a:avLst/>
          </a:prstGeom>
          <a:solidFill>
            <a:srgbClr val="79A80D">
              <a:alpha val="82000"/>
            </a:srgbClr>
          </a:solidFill>
          <a:ln w="12700">
            <a:solidFill>
              <a:srgbClr val="79A80D">
                <a:alpha val="0"/>
              </a:srgbClr>
            </a:solidFill>
            <a:prstDash val="solid"/>
          </a:ln>
        </p:spPr>
        <p:txBody>
          <a:bodyPr/>
          <a:lstStyle/>
          <a:p>
            <a:endParaRPr lang="en-GB"/>
          </a:p>
        </p:txBody>
      </p:sp>
      <p:sp>
        <p:nvSpPr>
          <p:cNvPr id="3" name="Text 1"/>
          <p:cNvSpPr/>
          <p:nvPr/>
        </p:nvSpPr>
        <p:spPr>
          <a:xfrm>
            <a:off x="594360" y="411480"/>
            <a:ext cx="9144000" cy="47548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Attention masks depend on the task</a:t>
            </a:r>
            <a:endParaRPr lang="en-US" sz="2400" dirty="0"/>
          </a:p>
        </p:txBody>
      </p:sp>
      <p:sp>
        <p:nvSpPr>
          <p:cNvPr id="4" name="Text 2"/>
          <p:cNvSpPr/>
          <p:nvPr/>
        </p:nvSpPr>
        <p:spPr>
          <a:xfrm>
            <a:off x="621792" y="960120"/>
            <a:ext cx="9144000" cy="320040"/>
          </a:xfrm>
          <a:prstGeom prst="rect">
            <a:avLst/>
          </a:prstGeom>
          <a:noFill/>
          <a:ln/>
        </p:spPr>
        <p:txBody>
          <a:bodyPr wrap="square" lIns="0" tIns="0" rIns="0" bIns="0" rtlCol="0" anchor="ctr"/>
          <a:lstStyle/>
          <a:p>
            <a:pPr marL="0" indent="0">
              <a:buNone/>
            </a:pPr>
            <a:r>
              <a:rPr lang="en-US" sz="1250" dirty="0">
                <a:solidFill>
                  <a:srgbClr val="475569"/>
                </a:solidFill>
              </a:rPr>
              <a:t>Full and causal masks are the essential distinction; other masks are possible.</a:t>
            </a:r>
            <a:endParaRPr lang="en-US" sz="1250" dirty="0"/>
          </a:p>
        </p:txBody>
      </p:sp>
      <p:sp>
        <p:nvSpPr>
          <p:cNvPr id="5" name="Text 3"/>
          <p:cNvSpPr/>
          <p:nvPr/>
        </p:nvSpPr>
        <p:spPr>
          <a:xfrm>
            <a:off x="914400" y="1691640"/>
            <a:ext cx="1188720" cy="16459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ptos" pitchFamily="34" charset="0"/>
                <a:ea typeface="Aptos" pitchFamily="34" charset="-122"/>
                <a:cs typeface="Aptos" pitchFamily="34" charset="-120"/>
              </a:rPr>
              <a:t>Full</a:t>
            </a:r>
            <a:endParaRPr lang="en-US" sz="1050" dirty="0"/>
          </a:p>
        </p:txBody>
      </p:sp>
      <p:sp>
        <p:nvSpPr>
          <p:cNvPr id="6" name="Shape 4"/>
          <p:cNvSpPr/>
          <p:nvPr/>
        </p:nvSpPr>
        <p:spPr>
          <a:xfrm>
            <a:off x="914400"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7" name="Shape 5"/>
          <p:cNvSpPr/>
          <p:nvPr/>
        </p:nvSpPr>
        <p:spPr>
          <a:xfrm>
            <a:off x="1078992"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8" name="Shape 6"/>
          <p:cNvSpPr/>
          <p:nvPr/>
        </p:nvSpPr>
        <p:spPr>
          <a:xfrm>
            <a:off x="1243584"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9" name="Shape 7"/>
          <p:cNvSpPr/>
          <p:nvPr/>
        </p:nvSpPr>
        <p:spPr>
          <a:xfrm>
            <a:off x="1408176"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10" name="Shape 8"/>
          <p:cNvSpPr/>
          <p:nvPr/>
        </p:nvSpPr>
        <p:spPr>
          <a:xfrm>
            <a:off x="1572768"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11" name="Shape 9"/>
          <p:cNvSpPr/>
          <p:nvPr/>
        </p:nvSpPr>
        <p:spPr>
          <a:xfrm>
            <a:off x="1737360"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12" name="Shape 10"/>
          <p:cNvSpPr/>
          <p:nvPr/>
        </p:nvSpPr>
        <p:spPr>
          <a:xfrm>
            <a:off x="914400"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3" name="Shape 11"/>
          <p:cNvSpPr/>
          <p:nvPr/>
        </p:nvSpPr>
        <p:spPr>
          <a:xfrm>
            <a:off x="1078992"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4" name="Shape 12"/>
          <p:cNvSpPr/>
          <p:nvPr/>
        </p:nvSpPr>
        <p:spPr>
          <a:xfrm>
            <a:off x="1243584"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5" name="Shape 13"/>
          <p:cNvSpPr/>
          <p:nvPr/>
        </p:nvSpPr>
        <p:spPr>
          <a:xfrm>
            <a:off x="1408176"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6" name="Shape 14"/>
          <p:cNvSpPr/>
          <p:nvPr/>
        </p:nvSpPr>
        <p:spPr>
          <a:xfrm>
            <a:off x="1572768"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7" name="Shape 15"/>
          <p:cNvSpPr/>
          <p:nvPr/>
        </p:nvSpPr>
        <p:spPr>
          <a:xfrm>
            <a:off x="1737360"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8" name="Shape 16"/>
          <p:cNvSpPr/>
          <p:nvPr/>
        </p:nvSpPr>
        <p:spPr>
          <a:xfrm>
            <a:off x="914400"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19" name="Shape 17"/>
          <p:cNvSpPr/>
          <p:nvPr/>
        </p:nvSpPr>
        <p:spPr>
          <a:xfrm>
            <a:off x="1078992"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20" name="Shape 18"/>
          <p:cNvSpPr/>
          <p:nvPr/>
        </p:nvSpPr>
        <p:spPr>
          <a:xfrm>
            <a:off x="1243584"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21" name="Shape 19"/>
          <p:cNvSpPr/>
          <p:nvPr/>
        </p:nvSpPr>
        <p:spPr>
          <a:xfrm>
            <a:off x="1408176"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22" name="Shape 20"/>
          <p:cNvSpPr/>
          <p:nvPr/>
        </p:nvSpPr>
        <p:spPr>
          <a:xfrm>
            <a:off x="1572768"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23" name="Shape 21"/>
          <p:cNvSpPr/>
          <p:nvPr/>
        </p:nvSpPr>
        <p:spPr>
          <a:xfrm>
            <a:off x="1737360"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24" name="Shape 22"/>
          <p:cNvSpPr/>
          <p:nvPr/>
        </p:nvSpPr>
        <p:spPr>
          <a:xfrm>
            <a:off x="914400"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25" name="Shape 23"/>
          <p:cNvSpPr/>
          <p:nvPr/>
        </p:nvSpPr>
        <p:spPr>
          <a:xfrm>
            <a:off x="1078992"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26" name="Shape 24"/>
          <p:cNvSpPr/>
          <p:nvPr/>
        </p:nvSpPr>
        <p:spPr>
          <a:xfrm>
            <a:off x="1243584"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27" name="Shape 25"/>
          <p:cNvSpPr/>
          <p:nvPr/>
        </p:nvSpPr>
        <p:spPr>
          <a:xfrm>
            <a:off x="1408176"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28" name="Shape 26"/>
          <p:cNvSpPr/>
          <p:nvPr/>
        </p:nvSpPr>
        <p:spPr>
          <a:xfrm>
            <a:off x="1572768"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29" name="Shape 27"/>
          <p:cNvSpPr/>
          <p:nvPr/>
        </p:nvSpPr>
        <p:spPr>
          <a:xfrm>
            <a:off x="1737360"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30" name="Shape 28"/>
          <p:cNvSpPr/>
          <p:nvPr/>
        </p:nvSpPr>
        <p:spPr>
          <a:xfrm>
            <a:off x="914400"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31" name="Shape 29"/>
          <p:cNvSpPr/>
          <p:nvPr/>
        </p:nvSpPr>
        <p:spPr>
          <a:xfrm>
            <a:off x="1078992"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32" name="Shape 30"/>
          <p:cNvSpPr/>
          <p:nvPr/>
        </p:nvSpPr>
        <p:spPr>
          <a:xfrm>
            <a:off x="1243584"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33" name="Shape 31"/>
          <p:cNvSpPr/>
          <p:nvPr/>
        </p:nvSpPr>
        <p:spPr>
          <a:xfrm>
            <a:off x="1408176"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34" name="Shape 32"/>
          <p:cNvSpPr/>
          <p:nvPr/>
        </p:nvSpPr>
        <p:spPr>
          <a:xfrm>
            <a:off x="1572768"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35" name="Shape 33"/>
          <p:cNvSpPr/>
          <p:nvPr/>
        </p:nvSpPr>
        <p:spPr>
          <a:xfrm>
            <a:off x="1737360"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36" name="Shape 34"/>
          <p:cNvSpPr/>
          <p:nvPr/>
        </p:nvSpPr>
        <p:spPr>
          <a:xfrm>
            <a:off x="914400"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37" name="Shape 35"/>
          <p:cNvSpPr/>
          <p:nvPr/>
        </p:nvSpPr>
        <p:spPr>
          <a:xfrm>
            <a:off x="1078992"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38" name="Shape 36"/>
          <p:cNvSpPr/>
          <p:nvPr/>
        </p:nvSpPr>
        <p:spPr>
          <a:xfrm>
            <a:off x="1243584"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39" name="Shape 37"/>
          <p:cNvSpPr/>
          <p:nvPr/>
        </p:nvSpPr>
        <p:spPr>
          <a:xfrm>
            <a:off x="1408176"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40" name="Shape 38"/>
          <p:cNvSpPr/>
          <p:nvPr/>
        </p:nvSpPr>
        <p:spPr>
          <a:xfrm>
            <a:off x="1572768"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41" name="Shape 39"/>
          <p:cNvSpPr/>
          <p:nvPr/>
        </p:nvSpPr>
        <p:spPr>
          <a:xfrm>
            <a:off x="1737360"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42" name="Text 40"/>
          <p:cNvSpPr/>
          <p:nvPr/>
        </p:nvSpPr>
        <p:spPr>
          <a:xfrm>
            <a:off x="2971800" y="1691640"/>
            <a:ext cx="1188720" cy="16459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ptos" pitchFamily="34" charset="0"/>
                <a:ea typeface="Aptos" pitchFamily="34" charset="-122"/>
                <a:cs typeface="Aptos" pitchFamily="34" charset="-120"/>
              </a:rPr>
              <a:t>Causal</a:t>
            </a:r>
            <a:endParaRPr lang="en-US" sz="1050" dirty="0"/>
          </a:p>
        </p:txBody>
      </p:sp>
      <p:sp>
        <p:nvSpPr>
          <p:cNvPr id="43" name="Shape 41"/>
          <p:cNvSpPr/>
          <p:nvPr/>
        </p:nvSpPr>
        <p:spPr>
          <a:xfrm>
            <a:off x="2971800"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44" name="Shape 42"/>
          <p:cNvSpPr/>
          <p:nvPr/>
        </p:nvSpPr>
        <p:spPr>
          <a:xfrm>
            <a:off x="3136392"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45" name="Shape 43"/>
          <p:cNvSpPr/>
          <p:nvPr/>
        </p:nvSpPr>
        <p:spPr>
          <a:xfrm>
            <a:off x="3300984"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46" name="Shape 44"/>
          <p:cNvSpPr/>
          <p:nvPr/>
        </p:nvSpPr>
        <p:spPr>
          <a:xfrm>
            <a:off x="3465576"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47" name="Shape 45"/>
          <p:cNvSpPr/>
          <p:nvPr/>
        </p:nvSpPr>
        <p:spPr>
          <a:xfrm>
            <a:off x="3630168"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48" name="Shape 46"/>
          <p:cNvSpPr/>
          <p:nvPr/>
        </p:nvSpPr>
        <p:spPr>
          <a:xfrm>
            <a:off x="3794760"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49" name="Shape 47"/>
          <p:cNvSpPr/>
          <p:nvPr/>
        </p:nvSpPr>
        <p:spPr>
          <a:xfrm>
            <a:off x="2971800"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50" name="Shape 48"/>
          <p:cNvSpPr/>
          <p:nvPr/>
        </p:nvSpPr>
        <p:spPr>
          <a:xfrm>
            <a:off x="3136392"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51" name="Shape 49"/>
          <p:cNvSpPr/>
          <p:nvPr/>
        </p:nvSpPr>
        <p:spPr>
          <a:xfrm>
            <a:off x="3300984"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52" name="Shape 50"/>
          <p:cNvSpPr/>
          <p:nvPr/>
        </p:nvSpPr>
        <p:spPr>
          <a:xfrm>
            <a:off x="3465576"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53" name="Shape 51"/>
          <p:cNvSpPr/>
          <p:nvPr/>
        </p:nvSpPr>
        <p:spPr>
          <a:xfrm>
            <a:off x="3630168"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54" name="Shape 52"/>
          <p:cNvSpPr/>
          <p:nvPr/>
        </p:nvSpPr>
        <p:spPr>
          <a:xfrm>
            <a:off x="3794760"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55" name="Shape 53"/>
          <p:cNvSpPr/>
          <p:nvPr/>
        </p:nvSpPr>
        <p:spPr>
          <a:xfrm>
            <a:off x="2971800"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56" name="Shape 54"/>
          <p:cNvSpPr/>
          <p:nvPr/>
        </p:nvSpPr>
        <p:spPr>
          <a:xfrm>
            <a:off x="3136392"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57" name="Shape 55"/>
          <p:cNvSpPr/>
          <p:nvPr/>
        </p:nvSpPr>
        <p:spPr>
          <a:xfrm>
            <a:off x="3300984"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58" name="Shape 56"/>
          <p:cNvSpPr/>
          <p:nvPr/>
        </p:nvSpPr>
        <p:spPr>
          <a:xfrm>
            <a:off x="3465576"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59" name="Shape 57"/>
          <p:cNvSpPr/>
          <p:nvPr/>
        </p:nvSpPr>
        <p:spPr>
          <a:xfrm>
            <a:off x="3630168"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60" name="Shape 58"/>
          <p:cNvSpPr/>
          <p:nvPr/>
        </p:nvSpPr>
        <p:spPr>
          <a:xfrm>
            <a:off x="3794760"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61" name="Shape 59"/>
          <p:cNvSpPr/>
          <p:nvPr/>
        </p:nvSpPr>
        <p:spPr>
          <a:xfrm>
            <a:off x="2971800"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62" name="Shape 60"/>
          <p:cNvSpPr/>
          <p:nvPr/>
        </p:nvSpPr>
        <p:spPr>
          <a:xfrm>
            <a:off x="3136392"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63" name="Shape 61"/>
          <p:cNvSpPr/>
          <p:nvPr/>
        </p:nvSpPr>
        <p:spPr>
          <a:xfrm>
            <a:off x="3300984"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64" name="Shape 62"/>
          <p:cNvSpPr/>
          <p:nvPr/>
        </p:nvSpPr>
        <p:spPr>
          <a:xfrm>
            <a:off x="3465576"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65" name="Shape 63"/>
          <p:cNvSpPr/>
          <p:nvPr/>
        </p:nvSpPr>
        <p:spPr>
          <a:xfrm>
            <a:off x="3630168"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66" name="Shape 64"/>
          <p:cNvSpPr/>
          <p:nvPr/>
        </p:nvSpPr>
        <p:spPr>
          <a:xfrm>
            <a:off x="3794760"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67" name="Shape 65"/>
          <p:cNvSpPr/>
          <p:nvPr/>
        </p:nvSpPr>
        <p:spPr>
          <a:xfrm>
            <a:off x="2971800"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68" name="Shape 66"/>
          <p:cNvSpPr/>
          <p:nvPr/>
        </p:nvSpPr>
        <p:spPr>
          <a:xfrm>
            <a:off x="3136392"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69" name="Shape 67"/>
          <p:cNvSpPr/>
          <p:nvPr/>
        </p:nvSpPr>
        <p:spPr>
          <a:xfrm>
            <a:off x="3300984"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70" name="Shape 68"/>
          <p:cNvSpPr/>
          <p:nvPr/>
        </p:nvSpPr>
        <p:spPr>
          <a:xfrm>
            <a:off x="3465576"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71" name="Shape 69"/>
          <p:cNvSpPr/>
          <p:nvPr/>
        </p:nvSpPr>
        <p:spPr>
          <a:xfrm>
            <a:off x="3630168"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72" name="Shape 70"/>
          <p:cNvSpPr/>
          <p:nvPr/>
        </p:nvSpPr>
        <p:spPr>
          <a:xfrm>
            <a:off x="3794760"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73" name="Shape 71"/>
          <p:cNvSpPr/>
          <p:nvPr/>
        </p:nvSpPr>
        <p:spPr>
          <a:xfrm>
            <a:off x="2971800"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74" name="Shape 72"/>
          <p:cNvSpPr/>
          <p:nvPr/>
        </p:nvSpPr>
        <p:spPr>
          <a:xfrm>
            <a:off x="3136392"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75" name="Shape 73"/>
          <p:cNvSpPr/>
          <p:nvPr/>
        </p:nvSpPr>
        <p:spPr>
          <a:xfrm>
            <a:off x="3300984"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76" name="Shape 74"/>
          <p:cNvSpPr/>
          <p:nvPr/>
        </p:nvSpPr>
        <p:spPr>
          <a:xfrm>
            <a:off x="3465576"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77" name="Shape 75"/>
          <p:cNvSpPr/>
          <p:nvPr/>
        </p:nvSpPr>
        <p:spPr>
          <a:xfrm>
            <a:off x="3630168"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78" name="Shape 76"/>
          <p:cNvSpPr/>
          <p:nvPr/>
        </p:nvSpPr>
        <p:spPr>
          <a:xfrm>
            <a:off x="3794760"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79" name="Text 77"/>
          <p:cNvSpPr/>
          <p:nvPr/>
        </p:nvSpPr>
        <p:spPr>
          <a:xfrm>
            <a:off x="5029200" y="1691640"/>
            <a:ext cx="1188720" cy="16459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ptos" pitchFamily="34" charset="0"/>
                <a:ea typeface="Aptos" pitchFamily="34" charset="-122"/>
                <a:cs typeface="Aptos" pitchFamily="34" charset="-120"/>
              </a:rPr>
              <a:t>Local</a:t>
            </a:r>
            <a:endParaRPr lang="en-US" sz="1050" dirty="0"/>
          </a:p>
        </p:txBody>
      </p:sp>
      <p:sp>
        <p:nvSpPr>
          <p:cNvPr id="80" name="Shape 78"/>
          <p:cNvSpPr/>
          <p:nvPr/>
        </p:nvSpPr>
        <p:spPr>
          <a:xfrm>
            <a:off x="5029200"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81" name="Shape 79"/>
          <p:cNvSpPr/>
          <p:nvPr/>
        </p:nvSpPr>
        <p:spPr>
          <a:xfrm>
            <a:off x="5193792"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82" name="Shape 80"/>
          <p:cNvSpPr/>
          <p:nvPr/>
        </p:nvSpPr>
        <p:spPr>
          <a:xfrm>
            <a:off x="5358384"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83" name="Shape 81"/>
          <p:cNvSpPr/>
          <p:nvPr/>
        </p:nvSpPr>
        <p:spPr>
          <a:xfrm>
            <a:off x="5522976"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84" name="Shape 82"/>
          <p:cNvSpPr/>
          <p:nvPr/>
        </p:nvSpPr>
        <p:spPr>
          <a:xfrm>
            <a:off x="5687568"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85" name="Shape 83"/>
          <p:cNvSpPr/>
          <p:nvPr/>
        </p:nvSpPr>
        <p:spPr>
          <a:xfrm>
            <a:off x="5852160"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86" name="Shape 84"/>
          <p:cNvSpPr/>
          <p:nvPr/>
        </p:nvSpPr>
        <p:spPr>
          <a:xfrm>
            <a:off x="5029200"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87" name="Shape 85"/>
          <p:cNvSpPr/>
          <p:nvPr/>
        </p:nvSpPr>
        <p:spPr>
          <a:xfrm>
            <a:off x="5193792"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88" name="Shape 86"/>
          <p:cNvSpPr/>
          <p:nvPr/>
        </p:nvSpPr>
        <p:spPr>
          <a:xfrm>
            <a:off x="5358384"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89" name="Shape 87"/>
          <p:cNvSpPr/>
          <p:nvPr/>
        </p:nvSpPr>
        <p:spPr>
          <a:xfrm>
            <a:off x="5522976"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90" name="Shape 88"/>
          <p:cNvSpPr/>
          <p:nvPr/>
        </p:nvSpPr>
        <p:spPr>
          <a:xfrm>
            <a:off x="5687568"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91" name="Shape 89"/>
          <p:cNvSpPr/>
          <p:nvPr/>
        </p:nvSpPr>
        <p:spPr>
          <a:xfrm>
            <a:off x="5852160"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92" name="Shape 90"/>
          <p:cNvSpPr/>
          <p:nvPr/>
        </p:nvSpPr>
        <p:spPr>
          <a:xfrm>
            <a:off x="5029200"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93" name="Shape 91"/>
          <p:cNvSpPr/>
          <p:nvPr/>
        </p:nvSpPr>
        <p:spPr>
          <a:xfrm>
            <a:off x="5193792"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94" name="Shape 92"/>
          <p:cNvSpPr/>
          <p:nvPr/>
        </p:nvSpPr>
        <p:spPr>
          <a:xfrm>
            <a:off x="5358384"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95" name="Shape 93"/>
          <p:cNvSpPr/>
          <p:nvPr/>
        </p:nvSpPr>
        <p:spPr>
          <a:xfrm>
            <a:off x="5522976"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96" name="Shape 94"/>
          <p:cNvSpPr/>
          <p:nvPr/>
        </p:nvSpPr>
        <p:spPr>
          <a:xfrm>
            <a:off x="5687568"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97" name="Shape 95"/>
          <p:cNvSpPr/>
          <p:nvPr/>
        </p:nvSpPr>
        <p:spPr>
          <a:xfrm>
            <a:off x="5852160"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98" name="Shape 96"/>
          <p:cNvSpPr/>
          <p:nvPr/>
        </p:nvSpPr>
        <p:spPr>
          <a:xfrm>
            <a:off x="5029200"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99" name="Shape 97"/>
          <p:cNvSpPr/>
          <p:nvPr/>
        </p:nvSpPr>
        <p:spPr>
          <a:xfrm>
            <a:off x="5193792"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100" name="Shape 98"/>
          <p:cNvSpPr/>
          <p:nvPr/>
        </p:nvSpPr>
        <p:spPr>
          <a:xfrm>
            <a:off x="5358384"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101" name="Shape 99"/>
          <p:cNvSpPr/>
          <p:nvPr/>
        </p:nvSpPr>
        <p:spPr>
          <a:xfrm>
            <a:off x="5522976"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102" name="Shape 100"/>
          <p:cNvSpPr/>
          <p:nvPr/>
        </p:nvSpPr>
        <p:spPr>
          <a:xfrm>
            <a:off x="5687568"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103" name="Shape 101"/>
          <p:cNvSpPr/>
          <p:nvPr/>
        </p:nvSpPr>
        <p:spPr>
          <a:xfrm>
            <a:off x="5852160"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104" name="Shape 102"/>
          <p:cNvSpPr/>
          <p:nvPr/>
        </p:nvSpPr>
        <p:spPr>
          <a:xfrm>
            <a:off x="5029200"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105" name="Shape 103"/>
          <p:cNvSpPr/>
          <p:nvPr/>
        </p:nvSpPr>
        <p:spPr>
          <a:xfrm>
            <a:off x="5193792"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106" name="Shape 104"/>
          <p:cNvSpPr/>
          <p:nvPr/>
        </p:nvSpPr>
        <p:spPr>
          <a:xfrm>
            <a:off x="5358384"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107" name="Shape 105"/>
          <p:cNvSpPr/>
          <p:nvPr/>
        </p:nvSpPr>
        <p:spPr>
          <a:xfrm>
            <a:off x="5522976"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108" name="Shape 106"/>
          <p:cNvSpPr/>
          <p:nvPr/>
        </p:nvSpPr>
        <p:spPr>
          <a:xfrm>
            <a:off x="5687568"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109" name="Shape 107"/>
          <p:cNvSpPr/>
          <p:nvPr/>
        </p:nvSpPr>
        <p:spPr>
          <a:xfrm>
            <a:off x="5852160"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110" name="Shape 108"/>
          <p:cNvSpPr/>
          <p:nvPr/>
        </p:nvSpPr>
        <p:spPr>
          <a:xfrm>
            <a:off x="5029200"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11" name="Shape 109"/>
          <p:cNvSpPr/>
          <p:nvPr/>
        </p:nvSpPr>
        <p:spPr>
          <a:xfrm>
            <a:off x="5193792"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12" name="Shape 110"/>
          <p:cNvSpPr/>
          <p:nvPr/>
        </p:nvSpPr>
        <p:spPr>
          <a:xfrm>
            <a:off x="5358384"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13" name="Shape 111"/>
          <p:cNvSpPr/>
          <p:nvPr/>
        </p:nvSpPr>
        <p:spPr>
          <a:xfrm>
            <a:off x="5522976"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14" name="Shape 112"/>
          <p:cNvSpPr/>
          <p:nvPr/>
        </p:nvSpPr>
        <p:spPr>
          <a:xfrm>
            <a:off x="5687568"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115" name="Shape 113"/>
          <p:cNvSpPr/>
          <p:nvPr/>
        </p:nvSpPr>
        <p:spPr>
          <a:xfrm>
            <a:off x="5852160"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116" name="Text 114"/>
          <p:cNvSpPr/>
          <p:nvPr/>
        </p:nvSpPr>
        <p:spPr>
          <a:xfrm>
            <a:off x="7086600" y="1691640"/>
            <a:ext cx="1188720" cy="16459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ptos" pitchFamily="34" charset="0"/>
                <a:ea typeface="Aptos" pitchFamily="34" charset="-122"/>
                <a:cs typeface="Aptos" pitchFamily="34" charset="-120"/>
              </a:rPr>
              <a:t>Block/sparse</a:t>
            </a:r>
            <a:endParaRPr lang="en-US" sz="1050" dirty="0"/>
          </a:p>
        </p:txBody>
      </p:sp>
      <p:sp>
        <p:nvSpPr>
          <p:cNvPr id="117" name="Shape 115"/>
          <p:cNvSpPr/>
          <p:nvPr/>
        </p:nvSpPr>
        <p:spPr>
          <a:xfrm>
            <a:off x="7086600"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118" name="Shape 116"/>
          <p:cNvSpPr/>
          <p:nvPr/>
        </p:nvSpPr>
        <p:spPr>
          <a:xfrm>
            <a:off x="7251192" y="1920240"/>
            <a:ext cx="164592" cy="164592"/>
          </a:xfrm>
          <a:prstGeom prst="rect">
            <a:avLst/>
          </a:prstGeom>
          <a:solidFill>
            <a:srgbClr val="79A80D"/>
          </a:solidFill>
          <a:ln w="3810">
            <a:solidFill>
              <a:srgbClr val="FFFFFF"/>
            </a:solidFill>
            <a:prstDash val="solid"/>
          </a:ln>
        </p:spPr>
        <p:txBody>
          <a:bodyPr/>
          <a:lstStyle/>
          <a:p>
            <a:endParaRPr lang="en-GB"/>
          </a:p>
        </p:txBody>
      </p:sp>
      <p:sp>
        <p:nvSpPr>
          <p:cNvPr id="119" name="Shape 117"/>
          <p:cNvSpPr/>
          <p:nvPr/>
        </p:nvSpPr>
        <p:spPr>
          <a:xfrm>
            <a:off x="7415784"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120" name="Shape 118"/>
          <p:cNvSpPr/>
          <p:nvPr/>
        </p:nvSpPr>
        <p:spPr>
          <a:xfrm>
            <a:off x="7580376"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121" name="Shape 119"/>
          <p:cNvSpPr/>
          <p:nvPr/>
        </p:nvSpPr>
        <p:spPr>
          <a:xfrm>
            <a:off x="7744968"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122" name="Shape 120"/>
          <p:cNvSpPr/>
          <p:nvPr/>
        </p:nvSpPr>
        <p:spPr>
          <a:xfrm>
            <a:off x="7909560" y="1920240"/>
            <a:ext cx="164592" cy="164592"/>
          </a:xfrm>
          <a:prstGeom prst="rect">
            <a:avLst/>
          </a:prstGeom>
          <a:solidFill>
            <a:srgbClr val="E2E8F0"/>
          </a:solidFill>
          <a:ln w="3810">
            <a:solidFill>
              <a:srgbClr val="FFFFFF"/>
            </a:solidFill>
            <a:prstDash val="solid"/>
          </a:ln>
        </p:spPr>
        <p:txBody>
          <a:bodyPr/>
          <a:lstStyle/>
          <a:p>
            <a:endParaRPr lang="en-GB"/>
          </a:p>
        </p:txBody>
      </p:sp>
      <p:sp>
        <p:nvSpPr>
          <p:cNvPr id="123" name="Shape 121"/>
          <p:cNvSpPr/>
          <p:nvPr/>
        </p:nvSpPr>
        <p:spPr>
          <a:xfrm>
            <a:off x="7086600"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24" name="Shape 122"/>
          <p:cNvSpPr/>
          <p:nvPr/>
        </p:nvSpPr>
        <p:spPr>
          <a:xfrm>
            <a:off x="7251192" y="2084832"/>
            <a:ext cx="164592" cy="164592"/>
          </a:xfrm>
          <a:prstGeom prst="rect">
            <a:avLst/>
          </a:prstGeom>
          <a:solidFill>
            <a:srgbClr val="79A80D"/>
          </a:solidFill>
          <a:ln w="3810">
            <a:solidFill>
              <a:srgbClr val="FFFFFF"/>
            </a:solidFill>
            <a:prstDash val="solid"/>
          </a:ln>
        </p:spPr>
        <p:txBody>
          <a:bodyPr/>
          <a:lstStyle/>
          <a:p>
            <a:endParaRPr lang="en-GB"/>
          </a:p>
        </p:txBody>
      </p:sp>
      <p:sp>
        <p:nvSpPr>
          <p:cNvPr id="125" name="Shape 123"/>
          <p:cNvSpPr/>
          <p:nvPr/>
        </p:nvSpPr>
        <p:spPr>
          <a:xfrm>
            <a:off x="7415784"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126" name="Shape 124"/>
          <p:cNvSpPr/>
          <p:nvPr/>
        </p:nvSpPr>
        <p:spPr>
          <a:xfrm>
            <a:off x="7580376"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127" name="Shape 125"/>
          <p:cNvSpPr/>
          <p:nvPr/>
        </p:nvSpPr>
        <p:spPr>
          <a:xfrm>
            <a:off x="7744968"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128" name="Shape 126"/>
          <p:cNvSpPr/>
          <p:nvPr/>
        </p:nvSpPr>
        <p:spPr>
          <a:xfrm>
            <a:off x="7909560" y="2084832"/>
            <a:ext cx="164592" cy="164592"/>
          </a:xfrm>
          <a:prstGeom prst="rect">
            <a:avLst/>
          </a:prstGeom>
          <a:solidFill>
            <a:srgbClr val="E2E8F0"/>
          </a:solidFill>
          <a:ln w="3810">
            <a:solidFill>
              <a:srgbClr val="FFFFFF"/>
            </a:solidFill>
            <a:prstDash val="solid"/>
          </a:ln>
        </p:spPr>
        <p:txBody>
          <a:bodyPr/>
          <a:lstStyle/>
          <a:p>
            <a:endParaRPr lang="en-GB"/>
          </a:p>
        </p:txBody>
      </p:sp>
      <p:sp>
        <p:nvSpPr>
          <p:cNvPr id="129" name="Shape 127"/>
          <p:cNvSpPr/>
          <p:nvPr/>
        </p:nvSpPr>
        <p:spPr>
          <a:xfrm>
            <a:off x="7086600"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130" name="Shape 128"/>
          <p:cNvSpPr/>
          <p:nvPr/>
        </p:nvSpPr>
        <p:spPr>
          <a:xfrm>
            <a:off x="7251192"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131" name="Shape 129"/>
          <p:cNvSpPr/>
          <p:nvPr/>
        </p:nvSpPr>
        <p:spPr>
          <a:xfrm>
            <a:off x="7415784"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132" name="Shape 130"/>
          <p:cNvSpPr/>
          <p:nvPr/>
        </p:nvSpPr>
        <p:spPr>
          <a:xfrm>
            <a:off x="7580376" y="2249424"/>
            <a:ext cx="164592" cy="164592"/>
          </a:xfrm>
          <a:prstGeom prst="rect">
            <a:avLst/>
          </a:prstGeom>
          <a:solidFill>
            <a:srgbClr val="79A80D"/>
          </a:solidFill>
          <a:ln w="3810">
            <a:solidFill>
              <a:srgbClr val="FFFFFF"/>
            </a:solidFill>
            <a:prstDash val="solid"/>
          </a:ln>
        </p:spPr>
        <p:txBody>
          <a:bodyPr/>
          <a:lstStyle/>
          <a:p>
            <a:endParaRPr lang="en-GB"/>
          </a:p>
        </p:txBody>
      </p:sp>
      <p:sp>
        <p:nvSpPr>
          <p:cNvPr id="133" name="Shape 131"/>
          <p:cNvSpPr/>
          <p:nvPr/>
        </p:nvSpPr>
        <p:spPr>
          <a:xfrm>
            <a:off x="7744968"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134" name="Shape 132"/>
          <p:cNvSpPr/>
          <p:nvPr/>
        </p:nvSpPr>
        <p:spPr>
          <a:xfrm>
            <a:off x="7909560" y="2249424"/>
            <a:ext cx="164592" cy="164592"/>
          </a:xfrm>
          <a:prstGeom prst="rect">
            <a:avLst/>
          </a:prstGeom>
          <a:solidFill>
            <a:srgbClr val="E2E8F0"/>
          </a:solidFill>
          <a:ln w="3810">
            <a:solidFill>
              <a:srgbClr val="FFFFFF"/>
            </a:solidFill>
            <a:prstDash val="solid"/>
          </a:ln>
        </p:spPr>
        <p:txBody>
          <a:bodyPr/>
          <a:lstStyle/>
          <a:p>
            <a:endParaRPr lang="en-GB"/>
          </a:p>
        </p:txBody>
      </p:sp>
      <p:sp>
        <p:nvSpPr>
          <p:cNvPr id="135" name="Shape 133"/>
          <p:cNvSpPr/>
          <p:nvPr/>
        </p:nvSpPr>
        <p:spPr>
          <a:xfrm>
            <a:off x="7086600"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136" name="Shape 134"/>
          <p:cNvSpPr/>
          <p:nvPr/>
        </p:nvSpPr>
        <p:spPr>
          <a:xfrm>
            <a:off x="7251192"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137" name="Shape 135"/>
          <p:cNvSpPr/>
          <p:nvPr/>
        </p:nvSpPr>
        <p:spPr>
          <a:xfrm>
            <a:off x="7415784"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138" name="Shape 136"/>
          <p:cNvSpPr/>
          <p:nvPr/>
        </p:nvSpPr>
        <p:spPr>
          <a:xfrm>
            <a:off x="7580376" y="2414016"/>
            <a:ext cx="164592" cy="164592"/>
          </a:xfrm>
          <a:prstGeom prst="rect">
            <a:avLst/>
          </a:prstGeom>
          <a:solidFill>
            <a:srgbClr val="79A80D"/>
          </a:solidFill>
          <a:ln w="3810">
            <a:solidFill>
              <a:srgbClr val="FFFFFF"/>
            </a:solidFill>
            <a:prstDash val="solid"/>
          </a:ln>
        </p:spPr>
        <p:txBody>
          <a:bodyPr/>
          <a:lstStyle/>
          <a:p>
            <a:endParaRPr lang="en-GB"/>
          </a:p>
        </p:txBody>
      </p:sp>
      <p:sp>
        <p:nvSpPr>
          <p:cNvPr id="139" name="Shape 137"/>
          <p:cNvSpPr/>
          <p:nvPr/>
        </p:nvSpPr>
        <p:spPr>
          <a:xfrm>
            <a:off x="7744968"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140" name="Shape 138"/>
          <p:cNvSpPr/>
          <p:nvPr/>
        </p:nvSpPr>
        <p:spPr>
          <a:xfrm>
            <a:off x="7909560" y="2414016"/>
            <a:ext cx="164592" cy="164592"/>
          </a:xfrm>
          <a:prstGeom prst="rect">
            <a:avLst/>
          </a:prstGeom>
          <a:solidFill>
            <a:srgbClr val="E2E8F0"/>
          </a:solidFill>
          <a:ln w="3810">
            <a:solidFill>
              <a:srgbClr val="FFFFFF"/>
            </a:solidFill>
            <a:prstDash val="solid"/>
          </a:ln>
        </p:spPr>
        <p:txBody>
          <a:bodyPr/>
          <a:lstStyle/>
          <a:p>
            <a:endParaRPr lang="en-GB"/>
          </a:p>
        </p:txBody>
      </p:sp>
      <p:sp>
        <p:nvSpPr>
          <p:cNvPr id="141" name="Shape 139"/>
          <p:cNvSpPr/>
          <p:nvPr/>
        </p:nvSpPr>
        <p:spPr>
          <a:xfrm>
            <a:off x="7086600"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142" name="Shape 140"/>
          <p:cNvSpPr/>
          <p:nvPr/>
        </p:nvSpPr>
        <p:spPr>
          <a:xfrm>
            <a:off x="7251192"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143" name="Shape 141"/>
          <p:cNvSpPr/>
          <p:nvPr/>
        </p:nvSpPr>
        <p:spPr>
          <a:xfrm>
            <a:off x="7415784" y="2578608"/>
            <a:ext cx="164592" cy="164592"/>
          </a:xfrm>
          <a:prstGeom prst="rect">
            <a:avLst/>
          </a:prstGeom>
          <a:solidFill>
            <a:srgbClr val="E2E8F0"/>
          </a:solidFill>
          <a:ln w="3810">
            <a:solidFill>
              <a:srgbClr val="FFFFFF"/>
            </a:solidFill>
            <a:prstDash val="solid"/>
          </a:ln>
        </p:spPr>
        <p:txBody>
          <a:bodyPr/>
          <a:lstStyle/>
          <a:p>
            <a:endParaRPr lang="en-GB"/>
          </a:p>
        </p:txBody>
      </p:sp>
      <p:sp>
        <p:nvSpPr>
          <p:cNvPr id="144" name="Shape 142"/>
          <p:cNvSpPr/>
          <p:nvPr/>
        </p:nvSpPr>
        <p:spPr>
          <a:xfrm>
            <a:off x="7580376"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145" name="Shape 143"/>
          <p:cNvSpPr/>
          <p:nvPr/>
        </p:nvSpPr>
        <p:spPr>
          <a:xfrm>
            <a:off x="7744968"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146" name="Shape 144"/>
          <p:cNvSpPr/>
          <p:nvPr/>
        </p:nvSpPr>
        <p:spPr>
          <a:xfrm>
            <a:off x="7909560" y="2578608"/>
            <a:ext cx="164592" cy="164592"/>
          </a:xfrm>
          <a:prstGeom prst="rect">
            <a:avLst/>
          </a:prstGeom>
          <a:solidFill>
            <a:srgbClr val="79A80D"/>
          </a:solidFill>
          <a:ln w="3810">
            <a:solidFill>
              <a:srgbClr val="FFFFFF"/>
            </a:solidFill>
            <a:prstDash val="solid"/>
          </a:ln>
        </p:spPr>
        <p:txBody>
          <a:bodyPr/>
          <a:lstStyle/>
          <a:p>
            <a:endParaRPr lang="en-GB"/>
          </a:p>
        </p:txBody>
      </p:sp>
      <p:sp>
        <p:nvSpPr>
          <p:cNvPr id="147" name="Shape 145"/>
          <p:cNvSpPr/>
          <p:nvPr/>
        </p:nvSpPr>
        <p:spPr>
          <a:xfrm>
            <a:off x="7086600"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48" name="Shape 146"/>
          <p:cNvSpPr/>
          <p:nvPr/>
        </p:nvSpPr>
        <p:spPr>
          <a:xfrm>
            <a:off x="7251192"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49" name="Shape 147"/>
          <p:cNvSpPr/>
          <p:nvPr/>
        </p:nvSpPr>
        <p:spPr>
          <a:xfrm>
            <a:off x="7415784"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50" name="Shape 148"/>
          <p:cNvSpPr/>
          <p:nvPr/>
        </p:nvSpPr>
        <p:spPr>
          <a:xfrm>
            <a:off x="7580376" y="2743200"/>
            <a:ext cx="164592" cy="164592"/>
          </a:xfrm>
          <a:prstGeom prst="rect">
            <a:avLst/>
          </a:prstGeom>
          <a:solidFill>
            <a:srgbClr val="E2E8F0"/>
          </a:solidFill>
          <a:ln w="3810">
            <a:solidFill>
              <a:srgbClr val="FFFFFF"/>
            </a:solidFill>
            <a:prstDash val="solid"/>
          </a:ln>
        </p:spPr>
        <p:txBody>
          <a:bodyPr/>
          <a:lstStyle/>
          <a:p>
            <a:endParaRPr lang="en-GB"/>
          </a:p>
        </p:txBody>
      </p:sp>
      <p:sp>
        <p:nvSpPr>
          <p:cNvPr id="151" name="Shape 149"/>
          <p:cNvSpPr/>
          <p:nvPr/>
        </p:nvSpPr>
        <p:spPr>
          <a:xfrm>
            <a:off x="7744968"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152" name="Shape 150"/>
          <p:cNvSpPr/>
          <p:nvPr/>
        </p:nvSpPr>
        <p:spPr>
          <a:xfrm>
            <a:off x="7909560" y="2743200"/>
            <a:ext cx="164592" cy="164592"/>
          </a:xfrm>
          <a:prstGeom prst="rect">
            <a:avLst/>
          </a:prstGeom>
          <a:solidFill>
            <a:srgbClr val="79A80D"/>
          </a:solidFill>
          <a:ln w="3810">
            <a:solidFill>
              <a:srgbClr val="FFFFFF"/>
            </a:solidFill>
            <a:prstDash val="solid"/>
          </a:ln>
        </p:spPr>
        <p:txBody>
          <a:bodyPr/>
          <a:lstStyle/>
          <a:p>
            <a:endParaRPr lang="en-GB"/>
          </a:p>
        </p:txBody>
      </p:sp>
      <p:sp>
        <p:nvSpPr>
          <p:cNvPr id="153" name="Text 151"/>
          <p:cNvSpPr/>
          <p:nvPr/>
        </p:nvSpPr>
        <p:spPr>
          <a:xfrm>
            <a:off x="914400" y="3703320"/>
            <a:ext cx="1508760" cy="82296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200" dirty="0">
                <a:solidFill>
                  <a:srgbClr val="0F172A"/>
                </a:solidFill>
                <a:latin typeface="Aptos" pitchFamily="34" charset="0"/>
                <a:ea typeface="Aptos" pitchFamily="34" charset="-122"/>
                <a:cs typeface="Aptos" pitchFamily="34" charset="-120"/>
              </a:rPr>
              <a:t>Offline</a:t>
            </a:r>
            <a:endParaRPr lang="en-US" sz="1200" dirty="0"/>
          </a:p>
          <a:p>
            <a:pPr marL="0" indent="0" algn="ctr">
              <a:buNone/>
            </a:pPr>
            <a:r>
              <a:rPr lang="en-US" sz="1200" dirty="0">
                <a:solidFill>
                  <a:srgbClr val="0F172A"/>
                </a:solidFill>
                <a:latin typeface="Aptos" pitchFamily="34" charset="0"/>
                <a:ea typeface="Aptos" pitchFamily="34" charset="-122"/>
                <a:cs typeface="Aptos" pitchFamily="34" charset="-120"/>
              </a:rPr>
              <a:t>complete sequence</a:t>
            </a:r>
            <a:endParaRPr lang="en-US" sz="1200" dirty="0"/>
          </a:p>
        </p:txBody>
      </p:sp>
      <p:sp>
        <p:nvSpPr>
          <p:cNvPr id="154" name="Text 152"/>
          <p:cNvSpPr/>
          <p:nvPr/>
        </p:nvSpPr>
        <p:spPr>
          <a:xfrm>
            <a:off x="2971800" y="3703320"/>
            <a:ext cx="1508760" cy="82296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200" dirty="0">
                <a:solidFill>
                  <a:srgbClr val="0F172A"/>
                </a:solidFill>
                <a:latin typeface="Aptos" pitchFamily="34" charset="0"/>
                <a:ea typeface="Aptos" pitchFamily="34" charset="-122"/>
                <a:cs typeface="Aptos" pitchFamily="34" charset="-120"/>
              </a:rPr>
              <a:t>Forecasting</a:t>
            </a:r>
            <a:endParaRPr lang="en-US" sz="1200" dirty="0"/>
          </a:p>
          <a:p>
            <a:pPr marL="0" indent="0" algn="ctr">
              <a:buNone/>
            </a:pPr>
            <a:r>
              <a:rPr lang="en-US" sz="1200" dirty="0">
                <a:solidFill>
                  <a:srgbClr val="0F172A"/>
                </a:solidFill>
                <a:latin typeface="Aptos" pitchFamily="34" charset="0"/>
                <a:ea typeface="Aptos" pitchFamily="34" charset="-122"/>
                <a:cs typeface="Aptos" pitchFamily="34" charset="-120"/>
              </a:rPr>
              <a:t>online</a:t>
            </a:r>
            <a:endParaRPr lang="en-US" sz="1200" dirty="0"/>
          </a:p>
        </p:txBody>
      </p:sp>
      <p:sp>
        <p:nvSpPr>
          <p:cNvPr id="155" name="Text 153"/>
          <p:cNvSpPr/>
          <p:nvPr/>
        </p:nvSpPr>
        <p:spPr>
          <a:xfrm>
            <a:off x="5029200" y="3703320"/>
            <a:ext cx="1508760" cy="82296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200" dirty="0">
                <a:solidFill>
                  <a:srgbClr val="0F172A"/>
                </a:solidFill>
                <a:latin typeface="Aptos" pitchFamily="34" charset="0"/>
                <a:ea typeface="Aptos" pitchFamily="34" charset="-122"/>
                <a:cs typeface="Aptos" pitchFamily="34" charset="-120"/>
              </a:rPr>
              <a:t>Local context</a:t>
            </a:r>
            <a:endParaRPr lang="en-US" sz="1200" dirty="0"/>
          </a:p>
          <a:p>
            <a:pPr marL="0" indent="0" algn="ctr">
              <a:buNone/>
            </a:pPr>
            <a:r>
              <a:rPr lang="en-US" sz="1200" dirty="0">
                <a:solidFill>
                  <a:srgbClr val="0F172A"/>
                </a:solidFill>
                <a:latin typeface="Aptos" pitchFamily="34" charset="0"/>
                <a:ea typeface="Aptos" pitchFamily="34" charset="-122"/>
                <a:cs typeface="Aptos" pitchFamily="34" charset="-120"/>
              </a:rPr>
              <a:t>reduced cost</a:t>
            </a:r>
            <a:endParaRPr lang="en-US" sz="1200" dirty="0"/>
          </a:p>
        </p:txBody>
      </p:sp>
      <p:sp>
        <p:nvSpPr>
          <p:cNvPr id="156" name="Text 154"/>
          <p:cNvSpPr/>
          <p:nvPr/>
        </p:nvSpPr>
        <p:spPr>
          <a:xfrm>
            <a:off x="7086600" y="3703320"/>
            <a:ext cx="1508760" cy="822960"/>
          </a:xfrm>
          <a:prstGeom prst="rect">
            <a:avLst/>
          </a:prstGeom>
          <a:solidFill>
            <a:srgbClr val="EAF6D2"/>
          </a:solidFill>
          <a:ln w="15240">
            <a:solidFill>
              <a:srgbClr val="79A80D"/>
            </a:solidFill>
          </a:ln>
        </p:spPr>
        <p:txBody>
          <a:bodyPr wrap="square" lIns="635" tIns="635" rIns="635" bIns="635" rtlCol="0" anchor="ctr">
            <a:normAutofit/>
          </a:bodyPr>
          <a:lstStyle/>
          <a:p>
            <a:pPr marL="0" indent="0" algn="ctr">
              <a:buNone/>
            </a:pPr>
            <a:r>
              <a:rPr lang="en-US" sz="1200" dirty="0">
                <a:solidFill>
                  <a:srgbClr val="0F172A"/>
                </a:solidFill>
                <a:latin typeface="Aptos" pitchFamily="34" charset="0"/>
                <a:ea typeface="Aptos" pitchFamily="34" charset="-122"/>
                <a:cs typeface="Aptos" pitchFamily="34" charset="-120"/>
              </a:rPr>
              <a:t>Structured</a:t>
            </a:r>
            <a:endParaRPr lang="en-US" sz="1200" dirty="0"/>
          </a:p>
          <a:p>
            <a:pPr marL="0" indent="0" algn="ctr">
              <a:buNone/>
            </a:pPr>
            <a:r>
              <a:rPr lang="en-US" sz="1200" dirty="0">
                <a:solidFill>
                  <a:srgbClr val="0F172A"/>
                </a:solidFill>
                <a:latin typeface="Aptos" pitchFamily="34" charset="0"/>
                <a:ea typeface="Aptos" pitchFamily="34" charset="-122"/>
                <a:cs typeface="Aptos" pitchFamily="34" charset="-120"/>
              </a:rPr>
              <a:t>constraints</a:t>
            </a:r>
            <a:endParaRPr lang="en-US" sz="1200" dirty="0"/>
          </a:p>
        </p:txBody>
      </p:sp>
      <p:sp>
        <p:nvSpPr>
          <p:cNvPr id="157" name="Text 155"/>
          <p:cNvSpPr/>
          <p:nvPr/>
        </p:nvSpPr>
        <p:spPr>
          <a:xfrm>
            <a:off x="594360" y="6254496"/>
            <a:ext cx="9692640" cy="384048"/>
          </a:xfrm>
          <a:prstGeom prst="rect">
            <a:avLst/>
          </a:prstGeom>
          <a:solidFill>
            <a:srgbClr val="F8FAFC"/>
          </a:solidFill>
          <a:ln w="12700">
            <a:solidFill>
              <a:srgbClr val="CBD5E1"/>
            </a:solidFill>
          </a:ln>
        </p:spPr>
        <p:txBody>
          <a:bodyPr wrap="square" lIns="635" tIns="635" rIns="635" bIns="635" rtlCol="0" anchor="ctr">
            <a:normAutofit/>
          </a:bodyPr>
          <a:lstStyle/>
          <a:p>
            <a:pPr marL="0" indent="0">
              <a:buNone/>
            </a:pPr>
            <a:r>
              <a:rPr lang="en-US" sz="1110" dirty="0">
                <a:solidFill>
                  <a:srgbClr val="0F172A"/>
                </a:solidFill>
              </a:rPr>
              <a:t>The mask is part of the model specification because it defines the permitted information flow.</a:t>
            </a:r>
            <a:endParaRPr lang="en-US" sz="111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E90EEE-CA6C-8B8F-DFA9-962AC18766FE}"/>
              </a:ext>
            </a:extLst>
          </p:cNvPr>
          <p:cNvSpPr>
            <a:spLocks noGrp="1"/>
          </p:cNvSpPr>
          <p:nvPr>
            <p:ph type="title"/>
          </p:nvPr>
        </p:nvSpPr>
        <p:spPr/>
        <p:txBody>
          <a:bodyPr/>
          <a:lstStyle/>
          <a:p>
            <a:r>
              <a:rPr lang="en-GB" b="1" dirty="0"/>
              <a:t>Transition</a:t>
            </a:r>
            <a:br>
              <a:rPr lang="en-GB" b="1" dirty="0"/>
            </a:br>
            <a:endParaRPr lang="en-GB" dirty="0"/>
          </a:p>
        </p:txBody>
      </p:sp>
      <p:sp>
        <p:nvSpPr>
          <p:cNvPr id="3" name="Segnaposto contenuto 2">
            <a:extLst>
              <a:ext uri="{FF2B5EF4-FFF2-40B4-BE49-F238E27FC236}">
                <a16:creationId xmlns:a16="http://schemas.microsoft.com/office/drawing/2014/main" id="{681DD316-319E-86F4-4F31-32EEAC9B62A3}"/>
              </a:ext>
            </a:extLst>
          </p:cNvPr>
          <p:cNvSpPr>
            <a:spLocks noGrp="1"/>
          </p:cNvSpPr>
          <p:nvPr>
            <p:ph idx="1"/>
          </p:nvPr>
        </p:nvSpPr>
        <p:spPr/>
        <p:txBody>
          <a:bodyPr/>
          <a:lstStyle/>
          <a:p>
            <a:r>
              <a:rPr lang="en-GB" dirty="0"/>
              <a:t>Even with the correct causal mask, attention still needs to know:</a:t>
            </a:r>
          </a:p>
          <a:p>
            <a:pPr lvl="1"/>
            <a:r>
              <a:rPr lang="en-GB" b="1" dirty="0"/>
              <a:t>where each observation occurs; </a:t>
            </a:r>
          </a:p>
          <a:p>
            <a:pPr lvl="1"/>
            <a:r>
              <a:rPr lang="en-GB" b="1" dirty="0"/>
              <a:t>how far apart observations are. </a:t>
            </a:r>
          </a:p>
          <a:p>
            <a:r>
              <a:rPr lang="en-GB" dirty="0"/>
              <a:t>This leads to </a:t>
            </a:r>
            <a:r>
              <a:rPr lang="en-GB" b="1" dirty="0"/>
              <a:t>Block 6.E — Positional Information</a:t>
            </a:r>
            <a:r>
              <a:rPr lang="en-GB" dirty="0"/>
              <a:t>.</a:t>
            </a:r>
          </a:p>
          <a:p>
            <a:endParaRPr lang="en-GB" dirty="0"/>
          </a:p>
        </p:txBody>
      </p:sp>
    </p:spTree>
    <p:extLst>
      <p:ext uri="{BB962C8B-B14F-4D97-AF65-F5344CB8AC3E}">
        <p14:creationId xmlns:p14="http://schemas.microsoft.com/office/powerpoint/2010/main" val="8805798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14DA3A-3CD9-2CEA-CF24-D7A6D51E728B}"/>
              </a:ext>
            </a:extLst>
          </p:cNvPr>
          <p:cNvSpPr>
            <a:spLocks noGrp="1"/>
          </p:cNvSpPr>
          <p:nvPr>
            <p:ph type="title"/>
          </p:nvPr>
        </p:nvSpPr>
        <p:spPr/>
        <p:txBody>
          <a:bodyPr/>
          <a:lstStyle/>
          <a:p>
            <a:r>
              <a:rPr lang="en-GB" dirty="0"/>
              <a:t>Block 6.E — Why Temporal Position Must Be Represented</a:t>
            </a:r>
          </a:p>
        </p:txBody>
      </p:sp>
      <p:sp>
        <p:nvSpPr>
          <p:cNvPr id="3" name="Segnaposto contenuto 2">
            <a:extLst>
              <a:ext uri="{FF2B5EF4-FFF2-40B4-BE49-F238E27FC236}">
                <a16:creationId xmlns:a16="http://schemas.microsoft.com/office/drawing/2014/main" id="{CF739EAB-099F-CF45-7574-F598C8CAF659}"/>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1937439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2A1CC0-BDF5-A769-C172-C2AB53B91318}"/>
              </a:ext>
            </a:extLst>
          </p:cNvPr>
          <p:cNvSpPr>
            <a:spLocks noGrp="1"/>
          </p:cNvSpPr>
          <p:nvPr>
            <p:ph type="title"/>
          </p:nvPr>
        </p:nvSpPr>
        <p:spPr/>
        <p:txBody>
          <a:bodyPr/>
          <a:lstStyle/>
          <a:p>
            <a:r>
              <a:rPr lang="en-GB" dirty="0"/>
              <a:t>Self-attention does not inherently encode sequence order</a:t>
            </a:r>
          </a:p>
        </p:txBody>
      </p:sp>
      <p:sp>
        <p:nvSpPr>
          <p:cNvPr id="3" name="Segnaposto contenuto 2">
            <a:extLst>
              <a:ext uri="{FF2B5EF4-FFF2-40B4-BE49-F238E27FC236}">
                <a16:creationId xmlns:a16="http://schemas.microsoft.com/office/drawing/2014/main" id="{B6F57907-BE77-1511-1B9F-867626AA35B3}"/>
              </a:ext>
            </a:extLst>
          </p:cNvPr>
          <p:cNvSpPr>
            <a:spLocks noGrp="1"/>
          </p:cNvSpPr>
          <p:nvPr>
            <p:ph sz="half" idx="1"/>
          </p:nvPr>
        </p:nvSpPr>
        <p:spPr>
          <a:xfrm>
            <a:off x="677334" y="2160588"/>
            <a:ext cx="5418666" cy="4340419"/>
          </a:xfrm>
        </p:spPr>
        <p:txBody>
          <a:bodyPr>
            <a:normAutofit fontScale="92500" lnSpcReduction="20000"/>
          </a:bodyPr>
          <a:lstStyle/>
          <a:p>
            <a:r>
              <a:rPr lang="en-GB" dirty="0"/>
              <a:t>Self-attention compares the content of different positions.</a:t>
            </a:r>
          </a:p>
          <a:p>
            <a:r>
              <a:rPr lang="en-GB" dirty="0"/>
              <a:t>Suppose the input representations are: x[1], x[2], x[3], x[4]</a:t>
            </a:r>
          </a:p>
          <a:p>
            <a:r>
              <a:rPr lang="en-GB" dirty="0"/>
              <a:t>The attention mechanism can compute similarities among these representations.</a:t>
            </a:r>
          </a:p>
          <a:p>
            <a:r>
              <a:rPr lang="en-GB" dirty="0"/>
              <a:t>However, without additional positional information, it does not inherently know enough about:</a:t>
            </a:r>
          </a:p>
          <a:p>
            <a:pPr lvl="1"/>
            <a:r>
              <a:rPr lang="en-GB" dirty="0"/>
              <a:t>which observation came first; </a:t>
            </a:r>
          </a:p>
          <a:p>
            <a:pPr lvl="1"/>
            <a:r>
              <a:rPr lang="en-GB" dirty="0"/>
              <a:t>which came later; </a:t>
            </a:r>
          </a:p>
          <a:p>
            <a:pPr lvl="1"/>
            <a:r>
              <a:rPr lang="en-GB" dirty="0"/>
              <a:t>how far apart two observations are. </a:t>
            </a:r>
          </a:p>
          <a:p>
            <a:endParaRPr lang="en-GB" dirty="0"/>
          </a:p>
        </p:txBody>
      </p:sp>
      <p:sp>
        <p:nvSpPr>
          <p:cNvPr id="4" name="Segnaposto contenuto 3">
            <a:extLst>
              <a:ext uri="{FF2B5EF4-FFF2-40B4-BE49-F238E27FC236}">
                <a16:creationId xmlns:a16="http://schemas.microsoft.com/office/drawing/2014/main" id="{DE766700-B4F7-6F12-084C-44A7F011DB45}"/>
              </a:ext>
            </a:extLst>
          </p:cNvPr>
          <p:cNvSpPr>
            <a:spLocks noGrp="1"/>
          </p:cNvSpPr>
          <p:nvPr>
            <p:ph sz="half" idx="2"/>
          </p:nvPr>
        </p:nvSpPr>
        <p:spPr>
          <a:xfrm>
            <a:off x="6542988" y="2160588"/>
            <a:ext cx="5419367" cy="4490733"/>
          </a:xfrm>
        </p:spPr>
        <p:txBody>
          <a:bodyPr>
            <a:normAutofit fontScale="92500" lnSpcReduction="20000"/>
          </a:bodyPr>
          <a:lstStyle/>
          <a:p>
            <a:r>
              <a:rPr lang="en-GB" b="1" dirty="0"/>
              <a:t>Why this matters for time series</a:t>
            </a:r>
          </a:p>
          <a:p>
            <a:r>
              <a:rPr lang="en-GB" dirty="0"/>
              <a:t>Consider two sequences:</a:t>
            </a:r>
          </a:p>
          <a:p>
            <a:r>
              <a:rPr lang="en-GB" dirty="0"/>
              <a:t>Sequence A:</a:t>
            </a:r>
          </a:p>
          <a:p>
            <a:pPr lvl="1"/>
            <a:r>
              <a:rPr lang="en-GB" dirty="0"/>
              <a:t>temperature increase → pressure increase</a:t>
            </a:r>
          </a:p>
          <a:p>
            <a:r>
              <a:rPr lang="en-GB" dirty="0"/>
              <a:t>Sequence B:</a:t>
            </a:r>
          </a:p>
          <a:p>
            <a:pPr lvl="1"/>
            <a:r>
              <a:rPr lang="en-GB" dirty="0"/>
              <a:t>pressure increase → temperature increase</a:t>
            </a:r>
          </a:p>
          <a:p>
            <a:r>
              <a:rPr lang="en-GB" dirty="0"/>
              <a:t>They contain similar events, but their temporal order is different.</a:t>
            </a:r>
          </a:p>
          <a:p>
            <a:r>
              <a:rPr lang="en-GB" dirty="0"/>
              <a:t>For many applications, </a:t>
            </a:r>
            <a:r>
              <a:rPr lang="en-GB" b="1" dirty="0"/>
              <a:t>these sequences should not have the same interpretation.</a:t>
            </a:r>
          </a:p>
          <a:p>
            <a:endParaRPr lang="en-GB" dirty="0"/>
          </a:p>
          <a:p>
            <a:r>
              <a:rPr lang="en-GB" dirty="0">
                <a:highlight>
                  <a:srgbClr val="FFFF00"/>
                </a:highlight>
              </a:rPr>
              <a:t>Attention determines which representations are related, but temporal modelling also requires information about where those representations occur in time.</a:t>
            </a:r>
          </a:p>
          <a:p>
            <a:endParaRPr lang="en-GB" dirty="0"/>
          </a:p>
        </p:txBody>
      </p:sp>
    </p:spTree>
    <p:extLst>
      <p:ext uri="{BB962C8B-B14F-4D97-AF65-F5344CB8AC3E}">
        <p14:creationId xmlns:p14="http://schemas.microsoft.com/office/powerpoint/2010/main" val="20789052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Same content, different order: position matters</a:t>
            </a:r>
            <a:endParaRPr lang="it-IT" sz="2100" b="0" u="none" strike="noStrike">
              <a:solidFill>
                <a:srgbClr val="000000"/>
              </a:solidFill>
              <a:effectLst/>
              <a:uFillTx/>
              <a:latin typeface="Arial"/>
            </a:endParaRPr>
          </a:p>
        </p:txBody>
      </p:sp>
      <p:sp>
        <p:nvSpPr>
          <p:cNvPr id="35"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475569"/>
                </a:solidFill>
                <a:effectLst/>
                <a:uFillTx/>
                <a:latin typeface="Arial"/>
                <a:ea typeface="Arial"/>
              </a:rPr>
              <a:t>Temporal order can change the meaning of otherwise similar measurements.</a:t>
            </a:r>
            <a:endParaRPr lang="it-IT" sz="1000" b="0" u="none" strike="noStrike" dirty="0">
              <a:solidFill>
                <a:srgbClr val="000000"/>
              </a:solidFill>
              <a:effectLst/>
              <a:uFillTx/>
              <a:latin typeface="Arial"/>
            </a:endParaRPr>
          </a:p>
        </p:txBody>
      </p:sp>
      <p:sp>
        <p:nvSpPr>
          <p:cNvPr id="36" name="Text 4"/>
          <p:cNvSpPr/>
          <p:nvPr/>
        </p:nvSpPr>
        <p:spPr>
          <a:xfrm>
            <a:off x="1097280" y="15544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65A30D"/>
                </a:solidFill>
                <a:effectLst/>
                <a:uFillTx/>
                <a:latin typeface="Arial"/>
                <a:ea typeface="Arial"/>
              </a:rPr>
              <a:t>Sequence A</a:t>
            </a:r>
            <a:endParaRPr lang="it-IT" sz="1000" b="0" u="none" strike="noStrike">
              <a:solidFill>
                <a:srgbClr val="000000"/>
              </a:solidFill>
              <a:effectLst/>
              <a:uFillTx/>
              <a:latin typeface="Arial"/>
            </a:endParaRPr>
          </a:p>
        </p:txBody>
      </p:sp>
      <p:sp>
        <p:nvSpPr>
          <p:cNvPr id="37" name="Text 5"/>
          <p:cNvSpPr/>
          <p:nvPr/>
        </p:nvSpPr>
        <p:spPr>
          <a:xfrm>
            <a:off x="914400" y="1965960"/>
            <a:ext cx="685440" cy="38376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temp ↑</a:t>
            </a:r>
            <a:endParaRPr lang="it-IT" sz="700" b="0" u="none" strike="noStrike">
              <a:solidFill>
                <a:srgbClr val="000000"/>
              </a:solidFill>
              <a:effectLst/>
              <a:uFillTx/>
              <a:latin typeface="Arial"/>
            </a:endParaRPr>
          </a:p>
        </p:txBody>
      </p:sp>
      <p:sp>
        <p:nvSpPr>
          <p:cNvPr id="38" name="Text 6"/>
          <p:cNvSpPr/>
          <p:nvPr/>
        </p:nvSpPr>
        <p:spPr>
          <a:xfrm>
            <a:off x="1737360" y="1965960"/>
            <a:ext cx="685440" cy="38376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pressure ↑</a:t>
            </a:r>
            <a:endParaRPr lang="it-IT" sz="700" b="0" u="none" strike="noStrike">
              <a:solidFill>
                <a:srgbClr val="000000"/>
              </a:solidFill>
              <a:effectLst/>
              <a:uFillTx/>
              <a:latin typeface="Arial"/>
            </a:endParaRPr>
          </a:p>
        </p:txBody>
      </p:sp>
      <p:sp>
        <p:nvSpPr>
          <p:cNvPr id="39" name="Text 7"/>
          <p:cNvSpPr/>
          <p:nvPr/>
        </p:nvSpPr>
        <p:spPr>
          <a:xfrm>
            <a:off x="2560320" y="1965960"/>
            <a:ext cx="685440" cy="38376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stable</a:t>
            </a:r>
            <a:endParaRPr lang="it-IT" sz="700" b="0" u="none" strike="noStrike">
              <a:solidFill>
                <a:srgbClr val="000000"/>
              </a:solidFill>
              <a:effectLst/>
              <a:uFillTx/>
              <a:latin typeface="Arial"/>
            </a:endParaRPr>
          </a:p>
        </p:txBody>
      </p:sp>
      <p:sp>
        <p:nvSpPr>
          <p:cNvPr id="40" name="Text 8"/>
          <p:cNvSpPr/>
          <p:nvPr/>
        </p:nvSpPr>
        <p:spPr>
          <a:xfrm>
            <a:off x="3383280" y="1965960"/>
            <a:ext cx="685440" cy="38376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stable</a:t>
            </a:r>
            <a:endParaRPr lang="it-IT" sz="700" b="0" u="none" strike="noStrike">
              <a:solidFill>
                <a:srgbClr val="000000"/>
              </a:solidFill>
              <a:effectLst/>
              <a:uFillTx/>
              <a:latin typeface="Arial"/>
            </a:endParaRPr>
          </a:p>
        </p:txBody>
      </p:sp>
      <p:sp>
        <p:nvSpPr>
          <p:cNvPr id="41" name="Shape 9"/>
          <p:cNvSpPr/>
          <p:nvPr/>
        </p:nvSpPr>
        <p:spPr>
          <a:xfrm>
            <a:off x="1581840" y="2157840"/>
            <a:ext cx="137160" cy="360"/>
          </a:xfrm>
          <a:prstGeom prst="line">
            <a:avLst/>
          </a:prstGeom>
          <a:ln w="1143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2" name="Shape 10"/>
          <p:cNvSpPr/>
          <p:nvPr/>
        </p:nvSpPr>
        <p:spPr>
          <a:xfrm>
            <a:off x="2404800" y="2157840"/>
            <a:ext cx="137160" cy="360"/>
          </a:xfrm>
          <a:prstGeom prst="line">
            <a:avLst/>
          </a:prstGeom>
          <a:ln w="1143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3" name="Text 11"/>
          <p:cNvSpPr/>
          <p:nvPr/>
        </p:nvSpPr>
        <p:spPr>
          <a:xfrm>
            <a:off x="1097280" y="329184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8B5CF6"/>
                </a:solidFill>
                <a:effectLst/>
                <a:uFillTx/>
                <a:latin typeface="Arial"/>
                <a:ea typeface="Arial"/>
              </a:rPr>
              <a:t>Sequence B</a:t>
            </a:r>
            <a:endParaRPr lang="it-IT" sz="1000" b="0" u="none" strike="noStrike">
              <a:solidFill>
                <a:srgbClr val="000000"/>
              </a:solidFill>
              <a:effectLst/>
              <a:uFillTx/>
              <a:latin typeface="Arial"/>
            </a:endParaRPr>
          </a:p>
        </p:txBody>
      </p:sp>
      <p:sp>
        <p:nvSpPr>
          <p:cNvPr id="44" name="Text 12"/>
          <p:cNvSpPr/>
          <p:nvPr/>
        </p:nvSpPr>
        <p:spPr>
          <a:xfrm>
            <a:off x="914400" y="3703320"/>
            <a:ext cx="685440" cy="38376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pressure ↑</a:t>
            </a:r>
            <a:endParaRPr lang="it-IT" sz="700" b="0" u="none" strike="noStrike">
              <a:solidFill>
                <a:srgbClr val="000000"/>
              </a:solidFill>
              <a:effectLst/>
              <a:uFillTx/>
              <a:latin typeface="Arial"/>
            </a:endParaRPr>
          </a:p>
        </p:txBody>
      </p:sp>
      <p:sp>
        <p:nvSpPr>
          <p:cNvPr id="45" name="Text 13"/>
          <p:cNvSpPr/>
          <p:nvPr/>
        </p:nvSpPr>
        <p:spPr>
          <a:xfrm>
            <a:off x="1737360" y="3703320"/>
            <a:ext cx="685440" cy="38376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temp ↑</a:t>
            </a:r>
            <a:endParaRPr lang="it-IT" sz="700" b="0" u="none" strike="noStrike">
              <a:solidFill>
                <a:srgbClr val="000000"/>
              </a:solidFill>
              <a:effectLst/>
              <a:uFillTx/>
              <a:latin typeface="Arial"/>
            </a:endParaRPr>
          </a:p>
        </p:txBody>
      </p:sp>
      <p:sp>
        <p:nvSpPr>
          <p:cNvPr id="46" name="Text 14"/>
          <p:cNvSpPr/>
          <p:nvPr/>
        </p:nvSpPr>
        <p:spPr>
          <a:xfrm>
            <a:off x="2560320" y="3703320"/>
            <a:ext cx="685440" cy="38376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stable</a:t>
            </a:r>
            <a:endParaRPr lang="it-IT" sz="700" b="0" u="none" strike="noStrike">
              <a:solidFill>
                <a:srgbClr val="000000"/>
              </a:solidFill>
              <a:effectLst/>
              <a:uFillTx/>
              <a:latin typeface="Arial"/>
            </a:endParaRPr>
          </a:p>
        </p:txBody>
      </p:sp>
      <p:sp>
        <p:nvSpPr>
          <p:cNvPr id="47" name="Text 15"/>
          <p:cNvSpPr/>
          <p:nvPr/>
        </p:nvSpPr>
        <p:spPr>
          <a:xfrm>
            <a:off x="3383280" y="3703320"/>
            <a:ext cx="685440" cy="38376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stable</a:t>
            </a:r>
            <a:endParaRPr lang="it-IT" sz="700" b="0" u="none" strike="noStrike">
              <a:solidFill>
                <a:srgbClr val="000000"/>
              </a:solidFill>
              <a:effectLst/>
              <a:uFillTx/>
              <a:latin typeface="Arial"/>
            </a:endParaRPr>
          </a:p>
        </p:txBody>
      </p:sp>
      <p:sp>
        <p:nvSpPr>
          <p:cNvPr id="48" name="Shape 16"/>
          <p:cNvSpPr/>
          <p:nvPr/>
        </p:nvSpPr>
        <p:spPr>
          <a:xfrm>
            <a:off x="1581840" y="3895200"/>
            <a:ext cx="137160" cy="360"/>
          </a:xfrm>
          <a:prstGeom prst="line">
            <a:avLst/>
          </a:prstGeom>
          <a:ln w="1143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49" name="Shape 17"/>
          <p:cNvSpPr/>
          <p:nvPr/>
        </p:nvSpPr>
        <p:spPr>
          <a:xfrm>
            <a:off x="2404800" y="3895200"/>
            <a:ext cx="137160" cy="360"/>
          </a:xfrm>
          <a:prstGeom prst="line">
            <a:avLst/>
          </a:prstGeom>
          <a:ln w="1143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0" name="Text 18"/>
          <p:cNvSpPr/>
          <p:nvPr/>
        </p:nvSpPr>
        <p:spPr>
          <a:xfrm>
            <a:off x="4846320" y="2377440"/>
            <a:ext cx="1919880" cy="109692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300" b="1" u="none" strike="noStrike">
                <a:solidFill>
                  <a:srgbClr val="0F172A"/>
                </a:solidFill>
                <a:effectLst/>
                <a:uFillTx/>
                <a:latin typeface="Arial"/>
                <a:ea typeface="Arial"/>
              </a:rPr>
              <a:t>same set of events</a:t>
            </a:r>
            <a:endParaRPr lang="it-IT"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0F172A"/>
                </a:solidFill>
                <a:effectLst/>
                <a:uFillTx/>
                <a:latin typeface="Arial"/>
                <a:ea typeface="Arial"/>
              </a:rPr>
              <a:t>≠</a:t>
            </a:r>
            <a:endParaRPr lang="it-IT"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0F172A"/>
                </a:solidFill>
                <a:effectLst/>
                <a:uFillTx/>
                <a:latin typeface="Arial"/>
                <a:ea typeface="Arial"/>
              </a:rPr>
              <a:t>same temporal meaning</a:t>
            </a:r>
            <a:endParaRPr lang="it-IT" sz="1300" b="0" u="none" strike="noStrike">
              <a:solidFill>
                <a:srgbClr val="000000"/>
              </a:solidFill>
              <a:effectLst/>
              <a:uFillTx/>
              <a:latin typeface="Arial"/>
            </a:endParaRPr>
          </a:p>
        </p:txBody>
      </p:sp>
      <p:sp>
        <p:nvSpPr>
          <p:cNvPr id="51" name="Shape 19"/>
          <p:cNvSpPr/>
          <p:nvPr/>
        </p:nvSpPr>
        <p:spPr>
          <a:xfrm>
            <a:off x="4114800" y="2148840"/>
            <a:ext cx="685800" cy="594360"/>
          </a:xfrm>
          <a:prstGeom prst="line">
            <a:avLst/>
          </a:prstGeom>
          <a:ln w="1397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2" name="Shape 20"/>
          <p:cNvSpPr/>
          <p:nvPr/>
        </p:nvSpPr>
        <p:spPr>
          <a:xfrm flipV="1">
            <a:off x="4114800" y="3154680"/>
            <a:ext cx="685800" cy="731520"/>
          </a:xfrm>
          <a:prstGeom prst="line">
            <a:avLst/>
          </a:prstGeom>
          <a:ln w="1397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3" name="Text 21"/>
          <p:cNvSpPr/>
          <p:nvPr/>
        </p:nvSpPr>
        <p:spPr>
          <a:xfrm>
            <a:off x="7406640" y="1874520"/>
            <a:ext cx="2651400" cy="6854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A: temperature change</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precedes pressure change</a:t>
            </a:r>
            <a:endParaRPr lang="it-IT" sz="1000" b="0" u="none" strike="noStrike">
              <a:solidFill>
                <a:srgbClr val="000000"/>
              </a:solidFill>
              <a:effectLst/>
              <a:uFillTx/>
              <a:latin typeface="Arial"/>
            </a:endParaRPr>
          </a:p>
        </p:txBody>
      </p:sp>
      <p:sp>
        <p:nvSpPr>
          <p:cNvPr id="54" name="Text 22"/>
          <p:cNvSpPr/>
          <p:nvPr/>
        </p:nvSpPr>
        <p:spPr>
          <a:xfrm>
            <a:off x="7406640" y="3657600"/>
            <a:ext cx="2651400" cy="68544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B: pressure change</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precedes temperature change</a:t>
            </a:r>
            <a:endParaRPr lang="it-IT" sz="1000" b="0" u="none" strike="noStrike">
              <a:solidFill>
                <a:srgbClr val="000000"/>
              </a:solidFill>
              <a:effectLst/>
              <a:uFillTx/>
              <a:latin typeface="Arial"/>
            </a:endParaRPr>
          </a:p>
        </p:txBody>
      </p:sp>
      <p:sp>
        <p:nvSpPr>
          <p:cNvPr id="55" name="Shape 23"/>
          <p:cNvSpPr/>
          <p:nvPr/>
        </p:nvSpPr>
        <p:spPr>
          <a:xfrm flipV="1">
            <a:off x="6903720" y="2221920"/>
            <a:ext cx="457200" cy="521280"/>
          </a:xfrm>
          <a:prstGeom prst="line">
            <a:avLst/>
          </a:prstGeom>
          <a:ln w="1397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6" name="Shape 24"/>
          <p:cNvSpPr/>
          <p:nvPr/>
        </p:nvSpPr>
        <p:spPr>
          <a:xfrm>
            <a:off x="6903720" y="3154680"/>
            <a:ext cx="457200" cy="850320"/>
          </a:xfrm>
          <a:prstGeom prst="line">
            <a:avLst/>
          </a:prstGeom>
          <a:ln w="1397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7" name="Text 25"/>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475569"/>
                </a:solidFill>
                <a:effectLst/>
                <a:uFillTx/>
                <a:latin typeface="Arial"/>
              </a:rPr>
              <a:t>Self-attention compares content, but temporal tasks also require information about order and distance.</a:t>
            </a:r>
            <a:endParaRPr lang="it-IT" sz="1000" b="0" u="none" strike="noStrike" dirty="0">
              <a:solidFill>
                <a:srgbClr val="000000"/>
              </a:solidFill>
              <a:effectLst/>
              <a:uFillTx/>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D9F9FE-A0AF-08D5-90C5-9B5C8F00B378}"/>
              </a:ext>
            </a:extLst>
          </p:cNvPr>
          <p:cNvSpPr>
            <a:spLocks noGrp="1"/>
          </p:cNvSpPr>
          <p:nvPr>
            <p:ph type="title"/>
          </p:nvPr>
        </p:nvSpPr>
        <p:spPr/>
        <p:txBody>
          <a:bodyPr/>
          <a:lstStyle/>
          <a:p>
            <a:r>
              <a:rPr lang="en-GB" dirty="0"/>
              <a:t>Content and position provide different information</a:t>
            </a:r>
          </a:p>
        </p:txBody>
      </p:sp>
      <p:sp>
        <p:nvSpPr>
          <p:cNvPr id="3" name="Segnaposto contenuto 2">
            <a:extLst>
              <a:ext uri="{FF2B5EF4-FFF2-40B4-BE49-F238E27FC236}">
                <a16:creationId xmlns:a16="http://schemas.microsoft.com/office/drawing/2014/main" id="{C7001C31-F63F-F243-CE2E-2285E2CCDC98}"/>
              </a:ext>
            </a:extLst>
          </p:cNvPr>
          <p:cNvSpPr>
            <a:spLocks noGrp="1"/>
          </p:cNvSpPr>
          <p:nvPr>
            <p:ph sz="half" idx="1"/>
          </p:nvPr>
        </p:nvSpPr>
        <p:spPr>
          <a:xfrm>
            <a:off x="677334" y="2160588"/>
            <a:ext cx="5481997" cy="4428101"/>
          </a:xfrm>
        </p:spPr>
        <p:txBody>
          <a:bodyPr>
            <a:normAutofit fontScale="85000" lnSpcReduction="20000"/>
          </a:bodyPr>
          <a:lstStyle/>
          <a:p>
            <a:r>
              <a:rPr lang="en-GB" dirty="0"/>
              <a:t>For each temporal position, the model needs to represent two complementary aspects.</a:t>
            </a:r>
          </a:p>
          <a:p>
            <a:r>
              <a:rPr lang="en-GB" b="1" dirty="0"/>
              <a:t>Content</a:t>
            </a:r>
          </a:p>
          <a:p>
            <a:r>
              <a:rPr lang="en-GB" dirty="0"/>
              <a:t>What is happening at this position?</a:t>
            </a:r>
          </a:p>
          <a:p>
            <a:r>
              <a:rPr lang="en-GB" dirty="0"/>
              <a:t>For example:</a:t>
            </a:r>
          </a:p>
          <a:p>
            <a:pPr lvl="1"/>
            <a:r>
              <a:rPr lang="en-GB" dirty="0"/>
              <a:t>temperature = 72</a:t>
            </a:r>
          </a:p>
          <a:p>
            <a:pPr lvl="1"/>
            <a:r>
              <a:rPr lang="en-GB" dirty="0"/>
              <a:t>pressure = 4.1</a:t>
            </a:r>
          </a:p>
          <a:p>
            <a:pPr lvl="1"/>
            <a:r>
              <a:rPr lang="en-GB" dirty="0"/>
              <a:t>vibration = 0.35</a:t>
            </a:r>
          </a:p>
          <a:p>
            <a:r>
              <a:rPr lang="en-GB" b="1" dirty="0"/>
              <a:t>Position</a:t>
            </a:r>
          </a:p>
          <a:p>
            <a:r>
              <a:rPr lang="en-GB" dirty="0"/>
              <a:t>Where does this observation occur in the sequence?</a:t>
            </a:r>
          </a:p>
          <a:p>
            <a:r>
              <a:rPr lang="en-GB" dirty="0"/>
              <a:t>For example:</a:t>
            </a:r>
          </a:p>
          <a:p>
            <a:pPr lvl="1"/>
            <a:r>
              <a:rPr lang="en-GB" dirty="0"/>
              <a:t>time step 37</a:t>
            </a:r>
          </a:p>
          <a:p>
            <a:pPr lvl="1"/>
            <a:r>
              <a:rPr lang="en-GB" dirty="0"/>
              <a:t>or relative to another position:</a:t>
            </a:r>
          </a:p>
          <a:p>
            <a:pPr lvl="1"/>
            <a:r>
              <a:rPr lang="en-GB" dirty="0"/>
              <a:t>24 steps earlier</a:t>
            </a:r>
          </a:p>
          <a:p>
            <a:endParaRPr lang="en-GB" dirty="0"/>
          </a:p>
        </p:txBody>
      </p:sp>
      <p:sp>
        <p:nvSpPr>
          <p:cNvPr id="4" name="Segnaposto contenuto 3">
            <a:extLst>
              <a:ext uri="{FF2B5EF4-FFF2-40B4-BE49-F238E27FC236}">
                <a16:creationId xmlns:a16="http://schemas.microsoft.com/office/drawing/2014/main" id="{186B06BB-2B5A-5BB1-2DB8-3750D5D28688}"/>
              </a:ext>
            </a:extLst>
          </p:cNvPr>
          <p:cNvSpPr>
            <a:spLocks noGrp="1"/>
          </p:cNvSpPr>
          <p:nvPr>
            <p:ph sz="half" idx="2"/>
          </p:nvPr>
        </p:nvSpPr>
        <p:spPr>
          <a:xfrm>
            <a:off x="6533003" y="2160589"/>
            <a:ext cx="5481997" cy="4428101"/>
          </a:xfrm>
        </p:spPr>
        <p:txBody>
          <a:bodyPr>
            <a:normAutofit fontScale="85000" lnSpcReduction="20000"/>
          </a:bodyPr>
          <a:lstStyle/>
          <a:p>
            <a:r>
              <a:rPr lang="en-GB" b="1" dirty="0"/>
              <a:t>Conceptually</a:t>
            </a:r>
          </a:p>
          <a:p>
            <a:pPr lvl="1"/>
            <a:r>
              <a:rPr lang="en-GB" dirty="0"/>
              <a:t>input content</a:t>
            </a:r>
          </a:p>
          <a:p>
            <a:pPr lvl="1"/>
            <a:r>
              <a:rPr lang="en-GB" dirty="0"/>
              <a:t>     +</a:t>
            </a:r>
          </a:p>
          <a:p>
            <a:pPr lvl="1"/>
            <a:r>
              <a:rPr lang="en-GB" dirty="0"/>
              <a:t>positional information</a:t>
            </a:r>
          </a:p>
          <a:p>
            <a:pPr lvl="1"/>
            <a:r>
              <a:rPr lang="en-GB" dirty="0"/>
              <a:t>     ↓</a:t>
            </a:r>
          </a:p>
          <a:p>
            <a:pPr lvl="1"/>
            <a:r>
              <a:rPr lang="en-GB" dirty="0"/>
              <a:t>position-aware representation</a:t>
            </a:r>
          </a:p>
          <a:p>
            <a:r>
              <a:rPr lang="en-GB" b="1" dirty="0"/>
              <a:t>Important distinction</a:t>
            </a:r>
          </a:p>
          <a:p>
            <a:r>
              <a:rPr lang="en-GB" dirty="0"/>
              <a:t>Content may tell the model:</a:t>
            </a:r>
          </a:p>
          <a:p>
            <a:pPr lvl="1"/>
            <a:r>
              <a:rPr lang="en-GB" dirty="0"/>
              <a:t>This position resembles another operating condition.</a:t>
            </a:r>
          </a:p>
          <a:p>
            <a:r>
              <a:rPr lang="en-GB" dirty="0"/>
              <a:t>Position tells it:</a:t>
            </a:r>
          </a:p>
          <a:p>
            <a:pPr lvl="1"/>
            <a:r>
              <a:rPr lang="en-GB" dirty="0"/>
              <a:t>This condition occurred before, after, or at a particular distance from another event.</a:t>
            </a:r>
          </a:p>
          <a:p>
            <a:endParaRPr lang="en-GB" dirty="0"/>
          </a:p>
          <a:p>
            <a:r>
              <a:rPr lang="en-GB" b="1" dirty="0"/>
              <a:t>Temporal meaning depends on both what occurred and when it occurred.</a:t>
            </a:r>
          </a:p>
          <a:p>
            <a:endParaRPr lang="en-GB" dirty="0"/>
          </a:p>
        </p:txBody>
      </p:sp>
    </p:spTree>
    <p:extLst>
      <p:ext uri="{BB962C8B-B14F-4D97-AF65-F5344CB8AC3E}">
        <p14:creationId xmlns:p14="http://schemas.microsoft.com/office/powerpoint/2010/main" val="32538154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C2E07B-F773-9901-EA52-EE8D60FEAC18}"/>
              </a:ext>
            </a:extLst>
          </p:cNvPr>
          <p:cNvSpPr>
            <a:spLocks noGrp="1"/>
          </p:cNvSpPr>
          <p:nvPr>
            <p:ph type="title"/>
          </p:nvPr>
        </p:nvSpPr>
        <p:spPr/>
        <p:txBody>
          <a:bodyPr/>
          <a:lstStyle/>
          <a:p>
            <a:r>
              <a:rPr lang="en-GB"/>
              <a:t>Positional encoding</a:t>
            </a:r>
          </a:p>
        </p:txBody>
      </p:sp>
      <p:sp>
        <p:nvSpPr>
          <p:cNvPr id="3" name="Segnaposto contenuto 2">
            <a:extLst>
              <a:ext uri="{FF2B5EF4-FFF2-40B4-BE49-F238E27FC236}">
                <a16:creationId xmlns:a16="http://schemas.microsoft.com/office/drawing/2014/main" id="{D4E388B1-8142-6CB4-34EC-D24083A88E3E}"/>
              </a:ext>
            </a:extLst>
          </p:cNvPr>
          <p:cNvSpPr>
            <a:spLocks noGrp="1"/>
          </p:cNvSpPr>
          <p:nvPr>
            <p:ph sz="half" idx="1"/>
          </p:nvPr>
        </p:nvSpPr>
        <p:spPr>
          <a:xfrm>
            <a:off x="677334" y="2160588"/>
            <a:ext cx="5648310" cy="4277789"/>
          </a:xfrm>
        </p:spPr>
        <p:txBody>
          <a:bodyPr>
            <a:normAutofit fontScale="77500" lnSpcReduction="20000"/>
          </a:bodyPr>
          <a:lstStyle/>
          <a:p>
            <a:r>
              <a:rPr lang="en-GB" dirty="0"/>
              <a:t>One solution is to associate every temporal position with an additional vector.</a:t>
            </a:r>
          </a:p>
          <a:p>
            <a:pPr lvl="1"/>
            <a:r>
              <a:rPr lang="en-GB" dirty="0"/>
              <a:t>For position t:</a:t>
            </a:r>
          </a:p>
          <a:p>
            <a:pPr lvl="1"/>
            <a:r>
              <a:rPr lang="en-GB" dirty="0"/>
              <a:t>input representation x[t]</a:t>
            </a:r>
          </a:p>
          <a:p>
            <a:pPr lvl="1"/>
            <a:r>
              <a:rPr lang="en-GB" dirty="0"/>
              <a:t>+</a:t>
            </a:r>
          </a:p>
          <a:p>
            <a:pPr lvl="1"/>
            <a:r>
              <a:rPr lang="en-GB" dirty="0"/>
              <a:t>positional representation p[t]</a:t>
            </a:r>
          </a:p>
          <a:p>
            <a:pPr lvl="1"/>
            <a:r>
              <a:rPr lang="en-GB" dirty="0"/>
              <a:t>=</a:t>
            </a:r>
          </a:p>
          <a:p>
            <a:pPr lvl="1"/>
            <a:r>
              <a:rPr lang="en-GB" dirty="0"/>
              <a:t>position-aware representation</a:t>
            </a:r>
          </a:p>
          <a:p>
            <a:endParaRPr lang="en-GB" dirty="0"/>
          </a:p>
          <a:p>
            <a:r>
              <a:rPr lang="en-GB" dirty="0"/>
              <a:t>x[1] + p[1]</a:t>
            </a:r>
          </a:p>
          <a:p>
            <a:r>
              <a:rPr lang="en-GB" dirty="0"/>
              <a:t>x[2] + p[2]</a:t>
            </a:r>
          </a:p>
          <a:p>
            <a:r>
              <a:rPr lang="en-GB" dirty="0"/>
              <a:t>...</a:t>
            </a:r>
          </a:p>
          <a:p>
            <a:r>
              <a:rPr lang="en-GB" dirty="0"/>
              <a:t>x[L] + p[L]</a:t>
            </a:r>
          </a:p>
          <a:p>
            <a:r>
              <a:rPr lang="en-GB" dirty="0"/>
              <a:t>The resulting representations are then passed to the Transformer.</a:t>
            </a:r>
          </a:p>
          <a:p>
            <a:endParaRPr lang="en-GB" dirty="0"/>
          </a:p>
        </p:txBody>
      </p:sp>
      <p:sp>
        <p:nvSpPr>
          <p:cNvPr id="4" name="Segnaposto contenuto 3">
            <a:extLst>
              <a:ext uri="{FF2B5EF4-FFF2-40B4-BE49-F238E27FC236}">
                <a16:creationId xmlns:a16="http://schemas.microsoft.com/office/drawing/2014/main" id="{C2DBD670-0962-DFCA-7678-35155D0DF7E1}"/>
              </a:ext>
            </a:extLst>
          </p:cNvPr>
          <p:cNvSpPr>
            <a:spLocks noGrp="1"/>
          </p:cNvSpPr>
          <p:nvPr>
            <p:ph sz="half" idx="2"/>
          </p:nvPr>
        </p:nvSpPr>
        <p:spPr>
          <a:xfrm>
            <a:off x="6545529" y="2160589"/>
            <a:ext cx="5456945" cy="4440627"/>
          </a:xfrm>
        </p:spPr>
        <p:txBody>
          <a:bodyPr>
            <a:normAutofit fontScale="77500" lnSpcReduction="20000"/>
          </a:bodyPr>
          <a:lstStyle/>
          <a:p>
            <a:r>
              <a:rPr lang="en-GB" sz="2300" b="1" dirty="0"/>
              <a:t>Positional information can be</a:t>
            </a:r>
          </a:p>
          <a:p>
            <a:pPr lvl="1"/>
            <a:r>
              <a:rPr lang="en-GB" sz="2100" dirty="0"/>
              <a:t>fixed according to position; </a:t>
            </a:r>
          </a:p>
          <a:p>
            <a:pPr lvl="1"/>
            <a:r>
              <a:rPr lang="en-GB" sz="2100" dirty="0"/>
              <a:t>learned during training. </a:t>
            </a:r>
          </a:p>
          <a:p>
            <a:r>
              <a:rPr lang="en-GB" sz="2300" b="1" dirty="0"/>
              <a:t>Purpose</a:t>
            </a:r>
          </a:p>
          <a:p>
            <a:r>
              <a:rPr lang="en-GB" sz="2300" dirty="0"/>
              <a:t>It allows the model to distinguish, for example:</a:t>
            </a:r>
          </a:p>
          <a:p>
            <a:pPr lvl="1"/>
            <a:r>
              <a:rPr lang="en-GB" sz="2100" dirty="0"/>
              <a:t>the first observation</a:t>
            </a:r>
          </a:p>
          <a:p>
            <a:pPr lvl="1"/>
            <a:r>
              <a:rPr lang="en-GB" sz="2100" dirty="0"/>
              <a:t>the tenth observation</a:t>
            </a:r>
          </a:p>
          <a:p>
            <a:pPr lvl="1"/>
            <a:r>
              <a:rPr lang="en-GB" sz="2100" dirty="0"/>
              <a:t>the hundredth observation</a:t>
            </a:r>
          </a:p>
          <a:p>
            <a:pPr lvl="1"/>
            <a:r>
              <a:rPr lang="en-GB" sz="2100" dirty="0"/>
              <a:t>even if their measured values are similar.</a:t>
            </a:r>
          </a:p>
          <a:p>
            <a:pPr marL="0" indent="0">
              <a:buNone/>
            </a:pPr>
            <a:endParaRPr lang="en-GB" b="1" dirty="0"/>
          </a:p>
        </p:txBody>
      </p:sp>
    </p:spTree>
    <p:extLst>
      <p:ext uri="{BB962C8B-B14F-4D97-AF65-F5344CB8AC3E}">
        <p14:creationId xmlns:p14="http://schemas.microsoft.com/office/powerpoint/2010/main" val="13911735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Temporal meaning = content + position</a:t>
            </a:r>
            <a:endParaRPr lang="it-IT" sz="2100" b="0" u="none" strike="noStrike">
              <a:solidFill>
                <a:srgbClr val="000000"/>
              </a:solidFill>
              <a:effectLst/>
              <a:uFillTx/>
              <a:latin typeface="Arial"/>
            </a:endParaRPr>
          </a:p>
        </p:txBody>
      </p:sp>
      <p:sp>
        <p:nvSpPr>
          <p:cNvPr id="11"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dirty="0">
                <a:solidFill>
                  <a:srgbClr val="475569"/>
                </a:solidFill>
                <a:effectLst/>
                <a:uFillTx/>
                <a:latin typeface="Arial"/>
                <a:ea typeface="Arial"/>
              </a:rPr>
              <a:t>Self-attention needs explicit information about where observations occur in time</a:t>
            </a:r>
            <a:r>
              <a:rPr lang="en-US" sz="850" b="0" u="none" strike="noStrike" dirty="0">
                <a:solidFill>
                  <a:srgbClr val="475569"/>
                </a:solidFill>
                <a:effectLst/>
                <a:uFillTx/>
                <a:latin typeface="Arial"/>
                <a:ea typeface="Arial"/>
              </a:rPr>
              <a:t>.</a:t>
            </a:r>
            <a:endParaRPr lang="it-IT" sz="850" b="0" u="none" strike="noStrike" dirty="0">
              <a:solidFill>
                <a:srgbClr val="000000"/>
              </a:solidFill>
              <a:effectLst/>
              <a:uFillTx/>
              <a:latin typeface="Arial"/>
            </a:endParaRPr>
          </a:p>
        </p:txBody>
      </p:sp>
      <p:sp>
        <p:nvSpPr>
          <p:cNvPr id="12" name="Text 4"/>
          <p:cNvSpPr/>
          <p:nvPr/>
        </p:nvSpPr>
        <p:spPr>
          <a:xfrm>
            <a:off x="1005840" y="2011680"/>
            <a:ext cx="1416960" cy="63972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x[t]</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content</a:t>
            </a:r>
            <a:endParaRPr lang="it-IT" sz="1200" b="0" u="none" strike="noStrike">
              <a:solidFill>
                <a:srgbClr val="000000"/>
              </a:solidFill>
              <a:effectLst/>
              <a:uFillTx/>
              <a:latin typeface="Arial"/>
            </a:endParaRPr>
          </a:p>
        </p:txBody>
      </p:sp>
      <p:sp>
        <p:nvSpPr>
          <p:cNvPr id="13" name="Text 5"/>
          <p:cNvSpPr/>
          <p:nvPr/>
        </p:nvSpPr>
        <p:spPr>
          <a:xfrm>
            <a:off x="2651760" y="222192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14" name="Text 6"/>
          <p:cNvSpPr/>
          <p:nvPr/>
        </p:nvSpPr>
        <p:spPr>
          <a:xfrm>
            <a:off x="2971800" y="2011680"/>
            <a:ext cx="1416960" cy="63972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p[t]</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position</a:t>
            </a:r>
            <a:endParaRPr lang="it-IT" sz="1200" b="0" u="none" strike="noStrike">
              <a:solidFill>
                <a:srgbClr val="000000"/>
              </a:solidFill>
              <a:effectLst/>
              <a:uFillTx/>
              <a:latin typeface="Arial"/>
            </a:endParaRPr>
          </a:p>
        </p:txBody>
      </p:sp>
      <p:sp>
        <p:nvSpPr>
          <p:cNvPr id="15" name="Text 7"/>
          <p:cNvSpPr/>
          <p:nvPr/>
        </p:nvSpPr>
        <p:spPr>
          <a:xfrm>
            <a:off x="4617720" y="2221920"/>
            <a:ext cx="273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16" name="Text 8"/>
          <p:cNvSpPr/>
          <p:nvPr/>
        </p:nvSpPr>
        <p:spPr>
          <a:xfrm>
            <a:off x="4983480" y="1874520"/>
            <a:ext cx="2057040" cy="9140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dirty="0">
                <a:solidFill>
                  <a:srgbClr val="0F172A"/>
                </a:solidFill>
                <a:effectLst/>
                <a:uFillTx/>
                <a:latin typeface="Arial"/>
                <a:ea typeface="Arial"/>
              </a:rPr>
              <a:t>position-aware token</a:t>
            </a:r>
            <a:endParaRPr lang="it-IT" sz="1100" b="0" u="none" strike="noStrike" dirty="0">
              <a:solidFill>
                <a:srgbClr val="000000"/>
              </a:solidFill>
              <a:effectLst/>
              <a:uFillTx/>
              <a:latin typeface="Arial"/>
            </a:endParaRPr>
          </a:p>
        </p:txBody>
      </p:sp>
      <p:sp>
        <p:nvSpPr>
          <p:cNvPr id="17" name="Shape 9"/>
          <p:cNvSpPr/>
          <p:nvPr/>
        </p:nvSpPr>
        <p:spPr>
          <a:xfrm>
            <a:off x="7223760" y="2331720"/>
            <a:ext cx="100584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8" name="Text 10"/>
          <p:cNvSpPr/>
          <p:nvPr/>
        </p:nvSpPr>
        <p:spPr>
          <a:xfrm>
            <a:off x="8412480" y="1920240"/>
            <a:ext cx="1737000" cy="82260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300" b="1" u="none" strike="noStrike">
                <a:solidFill>
                  <a:srgbClr val="0F172A"/>
                </a:solidFill>
                <a:effectLst/>
                <a:uFillTx/>
                <a:latin typeface="Arial"/>
                <a:ea typeface="Arial"/>
              </a:rPr>
              <a:t>self-attention</a:t>
            </a:r>
            <a:endParaRPr lang="it-IT" sz="1300" b="0" u="none" strike="noStrike">
              <a:solidFill>
                <a:srgbClr val="000000"/>
              </a:solidFill>
              <a:effectLst/>
              <a:uFillTx/>
              <a:latin typeface="Arial"/>
            </a:endParaRPr>
          </a:p>
        </p:txBody>
      </p:sp>
      <p:sp>
        <p:nvSpPr>
          <p:cNvPr id="19" name="Text 11"/>
          <p:cNvSpPr/>
          <p:nvPr/>
        </p:nvSpPr>
        <p:spPr>
          <a:xfrm>
            <a:off x="914400" y="3703320"/>
            <a:ext cx="6217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475569"/>
                </a:solidFill>
                <a:effectLst/>
                <a:uFillTx/>
                <a:latin typeface="Arial"/>
                <a:ea typeface="Arial"/>
              </a:rPr>
              <a:t>Example: every token in the sequence receives its own positional information</a:t>
            </a:r>
            <a:endParaRPr lang="it-IT" sz="950" b="0" u="none" strike="noStrike">
              <a:solidFill>
                <a:srgbClr val="000000"/>
              </a:solidFill>
              <a:effectLst/>
              <a:uFillTx/>
              <a:latin typeface="Arial"/>
            </a:endParaRPr>
          </a:p>
        </p:txBody>
      </p:sp>
      <p:sp>
        <p:nvSpPr>
          <p:cNvPr id="20" name="Text 12"/>
          <p:cNvSpPr/>
          <p:nvPr/>
        </p:nvSpPr>
        <p:spPr>
          <a:xfrm>
            <a:off x="1051560" y="4160520"/>
            <a:ext cx="8683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x[1] + p[1]</a:t>
            </a:r>
            <a:endParaRPr lang="it-IT" sz="650" b="0" u="none" strike="noStrike">
              <a:solidFill>
                <a:srgbClr val="000000"/>
              </a:solidFill>
              <a:effectLst/>
              <a:uFillTx/>
              <a:latin typeface="Arial"/>
            </a:endParaRPr>
          </a:p>
        </p:txBody>
      </p:sp>
      <p:sp>
        <p:nvSpPr>
          <p:cNvPr id="21" name="Text 13"/>
          <p:cNvSpPr/>
          <p:nvPr/>
        </p:nvSpPr>
        <p:spPr>
          <a:xfrm>
            <a:off x="2103120" y="4160520"/>
            <a:ext cx="8683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x[2] + p[2]</a:t>
            </a:r>
            <a:endParaRPr lang="it-IT" sz="650" b="0" u="none" strike="noStrike">
              <a:solidFill>
                <a:srgbClr val="000000"/>
              </a:solidFill>
              <a:effectLst/>
              <a:uFillTx/>
              <a:latin typeface="Arial"/>
            </a:endParaRPr>
          </a:p>
        </p:txBody>
      </p:sp>
      <p:sp>
        <p:nvSpPr>
          <p:cNvPr id="22" name="Text 14"/>
          <p:cNvSpPr/>
          <p:nvPr/>
        </p:nvSpPr>
        <p:spPr>
          <a:xfrm>
            <a:off x="3154680" y="4160520"/>
            <a:ext cx="8683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x[3] + p[3]</a:t>
            </a:r>
            <a:endParaRPr lang="it-IT" sz="650" b="0" u="none" strike="noStrike">
              <a:solidFill>
                <a:srgbClr val="000000"/>
              </a:solidFill>
              <a:effectLst/>
              <a:uFillTx/>
              <a:latin typeface="Arial"/>
            </a:endParaRPr>
          </a:p>
        </p:txBody>
      </p:sp>
      <p:sp>
        <p:nvSpPr>
          <p:cNvPr id="23" name="Text 15"/>
          <p:cNvSpPr/>
          <p:nvPr/>
        </p:nvSpPr>
        <p:spPr>
          <a:xfrm>
            <a:off x="4206240" y="4160520"/>
            <a:ext cx="8683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x[4] + p[4]</a:t>
            </a:r>
            <a:endParaRPr lang="it-IT" sz="650" b="0" u="none" strike="noStrike">
              <a:solidFill>
                <a:srgbClr val="000000"/>
              </a:solidFill>
              <a:effectLst/>
              <a:uFillTx/>
              <a:latin typeface="Arial"/>
            </a:endParaRPr>
          </a:p>
        </p:txBody>
      </p:sp>
      <p:sp>
        <p:nvSpPr>
          <p:cNvPr id="24" name="Text 16"/>
          <p:cNvSpPr/>
          <p:nvPr/>
        </p:nvSpPr>
        <p:spPr>
          <a:xfrm>
            <a:off x="5257800" y="4160520"/>
            <a:ext cx="8683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x[5] + p[5]</a:t>
            </a:r>
            <a:endParaRPr lang="it-IT" sz="650" b="0" u="none" strike="noStrike">
              <a:solidFill>
                <a:srgbClr val="000000"/>
              </a:solidFill>
              <a:effectLst/>
              <a:uFillTx/>
              <a:latin typeface="Arial"/>
            </a:endParaRPr>
          </a:p>
        </p:txBody>
      </p:sp>
      <p:sp>
        <p:nvSpPr>
          <p:cNvPr id="25" name="Text 17"/>
          <p:cNvSpPr/>
          <p:nvPr/>
        </p:nvSpPr>
        <p:spPr>
          <a:xfrm>
            <a:off x="6707160" y="4933440"/>
            <a:ext cx="3565800" cy="50256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dirty="0">
                <a:solidFill>
                  <a:srgbClr val="0F172A"/>
                </a:solidFill>
                <a:effectLst/>
                <a:uFillTx/>
                <a:latin typeface="Arial"/>
                <a:ea typeface="Arial"/>
              </a:rPr>
              <a:t>Position-aware representations enter the Transformer</a:t>
            </a:r>
            <a:endParaRPr lang="it-IT" sz="1200" b="0" u="none" strike="noStrike" dirty="0">
              <a:solidFill>
                <a:srgbClr val="000000"/>
              </a:solidFill>
              <a:effectLst/>
              <a:uFillTx/>
              <a:latin typeface="Arial"/>
            </a:endParaRPr>
          </a:p>
        </p:txBody>
      </p:sp>
      <p:sp>
        <p:nvSpPr>
          <p:cNvPr id="26" name="Shape 18"/>
          <p:cNvSpPr/>
          <p:nvPr/>
        </p:nvSpPr>
        <p:spPr>
          <a:xfrm>
            <a:off x="1472037" y="4522680"/>
            <a:ext cx="6481989" cy="409320"/>
          </a:xfrm>
          <a:prstGeom prst="line">
            <a:avLst/>
          </a:prstGeom>
          <a:ln w="889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 name="Shape 19"/>
          <p:cNvSpPr/>
          <p:nvPr/>
        </p:nvSpPr>
        <p:spPr>
          <a:xfrm>
            <a:off x="2541960" y="4526280"/>
            <a:ext cx="5843520" cy="407160"/>
          </a:xfrm>
          <a:prstGeom prst="line">
            <a:avLst/>
          </a:prstGeom>
          <a:ln w="889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8" name="Shape 20"/>
          <p:cNvSpPr/>
          <p:nvPr/>
        </p:nvSpPr>
        <p:spPr>
          <a:xfrm>
            <a:off x="3593519" y="4526280"/>
            <a:ext cx="4936705" cy="384120"/>
          </a:xfrm>
          <a:prstGeom prst="line">
            <a:avLst/>
          </a:prstGeom>
          <a:ln w="889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9" name="Shape 21"/>
          <p:cNvSpPr/>
          <p:nvPr/>
        </p:nvSpPr>
        <p:spPr>
          <a:xfrm>
            <a:off x="4645079" y="4526280"/>
            <a:ext cx="3997879" cy="360000"/>
          </a:xfrm>
          <a:prstGeom prst="line">
            <a:avLst/>
          </a:prstGeom>
          <a:ln w="889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0" name="Shape 22"/>
          <p:cNvSpPr/>
          <p:nvPr/>
        </p:nvSpPr>
        <p:spPr>
          <a:xfrm>
            <a:off x="5696639" y="4526280"/>
            <a:ext cx="3035879" cy="361440"/>
          </a:xfrm>
          <a:prstGeom prst="line">
            <a:avLst/>
          </a:prstGeom>
          <a:ln w="889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1" name="Text 23"/>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475569"/>
                </a:solidFill>
                <a:effectLst/>
                <a:uFillTx/>
                <a:latin typeface="Arial"/>
              </a:rPr>
              <a:t>Content tells what happened; positional information tells where it happened in the temporal sequence.</a:t>
            </a:r>
            <a:endParaRPr lang="it-IT" sz="900" b="0" u="none" strike="noStrike" dirty="0">
              <a:solidFill>
                <a:srgbClr val="000000"/>
              </a:solidFill>
              <a:effectLst/>
              <a:uFillTx/>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F1790C-4432-2E76-F101-84F072700A85}"/>
              </a:ext>
            </a:extLst>
          </p:cNvPr>
          <p:cNvSpPr>
            <a:spLocks noGrp="1"/>
          </p:cNvSpPr>
          <p:nvPr>
            <p:ph type="title"/>
          </p:nvPr>
        </p:nvSpPr>
        <p:spPr/>
        <p:txBody>
          <a:bodyPr/>
          <a:lstStyle/>
          <a:p>
            <a:r>
              <a:rPr lang="en-GB" dirty="0"/>
              <a:t>Absolute positional information</a:t>
            </a:r>
          </a:p>
        </p:txBody>
      </p:sp>
      <p:sp>
        <p:nvSpPr>
          <p:cNvPr id="3" name="Segnaposto contenuto 2">
            <a:extLst>
              <a:ext uri="{FF2B5EF4-FFF2-40B4-BE49-F238E27FC236}">
                <a16:creationId xmlns:a16="http://schemas.microsoft.com/office/drawing/2014/main" id="{29F4F6CD-5D4B-A24B-9FFE-106DE878B597}"/>
              </a:ext>
            </a:extLst>
          </p:cNvPr>
          <p:cNvSpPr>
            <a:spLocks noGrp="1"/>
          </p:cNvSpPr>
          <p:nvPr>
            <p:ph sz="half" idx="1"/>
          </p:nvPr>
        </p:nvSpPr>
        <p:spPr>
          <a:xfrm>
            <a:off x="677334" y="2160589"/>
            <a:ext cx="5418666" cy="4110962"/>
          </a:xfrm>
        </p:spPr>
        <p:txBody>
          <a:bodyPr>
            <a:normAutofit fontScale="85000" lnSpcReduction="20000"/>
          </a:bodyPr>
          <a:lstStyle/>
          <a:p>
            <a:r>
              <a:rPr lang="en-GB" dirty="0"/>
              <a:t>Absolute positional information identifies where a token occurs in the sequence.</a:t>
            </a:r>
          </a:p>
          <a:p>
            <a:r>
              <a:rPr lang="en-GB" dirty="0"/>
              <a:t>Example:</a:t>
            </a:r>
          </a:p>
          <a:p>
            <a:pPr lvl="1"/>
            <a:r>
              <a:rPr lang="en-GB" dirty="0"/>
              <a:t>position 1</a:t>
            </a:r>
          </a:p>
          <a:p>
            <a:pPr lvl="1"/>
            <a:r>
              <a:rPr lang="en-GB" dirty="0"/>
              <a:t>position 2</a:t>
            </a:r>
          </a:p>
          <a:p>
            <a:pPr lvl="1"/>
            <a:r>
              <a:rPr lang="en-GB" dirty="0"/>
              <a:t>position 3</a:t>
            </a:r>
          </a:p>
          <a:p>
            <a:pPr lvl="1"/>
            <a:r>
              <a:rPr lang="en-GB" dirty="0"/>
              <a:t>...</a:t>
            </a:r>
          </a:p>
          <a:p>
            <a:pPr lvl="1"/>
            <a:r>
              <a:rPr lang="en-GB" dirty="0"/>
              <a:t>position L</a:t>
            </a:r>
          </a:p>
          <a:p>
            <a:r>
              <a:rPr lang="en-GB" dirty="0"/>
              <a:t>The model receives a different positional representation for each location.</a:t>
            </a:r>
          </a:p>
          <a:p>
            <a:endParaRPr lang="en-GB" b="1" dirty="0"/>
          </a:p>
          <a:p>
            <a:r>
              <a:rPr lang="en-GB" b="1" dirty="0"/>
              <a:t>content at t</a:t>
            </a:r>
          </a:p>
          <a:p>
            <a:r>
              <a:rPr lang="en-GB" b="1" dirty="0"/>
              <a:t>     +</a:t>
            </a:r>
          </a:p>
          <a:p>
            <a:r>
              <a:rPr lang="en-GB" b="1" dirty="0"/>
              <a:t>representation of "I am at position t"</a:t>
            </a:r>
          </a:p>
          <a:p>
            <a:endParaRPr lang="en-GB" dirty="0"/>
          </a:p>
        </p:txBody>
      </p:sp>
      <p:sp>
        <p:nvSpPr>
          <p:cNvPr id="4" name="Segnaposto contenuto 3">
            <a:extLst>
              <a:ext uri="{FF2B5EF4-FFF2-40B4-BE49-F238E27FC236}">
                <a16:creationId xmlns:a16="http://schemas.microsoft.com/office/drawing/2014/main" id="{D6C73B41-A972-2A6C-81AD-256190068C71}"/>
              </a:ext>
            </a:extLst>
          </p:cNvPr>
          <p:cNvSpPr>
            <a:spLocks noGrp="1"/>
          </p:cNvSpPr>
          <p:nvPr>
            <p:ph sz="half" idx="2"/>
          </p:nvPr>
        </p:nvSpPr>
        <p:spPr>
          <a:xfrm>
            <a:off x="6204786" y="2179227"/>
            <a:ext cx="5682414" cy="4509672"/>
          </a:xfrm>
        </p:spPr>
        <p:txBody>
          <a:bodyPr>
            <a:normAutofit fontScale="85000" lnSpcReduction="20000"/>
          </a:bodyPr>
          <a:lstStyle/>
          <a:p>
            <a:r>
              <a:rPr lang="en-GB" b="1" dirty="0"/>
              <a:t>What can this help represent?</a:t>
            </a:r>
          </a:p>
          <a:p>
            <a:pPr lvl="0"/>
            <a:r>
              <a:rPr lang="en-GB" dirty="0"/>
              <a:t>beginning versus end of a window; </a:t>
            </a:r>
          </a:p>
          <a:p>
            <a:pPr lvl="0"/>
            <a:r>
              <a:rPr lang="en-GB" dirty="0"/>
              <a:t>ordering of events; </a:t>
            </a:r>
          </a:p>
          <a:p>
            <a:pPr lvl="0"/>
            <a:r>
              <a:rPr lang="en-GB" dirty="0"/>
              <a:t>systematic position-dependent effects. </a:t>
            </a:r>
          </a:p>
          <a:p>
            <a:r>
              <a:rPr lang="en-GB" b="1" dirty="0"/>
              <a:t>Example</a:t>
            </a:r>
          </a:p>
          <a:p>
            <a:r>
              <a:rPr lang="en-GB" dirty="0"/>
              <a:t>If a production cycle is aligned from start to finish, the model may learn that:</a:t>
            </a:r>
          </a:p>
          <a:p>
            <a:pPr lvl="1"/>
            <a:r>
              <a:rPr lang="en-GB" dirty="0"/>
              <a:t>some patterns occurring early; </a:t>
            </a:r>
          </a:p>
          <a:p>
            <a:pPr lvl="1"/>
            <a:r>
              <a:rPr lang="en-GB" dirty="0"/>
              <a:t>the same patterns occurring late; </a:t>
            </a:r>
          </a:p>
          <a:p>
            <a:pPr lvl="1"/>
            <a:r>
              <a:rPr lang="en-GB" dirty="0"/>
              <a:t>have different meanings.</a:t>
            </a:r>
          </a:p>
          <a:p>
            <a:r>
              <a:rPr lang="en-GB" b="1" dirty="0"/>
              <a:t>Limitation</a:t>
            </a:r>
          </a:p>
          <a:p>
            <a:r>
              <a:rPr lang="en-GB" dirty="0"/>
              <a:t>Absolute position alone does not directly express:</a:t>
            </a:r>
          </a:p>
          <a:p>
            <a:pPr lvl="1"/>
            <a:r>
              <a:rPr lang="en-GB" dirty="0"/>
              <a:t>How far apart are positions i and j?</a:t>
            </a:r>
          </a:p>
          <a:p>
            <a:r>
              <a:rPr lang="en-GB" dirty="0"/>
              <a:t>This motivates relative positional information.</a:t>
            </a:r>
          </a:p>
          <a:p>
            <a:endParaRPr lang="en-GB" dirty="0"/>
          </a:p>
        </p:txBody>
      </p:sp>
    </p:spTree>
    <p:extLst>
      <p:ext uri="{BB962C8B-B14F-4D97-AF65-F5344CB8AC3E}">
        <p14:creationId xmlns:p14="http://schemas.microsoft.com/office/powerpoint/2010/main" val="9775181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Absolute positional information</a:t>
            </a:r>
            <a:endParaRPr lang="it-IT" sz="2100" b="0" u="none" strike="noStrike">
              <a:solidFill>
                <a:srgbClr val="000000"/>
              </a:solidFill>
              <a:effectLst/>
              <a:uFillTx/>
              <a:latin typeface="Arial"/>
            </a:endParaRPr>
          </a:p>
        </p:txBody>
      </p:sp>
      <p:sp>
        <p:nvSpPr>
          <p:cNvPr id="61"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A different positional representation can be attached to each token location.</a:t>
            </a:r>
            <a:endParaRPr lang="it-IT" sz="850" b="0" u="none" strike="noStrike">
              <a:solidFill>
                <a:srgbClr val="000000"/>
              </a:solidFill>
              <a:effectLst/>
              <a:uFillTx/>
              <a:latin typeface="Arial"/>
            </a:endParaRPr>
          </a:p>
        </p:txBody>
      </p:sp>
      <p:sp>
        <p:nvSpPr>
          <p:cNvPr id="62" name="Text 4"/>
          <p:cNvSpPr/>
          <p:nvPr/>
        </p:nvSpPr>
        <p:spPr>
          <a:xfrm>
            <a:off x="822960" y="1828800"/>
            <a:ext cx="502560" cy="328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x[1]</a:t>
            </a:r>
            <a:endParaRPr lang="it-IT" sz="700" b="0" u="none" strike="noStrike">
              <a:solidFill>
                <a:srgbClr val="000000"/>
              </a:solidFill>
              <a:effectLst/>
              <a:uFillTx/>
              <a:latin typeface="Arial"/>
            </a:endParaRPr>
          </a:p>
        </p:txBody>
      </p:sp>
      <p:sp>
        <p:nvSpPr>
          <p:cNvPr id="63" name="Text 5"/>
          <p:cNvSpPr/>
          <p:nvPr/>
        </p:nvSpPr>
        <p:spPr>
          <a:xfrm>
            <a:off x="1389960" y="190188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64" name="Text 6"/>
          <p:cNvSpPr/>
          <p:nvPr/>
        </p:nvSpPr>
        <p:spPr>
          <a:xfrm>
            <a:off x="1627560" y="1828800"/>
            <a:ext cx="502560" cy="32868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p[1]</a:t>
            </a:r>
            <a:endParaRPr lang="it-IT" sz="700" b="0" u="none" strike="noStrike">
              <a:solidFill>
                <a:srgbClr val="000000"/>
              </a:solidFill>
              <a:effectLst/>
              <a:uFillTx/>
              <a:latin typeface="Arial"/>
            </a:endParaRPr>
          </a:p>
        </p:txBody>
      </p:sp>
      <p:sp>
        <p:nvSpPr>
          <p:cNvPr id="65" name="Shape 7"/>
          <p:cNvSpPr/>
          <p:nvPr/>
        </p:nvSpPr>
        <p:spPr>
          <a:xfrm>
            <a:off x="1069560" y="2230920"/>
            <a:ext cx="360" cy="43884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6" name="Shape 8"/>
          <p:cNvSpPr/>
          <p:nvPr/>
        </p:nvSpPr>
        <p:spPr>
          <a:xfrm>
            <a:off x="1874520" y="2230920"/>
            <a:ext cx="360" cy="438840"/>
          </a:xfrm>
          <a:prstGeom prst="line">
            <a:avLst/>
          </a:prstGeom>
          <a:ln w="1016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7" name="Text 9"/>
          <p:cNvSpPr/>
          <p:nvPr/>
        </p:nvSpPr>
        <p:spPr>
          <a:xfrm>
            <a:off x="914400" y="2743200"/>
            <a:ext cx="114264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token 1</a:t>
            </a:r>
            <a:endParaRPr lang="it-IT" sz="800" b="0" u="none" strike="noStrike">
              <a:solidFill>
                <a:srgbClr val="000000"/>
              </a:solidFill>
              <a:effectLst/>
              <a:uFillTx/>
              <a:latin typeface="Arial"/>
            </a:endParaRPr>
          </a:p>
        </p:txBody>
      </p:sp>
      <p:sp>
        <p:nvSpPr>
          <p:cNvPr id="68" name="Text 10"/>
          <p:cNvSpPr/>
          <p:nvPr/>
        </p:nvSpPr>
        <p:spPr>
          <a:xfrm>
            <a:off x="2423160" y="1828800"/>
            <a:ext cx="502560" cy="328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x[2]</a:t>
            </a:r>
            <a:endParaRPr lang="it-IT" sz="700" b="0" u="none" strike="noStrike">
              <a:solidFill>
                <a:srgbClr val="000000"/>
              </a:solidFill>
              <a:effectLst/>
              <a:uFillTx/>
              <a:latin typeface="Arial"/>
            </a:endParaRPr>
          </a:p>
        </p:txBody>
      </p:sp>
      <p:sp>
        <p:nvSpPr>
          <p:cNvPr id="69" name="Text 11"/>
          <p:cNvSpPr/>
          <p:nvPr/>
        </p:nvSpPr>
        <p:spPr>
          <a:xfrm>
            <a:off x="2990160" y="190188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70" name="Text 12"/>
          <p:cNvSpPr/>
          <p:nvPr/>
        </p:nvSpPr>
        <p:spPr>
          <a:xfrm>
            <a:off x="3227760" y="1828800"/>
            <a:ext cx="502560" cy="32868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p[2]</a:t>
            </a:r>
            <a:endParaRPr lang="it-IT" sz="700" b="0" u="none" strike="noStrike">
              <a:solidFill>
                <a:srgbClr val="000000"/>
              </a:solidFill>
              <a:effectLst/>
              <a:uFillTx/>
              <a:latin typeface="Arial"/>
            </a:endParaRPr>
          </a:p>
        </p:txBody>
      </p:sp>
      <p:sp>
        <p:nvSpPr>
          <p:cNvPr id="71" name="Shape 13"/>
          <p:cNvSpPr/>
          <p:nvPr/>
        </p:nvSpPr>
        <p:spPr>
          <a:xfrm>
            <a:off x="2669760" y="2230920"/>
            <a:ext cx="360" cy="43884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2" name="Shape 14"/>
          <p:cNvSpPr/>
          <p:nvPr/>
        </p:nvSpPr>
        <p:spPr>
          <a:xfrm>
            <a:off x="3474720" y="2230920"/>
            <a:ext cx="360" cy="438840"/>
          </a:xfrm>
          <a:prstGeom prst="line">
            <a:avLst/>
          </a:prstGeom>
          <a:ln w="1016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3" name="Text 15"/>
          <p:cNvSpPr/>
          <p:nvPr/>
        </p:nvSpPr>
        <p:spPr>
          <a:xfrm>
            <a:off x="2514600" y="2743200"/>
            <a:ext cx="114264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token 2</a:t>
            </a:r>
            <a:endParaRPr lang="it-IT" sz="800" b="0" u="none" strike="noStrike">
              <a:solidFill>
                <a:srgbClr val="000000"/>
              </a:solidFill>
              <a:effectLst/>
              <a:uFillTx/>
              <a:latin typeface="Arial"/>
            </a:endParaRPr>
          </a:p>
        </p:txBody>
      </p:sp>
      <p:sp>
        <p:nvSpPr>
          <p:cNvPr id="74" name="Text 16"/>
          <p:cNvSpPr/>
          <p:nvPr/>
        </p:nvSpPr>
        <p:spPr>
          <a:xfrm>
            <a:off x="4023360" y="1828800"/>
            <a:ext cx="502560" cy="328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x[3]</a:t>
            </a:r>
            <a:endParaRPr lang="it-IT" sz="700" b="0" u="none" strike="noStrike">
              <a:solidFill>
                <a:srgbClr val="000000"/>
              </a:solidFill>
              <a:effectLst/>
              <a:uFillTx/>
              <a:latin typeface="Arial"/>
            </a:endParaRPr>
          </a:p>
        </p:txBody>
      </p:sp>
      <p:sp>
        <p:nvSpPr>
          <p:cNvPr id="75" name="Text 17"/>
          <p:cNvSpPr/>
          <p:nvPr/>
        </p:nvSpPr>
        <p:spPr>
          <a:xfrm>
            <a:off x="4590360" y="190188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76" name="Text 18"/>
          <p:cNvSpPr/>
          <p:nvPr/>
        </p:nvSpPr>
        <p:spPr>
          <a:xfrm>
            <a:off x="4827960" y="1828800"/>
            <a:ext cx="502560" cy="32868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p[3]</a:t>
            </a:r>
            <a:endParaRPr lang="it-IT" sz="700" b="0" u="none" strike="noStrike">
              <a:solidFill>
                <a:srgbClr val="000000"/>
              </a:solidFill>
              <a:effectLst/>
              <a:uFillTx/>
              <a:latin typeface="Arial"/>
            </a:endParaRPr>
          </a:p>
        </p:txBody>
      </p:sp>
      <p:sp>
        <p:nvSpPr>
          <p:cNvPr id="77" name="Shape 19"/>
          <p:cNvSpPr/>
          <p:nvPr/>
        </p:nvSpPr>
        <p:spPr>
          <a:xfrm>
            <a:off x="4269960" y="2230920"/>
            <a:ext cx="360" cy="43884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8" name="Shape 20"/>
          <p:cNvSpPr/>
          <p:nvPr/>
        </p:nvSpPr>
        <p:spPr>
          <a:xfrm>
            <a:off x="5074920" y="2230920"/>
            <a:ext cx="360" cy="438840"/>
          </a:xfrm>
          <a:prstGeom prst="line">
            <a:avLst/>
          </a:prstGeom>
          <a:ln w="1016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9" name="Text 21"/>
          <p:cNvSpPr/>
          <p:nvPr/>
        </p:nvSpPr>
        <p:spPr>
          <a:xfrm>
            <a:off x="4114800" y="2743200"/>
            <a:ext cx="114264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token 3</a:t>
            </a:r>
            <a:endParaRPr lang="it-IT" sz="800" b="0" u="none" strike="noStrike">
              <a:solidFill>
                <a:srgbClr val="000000"/>
              </a:solidFill>
              <a:effectLst/>
              <a:uFillTx/>
              <a:latin typeface="Arial"/>
            </a:endParaRPr>
          </a:p>
        </p:txBody>
      </p:sp>
      <p:sp>
        <p:nvSpPr>
          <p:cNvPr id="80" name="Text 22"/>
          <p:cNvSpPr/>
          <p:nvPr/>
        </p:nvSpPr>
        <p:spPr>
          <a:xfrm>
            <a:off x="5623560" y="1828800"/>
            <a:ext cx="502560" cy="328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x[4]</a:t>
            </a:r>
            <a:endParaRPr lang="it-IT" sz="700" b="0" u="none" strike="noStrike">
              <a:solidFill>
                <a:srgbClr val="000000"/>
              </a:solidFill>
              <a:effectLst/>
              <a:uFillTx/>
              <a:latin typeface="Arial"/>
            </a:endParaRPr>
          </a:p>
        </p:txBody>
      </p:sp>
      <p:sp>
        <p:nvSpPr>
          <p:cNvPr id="81" name="Text 23"/>
          <p:cNvSpPr/>
          <p:nvPr/>
        </p:nvSpPr>
        <p:spPr>
          <a:xfrm>
            <a:off x="6190560" y="190188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82" name="Text 24"/>
          <p:cNvSpPr/>
          <p:nvPr/>
        </p:nvSpPr>
        <p:spPr>
          <a:xfrm>
            <a:off x="6428160" y="1828800"/>
            <a:ext cx="502560" cy="32868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p[4]</a:t>
            </a:r>
            <a:endParaRPr lang="it-IT" sz="700" b="0" u="none" strike="noStrike">
              <a:solidFill>
                <a:srgbClr val="000000"/>
              </a:solidFill>
              <a:effectLst/>
              <a:uFillTx/>
              <a:latin typeface="Arial"/>
            </a:endParaRPr>
          </a:p>
        </p:txBody>
      </p:sp>
      <p:sp>
        <p:nvSpPr>
          <p:cNvPr id="83" name="Shape 25"/>
          <p:cNvSpPr/>
          <p:nvPr/>
        </p:nvSpPr>
        <p:spPr>
          <a:xfrm>
            <a:off x="5870160" y="2230920"/>
            <a:ext cx="360" cy="43884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84" name="Shape 26"/>
          <p:cNvSpPr/>
          <p:nvPr/>
        </p:nvSpPr>
        <p:spPr>
          <a:xfrm>
            <a:off x="6675120" y="2230920"/>
            <a:ext cx="360" cy="438840"/>
          </a:xfrm>
          <a:prstGeom prst="line">
            <a:avLst/>
          </a:prstGeom>
          <a:ln w="1016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85" name="Text 27"/>
          <p:cNvSpPr/>
          <p:nvPr/>
        </p:nvSpPr>
        <p:spPr>
          <a:xfrm>
            <a:off x="5715000" y="2743200"/>
            <a:ext cx="114264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token 4</a:t>
            </a:r>
            <a:endParaRPr lang="it-IT" sz="800" b="0" u="none" strike="noStrike">
              <a:solidFill>
                <a:srgbClr val="000000"/>
              </a:solidFill>
              <a:effectLst/>
              <a:uFillTx/>
              <a:latin typeface="Arial"/>
            </a:endParaRPr>
          </a:p>
        </p:txBody>
      </p:sp>
      <p:sp>
        <p:nvSpPr>
          <p:cNvPr id="86" name="Text 28"/>
          <p:cNvSpPr/>
          <p:nvPr/>
        </p:nvSpPr>
        <p:spPr>
          <a:xfrm>
            <a:off x="7223760" y="1828800"/>
            <a:ext cx="502560" cy="328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x[5]</a:t>
            </a:r>
            <a:endParaRPr lang="it-IT" sz="700" b="0" u="none" strike="noStrike">
              <a:solidFill>
                <a:srgbClr val="000000"/>
              </a:solidFill>
              <a:effectLst/>
              <a:uFillTx/>
              <a:latin typeface="Arial"/>
            </a:endParaRPr>
          </a:p>
        </p:txBody>
      </p:sp>
      <p:sp>
        <p:nvSpPr>
          <p:cNvPr id="87" name="Text 29"/>
          <p:cNvSpPr/>
          <p:nvPr/>
        </p:nvSpPr>
        <p:spPr>
          <a:xfrm>
            <a:off x="7790760" y="190188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88" name="Text 30"/>
          <p:cNvSpPr/>
          <p:nvPr/>
        </p:nvSpPr>
        <p:spPr>
          <a:xfrm>
            <a:off x="8028360" y="1828800"/>
            <a:ext cx="502560" cy="32868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p[5]</a:t>
            </a:r>
            <a:endParaRPr lang="it-IT" sz="700" b="0" u="none" strike="noStrike">
              <a:solidFill>
                <a:srgbClr val="000000"/>
              </a:solidFill>
              <a:effectLst/>
              <a:uFillTx/>
              <a:latin typeface="Arial"/>
            </a:endParaRPr>
          </a:p>
        </p:txBody>
      </p:sp>
      <p:sp>
        <p:nvSpPr>
          <p:cNvPr id="89" name="Shape 31"/>
          <p:cNvSpPr/>
          <p:nvPr/>
        </p:nvSpPr>
        <p:spPr>
          <a:xfrm>
            <a:off x="7470360" y="2230920"/>
            <a:ext cx="360" cy="43884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0" name="Shape 32"/>
          <p:cNvSpPr/>
          <p:nvPr/>
        </p:nvSpPr>
        <p:spPr>
          <a:xfrm>
            <a:off x="8275320" y="2230920"/>
            <a:ext cx="360" cy="438840"/>
          </a:xfrm>
          <a:prstGeom prst="line">
            <a:avLst/>
          </a:prstGeom>
          <a:ln w="1016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1" name="Text 33"/>
          <p:cNvSpPr/>
          <p:nvPr/>
        </p:nvSpPr>
        <p:spPr>
          <a:xfrm>
            <a:off x="7315200" y="2743200"/>
            <a:ext cx="114264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token 5</a:t>
            </a:r>
            <a:endParaRPr lang="it-IT" sz="800" b="0" u="none" strike="noStrike">
              <a:solidFill>
                <a:srgbClr val="000000"/>
              </a:solidFill>
              <a:effectLst/>
              <a:uFillTx/>
              <a:latin typeface="Arial"/>
            </a:endParaRPr>
          </a:p>
        </p:txBody>
      </p:sp>
      <p:sp>
        <p:nvSpPr>
          <p:cNvPr id="92" name="Text 34"/>
          <p:cNvSpPr/>
          <p:nvPr/>
        </p:nvSpPr>
        <p:spPr>
          <a:xfrm>
            <a:off x="2743200" y="3977640"/>
            <a:ext cx="4388760" cy="59400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a:solidFill>
                  <a:srgbClr val="0F172A"/>
                </a:solidFill>
                <a:effectLst/>
                <a:uFillTx/>
                <a:latin typeface="Arial"/>
                <a:ea typeface="Arial"/>
              </a:rPr>
              <a:t>position-aware sequence of tokens</a:t>
            </a:r>
            <a:endParaRPr lang="it-IT" sz="1400" b="0" u="none" strike="noStrike">
              <a:solidFill>
                <a:srgbClr val="000000"/>
              </a:solidFill>
              <a:effectLst/>
              <a:uFillTx/>
              <a:latin typeface="Arial"/>
            </a:endParaRPr>
          </a:p>
        </p:txBody>
      </p:sp>
      <p:sp>
        <p:nvSpPr>
          <p:cNvPr id="93" name="Shape 35"/>
          <p:cNvSpPr/>
          <p:nvPr/>
        </p:nvSpPr>
        <p:spPr>
          <a:xfrm>
            <a:off x="1481040" y="3218400"/>
            <a:ext cx="3365280" cy="713520"/>
          </a:xfrm>
          <a:prstGeom prst="line">
            <a:avLst/>
          </a:prstGeom>
          <a:ln w="9525">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4" name="Shape 36"/>
          <p:cNvSpPr/>
          <p:nvPr/>
        </p:nvSpPr>
        <p:spPr>
          <a:xfrm>
            <a:off x="3081240" y="3218400"/>
            <a:ext cx="1765080" cy="713520"/>
          </a:xfrm>
          <a:prstGeom prst="line">
            <a:avLst/>
          </a:prstGeom>
          <a:ln w="9525">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5" name="Shape 37"/>
          <p:cNvSpPr/>
          <p:nvPr/>
        </p:nvSpPr>
        <p:spPr>
          <a:xfrm>
            <a:off x="4681440" y="3218400"/>
            <a:ext cx="164880" cy="713520"/>
          </a:xfrm>
          <a:prstGeom prst="line">
            <a:avLst/>
          </a:prstGeom>
          <a:ln w="9525">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6" name="Shape 38"/>
          <p:cNvSpPr/>
          <p:nvPr/>
        </p:nvSpPr>
        <p:spPr>
          <a:xfrm flipH="1">
            <a:off x="4846320" y="3218400"/>
            <a:ext cx="1435320" cy="713520"/>
          </a:xfrm>
          <a:prstGeom prst="line">
            <a:avLst/>
          </a:prstGeom>
          <a:ln w="9525">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7" name="Shape 39"/>
          <p:cNvSpPr/>
          <p:nvPr/>
        </p:nvSpPr>
        <p:spPr>
          <a:xfrm flipH="1">
            <a:off x="4845960" y="3218400"/>
            <a:ext cx="3035880" cy="713520"/>
          </a:xfrm>
          <a:prstGeom prst="line">
            <a:avLst/>
          </a:prstGeom>
          <a:ln w="9525">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98" name="Text 40"/>
          <p:cNvSpPr/>
          <p:nvPr/>
        </p:nvSpPr>
        <p:spPr>
          <a:xfrm>
            <a:off x="7589520" y="3840480"/>
            <a:ext cx="1919880" cy="82260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Transformer</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self-attention</a:t>
            </a:r>
            <a:endParaRPr lang="it-IT" sz="1200" b="0" u="none" strike="noStrike">
              <a:solidFill>
                <a:srgbClr val="000000"/>
              </a:solidFill>
              <a:effectLst/>
              <a:uFillTx/>
              <a:latin typeface="Arial"/>
            </a:endParaRPr>
          </a:p>
        </p:txBody>
      </p:sp>
      <p:sp>
        <p:nvSpPr>
          <p:cNvPr id="99" name="Shape 41"/>
          <p:cNvSpPr/>
          <p:nvPr/>
        </p:nvSpPr>
        <p:spPr>
          <a:xfrm>
            <a:off x="7132320" y="4315680"/>
            <a:ext cx="411480" cy="360"/>
          </a:xfrm>
          <a:prstGeom prst="line">
            <a:avLst/>
          </a:prstGeom>
          <a:ln w="1397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00" name="Text 42"/>
          <p:cNvSpPr/>
          <p:nvPr/>
        </p:nvSpPr>
        <p:spPr>
          <a:xfrm>
            <a:off x="2194560" y="1325880"/>
            <a:ext cx="5668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u="none" strike="noStrike">
                <a:solidFill>
                  <a:srgbClr val="475569"/>
                </a:solidFill>
                <a:effectLst/>
                <a:uFillTx/>
                <a:latin typeface="Arial"/>
                <a:ea typeface="Arial"/>
              </a:rPr>
              <a:t>absolute position identifies where the token occurs inside the input window</a:t>
            </a:r>
            <a:endParaRPr lang="it-IT" sz="900" b="0" u="none" strike="noStrike">
              <a:solidFill>
                <a:srgbClr val="000000"/>
              </a:solidFill>
              <a:effectLst/>
              <a:uFillTx/>
              <a:latin typeface="Arial"/>
            </a:endParaRPr>
          </a:p>
        </p:txBody>
      </p:sp>
      <p:sp>
        <p:nvSpPr>
          <p:cNvPr id="101" name="Text 43"/>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475569"/>
                </a:solidFill>
                <a:effectLst/>
                <a:uFillTx/>
                <a:latin typeface="Arial"/>
              </a:rPr>
              <a:t>Absolute positional encodings allow tokens with similar content to be </a:t>
            </a:r>
            <a:r>
              <a:rPr lang="en-US" sz="1000" b="1" u="none" strike="noStrike" dirty="0">
                <a:solidFill>
                  <a:srgbClr val="475569"/>
                </a:solidFill>
                <a:effectLst/>
                <a:highlight>
                  <a:srgbClr val="FFFF00"/>
                </a:highlight>
                <a:uFillTx/>
                <a:latin typeface="Arial"/>
              </a:rPr>
              <a:t>distinguishable by location</a:t>
            </a:r>
            <a:r>
              <a:rPr lang="en-US" sz="1000" b="1" u="none" strike="noStrike" dirty="0">
                <a:solidFill>
                  <a:srgbClr val="475569"/>
                </a:solidFill>
                <a:effectLst/>
                <a:uFillTx/>
                <a:latin typeface="Arial"/>
              </a:rPr>
              <a:t>.</a:t>
            </a:r>
            <a:endParaRPr lang="it-IT" sz="1000" b="1" u="none" strike="noStrike" dirty="0">
              <a:solidFill>
                <a:srgbClr val="000000"/>
              </a:solidFill>
              <a:effectLst/>
              <a:uFillTx/>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58B9565-4439-61B4-6E7F-90596D367423}"/>
              </a:ext>
            </a:extLst>
          </p:cNvPr>
          <p:cNvSpPr>
            <a:spLocks noGrp="1"/>
          </p:cNvSpPr>
          <p:nvPr>
            <p:ph type="title"/>
          </p:nvPr>
        </p:nvSpPr>
        <p:spPr/>
        <p:txBody>
          <a:bodyPr/>
          <a:lstStyle/>
          <a:p>
            <a:r>
              <a:rPr lang="en-GB" dirty="0"/>
              <a:t>Relative positional information</a:t>
            </a:r>
          </a:p>
        </p:txBody>
      </p:sp>
      <p:sp>
        <p:nvSpPr>
          <p:cNvPr id="3" name="Segnaposto contenuto 2">
            <a:extLst>
              <a:ext uri="{FF2B5EF4-FFF2-40B4-BE49-F238E27FC236}">
                <a16:creationId xmlns:a16="http://schemas.microsoft.com/office/drawing/2014/main" id="{8A4836AC-FD3D-CCB4-4DF0-328C0BBC0B4E}"/>
              </a:ext>
            </a:extLst>
          </p:cNvPr>
          <p:cNvSpPr>
            <a:spLocks noGrp="1"/>
          </p:cNvSpPr>
          <p:nvPr>
            <p:ph sz="half" idx="1"/>
          </p:nvPr>
        </p:nvSpPr>
        <p:spPr/>
        <p:txBody>
          <a:bodyPr>
            <a:normAutofit fontScale="55000" lnSpcReduction="20000"/>
          </a:bodyPr>
          <a:lstStyle/>
          <a:p>
            <a:r>
              <a:rPr lang="en-GB" dirty="0"/>
              <a:t>In many temporal problems, the distance between positions matters more than their absolute index.</a:t>
            </a:r>
          </a:p>
          <a:p>
            <a:r>
              <a:rPr lang="en-GB" dirty="0"/>
              <a:t>Examples:</a:t>
            </a:r>
          </a:p>
          <a:p>
            <a:r>
              <a:rPr lang="en-GB" dirty="0"/>
              <a:t>1 sample ago</a:t>
            </a:r>
          </a:p>
          <a:p>
            <a:r>
              <a:rPr lang="en-GB" dirty="0"/>
              <a:t>24 hours ago</a:t>
            </a:r>
          </a:p>
          <a:p>
            <a:r>
              <a:rPr lang="en-GB" dirty="0"/>
              <a:t>7 days ago</a:t>
            </a:r>
          </a:p>
          <a:p>
            <a:r>
              <a:rPr lang="en-GB" dirty="0"/>
              <a:t>Relative positional information represents relationships such as:</a:t>
            </a:r>
          </a:p>
          <a:p>
            <a:r>
              <a:rPr lang="en-GB" dirty="0"/>
              <a:t>j − i</a:t>
            </a:r>
          </a:p>
          <a:p>
            <a:r>
              <a:rPr lang="en-GB" dirty="0"/>
              <a:t>between two temporal positions.</a:t>
            </a:r>
          </a:p>
          <a:p>
            <a:endParaRPr lang="en-GB" dirty="0"/>
          </a:p>
        </p:txBody>
      </p:sp>
      <p:sp>
        <p:nvSpPr>
          <p:cNvPr id="4" name="Segnaposto contenuto 3">
            <a:extLst>
              <a:ext uri="{FF2B5EF4-FFF2-40B4-BE49-F238E27FC236}">
                <a16:creationId xmlns:a16="http://schemas.microsoft.com/office/drawing/2014/main" id="{44336360-17FA-327F-B973-87607E04B571}"/>
              </a:ext>
            </a:extLst>
          </p:cNvPr>
          <p:cNvSpPr>
            <a:spLocks noGrp="1"/>
          </p:cNvSpPr>
          <p:nvPr>
            <p:ph sz="half" idx="2"/>
          </p:nvPr>
        </p:nvSpPr>
        <p:spPr/>
        <p:txBody>
          <a:bodyPr>
            <a:normAutofit fontScale="55000" lnSpcReduction="20000"/>
          </a:bodyPr>
          <a:lstStyle/>
          <a:p>
            <a:r>
              <a:rPr lang="en-GB" b="1" dirty="0"/>
              <a:t>Example</a:t>
            </a:r>
          </a:p>
          <a:p>
            <a:r>
              <a:rPr lang="en-GB" dirty="0"/>
              <a:t>For hourly demand:</a:t>
            </a:r>
          </a:p>
          <a:p>
            <a:r>
              <a:rPr lang="en-GB" dirty="0"/>
              <a:t>distance = 1</a:t>
            </a:r>
          </a:p>
          <a:p>
            <a:r>
              <a:rPr lang="en-GB" dirty="0"/>
              <a:t>→ previous hour</a:t>
            </a:r>
          </a:p>
          <a:p>
            <a:endParaRPr lang="en-GB" dirty="0"/>
          </a:p>
          <a:p>
            <a:r>
              <a:rPr lang="en-GB" dirty="0"/>
              <a:t>distance = 24</a:t>
            </a:r>
          </a:p>
          <a:p>
            <a:r>
              <a:rPr lang="en-GB" dirty="0"/>
              <a:t>→ same hour one day earlier</a:t>
            </a:r>
          </a:p>
          <a:p>
            <a:endParaRPr lang="en-GB" dirty="0"/>
          </a:p>
          <a:p>
            <a:r>
              <a:rPr lang="en-GB" dirty="0"/>
              <a:t>distance = 168</a:t>
            </a:r>
          </a:p>
          <a:p>
            <a:r>
              <a:rPr lang="en-GB" dirty="0"/>
              <a:t>→ same hour one week earlier</a:t>
            </a:r>
          </a:p>
          <a:p>
            <a:r>
              <a:rPr lang="en-GB" b="1" dirty="0"/>
              <a:t>Why useful?</a:t>
            </a:r>
          </a:p>
          <a:p>
            <a:r>
              <a:rPr lang="en-GB" dirty="0"/>
              <a:t>The meaning of these distances may be relevant even when the sequence window begins at a different absolute time.</a:t>
            </a:r>
          </a:p>
          <a:p>
            <a:pPr marL="0" indent="0">
              <a:buNone/>
            </a:pPr>
            <a:endParaRPr lang="en-GB" b="1" dirty="0"/>
          </a:p>
          <a:p>
            <a:r>
              <a:rPr lang="en-GB" b="1" dirty="0"/>
              <a:t>Absolute position tells the model where a token is; relative position tells it how far apart two tokens are.</a:t>
            </a:r>
          </a:p>
          <a:p>
            <a:endParaRPr lang="en-GB" dirty="0"/>
          </a:p>
        </p:txBody>
      </p:sp>
    </p:spTree>
    <p:extLst>
      <p:ext uri="{BB962C8B-B14F-4D97-AF65-F5344CB8AC3E}">
        <p14:creationId xmlns:p14="http://schemas.microsoft.com/office/powerpoint/2010/main" val="34488877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3"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4"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Absolute versus relative position</a:t>
            </a:r>
            <a:endParaRPr lang="it-IT" sz="2100" b="0" u="none" strike="noStrike">
              <a:solidFill>
                <a:srgbClr val="000000"/>
              </a:solidFill>
              <a:effectLst/>
              <a:uFillTx/>
              <a:latin typeface="Arial"/>
            </a:endParaRPr>
          </a:p>
        </p:txBody>
      </p:sp>
      <p:sp>
        <p:nvSpPr>
          <p:cNvPr id="105"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Absolute position identifies location; relative position identifies temporal distance between positions.</a:t>
            </a:r>
            <a:endParaRPr lang="it-IT" sz="850" b="0" u="none" strike="noStrike">
              <a:solidFill>
                <a:srgbClr val="000000"/>
              </a:solidFill>
              <a:effectLst/>
              <a:uFillTx/>
              <a:latin typeface="Arial"/>
            </a:endParaRPr>
          </a:p>
        </p:txBody>
      </p:sp>
      <p:sp>
        <p:nvSpPr>
          <p:cNvPr id="106" name="Text 4"/>
          <p:cNvSpPr/>
          <p:nvPr/>
        </p:nvSpPr>
        <p:spPr>
          <a:xfrm>
            <a:off x="1005840" y="128016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65A30D"/>
                </a:solidFill>
                <a:effectLst/>
                <a:uFillTx/>
                <a:latin typeface="Arial"/>
                <a:ea typeface="Arial"/>
              </a:rPr>
              <a:t>Absolute position</a:t>
            </a:r>
            <a:endParaRPr lang="it-IT" sz="1200" b="0" u="none" strike="noStrike">
              <a:solidFill>
                <a:srgbClr val="000000"/>
              </a:solidFill>
              <a:effectLst/>
              <a:uFillTx/>
              <a:latin typeface="Arial"/>
            </a:endParaRPr>
          </a:p>
        </p:txBody>
      </p:sp>
      <p:sp>
        <p:nvSpPr>
          <p:cNvPr id="107" name="Shape 5"/>
          <p:cNvSpPr/>
          <p:nvPr/>
        </p:nvSpPr>
        <p:spPr>
          <a:xfrm>
            <a:off x="1005840" y="1965960"/>
            <a:ext cx="8869680" cy="360"/>
          </a:xfrm>
          <a:prstGeom prst="line">
            <a:avLst/>
          </a:prstGeom>
          <a:ln w="1524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08" name="Shape 6"/>
          <p:cNvSpPr/>
          <p:nvPr/>
        </p:nvSpPr>
        <p:spPr>
          <a:xfrm>
            <a:off x="114300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09" name="Text 7"/>
          <p:cNvSpPr/>
          <p:nvPr/>
        </p:nvSpPr>
        <p:spPr>
          <a:xfrm>
            <a:off x="105156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1</a:t>
            </a:r>
            <a:endParaRPr lang="it-IT" sz="800" b="0" u="none" strike="noStrike">
              <a:solidFill>
                <a:srgbClr val="000000"/>
              </a:solidFill>
              <a:effectLst/>
              <a:uFillTx/>
              <a:latin typeface="Arial"/>
            </a:endParaRPr>
          </a:p>
        </p:txBody>
      </p:sp>
      <p:sp>
        <p:nvSpPr>
          <p:cNvPr id="110" name="Shape 8"/>
          <p:cNvSpPr/>
          <p:nvPr/>
        </p:nvSpPr>
        <p:spPr>
          <a:xfrm>
            <a:off x="224028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11" name="Text 9"/>
          <p:cNvSpPr/>
          <p:nvPr/>
        </p:nvSpPr>
        <p:spPr>
          <a:xfrm>
            <a:off x="214884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2</a:t>
            </a:r>
            <a:endParaRPr lang="it-IT" sz="800" b="0" u="none" strike="noStrike">
              <a:solidFill>
                <a:srgbClr val="000000"/>
              </a:solidFill>
              <a:effectLst/>
              <a:uFillTx/>
              <a:latin typeface="Arial"/>
            </a:endParaRPr>
          </a:p>
        </p:txBody>
      </p:sp>
      <p:sp>
        <p:nvSpPr>
          <p:cNvPr id="112" name="Shape 10"/>
          <p:cNvSpPr/>
          <p:nvPr/>
        </p:nvSpPr>
        <p:spPr>
          <a:xfrm>
            <a:off x="333756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13" name="Text 11"/>
          <p:cNvSpPr/>
          <p:nvPr/>
        </p:nvSpPr>
        <p:spPr>
          <a:xfrm>
            <a:off x="324612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3</a:t>
            </a:r>
            <a:endParaRPr lang="it-IT" sz="800" b="0" u="none" strike="noStrike">
              <a:solidFill>
                <a:srgbClr val="000000"/>
              </a:solidFill>
              <a:effectLst/>
              <a:uFillTx/>
              <a:latin typeface="Arial"/>
            </a:endParaRPr>
          </a:p>
        </p:txBody>
      </p:sp>
      <p:sp>
        <p:nvSpPr>
          <p:cNvPr id="114" name="Shape 12"/>
          <p:cNvSpPr/>
          <p:nvPr/>
        </p:nvSpPr>
        <p:spPr>
          <a:xfrm>
            <a:off x="443484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15" name="Text 13"/>
          <p:cNvSpPr/>
          <p:nvPr/>
        </p:nvSpPr>
        <p:spPr>
          <a:xfrm>
            <a:off x="434340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4</a:t>
            </a:r>
            <a:endParaRPr lang="it-IT" sz="800" b="0" u="none" strike="noStrike">
              <a:solidFill>
                <a:srgbClr val="000000"/>
              </a:solidFill>
              <a:effectLst/>
              <a:uFillTx/>
              <a:latin typeface="Arial"/>
            </a:endParaRPr>
          </a:p>
        </p:txBody>
      </p:sp>
      <p:sp>
        <p:nvSpPr>
          <p:cNvPr id="116" name="Shape 14"/>
          <p:cNvSpPr/>
          <p:nvPr/>
        </p:nvSpPr>
        <p:spPr>
          <a:xfrm>
            <a:off x="553212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17" name="Text 15"/>
          <p:cNvSpPr/>
          <p:nvPr/>
        </p:nvSpPr>
        <p:spPr>
          <a:xfrm>
            <a:off x="544068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5</a:t>
            </a:r>
            <a:endParaRPr lang="it-IT" sz="800" b="0" u="none" strike="noStrike">
              <a:solidFill>
                <a:srgbClr val="000000"/>
              </a:solidFill>
              <a:effectLst/>
              <a:uFillTx/>
              <a:latin typeface="Arial"/>
            </a:endParaRPr>
          </a:p>
        </p:txBody>
      </p:sp>
      <p:sp>
        <p:nvSpPr>
          <p:cNvPr id="118" name="Shape 16"/>
          <p:cNvSpPr/>
          <p:nvPr/>
        </p:nvSpPr>
        <p:spPr>
          <a:xfrm>
            <a:off x="662940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19" name="Text 17"/>
          <p:cNvSpPr/>
          <p:nvPr/>
        </p:nvSpPr>
        <p:spPr>
          <a:xfrm>
            <a:off x="653796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6</a:t>
            </a:r>
            <a:endParaRPr lang="it-IT" sz="800" b="0" u="none" strike="noStrike">
              <a:solidFill>
                <a:srgbClr val="000000"/>
              </a:solidFill>
              <a:effectLst/>
              <a:uFillTx/>
              <a:latin typeface="Arial"/>
            </a:endParaRPr>
          </a:p>
        </p:txBody>
      </p:sp>
      <p:sp>
        <p:nvSpPr>
          <p:cNvPr id="120" name="Shape 18"/>
          <p:cNvSpPr/>
          <p:nvPr/>
        </p:nvSpPr>
        <p:spPr>
          <a:xfrm>
            <a:off x="772668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21" name="Text 19"/>
          <p:cNvSpPr/>
          <p:nvPr/>
        </p:nvSpPr>
        <p:spPr>
          <a:xfrm>
            <a:off x="763524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7</a:t>
            </a:r>
            <a:endParaRPr lang="it-IT" sz="800" b="0" u="none" strike="noStrike">
              <a:solidFill>
                <a:srgbClr val="000000"/>
              </a:solidFill>
              <a:effectLst/>
              <a:uFillTx/>
              <a:latin typeface="Arial"/>
            </a:endParaRPr>
          </a:p>
        </p:txBody>
      </p:sp>
      <p:sp>
        <p:nvSpPr>
          <p:cNvPr id="122" name="Shape 20"/>
          <p:cNvSpPr/>
          <p:nvPr/>
        </p:nvSpPr>
        <p:spPr>
          <a:xfrm>
            <a:off x="8823960" y="1874520"/>
            <a:ext cx="164160" cy="16416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23" name="Text 21"/>
          <p:cNvSpPr/>
          <p:nvPr/>
        </p:nvSpPr>
        <p:spPr>
          <a:xfrm>
            <a:off x="873252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u="none" strike="noStrike">
                <a:solidFill>
                  <a:srgbClr val="475569"/>
                </a:solidFill>
                <a:effectLst/>
                <a:uFillTx/>
                <a:latin typeface="Arial"/>
                <a:ea typeface="Arial"/>
              </a:rPr>
              <a:t>8</a:t>
            </a:r>
            <a:endParaRPr lang="it-IT" sz="800" b="0" u="none" strike="noStrike">
              <a:solidFill>
                <a:srgbClr val="000000"/>
              </a:solidFill>
              <a:effectLst/>
              <a:uFillTx/>
              <a:latin typeface="Arial"/>
            </a:endParaRPr>
          </a:p>
        </p:txBody>
      </p:sp>
      <p:sp>
        <p:nvSpPr>
          <p:cNvPr id="124" name="Text 22"/>
          <p:cNvSpPr/>
          <p:nvPr/>
        </p:nvSpPr>
        <p:spPr>
          <a:xfrm>
            <a:off x="6400800" y="1417320"/>
            <a:ext cx="1645560" cy="4568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950" b="1" u="none" strike="noStrike">
                <a:solidFill>
                  <a:srgbClr val="0F172A"/>
                </a:solidFill>
                <a:effectLst/>
                <a:uFillTx/>
                <a:latin typeface="Arial"/>
                <a:ea typeface="Arial"/>
              </a:rPr>
              <a:t>token at position 6</a:t>
            </a:r>
            <a:endParaRPr lang="it-IT" sz="950" b="0" u="none" strike="noStrike">
              <a:solidFill>
                <a:srgbClr val="000000"/>
              </a:solidFill>
              <a:effectLst/>
              <a:uFillTx/>
              <a:latin typeface="Arial"/>
            </a:endParaRPr>
          </a:p>
        </p:txBody>
      </p:sp>
      <p:sp>
        <p:nvSpPr>
          <p:cNvPr id="125" name="Text 23"/>
          <p:cNvSpPr/>
          <p:nvPr/>
        </p:nvSpPr>
        <p:spPr>
          <a:xfrm>
            <a:off x="1005840" y="320040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8B5CF6"/>
                </a:solidFill>
                <a:effectLst/>
                <a:uFillTx/>
                <a:latin typeface="Arial"/>
                <a:ea typeface="Arial"/>
              </a:rPr>
              <a:t>Relative position</a:t>
            </a:r>
            <a:endParaRPr lang="it-IT" sz="1200" b="0" u="none" strike="noStrike">
              <a:solidFill>
                <a:srgbClr val="000000"/>
              </a:solidFill>
              <a:effectLst/>
              <a:uFillTx/>
              <a:latin typeface="Arial"/>
            </a:endParaRPr>
          </a:p>
        </p:txBody>
      </p:sp>
      <p:sp>
        <p:nvSpPr>
          <p:cNvPr id="126" name="Shape 24"/>
          <p:cNvSpPr/>
          <p:nvPr/>
        </p:nvSpPr>
        <p:spPr>
          <a:xfrm>
            <a:off x="1005840" y="3886200"/>
            <a:ext cx="8869680" cy="360"/>
          </a:xfrm>
          <a:prstGeom prst="line">
            <a:avLst/>
          </a:prstGeom>
          <a:ln w="1524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27" name="Shape 25"/>
          <p:cNvSpPr/>
          <p:nvPr/>
        </p:nvSpPr>
        <p:spPr>
          <a:xfrm>
            <a:off x="114300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28" name="Shape 26"/>
          <p:cNvSpPr/>
          <p:nvPr/>
        </p:nvSpPr>
        <p:spPr>
          <a:xfrm>
            <a:off x="224028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29" name="Shape 27"/>
          <p:cNvSpPr/>
          <p:nvPr/>
        </p:nvSpPr>
        <p:spPr>
          <a:xfrm>
            <a:off x="333756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30" name="Shape 28"/>
          <p:cNvSpPr/>
          <p:nvPr/>
        </p:nvSpPr>
        <p:spPr>
          <a:xfrm>
            <a:off x="443484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31" name="Shape 29"/>
          <p:cNvSpPr/>
          <p:nvPr/>
        </p:nvSpPr>
        <p:spPr>
          <a:xfrm>
            <a:off x="553212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32" name="Shape 30"/>
          <p:cNvSpPr/>
          <p:nvPr/>
        </p:nvSpPr>
        <p:spPr>
          <a:xfrm>
            <a:off x="662940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33" name="Shape 31"/>
          <p:cNvSpPr/>
          <p:nvPr/>
        </p:nvSpPr>
        <p:spPr>
          <a:xfrm>
            <a:off x="772668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34" name="Shape 32"/>
          <p:cNvSpPr/>
          <p:nvPr/>
        </p:nvSpPr>
        <p:spPr>
          <a:xfrm>
            <a:off x="8823960" y="3794760"/>
            <a:ext cx="164160" cy="1641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135" name="Text 33"/>
          <p:cNvSpPr/>
          <p:nvPr/>
        </p:nvSpPr>
        <p:spPr>
          <a:xfrm>
            <a:off x="6309360" y="4160520"/>
            <a:ext cx="73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8B5CF6"/>
                </a:solidFill>
                <a:effectLst/>
                <a:uFillTx/>
                <a:latin typeface="Arial"/>
                <a:ea typeface="Arial"/>
              </a:rPr>
              <a:t>current</a:t>
            </a:r>
            <a:endParaRPr lang="it-IT" sz="800" b="0" u="none" strike="noStrike">
              <a:solidFill>
                <a:srgbClr val="000000"/>
              </a:solidFill>
              <a:effectLst/>
              <a:uFillTx/>
              <a:latin typeface="Arial"/>
            </a:endParaRPr>
          </a:p>
          <a:p>
            <a:pPr algn="ctr" defTabSz="914400">
              <a:lnSpc>
                <a:spcPct val="100000"/>
              </a:lnSpc>
              <a:tabLst>
                <a:tab pos="0" algn="l"/>
              </a:tabLst>
            </a:pPr>
            <a:r>
              <a:rPr lang="en-US" sz="800" b="1" u="none" strike="noStrike">
                <a:solidFill>
                  <a:srgbClr val="8B5CF6"/>
                </a:solidFill>
                <a:effectLst/>
                <a:uFillTx/>
                <a:latin typeface="Arial"/>
                <a:ea typeface="Arial"/>
              </a:rPr>
              <a:t>t</a:t>
            </a:r>
            <a:endParaRPr lang="it-IT" sz="800" b="0" u="none" strike="noStrike">
              <a:solidFill>
                <a:srgbClr val="000000"/>
              </a:solidFill>
              <a:effectLst/>
              <a:uFillTx/>
              <a:latin typeface="Arial"/>
            </a:endParaRPr>
          </a:p>
        </p:txBody>
      </p:sp>
      <p:sp>
        <p:nvSpPr>
          <p:cNvPr id="136" name="Shape 34"/>
          <p:cNvSpPr/>
          <p:nvPr/>
        </p:nvSpPr>
        <p:spPr>
          <a:xfrm flipH="1">
            <a:off x="5532120" y="4800600"/>
            <a:ext cx="1051560" cy="360"/>
          </a:xfrm>
          <a:prstGeom prst="line">
            <a:avLst/>
          </a:prstGeom>
          <a:ln w="1524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37" name="Text 35"/>
          <p:cNvSpPr/>
          <p:nvPr/>
        </p:nvSpPr>
        <p:spPr>
          <a:xfrm>
            <a:off x="5486400" y="4892040"/>
            <a:ext cx="1188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8B5CF6"/>
                </a:solidFill>
                <a:effectLst/>
                <a:uFillTx/>
                <a:latin typeface="Arial"/>
                <a:ea typeface="Arial"/>
              </a:rPr>
              <a:t>1 step earlier</a:t>
            </a:r>
            <a:endParaRPr lang="it-IT" sz="750" b="0" u="none" strike="noStrike">
              <a:solidFill>
                <a:srgbClr val="000000"/>
              </a:solidFill>
              <a:effectLst/>
              <a:uFillTx/>
              <a:latin typeface="Arial"/>
            </a:endParaRPr>
          </a:p>
        </p:txBody>
      </p:sp>
      <p:sp>
        <p:nvSpPr>
          <p:cNvPr id="138" name="Shape 36"/>
          <p:cNvSpPr/>
          <p:nvPr/>
        </p:nvSpPr>
        <p:spPr>
          <a:xfrm flipH="1">
            <a:off x="3337560" y="5349240"/>
            <a:ext cx="3246120" cy="360"/>
          </a:xfrm>
          <a:prstGeom prst="line">
            <a:avLst/>
          </a:prstGeom>
          <a:ln w="1524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39" name="Text 37"/>
          <p:cNvSpPr/>
          <p:nvPr/>
        </p:nvSpPr>
        <p:spPr>
          <a:xfrm>
            <a:off x="3703320" y="5440680"/>
            <a:ext cx="1188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50" b="0" u="none" strike="noStrike">
                <a:solidFill>
                  <a:srgbClr val="8B5CF6"/>
                </a:solidFill>
                <a:effectLst/>
                <a:uFillTx/>
                <a:latin typeface="Arial"/>
                <a:ea typeface="Arial"/>
              </a:rPr>
              <a:t>3 steps earlier</a:t>
            </a:r>
            <a:endParaRPr lang="it-IT" sz="750" b="0" u="none" strike="noStrike">
              <a:solidFill>
                <a:srgbClr val="000000"/>
              </a:solidFill>
              <a:effectLst/>
              <a:uFillTx/>
              <a:latin typeface="Arial"/>
            </a:endParaRPr>
          </a:p>
        </p:txBody>
      </p:sp>
      <p:sp>
        <p:nvSpPr>
          <p:cNvPr id="140" name="Text 38"/>
          <p:cNvSpPr/>
          <p:nvPr/>
        </p:nvSpPr>
        <p:spPr>
          <a:xfrm>
            <a:off x="1005840" y="5715000"/>
            <a:ext cx="338292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absolute: “I am at position 6”</a:t>
            </a:r>
            <a:endParaRPr lang="it-IT" sz="1000" b="0" u="none" strike="noStrike">
              <a:solidFill>
                <a:srgbClr val="000000"/>
              </a:solidFill>
              <a:effectLst/>
              <a:uFillTx/>
              <a:latin typeface="Arial"/>
            </a:endParaRPr>
          </a:p>
        </p:txBody>
      </p:sp>
      <p:sp>
        <p:nvSpPr>
          <p:cNvPr id="141" name="Text 39"/>
          <p:cNvSpPr/>
          <p:nvPr/>
        </p:nvSpPr>
        <p:spPr>
          <a:xfrm>
            <a:off x="4663440" y="5715000"/>
            <a:ext cx="4297320" cy="4111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relative: “this token is 3 steps before t”</a:t>
            </a:r>
            <a:endParaRPr lang="it-IT" sz="1000" b="0" u="none" strike="noStrike">
              <a:solidFill>
                <a:srgbClr val="000000"/>
              </a:solidFill>
              <a:effectLst/>
              <a:uFillTx/>
              <a:latin typeface="Arial"/>
            </a:endParaRPr>
          </a:p>
        </p:txBody>
      </p:sp>
      <p:sp>
        <p:nvSpPr>
          <p:cNvPr id="142" name="Text 40"/>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475569"/>
                </a:solidFill>
                <a:effectLst/>
                <a:uFillTx/>
                <a:latin typeface="Arial"/>
              </a:rPr>
              <a:t>Both absolute and relative positional information can be useful, depending on whether location or distance matters more.</a:t>
            </a:r>
            <a:endParaRPr lang="it-IT" sz="900" b="0" u="none" strike="noStrike" dirty="0">
              <a:solidFill>
                <a:srgbClr val="000000"/>
              </a:solidFill>
              <a:effectLst/>
              <a:uFillTx/>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F4E9E3-9B08-7A19-DC11-9D32A408B172}"/>
              </a:ext>
            </a:extLst>
          </p:cNvPr>
          <p:cNvSpPr>
            <a:spLocks noGrp="1"/>
          </p:cNvSpPr>
          <p:nvPr>
            <p:ph type="title"/>
          </p:nvPr>
        </p:nvSpPr>
        <p:spPr/>
        <p:txBody>
          <a:bodyPr/>
          <a:lstStyle/>
          <a:p>
            <a:r>
              <a:rPr lang="it-IT" dirty="0"/>
              <a:t>Relative position </a:t>
            </a:r>
            <a:r>
              <a:rPr lang="it-IT" dirty="0" err="1"/>
              <a:t>implementation</a:t>
            </a:r>
            <a:endParaRPr lang="en-GB" dirty="0"/>
          </a:p>
        </p:txBody>
      </p:sp>
      <p:sp>
        <p:nvSpPr>
          <p:cNvPr id="3" name="Segnaposto contenuto 2">
            <a:extLst>
              <a:ext uri="{FF2B5EF4-FFF2-40B4-BE49-F238E27FC236}">
                <a16:creationId xmlns:a16="http://schemas.microsoft.com/office/drawing/2014/main" id="{93FACF80-F3C1-734F-EFDD-09E4CFA978BD}"/>
              </a:ext>
            </a:extLst>
          </p:cNvPr>
          <p:cNvSpPr>
            <a:spLocks noGrp="1"/>
          </p:cNvSpPr>
          <p:nvPr>
            <p:ph sz="half" idx="1"/>
          </p:nvPr>
        </p:nvSpPr>
        <p:spPr>
          <a:xfrm>
            <a:off x="677334" y="2160589"/>
            <a:ext cx="5120351" cy="4541768"/>
          </a:xfrm>
        </p:spPr>
        <p:txBody>
          <a:bodyPr>
            <a:normAutofit fontScale="92500" lnSpcReduction="10000"/>
          </a:bodyPr>
          <a:lstStyle/>
          <a:p>
            <a:r>
              <a:rPr lang="en-GB" b="1" dirty="0"/>
              <a:t>Absolute positional encoding tells each token where it is. Relative positional encoding tells attention how far apart two interacting tokens are.</a:t>
            </a:r>
            <a:endParaRPr lang="en-GB" dirty="0"/>
          </a:p>
          <a:p>
            <a:r>
              <a:rPr lang="en-GB" dirty="0"/>
              <a:t>Relative position </a:t>
            </a:r>
            <a:r>
              <a:rPr lang="en-GB" b="1" dirty="0"/>
              <a:t>is not added to the input embeddings</a:t>
            </a:r>
            <a:r>
              <a:rPr lang="en-GB" dirty="0"/>
              <a:t>. It is inserted into the attention scores.</a:t>
            </a:r>
          </a:p>
          <a:p>
            <a:endParaRPr lang="en-GB" dirty="0"/>
          </a:p>
        </p:txBody>
      </p:sp>
      <p:sp>
        <p:nvSpPr>
          <p:cNvPr id="4" name="Segnaposto contenuto 3">
            <a:extLst>
              <a:ext uri="{FF2B5EF4-FFF2-40B4-BE49-F238E27FC236}">
                <a16:creationId xmlns:a16="http://schemas.microsoft.com/office/drawing/2014/main" id="{CD19CA28-167F-4ACE-CF55-23250637E00A}"/>
              </a:ext>
            </a:extLst>
          </p:cNvPr>
          <p:cNvSpPr>
            <a:spLocks noGrp="1"/>
          </p:cNvSpPr>
          <p:nvPr>
            <p:ph sz="half" idx="2"/>
          </p:nvPr>
        </p:nvSpPr>
        <p:spPr>
          <a:xfrm>
            <a:off x="5965460" y="2160589"/>
            <a:ext cx="5834192" cy="4454220"/>
          </a:xfrm>
        </p:spPr>
        <p:txBody>
          <a:bodyPr>
            <a:normAutofit fontScale="92500" lnSpcReduction="10000"/>
          </a:bodyPr>
          <a:lstStyle/>
          <a:p>
            <a:r>
              <a:rPr lang="en-GB" dirty="0"/>
              <a:t>With </a:t>
            </a:r>
            <a:r>
              <a:rPr lang="en-GB" b="1" dirty="0"/>
              <a:t>relative position</a:t>
            </a:r>
            <a:r>
              <a:rPr lang="en-GB" dirty="0"/>
              <a:t>, we can modify the </a:t>
            </a:r>
            <a:r>
              <a:rPr lang="en-GB" b="1" dirty="0"/>
              <a:t>interaction between a query at i and a key at j</a:t>
            </a:r>
            <a:r>
              <a:rPr lang="en-GB" dirty="0"/>
              <a:t> according to their distance:</a:t>
            </a:r>
          </a:p>
          <a:p>
            <a:endParaRPr lang="en-GB" dirty="0"/>
          </a:p>
          <a:p>
            <a:endParaRPr lang="en-GB" dirty="0"/>
          </a:p>
          <a:p>
            <a:r>
              <a:rPr lang="en-GB" dirty="0"/>
              <a:t>Here b</a:t>
            </a:r>
            <a:r>
              <a:rPr lang="en-GB" baseline="-25000" dirty="0"/>
              <a:t>i−j</a:t>
            </a:r>
            <a:r>
              <a:rPr lang="en-GB" dirty="0"/>
              <a:t>​ is a learned relative-position bias. The model is told:</a:t>
            </a:r>
          </a:p>
          <a:p>
            <a:r>
              <a:rPr lang="en-GB" dirty="0"/>
              <a:t>“the key I am considering is 3 steps before me.”</a:t>
            </a:r>
          </a:p>
          <a:p>
            <a:r>
              <a:rPr lang="en-GB" dirty="0"/>
              <a:t>For example, consider:</a:t>
            </a:r>
          </a:p>
          <a:p>
            <a:r>
              <a:rPr lang="en-GB" dirty="0"/>
              <a:t>i=6,j=3 and i=10,j=7. </a:t>
            </a:r>
          </a:p>
          <a:p>
            <a:r>
              <a:rPr lang="en-GB" dirty="0"/>
              <a:t>In both cases, i−j=3. </a:t>
            </a:r>
          </a:p>
          <a:p>
            <a:r>
              <a:rPr lang="en-GB" dirty="0"/>
              <a:t>Therefore both interactions use the </a:t>
            </a:r>
            <a:r>
              <a:rPr lang="en-GB" b="1" dirty="0"/>
              <a:t>same learned parameter</a:t>
            </a:r>
            <a:r>
              <a:rPr lang="en-GB" dirty="0"/>
              <a:t> b3​:</a:t>
            </a:r>
          </a:p>
        </p:txBody>
      </p:sp>
      <p:pic>
        <p:nvPicPr>
          <p:cNvPr id="6" name="Immagine 5">
            <a:extLst>
              <a:ext uri="{FF2B5EF4-FFF2-40B4-BE49-F238E27FC236}">
                <a16:creationId xmlns:a16="http://schemas.microsoft.com/office/drawing/2014/main" id="{A01BAF78-EB7D-ABDC-8EF6-D890751FC57F}"/>
              </a:ext>
            </a:extLst>
          </p:cNvPr>
          <p:cNvPicPr>
            <a:picLocks noChangeAspect="1"/>
          </p:cNvPicPr>
          <p:nvPr/>
        </p:nvPicPr>
        <p:blipFill>
          <a:blip r:embed="rId2"/>
          <a:stretch>
            <a:fillRect/>
          </a:stretch>
        </p:blipFill>
        <p:spPr>
          <a:xfrm>
            <a:off x="7582215" y="2521866"/>
            <a:ext cx="1691787" cy="685859"/>
          </a:xfrm>
          <a:prstGeom prst="rect">
            <a:avLst/>
          </a:prstGeom>
        </p:spPr>
      </p:pic>
      <p:pic>
        <p:nvPicPr>
          <p:cNvPr id="8" name="Immagine 7">
            <a:extLst>
              <a:ext uri="{FF2B5EF4-FFF2-40B4-BE49-F238E27FC236}">
                <a16:creationId xmlns:a16="http://schemas.microsoft.com/office/drawing/2014/main" id="{6E1DCB8B-E16F-5ACC-E9A7-F4E405367C2C}"/>
              </a:ext>
            </a:extLst>
          </p:cNvPr>
          <p:cNvPicPr>
            <a:picLocks noChangeAspect="1"/>
          </p:cNvPicPr>
          <p:nvPr/>
        </p:nvPicPr>
        <p:blipFill>
          <a:blip r:embed="rId3"/>
          <a:stretch>
            <a:fillRect/>
          </a:stretch>
        </p:blipFill>
        <p:spPr>
          <a:xfrm>
            <a:off x="8356459" y="6110271"/>
            <a:ext cx="1691787" cy="710293"/>
          </a:xfrm>
          <a:prstGeom prst="rect">
            <a:avLst/>
          </a:prstGeom>
        </p:spPr>
      </p:pic>
    </p:spTree>
    <p:extLst>
      <p:ext uri="{BB962C8B-B14F-4D97-AF65-F5344CB8AC3E}">
        <p14:creationId xmlns:p14="http://schemas.microsoft.com/office/powerpoint/2010/main" val="1398790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5B93C0-41F1-2526-7B21-A4BD798D8827}"/>
              </a:ext>
            </a:extLst>
          </p:cNvPr>
          <p:cNvSpPr>
            <a:spLocks noGrp="1"/>
          </p:cNvSpPr>
          <p:nvPr>
            <p:ph type="title"/>
          </p:nvPr>
        </p:nvSpPr>
        <p:spPr/>
        <p:txBody>
          <a:bodyPr/>
          <a:lstStyle/>
          <a:p>
            <a:r>
              <a:rPr lang="en-GB" dirty="0"/>
              <a:t>Positional information is not the same as calendar information</a:t>
            </a:r>
          </a:p>
        </p:txBody>
      </p:sp>
      <p:sp>
        <p:nvSpPr>
          <p:cNvPr id="3" name="Segnaposto contenuto 2">
            <a:extLst>
              <a:ext uri="{FF2B5EF4-FFF2-40B4-BE49-F238E27FC236}">
                <a16:creationId xmlns:a16="http://schemas.microsoft.com/office/drawing/2014/main" id="{27EFFC14-32CC-455A-E98A-6F1EE6C9D3BF}"/>
              </a:ext>
            </a:extLst>
          </p:cNvPr>
          <p:cNvSpPr>
            <a:spLocks noGrp="1"/>
          </p:cNvSpPr>
          <p:nvPr>
            <p:ph sz="half" idx="1"/>
          </p:nvPr>
        </p:nvSpPr>
        <p:spPr/>
        <p:txBody>
          <a:bodyPr>
            <a:normAutofit fontScale="55000" lnSpcReduction="20000"/>
          </a:bodyPr>
          <a:lstStyle/>
          <a:p>
            <a:r>
              <a:rPr lang="en-GB" dirty="0"/>
              <a:t>These concepts should be distinguished.</a:t>
            </a:r>
          </a:p>
          <a:p>
            <a:r>
              <a:rPr lang="en-GB" b="1" dirty="0"/>
              <a:t>Sequence position</a:t>
            </a:r>
          </a:p>
          <a:p>
            <a:r>
              <a:rPr lang="en-GB" dirty="0"/>
              <a:t>Example:</a:t>
            </a:r>
          </a:p>
          <a:p>
            <a:r>
              <a:rPr lang="en-GB" dirty="0"/>
              <a:t>this is token 47 in the current input window</a:t>
            </a:r>
          </a:p>
          <a:p>
            <a:r>
              <a:rPr lang="en-GB" b="1" dirty="0"/>
              <a:t>Calendar information</a:t>
            </a:r>
          </a:p>
          <a:p>
            <a:r>
              <a:rPr lang="en-GB" dirty="0"/>
              <a:t>Example:</a:t>
            </a:r>
          </a:p>
          <a:p>
            <a:pPr lvl="1"/>
            <a:r>
              <a:rPr lang="en-GB" dirty="0"/>
              <a:t>Monday</a:t>
            </a:r>
          </a:p>
          <a:p>
            <a:pPr lvl="1"/>
            <a:r>
              <a:rPr lang="en-GB" dirty="0"/>
              <a:t>14:00</a:t>
            </a:r>
          </a:p>
          <a:p>
            <a:pPr lvl="1"/>
            <a:r>
              <a:rPr lang="en-GB" dirty="0"/>
              <a:t>December</a:t>
            </a:r>
          </a:p>
          <a:p>
            <a:pPr lvl="1"/>
            <a:r>
              <a:rPr lang="en-GB" dirty="0"/>
              <a:t>holiday</a:t>
            </a:r>
          </a:p>
          <a:p>
            <a:r>
              <a:rPr lang="en-GB" b="1" dirty="0"/>
              <a:t>Calendar variables have semantic meaning outside the current window.</a:t>
            </a:r>
          </a:p>
          <a:p>
            <a:endParaRPr lang="en-GB" dirty="0"/>
          </a:p>
        </p:txBody>
      </p:sp>
      <p:sp>
        <p:nvSpPr>
          <p:cNvPr id="4" name="Segnaposto contenuto 3">
            <a:extLst>
              <a:ext uri="{FF2B5EF4-FFF2-40B4-BE49-F238E27FC236}">
                <a16:creationId xmlns:a16="http://schemas.microsoft.com/office/drawing/2014/main" id="{C8E916B3-7E0A-C6DB-3B9B-14AB3C83F867}"/>
              </a:ext>
            </a:extLst>
          </p:cNvPr>
          <p:cNvSpPr>
            <a:spLocks noGrp="1"/>
          </p:cNvSpPr>
          <p:nvPr>
            <p:ph sz="half" idx="2"/>
          </p:nvPr>
        </p:nvSpPr>
        <p:spPr/>
        <p:txBody>
          <a:bodyPr>
            <a:normAutofit fontScale="55000" lnSpcReduction="20000"/>
          </a:bodyPr>
          <a:lstStyle/>
          <a:p>
            <a:r>
              <a:rPr lang="en-GB" b="1" dirty="0"/>
              <a:t>A model may use both</a:t>
            </a:r>
          </a:p>
          <a:p>
            <a:r>
              <a:rPr lang="en-GB" dirty="0"/>
              <a:t>For demand forecasting:</a:t>
            </a:r>
          </a:p>
          <a:p>
            <a:pPr lvl="1"/>
            <a:r>
              <a:rPr lang="en-GB" dirty="0"/>
              <a:t>temporal observation</a:t>
            </a:r>
          </a:p>
          <a:p>
            <a:pPr lvl="1"/>
            <a:r>
              <a:rPr lang="en-GB" dirty="0"/>
              <a:t>+</a:t>
            </a:r>
          </a:p>
          <a:p>
            <a:pPr lvl="1"/>
            <a:r>
              <a:rPr lang="en-GB" dirty="0"/>
              <a:t>sequence position</a:t>
            </a:r>
          </a:p>
          <a:p>
            <a:pPr lvl="1"/>
            <a:r>
              <a:rPr lang="en-GB" dirty="0"/>
              <a:t>+</a:t>
            </a:r>
          </a:p>
          <a:p>
            <a:pPr lvl="1"/>
            <a:r>
              <a:rPr lang="en-GB" dirty="0"/>
              <a:t>hour of day</a:t>
            </a:r>
          </a:p>
          <a:p>
            <a:pPr lvl="1"/>
            <a:r>
              <a:rPr lang="en-GB" dirty="0"/>
              <a:t>+</a:t>
            </a:r>
          </a:p>
          <a:p>
            <a:pPr lvl="1"/>
            <a:r>
              <a:rPr lang="en-GB" dirty="0"/>
              <a:t>day of week</a:t>
            </a:r>
          </a:p>
          <a:p>
            <a:pPr lvl="1"/>
            <a:r>
              <a:rPr lang="en-GB" dirty="0"/>
              <a:t>+</a:t>
            </a:r>
          </a:p>
          <a:p>
            <a:pPr lvl="1"/>
            <a:r>
              <a:rPr lang="en-GB" dirty="0"/>
              <a:t>holiday indicator</a:t>
            </a:r>
          </a:p>
          <a:p>
            <a:endParaRPr lang="en-GB" dirty="0"/>
          </a:p>
          <a:p>
            <a:r>
              <a:rPr lang="en-GB" dirty="0"/>
              <a:t>A positional encoding does not automatically tell the model:</a:t>
            </a:r>
          </a:p>
          <a:p>
            <a:r>
              <a:rPr lang="en-GB" dirty="0"/>
              <a:t>this observation occurred on Monday at 14:00.</a:t>
            </a:r>
          </a:p>
          <a:p>
            <a:r>
              <a:rPr lang="en-GB" b="1" dirty="0"/>
              <a:t>If calendar structure matters, it may need to be represented explicitly.</a:t>
            </a:r>
          </a:p>
          <a:p>
            <a:endParaRPr lang="en-GB" dirty="0"/>
          </a:p>
        </p:txBody>
      </p:sp>
    </p:spTree>
    <p:extLst>
      <p:ext uri="{BB962C8B-B14F-4D97-AF65-F5344CB8AC3E}">
        <p14:creationId xmlns:p14="http://schemas.microsoft.com/office/powerpoint/2010/main" val="33600396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4"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5"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Sequence position is not calendar information</a:t>
            </a:r>
            <a:endParaRPr lang="it-IT" sz="2100" b="0" u="none" strike="noStrike">
              <a:solidFill>
                <a:srgbClr val="000000"/>
              </a:solidFill>
              <a:effectLst/>
              <a:uFillTx/>
              <a:latin typeface="Arial"/>
            </a:endParaRPr>
          </a:p>
        </p:txBody>
      </p:sp>
      <p:sp>
        <p:nvSpPr>
          <p:cNvPr id="146"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A positional encoding tells where a token sits in the model input; calendar covariates carry external semantic time.</a:t>
            </a:r>
            <a:endParaRPr lang="it-IT" sz="850" b="0" u="none" strike="noStrike">
              <a:solidFill>
                <a:srgbClr val="000000"/>
              </a:solidFill>
              <a:effectLst/>
              <a:uFillTx/>
              <a:latin typeface="Arial"/>
            </a:endParaRPr>
          </a:p>
        </p:txBody>
      </p:sp>
      <p:sp>
        <p:nvSpPr>
          <p:cNvPr id="147" name="Text 4"/>
          <p:cNvSpPr/>
          <p:nvPr/>
        </p:nvSpPr>
        <p:spPr>
          <a:xfrm>
            <a:off x="1005840" y="1188720"/>
            <a:ext cx="3291480" cy="4568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a:solidFill>
                  <a:srgbClr val="0F172A"/>
                </a:solidFill>
                <a:effectLst/>
                <a:uFillTx/>
                <a:latin typeface="Arial"/>
                <a:ea typeface="Arial"/>
              </a:rPr>
              <a:t>Sequence position</a:t>
            </a:r>
            <a:endParaRPr lang="it-IT" sz="1400" b="0" u="none" strike="noStrike">
              <a:solidFill>
                <a:srgbClr val="000000"/>
              </a:solidFill>
              <a:effectLst/>
              <a:uFillTx/>
              <a:latin typeface="Arial"/>
            </a:endParaRPr>
          </a:p>
        </p:txBody>
      </p:sp>
      <p:sp>
        <p:nvSpPr>
          <p:cNvPr id="148" name="Text 5"/>
          <p:cNvSpPr/>
          <p:nvPr/>
        </p:nvSpPr>
        <p:spPr>
          <a:xfrm>
            <a:off x="1143000" y="2057400"/>
            <a:ext cx="5299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token 1</a:t>
            </a:r>
            <a:endParaRPr lang="it-IT" sz="650" b="0" u="none" strike="noStrike">
              <a:solidFill>
                <a:srgbClr val="000000"/>
              </a:solidFill>
              <a:effectLst/>
              <a:uFillTx/>
              <a:latin typeface="Arial"/>
            </a:endParaRPr>
          </a:p>
        </p:txBody>
      </p:sp>
      <p:sp>
        <p:nvSpPr>
          <p:cNvPr id="149" name="Text 6"/>
          <p:cNvSpPr/>
          <p:nvPr/>
        </p:nvSpPr>
        <p:spPr>
          <a:xfrm>
            <a:off x="1746360" y="2057400"/>
            <a:ext cx="5299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token 2</a:t>
            </a:r>
            <a:endParaRPr lang="it-IT" sz="650" b="0" u="none" strike="noStrike">
              <a:solidFill>
                <a:srgbClr val="000000"/>
              </a:solidFill>
              <a:effectLst/>
              <a:uFillTx/>
              <a:latin typeface="Arial"/>
            </a:endParaRPr>
          </a:p>
        </p:txBody>
      </p:sp>
      <p:sp>
        <p:nvSpPr>
          <p:cNvPr id="150" name="Text 7"/>
          <p:cNvSpPr/>
          <p:nvPr/>
        </p:nvSpPr>
        <p:spPr>
          <a:xfrm>
            <a:off x="2350080" y="2057400"/>
            <a:ext cx="5299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token 3</a:t>
            </a:r>
            <a:endParaRPr lang="it-IT" sz="650" b="0" u="none" strike="noStrike">
              <a:solidFill>
                <a:srgbClr val="000000"/>
              </a:solidFill>
              <a:effectLst/>
              <a:uFillTx/>
              <a:latin typeface="Arial"/>
            </a:endParaRPr>
          </a:p>
        </p:txBody>
      </p:sp>
      <p:sp>
        <p:nvSpPr>
          <p:cNvPr id="151" name="Text 8"/>
          <p:cNvSpPr/>
          <p:nvPr/>
        </p:nvSpPr>
        <p:spPr>
          <a:xfrm>
            <a:off x="2953440" y="2057400"/>
            <a:ext cx="5299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token 4</a:t>
            </a:r>
            <a:endParaRPr lang="it-IT" sz="650" b="0" u="none" strike="noStrike">
              <a:solidFill>
                <a:srgbClr val="000000"/>
              </a:solidFill>
              <a:effectLst/>
              <a:uFillTx/>
              <a:latin typeface="Arial"/>
            </a:endParaRPr>
          </a:p>
        </p:txBody>
      </p:sp>
      <p:sp>
        <p:nvSpPr>
          <p:cNvPr id="152" name="Text 9"/>
          <p:cNvSpPr/>
          <p:nvPr/>
        </p:nvSpPr>
        <p:spPr>
          <a:xfrm>
            <a:off x="3557160" y="2057400"/>
            <a:ext cx="52992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token 5</a:t>
            </a:r>
            <a:endParaRPr lang="it-IT" sz="650" b="0" u="none" strike="noStrike">
              <a:solidFill>
                <a:srgbClr val="000000"/>
              </a:solidFill>
              <a:effectLst/>
              <a:uFillTx/>
              <a:latin typeface="Arial"/>
            </a:endParaRPr>
          </a:p>
        </p:txBody>
      </p:sp>
      <p:sp>
        <p:nvSpPr>
          <p:cNvPr id="153" name="Text 10"/>
          <p:cNvSpPr/>
          <p:nvPr/>
        </p:nvSpPr>
        <p:spPr>
          <a:xfrm>
            <a:off x="1417320" y="2743200"/>
            <a:ext cx="2468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65A30D"/>
                </a:solidFill>
                <a:effectLst/>
                <a:uFillTx/>
                <a:latin typeface="Arial"/>
                <a:ea typeface="Arial"/>
              </a:rPr>
              <a:t>“this is token 47</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65A30D"/>
                </a:solidFill>
                <a:effectLst/>
                <a:uFillTx/>
                <a:latin typeface="Arial"/>
                <a:ea typeface="Arial"/>
              </a:rPr>
              <a:t>in the input window”</a:t>
            </a:r>
            <a:endParaRPr lang="it-IT" sz="1200" b="0" u="none" strike="noStrike">
              <a:solidFill>
                <a:srgbClr val="000000"/>
              </a:solidFill>
              <a:effectLst/>
              <a:uFillTx/>
              <a:latin typeface="Arial"/>
            </a:endParaRPr>
          </a:p>
        </p:txBody>
      </p:sp>
      <p:sp>
        <p:nvSpPr>
          <p:cNvPr id="154" name="Text 11"/>
          <p:cNvSpPr/>
          <p:nvPr/>
        </p:nvSpPr>
        <p:spPr>
          <a:xfrm>
            <a:off x="6217920" y="1188720"/>
            <a:ext cx="3565800" cy="45684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a:solidFill>
                  <a:srgbClr val="0F172A"/>
                </a:solidFill>
                <a:effectLst/>
                <a:uFillTx/>
                <a:latin typeface="Arial"/>
                <a:ea typeface="Arial"/>
              </a:rPr>
              <a:t>Calendar / known covariates</a:t>
            </a:r>
            <a:endParaRPr lang="it-IT" sz="1400" b="0" u="none" strike="noStrike">
              <a:solidFill>
                <a:srgbClr val="000000"/>
              </a:solidFill>
              <a:effectLst/>
              <a:uFillTx/>
              <a:latin typeface="Arial"/>
            </a:endParaRPr>
          </a:p>
        </p:txBody>
      </p:sp>
      <p:sp>
        <p:nvSpPr>
          <p:cNvPr id="155" name="Text 12"/>
          <p:cNvSpPr/>
          <p:nvPr/>
        </p:nvSpPr>
        <p:spPr>
          <a:xfrm>
            <a:off x="6400800" y="1965960"/>
            <a:ext cx="1096920" cy="38376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900" b="1" u="none" strike="noStrike">
                <a:solidFill>
                  <a:srgbClr val="0F172A"/>
                </a:solidFill>
                <a:effectLst/>
                <a:uFillTx/>
                <a:latin typeface="Arial"/>
                <a:ea typeface="Arial"/>
              </a:rPr>
              <a:t>Monday</a:t>
            </a:r>
            <a:endParaRPr lang="it-IT" sz="900" b="0" u="none" strike="noStrike">
              <a:solidFill>
                <a:srgbClr val="000000"/>
              </a:solidFill>
              <a:effectLst/>
              <a:uFillTx/>
              <a:latin typeface="Arial"/>
            </a:endParaRPr>
          </a:p>
        </p:txBody>
      </p:sp>
      <p:sp>
        <p:nvSpPr>
          <p:cNvPr id="156" name="Text 13"/>
          <p:cNvSpPr/>
          <p:nvPr/>
        </p:nvSpPr>
        <p:spPr>
          <a:xfrm>
            <a:off x="7635240" y="1965960"/>
            <a:ext cx="1096920" cy="38376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900" b="1" u="none" strike="noStrike">
                <a:solidFill>
                  <a:srgbClr val="0F172A"/>
                </a:solidFill>
                <a:effectLst/>
                <a:uFillTx/>
                <a:latin typeface="Arial"/>
                <a:ea typeface="Arial"/>
              </a:rPr>
              <a:t>14:00</a:t>
            </a:r>
            <a:endParaRPr lang="it-IT" sz="900" b="0" u="none" strike="noStrike">
              <a:solidFill>
                <a:srgbClr val="000000"/>
              </a:solidFill>
              <a:effectLst/>
              <a:uFillTx/>
              <a:latin typeface="Arial"/>
            </a:endParaRPr>
          </a:p>
        </p:txBody>
      </p:sp>
      <p:sp>
        <p:nvSpPr>
          <p:cNvPr id="157" name="Text 14"/>
          <p:cNvSpPr/>
          <p:nvPr/>
        </p:nvSpPr>
        <p:spPr>
          <a:xfrm>
            <a:off x="8869680" y="1965960"/>
            <a:ext cx="1096920" cy="38376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900" b="1" u="none" strike="noStrike">
                <a:solidFill>
                  <a:srgbClr val="0F172A"/>
                </a:solidFill>
                <a:effectLst/>
                <a:uFillTx/>
                <a:latin typeface="Arial"/>
                <a:ea typeface="Arial"/>
              </a:rPr>
              <a:t>holiday</a:t>
            </a:r>
            <a:endParaRPr lang="it-IT" sz="900" b="0" u="none" strike="noStrike">
              <a:solidFill>
                <a:srgbClr val="000000"/>
              </a:solidFill>
              <a:effectLst/>
              <a:uFillTx/>
              <a:latin typeface="Arial"/>
            </a:endParaRPr>
          </a:p>
        </p:txBody>
      </p:sp>
      <p:sp>
        <p:nvSpPr>
          <p:cNvPr id="158" name="Text 15"/>
          <p:cNvSpPr/>
          <p:nvPr/>
        </p:nvSpPr>
        <p:spPr>
          <a:xfrm>
            <a:off x="6720840" y="2743200"/>
            <a:ext cx="2742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59E0B"/>
                </a:solidFill>
                <a:effectLst/>
                <a:uFillTx/>
                <a:latin typeface="Arial"/>
                <a:ea typeface="Arial"/>
              </a:rPr>
              <a:t>semantic time known</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F59E0B"/>
                </a:solidFill>
                <a:effectLst/>
                <a:uFillTx/>
                <a:latin typeface="Arial"/>
                <a:ea typeface="Arial"/>
              </a:rPr>
              <a:t>outside the input window</a:t>
            </a:r>
            <a:endParaRPr lang="it-IT" sz="1200" b="0" u="none" strike="noStrike">
              <a:solidFill>
                <a:srgbClr val="000000"/>
              </a:solidFill>
              <a:effectLst/>
              <a:uFillTx/>
              <a:latin typeface="Arial"/>
            </a:endParaRPr>
          </a:p>
        </p:txBody>
      </p:sp>
      <p:sp>
        <p:nvSpPr>
          <p:cNvPr id="159" name="Text 16"/>
          <p:cNvSpPr/>
          <p:nvPr/>
        </p:nvSpPr>
        <p:spPr>
          <a:xfrm>
            <a:off x="2011680" y="4389120"/>
            <a:ext cx="1828440" cy="45684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temporal observation</a:t>
            </a:r>
            <a:endParaRPr lang="it-IT" sz="1000" b="0" u="none" strike="noStrike">
              <a:solidFill>
                <a:srgbClr val="000000"/>
              </a:solidFill>
              <a:effectLst/>
              <a:uFillTx/>
              <a:latin typeface="Arial"/>
            </a:endParaRPr>
          </a:p>
        </p:txBody>
      </p:sp>
      <p:sp>
        <p:nvSpPr>
          <p:cNvPr id="160" name="Text 17"/>
          <p:cNvSpPr/>
          <p:nvPr/>
        </p:nvSpPr>
        <p:spPr>
          <a:xfrm>
            <a:off x="4069080" y="449892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161" name="Text 18"/>
          <p:cNvSpPr/>
          <p:nvPr/>
        </p:nvSpPr>
        <p:spPr>
          <a:xfrm>
            <a:off x="4389120" y="4389120"/>
            <a:ext cx="1828440" cy="4568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sequence position</a:t>
            </a:r>
            <a:endParaRPr lang="it-IT" sz="1000" b="0" u="none" strike="noStrike">
              <a:solidFill>
                <a:srgbClr val="000000"/>
              </a:solidFill>
              <a:effectLst/>
              <a:uFillTx/>
              <a:latin typeface="Arial"/>
            </a:endParaRPr>
          </a:p>
        </p:txBody>
      </p:sp>
      <p:sp>
        <p:nvSpPr>
          <p:cNvPr id="162" name="Text 19"/>
          <p:cNvSpPr/>
          <p:nvPr/>
        </p:nvSpPr>
        <p:spPr>
          <a:xfrm>
            <a:off x="6446520" y="449892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163" name="Text 20"/>
          <p:cNvSpPr/>
          <p:nvPr/>
        </p:nvSpPr>
        <p:spPr>
          <a:xfrm>
            <a:off x="6766560" y="4389120"/>
            <a:ext cx="1919880" cy="45684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dirty="0">
                <a:solidFill>
                  <a:srgbClr val="0F172A"/>
                </a:solidFill>
                <a:effectLst/>
                <a:uFillTx/>
                <a:latin typeface="Arial"/>
                <a:ea typeface="Arial"/>
              </a:rPr>
              <a:t>calendar </a:t>
            </a:r>
            <a:r>
              <a:rPr lang="en-US" sz="1000" b="1" u="none" strike="noStrike" dirty="0">
                <a:solidFill>
                  <a:srgbClr val="0F172A"/>
                </a:solidFill>
                <a:effectLst/>
                <a:highlight>
                  <a:srgbClr val="FFFF00"/>
                </a:highlight>
                <a:uFillTx/>
                <a:latin typeface="Arial"/>
                <a:ea typeface="Arial"/>
              </a:rPr>
              <a:t>covariates</a:t>
            </a:r>
            <a:endParaRPr lang="it-IT" sz="1000" b="0" u="none" strike="noStrike" dirty="0">
              <a:solidFill>
                <a:srgbClr val="000000"/>
              </a:solidFill>
              <a:effectLst/>
              <a:highlight>
                <a:srgbClr val="FFFF00"/>
              </a:highlight>
              <a:uFillTx/>
              <a:latin typeface="Arial"/>
            </a:endParaRPr>
          </a:p>
        </p:txBody>
      </p:sp>
      <p:sp>
        <p:nvSpPr>
          <p:cNvPr id="164" name="Text 21"/>
          <p:cNvSpPr/>
          <p:nvPr/>
        </p:nvSpPr>
        <p:spPr>
          <a:xfrm>
            <a:off x="8961120" y="4498920"/>
            <a:ext cx="273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475569"/>
                </a:solidFill>
                <a:effectLst/>
                <a:uFillTx/>
                <a:latin typeface="Arial"/>
                <a:ea typeface="Arial"/>
              </a:rPr>
              <a:t>=</a:t>
            </a:r>
            <a:endParaRPr lang="it-IT" sz="1300" b="0" u="none" strike="noStrike">
              <a:solidFill>
                <a:srgbClr val="000000"/>
              </a:solidFill>
              <a:effectLst/>
              <a:uFillTx/>
              <a:latin typeface="Arial"/>
            </a:endParaRPr>
          </a:p>
        </p:txBody>
      </p:sp>
      <p:sp>
        <p:nvSpPr>
          <p:cNvPr id="165" name="Text 22"/>
          <p:cNvSpPr/>
          <p:nvPr/>
        </p:nvSpPr>
        <p:spPr>
          <a:xfrm>
            <a:off x="9326880" y="4251960"/>
            <a:ext cx="1462680" cy="73116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richer temporal token</a:t>
            </a:r>
            <a:endParaRPr lang="it-IT" sz="1000" b="0" u="none" strike="noStrike">
              <a:solidFill>
                <a:srgbClr val="000000"/>
              </a:solidFill>
              <a:effectLst/>
              <a:uFillTx/>
              <a:latin typeface="Arial"/>
            </a:endParaRPr>
          </a:p>
        </p:txBody>
      </p:sp>
      <p:sp>
        <p:nvSpPr>
          <p:cNvPr id="166" name="Text 23"/>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dirty="0">
                <a:solidFill>
                  <a:srgbClr val="475569"/>
                </a:solidFill>
                <a:effectLst/>
                <a:uFillTx/>
                <a:latin typeface="Arial"/>
              </a:rPr>
              <a:t>Positional encoding alone does not tell the model that an observation is a holiday or a Monday at 14:00.</a:t>
            </a:r>
            <a:endParaRPr lang="it-IT" sz="650" b="0" u="none" strike="noStrike" dirty="0">
              <a:solidFill>
                <a:srgbClr val="000000"/>
              </a:solidFill>
              <a:effectLst/>
              <a:uFillTx/>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852667-9AC3-8731-6D34-9FC523E1694D}"/>
              </a:ext>
            </a:extLst>
          </p:cNvPr>
          <p:cNvSpPr>
            <a:spLocks noGrp="1"/>
          </p:cNvSpPr>
          <p:nvPr>
            <p:ph type="title"/>
          </p:nvPr>
        </p:nvSpPr>
        <p:spPr/>
        <p:txBody>
          <a:bodyPr/>
          <a:lstStyle/>
          <a:p>
            <a:r>
              <a:rPr lang="en-GB" dirty="0"/>
              <a:t>Positional information enables temporal attention</a:t>
            </a:r>
          </a:p>
        </p:txBody>
      </p:sp>
      <p:sp>
        <p:nvSpPr>
          <p:cNvPr id="3" name="Segnaposto contenuto 2">
            <a:extLst>
              <a:ext uri="{FF2B5EF4-FFF2-40B4-BE49-F238E27FC236}">
                <a16:creationId xmlns:a16="http://schemas.microsoft.com/office/drawing/2014/main" id="{01D71C30-E689-0910-542A-E141A24B01AE}"/>
              </a:ext>
            </a:extLst>
          </p:cNvPr>
          <p:cNvSpPr>
            <a:spLocks noGrp="1"/>
          </p:cNvSpPr>
          <p:nvPr>
            <p:ph sz="half" idx="1"/>
          </p:nvPr>
        </p:nvSpPr>
        <p:spPr/>
        <p:txBody>
          <a:bodyPr>
            <a:normAutofit fontScale="62500" lnSpcReduction="20000"/>
          </a:bodyPr>
          <a:lstStyle/>
          <a:p>
            <a:r>
              <a:rPr lang="en-GB" dirty="0"/>
              <a:t>Once content and position are represented together, attention can learn interactions such as:</a:t>
            </a:r>
          </a:p>
          <a:p>
            <a:r>
              <a:rPr lang="en-GB" dirty="0"/>
              <a:t>current observation</a:t>
            </a:r>
          </a:p>
          <a:p>
            <a:r>
              <a:rPr lang="en-GB" dirty="0"/>
              <a:t>     ↔</a:t>
            </a:r>
          </a:p>
          <a:p>
            <a:r>
              <a:rPr lang="en-GB" dirty="0"/>
              <a:t>recent observation</a:t>
            </a:r>
          </a:p>
          <a:p>
            <a:r>
              <a:rPr lang="en-GB" dirty="0"/>
              <a:t>or:</a:t>
            </a:r>
          </a:p>
          <a:p>
            <a:r>
              <a:rPr lang="en-GB" dirty="0"/>
              <a:t>current observation</a:t>
            </a:r>
          </a:p>
          <a:p>
            <a:r>
              <a:rPr lang="en-GB" dirty="0"/>
              <a:t>     ↔</a:t>
            </a:r>
          </a:p>
          <a:p>
            <a:r>
              <a:rPr lang="en-GB" dirty="0"/>
              <a:t>observation one daily cycle earlier</a:t>
            </a:r>
          </a:p>
          <a:p>
            <a:endParaRPr lang="en-GB" dirty="0"/>
          </a:p>
          <a:p>
            <a:r>
              <a:rPr lang="en-GB" dirty="0"/>
              <a:t>The model can therefore combine:</a:t>
            </a:r>
          </a:p>
          <a:p>
            <a:pPr lvl="1"/>
            <a:r>
              <a:rPr lang="en-GB" dirty="0"/>
              <a:t>similarity of content; </a:t>
            </a:r>
          </a:p>
          <a:p>
            <a:pPr lvl="1"/>
            <a:r>
              <a:rPr lang="en-GB" dirty="0"/>
              <a:t>temporal location; </a:t>
            </a:r>
          </a:p>
          <a:p>
            <a:pPr lvl="1"/>
            <a:r>
              <a:rPr lang="en-GB" dirty="0"/>
              <a:t>temporal distance. </a:t>
            </a:r>
          </a:p>
          <a:p>
            <a:endParaRPr lang="en-GB" dirty="0"/>
          </a:p>
        </p:txBody>
      </p:sp>
      <p:sp>
        <p:nvSpPr>
          <p:cNvPr id="4" name="Segnaposto contenuto 3">
            <a:extLst>
              <a:ext uri="{FF2B5EF4-FFF2-40B4-BE49-F238E27FC236}">
                <a16:creationId xmlns:a16="http://schemas.microsoft.com/office/drawing/2014/main" id="{CDEAB1CE-AA68-1C95-6FC9-FCC3B67385EB}"/>
              </a:ext>
            </a:extLst>
          </p:cNvPr>
          <p:cNvSpPr>
            <a:spLocks noGrp="1"/>
          </p:cNvSpPr>
          <p:nvPr>
            <p:ph sz="half" idx="2"/>
          </p:nvPr>
        </p:nvSpPr>
        <p:spPr/>
        <p:txBody>
          <a:bodyPr>
            <a:normAutofit fontScale="62500" lnSpcReduction="20000"/>
          </a:bodyPr>
          <a:lstStyle/>
          <a:p>
            <a:r>
              <a:rPr lang="en-GB" b="1" dirty="0"/>
              <a:t>Conceptual flow</a:t>
            </a:r>
          </a:p>
          <a:p>
            <a:pPr lvl="1"/>
            <a:r>
              <a:rPr lang="en-GB" dirty="0"/>
              <a:t>temporal measurements</a:t>
            </a:r>
          </a:p>
          <a:p>
            <a:pPr lvl="1"/>
            <a:r>
              <a:rPr lang="en-GB" dirty="0"/>
              <a:t>      +</a:t>
            </a:r>
          </a:p>
          <a:p>
            <a:pPr lvl="1"/>
            <a:r>
              <a:rPr lang="en-GB" dirty="0"/>
              <a:t>positional information</a:t>
            </a:r>
          </a:p>
          <a:p>
            <a:pPr lvl="1"/>
            <a:r>
              <a:rPr lang="en-GB" dirty="0"/>
              <a:t>      ↓</a:t>
            </a:r>
          </a:p>
          <a:p>
            <a:pPr lvl="1"/>
            <a:r>
              <a:rPr lang="en-GB" dirty="0"/>
              <a:t>position-aware tokens</a:t>
            </a:r>
          </a:p>
          <a:p>
            <a:pPr lvl="1"/>
            <a:r>
              <a:rPr lang="en-GB" dirty="0"/>
              <a:t>      ↓</a:t>
            </a:r>
          </a:p>
          <a:p>
            <a:pPr lvl="1"/>
            <a:r>
              <a:rPr lang="en-GB" dirty="0"/>
              <a:t>self-attention</a:t>
            </a:r>
          </a:p>
          <a:p>
            <a:pPr lvl="1"/>
            <a:r>
              <a:rPr lang="en-GB" dirty="0"/>
              <a:t>      ↓</a:t>
            </a:r>
          </a:p>
          <a:p>
            <a:pPr lvl="1"/>
            <a:r>
              <a:rPr lang="en-GB" dirty="0"/>
              <a:t>temporal representations</a:t>
            </a:r>
          </a:p>
          <a:p>
            <a:endParaRPr lang="en-GB" dirty="0"/>
          </a:p>
        </p:txBody>
      </p:sp>
    </p:spTree>
    <p:extLst>
      <p:ext uri="{BB962C8B-B14F-4D97-AF65-F5344CB8AC3E}">
        <p14:creationId xmlns:p14="http://schemas.microsoft.com/office/powerpoint/2010/main" val="6707099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8"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9"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Position-aware tokens enable temporal attention</a:t>
            </a:r>
            <a:endParaRPr lang="it-IT" sz="2100" b="0" u="none" strike="noStrike">
              <a:solidFill>
                <a:srgbClr val="000000"/>
              </a:solidFill>
              <a:effectLst/>
              <a:uFillTx/>
              <a:latin typeface="Arial"/>
            </a:endParaRPr>
          </a:p>
        </p:txBody>
      </p:sp>
      <p:sp>
        <p:nvSpPr>
          <p:cNvPr id="170"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Self-attention can then combine content similarity with temporal position or distance.</a:t>
            </a:r>
            <a:endParaRPr lang="it-IT" sz="850" b="0" u="none" strike="noStrike">
              <a:solidFill>
                <a:srgbClr val="000000"/>
              </a:solidFill>
              <a:effectLst/>
              <a:uFillTx/>
              <a:latin typeface="Arial"/>
            </a:endParaRPr>
          </a:p>
        </p:txBody>
      </p:sp>
      <p:sp>
        <p:nvSpPr>
          <p:cNvPr id="171" name="Text 4"/>
          <p:cNvSpPr/>
          <p:nvPr/>
        </p:nvSpPr>
        <p:spPr>
          <a:xfrm>
            <a:off x="822960" y="2240280"/>
            <a:ext cx="1554120" cy="63972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temporal</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measurements</a:t>
            </a:r>
            <a:endParaRPr lang="it-IT" sz="1000" b="0" u="none" strike="noStrike">
              <a:solidFill>
                <a:srgbClr val="000000"/>
              </a:solidFill>
              <a:effectLst/>
              <a:uFillTx/>
              <a:latin typeface="Arial"/>
            </a:endParaRPr>
          </a:p>
        </p:txBody>
      </p:sp>
      <p:sp>
        <p:nvSpPr>
          <p:cNvPr id="172" name="Text 5"/>
          <p:cNvSpPr/>
          <p:nvPr/>
        </p:nvSpPr>
        <p:spPr>
          <a:xfrm>
            <a:off x="822960" y="3657600"/>
            <a:ext cx="1554120" cy="63972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positional</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information</a:t>
            </a:r>
            <a:endParaRPr lang="it-IT" sz="1000" b="0" u="none" strike="noStrike">
              <a:solidFill>
                <a:srgbClr val="000000"/>
              </a:solidFill>
              <a:effectLst/>
              <a:uFillTx/>
              <a:latin typeface="Arial"/>
            </a:endParaRPr>
          </a:p>
        </p:txBody>
      </p:sp>
      <p:sp>
        <p:nvSpPr>
          <p:cNvPr id="173" name="Shape 6"/>
          <p:cNvSpPr/>
          <p:nvPr/>
        </p:nvSpPr>
        <p:spPr>
          <a:xfrm>
            <a:off x="2514600" y="2560320"/>
            <a:ext cx="1143000" cy="457200"/>
          </a:xfrm>
          <a:prstGeom prst="line">
            <a:avLst/>
          </a:prstGeom>
          <a:ln w="1524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74" name="Shape 7"/>
          <p:cNvSpPr/>
          <p:nvPr/>
        </p:nvSpPr>
        <p:spPr>
          <a:xfrm flipV="1">
            <a:off x="2514600" y="3383280"/>
            <a:ext cx="1143000" cy="594360"/>
          </a:xfrm>
          <a:prstGeom prst="line">
            <a:avLst/>
          </a:prstGeom>
          <a:ln w="1524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75" name="Text 8"/>
          <p:cNvSpPr/>
          <p:nvPr/>
        </p:nvSpPr>
        <p:spPr>
          <a:xfrm>
            <a:off x="3749040" y="2788920"/>
            <a:ext cx="1828440" cy="82260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position-aware</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tokens</a:t>
            </a:r>
            <a:endParaRPr lang="it-IT" sz="1200" b="0" u="none" strike="noStrike">
              <a:solidFill>
                <a:srgbClr val="000000"/>
              </a:solidFill>
              <a:effectLst/>
              <a:uFillTx/>
              <a:latin typeface="Arial"/>
            </a:endParaRPr>
          </a:p>
        </p:txBody>
      </p:sp>
      <p:sp>
        <p:nvSpPr>
          <p:cNvPr id="176" name="Shape 9"/>
          <p:cNvSpPr/>
          <p:nvPr/>
        </p:nvSpPr>
        <p:spPr>
          <a:xfrm>
            <a:off x="5760720" y="3200400"/>
            <a:ext cx="109728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77" name="Text 10"/>
          <p:cNvSpPr/>
          <p:nvPr/>
        </p:nvSpPr>
        <p:spPr>
          <a:xfrm>
            <a:off x="7040880" y="2788920"/>
            <a:ext cx="1645560" cy="82260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self-attention</a:t>
            </a:r>
            <a:endParaRPr lang="it-IT" sz="1200" b="0" u="none" strike="noStrike">
              <a:solidFill>
                <a:srgbClr val="000000"/>
              </a:solidFill>
              <a:effectLst/>
              <a:uFillTx/>
              <a:latin typeface="Arial"/>
            </a:endParaRPr>
          </a:p>
        </p:txBody>
      </p:sp>
      <p:sp>
        <p:nvSpPr>
          <p:cNvPr id="178" name="Shape 11"/>
          <p:cNvSpPr/>
          <p:nvPr/>
        </p:nvSpPr>
        <p:spPr>
          <a:xfrm>
            <a:off x="8869680" y="3200400"/>
            <a:ext cx="91440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79" name="Text 12"/>
          <p:cNvSpPr/>
          <p:nvPr/>
        </p:nvSpPr>
        <p:spPr>
          <a:xfrm>
            <a:off x="9966960" y="2788920"/>
            <a:ext cx="1554120" cy="82260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temporal</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representations</a:t>
            </a:r>
            <a:endParaRPr lang="it-IT" sz="1000" b="0" u="none" strike="noStrike">
              <a:solidFill>
                <a:srgbClr val="000000"/>
              </a:solidFill>
              <a:effectLst/>
              <a:uFillTx/>
              <a:latin typeface="Arial"/>
            </a:endParaRPr>
          </a:p>
        </p:txBody>
      </p:sp>
      <p:sp>
        <p:nvSpPr>
          <p:cNvPr id="180" name="Shape 13"/>
          <p:cNvSpPr/>
          <p:nvPr/>
        </p:nvSpPr>
        <p:spPr>
          <a:xfrm>
            <a:off x="3931920" y="4754880"/>
            <a:ext cx="4206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81" name="Text 14"/>
          <p:cNvSpPr/>
          <p:nvPr/>
        </p:nvSpPr>
        <p:spPr>
          <a:xfrm>
            <a:off x="4023360" y="4572000"/>
            <a:ext cx="685440" cy="3470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current</a:t>
            </a:r>
            <a:endParaRPr lang="it-IT" sz="700" b="0" u="none" strike="noStrike">
              <a:solidFill>
                <a:srgbClr val="000000"/>
              </a:solidFill>
              <a:effectLst/>
              <a:uFillTx/>
              <a:latin typeface="Arial"/>
            </a:endParaRPr>
          </a:p>
        </p:txBody>
      </p:sp>
      <p:sp>
        <p:nvSpPr>
          <p:cNvPr id="182" name="Text 15"/>
          <p:cNvSpPr/>
          <p:nvPr/>
        </p:nvSpPr>
        <p:spPr>
          <a:xfrm>
            <a:off x="5486400" y="4572000"/>
            <a:ext cx="685440" cy="3470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recent</a:t>
            </a:r>
            <a:endParaRPr lang="it-IT" sz="700" b="0" u="none" strike="noStrike">
              <a:solidFill>
                <a:srgbClr val="000000"/>
              </a:solidFill>
              <a:effectLst/>
              <a:uFillTx/>
              <a:latin typeface="Arial"/>
            </a:endParaRPr>
          </a:p>
        </p:txBody>
      </p:sp>
      <p:sp>
        <p:nvSpPr>
          <p:cNvPr id="183" name="Text 16"/>
          <p:cNvSpPr/>
          <p:nvPr/>
        </p:nvSpPr>
        <p:spPr>
          <a:xfrm>
            <a:off x="6949440" y="4572000"/>
            <a:ext cx="776880" cy="3470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daily lag</a:t>
            </a:r>
            <a:endParaRPr lang="it-IT" sz="700" b="0" u="none" strike="noStrike">
              <a:solidFill>
                <a:srgbClr val="000000"/>
              </a:solidFill>
              <a:effectLst/>
              <a:uFillTx/>
              <a:latin typeface="Arial"/>
            </a:endParaRPr>
          </a:p>
        </p:txBody>
      </p:sp>
      <p:sp>
        <p:nvSpPr>
          <p:cNvPr id="184" name="Shape 17"/>
          <p:cNvSpPr/>
          <p:nvPr/>
        </p:nvSpPr>
        <p:spPr>
          <a:xfrm>
            <a:off x="4389120" y="4526280"/>
            <a:ext cx="1417320" cy="360"/>
          </a:xfrm>
          <a:prstGeom prst="line">
            <a:avLst/>
          </a:prstGeom>
          <a:ln w="1397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85" name="Shape 18"/>
          <p:cNvSpPr/>
          <p:nvPr/>
        </p:nvSpPr>
        <p:spPr>
          <a:xfrm>
            <a:off x="4389120" y="4343400"/>
            <a:ext cx="2926080" cy="360"/>
          </a:xfrm>
          <a:prstGeom prst="line">
            <a:avLst/>
          </a:prstGeom>
          <a:ln w="1397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86" name="Text 19"/>
          <p:cNvSpPr/>
          <p:nvPr/>
        </p:nvSpPr>
        <p:spPr>
          <a:xfrm>
            <a:off x="4754880" y="5074920"/>
            <a:ext cx="3291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u="none" strike="noStrike">
                <a:solidFill>
                  <a:srgbClr val="8B5CF6"/>
                </a:solidFill>
                <a:effectLst/>
                <a:uFillTx/>
                <a:latin typeface="Arial"/>
                <a:ea typeface="Arial"/>
              </a:rPr>
              <a:t>attention can learn relevant temporal links</a:t>
            </a:r>
            <a:endParaRPr lang="it-IT" sz="800" b="0" u="none" strike="noStrike">
              <a:solidFill>
                <a:srgbClr val="000000"/>
              </a:solidFill>
              <a:effectLst/>
              <a:uFillTx/>
              <a:latin typeface="Arial"/>
            </a:endParaRPr>
          </a:p>
        </p:txBody>
      </p:sp>
      <p:sp>
        <p:nvSpPr>
          <p:cNvPr id="187" name="Text 20"/>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475569"/>
                </a:solidFill>
                <a:effectLst/>
                <a:uFillTx/>
                <a:latin typeface="Arial"/>
              </a:rPr>
              <a:t>The model can use both content and position when deciding which temporal positions should interact.</a:t>
            </a:r>
            <a:endParaRPr lang="it-IT" sz="900" b="0" u="none" strike="noStrike" dirty="0">
              <a:solidFill>
                <a:srgbClr val="000000"/>
              </a:solidFill>
              <a:effectLst/>
              <a:uFillTx/>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6BEC03-8A09-B9A4-1525-9FF8F9581B46}"/>
              </a:ext>
            </a:extLst>
          </p:cNvPr>
          <p:cNvSpPr>
            <a:spLocks noGrp="1"/>
          </p:cNvSpPr>
          <p:nvPr>
            <p:ph type="title"/>
          </p:nvPr>
        </p:nvSpPr>
        <p:spPr/>
        <p:txBody>
          <a:bodyPr/>
          <a:lstStyle/>
          <a:p>
            <a:r>
              <a:rPr lang="en-GB" b="1" dirty="0"/>
              <a:t>Transition</a:t>
            </a:r>
            <a:endParaRPr lang="en-GB" dirty="0"/>
          </a:p>
        </p:txBody>
      </p:sp>
      <p:sp>
        <p:nvSpPr>
          <p:cNvPr id="3" name="Segnaposto contenuto 2">
            <a:extLst>
              <a:ext uri="{FF2B5EF4-FFF2-40B4-BE49-F238E27FC236}">
                <a16:creationId xmlns:a16="http://schemas.microsoft.com/office/drawing/2014/main" id="{6CCF90E6-8D09-7156-E1C1-6B9D51F18311}"/>
              </a:ext>
            </a:extLst>
          </p:cNvPr>
          <p:cNvSpPr>
            <a:spLocks noGrp="1"/>
          </p:cNvSpPr>
          <p:nvPr>
            <p:ph idx="1"/>
          </p:nvPr>
        </p:nvSpPr>
        <p:spPr/>
        <p:txBody>
          <a:bodyPr/>
          <a:lstStyle/>
          <a:p>
            <a:r>
              <a:rPr lang="en-GB" dirty="0"/>
              <a:t>We now have the main ingredients required to build the central component of a Transformer:</a:t>
            </a:r>
          </a:p>
          <a:p>
            <a:pPr lvl="1"/>
            <a:r>
              <a:rPr lang="en-GB" dirty="0"/>
              <a:t>self-attention; </a:t>
            </a:r>
          </a:p>
          <a:p>
            <a:pPr lvl="1"/>
            <a:r>
              <a:rPr lang="en-GB" dirty="0"/>
              <a:t>positional information; </a:t>
            </a:r>
          </a:p>
          <a:p>
            <a:pPr lvl="1"/>
            <a:r>
              <a:rPr lang="en-GB" dirty="0"/>
              <a:t>nonlinear transformation.</a:t>
            </a:r>
          </a:p>
          <a:p>
            <a:endParaRPr lang="en-GB" dirty="0"/>
          </a:p>
        </p:txBody>
      </p:sp>
    </p:spTree>
    <p:extLst>
      <p:ext uri="{BB962C8B-B14F-4D97-AF65-F5344CB8AC3E}">
        <p14:creationId xmlns:p14="http://schemas.microsoft.com/office/powerpoint/2010/main" val="33300483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3D86A3-5500-1A05-C6E1-E9ECF4A7C80D}"/>
              </a:ext>
            </a:extLst>
          </p:cNvPr>
          <p:cNvSpPr>
            <a:spLocks noGrp="1"/>
          </p:cNvSpPr>
          <p:nvPr>
            <p:ph type="title"/>
          </p:nvPr>
        </p:nvSpPr>
        <p:spPr/>
        <p:txBody>
          <a:bodyPr/>
          <a:lstStyle/>
          <a:p>
            <a:r>
              <a:rPr lang="en-GB" dirty="0"/>
              <a:t>Block 6.F — Multi-Head Attention and the Transformer Block</a:t>
            </a:r>
          </a:p>
        </p:txBody>
      </p:sp>
      <p:sp>
        <p:nvSpPr>
          <p:cNvPr id="3" name="Segnaposto contenuto 2">
            <a:extLst>
              <a:ext uri="{FF2B5EF4-FFF2-40B4-BE49-F238E27FC236}">
                <a16:creationId xmlns:a16="http://schemas.microsoft.com/office/drawing/2014/main" id="{7804989B-B95E-BCC2-298D-D5EEAE8AF4FB}"/>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5051564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794D3A-E636-0BAD-64EF-AEC73C748B47}"/>
              </a:ext>
            </a:extLst>
          </p:cNvPr>
          <p:cNvSpPr>
            <a:spLocks noGrp="1"/>
          </p:cNvSpPr>
          <p:nvPr>
            <p:ph type="title"/>
          </p:nvPr>
        </p:nvSpPr>
        <p:spPr/>
        <p:txBody>
          <a:bodyPr/>
          <a:lstStyle/>
          <a:p>
            <a:r>
              <a:rPr lang="en-GB" dirty="0"/>
              <a:t>One attention mechanism may capture only one interaction pattern</a:t>
            </a:r>
          </a:p>
        </p:txBody>
      </p:sp>
      <p:sp>
        <p:nvSpPr>
          <p:cNvPr id="3" name="Segnaposto contenuto 2">
            <a:extLst>
              <a:ext uri="{FF2B5EF4-FFF2-40B4-BE49-F238E27FC236}">
                <a16:creationId xmlns:a16="http://schemas.microsoft.com/office/drawing/2014/main" id="{58D03DF6-331E-5C2F-6BB3-347EC488C9A1}"/>
              </a:ext>
            </a:extLst>
          </p:cNvPr>
          <p:cNvSpPr>
            <a:spLocks noGrp="1"/>
          </p:cNvSpPr>
          <p:nvPr>
            <p:ph idx="1"/>
          </p:nvPr>
        </p:nvSpPr>
        <p:spPr/>
        <p:txBody>
          <a:bodyPr>
            <a:normAutofit fontScale="77500" lnSpcReduction="20000"/>
          </a:bodyPr>
          <a:lstStyle/>
          <a:p>
            <a:r>
              <a:rPr lang="en-GB" dirty="0"/>
              <a:t>A single self-attention operation produces one set of query-key comparisons.</a:t>
            </a:r>
          </a:p>
          <a:p>
            <a:r>
              <a:rPr lang="en-GB" dirty="0"/>
              <a:t>But temporal sequences may contain </a:t>
            </a:r>
            <a:r>
              <a:rPr lang="en-GB" b="1" dirty="0"/>
              <a:t>several useful relationships simultaneously</a:t>
            </a:r>
            <a:r>
              <a:rPr lang="en-GB" dirty="0"/>
              <a:t>.</a:t>
            </a:r>
          </a:p>
          <a:p>
            <a:pPr lvl="1"/>
            <a:r>
              <a:rPr lang="en-GB" dirty="0"/>
              <a:t>For example, demand at time t may depend on:</a:t>
            </a:r>
          </a:p>
          <a:p>
            <a:pPr lvl="2"/>
            <a:r>
              <a:rPr lang="en-GB" dirty="0"/>
              <a:t>very recent history; </a:t>
            </a:r>
          </a:p>
          <a:p>
            <a:pPr lvl="2"/>
            <a:r>
              <a:rPr lang="en-GB" dirty="0"/>
              <a:t>the same hour yesterday; </a:t>
            </a:r>
          </a:p>
          <a:p>
            <a:pPr lvl="2"/>
            <a:r>
              <a:rPr lang="en-GB" dirty="0"/>
              <a:t>the same hour last week; </a:t>
            </a:r>
          </a:p>
          <a:p>
            <a:pPr lvl="2"/>
            <a:r>
              <a:rPr lang="en-GB" dirty="0"/>
              <a:t>a longer trend. </a:t>
            </a:r>
          </a:p>
          <a:p>
            <a:r>
              <a:rPr lang="en-GB" dirty="0"/>
              <a:t>One single attention representation must </a:t>
            </a:r>
            <a:r>
              <a:rPr lang="en-GB" b="1" dirty="0"/>
              <a:t>combine all of these requirements</a:t>
            </a:r>
            <a:r>
              <a:rPr lang="en-GB" dirty="0"/>
              <a:t>.</a:t>
            </a:r>
          </a:p>
          <a:p>
            <a:r>
              <a:rPr lang="en-GB" b="1" dirty="0"/>
              <a:t>Alternative</a:t>
            </a:r>
          </a:p>
          <a:p>
            <a:pPr lvl="1"/>
            <a:r>
              <a:rPr lang="en-GB" dirty="0"/>
              <a:t>Use several attention mechanisms in parallel.</a:t>
            </a:r>
          </a:p>
          <a:p>
            <a:pPr lvl="1"/>
            <a:r>
              <a:rPr lang="en-GB" dirty="0"/>
              <a:t>These are called </a:t>
            </a:r>
            <a:r>
              <a:rPr lang="en-GB" b="1" dirty="0"/>
              <a:t>attention heads</a:t>
            </a:r>
            <a:r>
              <a:rPr lang="en-GB" dirty="0"/>
              <a:t>.</a:t>
            </a:r>
          </a:p>
          <a:p>
            <a:pPr marL="0" indent="0">
              <a:buNone/>
            </a:pPr>
            <a:endParaRPr lang="en-GB" b="1" dirty="0"/>
          </a:p>
          <a:p>
            <a:r>
              <a:rPr lang="en-GB" b="1" dirty="0"/>
              <a:t>Multi-head attention allows different learned projections to </a:t>
            </a:r>
            <a:r>
              <a:rPr lang="en-GB" b="1" dirty="0">
                <a:highlight>
                  <a:srgbClr val="FFFF00"/>
                </a:highlight>
              </a:rPr>
              <a:t>examine temporal relationships in different representation subspaces.</a:t>
            </a:r>
          </a:p>
        </p:txBody>
      </p:sp>
    </p:spTree>
    <p:extLst>
      <p:ext uri="{BB962C8B-B14F-4D97-AF65-F5344CB8AC3E}">
        <p14:creationId xmlns:p14="http://schemas.microsoft.com/office/powerpoint/2010/main" val="42340804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DB907B-45E5-90C6-9497-37ED88044B0A}"/>
              </a:ext>
            </a:extLst>
          </p:cNvPr>
          <p:cNvSpPr>
            <a:spLocks noGrp="1"/>
          </p:cNvSpPr>
          <p:nvPr>
            <p:ph type="title"/>
          </p:nvPr>
        </p:nvSpPr>
        <p:spPr/>
        <p:txBody>
          <a:bodyPr/>
          <a:lstStyle/>
          <a:p>
            <a:r>
              <a:rPr lang="en-GB" b="1" dirty="0"/>
              <a:t>Multi-head attention</a:t>
            </a:r>
            <a:br>
              <a:rPr lang="en-GB" b="1" dirty="0"/>
            </a:br>
            <a:endParaRPr lang="en-GB" dirty="0"/>
          </a:p>
        </p:txBody>
      </p:sp>
      <p:sp>
        <p:nvSpPr>
          <p:cNvPr id="3" name="Segnaposto contenuto 2">
            <a:extLst>
              <a:ext uri="{FF2B5EF4-FFF2-40B4-BE49-F238E27FC236}">
                <a16:creationId xmlns:a16="http://schemas.microsoft.com/office/drawing/2014/main" id="{1D2A0A84-0D3E-5C6D-9D0A-A5835345E86F}"/>
              </a:ext>
            </a:extLst>
          </p:cNvPr>
          <p:cNvSpPr>
            <a:spLocks noGrp="1"/>
          </p:cNvSpPr>
          <p:nvPr>
            <p:ph sz="half" idx="1"/>
          </p:nvPr>
        </p:nvSpPr>
        <p:spPr>
          <a:xfrm>
            <a:off x="677334" y="2160588"/>
            <a:ext cx="4896615" cy="4249939"/>
          </a:xfrm>
        </p:spPr>
        <p:txBody>
          <a:bodyPr>
            <a:normAutofit fontScale="70000" lnSpcReduction="20000"/>
          </a:bodyPr>
          <a:lstStyle/>
          <a:p>
            <a:r>
              <a:rPr lang="en-GB" dirty="0"/>
              <a:t>Suppose we use several heads:</a:t>
            </a:r>
          </a:p>
          <a:p>
            <a:pPr lvl="1"/>
            <a:r>
              <a:rPr lang="en-GB" dirty="0"/>
              <a:t>Head 1</a:t>
            </a:r>
          </a:p>
          <a:p>
            <a:pPr lvl="1"/>
            <a:r>
              <a:rPr lang="en-GB" dirty="0"/>
              <a:t>Head 2</a:t>
            </a:r>
          </a:p>
          <a:p>
            <a:pPr lvl="1"/>
            <a:r>
              <a:rPr lang="en-GB" dirty="0"/>
              <a:t>Head 3</a:t>
            </a:r>
          </a:p>
          <a:p>
            <a:pPr lvl="1"/>
            <a:r>
              <a:rPr lang="en-GB" dirty="0"/>
              <a:t>...</a:t>
            </a:r>
          </a:p>
          <a:p>
            <a:pPr lvl="1"/>
            <a:r>
              <a:rPr lang="en-GB" dirty="0"/>
              <a:t>Head H</a:t>
            </a:r>
          </a:p>
          <a:p>
            <a:endParaRPr lang="en-GB" dirty="0"/>
          </a:p>
          <a:p>
            <a:r>
              <a:rPr lang="en-GB" dirty="0"/>
              <a:t>Each head has its own learned:</a:t>
            </a:r>
          </a:p>
          <a:p>
            <a:pPr lvl="1"/>
            <a:r>
              <a:rPr lang="en-GB" b="1" dirty="0"/>
              <a:t>query projection; </a:t>
            </a:r>
          </a:p>
          <a:p>
            <a:pPr lvl="1"/>
            <a:r>
              <a:rPr lang="en-GB" b="1" dirty="0"/>
              <a:t>key projection; </a:t>
            </a:r>
          </a:p>
          <a:p>
            <a:pPr lvl="1"/>
            <a:r>
              <a:rPr lang="en-GB" b="1" dirty="0"/>
              <a:t>value projection. </a:t>
            </a:r>
          </a:p>
          <a:p>
            <a:endParaRPr lang="en-GB" dirty="0"/>
          </a:p>
        </p:txBody>
      </p:sp>
      <p:sp>
        <p:nvSpPr>
          <p:cNvPr id="4" name="Segnaposto contenuto 3">
            <a:extLst>
              <a:ext uri="{FF2B5EF4-FFF2-40B4-BE49-F238E27FC236}">
                <a16:creationId xmlns:a16="http://schemas.microsoft.com/office/drawing/2014/main" id="{5CA0083C-9E86-CA1B-5C0F-4B5E0B021232}"/>
              </a:ext>
            </a:extLst>
          </p:cNvPr>
          <p:cNvSpPr>
            <a:spLocks noGrp="1"/>
          </p:cNvSpPr>
          <p:nvPr>
            <p:ph sz="half" idx="2"/>
          </p:nvPr>
        </p:nvSpPr>
        <p:spPr>
          <a:xfrm>
            <a:off x="6510207" y="2160589"/>
            <a:ext cx="5386719" cy="4493130"/>
          </a:xfrm>
        </p:spPr>
        <p:txBody>
          <a:bodyPr>
            <a:normAutofit fontScale="70000" lnSpcReduction="20000"/>
          </a:bodyPr>
          <a:lstStyle/>
          <a:p>
            <a:r>
              <a:rPr lang="en-GB" dirty="0"/>
              <a:t>Conceptually:</a:t>
            </a:r>
          </a:p>
          <a:p>
            <a:r>
              <a:rPr lang="en-GB" dirty="0"/>
              <a:t>input representations</a:t>
            </a:r>
          </a:p>
          <a:p>
            <a:r>
              <a:rPr lang="en-GB" dirty="0"/>
              <a:t>      ↓</a:t>
            </a:r>
          </a:p>
          <a:p>
            <a:r>
              <a:rPr lang="en-GB" dirty="0"/>
              <a:t> ┌→ attention head 1 ─┐</a:t>
            </a:r>
          </a:p>
          <a:p>
            <a:r>
              <a:rPr lang="en-GB" dirty="0"/>
              <a:t> ├→ attention head 2 ─┤</a:t>
            </a:r>
          </a:p>
          <a:p>
            <a:r>
              <a:rPr lang="en-GB" dirty="0"/>
              <a:t> ├→ attention head 3 ─┤</a:t>
            </a:r>
          </a:p>
          <a:p>
            <a:r>
              <a:rPr lang="en-GB" dirty="0"/>
              <a:t> └→ attention head H ─┘</a:t>
            </a:r>
          </a:p>
          <a:p>
            <a:r>
              <a:rPr lang="en-GB" dirty="0"/>
              <a:t>      ↓</a:t>
            </a:r>
          </a:p>
          <a:p>
            <a:r>
              <a:rPr lang="en-GB" dirty="0">
                <a:highlight>
                  <a:srgbClr val="FFFF00"/>
                </a:highlight>
              </a:rPr>
              <a:t>concatenate head outputs</a:t>
            </a:r>
          </a:p>
          <a:p>
            <a:r>
              <a:rPr lang="en-GB" dirty="0"/>
              <a:t>      ↓</a:t>
            </a:r>
          </a:p>
          <a:p>
            <a:r>
              <a:rPr lang="en-GB" dirty="0"/>
              <a:t>linear projection</a:t>
            </a:r>
          </a:p>
          <a:p>
            <a:r>
              <a:rPr lang="en-GB" dirty="0"/>
              <a:t>      ↓</a:t>
            </a:r>
          </a:p>
          <a:p>
            <a:r>
              <a:rPr lang="en-GB" dirty="0"/>
              <a:t>combined representation</a:t>
            </a:r>
          </a:p>
          <a:p>
            <a:endParaRPr lang="en-GB" dirty="0"/>
          </a:p>
          <a:p>
            <a:r>
              <a:rPr lang="en-GB" dirty="0">
                <a:highlight>
                  <a:srgbClr val="FFFF00"/>
                </a:highlight>
              </a:rPr>
              <a:t>The heads operate on the same sequence but can learn different interaction patterns.</a:t>
            </a:r>
          </a:p>
          <a:p>
            <a:endParaRPr lang="en-GB" dirty="0"/>
          </a:p>
        </p:txBody>
      </p:sp>
    </p:spTree>
    <p:extLst>
      <p:ext uri="{BB962C8B-B14F-4D97-AF65-F5344CB8AC3E}">
        <p14:creationId xmlns:p14="http://schemas.microsoft.com/office/powerpoint/2010/main" val="7298147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89"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0"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Multi-head attention: several temporal views in parallel</a:t>
            </a:r>
            <a:endParaRPr lang="it-IT" sz="2100" b="0" u="none" strike="noStrike">
              <a:solidFill>
                <a:srgbClr val="000000"/>
              </a:solidFill>
              <a:effectLst/>
              <a:uFillTx/>
              <a:latin typeface="Arial"/>
            </a:endParaRPr>
          </a:p>
        </p:txBody>
      </p:sp>
      <p:sp>
        <p:nvSpPr>
          <p:cNvPr id="191"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Each head has its own learned query, key and value projections.</a:t>
            </a:r>
            <a:endParaRPr lang="it-IT" sz="850" b="0" u="none" strike="noStrike">
              <a:solidFill>
                <a:srgbClr val="000000"/>
              </a:solidFill>
              <a:effectLst/>
              <a:uFillTx/>
              <a:latin typeface="Arial"/>
            </a:endParaRPr>
          </a:p>
        </p:txBody>
      </p:sp>
      <p:sp>
        <p:nvSpPr>
          <p:cNvPr id="192" name="Text 4"/>
          <p:cNvSpPr/>
          <p:nvPr/>
        </p:nvSpPr>
        <p:spPr>
          <a:xfrm>
            <a:off x="914400" y="2834640"/>
            <a:ext cx="2102760" cy="59400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input position-aware tokens</a:t>
            </a:r>
            <a:endParaRPr lang="it-IT" sz="1200" b="0" u="none" strike="noStrike">
              <a:solidFill>
                <a:srgbClr val="000000"/>
              </a:solidFill>
              <a:effectLst/>
              <a:uFillTx/>
              <a:latin typeface="Arial"/>
            </a:endParaRPr>
          </a:p>
        </p:txBody>
      </p:sp>
      <p:sp>
        <p:nvSpPr>
          <p:cNvPr id="193" name="Shape 5"/>
          <p:cNvSpPr/>
          <p:nvPr/>
        </p:nvSpPr>
        <p:spPr>
          <a:xfrm flipV="1">
            <a:off x="3154680" y="1581840"/>
            <a:ext cx="502920" cy="1554480"/>
          </a:xfrm>
          <a:prstGeom prst="line">
            <a:avLst/>
          </a:prstGeom>
          <a:ln w="1270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94" name="Text 6"/>
          <p:cNvSpPr/>
          <p:nvPr/>
        </p:nvSpPr>
        <p:spPr>
          <a:xfrm>
            <a:off x="3749040" y="1280160"/>
            <a:ext cx="1919880" cy="59400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head 1</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recent context</a:t>
            </a:r>
            <a:endParaRPr lang="it-IT" sz="1000" b="0" u="none" strike="noStrike">
              <a:solidFill>
                <a:srgbClr val="000000"/>
              </a:solidFill>
              <a:effectLst/>
              <a:uFillTx/>
              <a:latin typeface="Arial"/>
            </a:endParaRPr>
          </a:p>
        </p:txBody>
      </p:sp>
      <p:sp>
        <p:nvSpPr>
          <p:cNvPr id="195" name="Shape 7"/>
          <p:cNvSpPr/>
          <p:nvPr/>
        </p:nvSpPr>
        <p:spPr>
          <a:xfrm flipV="1">
            <a:off x="3154680" y="2770560"/>
            <a:ext cx="502920" cy="365760"/>
          </a:xfrm>
          <a:prstGeom prst="line">
            <a:avLst/>
          </a:prstGeom>
          <a:ln w="1270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96" name="Text 8"/>
          <p:cNvSpPr/>
          <p:nvPr/>
        </p:nvSpPr>
        <p:spPr>
          <a:xfrm>
            <a:off x="3749040" y="2468880"/>
            <a:ext cx="1919880" cy="59400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head 2</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daily lag</a:t>
            </a:r>
            <a:endParaRPr lang="it-IT" sz="1000" b="0" u="none" strike="noStrike">
              <a:solidFill>
                <a:srgbClr val="000000"/>
              </a:solidFill>
              <a:effectLst/>
              <a:uFillTx/>
              <a:latin typeface="Arial"/>
            </a:endParaRPr>
          </a:p>
        </p:txBody>
      </p:sp>
      <p:sp>
        <p:nvSpPr>
          <p:cNvPr id="197" name="Shape 9"/>
          <p:cNvSpPr/>
          <p:nvPr/>
        </p:nvSpPr>
        <p:spPr>
          <a:xfrm>
            <a:off x="3154680" y="3136320"/>
            <a:ext cx="502920" cy="82296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98" name="Text 10"/>
          <p:cNvSpPr/>
          <p:nvPr/>
        </p:nvSpPr>
        <p:spPr>
          <a:xfrm>
            <a:off x="3749040" y="3657600"/>
            <a:ext cx="1919880" cy="59400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head 3</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weekly lag</a:t>
            </a:r>
            <a:endParaRPr lang="it-IT" sz="1000" b="0" u="none" strike="noStrike">
              <a:solidFill>
                <a:srgbClr val="000000"/>
              </a:solidFill>
              <a:effectLst/>
              <a:uFillTx/>
              <a:latin typeface="Arial"/>
            </a:endParaRPr>
          </a:p>
        </p:txBody>
      </p:sp>
      <p:sp>
        <p:nvSpPr>
          <p:cNvPr id="199" name="Shape 11"/>
          <p:cNvSpPr/>
          <p:nvPr/>
        </p:nvSpPr>
        <p:spPr>
          <a:xfrm>
            <a:off x="3154680" y="3136320"/>
            <a:ext cx="502920" cy="2011680"/>
          </a:xfrm>
          <a:prstGeom prst="line">
            <a:avLst/>
          </a:prstGeom>
          <a:ln w="12700">
            <a:solidFill>
              <a:srgbClr val="14B8A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00" name="Text 12"/>
          <p:cNvSpPr/>
          <p:nvPr/>
        </p:nvSpPr>
        <p:spPr>
          <a:xfrm>
            <a:off x="3749040" y="4846320"/>
            <a:ext cx="1919880" cy="594000"/>
          </a:xfrm>
          <a:prstGeom prst="rect">
            <a:avLst/>
          </a:prstGeom>
          <a:solidFill>
            <a:srgbClr val="CCFBF1"/>
          </a:solidFill>
          <a:ln w="12700">
            <a:solidFill>
              <a:srgbClr val="14B8A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head H</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latent relation</a:t>
            </a:r>
            <a:endParaRPr lang="it-IT" sz="1000" b="0" u="none" strike="noStrike">
              <a:solidFill>
                <a:srgbClr val="000000"/>
              </a:solidFill>
              <a:effectLst/>
              <a:uFillTx/>
              <a:latin typeface="Arial"/>
            </a:endParaRPr>
          </a:p>
        </p:txBody>
      </p:sp>
      <p:sp>
        <p:nvSpPr>
          <p:cNvPr id="201" name="Shape 13"/>
          <p:cNvSpPr/>
          <p:nvPr/>
        </p:nvSpPr>
        <p:spPr>
          <a:xfrm>
            <a:off x="5760720" y="1581840"/>
            <a:ext cx="822960" cy="1554480"/>
          </a:xfrm>
          <a:prstGeom prst="line">
            <a:avLst/>
          </a:prstGeom>
          <a:ln w="1270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02" name="Shape 14"/>
          <p:cNvSpPr/>
          <p:nvPr/>
        </p:nvSpPr>
        <p:spPr>
          <a:xfrm>
            <a:off x="5760720" y="2770560"/>
            <a:ext cx="822960" cy="365760"/>
          </a:xfrm>
          <a:prstGeom prst="line">
            <a:avLst/>
          </a:prstGeom>
          <a:ln w="12700">
            <a:solidFill>
              <a:srgbClr val="F59E0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03" name="Shape 15"/>
          <p:cNvSpPr/>
          <p:nvPr/>
        </p:nvSpPr>
        <p:spPr>
          <a:xfrm flipV="1">
            <a:off x="5760720" y="3136320"/>
            <a:ext cx="822960" cy="82296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04" name="Shape 16"/>
          <p:cNvSpPr/>
          <p:nvPr/>
        </p:nvSpPr>
        <p:spPr>
          <a:xfrm flipV="1">
            <a:off x="5760720" y="3136320"/>
            <a:ext cx="822960" cy="2011680"/>
          </a:xfrm>
          <a:prstGeom prst="line">
            <a:avLst/>
          </a:prstGeom>
          <a:ln w="12700">
            <a:solidFill>
              <a:srgbClr val="14B8A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05" name="Text 17"/>
          <p:cNvSpPr/>
          <p:nvPr/>
        </p:nvSpPr>
        <p:spPr>
          <a:xfrm>
            <a:off x="6675120" y="2788920"/>
            <a:ext cx="1828440" cy="73116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concatenate</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head outputs</a:t>
            </a:r>
            <a:endParaRPr lang="it-IT" sz="1200" b="0" u="none" strike="noStrike">
              <a:solidFill>
                <a:srgbClr val="000000"/>
              </a:solidFill>
              <a:effectLst/>
              <a:uFillTx/>
              <a:latin typeface="Arial"/>
            </a:endParaRPr>
          </a:p>
        </p:txBody>
      </p:sp>
      <p:sp>
        <p:nvSpPr>
          <p:cNvPr id="206" name="Shape 18"/>
          <p:cNvSpPr/>
          <p:nvPr/>
        </p:nvSpPr>
        <p:spPr>
          <a:xfrm>
            <a:off x="8686800" y="3154680"/>
            <a:ext cx="91440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07" name="Text 19"/>
          <p:cNvSpPr/>
          <p:nvPr/>
        </p:nvSpPr>
        <p:spPr>
          <a:xfrm>
            <a:off x="9738360" y="2743200"/>
            <a:ext cx="1645560" cy="82260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linear projection</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combined representation</a:t>
            </a:r>
            <a:endParaRPr lang="it-IT" sz="1000" b="0" u="none" strike="noStrike">
              <a:solidFill>
                <a:srgbClr val="000000"/>
              </a:solidFill>
              <a:effectLst/>
              <a:uFillTx/>
              <a:latin typeface="Arial"/>
            </a:endParaRPr>
          </a:p>
        </p:txBody>
      </p:sp>
      <p:sp>
        <p:nvSpPr>
          <p:cNvPr id="208" name="Text 20"/>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dirty="0">
                <a:solidFill>
                  <a:srgbClr val="475569"/>
                </a:solidFill>
                <a:effectLst/>
                <a:uFillTx/>
                <a:latin typeface="Arial"/>
              </a:rPr>
              <a:t>Different heads can learn different interaction patterns</a:t>
            </a:r>
            <a:r>
              <a:rPr lang="en-US" sz="1100" b="0" u="none" strike="noStrike" dirty="0">
                <a:solidFill>
                  <a:srgbClr val="475569"/>
                </a:solidFill>
                <a:effectLst/>
                <a:uFillTx/>
                <a:latin typeface="Arial"/>
              </a:rPr>
              <a:t>; their outputs are combined inside the model.</a:t>
            </a:r>
            <a:endParaRPr lang="it-IT" sz="1100" b="0" u="none" strike="noStrike" dirty="0">
              <a:solidFill>
                <a:srgbClr val="000000"/>
              </a:solidFill>
              <a:effectLst/>
              <a:uFillTx/>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B8B1B86-9013-6231-3E53-71CDC2968F80}"/>
              </a:ext>
            </a:extLst>
          </p:cNvPr>
          <p:cNvSpPr>
            <a:spLocks noGrp="1"/>
          </p:cNvSpPr>
          <p:nvPr>
            <p:ph type="title"/>
          </p:nvPr>
        </p:nvSpPr>
        <p:spPr/>
        <p:txBody>
          <a:bodyPr/>
          <a:lstStyle/>
          <a:p>
            <a:r>
              <a:rPr lang="en-GB" dirty="0"/>
              <a:t>What can different heads represent?</a:t>
            </a:r>
          </a:p>
        </p:txBody>
      </p:sp>
      <p:sp>
        <p:nvSpPr>
          <p:cNvPr id="3" name="Segnaposto contenuto 2">
            <a:extLst>
              <a:ext uri="{FF2B5EF4-FFF2-40B4-BE49-F238E27FC236}">
                <a16:creationId xmlns:a16="http://schemas.microsoft.com/office/drawing/2014/main" id="{E93200CB-269A-CC40-C46F-20EE7B636E49}"/>
              </a:ext>
            </a:extLst>
          </p:cNvPr>
          <p:cNvSpPr>
            <a:spLocks noGrp="1"/>
          </p:cNvSpPr>
          <p:nvPr>
            <p:ph idx="1"/>
          </p:nvPr>
        </p:nvSpPr>
        <p:spPr/>
        <p:txBody>
          <a:bodyPr>
            <a:normAutofit fontScale="62500" lnSpcReduction="20000"/>
          </a:bodyPr>
          <a:lstStyle/>
          <a:p>
            <a:r>
              <a:rPr lang="en-GB" dirty="0"/>
              <a:t>Different heads may become useful for different temporal relationships.</a:t>
            </a:r>
          </a:p>
          <a:p>
            <a:r>
              <a:rPr lang="en-GB" dirty="0"/>
              <a:t>One head might emphasize:</a:t>
            </a:r>
          </a:p>
          <a:p>
            <a:pPr lvl="1"/>
            <a:r>
              <a:rPr lang="en-GB" dirty="0"/>
              <a:t>recent local context</a:t>
            </a:r>
          </a:p>
          <a:p>
            <a:r>
              <a:rPr lang="en-GB" dirty="0"/>
              <a:t>another:</a:t>
            </a:r>
          </a:p>
          <a:p>
            <a:pPr lvl="1"/>
            <a:r>
              <a:rPr lang="en-GB" dirty="0"/>
              <a:t>daily periodic relationships</a:t>
            </a:r>
          </a:p>
          <a:p>
            <a:r>
              <a:rPr lang="en-GB" dirty="0"/>
              <a:t>another:</a:t>
            </a:r>
          </a:p>
          <a:p>
            <a:pPr lvl="1"/>
            <a:r>
              <a:rPr lang="en-GB" dirty="0"/>
              <a:t>longer-range similarities</a:t>
            </a:r>
          </a:p>
          <a:p>
            <a:r>
              <a:rPr lang="en-GB" dirty="0"/>
              <a:t>and another:</a:t>
            </a:r>
          </a:p>
          <a:p>
            <a:pPr lvl="1"/>
            <a:r>
              <a:rPr lang="en-GB" dirty="0"/>
              <a:t>relationships between different latent features</a:t>
            </a:r>
          </a:p>
          <a:p>
            <a:endParaRPr lang="en-GB" b="1" dirty="0"/>
          </a:p>
          <a:p>
            <a:r>
              <a:rPr lang="en-GB" b="1" dirty="0"/>
              <a:t>Important caution</a:t>
            </a:r>
          </a:p>
          <a:p>
            <a:r>
              <a:rPr lang="en-GB" b="1" dirty="0"/>
              <a:t>These are useful interpretations, not guaranteed semantic roles.</a:t>
            </a:r>
          </a:p>
          <a:p>
            <a:r>
              <a:rPr lang="en-GB" b="1" dirty="0"/>
              <a:t>Individual heads are learned from the training objective and are not necessarily easy to interpret.</a:t>
            </a:r>
          </a:p>
          <a:p>
            <a:endParaRPr lang="en-GB" b="1" dirty="0"/>
          </a:p>
          <a:p>
            <a:r>
              <a:rPr lang="en-GB" b="1" dirty="0"/>
              <a:t>Multiple heads increase the variety of temporal interactions that can be represented simultaneously.</a:t>
            </a:r>
          </a:p>
          <a:p>
            <a:endParaRPr lang="en-GB" dirty="0"/>
          </a:p>
        </p:txBody>
      </p:sp>
    </p:spTree>
    <p:extLst>
      <p:ext uri="{BB962C8B-B14F-4D97-AF65-F5344CB8AC3E}">
        <p14:creationId xmlns:p14="http://schemas.microsoft.com/office/powerpoint/2010/main" val="28882672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041A26-F62C-D07E-DFAE-5631E82E4DEA}"/>
              </a:ext>
            </a:extLst>
          </p:cNvPr>
          <p:cNvSpPr>
            <a:spLocks noGrp="1"/>
          </p:cNvSpPr>
          <p:nvPr>
            <p:ph type="title"/>
          </p:nvPr>
        </p:nvSpPr>
        <p:spPr/>
        <p:txBody>
          <a:bodyPr>
            <a:normAutofit fontScale="90000"/>
          </a:bodyPr>
          <a:lstStyle/>
          <a:p>
            <a:r>
              <a:rPr lang="en-GB" b="1" dirty="0"/>
              <a:t>Multi-head attention output</a:t>
            </a:r>
            <a:br>
              <a:rPr lang="en-GB" b="1" dirty="0"/>
            </a:br>
            <a:br>
              <a:rPr lang="en-GB" dirty="0"/>
            </a:br>
            <a:endParaRPr lang="en-GB" dirty="0"/>
          </a:p>
        </p:txBody>
      </p:sp>
      <p:sp>
        <p:nvSpPr>
          <p:cNvPr id="3" name="Segnaposto contenuto 2">
            <a:extLst>
              <a:ext uri="{FF2B5EF4-FFF2-40B4-BE49-F238E27FC236}">
                <a16:creationId xmlns:a16="http://schemas.microsoft.com/office/drawing/2014/main" id="{3FF0160E-A205-2BBE-EF4D-3FCCE2ED6D9F}"/>
              </a:ext>
            </a:extLst>
          </p:cNvPr>
          <p:cNvSpPr>
            <a:spLocks noGrp="1"/>
          </p:cNvSpPr>
          <p:nvPr>
            <p:ph sz="half" idx="1"/>
          </p:nvPr>
        </p:nvSpPr>
        <p:spPr>
          <a:xfrm>
            <a:off x="677334" y="2160588"/>
            <a:ext cx="5937475" cy="4443443"/>
          </a:xfrm>
        </p:spPr>
        <p:txBody>
          <a:bodyPr>
            <a:normAutofit/>
          </a:bodyPr>
          <a:lstStyle/>
          <a:p>
            <a:r>
              <a:rPr lang="en-GB" dirty="0"/>
              <a:t>Suppose the model has:</a:t>
            </a:r>
          </a:p>
          <a:p>
            <a:r>
              <a:rPr lang="en-GB" dirty="0" err="1"/>
              <a:t>H_heads</a:t>
            </a:r>
            <a:r>
              <a:rPr lang="en-GB" dirty="0"/>
              <a:t> attention heads.</a:t>
            </a:r>
          </a:p>
          <a:p>
            <a:r>
              <a:rPr lang="en-GB" dirty="0"/>
              <a:t>Each head produces its own output representation:</a:t>
            </a:r>
          </a:p>
          <a:p>
            <a:pPr lvl="1"/>
            <a:r>
              <a:rPr lang="en-GB" dirty="0"/>
              <a:t>head_1[t]</a:t>
            </a:r>
          </a:p>
          <a:p>
            <a:pPr lvl="1"/>
            <a:r>
              <a:rPr lang="en-GB" dirty="0"/>
              <a:t>head_2[t]</a:t>
            </a:r>
          </a:p>
          <a:p>
            <a:pPr lvl="1"/>
            <a:r>
              <a:rPr lang="en-GB" dirty="0"/>
              <a:t>...</a:t>
            </a:r>
          </a:p>
          <a:p>
            <a:pPr lvl="1"/>
            <a:r>
              <a:rPr lang="en-GB" dirty="0" err="1"/>
              <a:t>head_H</a:t>
            </a:r>
            <a:r>
              <a:rPr lang="en-GB" dirty="0"/>
              <a:t>[t]</a:t>
            </a:r>
          </a:p>
          <a:p>
            <a:r>
              <a:rPr lang="en-GB" dirty="0"/>
              <a:t>These outputs are concatenated:</a:t>
            </a:r>
          </a:p>
          <a:p>
            <a:r>
              <a:rPr lang="en-GB" dirty="0"/>
              <a:t>[head_1[t], head_2[t], ..., </a:t>
            </a:r>
            <a:r>
              <a:rPr lang="en-GB" dirty="0" err="1"/>
              <a:t>head_H</a:t>
            </a:r>
            <a:r>
              <a:rPr lang="en-GB" dirty="0"/>
              <a:t>[t]]</a:t>
            </a:r>
          </a:p>
          <a:p>
            <a:r>
              <a:rPr lang="en-GB" dirty="0"/>
              <a:t>and then transformed by a learned output projection.</a:t>
            </a:r>
          </a:p>
          <a:p>
            <a:endParaRPr lang="en-GB" dirty="0"/>
          </a:p>
        </p:txBody>
      </p:sp>
      <p:sp>
        <p:nvSpPr>
          <p:cNvPr id="4" name="Segnaposto contenuto 3">
            <a:extLst>
              <a:ext uri="{FF2B5EF4-FFF2-40B4-BE49-F238E27FC236}">
                <a16:creationId xmlns:a16="http://schemas.microsoft.com/office/drawing/2014/main" id="{72FC48BE-9AB0-63CF-1DA1-2157785EFDF7}"/>
              </a:ext>
            </a:extLst>
          </p:cNvPr>
          <p:cNvSpPr>
            <a:spLocks noGrp="1"/>
          </p:cNvSpPr>
          <p:nvPr>
            <p:ph sz="half" idx="2"/>
          </p:nvPr>
        </p:nvSpPr>
        <p:spPr>
          <a:xfrm>
            <a:off x="7181985" y="2171365"/>
            <a:ext cx="4860858" cy="4443444"/>
          </a:xfrm>
        </p:spPr>
        <p:txBody>
          <a:bodyPr>
            <a:normAutofit/>
          </a:bodyPr>
          <a:lstStyle/>
          <a:p>
            <a:r>
              <a:rPr lang="en-GB" b="1" dirty="0"/>
              <a:t>Result</a:t>
            </a:r>
          </a:p>
          <a:p>
            <a:r>
              <a:rPr lang="en-GB" b="1" dirty="0">
                <a:highlight>
                  <a:srgbClr val="FFFF00"/>
                </a:highlight>
              </a:rPr>
              <a:t>For each temporal position</a:t>
            </a:r>
            <a:r>
              <a:rPr lang="en-GB" b="1" dirty="0"/>
              <a:t>, the model obtains a new representation containing information from multiple attention mechanisms.</a:t>
            </a:r>
          </a:p>
          <a:p>
            <a:r>
              <a:rPr lang="en-GB" b="1" dirty="0"/>
              <a:t>Conceptually</a:t>
            </a:r>
          </a:p>
          <a:p>
            <a:pPr lvl="1"/>
            <a:r>
              <a:rPr lang="en-GB" dirty="0"/>
              <a:t>multiple temporal views</a:t>
            </a:r>
          </a:p>
          <a:p>
            <a:pPr lvl="1"/>
            <a:r>
              <a:rPr lang="en-GB" dirty="0"/>
              <a:t>       ↓</a:t>
            </a:r>
          </a:p>
          <a:p>
            <a:pPr lvl="1"/>
            <a:r>
              <a:rPr lang="en-GB" dirty="0"/>
              <a:t>combine</a:t>
            </a:r>
          </a:p>
          <a:p>
            <a:pPr lvl="1"/>
            <a:r>
              <a:rPr lang="en-GB" dirty="0"/>
              <a:t>       ↓</a:t>
            </a:r>
          </a:p>
          <a:p>
            <a:pPr lvl="1"/>
            <a:r>
              <a:rPr lang="en-GB" dirty="0"/>
              <a:t>one updated representation</a:t>
            </a:r>
          </a:p>
        </p:txBody>
      </p:sp>
    </p:spTree>
    <p:extLst>
      <p:ext uri="{BB962C8B-B14F-4D97-AF65-F5344CB8AC3E}">
        <p14:creationId xmlns:p14="http://schemas.microsoft.com/office/powerpoint/2010/main" val="21258410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9C6345-DD43-6912-1FD8-18F300330314}"/>
              </a:ext>
            </a:extLst>
          </p:cNvPr>
          <p:cNvSpPr>
            <a:spLocks noGrp="1"/>
          </p:cNvSpPr>
          <p:nvPr>
            <p:ph type="title"/>
          </p:nvPr>
        </p:nvSpPr>
        <p:spPr/>
        <p:txBody>
          <a:bodyPr/>
          <a:lstStyle/>
          <a:p>
            <a:r>
              <a:rPr lang="en-GB" dirty="0"/>
              <a:t>Attention mixes information across positions</a:t>
            </a:r>
          </a:p>
        </p:txBody>
      </p:sp>
      <p:sp>
        <p:nvSpPr>
          <p:cNvPr id="3" name="Segnaposto contenuto 2">
            <a:extLst>
              <a:ext uri="{FF2B5EF4-FFF2-40B4-BE49-F238E27FC236}">
                <a16:creationId xmlns:a16="http://schemas.microsoft.com/office/drawing/2014/main" id="{5EF84EB1-9A18-8C63-BA3C-C3A889C171CA}"/>
              </a:ext>
            </a:extLst>
          </p:cNvPr>
          <p:cNvSpPr>
            <a:spLocks noGrp="1"/>
          </p:cNvSpPr>
          <p:nvPr>
            <p:ph idx="1"/>
          </p:nvPr>
        </p:nvSpPr>
        <p:spPr/>
        <p:txBody>
          <a:bodyPr>
            <a:normAutofit fontScale="85000" lnSpcReduction="20000"/>
          </a:bodyPr>
          <a:lstStyle/>
          <a:p>
            <a:r>
              <a:rPr lang="en-GB" dirty="0"/>
              <a:t>The main role of self-attention is to exchange information among temporal positions.</a:t>
            </a:r>
          </a:p>
          <a:p>
            <a:r>
              <a:rPr lang="en-GB" b="1" dirty="0"/>
              <a:t>For position t:</a:t>
            </a:r>
          </a:p>
          <a:p>
            <a:pPr lvl="1"/>
            <a:r>
              <a:rPr lang="en-GB" dirty="0"/>
              <a:t>representation at t</a:t>
            </a:r>
          </a:p>
          <a:p>
            <a:pPr lvl="1"/>
            <a:r>
              <a:rPr lang="en-GB" dirty="0"/>
              <a:t>       ↓</a:t>
            </a:r>
          </a:p>
          <a:p>
            <a:pPr lvl="1"/>
            <a:r>
              <a:rPr lang="en-GB" dirty="0"/>
              <a:t>self-attention</a:t>
            </a:r>
          </a:p>
          <a:p>
            <a:pPr lvl="1"/>
            <a:r>
              <a:rPr lang="en-GB" dirty="0"/>
              <a:t>       ↓</a:t>
            </a:r>
          </a:p>
          <a:p>
            <a:pPr lvl="1"/>
            <a:r>
              <a:rPr lang="en-GB" dirty="0"/>
              <a:t>information retrieved from other positions</a:t>
            </a:r>
          </a:p>
          <a:p>
            <a:pPr lvl="1"/>
            <a:r>
              <a:rPr lang="en-GB" dirty="0"/>
              <a:t>       ↓</a:t>
            </a:r>
          </a:p>
          <a:p>
            <a:pPr lvl="1"/>
            <a:r>
              <a:rPr lang="en-GB" dirty="0"/>
              <a:t>context-enriched representation at t</a:t>
            </a:r>
          </a:p>
          <a:p>
            <a:endParaRPr lang="en-GB" dirty="0"/>
          </a:p>
          <a:p>
            <a:r>
              <a:rPr lang="en-GB" dirty="0"/>
              <a:t>However, after temporal information has been mixed, the representation still needs to be transformed nonlinearly.</a:t>
            </a:r>
          </a:p>
          <a:p>
            <a:r>
              <a:rPr lang="en-GB" dirty="0"/>
              <a:t>This is the role of the </a:t>
            </a:r>
            <a:r>
              <a:rPr lang="en-GB" b="1" dirty="0"/>
              <a:t>feed-forward network</a:t>
            </a:r>
            <a:r>
              <a:rPr lang="en-GB" dirty="0"/>
              <a:t> in a Transformer block.</a:t>
            </a:r>
          </a:p>
          <a:p>
            <a:endParaRPr lang="en-GB" dirty="0"/>
          </a:p>
        </p:txBody>
      </p:sp>
    </p:spTree>
    <p:extLst>
      <p:ext uri="{BB962C8B-B14F-4D97-AF65-F5344CB8AC3E}">
        <p14:creationId xmlns:p14="http://schemas.microsoft.com/office/powerpoint/2010/main" val="618645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9F3DC0-962B-1166-5627-B245BB51A237}"/>
              </a:ext>
            </a:extLst>
          </p:cNvPr>
          <p:cNvSpPr>
            <a:spLocks noGrp="1"/>
          </p:cNvSpPr>
          <p:nvPr>
            <p:ph type="title"/>
          </p:nvPr>
        </p:nvSpPr>
        <p:spPr/>
        <p:txBody>
          <a:bodyPr/>
          <a:lstStyle/>
          <a:p>
            <a:r>
              <a:rPr lang="en-GB" dirty="0"/>
              <a:t>Position-wise feed-forward network</a:t>
            </a:r>
          </a:p>
        </p:txBody>
      </p:sp>
      <p:sp>
        <p:nvSpPr>
          <p:cNvPr id="3" name="Segnaposto contenuto 2">
            <a:extLst>
              <a:ext uri="{FF2B5EF4-FFF2-40B4-BE49-F238E27FC236}">
                <a16:creationId xmlns:a16="http://schemas.microsoft.com/office/drawing/2014/main" id="{4C28825F-5375-0973-8795-229400A41A43}"/>
              </a:ext>
            </a:extLst>
          </p:cNvPr>
          <p:cNvSpPr>
            <a:spLocks noGrp="1"/>
          </p:cNvSpPr>
          <p:nvPr>
            <p:ph sz="half" idx="1"/>
          </p:nvPr>
        </p:nvSpPr>
        <p:spPr>
          <a:xfrm>
            <a:off x="677334" y="2160588"/>
            <a:ext cx="4906343" cy="4366671"/>
          </a:xfrm>
        </p:spPr>
        <p:txBody>
          <a:bodyPr>
            <a:normAutofit fontScale="92500" lnSpcReduction="20000"/>
          </a:bodyPr>
          <a:lstStyle/>
          <a:p>
            <a:r>
              <a:rPr lang="en-GB" dirty="0"/>
              <a:t>After attention, </a:t>
            </a:r>
            <a:r>
              <a:rPr lang="en-GB" b="1" dirty="0"/>
              <a:t>each temporal position is processed by the same small feed-forward neural network.</a:t>
            </a:r>
          </a:p>
          <a:p>
            <a:r>
              <a:rPr lang="en-GB" dirty="0"/>
              <a:t>Conceptually:</a:t>
            </a:r>
          </a:p>
          <a:p>
            <a:pPr lvl="1"/>
            <a:r>
              <a:rPr lang="en-GB" dirty="0"/>
              <a:t>representation at position 1 → FFN</a:t>
            </a:r>
          </a:p>
          <a:p>
            <a:pPr lvl="1"/>
            <a:r>
              <a:rPr lang="en-GB" dirty="0"/>
              <a:t>representation at position 2 → FFN</a:t>
            </a:r>
          </a:p>
          <a:p>
            <a:pPr lvl="1"/>
            <a:r>
              <a:rPr lang="en-GB" dirty="0"/>
              <a:t>representation at position 3 → FFN</a:t>
            </a:r>
          </a:p>
          <a:p>
            <a:pPr lvl="1"/>
            <a:r>
              <a:rPr lang="en-GB" dirty="0"/>
              <a:t>...</a:t>
            </a:r>
          </a:p>
          <a:p>
            <a:r>
              <a:rPr lang="en-GB" b="1" dirty="0"/>
              <a:t>The same FFN parameters are reused at every position.</a:t>
            </a:r>
          </a:p>
          <a:p>
            <a:endParaRPr lang="en-GB" dirty="0"/>
          </a:p>
        </p:txBody>
      </p:sp>
      <p:sp>
        <p:nvSpPr>
          <p:cNvPr id="4" name="Segnaposto contenuto 3">
            <a:extLst>
              <a:ext uri="{FF2B5EF4-FFF2-40B4-BE49-F238E27FC236}">
                <a16:creationId xmlns:a16="http://schemas.microsoft.com/office/drawing/2014/main" id="{8FBA9626-C38B-22AD-F83F-D77280CC2697}"/>
              </a:ext>
            </a:extLst>
          </p:cNvPr>
          <p:cNvSpPr>
            <a:spLocks noGrp="1"/>
          </p:cNvSpPr>
          <p:nvPr>
            <p:ph sz="half" idx="2"/>
          </p:nvPr>
        </p:nvSpPr>
        <p:spPr>
          <a:xfrm>
            <a:off x="5848727" y="2122727"/>
            <a:ext cx="6126021" cy="4366671"/>
          </a:xfrm>
        </p:spPr>
        <p:txBody>
          <a:bodyPr>
            <a:normAutofit fontScale="92500" lnSpcReduction="20000"/>
          </a:bodyPr>
          <a:lstStyle/>
          <a:p>
            <a:r>
              <a:rPr lang="en-GB" dirty="0"/>
              <a:t>Self-attention:</a:t>
            </a:r>
          </a:p>
          <a:p>
            <a:pPr lvl="1"/>
            <a:r>
              <a:rPr lang="en-GB" dirty="0"/>
              <a:t>mixes information </a:t>
            </a:r>
            <a:r>
              <a:rPr lang="en-GB" b="1" dirty="0"/>
              <a:t>between temporal positions</a:t>
            </a:r>
            <a:r>
              <a:rPr lang="en-GB" dirty="0"/>
              <a:t>.</a:t>
            </a:r>
          </a:p>
          <a:p>
            <a:r>
              <a:rPr lang="en-GB" dirty="0"/>
              <a:t>Feed-forward network:</a:t>
            </a:r>
          </a:p>
          <a:p>
            <a:pPr lvl="1"/>
            <a:r>
              <a:rPr lang="en-GB" dirty="0"/>
              <a:t>transforms the representation </a:t>
            </a:r>
            <a:r>
              <a:rPr lang="en-GB" b="1" dirty="0"/>
              <a:t>within each position</a:t>
            </a:r>
            <a:r>
              <a:rPr lang="en-GB" dirty="0"/>
              <a:t>.</a:t>
            </a:r>
          </a:p>
          <a:p>
            <a:r>
              <a:rPr lang="en-GB" b="1" dirty="0"/>
              <a:t>Typical structure of the FFN</a:t>
            </a:r>
          </a:p>
          <a:p>
            <a:pPr lvl="1"/>
            <a:r>
              <a:rPr lang="en-GB" dirty="0"/>
              <a:t>linear transformation</a:t>
            </a:r>
          </a:p>
          <a:p>
            <a:pPr lvl="1"/>
            <a:r>
              <a:rPr lang="en-GB" dirty="0"/>
              <a:t>      ↓</a:t>
            </a:r>
          </a:p>
          <a:p>
            <a:pPr lvl="1"/>
            <a:r>
              <a:rPr lang="en-GB" dirty="0"/>
              <a:t>nonlinear activation</a:t>
            </a:r>
          </a:p>
          <a:p>
            <a:pPr lvl="1"/>
            <a:r>
              <a:rPr lang="en-GB" dirty="0"/>
              <a:t>      ↓</a:t>
            </a:r>
          </a:p>
          <a:p>
            <a:pPr lvl="1"/>
            <a:r>
              <a:rPr lang="en-GB" dirty="0"/>
              <a:t>linear transformation</a:t>
            </a:r>
          </a:p>
          <a:p>
            <a:endParaRPr lang="en-GB" dirty="0"/>
          </a:p>
          <a:p>
            <a:r>
              <a:rPr lang="en-GB" b="1" dirty="0"/>
              <a:t>Attention performs temporal interaction; the feed-forward network performs nonlinear feature transformation.</a:t>
            </a:r>
          </a:p>
          <a:p>
            <a:endParaRPr lang="en-GB" dirty="0"/>
          </a:p>
        </p:txBody>
      </p:sp>
    </p:spTree>
    <p:extLst>
      <p:ext uri="{BB962C8B-B14F-4D97-AF65-F5344CB8AC3E}">
        <p14:creationId xmlns:p14="http://schemas.microsoft.com/office/powerpoint/2010/main" val="16059350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0"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1"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Attention and feed-forward network have different roles</a:t>
            </a:r>
            <a:endParaRPr lang="it-IT" sz="2100" b="0" u="none" strike="noStrike">
              <a:solidFill>
                <a:srgbClr val="000000"/>
              </a:solidFill>
              <a:effectLst/>
              <a:uFillTx/>
              <a:latin typeface="Arial"/>
            </a:endParaRPr>
          </a:p>
        </p:txBody>
      </p:sp>
      <p:sp>
        <p:nvSpPr>
          <p:cNvPr id="212"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475569"/>
                </a:solidFill>
                <a:effectLst/>
                <a:uFillTx/>
                <a:latin typeface="Arial"/>
                <a:ea typeface="Arial"/>
              </a:rPr>
              <a:t>A Transformer alternates interaction across positions with nonlinear transformation within each position.</a:t>
            </a:r>
            <a:endParaRPr lang="it-IT" sz="1000" b="1" u="none" strike="noStrike" dirty="0">
              <a:solidFill>
                <a:srgbClr val="000000"/>
              </a:solidFill>
              <a:effectLst/>
              <a:uFillTx/>
              <a:latin typeface="Arial"/>
            </a:endParaRPr>
          </a:p>
        </p:txBody>
      </p:sp>
      <p:sp>
        <p:nvSpPr>
          <p:cNvPr id="213" name="Text 4"/>
          <p:cNvSpPr/>
          <p:nvPr/>
        </p:nvSpPr>
        <p:spPr>
          <a:xfrm>
            <a:off x="1097280" y="1234440"/>
            <a:ext cx="5028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8B5CF6"/>
                </a:solidFill>
                <a:effectLst/>
                <a:uFillTx/>
                <a:latin typeface="Arial"/>
                <a:ea typeface="Arial"/>
              </a:rPr>
              <a:t>Self-attention: mixes information across temporal positions</a:t>
            </a:r>
            <a:endParaRPr lang="it-IT" sz="1100" b="0" u="none" strike="noStrike">
              <a:solidFill>
                <a:srgbClr val="000000"/>
              </a:solidFill>
              <a:effectLst/>
              <a:uFillTx/>
              <a:latin typeface="Arial"/>
            </a:endParaRPr>
          </a:p>
        </p:txBody>
      </p:sp>
      <p:sp>
        <p:nvSpPr>
          <p:cNvPr id="214" name="Text 5"/>
          <p:cNvSpPr/>
          <p:nvPr/>
        </p:nvSpPr>
        <p:spPr>
          <a:xfrm>
            <a:off x="1005840" y="1828800"/>
            <a:ext cx="594000" cy="31068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pos 1</a:t>
            </a:r>
            <a:endParaRPr lang="it-IT" sz="650" b="0" u="none" strike="noStrike">
              <a:solidFill>
                <a:srgbClr val="000000"/>
              </a:solidFill>
              <a:effectLst/>
              <a:uFillTx/>
              <a:latin typeface="Arial"/>
            </a:endParaRPr>
          </a:p>
        </p:txBody>
      </p:sp>
      <p:sp>
        <p:nvSpPr>
          <p:cNvPr id="215" name="Text 6"/>
          <p:cNvSpPr/>
          <p:nvPr/>
        </p:nvSpPr>
        <p:spPr>
          <a:xfrm>
            <a:off x="1783080" y="1828800"/>
            <a:ext cx="594000" cy="31068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pos 2</a:t>
            </a:r>
            <a:endParaRPr lang="it-IT" sz="650" b="0" u="none" strike="noStrike">
              <a:solidFill>
                <a:srgbClr val="000000"/>
              </a:solidFill>
              <a:effectLst/>
              <a:uFillTx/>
              <a:latin typeface="Arial"/>
            </a:endParaRPr>
          </a:p>
        </p:txBody>
      </p:sp>
      <p:sp>
        <p:nvSpPr>
          <p:cNvPr id="216" name="Text 7"/>
          <p:cNvSpPr/>
          <p:nvPr/>
        </p:nvSpPr>
        <p:spPr>
          <a:xfrm>
            <a:off x="2560320" y="1828800"/>
            <a:ext cx="594000" cy="31068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pos 3</a:t>
            </a:r>
            <a:endParaRPr lang="it-IT" sz="650" b="0" u="none" strike="noStrike">
              <a:solidFill>
                <a:srgbClr val="000000"/>
              </a:solidFill>
              <a:effectLst/>
              <a:uFillTx/>
              <a:latin typeface="Arial"/>
            </a:endParaRPr>
          </a:p>
        </p:txBody>
      </p:sp>
      <p:sp>
        <p:nvSpPr>
          <p:cNvPr id="217" name="Text 8"/>
          <p:cNvSpPr/>
          <p:nvPr/>
        </p:nvSpPr>
        <p:spPr>
          <a:xfrm>
            <a:off x="3337560" y="1828800"/>
            <a:ext cx="594000" cy="31068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pos 4</a:t>
            </a:r>
            <a:endParaRPr lang="it-IT" sz="650" b="0" u="none" strike="noStrike">
              <a:solidFill>
                <a:srgbClr val="000000"/>
              </a:solidFill>
              <a:effectLst/>
              <a:uFillTx/>
              <a:latin typeface="Arial"/>
            </a:endParaRPr>
          </a:p>
        </p:txBody>
      </p:sp>
      <p:sp>
        <p:nvSpPr>
          <p:cNvPr id="218" name="Text 9"/>
          <p:cNvSpPr/>
          <p:nvPr/>
        </p:nvSpPr>
        <p:spPr>
          <a:xfrm>
            <a:off x="4114800" y="1828800"/>
            <a:ext cx="594000" cy="31068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pos 5</a:t>
            </a:r>
            <a:endParaRPr lang="it-IT" sz="650" b="0" u="none" strike="noStrike">
              <a:solidFill>
                <a:srgbClr val="000000"/>
              </a:solidFill>
              <a:effectLst/>
              <a:uFillTx/>
              <a:latin typeface="Arial"/>
            </a:endParaRPr>
          </a:p>
        </p:txBody>
      </p:sp>
      <p:sp>
        <p:nvSpPr>
          <p:cNvPr id="219" name="Text 10"/>
          <p:cNvSpPr/>
          <p:nvPr/>
        </p:nvSpPr>
        <p:spPr>
          <a:xfrm>
            <a:off x="2743200" y="2880360"/>
            <a:ext cx="822600" cy="43848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updated</a:t>
            </a:r>
            <a:endParaRPr lang="it-IT" sz="800" b="0" u="none" strike="noStrike">
              <a:solidFill>
                <a:srgbClr val="000000"/>
              </a:solidFill>
              <a:effectLst/>
              <a:uFillTx/>
              <a:latin typeface="Arial"/>
            </a:endParaRPr>
          </a:p>
          <a:p>
            <a:pPr algn="ctr" defTabSz="914400">
              <a:lnSpc>
                <a:spcPct val="100000"/>
              </a:lnSpc>
              <a:tabLst>
                <a:tab pos="0" algn="l"/>
              </a:tabLst>
            </a:pPr>
            <a:r>
              <a:rPr lang="en-US" sz="800" b="1" u="none" strike="noStrike">
                <a:solidFill>
                  <a:srgbClr val="0F172A"/>
                </a:solidFill>
                <a:effectLst/>
                <a:uFillTx/>
                <a:latin typeface="Arial"/>
                <a:ea typeface="Arial"/>
              </a:rPr>
              <a:t>pos 3</a:t>
            </a:r>
            <a:endParaRPr lang="it-IT" sz="800" b="0" u="none" strike="noStrike">
              <a:solidFill>
                <a:srgbClr val="000000"/>
              </a:solidFill>
              <a:effectLst/>
              <a:uFillTx/>
              <a:latin typeface="Arial"/>
            </a:endParaRPr>
          </a:p>
        </p:txBody>
      </p:sp>
      <p:sp>
        <p:nvSpPr>
          <p:cNvPr id="220" name="Shape 11"/>
          <p:cNvSpPr/>
          <p:nvPr/>
        </p:nvSpPr>
        <p:spPr>
          <a:xfrm>
            <a:off x="1298160" y="2166840"/>
            <a:ext cx="1856520" cy="66780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1" name="Shape 12"/>
          <p:cNvSpPr/>
          <p:nvPr/>
        </p:nvSpPr>
        <p:spPr>
          <a:xfrm>
            <a:off x="2075400" y="2166840"/>
            <a:ext cx="1079280" cy="66780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2" name="Shape 13"/>
          <p:cNvSpPr/>
          <p:nvPr/>
        </p:nvSpPr>
        <p:spPr>
          <a:xfrm>
            <a:off x="2852640" y="2166840"/>
            <a:ext cx="302040" cy="66780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3" name="Shape 14"/>
          <p:cNvSpPr/>
          <p:nvPr/>
        </p:nvSpPr>
        <p:spPr>
          <a:xfrm flipH="1">
            <a:off x="3154680" y="2166840"/>
            <a:ext cx="475200" cy="66780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4" name="Shape 15"/>
          <p:cNvSpPr/>
          <p:nvPr/>
        </p:nvSpPr>
        <p:spPr>
          <a:xfrm flipH="1">
            <a:off x="3154680" y="2166840"/>
            <a:ext cx="1252440" cy="66780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5" name="Text 16"/>
          <p:cNvSpPr/>
          <p:nvPr/>
        </p:nvSpPr>
        <p:spPr>
          <a:xfrm>
            <a:off x="6492240" y="12344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65A30D"/>
                </a:solidFill>
                <a:effectLst/>
                <a:uFillTx/>
                <a:latin typeface="Arial"/>
                <a:ea typeface="Arial"/>
              </a:rPr>
              <a:t>Feed-forward network: transforms each position independently</a:t>
            </a:r>
            <a:endParaRPr lang="it-IT" sz="1100" b="0" u="none" strike="noStrike">
              <a:solidFill>
                <a:srgbClr val="000000"/>
              </a:solidFill>
              <a:effectLst/>
              <a:uFillTx/>
              <a:latin typeface="Arial"/>
            </a:endParaRPr>
          </a:p>
        </p:txBody>
      </p:sp>
      <p:sp>
        <p:nvSpPr>
          <p:cNvPr id="226" name="Text 17"/>
          <p:cNvSpPr/>
          <p:nvPr/>
        </p:nvSpPr>
        <p:spPr>
          <a:xfrm>
            <a:off x="6400800" y="182880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repr 1</a:t>
            </a:r>
            <a:endParaRPr lang="it-IT" sz="700" b="0" u="none" strike="noStrike">
              <a:solidFill>
                <a:srgbClr val="000000"/>
              </a:solidFill>
              <a:effectLst/>
              <a:uFillTx/>
              <a:latin typeface="Arial"/>
            </a:endParaRPr>
          </a:p>
        </p:txBody>
      </p:sp>
      <p:sp>
        <p:nvSpPr>
          <p:cNvPr id="227" name="Shape 18"/>
          <p:cNvSpPr/>
          <p:nvPr/>
        </p:nvSpPr>
        <p:spPr>
          <a:xfrm>
            <a:off x="6748200" y="2212560"/>
            <a:ext cx="360" cy="5580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8" name="Text 19"/>
          <p:cNvSpPr/>
          <p:nvPr/>
        </p:nvSpPr>
        <p:spPr>
          <a:xfrm>
            <a:off x="6446520" y="2834640"/>
            <a:ext cx="594000" cy="4201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same</a:t>
            </a:r>
            <a:endParaRPr lang="it-IT" sz="650" b="0" u="none" strike="noStrike">
              <a:solidFill>
                <a:srgbClr val="000000"/>
              </a:solidFill>
              <a:effectLst/>
              <a:uFillTx/>
              <a:latin typeface="Arial"/>
            </a:endParaRPr>
          </a:p>
          <a:p>
            <a:pPr algn="ctr" defTabSz="914400">
              <a:lnSpc>
                <a:spcPct val="100000"/>
              </a:lnSpc>
              <a:tabLst>
                <a:tab pos="0" algn="l"/>
              </a:tabLst>
            </a:pPr>
            <a:r>
              <a:rPr lang="en-US" sz="650" b="1" u="none" strike="noStrike">
                <a:solidFill>
                  <a:srgbClr val="0F172A"/>
                </a:solidFill>
                <a:effectLst/>
                <a:uFillTx/>
                <a:latin typeface="Arial"/>
                <a:ea typeface="Arial"/>
              </a:rPr>
              <a:t>FFN</a:t>
            </a:r>
            <a:endParaRPr lang="it-IT" sz="650" b="0" u="none" strike="noStrike">
              <a:solidFill>
                <a:srgbClr val="000000"/>
              </a:solidFill>
              <a:effectLst/>
              <a:uFillTx/>
              <a:latin typeface="Arial"/>
            </a:endParaRPr>
          </a:p>
        </p:txBody>
      </p:sp>
      <p:sp>
        <p:nvSpPr>
          <p:cNvPr id="229" name="Shape 20"/>
          <p:cNvSpPr/>
          <p:nvPr/>
        </p:nvSpPr>
        <p:spPr>
          <a:xfrm>
            <a:off x="6748200" y="3291840"/>
            <a:ext cx="360" cy="4572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30" name="Text 21"/>
          <p:cNvSpPr/>
          <p:nvPr/>
        </p:nvSpPr>
        <p:spPr>
          <a:xfrm>
            <a:off x="6400800" y="380376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out 1</a:t>
            </a:r>
            <a:endParaRPr lang="it-IT" sz="700" b="0" u="none" strike="noStrike">
              <a:solidFill>
                <a:srgbClr val="000000"/>
              </a:solidFill>
              <a:effectLst/>
              <a:uFillTx/>
              <a:latin typeface="Arial"/>
            </a:endParaRPr>
          </a:p>
        </p:txBody>
      </p:sp>
      <p:sp>
        <p:nvSpPr>
          <p:cNvPr id="231" name="Text 22"/>
          <p:cNvSpPr/>
          <p:nvPr/>
        </p:nvSpPr>
        <p:spPr>
          <a:xfrm>
            <a:off x="7498080" y="182880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repr 2</a:t>
            </a:r>
            <a:endParaRPr lang="it-IT" sz="700" b="0" u="none" strike="noStrike">
              <a:solidFill>
                <a:srgbClr val="000000"/>
              </a:solidFill>
              <a:effectLst/>
              <a:uFillTx/>
              <a:latin typeface="Arial"/>
            </a:endParaRPr>
          </a:p>
        </p:txBody>
      </p:sp>
      <p:sp>
        <p:nvSpPr>
          <p:cNvPr id="232" name="Shape 23"/>
          <p:cNvSpPr/>
          <p:nvPr/>
        </p:nvSpPr>
        <p:spPr>
          <a:xfrm>
            <a:off x="7845480" y="2212560"/>
            <a:ext cx="360" cy="5580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33" name="Text 24"/>
          <p:cNvSpPr/>
          <p:nvPr/>
        </p:nvSpPr>
        <p:spPr>
          <a:xfrm>
            <a:off x="7543800" y="2834640"/>
            <a:ext cx="594000" cy="4201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same</a:t>
            </a:r>
            <a:endParaRPr lang="it-IT" sz="650" b="0" u="none" strike="noStrike">
              <a:solidFill>
                <a:srgbClr val="000000"/>
              </a:solidFill>
              <a:effectLst/>
              <a:uFillTx/>
              <a:latin typeface="Arial"/>
            </a:endParaRPr>
          </a:p>
          <a:p>
            <a:pPr algn="ctr" defTabSz="914400">
              <a:lnSpc>
                <a:spcPct val="100000"/>
              </a:lnSpc>
              <a:tabLst>
                <a:tab pos="0" algn="l"/>
              </a:tabLst>
            </a:pPr>
            <a:r>
              <a:rPr lang="en-US" sz="650" b="1" u="none" strike="noStrike">
                <a:solidFill>
                  <a:srgbClr val="0F172A"/>
                </a:solidFill>
                <a:effectLst/>
                <a:uFillTx/>
                <a:latin typeface="Arial"/>
                <a:ea typeface="Arial"/>
              </a:rPr>
              <a:t>FFN</a:t>
            </a:r>
            <a:endParaRPr lang="it-IT" sz="650" b="0" u="none" strike="noStrike">
              <a:solidFill>
                <a:srgbClr val="000000"/>
              </a:solidFill>
              <a:effectLst/>
              <a:uFillTx/>
              <a:latin typeface="Arial"/>
            </a:endParaRPr>
          </a:p>
        </p:txBody>
      </p:sp>
      <p:sp>
        <p:nvSpPr>
          <p:cNvPr id="234" name="Shape 25"/>
          <p:cNvSpPr/>
          <p:nvPr/>
        </p:nvSpPr>
        <p:spPr>
          <a:xfrm>
            <a:off x="7845480" y="3291840"/>
            <a:ext cx="360" cy="4572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35" name="Text 26"/>
          <p:cNvSpPr/>
          <p:nvPr/>
        </p:nvSpPr>
        <p:spPr>
          <a:xfrm>
            <a:off x="7498080" y="380376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out 2</a:t>
            </a:r>
            <a:endParaRPr lang="it-IT" sz="700" b="0" u="none" strike="noStrike">
              <a:solidFill>
                <a:srgbClr val="000000"/>
              </a:solidFill>
              <a:effectLst/>
              <a:uFillTx/>
              <a:latin typeface="Arial"/>
            </a:endParaRPr>
          </a:p>
        </p:txBody>
      </p:sp>
      <p:sp>
        <p:nvSpPr>
          <p:cNvPr id="236" name="Text 27"/>
          <p:cNvSpPr/>
          <p:nvPr/>
        </p:nvSpPr>
        <p:spPr>
          <a:xfrm>
            <a:off x="8595360" y="182880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repr 3</a:t>
            </a:r>
            <a:endParaRPr lang="it-IT" sz="700" b="0" u="none" strike="noStrike">
              <a:solidFill>
                <a:srgbClr val="000000"/>
              </a:solidFill>
              <a:effectLst/>
              <a:uFillTx/>
              <a:latin typeface="Arial"/>
            </a:endParaRPr>
          </a:p>
        </p:txBody>
      </p:sp>
      <p:sp>
        <p:nvSpPr>
          <p:cNvPr id="237" name="Shape 28"/>
          <p:cNvSpPr/>
          <p:nvPr/>
        </p:nvSpPr>
        <p:spPr>
          <a:xfrm>
            <a:off x="8942760" y="2212560"/>
            <a:ext cx="360" cy="5580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38" name="Text 29"/>
          <p:cNvSpPr/>
          <p:nvPr/>
        </p:nvSpPr>
        <p:spPr>
          <a:xfrm>
            <a:off x="8641080" y="2834640"/>
            <a:ext cx="594000" cy="4201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same</a:t>
            </a:r>
            <a:endParaRPr lang="it-IT" sz="650" b="0" u="none" strike="noStrike">
              <a:solidFill>
                <a:srgbClr val="000000"/>
              </a:solidFill>
              <a:effectLst/>
              <a:uFillTx/>
              <a:latin typeface="Arial"/>
            </a:endParaRPr>
          </a:p>
          <a:p>
            <a:pPr algn="ctr" defTabSz="914400">
              <a:lnSpc>
                <a:spcPct val="100000"/>
              </a:lnSpc>
              <a:tabLst>
                <a:tab pos="0" algn="l"/>
              </a:tabLst>
            </a:pPr>
            <a:r>
              <a:rPr lang="en-US" sz="650" b="1" u="none" strike="noStrike">
                <a:solidFill>
                  <a:srgbClr val="0F172A"/>
                </a:solidFill>
                <a:effectLst/>
                <a:uFillTx/>
                <a:latin typeface="Arial"/>
                <a:ea typeface="Arial"/>
              </a:rPr>
              <a:t>FFN</a:t>
            </a:r>
            <a:endParaRPr lang="it-IT" sz="650" b="0" u="none" strike="noStrike">
              <a:solidFill>
                <a:srgbClr val="000000"/>
              </a:solidFill>
              <a:effectLst/>
              <a:uFillTx/>
              <a:latin typeface="Arial"/>
            </a:endParaRPr>
          </a:p>
        </p:txBody>
      </p:sp>
      <p:sp>
        <p:nvSpPr>
          <p:cNvPr id="239" name="Shape 30"/>
          <p:cNvSpPr/>
          <p:nvPr/>
        </p:nvSpPr>
        <p:spPr>
          <a:xfrm>
            <a:off x="8942760" y="3291840"/>
            <a:ext cx="360" cy="4572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40" name="Text 31"/>
          <p:cNvSpPr/>
          <p:nvPr/>
        </p:nvSpPr>
        <p:spPr>
          <a:xfrm>
            <a:off x="8595360" y="380376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out 3</a:t>
            </a:r>
            <a:endParaRPr lang="it-IT" sz="700" b="0" u="none" strike="noStrike">
              <a:solidFill>
                <a:srgbClr val="000000"/>
              </a:solidFill>
              <a:effectLst/>
              <a:uFillTx/>
              <a:latin typeface="Arial"/>
            </a:endParaRPr>
          </a:p>
        </p:txBody>
      </p:sp>
      <p:sp>
        <p:nvSpPr>
          <p:cNvPr id="241" name="Text 32"/>
          <p:cNvSpPr/>
          <p:nvPr/>
        </p:nvSpPr>
        <p:spPr>
          <a:xfrm>
            <a:off x="9692640" y="182880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repr 4</a:t>
            </a:r>
            <a:endParaRPr lang="it-IT" sz="700" b="0" u="none" strike="noStrike">
              <a:solidFill>
                <a:srgbClr val="000000"/>
              </a:solidFill>
              <a:effectLst/>
              <a:uFillTx/>
              <a:latin typeface="Arial"/>
            </a:endParaRPr>
          </a:p>
        </p:txBody>
      </p:sp>
      <p:sp>
        <p:nvSpPr>
          <p:cNvPr id="242" name="Shape 33"/>
          <p:cNvSpPr/>
          <p:nvPr/>
        </p:nvSpPr>
        <p:spPr>
          <a:xfrm>
            <a:off x="10040040" y="2212560"/>
            <a:ext cx="360" cy="5580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43" name="Text 34"/>
          <p:cNvSpPr/>
          <p:nvPr/>
        </p:nvSpPr>
        <p:spPr>
          <a:xfrm>
            <a:off x="9738360" y="2834640"/>
            <a:ext cx="594000" cy="4201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50" b="1" u="none" strike="noStrike">
                <a:solidFill>
                  <a:srgbClr val="0F172A"/>
                </a:solidFill>
                <a:effectLst/>
                <a:uFillTx/>
                <a:latin typeface="Arial"/>
                <a:ea typeface="Arial"/>
              </a:rPr>
              <a:t>same</a:t>
            </a:r>
            <a:endParaRPr lang="it-IT" sz="650" b="0" u="none" strike="noStrike">
              <a:solidFill>
                <a:srgbClr val="000000"/>
              </a:solidFill>
              <a:effectLst/>
              <a:uFillTx/>
              <a:latin typeface="Arial"/>
            </a:endParaRPr>
          </a:p>
          <a:p>
            <a:pPr algn="ctr" defTabSz="914400">
              <a:lnSpc>
                <a:spcPct val="100000"/>
              </a:lnSpc>
              <a:tabLst>
                <a:tab pos="0" algn="l"/>
              </a:tabLst>
            </a:pPr>
            <a:r>
              <a:rPr lang="en-US" sz="650" b="1" u="none" strike="noStrike">
                <a:solidFill>
                  <a:srgbClr val="0F172A"/>
                </a:solidFill>
                <a:effectLst/>
                <a:uFillTx/>
                <a:latin typeface="Arial"/>
                <a:ea typeface="Arial"/>
              </a:rPr>
              <a:t>FFN</a:t>
            </a:r>
            <a:endParaRPr lang="it-IT" sz="650" b="0" u="none" strike="noStrike">
              <a:solidFill>
                <a:srgbClr val="000000"/>
              </a:solidFill>
              <a:effectLst/>
              <a:uFillTx/>
              <a:latin typeface="Arial"/>
            </a:endParaRPr>
          </a:p>
        </p:txBody>
      </p:sp>
      <p:sp>
        <p:nvSpPr>
          <p:cNvPr id="244" name="Shape 35"/>
          <p:cNvSpPr/>
          <p:nvPr/>
        </p:nvSpPr>
        <p:spPr>
          <a:xfrm>
            <a:off x="10040040" y="3291840"/>
            <a:ext cx="360" cy="457200"/>
          </a:xfrm>
          <a:prstGeom prst="line">
            <a:avLst/>
          </a:prstGeom>
          <a:ln w="1143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45" name="Text 36"/>
          <p:cNvSpPr/>
          <p:nvPr/>
        </p:nvSpPr>
        <p:spPr>
          <a:xfrm>
            <a:off x="9692640" y="3803760"/>
            <a:ext cx="685440" cy="328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out 4</a:t>
            </a:r>
            <a:endParaRPr lang="it-IT" sz="700" b="0" u="none" strike="noStrike">
              <a:solidFill>
                <a:srgbClr val="000000"/>
              </a:solidFill>
              <a:effectLst/>
              <a:uFillTx/>
              <a:latin typeface="Arial"/>
            </a:endParaRPr>
          </a:p>
        </p:txBody>
      </p:sp>
      <p:sp>
        <p:nvSpPr>
          <p:cNvPr id="246" name="Text 37"/>
          <p:cNvSpPr/>
          <p:nvPr/>
        </p:nvSpPr>
        <p:spPr>
          <a:xfrm>
            <a:off x="1463040" y="4983480"/>
            <a:ext cx="2834280" cy="45684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attention = temporal interaction</a:t>
            </a:r>
            <a:endParaRPr lang="it-IT" sz="1200" b="0" u="none" strike="noStrike">
              <a:solidFill>
                <a:srgbClr val="000000"/>
              </a:solidFill>
              <a:effectLst/>
              <a:uFillTx/>
              <a:latin typeface="Arial"/>
            </a:endParaRPr>
          </a:p>
        </p:txBody>
      </p:sp>
      <p:sp>
        <p:nvSpPr>
          <p:cNvPr id="247" name="Text 38"/>
          <p:cNvSpPr/>
          <p:nvPr/>
        </p:nvSpPr>
        <p:spPr>
          <a:xfrm>
            <a:off x="6903720" y="4983480"/>
            <a:ext cx="3291480" cy="4568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FFN = nonlinear feature transformation</a:t>
            </a:r>
            <a:endParaRPr lang="it-IT" sz="1200" b="0" u="none" strike="noStrike">
              <a:solidFill>
                <a:srgbClr val="000000"/>
              </a:solidFill>
              <a:effectLst/>
              <a:uFillTx/>
              <a:latin typeface="Arial"/>
            </a:endParaRPr>
          </a:p>
        </p:txBody>
      </p:sp>
      <p:sp>
        <p:nvSpPr>
          <p:cNvPr id="248" name="Text 39"/>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475569"/>
                </a:solidFill>
                <a:effectLst/>
                <a:uFillTx/>
                <a:latin typeface="Arial"/>
              </a:rPr>
              <a:t>Self-attention communicates across positions; the position-wise FFN then transforms the representation at each position.</a:t>
            </a:r>
            <a:endParaRPr lang="it-IT" sz="900" b="0" u="none" strike="noStrike" dirty="0">
              <a:solidFill>
                <a:srgbClr val="000000"/>
              </a:solidFill>
              <a:effectLst/>
              <a:uFillTx/>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BB6B75-DDEE-761D-8F31-4246B7A86D69}"/>
              </a:ext>
            </a:extLst>
          </p:cNvPr>
          <p:cNvSpPr>
            <a:spLocks noGrp="1"/>
          </p:cNvSpPr>
          <p:nvPr>
            <p:ph type="title"/>
          </p:nvPr>
        </p:nvSpPr>
        <p:spPr/>
        <p:txBody>
          <a:bodyPr/>
          <a:lstStyle/>
          <a:p>
            <a:r>
              <a:rPr lang="en-GB" dirty="0"/>
              <a:t>Residual connections in the Transformer</a:t>
            </a:r>
          </a:p>
        </p:txBody>
      </p:sp>
      <p:sp>
        <p:nvSpPr>
          <p:cNvPr id="3" name="Segnaposto contenuto 2">
            <a:extLst>
              <a:ext uri="{FF2B5EF4-FFF2-40B4-BE49-F238E27FC236}">
                <a16:creationId xmlns:a16="http://schemas.microsoft.com/office/drawing/2014/main" id="{66F2D309-4613-7A88-E4AF-D8DB1B4397E2}"/>
              </a:ext>
            </a:extLst>
          </p:cNvPr>
          <p:cNvSpPr>
            <a:spLocks noGrp="1"/>
          </p:cNvSpPr>
          <p:nvPr>
            <p:ph sz="half" idx="1"/>
          </p:nvPr>
        </p:nvSpPr>
        <p:spPr>
          <a:xfrm>
            <a:off x="677334" y="2160588"/>
            <a:ext cx="5830470" cy="4463947"/>
          </a:xfrm>
        </p:spPr>
        <p:txBody>
          <a:bodyPr>
            <a:normAutofit fontScale="77500" lnSpcReduction="20000"/>
          </a:bodyPr>
          <a:lstStyle/>
          <a:p>
            <a:r>
              <a:rPr lang="en-GB" dirty="0"/>
              <a:t>As with deep TCNs, Transformers use residual connections.</a:t>
            </a:r>
          </a:p>
          <a:p>
            <a:r>
              <a:rPr lang="en-GB" dirty="0"/>
              <a:t>Instead of replacing an input representation completely:</a:t>
            </a:r>
          </a:p>
          <a:p>
            <a:pPr lvl="1"/>
            <a:r>
              <a:rPr lang="en-GB" dirty="0"/>
              <a:t>input</a:t>
            </a:r>
          </a:p>
          <a:p>
            <a:pPr lvl="1"/>
            <a:r>
              <a:rPr lang="en-GB" dirty="0"/>
              <a:t>  ↓</a:t>
            </a:r>
          </a:p>
          <a:p>
            <a:pPr lvl="1"/>
            <a:r>
              <a:rPr lang="en-GB" dirty="0"/>
              <a:t>attention</a:t>
            </a:r>
          </a:p>
          <a:p>
            <a:pPr lvl="1"/>
            <a:r>
              <a:rPr lang="en-GB" dirty="0"/>
              <a:t>  ↓</a:t>
            </a:r>
          </a:p>
          <a:p>
            <a:pPr lvl="1"/>
            <a:r>
              <a:rPr lang="en-GB" dirty="0"/>
              <a:t>output</a:t>
            </a:r>
          </a:p>
          <a:p>
            <a:r>
              <a:rPr lang="en-GB" dirty="0"/>
              <a:t>the attention result is added to the original representation:</a:t>
            </a:r>
          </a:p>
          <a:p>
            <a:pPr lvl="1"/>
            <a:r>
              <a:rPr lang="en-GB" dirty="0"/>
              <a:t>input ──────┐</a:t>
            </a:r>
          </a:p>
          <a:p>
            <a:pPr lvl="1"/>
            <a:r>
              <a:rPr lang="en-GB" dirty="0"/>
              <a:t>  ↓                  │</a:t>
            </a:r>
          </a:p>
          <a:p>
            <a:pPr lvl="1"/>
            <a:r>
              <a:rPr lang="en-GB" dirty="0"/>
              <a:t>attention       │</a:t>
            </a:r>
          </a:p>
          <a:p>
            <a:pPr lvl="1"/>
            <a:r>
              <a:rPr lang="en-GB" dirty="0"/>
              <a:t>  ↓                  │</a:t>
            </a:r>
          </a:p>
          <a:p>
            <a:pPr lvl="1"/>
            <a:r>
              <a:rPr lang="en-GB" dirty="0"/>
              <a:t>  └─ + ←───┘</a:t>
            </a:r>
          </a:p>
          <a:p>
            <a:pPr lvl="1"/>
            <a:r>
              <a:rPr lang="en-GB" dirty="0"/>
              <a:t>              ↓</a:t>
            </a:r>
          </a:p>
          <a:p>
            <a:pPr lvl="1"/>
            <a:r>
              <a:rPr lang="en-GB" dirty="0"/>
              <a:t>updated representation</a:t>
            </a:r>
          </a:p>
          <a:p>
            <a:endParaRPr lang="en-GB" dirty="0"/>
          </a:p>
        </p:txBody>
      </p:sp>
      <p:sp>
        <p:nvSpPr>
          <p:cNvPr id="4" name="Segnaposto contenuto 3">
            <a:extLst>
              <a:ext uri="{FF2B5EF4-FFF2-40B4-BE49-F238E27FC236}">
                <a16:creationId xmlns:a16="http://schemas.microsoft.com/office/drawing/2014/main" id="{EBB847FB-94BC-44E1-D6F4-07CB3D2425C7}"/>
              </a:ext>
            </a:extLst>
          </p:cNvPr>
          <p:cNvSpPr>
            <a:spLocks noGrp="1"/>
          </p:cNvSpPr>
          <p:nvPr>
            <p:ph sz="half" idx="2"/>
          </p:nvPr>
        </p:nvSpPr>
        <p:spPr>
          <a:xfrm>
            <a:off x="6967407" y="2142182"/>
            <a:ext cx="4939247" cy="4463947"/>
          </a:xfrm>
        </p:spPr>
        <p:txBody>
          <a:bodyPr>
            <a:normAutofit fontScale="77500" lnSpcReduction="20000"/>
          </a:bodyPr>
          <a:lstStyle/>
          <a:p>
            <a:r>
              <a:rPr lang="en-GB" dirty="0"/>
              <a:t>A similar residual path is used around the feed-forward network.</a:t>
            </a:r>
          </a:p>
          <a:p>
            <a:r>
              <a:rPr lang="en-GB" b="1" dirty="0"/>
              <a:t>Why?</a:t>
            </a:r>
          </a:p>
          <a:p>
            <a:r>
              <a:rPr lang="en-GB" dirty="0"/>
              <a:t>Residual connections:</a:t>
            </a:r>
          </a:p>
          <a:p>
            <a:pPr lvl="1"/>
            <a:r>
              <a:rPr lang="en-GB" dirty="0"/>
              <a:t>facilitate training of deep networks (improve gradient propagation); </a:t>
            </a:r>
          </a:p>
          <a:p>
            <a:pPr lvl="1"/>
            <a:r>
              <a:rPr lang="en-GB" dirty="0"/>
              <a:t>preserve useful existing information; </a:t>
            </a:r>
          </a:p>
          <a:p>
            <a:endParaRPr lang="en-GB" b="1" dirty="0"/>
          </a:p>
          <a:p>
            <a:r>
              <a:rPr lang="en-GB" dirty="0"/>
              <a:t>The principle is the same as residual connections in TCN/</a:t>
            </a:r>
            <a:r>
              <a:rPr lang="en-GB" dirty="0" err="1"/>
              <a:t>WaveNet</a:t>
            </a:r>
            <a:r>
              <a:rPr lang="en-GB" dirty="0"/>
              <a:t> blocks.</a:t>
            </a:r>
          </a:p>
          <a:p>
            <a:endParaRPr lang="en-GB" dirty="0"/>
          </a:p>
        </p:txBody>
      </p:sp>
    </p:spTree>
    <p:extLst>
      <p:ext uri="{BB962C8B-B14F-4D97-AF65-F5344CB8AC3E}">
        <p14:creationId xmlns:p14="http://schemas.microsoft.com/office/powerpoint/2010/main" val="36546328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0"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1"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Residual connection around attention</a:t>
            </a:r>
            <a:endParaRPr lang="it-IT" sz="2100" b="0" u="none" strike="noStrike">
              <a:solidFill>
                <a:srgbClr val="000000"/>
              </a:solidFill>
              <a:effectLst/>
              <a:uFillTx/>
              <a:latin typeface="Arial"/>
            </a:endParaRPr>
          </a:p>
        </p:txBody>
      </p:sp>
      <p:sp>
        <p:nvSpPr>
          <p:cNvPr id="252"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The original representation is added to the attention result.</a:t>
            </a:r>
            <a:endParaRPr lang="it-IT" sz="850" b="0" u="none" strike="noStrike">
              <a:solidFill>
                <a:srgbClr val="000000"/>
              </a:solidFill>
              <a:effectLst/>
              <a:uFillTx/>
              <a:latin typeface="Arial"/>
            </a:endParaRPr>
          </a:p>
        </p:txBody>
      </p:sp>
      <p:sp>
        <p:nvSpPr>
          <p:cNvPr id="253" name="Text 4"/>
          <p:cNvSpPr/>
          <p:nvPr/>
        </p:nvSpPr>
        <p:spPr>
          <a:xfrm>
            <a:off x="914400" y="2834640"/>
            <a:ext cx="2011320" cy="5482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input representation</a:t>
            </a:r>
            <a:endParaRPr lang="it-IT" sz="1200" b="0" u="none" strike="noStrike">
              <a:solidFill>
                <a:srgbClr val="000000"/>
              </a:solidFill>
              <a:effectLst/>
              <a:uFillTx/>
              <a:latin typeface="Arial"/>
            </a:endParaRPr>
          </a:p>
        </p:txBody>
      </p:sp>
      <p:sp>
        <p:nvSpPr>
          <p:cNvPr id="254" name="Shape 5"/>
          <p:cNvSpPr/>
          <p:nvPr/>
        </p:nvSpPr>
        <p:spPr>
          <a:xfrm>
            <a:off x="3108960" y="3108960"/>
            <a:ext cx="109728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55" name="Text 6"/>
          <p:cNvSpPr/>
          <p:nvPr/>
        </p:nvSpPr>
        <p:spPr>
          <a:xfrm>
            <a:off x="4389120" y="2697480"/>
            <a:ext cx="2011320" cy="82260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multi-head</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self-attention</a:t>
            </a:r>
            <a:endParaRPr lang="it-IT" sz="1200" b="0" u="none" strike="noStrike">
              <a:solidFill>
                <a:srgbClr val="000000"/>
              </a:solidFill>
              <a:effectLst/>
              <a:uFillTx/>
              <a:latin typeface="Arial"/>
            </a:endParaRPr>
          </a:p>
        </p:txBody>
      </p:sp>
      <p:sp>
        <p:nvSpPr>
          <p:cNvPr id="256" name="Shape 7"/>
          <p:cNvSpPr/>
          <p:nvPr/>
        </p:nvSpPr>
        <p:spPr>
          <a:xfrm>
            <a:off x="6583680" y="3108960"/>
            <a:ext cx="100584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57" name="Text 8"/>
          <p:cNvSpPr/>
          <p:nvPr/>
        </p:nvSpPr>
        <p:spPr>
          <a:xfrm>
            <a:off x="7726680" y="2880360"/>
            <a:ext cx="456840" cy="45684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600" b="1" u="none" strike="noStrike">
                <a:solidFill>
                  <a:srgbClr val="0F172A"/>
                </a:solidFill>
                <a:effectLst/>
                <a:uFillTx/>
                <a:latin typeface="Arial"/>
                <a:ea typeface="Arial"/>
              </a:rPr>
              <a:t>+</a:t>
            </a:r>
            <a:endParaRPr lang="it-IT" sz="1600" b="0" u="none" strike="noStrike">
              <a:solidFill>
                <a:srgbClr val="000000"/>
              </a:solidFill>
              <a:effectLst/>
              <a:uFillTx/>
              <a:latin typeface="Arial"/>
            </a:endParaRPr>
          </a:p>
        </p:txBody>
      </p:sp>
      <p:sp>
        <p:nvSpPr>
          <p:cNvPr id="258" name="Shape 9"/>
          <p:cNvSpPr/>
          <p:nvPr/>
        </p:nvSpPr>
        <p:spPr>
          <a:xfrm>
            <a:off x="8275320" y="3108960"/>
            <a:ext cx="868680" cy="360"/>
          </a:xfrm>
          <a:prstGeom prst="line">
            <a:avLst/>
          </a:prstGeom>
          <a:ln w="1524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59" name="Text 10"/>
          <p:cNvSpPr/>
          <p:nvPr/>
        </p:nvSpPr>
        <p:spPr>
          <a:xfrm>
            <a:off x="9326880" y="2834640"/>
            <a:ext cx="2011320" cy="5482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updated representation</a:t>
            </a:r>
            <a:endParaRPr lang="it-IT" sz="1200" b="0" u="none" strike="noStrike">
              <a:solidFill>
                <a:srgbClr val="000000"/>
              </a:solidFill>
              <a:effectLst/>
              <a:uFillTx/>
              <a:latin typeface="Arial"/>
            </a:endParaRPr>
          </a:p>
        </p:txBody>
      </p:sp>
      <p:sp>
        <p:nvSpPr>
          <p:cNvPr id="260" name="Shape 11"/>
          <p:cNvSpPr/>
          <p:nvPr/>
        </p:nvSpPr>
        <p:spPr>
          <a:xfrm flipV="1">
            <a:off x="1920240" y="1463040"/>
            <a:ext cx="360" cy="1280160"/>
          </a:xfrm>
          <a:prstGeom prst="line">
            <a:avLst/>
          </a:prstGeom>
          <a:ln w="15240">
            <a:solidFill>
              <a:srgbClr val="3B82F6"/>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61" name="Shape 12"/>
          <p:cNvSpPr/>
          <p:nvPr/>
        </p:nvSpPr>
        <p:spPr>
          <a:xfrm>
            <a:off x="1920240" y="1463040"/>
            <a:ext cx="6035040" cy="360"/>
          </a:xfrm>
          <a:prstGeom prst="line">
            <a:avLst/>
          </a:prstGeom>
          <a:ln w="15240">
            <a:solidFill>
              <a:srgbClr val="3B82F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62" name="Shape 13"/>
          <p:cNvSpPr/>
          <p:nvPr/>
        </p:nvSpPr>
        <p:spPr>
          <a:xfrm>
            <a:off x="7955280" y="1463040"/>
            <a:ext cx="360" cy="1325880"/>
          </a:xfrm>
          <a:prstGeom prst="line">
            <a:avLst/>
          </a:prstGeom>
          <a:ln w="1524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63" name="Text 14"/>
          <p:cNvSpPr/>
          <p:nvPr/>
        </p:nvSpPr>
        <p:spPr>
          <a:xfrm>
            <a:off x="3474720" y="1143000"/>
            <a:ext cx="3657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3B82F6"/>
                </a:solidFill>
                <a:effectLst/>
                <a:uFillTx/>
                <a:latin typeface="Arial"/>
                <a:ea typeface="Arial"/>
              </a:rPr>
              <a:t>residual path preserves existing information</a:t>
            </a:r>
            <a:endParaRPr lang="it-IT" sz="900" b="0" u="none" strike="noStrike">
              <a:solidFill>
                <a:srgbClr val="000000"/>
              </a:solidFill>
              <a:effectLst/>
              <a:uFillTx/>
              <a:latin typeface="Arial"/>
            </a:endParaRPr>
          </a:p>
        </p:txBody>
      </p:sp>
      <p:sp>
        <p:nvSpPr>
          <p:cNvPr id="264" name="Text 15"/>
          <p:cNvSpPr/>
          <p:nvPr/>
        </p:nvSpPr>
        <p:spPr>
          <a:xfrm>
            <a:off x="3749040" y="4709160"/>
            <a:ext cx="4297320" cy="50256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400" b="1" u="none" strike="noStrike">
                <a:solidFill>
                  <a:srgbClr val="0F172A"/>
                </a:solidFill>
                <a:effectLst/>
                <a:uFillTx/>
                <a:latin typeface="Arial"/>
                <a:ea typeface="Arial"/>
              </a:rPr>
              <a:t>output = input + attention(input)</a:t>
            </a:r>
            <a:endParaRPr lang="it-IT" sz="1400" b="0" u="none" strike="noStrike">
              <a:solidFill>
                <a:srgbClr val="000000"/>
              </a:solidFill>
              <a:effectLst/>
              <a:uFillTx/>
              <a:latin typeface="Arial"/>
            </a:endParaRPr>
          </a:p>
        </p:txBody>
      </p:sp>
      <p:sp>
        <p:nvSpPr>
          <p:cNvPr id="265" name="Text 16"/>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475569"/>
                </a:solidFill>
                <a:effectLst/>
                <a:uFillTx/>
                <a:latin typeface="Arial"/>
              </a:rPr>
              <a:t>Residual connections support deep optimization and allow the block to learn a modification of the input representation.</a:t>
            </a:r>
            <a:endParaRPr lang="it-IT" sz="900" b="0" u="none" strike="noStrike" dirty="0">
              <a:solidFill>
                <a:srgbClr val="000000"/>
              </a:solidFill>
              <a:effectLst/>
              <a:uFillTx/>
              <a:latin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576498-5EAF-2E35-1383-5E6B27317611}"/>
              </a:ext>
            </a:extLst>
          </p:cNvPr>
          <p:cNvSpPr>
            <a:spLocks noGrp="1"/>
          </p:cNvSpPr>
          <p:nvPr>
            <p:ph type="title"/>
          </p:nvPr>
        </p:nvSpPr>
        <p:spPr/>
        <p:txBody>
          <a:bodyPr/>
          <a:lstStyle/>
          <a:p>
            <a:r>
              <a:rPr lang="en-GB" dirty="0"/>
              <a:t>Normalization in a Transformer block</a:t>
            </a:r>
          </a:p>
        </p:txBody>
      </p:sp>
      <p:sp>
        <p:nvSpPr>
          <p:cNvPr id="3" name="Segnaposto contenuto 2">
            <a:extLst>
              <a:ext uri="{FF2B5EF4-FFF2-40B4-BE49-F238E27FC236}">
                <a16:creationId xmlns:a16="http://schemas.microsoft.com/office/drawing/2014/main" id="{E600AC04-E39B-B63F-CA8E-54EDFC4CA7EA}"/>
              </a:ext>
            </a:extLst>
          </p:cNvPr>
          <p:cNvSpPr>
            <a:spLocks noGrp="1"/>
          </p:cNvSpPr>
          <p:nvPr>
            <p:ph sz="half" idx="1"/>
          </p:nvPr>
        </p:nvSpPr>
        <p:spPr>
          <a:xfrm>
            <a:off x="677334" y="2160588"/>
            <a:ext cx="5130079" cy="4551495"/>
          </a:xfrm>
        </p:spPr>
        <p:txBody>
          <a:bodyPr>
            <a:normAutofit fontScale="92500"/>
          </a:bodyPr>
          <a:lstStyle/>
          <a:p>
            <a:r>
              <a:rPr lang="en-GB" dirty="0"/>
              <a:t>Transformer blocks also include normalization.</a:t>
            </a:r>
          </a:p>
          <a:p>
            <a:r>
              <a:rPr lang="en-GB" dirty="0"/>
              <a:t>A common operation is </a:t>
            </a:r>
            <a:r>
              <a:rPr lang="en-GB" b="1" dirty="0"/>
              <a:t>Layer Normalization</a:t>
            </a:r>
            <a:r>
              <a:rPr lang="en-GB" dirty="0"/>
              <a:t>.</a:t>
            </a:r>
          </a:p>
          <a:p>
            <a:r>
              <a:rPr lang="en-GB" dirty="0"/>
              <a:t>Its purpose is to help stabilize the scale and distribution of internal representations during training.</a:t>
            </a:r>
          </a:p>
          <a:p>
            <a:r>
              <a:rPr lang="en-GB" b="1" dirty="0"/>
              <a:t>Conceptually</a:t>
            </a:r>
          </a:p>
          <a:p>
            <a:r>
              <a:rPr lang="en-GB" dirty="0"/>
              <a:t>A Transformer sub-block contains:</a:t>
            </a:r>
          </a:p>
          <a:p>
            <a:r>
              <a:rPr lang="en-GB" dirty="0"/>
              <a:t>transformation</a:t>
            </a:r>
          </a:p>
          <a:p>
            <a:r>
              <a:rPr lang="en-GB" dirty="0"/>
              <a:t>+</a:t>
            </a:r>
          </a:p>
          <a:p>
            <a:r>
              <a:rPr lang="en-GB" dirty="0"/>
              <a:t>residual connection</a:t>
            </a:r>
          </a:p>
          <a:p>
            <a:r>
              <a:rPr lang="en-GB" dirty="0"/>
              <a:t>+</a:t>
            </a:r>
          </a:p>
          <a:p>
            <a:r>
              <a:rPr lang="en-GB" dirty="0"/>
              <a:t>normalization</a:t>
            </a:r>
          </a:p>
          <a:p>
            <a:endParaRPr lang="en-GB" dirty="0"/>
          </a:p>
        </p:txBody>
      </p:sp>
      <p:sp>
        <p:nvSpPr>
          <p:cNvPr id="4" name="Segnaposto contenuto 3">
            <a:extLst>
              <a:ext uri="{FF2B5EF4-FFF2-40B4-BE49-F238E27FC236}">
                <a16:creationId xmlns:a16="http://schemas.microsoft.com/office/drawing/2014/main" id="{8FC36701-6FF8-23A7-83A8-B1C4E0E01BB2}"/>
              </a:ext>
            </a:extLst>
          </p:cNvPr>
          <p:cNvSpPr>
            <a:spLocks noGrp="1"/>
          </p:cNvSpPr>
          <p:nvPr>
            <p:ph sz="half" idx="2"/>
          </p:nvPr>
        </p:nvSpPr>
        <p:spPr>
          <a:xfrm>
            <a:off x="6685306" y="2171365"/>
            <a:ext cx="5036524" cy="4551496"/>
          </a:xfrm>
        </p:spPr>
        <p:txBody>
          <a:bodyPr>
            <a:normAutofit fontScale="92500"/>
          </a:bodyPr>
          <a:lstStyle/>
          <a:p>
            <a:r>
              <a:rPr lang="en-GB" b="1" dirty="0"/>
              <a:t>Two main sub-blocks</a:t>
            </a:r>
          </a:p>
          <a:p>
            <a:pPr lvl="0"/>
            <a:r>
              <a:rPr lang="en-GB" dirty="0"/>
              <a:t>self-attention; </a:t>
            </a:r>
          </a:p>
          <a:p>
            <a:pPr lvl="0"/>
            <a:r>
              <a:rPr lang="en-GB" dirty="0"/>
              <a:t>feed-forward network. </a:t>
            </a:r>
          </a:p>
          <a:p>
            <a:r>
              <a:rPr lang="en-GB" b="1" dirty="0"/>
              <a:t>Important course-level point</a:t>
            </a:r>
          </a:p>
          <a:p>
            <a:r>
              <a:rPr lang="en-GB" dirty="0"/>
              <a:t>Students do not need to memorize every implementation ordering.</a:t>
            </a:r>
          </a:p>
          <a:p>
            <a:r>
              <a:rPr lang="en-GB" dirty="0"/>
              <a:t>Different Transformer variants may place normalization before or after the main transformation.</a:t>
            </a:r>
          </a:p>
          <a:p>
            <a:r>
              <a:rPr lang="en-GB" dirty="0"/>
              <a:t>The central architecture remains:</a:t>
            </a:r>
          </a:p>
          <a:p>
            <a:r>
              <a:rPr lang="en-GB" dirty="0"/>
              <a:t>attention for interaction + feed-forward transformation + residual paths + normalization.</a:t>
            </a:r>
          </a:p>
        </p:txBody>
      </p:sp>
    </p:spTree>
    <p:extLst>
      <p:ext uri="{BB962C8B-B14F-4D97-AF65-F5344CB8AC3E}">
        <p14:creationId xmlns:p14="http://schemas.microsoft.com/office/powerpoint/2010/main" val="145029311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7"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8"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Basic Transformer block</a:t>
            </a:r>
            <a:endParaRPr lang="it-IT" sz="2100" b="0" u="none" strike="noStrike">
              <a:solidFill>
                <a:srgbClr val="000000"/>
              </a:solidFill>
              <a:effectLst/>
              <a:uFillTx/>
              <a:latin typeface="Arial"/>
            </a:endParaRPr>
          </a:p>
        </p:txBody>
      </p:sp>
      <p:sp>
        <p:nvSpPr>
          <p:cNvPr id="269"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The block alternates temporal interaction with nonlinear transformation.</a:t>
            </a:r>
            <a:endParaRPr lang="it-IT" sz="850" b="0" u="none" strike="noStrike">
              <a:solidFill>
                <a:srgbClr val="000000"/>
              </a:solidFill>
              <a:effectLst/>
              <a:uFillTx/>
              <a:latin typeface="Arial"/>
            </a:endParaRPr>
          </a:p>
        </p:txBody>
      </p:sp>
      <p:sp>
        <p:nvSpPr>
          <p:cNvPr id="270" name="Text 4"/>
          <p:cNvSpPr/>
          <p:nvPr/>
        </p:nvSpPr>
        <p:spPr>
          <a:xfrm>
            <a:off x="4754880" y="1051560"/>
            <a:ext cx="2742840" cy="41112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input representations</a:t>
            </a:r>
            <a:endParaRPr lang="it-IT" sz="1100" b="0" u="none" strike="noStrike">
              <a:solidFill>
                <a:srgbClr val="000000"/>
              </a:solidFill>
              <a:effectLst/>
              <a:uFillTx/>
              <a:latin typeface="Arial"/>
            </a:endParaRPr>
          </a:p>
        </p:txBody>
      </p:sp>
      <p:sp>
        <p:nvSpPr>
          <p:cNvPr id="271" name="Shape 5"/>
          <p:cNvSpPr/>
          <p:nvPr/>
        </p:nvSpPr>
        <p:spPr>
          <a:xfrm>
            <a:off x="6126480" y="1508760"/>
            <a:ext cx="360" cy="27432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2" name="Text 6"/>
          <p:cNvSpPr/>
          <p:nvPr/>
        </p:nvSpPr>
        <p:spPr>
          <a:xfrm>
            <a:off x="4754880" y="1828800"/>
            <a:ext cx="2742840" cy="45684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multi-head self-attention</a:t>
            </a:r>
            <a:endParaRPr lang="it-IT" sz="1100" b="0" u="none" strike="noStrike">
              <a:solidFill>
                <a:srgbClr val="000000"/>
              </a:solidFill>
              <a:effectLst/>
              <a:uFillTx/>
              <a:latin typeface="Arial"/>
            </a:endParaRPr>
          </a:p>
        </p:txBody>
      </p:sp>
      <p:sp>
        <p:nvSpPr>
          <p:cNvPr id="273" name="Shape 7"/>
          <p:cNvSpPr/>
          <p:nvPr/>
        </p:nvSpPr>
        <p:spPr>
          <a:xfrm>
            <a:off x="6126480" y="2331720"/>
            <a:ext cx="360" cy="27432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4" name="Text 8"/>
          <p:cNvSpPr/>
          <p:nvPr/>
        </p:nvSpPr>
        <p:spPr>
          <a:xfrm>
            <a:off x="4754880" y="2697480"/>
            <a:ext cx="2742840" cy="45684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50" b="1" u="none" strike="noStrike">
                <a:solidFill>
                  <a:srgbClr val="0F172A"/>
                </a:solidFill>
                <a:effectLst/>
                <a:uFillTx/>
                <a:latin typeface="Arial"/>
                <a:ea typeface="Arial"/>
              </a:rPr>
              <a:t>add residual + normalization</a:t>
            </a:r>
            <a:endParaRPr lang="it-IT" sz="1050" b="0" u="none" strike="noStrike">
              <a:solidFill>
                <a:srgbClr val="000000"/>
              </a:solidFill>
              <a:effectLst/>
              <a:uFillTx/>
              <a:latin typeface="Arial"/>
            </a:endParaRPr>
          </a:p>
        </p:txBody>
      </p:sp>
      <p:sp>
        <p:nvSpPr>
          <p:cNvPr id="275" name="Shape 9"/>
          <p:cNvSpPr/>
          <p:nvPr/>
        </p:nvSpPr>
        <p:spPr>
          <a:xfrm>
            <a:off x="6126480" y="3200400"/>
            <a:ext cx="360" cy="27432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6" name="Text 10"/>
          <p:cNvSpPr/>
          <p:nvPr/>
        </p:nvSpPr>
        <p:spPr>
          <a:xfrm>
            <a:off x="4754880" y="3520440"/>
            <a:ext cx="2742840" cy="4568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50" b="1" u="none" strike="noStrike">
                <a:solidFill>
                  <a:srgbClr val="0F172A"/>
                </a:solidFill>
                <a:effectLst/>
                <a:uFillTx/>
                <a:latin typeface="Arial"/>
                <a:ea typeface="Arial"/>
              </a:rPr>
              <a:t>position-wise feed-forward network</a:t>
            </a:r>
            <a:endParaRPr lang="it-IT" sz="1050" b="0" u="none" strike="noStrike">
              <a:solidFill>
                <a:srgbClr val="000000"/>
              </a:solidFill>
              <a:effectLst/>
              <a:uFillTx/>
              <a:latin typeface="Arial"/>
            </a:endParaRPr>
          </a:p>
        </p:txBody>
      </p:sp>
      <p:sp>
        <p:nvSpPr>
          <p:cNvPr id="277" name="Shape 11"/>
          <p:cNvSpPr/>
          <p:nvPr/>
        </p:nvSpPr>
        <p:spPr>
          <a:xfrm>
            <a:off x="6126480" y="4023360"/>
            <a:ext cx="360" cy="27432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78" name="Text 12"/>
          <p:cNvSpPr/>
          <p:nvPr/>
        </p:nvSpPr>
        <p:spPr>
          <a:xfrm>
            <a:off x="4754880" y="4343400"/>
            <a:ext cx="2742840" cy="45684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50" b="1" u="none" strike="noStrike">
                <a:solidFill>
                  <a:srgbClr val="0F172A"/>
                </a:solidFill>
                <a:effectLst/>
                <a:uFillTx/>
                <a:latin typeface="Arial"/>
                <a:ea typeface="Arial"/>
              </a:rPr>
              <a:t>add residual + normalization</a:t>
            </a:r>
            <a:endParaRPr lang="it-IT" sz="1050" b="0" u="none" strike="noStrike">
              <a:solidFill>
                <a:srgbClr val="000000"/>
              </a:solidFill>
              <a:effectLst/>
              <a:uFillTx/>
              <a:latin typeface="Arial"/>
            </a:endParaRPr>
          </a:p>
        </p:txBody>
      </p:sp>
      <p:sp>
        <p:nvSpPr>
          <p:cNvPr id="279" name="Shape 13"/>
          <p:cNvSpPr/>
          <p:nvPr/>
        </p:nvSpPr>
        <p:spPr>
          <a:xfrm>
            <a:off x="6126480" y="4846320"/>
            <a:ext cx="360" cy="27432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80" name="Text 14"/>
          <p:cNvSpPr/>
          <p:nvPr/>
        </p:nvSpPr>
        <p:spPr>
          <a:xfrm>
            <a:off x="4754880" y="5166360"/>
            <a:ext cx="2742840" cy="41112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output representations</a:t>
            </a:r>
            <a:endParaRPr lang="it-IT" sz="1100" b="0" u="none" strike="noStrike">
              <a:solidFill>
                <a:srgbClr val="000000"/>
              </a:solidFill>
              <a:effectLst/>
              <a:uFillTx/>
              <a:latin typeface="Arial"/>
            </a:endParaRPr>
          </a:p>
        </p:txBody>
      </p:sp>
      <p:sp>
        <p:nvSpPr>
          <p:cNvPr id="281" name="Text 15"/>
          <p:cNvSpPr/>
          <p:nvPr/>
        </p:nvSpPr>
        <p:spPr>
          <a:xfrm>
            <a:off x="1005840" y="1828800"/>
            <a:ext cx="2057040" cy="6397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interaction</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0F172A"/>
                </a:solidFill>
                <a:effectLst/>
                <a:uFillTx/>
                <a:latin typeface="Arial"/>
                <a:ea typeface="Arial"/>
              </a:rPr>
              <a:t>across positions</a:t>
            </a:r>
            <a:endParaRPr lang="it-IT" sz="1100" b="0" u="none" strike="noStrike">
              <a:solidFill>
                <a:srgbClr val="000000"/>
              </a:solidFill>
              <a:effectLst/>
              <a:uFillTx/>
              <a:latin typeface="Arial"/>
            </a:endParaRPr>
          </a:p>
        </p:txBody>
      </p:sp>
      <p:sp>
        <p:nvSpPr>
          <p:cNvPr id="282" name="Shape 16"/>
          <p:cNvSpPr/>
          <p:nvPr/>
        </p:nvSpPr>
        <p:spPr>
          <a:xfrm flipV="1">
            <a:off x="3154680" y="1965960"/>
            <a:ext cx="1508760" cy="18288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83" name="Text 17"/>
          <p:cNvSpPr/>
          <p:nvPr/>
        </p:nvSpPr>
        <p:spPr>
          <a:xfrm>
            <a:off x="8412480" y="3429000"/>
            <a:ext cx="2239920" cy="6397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feature transformation</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within positions</a:t>
            </a:r>
            <a:endParaRPr lang="it-IT" sz="1000" b="0" u="none" strike="noStrike">
              <a:solidFill>
                <a:srgbClr val="000000"/>
              </a:solidFill>
              <a:effectLst/>
              <a:uFillTx/>
              <a:latin typeface="Arial"/>
            </a:endParaRPr>
          </a:p>
        </p:txBody>
      </p:sp>
      <p:sp>
        <p:nvSpPr>
          <p:cNvPr id="284" name="Shape 18"/>
          <p:cNvSpPr/>
          <p:nvPr/>
        </p:nvSpPr>
        <p:spPr>
          <a:xfrm flipH="1" flipV="1">
            <a:off x="7543800" y="3703320"/>
            <a:ext cx="777240" cy="45720"/>
          </a:xfrm>
          <a:prstGeom prst="line">
            <a:avLst/>
          </a:prstGeom>
          <a:ln w="1270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720" rIns="90000" bIns="720" anchor="t" anchorCtr="1">
            <a:noAutofit/>
          </a:bodyPr>
          <a:lstStyle/>
          <a:p>
            <a:endParaRPr lang="it-IT" sz="1800" b="0" u="none" strike="noStrike">
              <a:solidFill>
                <a:srgbClr val="000000"/>
              </a:solidFill>
              <a:effectLst/>
              <a:uFillTx/>
              <a:latin typeface="Arial"/>
            </a:endParaRPr>
          </a:p>
        </p:txBody>
      </p:sp>
      <p:sp>
        <p:nvSpPr>
          <p:cNvPr id="285" name="Text 19"/>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u="none" strike="noStrike">
                <a:solidFill>
                  <a:srgbClr val="475569"/>
                </a:solidFill>
                <a:effectLst/>
                <a:uFillTx/>
                <a:latin typeface="Arial"/>
              </a:rPr>
              <a:t>A Transformer block alternates between information exchange across temporal positions and nonlinear transformation within each position.</a:t>
            </a:r>
            <a:endParaRPr lang="it-IT" sz="650" b="0" u="none" strike="noStrike">
              <a:solidFill>
                <a:srgbClr val="000000"/>
              </a:solidFill>
              <a:effectLst/>
              <a:uFillTx/>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2561FB-1DD9-5120-C8C8-D59D2B4CE1B5}"/>
              </a:ext>
            </a:extLst>
          </p:cNvPr>
          <p:cNvSpPr>
            <a:spLocks noGrp="1"/>
          </p:cNvSpPr>
          <p:nvPr>
            <p:ph type="title"/>
          </p:nvPr>
        </p:nvSpPr>
        <p:spPr/>
        <p:txBody>
          <a:bodyPr/>
          <a:lstStyle/>
          <a:p>
            <a:r>
              <a:rPr lang="en-GB" u="sng" dirty="0"/>
              <a:t>Basic Transformer block</a:t>
            </a:r>
          </a:p>
        </p:txBody>
      </p:sp>
      <p:sp>
        <p:nvSpPr>
          <p:cNvPr id="3" name="Segnaposto contenuto 2">
            <a:extLst>
              <a:ext uri="{FF2B5EF4-FFF2-40B4-BE49-F238E27FC236}">
                <a16:creationId xmlns:a16="http://schemas.microsoft.com/office/drawing/2014/main" id="{8DFC8B16-BD87-936D-7023-38B33BC98A23}"/>
              </a:ext>
            </a:extLst>
          </p:cNvPr>
          <p:cNvSpPr>
            <a:spLocks noGrp="1"/>
          </p:cNvSpPr>
          <p:nvPr>
            <p:ph sz="half" idx="1"/>
          </p:nvPr>
        </p:nvSpPr>
        <p:spPr>
          <a:xfrm>
            <a:off x="677334" y="2160588"/>
            <a:ext cx="5120351" cy="4347215"/>
          </a:xfrm>
        </p:spPr>
        <p:txBody>
          <a:bodyPr>
            <a:normAutofit fontScale="62500" lnSpcReduction="20000"/>
          </a:bodyPr>
          <a:lstStyle/>
          <a:p>
            <a:r>
              <a:rPr lang="en-GB" dirty="0"/>
              <a:t>A simplified Transformer block can be represented as:</a:t>
            </a:r>
          </a:p>
          <a:p>
            <a:r>
              <a:rPr lang="en-GB" dirty="0"/>
              <a:t>input representations</a:t>
            </a:r>
          </a:p>
          <a:p>
            <a:r>
              <a:rPr lang="en-GB" dirty="0"/>
              <a:t>        ↓</a:t>
            </a:r>
          </a:p>
          <a:p>
            <a:r>
              <a:rPr lang="en-GB" dirty="0"/>
              <a:t>multi-head self-attention</a:t>
            </a:r>
          </a:p>
          <a:p>
            <a:r>
              <a:rPr lang="en-GB" dirty="0"/>
              <a:t>        ↓</a:t>
            </a:r>
          </a:p>
          <a:p>
            <a:r>
              <a:rPr lang="en-GB" dirty="0"/>
              <a:t>residual connection</a:t>
            </a:r>
          </a:p>
          <a:p>
            <a:r>
              <a:rPr lang="en-GB" dirty="0"/>
              <a:t>        ↓</a:t>
            </a:r>
          </a:p>
          <a:p>
            <a:r>
              <a:rPr lang="en-GB" dirty="0"/>
              <a:t>normalization</a:t>
            </a:r>
          </a:p>
          <a:p>
            <a:r>
              <a:rPr lang="en-GB" dirty="0"/>
              <a:t>        ↓</a:t>
            </a:r>
          </a:p>
          <a:p>
            <a:r>
              <a:rPr lang="en-GB" dirty="0"/>
              <a:t>feed-forward network</a:t>
            </a:r>
          </a:p>
          <a:p>
            <a:r>
              <a:rPr lang="en-GB" dirty="0"/>
              <a:t>        ↓</a:t>
            </a:r>
          </a:p>
          <a:p>
            <a:r>
              <a:rPr lang="en-GB" dirty="0"/>
              <a:t>residual connection</a:t>
            </a:r>
          </a:p>
          <a:p>
            <a:r>
              <a:rPr lang="en-GB" dirty="0"/>
              <a:t>        ↓</a:t>
            </a:r>
          </a:p>
          <a:p>
            <a:r>
              <a:rPr lang="en-GB" dirty="0"/>
              <a:t>normalization</a:t>
            </a:r>
          </a:p>
          <a:p>
            <a:r>
              <a:rPr lang="en-GB" dirty="0"/>
              <a:t>        ↓</a:t>
            </a:r>
          </a:p>
          <a:p>
            <a:r>
              <a:rPr lang="en-GB" dirty="0"/>
              <a:t>output representations</a:t>
            </a:r>
          </a:p>
          <a:p>
            <a:endParaRPr lang="en-GB" dirty="0"/>
          </a:p>
        </p:txBody>
      </p:sp>
      <p:sp>
        <p:nvSpPr>
          <p:cNvPr id="4" name="Segnaposto contenuto 3">
            <a:extLst>
              <a:ext uri="{FF2B5EF4-FFF2-40B4-BE49-F238E27FC236}">
                <a16:creationId xmlns:a16="http://schemas.microsoft.com/office/drawing/2014/main" id="{D8278680-1EC3-0D73-687D-E209B0712393}"/>
              </a:ext>
            </a:extLst>
          </p:cNvPr>
          <p:cNvSpPr>
            <a:spLocks noGrp="1"/>
          </p:cNvSpPr>
          <p:nvPr>
            <p:ph sz="half" idx="2"/>
          </p:nvPr>
        </p:nvSpPr>
        <p:spPr>
          <a:xfrm>
            <a:off x="6925974" y="2171365"/>
            <a:ext cx="4696056" cy="4444492"/>
          </a:xfrm>
        </p:spPr>
        <p:txBody>
          <a:bodyPr>
            <a:normAutofit fontScale="62500" lnSpcReduction="20000"/>
          </a:bodyPr>
          <a:lstStyle/>
          <a:p>
            <a:r>
              <a:rPr lang="en-GB" b="1" dirty="0"/>
              <a:t>Self-attention</a:t>
            </a:r>
          </a:p>
          <a:p>
            <a:r>
              <a:rPr lang="en-GB" dirty="0"/>
              <a:t>Allows temporal positions to exchange information.</a:t>
            </a:r>
          </a:p>
          <a:p>
            <a:r>
              <a:rPr lang="en-GB" b="1" dirty="0"/>
              <a:t>Feed-forward network</a:t>
            </a:r>
          </a:p>
          <a:p>
            <a:r>
              <a:rPr lang="en-GB" dirty="0"/>
              <a:t>Applies nonlinear feature transformation at each position.</a:t>
            </a:r>
          </a:p>
          <a:p>
            <a:r>
              <a:rPr lang="en-GB" b="1" dirty="0"/>
              <a:t>Residual connections</a:t>
            </a:r>
          </a:p>
          <a:p>
            <a:r>
              <a:rPr lang="en-GB" dirty="0"/>
              <a:t>Preserve information and support deep optimization.</a:t>
            </a:r>
          </a:p>
          <a:p>
            <a:r>
              <a:rPr lang="en-GB" b="1" dirty="0"/>
              <a:t>Normalization</a:t>
            </a:r>
          </a:p>
          <a:p>
            <a:r>
              <a:rPr lang="en-GB" dirty="0"/>
              <a:t>Stabilizes internal representations.</a:t>
            </a:r>
          </a:p>
          <a:p>
            <a:endParaRPr lang="en-GB" dirty="0"/>
          </a:p>
          <a:p>
            <a:r>
              <a:rPr lang="en-GB" b="1" dirty="0"/>
              <a:t>A Transformer block alternates between interaction across positions and transformation within positions.</a:t>
            </a:r>
          </a:p>
        </p:txBody>
      </p:sp>
    </p:spTree>
    <p:extLst>
      <p:ext uri="{BB962C8B-B14F-4D97-AF65-F5344CB8AC3E}">
        <p14:creationId xmlns:p14="http://schemas.microsoft.com/office/powerpoint/2010/main" val="7921186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319A06-250C-CB61-9FA5-03B33720E8FB}"/>
              </a:ext>
            </a:extLst>
          </p:cNvPr>
          <p:cNvSpPr>
            <a:spLocks noGrp="1"/>
          </p:cNvSpPr>
          <p:nvPr>
            <p:ph type="title"/>
          </p:nvPr>
        </p:nvSpPr>
        <p:spPr/>
        <p:txBody>
          <a:bodyPr/>
          <a:lstStyle/>
          <a:p>
            <a:r>
              <a:rPr lang="en-GB" dirty="0"/>
              <a:t>Stacking Transformer blocks</a:t>
            </a:r>
          </a:p>
        </p:txBody>
      </p:sp>
      <p:sp>
        <p:nvSpPr>
          <p:cNvPr id="3" name="Segnaposto contenuto 2">
            <a:extLst>
              <a:ext uri="{FF2B5EF4-FFF2-40B4-BE49-F238E27FC236}">
                <a16:creationId xmlns:a16="http://schemas.microsoft.com/office/drawing/2014/main" id="{5803ACC6-8FC1-801F-CB81-9B2D289E1381}"/>
              </a:ext>
            </a:extLst>
          </p:cNvPr>
          <p:cNvSpPr>
            <a:spLocks noGrp="1"/>
          </p:cNvSpPr>
          <p:nvPr>
            <p:ph sz="half" idx="1"/>
          </p:nvPr>
        </p:nvSpPr>
        <p:spPr>
          <a:xfrm>
            <a:off x="677334" y="2160588"/>
            <a:ext cx="5182439" cy="4298577"/>
          </a:xfrm>
        </p:spPr>
        <p:txBody>
          <a:bodyPr>
            <a:normAutofit fontScale="85000" lnSpcReduction="10000"/>
          </a:bodyPr>
          <a:lstStyle/>
          <a:p>
            <a:r>
              <a:rPr lang="en-GB" dirty="0"/>
              <a:t>As with convolutional and recurrent networks, several Transformer blocks can be stacked.</a:t>
            </a:r>
          </a:p>
          <a:p>
            <a:r>
              <a:rPr lang="en-GB" dirty="0"/>
              <a:t>input tokens</a:t>
            </a:r>
          </a:p>
          <a:p>
            <a:r>
              <a:rPr lang="en-GB" dirty="0"/>
              <a:t>     ↓</a:t>
            </a:r>
          </a:p>
          <a:p>
            <a:r>
              <a:rPr lang="en-GB" dirty="0"/>
              <a:t>Transformer block 1</a:t>
            </a:r>
          </a:p>
          <a:p>
            <a:r>
              <a:rPr lang="en-GB" dirty="0"/>
              <a:t>     ↓</a:t>
            </a:r>
          </a:p>
          <a:p>
            <a:r>
              <a:rPr lang="en-GB" dirty="0"/>
              <a:t>Transformer block 2</a:t>
            </a:r>
          </a:p>
          <a:p>
            <a:r>
              <a:rPr lang="en-GB" dirty="0"/>
              <a:t>     ↓</a:t>
            </a:r>
          </a:p>
          <a:p>
            <a:r>
              <a:rPr lang="en-GB" dirty="0"/>
              <a:t>Transformer block 3</a:t>
            </a:r>
          </a:p>
          <a:p>
            <a:r>
              <a:rPr lang="en-GB" dirty="0"/>
              <a:t>     ↓</a:t>
            </a:r>
          </a:p>
          <a:p>
            <a:r>
              <a:rPr lang="en-GB" dirty="0"/>
              <a:t>...</a:t>
            </a:r>
          </a:p>
          <a:p>
            <a:r>
              <a:rPr lang="en-GB" dirty="0"/>
              <a:t>     ↓</a:t>
            </a:r>
          </a:p>
          <a:p>
            <a:r>
              <a:rPr lang="en-GB" dirty="0"/>
              <a:t>final temporal representations</a:t>
            </a:r>
          </a:p>
          <a:p>
            <a:endParaRPr lang="en-GB" dirty="0"/>
          </a:p>
        </p:txBody>
      </p:sp>
      <p:sp>
        <p:nvSpPr>
          <p:cNvPr id="4" name="Segnaposto contenuto 3">
            <a:extLst>
              <a:ext uri="{FF2B5EF4-FFF2-40B4-BE49-F238E27FC236}">
                <a16:creationId xmlns:a16="http://schemas.microsoft.com/office/drawing/2014/main" id="{7C0E5706-B175-D252-9F74-0DAD3CDC55B1}"/>
              </a:ext>
            </a:extLst>
          </p:cNvPr>
          <p:cNvSpPr>
            <a:spLocks noGrp="1"/>
          </p:cNvSpPr>
          <p:nvPr>
            <p:ph sz="half" idx="2"/>
          </p:nvPr>
        </p:nvSpPr>
        <p:spPr>
          <a:xfrm>
            <a:off x="6578301" y="2160589"/>
            <a:ext cx="5182439" cy="4493130"/>
          </a:xfrm>
        </p:spPr>
        <p:txBody>
          <a:bodyPr>
            <a:normAutofit fontScale="85000" lnSpcReduction="10000"/>
          </a:bodyPr>
          <a:lstStyle/>
          <a:p>
            <a:r>
              <a:rPr lang="en-GB" b="1" dirty="0"/>
              <a:t>Lower blocks</a:t>
            </a:r>
          </a:p>
          <a:p>
            <a:r>
              <a:rPr lang="en-GB" dirty="0"/>
              <a:t>May capture relatively simple temporal relations.</a:t>
            </a:r>
          </a:p>
          <a:p>
            <a:r>
              <a:rPr lang="en-GB" b="1" dirty="0"/>
              <a:t>Deeper blocks</a:t>
            </a:r>
          </a:p>
          <a:p>
            <a:r>
              <a:rPr lang="en-GB" dirty="0"/>
              <a:t>Can combine information already contextualized by previous attention operations.</a:t>
            </a:r>
          </a:p>
          <a:p>
            <a:r>
              <a:rPr lang="en-GB" b="1" dirty="0"/>
              <a:t>Consequence</a:t>
            </a:r>
          </a:p>
          <a:p>
            <a:r>
              <a:rPr lang="en-GB" dirty="0"/>
              <a:t>The representation at one position becomes progressively dependent on richer information from the sequence.</a:t>
            </a:r>
          </a:p>
          <a:p>
            <a:r>
              <a:rPr lang="en-GB" b="1" dirty="0"/>
              <a:t>Unlike a TCN</a:t>
            </a:r>
          </a:p>
          <a:p>
            <a:r>
              <a:rPr lang="en-GB" dirty="0"/>
              <a:t>Long-range interaction does not require increasing a convolutional receptive field layer by layer.</a:t>
            </a:r>
          </a:p>
          <a:p>
            <a:r>
              <a:rPr lang="en-GB" dirty="0"/>
              <a:t>A self-attention layer can already connect distant allowed positions directly.</a:t>
            </a:r>
          </a:p>
          <a:p>
            <a:endParaRPr lang="en-GB" dirty="0"/>
          </a:p>
        </p:txBody>
      </p:sp>
    </p:spTree>
    <p:extLst>
      <p:ext uri="{BB962C8B-B14F-4D97-AF65-F5344CB8AC3E}">
        <p14:creationId xmlns:p14="http://schemas.microsoft.com/office/powerpoint/2010/main" val="16254430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7"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8"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Stacking Transformer blocks</a:t>
            </a:r>
            <a:endParaRPr lang="it-IT" sz="2100" b="0" u="none" strike="noStrike">
              <a:solidFill>
                <a:srgbClr val="000000"/>
              </a:solidFill>
              <a:effectLst/>
              <a:uFillTx/>
              <a:latin typeface="Arial"/>
            </a:endParaRPr>
          </a:p>
        </p:txBody>
      </p:sp>
      <p:sp>
        <p:nvSpPr>
          <p:cNvPr id="289"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475569"/>
                </a:solidFill>
                <a:effectLst/>
                <a:uFillTx/>
                <a:latin typeface="Arial"/>
                <a:ea typeface="Arial"/>
              </a:rPr>
              <a:t>Deeper blocks operate on representations already contextualized by earlier attention operations.</a:t>
            </a:r>
            <a:endParaRPr lang="it-IT" sz="850" b="0" u="none" strike="noStrike">
              <a:solidFill>
                <a:srgbClr val="000000"/>
              </a:solidFill>
              <a:effectLst/>
              <a:uFillTx/>
              <a:latin typeface="Arial"/>
            </a:endParaRPr>
          </a:p>
        </p:txBody>
      </p:sp>
      <p:sp>
        <p:nvSpPr>
          <p:cNvPr id="290" name="Text 4"/>
          <p:cNvSpPr/>
          <p:nvPr/>
        </p:nvSpPr>
        <p:spPr>
          <a:xfrm>
            <a:off x="1005840" y="3200400"/>
            <a:ext cx="1645560" cy="63972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000" b="1" u="none" strike="noStrike">
                <a:solidFill>
                  <a:srgbClr val="0F172A"/>
                </a:solidFill>
                <a:effectLst/>
                <a:uFillTx/>
                <a:latin typeface="Arial"/>
                <a:ea typeface="Arial"/>
              </a:rPr>
              <a:t>input tokens</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Arial"/>
                <a:ea typeface="Arial"/>
              </a:rPr>
              <a:t>content + position</a:t>
            </a:r>
            <a:endParaRPr lang="it-IT" sz="1000" b="0" u="none" strike="noStrike">
              <a:solidFill>
                <a:srgbClr val="000000"/>
              </a:solidFill>
              <a:effectLst/>
              <a:uFillTx/>
              <a:latin typeface="Arial"/>
            </a:endParaRPr>
          </a:p>
        </p:txBody>
      </p:sp>
      <p:sp>
        <p:nvSpPr>
          <p:cNvPr id="291" name="Shape 5"/>
          <p:cNvSpPr/>
          <p:nvPr/>
        </p:nvSpPr>
        <p:spPr>
          <a:xfrm>
            <a:off x="2788920" y="3520440"/>
            <a:ext cx="274320" cy="36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92" name="Text 6"/>
          <p:cNvSpPr/>
          <p:nvPr/>
        </p:nvSpPr>
        <p:spPr>
          <a:xfrm>
            <a:off x="3154680" y="3063240"/>
            <a:ext cx="1645560" cy="91404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Transformer</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block 1</a:t>
            </a:r>
            <a:endParaRPr lang="it-IT" sz="1200" b="0" u="none" strike="noStrike">
              <a:solidFill>
                <a:srgbClr val="000000"/>
              </a:solidFill>
              <a:effectLst/>
              <a:uFillTx/>
              <a:latin typeface="Arial"/>
            </a:endParaRPr>
          </a:p>
        </p:txBody>
      </p:sp>
      <p:sp>
        <p:nvSpPr>
          <p:cNvPr id="293" name="Shape 7"/>
          <p:cNvSpPr/>
          <p:nvPr/>
        </p:nvSpPr>
        <p:spPr>
          <a:xfrm>
            <a:off x="4892040" y="3520440"/>
            <a:ext cx="365760" cy="36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94" name="Text 8"/>
          <p:cNvSpPr/>
          <p:nvPr/>
        </p:nvSpPr>
        <p:spPr>
          <a:xfrm>
            <a:off x="5349240" y="3063240"/>
            <a:ext cx="1645560" cy="91404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Transformer</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block 2</a:t>
            </a:r>
            <a:endParaRPr lang="it-IT" sz="1200" b="0" u="none" strike="noStrike">
              <a:solidFill>
                <a:srgbClr val="000000"/>
              </a:solidFill>
              <a:effectLst/>
              <a:uFillTx/>
              <a:latin typeface="Arial"/>
            </a:endParaRPr>
          </a:p>
        </p:txBody>
      </p:sp>
      <p:sp>
        <p:nvSpPr>
          <p:cNvPr id="295" name="Shape 9"/>
          <p:cNvSpPr/>
          <p:nvPr/>
        </p:nvSpPr>
        <p:spPr>
          <a:xfrm>
            <a:off x="7086600" y="3520440"/>
            <a:ext cx="365760" cy="36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96" name="Text 10"/>
          <p:cNvSpPr/>
          <p:nvPr/>
        </p:nvSpPr>
        <p:spPr>
          <a:xfrm>
            <a:off x="7543800" y="3063240"/>
            <a:ext cx="1645560" cy="91404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200" b="1" u="none" strike="noStrike">
                <a:solidFill>
                  <a:srgbClr val="0F172A"/>
                </a:solidFill>
                <a:effectLst/>
                <a:uFillTx/>
                <a:latin typeface="Arial"/>
                <a:ea typeface="Arial"/>
              </a:rPr>
              <a:t>Transformer</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0F172A"/>
                </a:solidFill>
                <a:effectLst/>
                <a:uFillTx/>
                <a:latin typeface="Arial"/>
                <a:ea typeface="Arial"/>
              </a:rPr>
              <a:t>block 3</a:t>
            </a:r>
            <a:endParaRPr lang="it-IT" sz="1200" b="0" u="none" strike="noStrike">
              <a:solidFill>
                <a:srgbClr val="000000"/>
              </a:solidFill>
              <a:effectLst/>
              <a:uFillTx/>
              <a:latin typeface="Arial"/>
            </a:endParaRPr>
          </a:p>
        </p:txBody>
      </p:sp>
      <p:sp>
        <p:nvSpPr>
          <p:cNvPr id="297" name="Shape 11"/>
          <p:cNvSpPr/>
          <p:nvPr/>
        </p:nvSpPr>
        <p:spPr>
          <a:xfrm>
            <a:off x="9738360" y="3520440"/>
            <a:ext cx="411480" cy="360"/>
          </a:xfrm>
          <a:prstGeom prst="line">
            <a:avLst/>
          </a:prstGeom>
          <a:ln w="1270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98" name="Text 12"/>
          <p:cNvSpPr/>
          <p:nvPr/>
        </p:nvSpPr>
        <p:spPr>
          <a:xfrm>
            <a:off x="10287000" y="3063240"/>
            <a:ext cx="1371240" cy="91404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900" b="1" u="none" strike="noStrike">
                <a:solidFill>
                  <a:srgbClr val="0F172A"/>
                </a:solidFill>
                <a:effectLst/>
                <a:uFillTx/>
                <a:latin typeface="Arial"/>
                <a:ea typeface="Arial"/>
              </a:rPr>
              <a:t>final temporal</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0F172A"/>
                </a:solidFill>
                <a:effectLst/>
                <a:uFillTx/>
                <a:latin typeface="Arial"/>
                <a:ea typeface="Arial"/>
              </a:rPr>
              <a:t>representations</a:t>
            </a:r>
            <a:endParaRPr lang="it-IT" sz="900" b="0" u="none" strike="noStrike">
              <a:solidFill>
                <a:srgbClr val="000000"/>
              </a:solidFill>
              <a:effectLst/>
              <a:uFillTx/>
              <a:latin typeface="Arial"/>
            </a:endParaRPr>
          </a:p>
        </p:txBody>
      </p:sp>
      <p:sp>
        <p:nvSpPr>
          <p:cNvPr id="299" name="Text 13"/>
          <p:cNvSpPr/>
          <p:nvPr/>
        </p:nvSpPr>
        <p:spPr>
          <a:xfrm>
            <a:off x="2834640" y="4663440"/>
            <a:ext cx="1919880" cy="4111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80" b="1" u="none" strike="noStrike">
                <a:solidFill>
                  <a:srgbClr val="0F172A"/>
                </a:solidFill>
                <a:effectLst/>
                <a:uFillTx/>
                <a:latin typeface="Arial"/>
                <a:ea typeface="Arial"/>
              </a:rPr>
              <a:t>Block 1: first contextualization</a:t>
            </a:r>
            <a:endParaRPr lang="it-IT" sz="880" b="0" u="none" strike="noStrike">
              <a:solidFill>
                <a:srgbClr val="000000"/>
              </a:solidFill>
              <a:effectLst/>
              <a:uFillTx/>
              <a:latin typeface="Arial"/>
            </a:endParaRPr>
          </a:p>
        </p:txBody>
      </p:sp>
      <p:sp>
        <p:nvSpPr>
          <p:cNvPr id="300" name="Text 14"/>
          <p:cNvSpPr/>
          <p:nvPr/>
        </p:nvSpPr>
        <p:spPr>
          <a:xfrm>
            <a:off x="5166360" y="4663440"/>
            <a:ext cx="228564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80" b="1" u="none" strike="noStrike">
                <a:solidFill>
                  <a:srgbClr val="0F172A"/>
                </a:solidFill>
                <a:effectLst/>
                <a:uFillTx/>
                <a:latin typeface="Arial"/>
                <a:ea typeface="Arial"/>
              </a:rPr>
              <a:t>Block 2: combines contextual features</a:t>
            </a:r>
            <a:endParaRPr lang="it-IT" sz="880" b="0" u="none" strike="noStrike">
              <a:solidFill>
                <a:srgbClr val="000000"/>
              </a:solidFill>
              <a:effectLst/>
              <a:uFillTx/>
              <a:latin typeface="Arial"/>
            </a:endParaRPr>
          </a:p>
        </p:txBody>
      </p:sp>
      <p:sp>
        <p:nvSpPr>
          <p:cNvPr id="301" name="Text 15"/>
          <p:cNvSpPr/>
          <p:nvPr/>
        </p:nvSpPr>
        <p:spPr>
          <a:xfrm>
            <a:off x="7818120" y="4663440"/>
            <a:ext cx="2422800" cy="411120"/>
          </a:xfrm>
          <a:prstGeom prst="rect">
            <a:avLst/>
          </a:prstGeom>
          <a:solidFill>
            <a:srgbClr val="FEF3C7"/>
          </a:solidFill>
          <a:ln w="12700">
            <a:solidFill>
              <a:srgbClr val="F59E0B"/>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80" b="1" u="none" strike="noStrike">
                <a:solidFill>
                  <a:srgbClr val="0F172A"/>
                </a:solidFill>
                <a:effectLst/>
                <a:uFillTx/>
                <a:latin typeface="Arial"/>
                <a:ea typeface="Arial"/>
              </a:rPr>
              <a:t>Block 3: richer temporal representations</a:t>
            </a:r>
            <a:endParaRPr lang="it-IT" sz="880" b="0" u="none" strike="noStrike">
              <a:solidFill>
                <a:srgbClr val="000000"/>
              </a:solidFill>
              <a:effectLst/>
              <a:uFillTx/>
              <a:latin typeface="Arial"/>
            </a:endParaRPr>
          </a:p>
        </p:txBody>
      </p:sp>
      <p:sp>
        <p:nvSpPr>
          <p:cNvPr id="302" name="Text 16"/>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475569"/>
                </a:solidFill>
                <a:effectLst/>
                <a:uFillTx/>
                <a:latin typeface="Arial"/>
              </a:rPr>
              <a:t>Stacking blocks repeatedly mixes information across positions and transforms the resulting representations.</a:t>
            </a:r>
            <a:endParaRPr lang="it-IT" sz="1000" b="0" u="none" strike="noStrike" dirty="0">
              <a:solidFill>
                <a:srgbClr val="000000"/>
              </a:solidFill>
              <a:effectLst/>
              <a:uFillTx/>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2FF3293-1127-40D9-52FF-9849F064BEC9}"/>
              </a:ext>
            </a:extLst>
          </p:cNvPr>
          <p:cNvSpPr>
            <a:spLocks noGrp="1"/>
          </p:cNvSpPr>
          <p:nvPr>
            <p:ph type="title"/>
          </p:nvPr>
        </p:nvSpPr>
        <p:spPr/>
        <p:txBody>
          <a:bodyPr/>
          <a:lstStyle/>
          <a:p>
            <a:r>
              <a:rPr lang="it-IT" dirty="0"/>
              <a:t>T</a:t>
            </a:r>
            <a:r>
              <a:rPr lang="en-GB" dirty="0" err="1"/>
              <a:t>ransformer</a:t>
            </a:r>
            <a:r>
              <a:rPr lang="en-GB" dirty="0"/>
              <a:t> processing is highly parallel</a:t>
            </a:r>
          </a:p>
        </p:txBody>
      </p:sp>
      <p:sp>
        <p:nvSpPr>
          <p:cNvPr id="3" name="Segnaposto contenuto 2">
            <a:extLst>
              <a:ext uri="{FF2B5EF4-FFF2-40B4-BE49-F238E27FC236}">
                <a16:creationId xmlns:a16="http://schemas.microsoft.com/office/drawing/2014/main" id="{7ED21B3D-8A12-7259-B1A0-1DFAB6D89898}"/>
              </a:ext>
            </a:extLst>
          </p:cNvPr>
          <p:cNvSpPr>
            <a:spLocks noGrp="1"/>
          </p:cNvSpPr>
          <p:nvPr>
            <p:ph sz="half" idx="1"/>
          </p:nvPr>
        </p:nvSpPr>
        <p:spPr>
          <a:xfrm>
            <a:off x="677334" y="2160589"/>
            <a:ext cx="4968430" cy="4211028"/>
          </a:xfrm>
        </p:spPr>
        <p:txBody>
          <a:bodyPr>
            <a:normAutofit fontScale="92500" lnSpcReduction="20000"/>
          </a:bodyPr>
          <a:lstStyle/>
          <a:p>
            <a:r>
              <a:rPr lang="en-GB" b="1" dirty="0"/>
              <a:t>In an RNN</a:t>
            </a:r>
            <a:r>
              <a:rPr lang="en-GB" dirty="0"/>
              <a:t>: h[t] requires h[t−1] so time steps are processed </a:t>
            </a:r>
            <a:r>
              <a:rPr lang="en-GB" b="1" dirty="0"/>
              <a:t>sequentially</a:t>
            </a:r>
            <a:r>
              <a:rPr lang="en-GB" dirty="0"/>
              <a:t>.</a:t>
            </a:r>
          </a:p>
          <a:p>
            <a:r>
              <a:rPr lang="en-GB" dirty="0"/>
              <a:t>In self-attention, queries, keys and values for many positions can be computed together.</a:t>
            </a:r>
          </a:p>
          <a:p>
            <a:r>
              <a:rPr lang="en-GB" b="1" dirty="0"/>
              <a:t>The attention matrix can then be evaluated using parallel matrix operations.</a:t>
            </a:r>
          </a:p>
          <a:p>
            <a:endParaRPr lang="en-GB" b="1" dirty="0"/>
          </a:p>
          <a:p>
            <a:r>
              <a:rPr lang="en-GB" b="1" dirty="0"/>
              <a:t>Comparison</a:t>
            </a:r>
          </a:p>
          <a:p>
            <a:r>
              <a:rPr lang="en-GB" dirty="0"/>
              <a:t>RNN:</a:t>
            </a:r>
          </a:p>
          <a:p>
            <a:pPr lvl="1"/>
            <a:r>
              <a:rPr lang="en-GB" dirty="0"/>
              <a:t>1 → 2 → 3 → 4 → ...</a:t>
            </a:r>
          </a:p>
          <a:p>
            <a:r>
              <a:rPr lang="en-GB" dirty="0"/>
              <a:t>Transformer:</a:t>
            </a:r>
          </a:p>
          <a:p>
            <a:pPr lvl="1"/>
            <a:r>
              <a:rPr lang="en-GB" dirty="0"/>
              <a:t>positions 1, 2, 3, 4, ...</a:t>
            </a:r>
          </a:p>
          <a:p>
            <a:pPr lvl="1"/>
            <a:r>
              <a:rPr lang="en-GB" dirty="0"/>
              <a:t>        ↓</a:t>
            </a:r>
          </a:p>
          <a:p>
            <a:pPr lvl="1"/>
            <a:r>
              <a:rPr lang="en-GB" dirty="0"/>
              <a:t>processed together within a layer</a:t>
            </a:r>
          </a:p>
        </p:txBody>
      </p:sp>
      <p:sp>
        <p:nvSpPr>
          <p:cNvPr id="4" name="Segnaposto contenuto 3">
            <a:extLst>
              <a:ext uri="{FF2B5EF4-FFF2-40B4-BE49-F238E27FC236}">
                <a16:creationId xmlns:a16="http://schemas.microsoft.com/office/drawing/2014/main" id="{7765E137-4639-29C6-4111-56DEDA30F30D}"/>
              </a:ext>
            </a:extLst>
          </p:cNvPr>
          <p:cNvSpPr>
            <a:spLocks noGrp="1"/>
          </p:cNvSpPr>
          <p:nvPr>
            <p:ph sz="half" idx="2"/>
          </p:nvPr>
        </p:nvSpPr>
        <p:spPr>
          <a:xfrm>
            <a:off x="6789787" y="2171365"/>
            <a:ext cx="4968430" cy="4405581"/>
          </a:xfrm>
        </p:spPr>
        <p:txBody>
          <a:bodyPr>
            <a:normAutofit fontScale="92500" lnSpcReduction="20000"/>
          </a:bodyPr>
          <a:lstStyle/>
          <a:p>
            <a:r>
              <a:rPr lang="en-GB" b="1" dirty="0"/>
              <a:t>Advantage</a:t>
            </a:r>
          </a:p>
          <a:p>
            <a:r>
              <a:rPr lang="en-GB" dirty="0"/>
              <a:t>This is well suited to:</a:t>
            </a:r>
          </a:p>
          <a:p>
            <a:pPr lvl="0"/>
            <a:r>
              <a:rPr lang="en-GB" dirty="0"/>
              <a:t>GPUs; </a:t>
            </a:r>
          </a:p>
          <a:p>
            <a:pPr lvl="1"/>
            <a:r>
              <a:rPr lang="en-GB" dirty="0"/>
              <a:t>matrix accelerators; </a:t>
            </a:r>
          </a:p>
          <a:p>
            <a:pPr lvl="1"/>
            <a:r>
              <a:rPr lang="en-GB" dirty="0"/>
              <a:t>large-scale training. </a:t>
            </a:r>
          </a:p>
          <a:p>
            <a:endParaRPr lang="en-GB" b="1" dirty="0"/>
          </a:p>
          <a:p>
            <a:r>
              <a:rPr lang="en-GB" b="1" dirty="0"/>
              <a:t>Limitation</a:t>
            </a:r>
          </a:p>
          <a:p>
            <a:r>
              <a:rPr lang="en-GB" b="1" dirty="0"/>
              <a:t>Parallelism does not mean low computational cost.</a:t>
            </a:r>
          </a:p>
          <a:p>
            <a:r>
              <a:rPr lang="en-GB" dirty="0"/>
              <a:t>Standard self-attention becomes expensive for </a:t>
            </a:r>
            <a:r>
              <a:rPr lang="en-GB" b="1" dirty="0"/>
              <a:t>very long sequences.</a:t>
            </a:r>
          </a:p>
          <a:p>
            <a:r>
              <a:rPr lang="en-GB" dirty="0"/>
              <a:t>This will be addressed later.</a:t>
            </a:r>
          </a:p>
          <a:p>
            <a:endParaRPr lang="en-GB" dirty="0"/>
          </a:p>
        </p:txBody>
      </p:sp>
    </p:spTree>
    <p:extLst>
      <p:ext uri="{BB962C8B-B14F-4D97-AF65-F5344CB8AC3E}">
        <p14:creationId xmlns:p14="http://schemas.microsoft.com/office/powerpoint/2010/main" val="37892469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B5AEA2-7E16-DB6A-F51A-3449082A91AC}"/>
              </a:ext>
            </a:extLst>
          </p:cNvPr>
          <p:cNvSpPr>
            <a:spLocks noGrp="1"/>
          </p:cNvSpPr>
          <p:nvPr>
            <p:ph type="title"/>
          </p:nvPr>
        </p:nvSpPr>
        <p:spPr/>
        <p:txBody>
          <a:bodyPr/>
          <a:lstStyle/>
          <a:p>
            <a:r>
              <a:rPr lang="en-GB" dirty="0"/>
              <a:t>Transformer representation for temporal tasks</a:t>
            </a:r>
          </a:p>
        </p:txBody>
      </p:sp>
      <p:sp>
        <p:nvSpPr>
          <p:cNvPr id="3" name="Segnaposto contenuto 2">
            <a:extLst>
              <a:ext uri="{FF2B5EF4-FFF2-40B4-BE49-F238E27FC236}">
                <a16:creationId xmlns:a16="http://schemas.microsoft.com/office/drawing/2014/main" id="{57278A23-40D2-896F-BFE4-880DED50B3D6}"/>
              </a:ext>
            </a:extLst>
          </p:cNvPr>
          <p:cNvSpPr>
            <a:spLocks noGrp="1"/>
          </p:cNvSpPr>
          <p:nvPr>
            <p:ph sz="half" idx="1"/>
          </p:nvPr>
        </p:nvSpPr>
        <p:spPr>
          <a:xfrm>
            <a:off x="677334" y="2160589"/>
            <a:ext cx="5275994" cy="4386126"/>
          </a:xfrm>
        </p:spPr>
        <p:txBody>
          <a:bodyPr>
            <a:normAutofit fontScale="85000" lnSpcReduction="10000"/>
          </a:bodyPr>
          <a:lstStyle/>
          <a:p>
            <a:r>
              <a:rPr lang="en-GB" dirty="0"/>
              <a:t>After several Transformer blocks, the model has a contextualized representation for each input token.</a:t>
            </a:r>
          </a:p>
          <a:p>
            <a:r>
              <a:rPr lang="en-GB" b="1" dirty="0"/>
              <a:t>Depending on the task, these representations may be used differently.</a:t>
            </a:r>
          </a:p>
          <a:p>
            <a:r>
              <a:rPr lang="en-GB" b="1" dirty="0"/>
              <a:t>Sequence classification</a:t>
            </a:r>
          </a:p>
          <a:p>
            <a:pPr lvl="1"/>
            <a:r>
              <a:rPr lang="en-GB" dirty="0"/>
              <a:t>temporal representations</a:t>
            </a:r>
          </a:p>
          <a:p>
            <a:pPr lvl="1"/>
            <a:r>
              <a:rPr lang="en-GB" dirty="0"/>
              <a:t>       ↓</a:t>
            </a:r>
          </a:p>
          <a:p>
            <a:pPr lvl="1"/>
            <a:r>
              <a:rPr lang="en-GB" dirty="0"/>
              <a:t>aggregate / selected representation</a:t>
            </a:r>
          </a:p>
          <a:p>
            <a:pPr lvl="1"/>
            <a:r>
              <a:rPr lang="en-GB" dirty="0"/>
              <a:t>       ↓</a:t>
            </a:r>
          </a:p>
          <a:p>
            <a:pPr lvl="1"/>
            <a:r>
              <a:rPr lang="en-GB" dirty="0"/>
              <a:t>class probabilities</a:t>
            </a:r>
          </a:p>
          <a:p>
            <a:r>
              <a:rPr lang="en-GB" b="1" dirty="0"/>
              <a:t>Sequence labelling</a:t>
            </a:r>
          </a:p>
          <a:p>
            <a:pPr lvl="1"/>
            <a:r>
              <a:rPr lang="en-GB" dirty="0"/>
              <a:t>representation[t]</a:t>
            </a:r>
          </a:p>
          <a:p>
            <a:pPr lvl="1"/>
            <a:r>
              <a:rPr lang="en-GB" dirty="0"/>
              <a:t>       ↓</a:t>
            </a:r>
          </a:p>
          <a:p>
            <a:pPr lvl="1"/>
            <a:r>
              <a:rPr lang="en-GB" dirty="0"/>
              <a:t>prediction[t]</a:t>
            </a:r>
          </a:p>
          <a:p>
            <a:endParaRPr lang="en-GB" dirty="0"/>
          </a:p>
        </p:txBody>
      </p:sp>
      <p:sp>
        <p:nvSpPr>
          <p:cNvPr id="4" name="Segnaposto contenuto 3">
            <a:extLst>
              <a:ext uri="{FF2B5EF4-FFF2-40B4-BE49-F238E27FC236}">
                <a16:creationId xmlns:a16="http://schemas.microsoft.com/office/drawing/2014/main" id="{F2540554-194C-428B-C2E3-DB822735D1B1}"/>
              </a:ext>
            </a:extLst>
          </p:cNvPr>
          <p:cNvSpPr>
            <a:spLocks noGrp="1"/>
          </p:cNvSpPr>
          <p:nvPr>
            <p:ph sz="half" idx="2"/>
          </p:nvPr>
        </p:nvSpPr>
        <p:spPr>
          <a:xfrm>
            <a:off x="6802038" y="2190821"/>
            <a:ext cx="5153256" cy="4483402"/>
          </a:xfrm>
        </p:spPr>
        <p:txBody>
          <a:bodyPr>
            <a:normAutofit fontScale="85000" lnSpcReduction="10000"/>
          </a:bodyPr>
          <a:lstStyle/>
          <a:p>
            <a:r>
              <a:rPr lang="en-GB" b="1" dirty="0"/>
              <a:t>Forecasting</a:t>
            </a:r>
          </a:p>
          <a:p>
            <a:pPr lvl="1"/>
            <a:r>
              <a:rPr lang="en-GB" dirty="0"/>
              <a:t>historical representations</a:t>
            </a:r>
          </a:p>
          <a:p>
            <a:pPr lvl="1"/>
            <a:r>
              <a:rPr lang="en-GB" dirty="0"/>
              <a:t>       ↓</a:t>
            </a:r>
          </a:p>
          <a:p>
            <a:pPr lvl="1"/>
            <a:r>
              <a:rPr lang="en-GB" dirty="0"/>
              <a:t>forecasting head</a:t>
            </a:r>
          </a:p>
          <a:p>
            <a:pPr lvl="1"/>
            <a:r>
              <a:rPr lang="en-GB" dirty="0"/>
              <a:t>       ↓</a:t>
            </a:r>
          </a:p>
          <a:p>
            <a:pPr lvl="1"/>
            <a:r>
              <a:rPr lang="en-GB" dirty="0"/>
              <a:t>future values</a:t>
            </a:r>
          </a:p>
          <a:p>
            <a:pPr marL="0" indent="0">
              <a:buNone/>
            </a:pPr>
            <a:endParaRPr lang="en-GB" b="1" dirty="0"/>
          </a:p>
          <a:p>
            <a:r>
              <a:rPr lang="en-GB" dirty="0"/>
              <a:t>As with RNNs and CNNs:</a:t>
            </a:r>
          </a:p>
          <a:p>
            <a:r>
              <a:rPr lang="en-GB" b="1" dirty="0"/>
              <a:t>The Transformer defines how temporal information is represented; the task determines the output structure.</a:t>
            </a:r>
          </a:p>
          <a:p>
            <a:endParaRPr lang="en-GB" dirty="0"/>
          </a:p>
        </p:txBody>
      </p:sp>
    </p:spTree>
    <p:extLst>
      <p:ext uri="{BB962C8B-B14F-4D97-AF65-F5344CB8AC3E}">
        <p14:creationId xmlns:p14="http://schemas.microsoft.com/office/powerpoint/2010/main" val="12555613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F6F401-9A89-B49A-B244-3C0D1F655992}"/>
              </a:ext>
            </a:extLst>
          </p:cNvPr>
          <p:cNvSpPr>
            <a:spLocks noGrp="1"/>
          </p:cNvSpPr>
          <p:nvPr>
            <p:ph type="title"/>
          </p:nvPr>
        </p:nvSpPr>
        <p:spPr/>
        <p:txBody>
          <a:bodyPr/>
          <a:lstStyle/>
          <a:p>
            <a:r>
              <a:rPr lang="en-GB" dirty="0"/>
              <a:t>RNN, CNN and Transformer: three temporal mechanisms</a:t>
            </a:r>
          </a:p>
        </p:txBody>
      </p:sp>
      <p:sp>
        <p:nvSpPr>
          <p:cNvPr id="3" name="Segnaposto contenuto 2">
            <a:extLst>
              <a:ext uri="{FF2B5EF4-FFF2-40B4-BE49-F238E27FC236}">
                <a16:creationId xmlns:a16="http://schemas.microsoft.com/office/drawing/2014/main" id="{512C4FA6-26BE-15B9-BE67-E0907059DC54}"/>
              </a:ext>
            </a:extLst>
          </p:cNvPr>
          <p:cNvSpPr>
            <a:spLocks noGrp="1"/>
          </p:cNvSpPr>
          <p:nvPr>
            <p:ph sz="half" idx="1"/>
          </p:nvPr>
        </p:nvSpPr>
        <p:spPr>
          <a:xfrm>
            <a:off x="677334" y="2160588"/>
            <a:ext cx="5081440" cy="4512585"/>
          </a:xfrm>
        </p:spPr>
        <p:txBody>
          <a:bodyPr>
            <a:normAutofit fontScale="92500" lnSpcReduction="20000"/>
          </a:bodyPr>
          <a:lstStyle/>
          <a:p>
            <a:r>
              <a:rPr lang="en-GB" b="1" dirty="0"/>
              <a:t>RNN</a:t>
            </a:r>
          </a:p>
          <a:p>
            <a:pPr lvl="1"/>
            <a:r>
              <a:rPr lang="en-GB" b="1" dirty="0"/>
              <a:t>temporal dependency</a:t>
            </a:r>
          </a:p>
          <a:p>
            <a:pPr lvl="1"/>
            <a:r>
              <a:rPr lang="en-GB" dirty="0"/>
              <a:t>=</a:t>
            </a:r>
          </a:p>
          <a:p>
            <a:pPr lvl="1"/>
            <a:r>
              <a:rPr lang="en-GB" dirty="0"/>
              <a:t>state propagation</a:t>
            </a:r>
          </a:p>
          <a:p>
            <a:pPr lvl="1"/>
            <a:r>
              <a:rPr lang="en-GB" dirty="0"/>
              <a:t>Strength:</a:t>
            </a:r>
          </a:p>
          <a:p>
            <a:pPr lvl="1"/>
            <a:r>
              <a:rPr lang="en-GB" dirty="0"/>
              <a:t>natural streaming state. </a:t>
            </a:r>
          </a:p>
          <a:p>
            <a:endParaRPr lang="en-GB" b="1" dirty="0"/>
          </a:p>
          <a:p>
            <a:r>
              <a:rPr lang="en-GB" b="1" dirty="0"/>
              <a:t>CNN / TCN</a:t>
            </a:r>
          </a:p>
          <a:p>
            <a:pPr lvl="1"/>
            <a:r>
              <a:rPr lang="en-GB" b="1" dirty="0"/>
              <a:t>temporal dependency</a:t>
            </a:r>
          </a:p>
          <a:p>
            <a:pPr lvl="1"/>
            <a:r>
              <a:rPr lang="en-GB" dirty="0"/>
              <a:t>=</a:t>
            </a:r>
          </a:p>
          <a:p>
            <a:pPr lvl="1"/>
            <a:r>
              <a:rPr lang="en-GB" dirty="0"/>
              <a:t>convolutional receptive field</a:t>
            </a:r>
          </a:p>
          <a:p>
            <a:pPr lvl="1"/>
            <a:r>
              <a:rPr lang="en-GB" dirty="0"/>
              <a:t>Strength:</a:t>
            </a:r>
          </a:p>
          <a:p>
            <a:pPr lvl="1"/>
            <a:r>
              <a:rPr lang="en-GB" dirty="0"/>
              <a:t>local pattern bias and efficient parallel computation. </a:t>
            </a:r>
          </a:p>
          <a:p>
            <a:endParaRPr lang="en-GB" dirty="0"/>
          </a:p>
        </p:txBody>
      </p:sp>
      <p:sp>
        <p:nvSpPr>
          <p:cNvPr id="4" name="Segnaposto contenuto 3">
            <a:extLst>
              <a:ext uri="{FF2B5EF4-FFF2-40B4-BE49-F238E27FC236}">
                <a16:creationId xmlns:a16="http://schemas.microsoft.com/office/drawing/2014/main" id="{5B94EF48-06CE-B8E1-6053-A78DC09B9788}"/>
              </a:ext>
            </a:extLst>
          </p:cNvPr>
          <p:cNvSpPr>
            <a:spLocks noGrp="1"/>
          </p:cNvSpPr>
          <p:nvPr>
            <p:ph sz="half" idx="2"/>
          </p:nvPr>
        </p:nvSpPr>
        <p:spPr>
          <a:xfrm>
            <a:off x="6658463" y="2160589"/>
            <a:ext cx="5231077" cy="4512585"/>
          </a:xfrm>
        </p:spPr>
        <p:txBody>
          <a:bodyPr>
            <a:normAutofit fontScale="92500" lnSpcReduction="20000"/>
          </a:bodyPr>
          <a:lstStyle/>
          <a:p>
            <a:r>
              <a:rPr lang="en-GB" b="1" dirty="0"/>
              <a:t>Transformer</a:t>
            </a:r>
          </a:p>
          <a:p>
            <a:pPr lvl="1"/>
            <a:r>
              <a:rPr lang="en-GB" b="1" dirty="0"/>
              <a:t>temporal dependency</a:t>
            </a:r>
          </a:p>
          <a:p>
            <a:pPr lvl="1"/>
            <a:r>
              <a:rPr lang="en-GB" dirty="0"/>
              <a:t>=</a:t>
            </a:r>
          </a:p>
          <a:p>
            <a:pPr lvl="1"/>
            <a:r>
              <a:rPr lang="en-GB" dirty="0"/>
              <a:t>attention among represented positions</a:t>
            </a:r>
          </a:p>
          <a:p>
            <a:pPr lvl="1"/>
            <a:r>
              <a:rPr lang="en-GB" dirty="0"/>
              <a:t>Strength:</a:t>
            </a:r>
          </a:p>
          <a:p>
            <a:pPr lvl="1"/>
            <a:r>
              <a:rPr lang="en-GB" dirty="0"/>
              <a:t>flexible and direct interaction across positions. </a:t>
            </a:r>
          </a:p>
          <a:p>
            <a:endParaRPr lang="en-GB" b="1" dirty="0"/>
          </a:p>
          <a:p>
            <a:r>
              <a:rPr lang="en-GB" dirty="0">
                <a:highlight>
                  <a:srgbClr val="FFFF00"/>
                </a:highlight>
              </a:rPr>
              <a:t>These mechanisms provide different </a:t>
            </a:r>
            <a:r>
              <a:rPr lang="en-GB" b="1" dirty="0">
                <a:highlight>
                  <a:srgbClr val="FFFF00"/>
                </a:highlight>
              </a:rPr>
              <a:t>inductive biases</a:t>
            </a:r>
            <a:r>
              <a:rPr lang="en-GB" dirty="0">
                <a:highlight>
                  <a:srgbClr val="FFFF00"/>
                </a:highlight>
              </a:rPr>
              <a:t>.</a:t>
            </a:r>
          </a:p>
          <a:p>
            <a:r>
              <a:rPr lang="en-GB" dirty="0"/>
              <a:t>None is universally superior.</a:t>
            </a:r>
          </a:p>
          <a:p>
            <a:endParaRPr lang="en-GB" dirty="0"/>
          </a:p>
        </p:txBody>
      </p:sp>
    </p:spTree>
    <p:extLst>
      <p:ext uri="{BB962C8B-B14F-4D97-AF65-F5344CB8AC3E}">
        <p14:creationId xmlns:p14="http://schemas.microsoft.com/office/powerpoint/2010/main" val="152497943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Shape 0"/>
          <p:cNvSpPr/>
          <p:nvPr/>
        </p:nvSpPr>
        <p:spPr>
          <a:xfrm>
            <a:off x="11905560" y="0"/>
            <a:ext cx="282960" cy="6857640"/>
          </a:xfrm>
          <a:prstGeom prst="rect">
            <a:avLst/>
          </a:prstGeom>
          <a:solidFill>
            <a:srgbClr val="82B622"/>
          </a:solidFill>
          <a:ln w="12700">
            <a:solidFill>
              <a:srgbClr val="82B6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4" name="Shape 1"/>
          <p:cNvSpPr/>
          <p:nvPr/>
        </p:nvSpPr>
        <p:spPr>
          <a:xfrm>
            <a:off x="658440" y="6464880"/>
            <a:ext cx="10423800" cy="255600"/>
          </a:xfrm>
          <a:prstGeom prst="rect">
            <a:avLst/>
          </a:prstGeom>
          <a:solidFill>
            <a:srgbClr val="F8FAFC"/>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5" name="Text 2"/>
          <p:cNvSpPr/>
          <p:nvPr/>
        </p:nvSpPr>
        <p:spPr>
          <a:xfrm>
            <a:off x="502920" y="320040"/>
            <a:ext cx="10606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F172A"/>
                </a:solidFill>
                <a:effectLst/>
                <a:uFillTx/>
                <a:latin typeface="Arial"/>
                <a:ea typeface="Arial"/>
              </a:rPr>
              <a:t>RNN, CNN and Transformer: three temporal mechanisms</a:t>
            </a:r>
            <a:endParaRPr lang="it-IT" sz="2100" b="0" u="none" strike="noStrike">
              <a:solidFill>
                <a:srgbClr val="000000"/>
              </a:solidFill>
              <a:effectLst/>
              <a:uFillTx/>
              <a:latin typeface="Arial"/>
            </a:endParaRPr>
          </a:p>
        </p:txBody>
      </p:sp>
      <p:sp>
        <p:nvSpPr>
          <p:cNvPr id="306" name="Text 3"/>
          <p:cNvSpPr/>
          <p:nvPr/>
        </p:nvSpPr>
        <p:spPr>
          <a:xfrm>
            <a:off x="502920" y="777240"/>
            <a:ext cx="10240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dirty="0">
                <a:solidFill>
                  <a:srgbClr val="475569"/>
                </a:solidFill>
                <a:effectLst/>
                <a:uFillTx/>
                <a:latin typeface="Arial"/>
                <a:ea typeface="Arial"/>
              </a:rPr>
              <a:t>The architectures differ in their inductive bias for representing temporal dependencies.</a:t>
            </a:r>
            <a:endParaRPr lang="it-IT" sz="1050" b="1" u="none" strike="noStrike" dirty="0">
              <a:solidFill>
                <a:srgbClr val="000000"/>
              </a:solidFill>
              <a:effectLst/>
              <a:uFillTx/>
              <a:latin typeface="Arial"/>
            </a:endParaRPr>
          </a:p>
        </p:txBody>
      </p:sp>
      <p:sp>
        <p:nvSpPr>
          <p:cNvPr id="307" name="Shape 4"/>
          <p:cNvSpPr/>
          <p:nvPr/>
        </p:nvSpPr>
        <p:spPr>
          <a:xfrm>
            <a:off x="731520" y="1280160"/>
            <a:ext cx="3017160" cy="44344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8" name="Text 5"/>
          <p:cNvSpPr/>
          <p:nvPr/>
        </p:nvSpPr>
        <p:spPr>
          <a:xfrm>
            <a:off x="960120" y="1508760"/>
            <a:ext cx="2559960" cy="41112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RNN / LSTM / GRU</a:t>
            </a:r>
            <a:endParaRPr lang="it-IT" sz="1100" b="0" u="none" strike="noStrike">
              <a:solidFill>
                <a:srgbClr val="000000"/>
              </a:solidFill>
              <a:effectLst/>
              <a:uFillTx/>
              <a:latin typeface="Arial"/>
            </a:endParaRPr>
          </a:p>
        </p:txBody>
      </p:sp>
      <p:sp>
        <p:nvSpPr>
          <p:cNvPr id="309" name="Text 6"/>
          <p:cNvSpPr/>
          <p:nvPr/>
        </p:nvSpPr>
        <p:spPr>
          <a:xfrm>
            <a:off x="960120" y="1993320"/>
            <a:ext cx="2559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3B82F6"/>
                </a:solidFill>
                <a:effectLst/>
                <a:uFillTx/>
                <a:latin typeface="Arial"/>
                <a:ea typeface="Arial"/>
              </a:rPr>
              <a:t>state propagation</a:t>
            </a:r>
            <a:endParaRPr lang="it-IT" sz="850" b="0" u="none" strike="noStrike">
              <a:solidFill>
                <a:srgbClr val="000000"/>
              </a:solidFill>
              <a:effectLst/>
              <a:uFillTx/>
              <a:latin typeface="Arial"/>
            </a:endParaRPr>
          </a:p>
        </p:txBody>
      </p:sp>
      <p:sp>
        <p:nvSpPr>
          <p:cNvPr id="310" name="Shape 7"/>
          <p:cNvSpPr/>
          <p:nvPr/>
        </p:nvSpPr>
        <p:spPr>
          <a:xfrm>
            <a:off x="4251960" y="1280160"/>
            <a:ext cx="3017160" cy="44344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1" name="Text 8"/>
          <p:cNvSpPr/>
          <p:nvPr/>
        </p:nvSpPr>
        <p:spPr>
          <a:xfrm>
            <a:off x="4480560" y="1508760"/>
            <a:ext cx="2559960" cy="41112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CNN / TCN</a:t>
            </a:r>
            <a:endParaRPr lang="it-IT" sz="1100" b="0" u="none" strike="noStrike">
              <a:solidFill>
                <a:srgbClr val="000000"/>
              </a:solidFill>
              <a:effectLst/>
              <a:uFillTx/>
              <a:latin typeface="Arial"/>
            </a:endParaRPr>
          </a:p>
        </p:txBody>
      </p:sp>
      <p:sp>
        <p:nvSpPr>
          <p:cNvPr id="312" name="Text 9"/>
          <p:cNvSpPr/>
          <p:nvPr/>
        </p:nvSpPr>
        <p:spPr>
          <a:xfrm>
            <a:off x="4480560" y="1993320"/>
            <a:ext cx="2559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65A30D"/>
                </a:solidFill>
                <a:effectLst/>
                <a:uFillTx/>
                <a:latin typeface="Arial"/>
                <a:ea typeface="Arial"/>
              </a:rPr>
              <a:t>convolutional receptive field</a:t>
            </a:r>
            <a:endParaRPr lang="it-IT" sz="850" b="0" u="none" strike="noStrike">
              <a:solidFill>
                <a:srgbClr val="000000"/>
              </a:solidFill>
              <a:effectLst/>
              <a:uFillTx/>
              <a:latin typeface="Arial"/>
            </a:endParaRPr>
          </a:p>
        </p:txBody>
      </p:sp>
      <p:sp>
        <p:nvSpPr>
          <p:cNvPr id="313" name="Shape 10"/>
          <p:cNvSpPr/>
          <p:nvPr/>
        </p:nvSpPr>
        <p:spPr>
          <a:xfrm>
            <a:off x="7772400" y="1280160"/>
            <a:ext cx="3017160" cy="44344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14" name="Text 11"/>
          <p:cNvSpPr/>
          <p:nvPr/>
        </p:nvSpPr>
        <p:spPr>
          <a:xfrm>
            <a:off x="8001000" y="1508760"/>
            <a:ext cx="2559960" cy="4111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1100" b="1" u="none" strike="noStrike">
                <a:solidFill>
                  <a:srgbClr val="0F172A"/>
                </a:solidFill>
                <a:effectLst/>
                <a:uFillTx/>
                <a:latin typeface="Arial"/>
                <a:ea typeface="Arial"/>
              </a:rPr>
              <a:t>Transformer</a:t>
            </a:r>
            <a:endParaRPr lang="it-IT" sz="1100" b="0" u="none" strike="noStrike">
              <a:solidFill>
                <a:srgbClr val="000000"/>
              </a:solidFill>
              <a:effectLst/>
              <a:uFillTx/>
              <a:latin typeface="Arial"/>
            </a:endParaRPr>
          </a:p>
        </p:txBody>
      </p:sp>
      <p:sp>
        <p:nvSpPr>
          <p:cNvPr id="315" name="Text 12"/>
          <p:cNvSpPr/>
          <p:nvPr/>
        </p:nvSpPr>
        <p:spPr>
          <a:xfrm>
            <a:off x="8001000" y="1993320"/>
            <a:ext cx="2559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8B5CF6"/>
                </a:solidFill>
                <a:effectLst/>
                <a:uFillTx/>
                <a:latin typeface="Arial"/>
                <a:ea typeface="Arial"/>
              </a:rPr>
              <a:t>attention among positions</a:t>
            </a:r>
            <a:endParaRPr lang="it-IT" sz="850" b="0" u="none" strike="noStrike">
              <a:solidFill>
                <a:srgbClr val="000000"/>
              </a:solidFill>
              <a:effectLst/>
              <a:uFillTx/>
              <a:latin typeface="Arial"/>
            </a:endParaRPr>
          </a:p>
        </p:txBody>
      </p:sp>
      <p:sp>
        <p:nvSpPr>
          <p:cNvPr id="316" name="Text 13"/>
          <p:cNvSpPr/>
          <p:nvPr/>
        </p:nvSpPr>
        <p:spPr>
          <a:xfrm>
            <a:off x="1051560" y="2853000"/>
            <a:ext cx="411120" cy="319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h1</a:t>
            </a:r>
            <a:endParaRPr lang="it-IT" sz="700" b="0" u="none" strike="noStrike">
              <a:solidFill>
                <a:srgbClr val="000000"/>
              </a:solidFill>
              <a:effectLst/>
              <a:uFillTx/>
              <a:latin typeface="Arial"/>
            </a:endParaRPr>
          </a:p>
        </p:txBody>
      </p:sp>
      <p:sp>
        <p:nvSpPr>
          <p:cNvPr id="317" name="Shape 14"/>
          <p:cNvSpPr/>
          <p:nvPr/>
        </p:nvSpPr>
        <p:spPr>
          <a:xfrm>
            <a:off x="1481040" y="3017520"/>
            <a:ext cx="128160" cy="36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18" name="Text 15"/>
          <p:cNvSpPr/>
          <p:nvPr/>
        </p:nvSpPr>
        <p:spPr>
          <a:xfrm>
            <a:off x="1051560" y="2258640"/>
            <a:ext cx="411120" cy="2923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00" b="1" u="none" strike="noStrike">
                <a:solidFill>
                  <a:srgbClr val="0F172A"/>
                </a:solidFill>
                <a:effectLst/>
                <a:uFillTx/>
                <a:latin typeface="Arial"/>
                <a:ea typeface="Arial"/>
              </a:rPr>
              <a:t>x1</a:t>
            </a:r>
            <a:endParaRPr lang="it-IT" sz="600" b="0" u="none" strike="noStrike">
              <a:solidFill>
                <a:srgbClr val="000000"/>
              </a:solidFill>
              <a:effectLst/>
              <a:uFillTx/>
              <a:latin typeface="Arial"/>
            </a:endParaRPr>
          </a:p>
        </p:txBody>
      </p:sp>
      <p:sp>
        <p:nvSpPr>
          <p:cNvPr id="319" name="Shape 16"/>
          <p:cNvSpPr/>
          <p:nvPr/>
        </p:nvSpPr>
        <p:spPr>
          <a:xfrm>
            <a:off x="1252440" y="2596680"/>
            <a:ext cx="360" cy="237960"/>
          </a:xfrm>
          <a:prstGeom prst="line">
            <a:avLst/>
          </a:prstGeom>
          <a:ln w="889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20" name="Text 17"/>
          <p:cNvSpPr/>
          <p:nvPr/>
        </p:nvSpPr>
        <p:spPr>
          <a:xfrm>
            <a:off x="1645920" y="2853000"/>
            <a:ext cx="411120" cy="319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h2</a:t>
            </a:r>
            <a:endParaRPr lang="it-IT" sz="700" b="0" u="none" strike="noStrike">
              <a:solidFill>
                <a:srgbClr val="000000"/>
              </a:solidFill>
              <a:effectLst/>
              <a:uFillTx/>
              <a:latin typeface="Arial"/>
            </a:endParaRPr>
          </a:p>
        </p:txBody>
      </p:sp>
      <p:sp>
        <p:nvSpPr>
          <p:cNvPr id="321" name="Shape 18"/>
          <p:cNvSpPr/>
          <p:nvPr/>
        </p:nvSpPr>
        <p:spPr>
          <a:xfrm>
            <a:off x="2075400" y="3017520"/>
            <a:ext cx="128160" cy="36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22" name="Text 19"/>
          <p:cNvSpPr/>
          <p:nvPr/>
        </p:nvSpPr>
        <p:spPr>
          <a:xfrm>
            <a:off x="1645920" y="2258640"/>
            <a:ext cx="411120" cy="2923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00" b="1" u="none" strike="noStrike">
                <a:solidFill>
                  <a:srgbClr val="0F172A"/>
                </a:solidFill>
                <a:effectLst/>
                <a:uFillTx/>
                <a:latin typeface="Arial"/>
                <a:ea typeface="Arial"/>
              </a:rPr>
              <a:t>x2</a:t>
            </a:r>
            <a:endParaRPr lang="it-IT" sz="600" b="0" u="none" strike="noStrike">
              <a:solidFill>
                <a:srgbClr val="000000"/>
              </a:solidFill>
              <a:effectLst/>
              <a:uFillTx/>
              <a:latin typeface="Arial"/>
            </a:endParaRPr>
          </a:p>
        </p:txBody>
      </p:sp>
      <p:sp>
        <p:nvSpPr>
          <p:cNvPr id="323" name="Shape 20"/>
          <p:cNvSpPr/>
          <p:nvPr/>
        </p:nvSpPr>
        <p:spPr>
          <a:xfrm>
            <a:off x="1846800" y="2596680"/>
            <a:ext cx="360" cy="237960"/>
          </a:xfrm>
          <a:prstGeom prst="line">
            <a:avLst/>
          </a:prstGeom>
          <a:ln w="889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24" name="Text 21"/>
          <p:cNvSpPr/>
          <p:nvPr/>
        </p:nvSpPr>
        <p:spPr>
          <a:xfrm>
            <a:off x="2240280" y="2853000"/>
            <a:ext cx="411120" cy="319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h3</a:t>
            </a:r>
            <a:endParaRPr lang="it-IT" sz="700" b="0" u="none" strike="noStrike">
              <a:solidFill>
                <a:srgbClr val="000000"/>
              </a:solidFill>
              <a:effectLst/>
              <a:uFillTx/>
              <a:latin typeface="Arial"/>
            </a:endParaRPr>
          </a:p>
        </p:txBody>
      </p:sp>
      <p:sp>
        <p:nvSpPr>
          <p:cNvPr id="325" name="Shape 22"/>
          <p:cNvSpPr/>
          <p:nvPr/>
        </p:nvSpPr>
        <p:spPr>
          <a:xfrm>
            <a:off x="2669760" y="3017520"/>
            <a:ext cx="128160" cy="360"/>
          </a:xfrm>
          <a:prstGeom prst="line">
            <a:avLst/>
          </a:prstGeom>
          <a:ln w="10160">
            <a:solidFill>
              <a:srgbClr val="3B82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26" name="Text 23"/>
          <p:cNvSpPr/>
          <p:nvPr/>
        </p:nvSpPr>
        <p:spPr>
          <a:xfrm>
            <a:off x="2240280" y="2258640"/>
            <a:ext cx="411120" cy="2923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00" b="1" u="none" strike="noStrike">
                <a:solidFill>
                  <a:srgbClr val="0F172A"/>
                </a:solidFill>
                <a:effectLst/>
                <a:uFillTx/>
                <a:latin typeface="Arial"/>
                <a:ea typeface="Arial"/>
              </a:rPr>
              <a:t>x3</a:t>
            </a:r>
            <a:endParaRPr lang="it-IT" sz="600" b="0" u="none" strike="noStrike">
              <a:solidFill>
                <a:srgbClr val="000000"/>
              </a:solidFill>
              <a:effectLst/>
              <a:uFillTx/>
              <a:latin typeface="Arial"/>
            </a:endParaRPr>
          </a:p>
        </p:txBody>
      </p:sp>
      <p:sp>
        <p:nvSpPr>
          <p:cNvPr id="327" name="Shape 24"/>
          <p:cNvSpPr/>
          <p:nvPr/>
        </p:nvSpPr>
        <p:spPr>
          <a:xfrm>
            <a:off x="2441160" y="2596680"/>
            <a:ext cx="360" cy="237960"/>
          </a:xfrm>
          <a:prstGeom prst="line">
            <a:avLst/>
          </a:prstGeom>
          <a:ln w="889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28" name="Text 25"/>
          <p:cNvSpPr/>
          <p:nvPr/>
        </p:nvSpPr>
        <p:spPr>
          <a:xfrm>
            <a:off x="2834640" y="2853000"/>
            <a:ext cx="411120" cy="319680"/>
          </a:xfrm>
          <a:prstGeom prst="rect">
            <a:avLst/>
          </a:prstGeom>
          <a:solidFill>
            <a:srgbClr val="DBEAFE"/>
          </a:solidFill>
          <a:ln w="12700">
            <a:solidFill>
              <a:srgbClr val="3B82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00" b="1" u="none" strike="noStrike">
                <a:solidFill>
                  <a:srgbClr val="0F172A"/>
                </a:solidFill>
                <a:effectLst/>
                <a:uFillTx/>
                <a:latin typeface="Arial"/>
                <a:ea typeface="Arial"/>
              </a:rPr>
              <a:t>h4</a:t>
            </a:r>
            <a:endParaRPr lang="it-IT" sz="700" b="0" u="none" strike="noStrike">
              <a:solidFill>
                <a:srgbClr val="000000"/>
              </a:solidFill>
              <a:effectLst/>
              <a:uFillTx/>
              <a:latin typeface="Arial"/>
            </a:endParaRPr>
          </a:p>
        </p:txBody>
      </p:sp>
      <p:sp>
        <p:nvSpPr>
          <p:cNvPr id="329" name="Text 26"/>
          <p:cNvSpPr/>
          <p:nvPr/>
        </p:nvSpPr>
        <p:spPr>
          <a:xfrm>
            <a:off x="2834640" y="2258640"/>
            <a:ext cx="411120" cy="292320"/>
          </a:xfrm>
          <a:prstGeom prst="rect">
            <a:avLst/>
          </a:prstGeom>
          <a:solidFill>
            <a:srgbClr val="F8FAFC"/>
          </a:solidFill>
          <a:ln w="12700">
            <a:solidFill>
              <a:srgbClr val="475569"/>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600" b="1" u="none" strike="noStrike">
                <a:solidFill>
                  <a:srgbClr val="0F172A"/>
                </a:solidFill>
                <a:effectLst/>
                <a:uFillTx/>
                <a:latin typeface="Arial"/>
                <a:ea typeface="Arial"/>
              </a:rPr>
              <a:t>x4</a:t>
            </a:r>
            <a:endParaRPr lang="it-IT" sz="600" b="0" u="none" strike="noStrike">
              <a:solidFill>
                <a:srgbClr val="000000"/>
              </a:solidFill>
              <a:effectLst/>
              <a:uFillTx/>
              <a:latin typeface="Arial"/>
            </a:endParaRPr>
          </a:p>
        </p:txBody>
      </p:sp>
      <p:sp>
        <p:nvSpPr>
          <p:cNvPr id="330" name="Shape 27"/>
          <p:cNvSpPr/>
          <p:nvPr/>
        </p:nvSpPr>
        <p:spPr>
          <a:xfrm>
            <a:off x="3035520" y="2596680"/>
            <a:ext cx="360" cy="237960"/>
          </a:xfrm>
          <a:prstGeom prst="line">
            <a:avLst/>
          </a:prstGeom>
          <a:ln w="8890">
            <a:solidFill>
              <a:srgbClr val="47556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1" name="Text 28"/>
          <p:cNvSpPr/>
          <p:nvPr/>
        </p:nvSpPr>
        <p:spPr>
          <a:xfrm>
            <a:off x="1005840" y="3657600"/>
            <a:ext cx="2011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u="none" strike="noStrike">
                <a:solidFill>
                  <a:srgbClr val="3B82F6"/>
                </a:solidFill>
                <a:effectLst/>
                <a:uFillTx/>
                <a:latin typeface="Arial"/>
                <a:ea typeface="Arial"/>
              </a:rPr>
              <a:t>sequential dependency</a:t>
            </a:r>
            <a:endParaRPr lang="it-IT" sz="900" b="0" u="none" strike="noStrike">
              <a:solidFill>
                <a:srgbClr val="000000"/>
              </a:solidFill>
              <a:effectLst/>
              <a:uFillTx/>
              <a:latin typeface="Arial"/>
            </a:endParaRPr>
          </a:p>
        </p:txBody>
      </p:sp>
      <p:sp>
        <p:nvSpPr>
          <p:cNvPr id="332" name="Shape 29"/>
          <p:cNvSpPr/>
          <p:nvPr/>
        </p:nvSpPr>
        <p:spPr>
          <a:xfrm>
            <a:off x="4572000" y="2743200"/>
            <a:ext cx="2194560" cy="360"/>
          </a:xfrm>
          <a:prstGeom prst="line">
            <a:avLst/>
          </a:prstGeom>
          <a:ln w="1524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33" name="Shape 30"/>
          <p:cNvSpPr/>
          <p:nvPr/>
        </p:nvSpPr>
        <p:spPr>
          <a:xfrm>
            <a:off x="457200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34" name="Shape 31"/>
          <p:cNvSpPr/>
          <p:nvPr/>
        </p:nvSpPr>
        <p:spPr>
          <a:xfrm>
            <a:off x="489204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35" name="Shape 32"/>
          <p:cNvSpPr/>
          <p:nvPr/>
        </p:nvSpPr>
        <p:spPr>
          <a:xfrm>
            <a:off x="521208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36" name="Shape 33"/>
          <p:cNvSpPr/>
          <p:nvPr/>
        </p:nvSpPr>
        <p:spPr>
          <a:xfrm>
            <a:off x="553212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37" name="Shape 34"/>
          <p:cNvSpPr/>
          <p:nvPr/>
        </p:nvSpPr>
        <p:spPr>
          <a:xfrm>
            <a:off x="585216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38" name="Shape 35"/>
          <p:cNvSpPr/>
          <p:nvPr/>
        </p:nvSpPr>
        <p:spPr>
          <a:xfrm>
            <a:off x="617220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39" name="Shape 36"/>
          <p:cNvSpPr/>
          <p:nvPr/>
        </p:nvSpPr>
        <p:spPr>
          <a:xfrm>
            <a:off x="6492240" y="2670120"/>
            <a:ext cx="145800" cy="145800"/>
          </a:xfrm>
          <a:prstGeom prst="ellipse">
            <a:avLst/>
          </a:prstGeom>
          <a:solidFill>
            <a:srgbClr val="65A30D"/>
          </a:solidFill>
          <a:ln w="1270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FFFFFF"/>
              </a:solidFill>
              <a:effectLst/>
              <a:uFillTx/>
              <a:latin typeface="Arial"/>
            </a:endParaRPr>
          </a:p>
        </p:txBody>
      </p:sp>
      <p:sp>
        <p:nvSpPr>
          <p:cNvPr id="340" name="Shape 37"/>
          <p:cNvSpPr/>
          <p:nvPr/>
        </p:nvSpPr>
        <p:spPr>
          <a:xfrm>
            <a:off x="5074920" y="2423160"/>
            <a:ext cx="959760" cy="639720"/>
          </a:xfrm>
          <a:prstGeom prst="rect">
            <a:avLst/>
          </a:prstGeom>
          <a:noFill/>
          <a:ln w="19050">
            <a:solidFill>
              <a:srgbClr val="65A3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1" name="Shape 38"/>
          <p:cNvSpPr/>
          <p:nvPr/>
        </p:nvSpPr>
        <p:spPr>
          <a:xfrm>
            <a:off x="5577840" y="3200400"/>
            <a:ext cx="360" cy="548640"/>
          </a:xfrm>
          <a:prstGeom prst="line">
            <a:avLst/>
          </a:prstGeom>
          <a:ln w="12700">
            <a:solidFill>
              <a:srgbClr val="65A3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42" name="Text 39"/>
          <p:cNvSpPr/>
          <p:nvPr/>
        </p:nvSpPr>
        <p:spPr>
          <a:xfrm>
            <a:off x="4983480" y="3840480"/>
            <a:ext cx="1188360" cy="319680"/>
          </a:xfrm>
          <a:prstGeom prst="rect">
            <a:avLst/>
          </a:prstGeom>
          <a:solidFill>
            <a:srgbClr val="EAF7D2"/>
          </a:solidFill>
          <a:ln w="12700">
            <a:solidFill>
              <a:srgbClr val="65A30D"/>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800" b="1" u="none" strike="noStrike">
                <a:solidFill>
                  <a:srgbClr val="0F172A"/>
                </a:solidFill>
                <a:effectLst/>
                <a:uFillTx/>
                <a:latin typeface="Arial"/>
                <a:ea typeface="Arial"/>
              </a:rPr>
              <a:t>feature map</a:t>
            </a:r>
            <a:endParaRPr lang="it-IT" sz="800" b="0" u="none" strike="noStrike">
              <a:solidFill>
                <a:srgbClr val="000000"/>
              </a:solidFill>
              <a:effectLst/>
              <a:uFillTx/>
              <a:latin typeface="Arial"/>
            </a:endParaRPr>
          </a:p>
        </p:txBody>
      </p:sp>
      <p:sp>
        <p:nvSpPr>
          <p:cNvPr id="343" name="Text 40"/>
          <p:cNvSpPr/>
          <p:nvPr/>
        </p:nvSpPr>
        <p:spPr>
          <a:xfrm>
            <a:off x="4526280" y="4480560"/>
            <a:ext cx="2148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u="none" strike="noStrike">
                <a:solidFill>
                  <a:srgbClr val="65A30D"/>
                </a:solidFill>
                <a:effectLst/>
                <a:uFillTx/>
                <a:latin typeface="Arial"/>
                <a:ea typeface="Arial"/>
              </a:rPr>
              <a:t>local filters, depth/dilation</a:t>
            </a:r>
            <a:endParaRPr lang="it-IT" sz="900" b="0" u="none" strike="noStrike">
              <a:solidFill>
                <a:srgbClr val="000000"/>
              </a:solidFill>
              <a:effectLst/>
              <a:uFillTx/>
              <a:latin typeface="Arial"/>
            </a:endParaRPr>
          </a:p>
        </p:txBody>
      </p:sp>
      <p:sp>
        <p:nvSpPr>
          <p:cNvPr id="344" name="Text 41"/>
          <p:cNvSpPr/>
          <p:nvPr/>
        </p:nvSpPr>
        <p:spPr>
          <a:xfrm>
            <a:off x="8092440" y="2743200"/>
            <a:ext cx="319680" cy="2923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550" b="1" u="none" strike="noStrike">
                <a:solidFill>
                  <a:srgbClr val="0F172A"/>
                </a:solidFill>
                <a:effectLst/>
                <a:uFillTx/>
                <a:latin typeface="Arial"/>
                <a:ea typeface="Arial"/>
              </a:rPr>
              <a:t>x1</a:t>
            </a:r>
            <a:endParaRPr lang="it-IT" sz="550" b="0" u="none" strike="noStrike">
              <a:solidFill>
                <a:srgbClr val="000000"/>
              </a:solidFill>
              <a:effectLst/>
              <a:uFillTx/>
              <a:latin typeface="Arial"/>
            </a:endParaRPr>
          </a:p>
        </p:txBody>
      </p:sp>
      <p:sp>
        <p:nvSpPr>
          <p:cNvPr id="345" name="Text 42"/>
          <p:cNvSpPr/>
          <p:nvPr/>
        </p:nvSpPr>
        <p:spPr>
          <a:xfrm>
            <a:off x="8503920" y="2743200"/>
            <a:ext cx="319680" cy="2923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550" b="1" u="none" strike="noStrike">
                <a:solidFill>
                  <a:srgbClr val="0F172A"/>
                </a:solidFill>
                <a:effectLst/>
                <a:uFillTx/>
                <a:latin typeface="Arial"/>
                <a:ea typeface="Arial"/>
              </a:rPr>
              <a:t>x2</a:t>
            </a:r>
            <a:endParaRPr lang="it-IT" sz="550" b="0" u="none" strike="noStrike">
              <a:solidFill>
                <a:srgbClr val="000000"/>
              </a:solidFill>
              <a:effectLst/>
              <a:uFillTx/>
              <a:latin typeface="Arial"/>
            </a:endParaRPr>
          </a:p>
        </p:txBody>
      </p:sp>
      <p:sp>
        <p:nvSpPr>
          <p:cNvPr id="346" name="Text 43"/>
          <p:cNvSpPr/>
          <p:nvPr/>
        </p:nvSpPr>
        <p:spPr>
          <a:xfrm>
            <a:off x="8915400" y="2743200"/>
            <a:ext cx="319680" cy="2923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550" b="1" u="none" strike="noStrike">
                <a:solidFill>
                  <a:srgbClr val="0F172A"/>
                </a:solidFill>
                <a:effectLst/>
                <a:uFillTx/>
                <a:latin typeface="Arial"/>
                <a:ea typeface="Arial"/>
              </a:rPr>
              <a:t>x3</a:t>
            </a:r>
            <a:endParaRPr lang="it-IT" sz="550" b="0" u="none" strike="noStrike">
              <a:solidFill>
                <a:srgbClr val="000000"/>
              </a:solidFill>
              <a:effectLst/>
              <a:uFillTx/>
              <a:latin typeface="Arial"/>
            </a:endParaRPr>
          </a:p>
        </p:txBody>
      </p:sp>
      <p:sp>
        <p:nvSpPr>
          <p:cNvPr id="347" name="Text 44"/>
          <p:cNvSpPr/>
          <p:nvPr/>
        </p:nvSpPr>
        <p:spPr>
          <a:xfrm>
            <a:off x="9326880" y="2743200"/>
            <a:ext cx="319680" cy="2923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550" b="1" u="none" strike="noStrike">
                <a:solidFill>
                  <a:srgbClr val="0F172A"/>
                </a:solidFill>
                <a:effectLst/>
                <a:uFillTx/>
                <a:latin typeface="Arial"/>
                <a:ea typeface="Arial"/>
              </a:rPr>
              <a:t>x4</a:t>
            </a:r>
            <a:endParaRPr lang="it-IT" sz="550" b="0" u="none" strike="noStrike">
              <a:solidFill>
                <a:srgbClr val="000000"/>
              </a:solidFill>
              <a:effectLst/>
              <a:uFillTx/>
              <a:latin typeface="Arial"/>
            </a:endParaRPr>
          </a:p>
        </p:txBody>
      </p:sp>
      <p:sp>
        <p:nvSpPr>
          <p:cNvPr id="348" name="Text 45"/>
          <p:cNvSpPr/>
          <p:nvPr/>
        </p:nvSpPr>
        <p:spPr>
          <a:xfrm>
            <a:off x="9738360" y="2743200"/>
            <a:ext cx="319680" cy="2923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550" b="1" u="none" strike="noStrike">
                <a:solidFill>
                  <a:srgbClr val="0F172A"/>
                </a:solidFill>
                <a:effectLst/>
                <a:uFillTx/>
                <a:latin typeface="Arial"/>
                <a:ea typeface="Arial"/>
              </a:rPr>
              <a:t>x5</a:t>
            </a:r>
            <a:endParaRPr lang="it-IT" sz="550" b="0" u="none" strike="noStrike">
              <a:solidFill>
                <a:srgbClr val="000000"/>
              </a:solidFill>
              <a:effectLst/>
              <a:uFillTx/>
              <a:latin typeface="Arial"/>
            </a:endParaRPr>
          </a:p>
        </p:txBody>
      </p:sp>
      <p:sp>
        <p:nvSpPr>
          <p:cNvPr id="349" name="Text 46"/>
          <p:cNvSpPr/>
          <p:nvPr/>
        </p:nvSpPr>
        <p:spPr>
          <a:xfrm>
            <a:off x="8915400" y="3703320"/>
            <a:ext cx="1005480" cy="411120"/>
          </a:xfrm>
          <a:prstGeom prst="rect">
            <a:avLst/>
          </a:prstGeom>
          <a:solidFill>
            <a:srgbClr val="F3E8FF"/>
          </a:solidFill>
          <a:ln w="12700">
            <a:solidFill>
              <a:srgbClr val="8B5CF6"/>
            </a:solidFill>
            <a:round/>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tabLst>
                <a:tab pos="0" algn="l"/>
              </a:tabLst>
            </a:pPr>
            <a:r>
              <a:rPr lang="en-US" sz="750" b="1" u="none" strike="noStrike">
                <a:solidFill>
                  <a:srgbClr val="0F172A"/>
                </a:solidFill>
                <a:effectLst/>
                <a:uFillTx/>
                <a:latin typeface="Arial"/>
                <a:ea typeface="Arial"/>
              </a:rPr>
              <a:t>representation</a:t>
            </a:r>
            <a:endParaRPr lang="it-IT" sz="750" b="0" u="none" strike="noStrike">
              <a:solidFill>
                <a:srgbClr val="000000"/>
              </a:solidFill>
              <a:effectLst/>
              <a:uFillTx/>
              <a:latin typeface="Arial"/>
            </a:endParaRPr>
          </a:p>
          <a:p>
            <a:pPr algn="ctr" defTabSz="914400">
              <a:lnSpc>
                <a:spcPct val="100000"/>
              </a:lnSpc>
              <a:tabLst>
                <a:tab pos="0" algn="l"/>
              </a:tabLst>
            </a:pPr>
            <a:r>
              <a:rPr lang="en-US" sz="750" b="1" u="none" strike="noStrike">
                <a:solidFill>
                  <a:srgbClr val="0F172A"/>
                </a:solidFill>
                <a:effectLst/>
                <a:uFillTx/>
                <a:latin typeface="Arial"/>
                <a:ea typeface="Arial"/>
              </a:rPr>
              <a:t>at t</a:t>
            </a:r>
            <a:endParaRPr lang="it-IT" sz="750" b="0" u="none" strike="noStrike">
              <a:solidFill>
                <a:srgbClr val="000000"/>
              </a:solidFill>
              <a:effectLst/>
              <a:uFillTx/>
              <a:latin typeface="Arial"/>
            </a:endParaRPr>
          </a:p>
        </p:txBody>
      </p:sp>
      <p:sp>
        <p:nvSpPr>
          <p:cNvPr id="350" name="Shape 47"/>
          <p:cNvSpPr/>
          <p:nvPr/>
        </p:nvSpPr>
        <p:spPr>
          <a:xfrm>
            <a:off x="8256960" y="3053880"/>
            <a:ext cx="1161360" cy="63108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1" name="Shape 48"/>
          <p:cNvSpPr/>
          <p:nvPr/>
        </p:nvSpPr>
        <p:spPr>
          <a:xfrm>
            <a:off x="8668440" y="3053880"/>
            <a:ext cx="749880" cy="63108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2" name="Shape 49"/>
          <p:cNvSpPr/>
          <p:nvPr/>
        </p:nvSpPr>
        <p:spPr>
          <a:xfrm>
            <a:off x="9079920" y="3053880"/>
            <a:ext cx="338400" cy="63108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3" name="Shape 50"/>
          <p:cNvSpPr/>
          <p:nvPr/>
        </p:nvSpPr>
        <p:spPr>
          <a:xfrm flipH="1">
            <a:off x="9418320" y="3053880"/>
            <a:ext cx="73080" cy="63108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4" name="Shape 51"/>
          <p:cNvSpPr/>
          <p:nvPr/>
        </p:nvSpPr>
        <p:spPr>
          <a:xfrm flipH="1">
            <a:off x="9418320" y="3053880"/>
            <a:ext cx="484560" cy="631080"/>
          </a:xfrm>
          <a:prstGeom prst="line">
            <a:avLst/>
          </a:prstGeom>
          <a:ln w="889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5" name="Text 52"/>
          <p:cNvSpPr/>
          <p:nvPr/>
        </p:nvSpPr>
        <p:spPr>
          <a:xfrm>
            <a:off x="8092440" y="4480560"/>
            <a:ext cx="2514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u="none" strike="noStrike" dirty="0">
                <a:solidFill>
                  <a:srgbClr val="8B5CF6"/>
                </a:solidFill>
                <a:effectLst/>
                <a:highlight>
                  <a:srgbClr val="FFFF00"/>
                </a:highlight>
                <a:uFillTx/>
                <a:latin typeface="Arial"/>
                <a:ea typeface="Arial"/>
              </a:rPr>
              <a:t>adaptive weighting of positions</a:t>
            </a:r>
            <a:endParaRPr lang="it-IT" sz="900" b="0" u="none" strike="noStrike" dirty="0">
              <a:solidFill>
                <a:srgbClr val="000000"/>
              </a:solidFill>
              <a:effectLst/>
              <a:highlight>
                <a:srgbClr val="FFFF00"/>
              </a:highlight>
              <a:uFillTx/>
              <a:latin typeface="Arial"/>
            </a:endParaRPr>
          </a:p>
        </p:txBody>
      </p:sp>
      <p:sp>
        <p:nvSpPr>
          <p:cNvPr id="356" name="Text 53"/>
          <p:cNvSpPr/>
          <p:nvPr/>
        </p:nvSpPr>
        <p:spPr>
          <a:xfrm>
            <a:off x="749880" y="6510600"/>
            <a:ext cx="10240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475569"/>
                </a:solidFill>
                <a:effectLst/>
                <a:uFillTx/>
                <a:latin typeface="Arial"/>
              </a:rPr>
              <a:t>These mechanisms are complementary inductive biases rather than a universal ranking of model quality.</a:t>
            </a:r>
            <a:endParaRPr lang="it-IT" sz="1000" b="0" u="none" strike="noStrike" dirty="0">
              <a:solidFill>
                <a:srgbClr val="000000"/>
              </a:solidFill>
              <a:effectLst/>
              <a:uFillTx/>
              <a:latin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122C30-39EE-B4CC-9699-EE86A8CB7344}"/>
              </a:ext>
            </a:extLst>
          </p:cNvPr>
          <p:cNvSpPr>
            <a:spLocks noGrp="1"/>
          </p:cNvSpPr>
          <p:nvPr>
            <p:ph type="title"/>
          </p:nvPr>
        </p:nvSpPr>
        <p:spPr/>
        <p:txBody>
          <a:bodyPr/>
          <a:lstStyle/>
          <a:p>
            <a:r>
              <a:rPr lang="en-GB" b="1" dirty="0"/>
              <a:t>Next question</a:t>
            </a:r>
            <a:br>
              <a:rPr lang="en-GB" b="1" dirty="0"/>
            </a:br>
            <a:endParaRPr lang="en-GB" dirty="0"/>
          </a:p>
        </p:txBody>
      </p:sp>
      <p:sp>
        <p:nvSpPr>
          <p:cNvPr id="3" name="Segnaposto contenuto 2">
            <a:extLst>
              <a:ext uri="{FF2B5EF4-FFF2-40B4-BE49-F238E27FC236}">
                <a16:creationId xmlns:a16="http://schemas.microsoft.com/office/drawing/2014/main" id="{D69B38FD-7254-F9F5-1096-B9A588B026A3}"/>
              </a:ext>
            </a:extLst>
          </p:cNvPr>
          <p:cNvSpPr>
            <a:spLocks noGrp="1"/>
          </p:cNvSpPr>
          <p:nvPr>
            <p:ph idx="1"/>
          </p:nvPr>
        </p:nvSpPr>
        <p:spPr/>
        <p:txBody>
          <a:bodyPr/>
          <a:lstStyle/>
          <a:p>
            <a:r>
              <a:rPr lang="en-GB" dirty="0"/>
              <a:t>Self-attention can connect many positions directly.</a:t>
            </a:r>
          </a:p>
          <a:p>
            <a:r>
              <a:rPr lang="en-GB" dirty="0"/>
              <a:t>But what happens when the temporal sequence contains thousands or tens of thousands of positions?</a:t>
            </a:r>
          </a:p>
          <a:p>
            <a:r>
              <a:rPr lang="en-GB" dirty="0"/>
              <a:t>This leads to the computational cost of attention.</a:t>
            </a:r>
          </a:p>
          <a:p>
            <a:endParaRPr lang="en-GB" dirty="0"/>
          </a:p>
        </p:txBody>
      </p:sp>
    </p:spTree>
    <p:extLst>
      <p:ext uri="{BB962C8B-B14F-4D97-AF65-F5344CB8AC3E}">
        <p14:creationId xmlns:p14="http://schemas.microsoft.com/office/powerpoint/2010/main" val="298526182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B5B06C-20AE-3F85-0F13-917E45E15DEE}"/>
              </a:ext>
            </a:extLst>
          </p:cNvPr>
          <p:cNvSpPr>
            <a:spLocks noGrp="1"/>
          </p:cNvSpPr>
          <p:nvPr>
            <p:ph type="title"/>
          </p:nvPr>
        </p:nvSpPr>
        <p:spPr/>
        <p:txBody>
          <a:bodyPr/>
          <a:lstStyle/>
          <a:p>
            <a:r>
              <a:rPr lang="en-GB" dirty="0"/>
              <a:t>Block 6.G — Computational Cost of Self-Attention</a:t>
            </a:r>
          </a:p>
        </p:txBody>
      </p:sp>
      <p:sp>
        <p:nvSpPr>
          <p:cNvPr id="3" name="Segnaposto contenuto 2">
            <a:extLst>
              <a:ext uri="{FF2B5EF4-FFF2-40B4-BE49-F238E27FC236}">
                <a16:creationId xmlns:a16="http://schemas.microsoft.com/office/drawing/2014/main" id="{68C40D57-93F4-2FF3-9D3F-A26B3528E6B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586590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EF289D-5564-9186-0512-E7D9CD9771AC}"/>
              </a:ext>
            </a:extLst>
          </p:cNvPr>
          <p:cNvSpPr>
            <a:spLocks noGrp="1"/>
          </p:cNvSpPr>
          <p:nvPr>
            <p:ph type="title"/>
          </p:nvPr>
        </p:nvSpPr>
        <p:spPr/>
        <p:txBody>
          <a:bodyPr/>
          <a:lstStyle/>
          <a:p>
            <a:r>
              <a:rPr lang="en-GB" dirty="0"/>
              <a:t>Self-attention compares many pairs of positions</a:t>
            </a:r>
          </a:p>
        </p:txBody>
      </p:sp>
      <p:sp>
        <p:nvSpPr>
          <p:cNvPr id="3" name="Segnaposto contenuto 2">
            <a:extLst>
              <a:ext uri="{FF2B5EF4-FFF2-40B4-BE49-F238E27FC236}">
                <a16:creationId xmlns:a16="http://schemas.microsoft.com/office/drawing/2014/main" id="{235C7A9B-4AB2-CD24-466E-34D6325C4119}"/>
              </a:ext>
            </a:extLst>
          </p:cNvPr>
          <p:cNvSpPr>
            <a:spLocks noGrp="1"/>
          </p:cNvSpPr>
          <p:nvPr>
            <p:ph sz="half" idx="1"/>
          </p:nvPr>
        </p:nvSpPr>
        <p:spPr>
          <a:xfrm>
            <a:off x="677334" y="2160589"/>
            <a:ext cx="5528913" cy="4590406"/>
          </a:xfrm>
        </p:spPr>
        <p:txBody>
          <a:bodyPr>
            <a:normAutofit/>
          </a:bodyPr>
          <a:lstStyle/>
          <a:p>
            <a:r>
              <a:rPr lang="en-GB" dirty="0"/>
              <a:t>Consider a sequence containing: L tokens.</a:t>
            </a:r>
          </a:p>
          <a:p>
            <a:r>
              <a:rPr lang="en-GB" dirty="0"/>
              <a:t>For every query position, self-attention can compare its query with the keys of all candidate positions.</a:t>
            </a:r>
          </a:p>
          <a:p>
            <a:r>
              <a:rPr lang="en-GB" dirty="0"/>
              <a:t>For full self-attention:</a:t>
            </a:r>
          </a:p>
          <a:p>
            <a:pPr lvl="1"/>
            <a:r>
              <a:rPr lang="en-GB" dirty="0"/>
              <a:t>Query 1 → compare with Keys 1 ... L</a:t>
            </a:r>
          </a:p>
          <a:p>
            <a:pPr lvl="1"/>
            <a:r>
              <a:rPr lang="en-GB" dirty="0"/>
              <a:t>Query 2 → compare with Keys 1 ... L</a:t>
            </a:r>
          </a:p>
          <a:p>
            <a:pPr lvl="1"/>
            <a:r>
              <a:rPr lang="en-GB" dirty="0"/>
              <a:t>...</a:t>
            </a:r>
          </a:p>
          <a:p>
            <a:pPr lvl="1"/>
            <a:r>
              <a:rPr lang="en-GB" dirty="0"/>
              <a:t>Query L → compare with Keys 1 ... L</a:t>
            </a:r>
          </a:p>
          <a:p>
            <a:r>
              <a:rPr lang="en-GB" dirty="0"/>
              <a:t>This produces an attention-score matrix of shape: [L, L]</a:t>
            </a:r>
          </a:p>
          <a:p>
            <a:endParaRPr lang="en-GB" dirty="0"/>
          </a:p>
        </p:txBody>
      </p:sp>
      <p:sp>
        <p:nvSpPr>
          <p:cNvPr id="4" name="Segnaposto contenuto 3">
            <a:extLst>
              <a:ext uri="{FF2B5EF4-FFF2-40B4-BE49-F238E27FC236}">
                <a16:creationId xmlns:a16="http://schemas.microsoft.com/office/drawing/2014/main" id="{3319F269-BAD1-A65A-1ECA-BA8413C212BD}"/>
              </a:ext>
            </a:extLst>
          </p:cNvPr>
          <p:cNvSpPr>
            <a:spLocks noGrp="1"/>
          </p:cNvSpPr>
          <p:nvPr>
            <p:ph sz="half" idx="2"/>
          </p:nvPr>
        </p:nvSpPr>
        <p:spPr>
          <a:xfrm>
            <a:off x="6648736" y="2142182"/>
            <a:ext cx="5250532" cy="4590407"/>
          </a:xfrm>
        </p:spPr>
        <p:txBody>
          <a:bodyPr>
            <a:normAutofit/>
          </a:bodyPr>
          <a:lstStyle/>
          <a:p>
            <a:r>
              <a:rPr lang="en-GB" b="1" dirty="0"/>
              <a:t>Example</a:t>
            </a:r>
          </a:p>
          <a:p>
            <a:r>
              <a:rPr lang="en-GB" dirty="0"/>
              <a:t>If: L = 100</a:t>
            </a:r>
          </a:p>
          <a:p>
            <a:r>
              <a:rPr lang="en-GB" dirty="0"/>
              <a:t>the attention matrix contains: 100 × 100 = 10,000 scores per attention head.</a:t>
            </a:r>
          </a:p>
          <a:p>
            <a:r>
              <a:rPr lang="en-GB" dirty="0"/>
              <a:t>If:</a:t>
            </a:r>
          </a:p>
          <a:p>
            <a:r>
              <a:rPr lang="en-GB" dirty="0"/>
              <a:t>L = 1,000, it contains: 1,000 × 1,000 = 1,000,000 scores.</a:t>
            </a:r>
          </a:p>
          <a:p>
            <a:pPr marL="0" indent="0">
              <a:buNone/>
            </a:pPr>
            <a:endParaRPr lang="en-GB" b="1" dirty="0"/>
          </a:p>
          <a:p>
            <a:r>
              <a:rPr lang="en-GB" b="1" dirty="0"/>
              <a:t>The flexibility of full self-attention comes from considering interactions among many pairs of temporal positions.</a:t>
            </a:r>
          </a:p>
          <a:p>
            <a:endParaRPr lang="en-GB" dirty="0"/>
          </a:p>
        </p:txBody>
      </p:sp>
    </p:spTree>
    <p:extLst>
      <p:ext uri="{BB962C8B-B14F-4D97-AF65-F5344CB8AC3E}">
        <p14:creationId xmlns:p14="http://schemas.microsoft.com/office/powerpoint/2010/main" val="34872739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Self-attention compares many pairs of positions</a:t>
            </a:r>
            <a:endParaRPr lang="it-IT" sz="2100" b="0" u="none" strike="noStrike">
              <a:solidFill>
                <a:srgbClr val="000000"/>
              </a:solidFill>
              <a:effectLst/>
              <a:uFillTx/>
              <a:latin typeface="Arial"/>
            </a:endParaRPr>
          </a:p>
        </p:txBody>
      </p:sp>
      <p:sp>
        <p:nvSpPr>
          <p:cNvPr id="10"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dirty="0">
                <a:solidFill>
                  <a:srgbClr val="667085"/>
                </a:solidFill>
                <a:effectLst/>
                <a:uFillTx/>
                <a:latin typeface="Aptos"/>
                <a:ea typeface="Aptos"/>
              </a:rPr>
              <a:t>Full attention creates one score for each query-key pair.</a:t>
            </a:r>
            <a:endParaRPr lang="it-IT" sz="900" b="1" u="none" strike="noStrike" dirty="0">
              <a:solidFill>
                <a:srgbClr val="000000"/>
              </a:solidFill>
              <a:effectLst/>
              <a:uFillTx/>
              <a:latin typeface="Arial"/>
            </a:endParaRPr>
          </a:p>
        </p:txBody>
      </p:sp>
      <p:sp>
        <p:nvSpPr>
          <p:cNvPr id="11"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2"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667085"/>
                </a:solidFill>
                <a:effectLst/>
                <a:uFillTx/>
                <a:latin typeface="Aptos"/>
                <a:ea typeface="Aptos"/>
              </a:rPr>
              <a:t>The score matrix has shape L × L for each attention head</a:t>
            </a:r>
            <a:endParaRPr lang="it-IT" sz="1000" b="1" u="none" strike="noStrike" dirty="0">
              <a:solidFill>
                <a:srgbClr val="000000"/>
              </a:solidFill>
              <a:effectLst/>
              <a:uFillTx/>
              <a:latin typeface="Arial"/>
            </a:endParaRPr>
          </a:p>
        </p:txBody>
      </p:sp>
      <p:sp>
        <p:nvSpPr>
          <p:cNvPr id="13" name="Shape 5"/>
          <p:cNvSpPr/>
          <p:nvPr/>
        </p:nvSpPr>
        <p:spPr>
          <a:xfrm>
            <a:off x="868680" y="1508760"/>
            <a:ext cx="328680" cy="255600"/>
          </a:xfrm>
          <a:prstGeom prst="roundRect">
            <a:avLst>
              <a:gd name="adj" fmla="val 2142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4" name="Text 6"/>
          <p:cNvSpPr/>
          <p:nvPr/>
        </p:nvSpPr>
        <p:spPr>
          <a:xfrm>
            <a:off x="914400" y="1536120"/>
            <a:ext cx="237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x1</a:t>
            </a:r>
            <a:endParaRPr lang="it-IT" sz="700" b="0" u="none" strike="noStrike">
              <a:solidFill>
                <a:srgbClr val="000000"/>
              </a:solidFill>
              <a:effectLst/>
              <a:uFillTx/>
              <a:latin typeface="Arial"/>
            </a:endParaRPr>
          </a:p>
        </p:txBody>
      </p:sp>
      <p:sp>
        <p:nvSpPr>
          <p:cNvPr id="15" name="Shape 7"/>
          <p:cNvSpPr/>
          <p:nvPr/>
        </p:nvSpPr>
        <p:spPr>
          <a:xfrm>
            <a:off x="1344240" y="1508760"/>
            <a:ext cx="328680" cy="255600"/>
          </a:xfrm>
          <a:prstGeom prst="roundRect">
            <a:avLst>
              <a:gd name="adj" fmla="val 2142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6" name="Text 8"/>
          <p:cNvSpPr/>
          <p:nvPr/>
        </p:nvSpPr>
        <p:spPr>
          <a:xfrm>
            <a:off x="1389960" y="1536120"/>
            <a:ext cx="237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x2</a:t>
            </a:r>
            <a:endParaRPr lang="it-IT" sz="700" b="0" u="none" strike="noStrike">
              <a:solidFill>
                <a:srgbClr val="000000"/>
              </a:solidFill>
              <a:effectLst/>
              <a:uFillTx/>
              <a:latin typeface="Arial"/>
            </a:endParaRPr>
          </a:p>
        </p:txBody>
      </p:sp>
      <p:sp>
        <p:nvSpPr>
          <p:cNvPr id="17" name="Shape 9"/>
          <p:cNvSpPr/>
          <p:nvPr/>
        </p:nvSpPr>
        <p:spPr>
          <a:xfrm>
            <a:off x="1819800" y="1508760"/>
            <a:ext cx="328680" cy="255600"/>
          </a:xfrm>
          <a:prstGeom prst="roundRect">
            <a:avLst>
              <a:gd name="adj" fmla="val 2142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8" name="Text 10"/>
          <p:cNvSpPr/>
          <p:nvPr/>
        </p:nvSpPr>
        <p:spPr>
          <a:xfrm>
            <a:off x="1865520" y="1536120"/>
            <a:ext cx="237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x3</a:t>
            </a:r>
            <a:endParaRPr lang="it-IT" sz="700" b="0" u="none" strike="noStrike">
              <a:solidFill>
                <a:srgbClr val="000000"/>
              </a:solidFill>
              <a:effectLst/>
              <a:uFillTx/>
              <a:latin typeface="Arial"/>
            </a:endParaRPr>
          </a:p>
        </p:txBody>
      </p:sp>
      <p:sp>
        <p:nvSpPr>
          <p:cNvPr id="19" name="Shape 11"/>
          <p:cNvSpPr/>
          <p:nvPr/>
        </p:nvSpPr>
        <p:spPr>
          <a:xfrm>
            <a:off x="2295000" y="1508760"/>
            <a:ext cx="328680" cy="255600"/>
          </a:xfrm>
          <a:prstGeom prst="roundRect">
            <a:avLst>
              <a:gd name="adj" fmla="val 2142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 name="Text 12"/>
          <p:cNvSpPr/>
          <p:nvPr/>
        </p:nvSpPr>
        <p:spPr>
          <a:xfrm>
            <a:off x="2340720" y="1536120"/>
            <a:ext cx="237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x4</a:t>
            </a:r>
            <a:endParaRPr lang="it-IT" sz="700" b="0" u="none" strike="noStrike">
              <a:solidFill>
                <a:srgbClr val="000000"/>
              </a:solidFill>
              <a:effectLst/>
              <a:uFillTx/>
              <a:latin typeface="Arial"/>
            </a:endParaRPr>
          </a:p>
        </p:txBody>
      </p:sp>
      <p:sp>
        <p:nvSpPr>
          <p:cNvPr id="21" name="Shape 13"/>
          <p:cNvSpPr/>
          <p:nvPr/>
        </p:nvSpPr>
        <p:spPr>
          <a:xfrm>
            <a:off x="2770560" y="1508760"/>
            <a:ext cx="328680" cy="255600"/>
          </a:xfrm>
          <a:prstGeom prst="roundRect">
            <a:avLst>
              <a:gd name="adj" fmla="val 2142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2" name="Text 14"/>
          <p:cNvSpPr/>
          <p:nvPr/>
        </p:nvSpPr>
        <p:spPr>
          <a:xfrm>
            <a:off x="2816280" y="1536120"/>
            <a:ext cx="237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x5</a:t>
            </a:r>
            <a:endParaRPr lang="it-IT" sz="700" b="0" u="none" strike="noStrike">
              <a:solidFill>
                <a:srgbClr val="000000"/>
              </a:solidFill>
              <a:effectLst/>
              <a:uFillTx/>
              <a:latin typeface="Arial"/>
            </a:endParaRPr>
          </a:p>
        </p:txBody>
      </p:sp>
      <p:sp>
        <p:nvSpPr>
          <p:cNvPr id="23" name="Shape 15"/>
          <p:cNvSpPr/>
          <p:nvPr/>
        </p:nvSpPr>
        <p:spPr>
          <a:xfrm>
            <a:off x="3246120" y="1508760"/>
            <a:ext cx="328680" cy="255600"/>
          </a:xfrm>
          <a:prstGeom prst="roundRect">
            <a:avLst>
              <a:gd name="adj" fmla="val 2142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 name="Text 16"/>
          <p:cNvSpPr/>
          <p:nvPr/>
        </p:nvSpPr>
        <p:spPr>
          <a:xfrm>
            <a:off x="3291840" y="1536120"/>
            <a:ext cx="237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x6</a:t>
            </a:r>
            <a:endParaRPr lang="it-IT" sz="700" b="0" u="none" strike="noStrike">
              <a:solidFill>
                <a:srgbClr val="000000"/>
              </a:solidFill>
              <a:effectLst/>
              <a:uFillTx/>
              <a:latin typeface="Arial"/>
            </a:endParaRPr>
          </a:p>
        </p:txBody>
      </p:sp>
      <p:sp>
        <p:nvSpPr>
          <p:cNvPr id="25" name="Shape 17"/>
          <p:cNvSpPr/>
          <p:nvPr/>
        </p:nvSpPr>
        <p:spPr>
          <a:xfrm>
            <a:off x="1051560" y="1024200"/>
            <a:ext cx="1645560" cy="319680"/>
          </a:xfrm>
          <a:prstGeom prst="roundRect">
            <a:avLst>
              <a:gd name="adj" fmla="val 1714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 name="Text 18"/>
          <p:cNvSpPr/>
          <p:nvPr/>
        </p:nvSpPr>
        <p:spPr>
          <a:xfrm>
            <a:off x="1097280" y="1051560"/>
            <a:ext cx="1554120" cy="264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input tokens</a:t>
            </a:r>
            <a:endParaRPr lang="it-IT" sz="900" b="0" u="none" strike="noStrike">
              <a:solidFill>
                <a:srgbClr val="000000"/>
              </a:solidFill>
              <a:effectLst/>
              <a:uFillTx/>
              <a:latin typeface="Arial"/>
            </a:endParaRPr>
          </a:p>
        </p:txBody>
      </p:sp>
      <p:sp>
        <p:nvSpPr>
          <p:cNvPr id="27" name="Shape 19"/>
          <p:cNvSpPr/>
          <p:nvPr/>
        </p:nvSpPr>
        <p:spPr>
          <a:xfrm>
            <a:off x="822960" y="2331720"/>
            <a:ext cx="2011320" cy="566640"/>
          </a:xfrm>
          <a:prstGeom prst="roundRect">
            <a:avLst>
              <a:gd name="adj" fmla="val 9677"/>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 name="Text 20"/>
          <p:cNvSpPr/>
          <p:nvPr/>
        </p:nvSpPr>
        <p:spPr>
          <a:xfrm>
            <a:off x="868680" y="2359080"/>
            <a:ext cx="191988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query for one position</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q[t]</a:t>
            </a:r>
            <a:endParaRPr lang="it-IT" sz="1000" b="0" u="none" strike="noStrike">
              <a:solidFill>
                <a:srgbClr val="000000"/>
              </a:solidFill>
              <a:effectLst/>
              <a:uFillTx/>
              <a:latin typeface="Arial"/>
            </a:endParaRPr>
          </a:p>
        </p:txBody>
      </p:sp>
      <p:sp>
        <p:nvSpPr>
          <p:cNvPr id="29" name="Shape 21"/>
          <p:cNvSpPr/>
          <p:nvPr/>
        </p:nvSpPr>
        <p:spPr>
          <a:xfrm>
            <a:off x="822960" y="3337560"/>
            <a:ext cx="2011320" cy="566640"/>
          </a:xfrm>
          <a:prstGeom prst="roundRect">
            <a:avLst>
              <a:gd name="adj" fmla="val 9677"/>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0" name="Text 22"/>
          <p:cNvSpPr/>
          <p:nvPr/>
        </p:nvSpPr>
        <p:spPr>
          <a:xfrm>
            <a:off x="868680" y="3364920"/>
            <a:ext cx="191988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keys for candidate positions</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k[1] ... k[L]</a:t>
            </a:r>
            <a:endParaRPr lang="it-IT" sz="1000" b="0" u="none" strike="noStrike">
              <a:solidFill>
                <a:srgbClr val="000000"/>
              </a:solidFill>
              <a:effectLst/>
              <a:uFillTx/>
              <a:latin typeface="Arial"/>
            </a:endParaRPr>
          </a:p>
        </p:txBody>
      </p:sp>
      <p:sp>
        <p:nvSpPr>
          <p:cNvPr id="31" name="Shape 23"/>
          <p:cNvSpPr/>
          <p:nvPr/>
        </p:nvSpPr>
        <p:spPr>
          <a:xfrm>
            <a:off x="2971800" y="2606040"/>
            <a:ext cx="1005840" cy="36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2" name="Shape 24"/>
          <p:cNvSpPr/>
          <p:nvPr/>
        </p:nvSpPr>
        <p:spPr>
          <a:xfrm flipV="1">
            <a:off x="2971800" y="2971800"/>
            <a:ext cx="1005840" cy="64008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 name="Shape 25"/>
          <p:cNvSpPr/>
          <p:nvPr/>
        </p:nvSpPr>
        <p:spPr>
          <a:xfrm>
            <a:off x="4160520" y="2423160"/>
            <a:ext cx="1737000" cy="776880"/>
          </a:xfrm>
          <a:prstGeom prst="roundRect">
            <a:avLst>
              <a:gd name="adj" fmla="val 7059"/>
            </a:avLst>
          </a:prstGeom>
          <a:solidFill>
            <a:srgbClr val="EEF2F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 name="Text 26"/>
          <p:cNvSpPr/>
          <p:nvPr/>
        </p:nvSpPr>
        <p:spPr>
          <a:xfrm>
            <a:off x="4206240" y="2450520"/>
            <a:ext cx="1645560" cy="722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compare query</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11827"/>
                </a:solidFill>
                <a:effectLst/>
                <a:uFillTx/>
                <a:latin typeface="Aptos"/>
                <a:ea typeface="Aptos"/>
              </a:rPr>
              <a:t>with all keys</a:t>
            </a:r>
            <a:endParaRPr lang="it-IT" sz="1100" b="0" u="none" strike="noStrike">
              <a:solidFill>
                <a:srgbClr val="000000"/>
              </a:solidFill>
              <a:effectLst/>
              <a:uFillTx/>
              <a:latin typeface="Arial"/>
            </a:endParaRPr>
          </a:p>
        </p:txBody>
      </p:sp>
      <p:sp>
        <p:nvSpPr>
          <p:cNvPr id="35" name="Shape 27"/>
          <p:cNvSpPr/>
          <p:nvPr/>
        </p:nvSpPr>
        <p:spPr>
          <a:xfrm>
            <a:off x="6080760" y="2788920"/>
            <a:ext cx="64008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36" name="Shape 28"/>
          <p:cNvSpPr/>
          <p:nvPr/>
        </p:nvSpPr>
        <p:spPr>
          <a:xfrm>
            <a:off x="6995160" y="1234440"/>
            <a:ext cx="328680" cy="32868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 name="Shape 29"/>
          <p:cNvSpPr/>
          <p:nvPr/>
        </p:nvSpPr>
        <p:spPr>
          <a:xfrm>
            <a:off x="7324200" y="123444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8" name="Shape 30"/>
          <p:cNvSpPr/>
          <p:nvPr/>
        </p:nvSpPr>
        <p:spPr>
          <a:xfrm>
            <a:off x="7653600" y="123444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 name="Shape 31"/>
          <p:cNvSpPr/>
          <p:nvPr/>
        </p:nvSpPr>
        <p:spPr>
          <a:xfrm>
            <a:off x="7982640" y="123444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0" name="Shape 32"/>
          <p:cNvSpPr/>
          <p:nvPr/>
        </p:nvSpPr>
        <p:spPr>
          <a:xfrm>
            <a:off x="8312040" y="1234440"/>
            <a:ext cx="328680" cy="3286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 name="Shape 33"/>
          <p:cNvSpPr/>
          <p:nvPr/>
        </p:nvSpPr>
        <p:spPr>
          <a:xfrm>
            <a:off x="8641080" y="1234440"/>
            <a:ext cx="328680" cy="3286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 name="Shape 34"/>
          <p:cNvSpPr/>
          <p:nvPr/>
        </p:nvSpPr>
        <p:spPr>
          <a:xfrm>
            <a:off x="6995160" y="156348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 name="Shape 35"/>
          <p:cNvSpPr/>
          <p:nvPr/>
        </p:nvSpPr>
        <p:spPr>
          <a:xfrm>
            <a:off x="7324200" y="1563480"/>
            <a:ext cx="328680" cy="32868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 name="Shape 36"/>
          <p:cNvSpPr/>
          <p:nvPr/>
        </p:nvSpPr>
        <p:spPr>
          <a:xfrm>
            <a:off x="7653600" y="156348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 name="Shape 37"/>
          <p:cNvSpPr/>
          <p:nvPr/>
        </p:nvSpPr>
        <p:spPr>
          <a:xfrm>
            <a:off x="7982640" y="156348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 name="Shape 38"/>
          <p:cNvSpPr/>
          <p:nvPr/>
        </p:nvSpPr>
        <p:spPr>
          <a:xfrm>
            <a:off x="8312040" y="156348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 name="Shape 39"/>
          <p:cNvSpPr/>
          <p:nvPr/>
        </p:nvSpPr>
        <p:spPr>
          <a:xfrm>
            <a:off x="8641080" y="1563480"/>
            <a:ext cx="328680" cy="3286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 name="Shape 40"/>
          <p:cNvSpPr/>
          <p:nvPr/>
        </p:nvSpPr>
        <p:spPr>
          <a:xfrm>
            <a:off x="6995160" y="189288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 name="Shape 41"/>
          <p:cNvSpPr/>
          <p:nvPr/>
        </p:nvSpPr>
        <p:spPr>
          <a:xfrm>
            <a:off x="7324200" y="189288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 name="Shape 42"/>
          <p:cNvSpPr/>
          <p:nvPr/>
        </p:nvSpPr>
        <p:spPr>
          <a:xfrm>
            <a:off x="7653600" y="1892880"/>
            <a:ext cx="328680" cy="32868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 name="Shape 43"/>
          <p:cNvSpPr/>
          <p:nvPr/>
        </p:nvSpPr>
        <p:spPr>
          <a:xfrm>
            <a:off x="7982640" y="189288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 name="Shape 44"/>
          <p:cNvSpPr/>
          <p:nvPr/>
        </p:nvSpPr>
        <p:spPr>
          <a:xfrm>
            <a:off x="8312040" y="189288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 name="Shape 45"/>
          <p:cNvSpPr/>
          <p:nvPr/>
        </p:nvSpPr>
        <p:spPr>
          <a:xfrm>
            <a:off x="8641080" y="189288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 name="Shape 46"/>
          <p:cNvSpPr/>
          <p:nvPr/>
        </p:nvSpPr>
        <p:spPr>
          <a:xfrm>
            <a:off x="6995160" y="222192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 name="Shape 47"/>
          <p:cNvSpPr/>
          <p:nvPr/>
        </p:nvSpPr>
        <p:spPr>
          <a:xfrm>
            <a:off x="7324200" y="222192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 name="Shape 48"/>
          <p:cNvSpPr/>
          <p:nvPr/>
        </p:nvSpPr>
        <p:spPr>
          <a:xfrm>
            <a:off x="7653600" y="222192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 name="Shape 49"/>
          <p:cNvSpPr/>
          <p:nvPr/>
        </p:nvSpPr>
        <p:spPr>
          <a:xfrm>
            <a:off x="7982640" y="2221920"/>
            <a:ext cx="328680" cy="32868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 name="Shape 50"/>
          <p:cNvSpPr/>
          <p:nvPr/>
        </p:nvSpPr>
        <p:spPr>
          <a:xfrm>
            <a:off x="8312040" y="222192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 name="Shape 51"/>
          <p:cNvSpPr/>
          <p:nvPr/>
        </p:nvSpPr>
        <p:spPr>
          <a:xfrm>
            <a:off x="8641080" y="222192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 name="Shape 52"/>
          <p:cNvSpPr/>
          <p:nvPr/>
        </p:nvSpPr>
        <p:spPr>
          <a:xfrm>
            <a:off x="6995160" y="2551320"/>
            <a:ext cx="328680" cy="3286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1" name="Shape 53"/>
          <p:cNvSpPr/>
          <p:nvPr/>
        </p:nvSpPr>
        <p:spPr>
          <a:xfrm>
            <a:off x="7324200" y="255132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2" name="Shape 54"/>
          <p:cNvSpPr/>
          <p:nvPr/>
        </p:nvSpPr>
        <p:spPr>
          <a:xfrm>
            <a:off x="7653600" y="255132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3" name="Shape 55"/>
          <p:cNvSpPr/>
          <p:nvPr/>
        </p:nvSpPr>
        <p:spPr>
          <a:xfrm>
            <a:off x="7982640" y="255132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4" name="Shape 56"/>
          <p:cNvSpPr/>
          <p:nvPr/>
        </p:nvSpPr>
        <p:spPr>
          <a:xfrm>
            <a:off x="8312040" y="2551320"/>
            <a:ext cx="328680" cy="32868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5" name="Shape 57"/>
          <p:cNvSpPr/>
          <p:nvPr/>
        </p:nvSpPr>
        <p:spPr>
          <a:xfrm>
            <a:off x="8641080" y="255132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6" name="Shape 58"/>
          <p:cNvSpPr/>
          <p:nvPr/>
        </p:nvSpPr>
        <p:spPr>
          <a:xfrm>
            <a:off x="6995160" y="2880360"/>
            <a:ext cx="328680" cy="3286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7" name="Shape 59"/>
          <p:cNvSpPr/>
          <p:nvPr/>
        </p:nvSpPr>
        <p:spPr>
          <a:xfrm>
            <a:off x="7324200" y="2880360"/>
            <a:ext cx="328680" cy="32868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8" name="Shape 60"/>
          <p:cNvSpPr/>
          <p:nvPr/>
        </p:nvSpPr>
        <p:spPr>
          <a:xfrm>
            <a:off x="7653600" y="288036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9" name="Shape 61"/>
          <p:cNvSpPr/>
          <p:nvPr/>
        </p:nvSpPr>
        <p:spPr>
          <a:xfrm>
            <a:off x="7982640" y="2880360"/>
            <a:ext cx="328680" cy="328680"/>
          </a:xfrm>
          <a:prstGeom prst="rect">
            <a:avLst/>
          </a:prstGeom>
          <a:solidFill>
            <a:srgbClr val="EAF6D0"/>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0" name="Shape 62"/>
          <p:cNvSpPr/>
          <p:nvPr/>
        </p:nvSpPr>
        <p:spPr>
          <a:xfrm>
            <a:off x="8312040" y="2880360"/>
            <a:ext cx="328680" cy="328680"/>
          </a:xfrm>
          <a:prstGeom prst="rect">
            <a:avLst/>
          </a:prstGeom>
          <a:solidFill>
            <a:srgbClr val="CBEA9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1" name="Shape 63"/>
          <p:cNvSpPr/>
          <p:nvPr/>
        </p:nvSpPr>
        <p:spPr>
          <a:xfrm>
            <a:off x="8641080" y="2880360"/>
            <a:ext cx="328680" cy="32868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2" name="Text 64"/>
          <p:cNvSpPr/>
          <p:nvPr/>
        </p:nvSpPr>
        <p:spPr>
          <a:xfrm>
            <a:off x="6903720" y="3429000"/>
            <a:ext cx="210276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attention score matrix</a:t>
            </a:r>
            <a:endParaRPr lang="it-IT" sz="900" b="0" u="none" strike="noStrike">
              <a:solidFill>
                <a:srgbClr val="000000"/>
              </a:solidFill>
              <a:effectLst/>
              <a:uFillTx/>
              <a:latin typeface="Arial"/>
            </a:endParaRPr>
          </a:p>
        </p:txBody>
      </p:sp>
      <p:sp>
        <p:nvSpPr>
          <p:cNvPr id="73" name="Text 65"/>
          <p:cNvSpPr/>
          <p:nvPr/>
        </p:nvSpPr>
        <p:spPr>
          <a:xfrm>
            <a:off x="7040880" y="3730680"/>
            <a:ext cx="182844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L rows × L columns</a:t>
            </a:r>
            <a:endParaRPr lang="it-IT" sz="800" b="0" u="none" strike="noStrike">
              <a:solidFill>
                <a:srgbClr val="000000"/>
              </a:solidFill>
              <a:effectLst/>
              <a:uFillTx/>
              <a:latin typeface="Arial"/>
            </a:endParaRPr>
          </a:p>
        </p:txBody>
      </p:sp>
      <p:sp>
        <p:nvSpPr>
          <p:cNvPr id="74" name="Shape 66"/>
          <p:cNvSpPr/>
          <p:nvPr/>
        </p:nvSpPr>
        <p:spPr>
          <a:xfrm>
            <a:off x="9144000" y="2148840"/>
            <a:ext cx="1919880" cy="685440"/>
          </a:xfrm>
          <a:prstGeom prst="roundRect">
            <a:avLst>
              <a:gd name="adj" fmla="val 8000"/>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5" name="Text 67"/>
          <p:cNvSpPr/>
          <p:nvPr/>
        </p:nvSpPr>
        <p:spPr>
          <a:xfrm>
            <a:off x="9189720" y="2176200"/>
            <a:ext cx="1828440" cy="630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If L = 1000</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 1,000,000 scores</a:t>
            </a:r>
            <a:endParaRPr lang="it-IT" sz="1000" b="0" u="none" strike="noStrike">
              <a:solidFill>
                <a:srgbClr val="000000"/>
              </a:solidFill>
              <a:effectLst/>
              <a:uFillTx/>
              <a:latin typeface="Arial"/>
            </a:endParaRPr>
          </a:p>
        </p:txBody>
      </p:sp>
      <p:sp>
        <p:nvSpPr>
          <p:cNvPr id="76" name="Shape 68"/>
          <p:cNvSpPr/>
          <p:nvPr/>
        </p:nvSpPr>
        <p:spPr>
          <a:xfrm>
            <a:off x="9006840" y="3703320"/>
            <a:ext cx="2194200" cy="502560"/>
          </a:xfrm>
          <a:prstGeom prst="roundRect">
            <a:avLst>
              <a:gd name="adj" fmla="val 10909"/>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7" name="Text 69"/>
          <p:cNvSpPr/>
          <p:nvPr/>
        </p:nvSpPr>
        <p:spPr>
          <a:xfrm>
            <a:off x="9052560" y="3730680"/>
            <a:ext cx="210276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One row =</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weights for one query</a:t>
            </a:r>
            <a:endParaRPr lang="it-IT" sz="900" b="0" u="none" strike="noStrike">
              <a:solidFill>
                <a:srgbClr val="000000"/>
              </a:solidFill>
              <a:effectLst/>
              <a:uFillTx/>
              <a:latin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69E8A7-84D7-CA68-450D-52870B043C04}"/>
              </a:ext>
            </a:extLst>
          </p:cNvPr>
          <p:cNvSpPr>
            <a:spLocks noGrp="1"/>
          </p:cNvSpPr>
          <p:nvPr>
            <p:ph type="title"/>
          </p:nvPr>
        </p:nvSpPr>
        <p:spPr/>
        <p:txBody>
          <a:bodyPr/>
          <a:lstStyle/>
          <a:p>
            <a:r>
              <a:rPr lang="en-GB" dirty="0"/>
              <a:t>Why attention cost grows rapidly with sequence length</a:t>
            </a:r>
          </a:p>
        </p:txBody>
      </p:sp>
      <p:sp>
        <p:nvSpPr>
          <p:cNvPr id="3" name="Segnaposto contenuto 2">
            <a:extLst>
              <a:ext uri="{FF2B5EF4-FFF2-40B4-BE49-F238E27FC236}">
                <a16:creationId xmlns:a16="http://schemas.microsoft.com/office/drawing/2014/main" id="{BA57C3BA-5362-5EEF-29FE-FCDA282F981E}"/>
              </a:ext>
            </a:extLst>
          </p:cNvPr>
          <p:cNvSpPr>
            <a:spLocks noGrp="1"/>
          </p:cNvSpPr>
          <p:nvPr>
            <p:ph idx="1"/>
          </p:nvPr>
        </p:nvSpPr>
        <p:spPr/>
        <p:txBody>
          <a:bodyPr/>
          <a:lstStyle/>
          <a:p>
            <a:r>
              <a:rPr lang="en-GB" dirty="0"/>
              <a:t>The number of pairwise query-key comparisons grows approximately as: L²</a:t>
            </a:r>
          </a:p>
          <a:p>
            <a:r>
              <a:rPr lang="en-GB" b="1" dirty="0"/>
              <a:t>Examples</a:t>
            </a:r>
          </a:p>
          <a:p>
            <a:endParaRPr lang="en-GB" dirty="0"/>
          </a:p>
        </p:txBody>
      </p:sp>
      <p:pic>
        <p:nvPicPr>
          <p:cNvPr id="8" name="Immagine 7">
            <a:extLst>
              <a:ext uri="{FF2B5EF4-FFF2-40B4-BE49-F238E27FC236}">
                <a16:creationId xmlns:a16="http://schemas.microsoft.com/office/drawing/2014/main" id="{3E2BB095-08FC-4EE0-1F28-B0DF2016BA9C}"/>
              </a:ext>
            </a:extLst>
          </p:cNvPr>
          <p:cNvPicPr>
            <a:picLocks noChangeAspect="1"/>
          </p:cNvPicPr>
          <p:nvPr/>
        </p:nvPicPr>
        <p:blipFill>
          <a:blip r:embed="rId2"/>
          <a:stretch>
            <a:fillRect/>
          </a:stretch>
        </p:blipFill>
        <p:spPr>
          <a:xfrm>
            <a:off x="1103868" y="2589791"/>
            <a:ext cx="6988146" cy="2690093"/>
          </a:xfrm>
          <a:prstGeom prst="rect">
            <a:avLst/>
          </a:prstGeom>
        </p:spPr>
      </p:pic>
    </p:spTree>
    <p:extLst>
      <p:ext uri="{BB962C8B-B14F-4D97-AF65-F5344CB8AC3E}">
        <p14:creationId xmlns:p14="http://schemas.microsoft.com/office/powerpoint/2010/main" val="23081357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60AB78-7499-1166-1FAC-78E6F469E808}"/>
              </a:ext>
            </a:extLst>
          </p:cNvPr>
          <p:cNvSpPr>
            <a:spLocks noGrp="1"/>
          </p:cNvSpPr>
          <p:nvPr>
            <p:ph type="title"/>
          </p:nvPr>
        </p:nvSpPr>
        <p:spPr/>
        <p:txBody>
          <a:bodyPr/>
          <a:lstStyle/>
          <a:p>
            <a:r>
              <a:rPr lang="en-GB" dirty="0"/>
              <a:t>Why attention cost grows rapidly with sequence length</a:t>
            </a:r>
          </a:p>
        </p:txBody>
      </p:sp>
      <p:sp>
        <p:nvSpPr>
          <p:cNvPr id="3" name="Segnaposto contenuto 2">
            <a:extLst>
              <a:ext uri="{FF2B5EF4-FFF2-40B4-BE49-F238E27FC236}">
                <a16:creationId xmlns:a16="http://schemas.microsoft.com/office/drawing/2014/main" id="{FB0E01BE-ACFF-9DF9-BFB1-B73213D74167}"/>
              </a:ext>
            </a:extLst>
          </p:cNvPr>
          <p:cNvSpPr>
            <a:spLocks noGrp="1"/>
          </p:cNvSpPr>
          <p:nvPr>
            <p:ph idx="1"/>
          </p:nvPr>
        </p:nvSpPr>
        <p:spPr/>
        <p:txBody>
          <a:bodyPr>
            <a:normAutofit fontScale="92500" lnSpcReduction="20000"/>
          </a:bodyPr>
          <a:lstStyle/>
          <a:p>
            <a:r>
              <a:rPr lang="en-GB" b="1" dirty="0"/>
              <a:t>Doubling sequence length</a:t>
            </a:r>
          </a:p>
          <a:p>
            <a:r>
              <a:rPr lang="en-GB" dirty="0"/>
              <a:t>If: L → 2L</a:t>
            </a:r>
          </a:p>
          <a:p>
            <a:r>
              <a:rPr lang="en-GB" dirty="0"/>
              <a:t>then: L² → 4L²</a:t>
            </a:r>
          </a:p>
          <a:p>
            <a:r>
              <a:rPr lang="en-GB" dirty="0"/>
              <a:t>So doubling the sequence length produces approximately </a:t>
            </a:r>
            <a:r>
              <a:rPr lang="en-GB" b="1" dirty="0"/>
              <a:t>four times as many attention scores.</a:t>
            </a:r>
          </a:p>
          <a:p>
            <a:r>
              <a:rPr lang="en-GB" b="1" dirty="0"/>
              <a:t>Consequence</a:t>
            </a:r>
          </a:p>
          <a:p>
            <a:r>
              <a:rPr lang="en-GB" dirty="0"/>
              <a:t>Long raw time-series sequences can be expensive in terms of:</a:t>
            </a:r>
          </a:p>
          <a:p>
            <a:pPr lvl="1"/>
            <a:r>
              <a:rPr lang="en-GB" dirty="0"/>
              <a:t>computation; </a:t>
            </a:r>
          </a:p>
          <a:p>
            <a:pPr lvl="1"/>
            <a:r>
              <a:rPr lang="en-GB" dirty="0"/>
              <a:t>memory. </a:t>
            </a:r>
          </a:p>
          <a:p>
            <a:endParaRPr lang="en-GB" dirty="0"/>
          </a:p>
          <a:p>
            <a:r>
              <a:rPr lang="en-GB" b="1" dirty="0"/>
              <a:t>Standard attention scales much less </a:t>
            </a:r>
            <a:r>
              <a:rPr lang="en-GB" b="1" dirty="0" err="1"/>
              <a:t>favorably</a:t>
            </a:r>
            <a:r>
              <a:rPr lang="en-GB" b="1" dirty="0"/>
              <a:t> with sequence length than operations that grow approximately linearly with L.</a:t>
            </a:r>
          </a:p>
          <a:p>
            <a:endParaRPr lang="en-GB" dirty="0"/>
          </a:p>
        </p:txBody>
      </p:sp>
    </p:spTree>
    <p:extLst>
      <p:ext uri="{BB962C8B-B14F-4D97-AF65-F5344CB8AC3E}">
        <p14:creationId xmlns:p14="http://schemas.microsoft.com/office/powerpoint/2010/main" val="40771749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9"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Quadratic growth with sequence length</a:t>
            </a:r>
            <a:endParaRPr lang="it-IT" sz="2100" b="0" u="none" strike="noStrike">
              <a:solidFill>
                <a:srgbClr val="000000"/>
              </a:solidFill>
              <a:effectLst/>
              <a:uFillTx/>
              <a:latin typeface="Arial"/>
            </a:endParaRPr>
          </a:p>
        </p:txBody>
      </p:sp>
      <p:sp>
        <p:nvSpPr>
          <p:cNvPr id="80"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dirty="0">
                <a:solidFill>
                  <a:srgbClr val="667085"/>
                </a:solidFill>
                <a:effectLst/>
                <a:uFillTx/>
                <a:latin typeface="Aptos"/>
                <a:ea typeface="Aptos"/>
              </a:rPr>
              <a:t>Doubling L roughly quadruples the number of attention scores.</a:t>
            </a:r>
            <a:endParaRPr lang="it-IT" sz="1050" b="1" u="none" strike="noStrike" dirty="0">
              <a:solidFill>
                <a:srgbClr val="000000"/>
              </a:solidFill>
              <a:effectLst/>
              <a:uFillTx/>
              <a:latin typeface="Arial"/>
            </a:endParaRPr>
          </a:p>
        </p:txBody>
      </p:sp>
      <p:sp>
        <p:nvSpPr>
          <p:cNvPr id="81"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2"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dirty="0">
                <a:solidFill>
                  <a:srgbClr val="667085"/>
                </a:solidFill>
                <a:effectLst/>
                <a:uFillTx/>
                <a:latin typeface="Aptos"/>
                <a:ea typeface="Aptos"/>
              </a:rPr>
              <a:t>The bottleneck becomes severe for long raw time-series sequences.</a:t>
            </a:r>
            <a:endParaRPr lang="it-IT" sz="800" b="1" u="none" strike="noStrike" dirty="0">
              <a:solidFill>
                <a:srgbClr val="000000"/>
              </a:solidFill>
              <a:effectLst/>
              <a:uFillTx/>
              <a:latin typeface="Arial"/>
            </a:endParaRPr>
          </a:p>
        </p:txBody>
      </p:sp>
      <p:sp>
        <p:nvSpPr>
          <p:cNvPr id="83" name="Shape 5"/>
          <p:cNvSpPr/>
          <p:nvPr/>
        </p:nvSpPr>
        <p:spPr>
          <a:xfrm>
            <a:off x="822960" y="5120640"/>
            <a:ext cx="5577840" cy="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84" name="Shape 6"/>
          <p:cNvSpPr/>
          <p:nvPr/>
        </p:nvSpPr>
        <p:spPr>
          <a:xfrm flipV="1">
            <a:off x="914400" y="1097280"/>
            <a:ext cx="360" cy="4023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85" name="Shape 7"/>
          <p:cNvSpPr/>
          <p:nvPr/>
        </p:nvSpPr>
        <p:spPr>
          <a:xfrm>
            <a:off x="2103120" y="4956120"/>
            <a:ext cx="1005480" cy="164160"/>
          </a:xfrm>
          <a:prstGeom prst="rect">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6" name="Text 8"/>
          <p:cNvSpPr/>
          <p:nvPr/>
        </p:nvSpPr>
        <p:spPr>
          <a:xfrm>
            <a:off x="2103120" y="463608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10k</a:t>
            </a:r>
            <a:endParaRPr lang="it-IT" sz="900" b="0" u="none" strike="noStrike">
              <a:solidFill>
                <a:srgbClr val="000000"/>
              </a:solidFill>
              <a:effectLst/>
              <a:uFillTx/>
              <a:latin typeface="Arial"/>
            </a:endParaRPr>
          </a:p>
        </p:txBody>
      </p:sp>
      <p:sp>
        <p:nvSpPr>
          <p:cNvPr id="87" name="Text 9"/>
          <p:cNvSpPr/>
          <p:nvPr/>
        </p:nvSpPr>
        <p:spPr>
          <a:xfrm>
            <a:off x="2103120" y="525780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L=100</a:t>
            </a:r>
            <a:endParaRPr lang="it-IT" sz="800" b="0" u="none" strike="noStrike">
              <a:solidFill>
                <a:srgbClr val="000000"/>
              </a:solidFill>
              <a:effectLst/>
              <a:uFillTx/>
              <a:latin typeface="Arial"/>
            </a:endParaRPr>
          </a:p>
        </p:txBody>
      </p:sp>
      <p:sp>
        <p:nvSpPr>
          <p:cNvPr id="88" name="Shape 10"/>
          <p:cNvSpPr/>
          <p:nvPr/>
        </p:nvSpPr>
        <p:spPr>
          <a:xfrm>
            <a:off x="3246120" y="4709160"/>
            <a:ext cx="1005480" cy="411120"/>
          </a:xfrm>
          <a:prstGeom prst="rect">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9" name="Text 11"/>
          <p:cNvSpPr/>
          <p:nvPr/>
        </p:nvSpPr>
        <p:spPr>
          <a:xfrm>
            <a:off x="3246120" y="438912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1M</a:t>
            </a:r>
            <a:endParaRPr lang="it-IT" sz="900" b="0" u="none" strike="noStrike">
              <a:solidFill>
                <a:srgbClr val="000000"/>
              </a:solidFill>
              <a:effectLst/>
              <a:uFillTx/>
              <a:latin typeface="Arial"/>
            </a:endParaRPr>
          </a:p>
        </p:txBody>
      </p:sp>
      <p:sp>
        <p:nvSpPr>
          <p:cNvPr id="90" name="Text 12"/>
          <p:cNvSpPr/>
          <p:nvPr/>
        </p:nvSpPr>
        <p:spPr>
          <a:xfrm>
            <a:off x="3246120" y="525780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L=1k</a:t>
            </a:r>
            <a:endParaRPr lang="it-IT" sz="800" b="0" u="none" strike="noStrike">
              <a:solidFill>
                <a:srgbClr val="000000"/>
              </a:solidFill>
              <a:effectLst/>
              <a:uFillTx/>
              <a:latin typeface="Arial"/>
            </a:endParaRPr>
          </a:p>
        </p:txBody>
      </p:sp>
      <p:sp>
        <p:nvSpPr>
          <p:cNvPr id="91" name="Shape 13"/>
          <p:cNvSpPr/>
          <p:nvPr/>
        </p:nvSpPr>
        <p:spPr>
          <a:xfrm>
            <a:off x="4389120" y="4069080"/>
            <a:ext cx="1005480" cy="1051200"/>
          </a:xfrm>
          <a:prstGeom prst="rect">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2" name="Text 14"/>
          <p:cNvSpPr/>
          <p:nvPr/>
        </p:nvSpPr>
        <p:spPr>
          <a:xfrm>
            <a:off x="4389120" y="374904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25M</a:t>
            </a:r>
            <a:endParaRPr lang="it-IT" sz="900" b="0" u="none" strike="noStrike">
              <a:solidFill>
                <a:srgbClr val="000000"/>
              </a:solidFill>
              <a:effectLst/>
              <a:uFillTx/>
              <a:latin typeface="Arial"/>
            </a:endParaRPr>
          </a:p>
        </p:txBody>
      </p:sp>
      <p:sp>
        <p:nvSpPr>
          <p:cNvPr id="93" name="Text 15"/>
          <p:cNvSpPr/>
          <p:nvPr/>
        </p:nvSpPr>
        <p:spPr>
          <a:xfrm>
            <a:off x="4389120" y="525780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L=5k</a:t>
            </a:r>
            <a:endParaRPr lang="it-IT" sz="800" b="0" u="none" strike="noStrike">
              <a:solidFill>
                <a:srgbClr val="000000"/>
              </a:solidFill>
              <a:effectLst/>
              <a:uFillTx/>
              <a:latin typeface="Arial"/>
            </a:endParaRPr>
          </a:p>
        </p:txBody>
      </p:sp>
      <p:sp>
        <p:nvSpPr>
          <p:cNvPr id="94" name="Shape 16"/>
          <p:cNvSpPr/>
          <p:nvPr/>
        </p:nvSpPr>
        <p:spPr>
          <a:xfrm>
            <a:off x="5532120" y="3108960"/>
            <a:ext cx="1005480" cy="2011320"/>
          </a:xfrm>
          <a:prstGeom prst="rect">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5" name="Text 17"/>
          <p:cNvSpPr/>
          <p:nvPr/>
        </p:nvSpPr>
        <p:spPr>
          <a:xfrm>
            <a:off x="5532120" y="278892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100M</a:t>
            </a:r>
            <a:endParaRPr lang="it-IT" sz="900" b="0" u="none" strike="noStrike">
              <a:solidFill>
                <a:srgbClr val="000000"/>
              </a:solidFill>
              <a:effectLst/>
              <a:uFillTx/>
              <a:latin typeface="Arial"/>
            </a:endParaRPr>
          </a:p>
        </p:txBody>
      </p:sp>
      <p:sp>
        <p:nvSpPr>
          <p:cNvPr id="96" name="Text 18"/>
          <p:cNvSpPr/>
          <p:nvPr/>
        </p:nvSpPr>
        <p:spPr>
          <a:xfrm>
            <a:off x="5532120" y="5257800"/>
            <a:ext cx="10054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L=10k</a:t>
            </a:r>
            <a:endParaRPr lang="it-IT" sz="800" b="0" u="none" strike="noStrike">
              <a:solidFill>
                <a:srgbClr val="000000"/>
              </a:solidFill>
              <a:effectLst/>
              <a:uFillTx/>
              <a:latin typeface="Arial"/>
            </a:endParaRPr>
          </a:p>
        </p:txBody>
      </p:sp>
      <p:sp>
        <p:nvSpPr>
          <p:cNvPr id="97" name="Text 19"/>
          <p:cNvSpPr/>
          <p:nvPr/>
        </p:nvSpPr>
        <p:spPr>
          <a:xfrm>
            <a:off x="548640" y="1078920"/>
            <a:ext cx="182844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800" b="0" u="none" strike="noStrike" dirty="0">
                <a:solidFill>
                  <a:srgbClr val="667085"/>
                </a:solidFill>
                <a:effectLst/>
                <a:uFillTx/>
                <a:latin typeface="Aptos"/>
                <a:ea typeface="Aptos"/>
              </a:rPr>
              <a:t>pairwise scores per head</a:t>
            </a:r>
            <a:endParaRPr lang="it-IT" sz="800" b="0" u="none" strike="noStrike" dirty="0">
              <a:solidFill>
                <a:srgbClr val="000000"/>
              </a:solidFill>
              <a:effectLst/>
              <a:uFillTx/>
              <a:latin typeface="Arial"/>
            </a:endParaRPr>
          </a:p>
        </p:txBody>
      </p:sp>
      <p:sp>
        <p:nvSpPr>
          <p:cNvPr id="98" name="Shape 20"/>
          <p:cNvSpPr/>
          <p:nvPr/>
        </p:nvSpPr>
        <p:spPr>
          <a:xfrm>
            <a:off x="7498080" y="1554480"/>
            <a:ext cx="2925720" cy="1142640"/>
          </a:xfrm>
          <a:prstGeom prst="roundRect">
            <a:avLst>
              <a:gd name="adj" fmla="val 4800"/>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99" name="Text 21"/>
          <p:cNvSpPr/>
          <p:nvPr/>
        </p:nvSpPr>
        <p:spPr>
          <a:xfrm>
            <a:off x="7543800" y="1581840"/>
            <a:ext cx="283428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1827"/>
                </a:solidFill>
                <a:effectLst/>
                <a:uFillTx/>
                <a:latin typeface="Aptos"/>
                <a:ea typeface="Aptos"/>
              </a:rPr>
              <a:t>Key relation</a:t>
            </a:r>
            <a:endParaRPr lang="it-IT" sz="1500" b="0" u="none" strike="noStrike">
              <a:solidFill>
                <a:srgbClr val="000000"/>
              </a:solidFill>
              <a:effectLst/>
              <a:uFillTx/>
              <a:latin typeface="Arial"/>
            </a:endParaRPr>
          </a:p>
          <a:p>
            <a:pPr algn="ctr" defTabSz="914400">
              <a:lnSpc>
                <a:spcPct val="100000"/>
              </a:lnSpc>
              <a:tabLst>
                <a:tab pos="0" algn="l"/>
              </a:tabLst>
            </a:pPr>
            <a:endParaRPr lang="it-IT" sz="1500" b="0" u="none" strike="noStrike">
              <a:solidFill>
                <a:srgbClr val="000000"/>
              </a:solidFill>
              <a:effectLst/>
              <a:uFillTx/>
              <a:latin typeface="Arial"/>
            </a:endParaRPr>
          </a:p>
          <a:p>
            <a:pPr algn="ctr" defTabSz="914400">
              <a:lnSpc>
                <a:spcPct val="100000"/>
              </a:lnSpc>
              <a:tabLst>
                <a:tab pos="0" algn="l"/>
              </a:tabLst>
            </a:pPr>
            <a:r>
              <a:rPr lang="en-US" sz="1500" b="1" u="none" strike="noStrike">
                <a:solidFill>
                  <a:srgbClr val="111827"/>
                </a:solidFill>
                <a:effectLst/>
                <a:uFillTx/>
                <a:latin typeface="Aptos"/>
                <a:ea typeface="Aptos"/>
              </a:rPr>
              <a:t>number of scores ≈ L²</a:t>
            </a:r>
            <a:endParaRPr lang="it-IT" sz="1500" b="0" u="none" strike="noStrike">
              <a:solidFill>
                <a:srgbClr val="000000"/>
              </a:solidFill>
              <a:effectLst/>
              <a:uFillTx/>
              <a:latin typeface="Arial"/>
            </a:endParaRPr>
          </a:p>
        </p:txBody>
      </p:sp>
      <p:sp>
        <p:nvSpPr>
          <p:cNvPr id="100" name="Shape 22"/>
          <p:cNvSpPr/>
          <p:nvPr/>
        </p:nvSpPr>
        <p:spPr>
          <a:xfrm>
            <a:off x="8961120" y="2834640"/>
            <a:ext cx="360" cy="86868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101" name="Shape 23"/>
          <p:cNvSpPr/>
          <p:nvPr/>
        </p:nvSpPr>
        <p:spPr>
          <a:xfrm>
            <a:off x="7223760" y="3840480"/>
            <a:ext cx="3474360" cy="822600"/>
          </a:xfrm>
          <a:prstGeom prst="roundRect">
            <a:avLst>
              <a:gd name="adj" fmla="val 6667"/>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2" name="Text 24"/>
          <p:cNvSpPr/>
          <p:nvPr/>
        </p:nvSpPr>
        <p:spPr>
          <a:xfrm>
            <a:off x="7269480" y="3867840"/>
            <a:ext cx="3382920" cy="767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1827"/>
                </a:solidFill>
                <a:effectLst/>
                <a:uFillTx/>
                <a:latin typeface="Aptos"/>
                <a:ea typeface="Aptos"/>
              </a:rPr>
              <a:t>Reduce L by 10×</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11827"/>
                </a:solidFill>
                <a:effectLst/>
                <a:uFillTx/>
                <a:latin typeface="Aptos"/>
                <a:ea typeface="Aptos"/>
              </a:rPr>
              <a:t>→ scores drop by ≈100×</a:t>
            </a:r>
            <a:endParaRPr lang="it-IT" sz="1200" b="0" u="none" strike="noStrike">
              <a:solidFill>
                <a:srgbClr val="000000"/>
              </a:solidFill>
              <a:effectLst/>
              <a:uFillTx/>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8F3615-B481-17D0-C320-80FE206C8ECF}"/>
              </a:ext>
            </a:extLst>
          </p:cNvPr>
          <p:cNvSpPr>
            <a:spLocks noGrp="1"/>
          </p:cNvSpPr>
          <p:nvPr>
            <p:ph type="title"/>
          </p:nvPr>
        </p:nvSpPr>
        <p:spPr/>
        <p:txBody>
          <a:bodyPr/>
          <a:lstStyle/>
          <a:p>
            <a:r>
              <a:rPr lang="en-GB" dirty="0"/>
              <a:t>Why this is particularly relevant for time series</a:t>
            </a:r>
          </a:p>
        </p:txBody>
      </p:sp>
      <p:sp>
        <p:nvSpPr>
          <p:cNvPr id="3" name="Segnaposto contenuto 2">
            <a:extLst>
              <a:ext uri="{FF2B5EF4-FFF2-40B4-BE49-F238E27FC236}">
                <a16:creationId xmlns:a16="http://schemas.microsoft.com/office/drawing/2014/main" id="{30C03504-924B-1B66-BC4D-74ADFFD5C5CF}"/>
              </a:ext>
            </a:extLst>
          </p:cNvPr>
          <p:cNvSpPr>
            <a:spLocks noGrp="1"/>
          </p:cNvSpPr>
          <p:nvPr>
            <p:ph sz="half" idx="1"/>
          </p:nvPr>
        </p:nvSpPr>
        <p:spPr>
          <a:xfrm>
            <a:off x="677334" y="2160588"/>
            <a:ext cx="5418666" cy="4697411"/>
          </a:xfrm>
        </p:spPr>
        <p:txBody>
          <a:bodyPr>
            <a:normAutofit/>
          </a:bodyPr>
          <a:lstStyle/>
          <a:p>
            <a:r>
              <a:rPr lang="en-GB" dirty="0"/>
              <a:t>Time-series data can contain very many observations.</a:t>
            </a:r>
          </a:p>
          <a:p>
            <a:r>
              <a:rPr lang="en-GB" b="1" dirty="0"/>
              <a:t>Example: vibration signal</a:t>
            </a:r>
          </a:p>
          <a:p>
            <a:r>
              <a:rPr lang="en-GB" dirty="0"/>
              <a:t>Sampling frequency: Fs = 1,000 Hz</a:t>
            </a:r>
          </a:p>
          <a:p>
            <a:r>
              <a:rPr lang="en-GB" dirty="0"/>
              <a:t>Ten seconds of data contain: 10,000 frames</a:t>
            </a:r>
          </a:p>
          <a:p>
            <a:r>
              <a:rPr lang="en-GB" dirty="0"/>
              <a:t>If every sample becomes one Transformer token: L = 10,000</a:t>
            </a:r>
          </a:p>
          <a:p>
            <a:r>
              <a:rPr lang="en-GB" dirty="0"/>
              <a:t>A full attention matrix contains:</a:t>
            </a:r>
          </a:p>
          <a:p>
            <a:pPr lvl="1"/>
            <a:r>
              <a:rPr lang="en-GB" dirty="0"/>
              <a:t>100,000,000 query-key scores per head.</a:t>
            </a:r>
          </a:p>
          <a:p>
            <a:endParaRPr lang="en-GB" dirty="0"/>
          </a:p>
          <a:p>
            <a:endParaRPr lang="en-GB" dirty="0"/>
          </a:p>
        </p:txBody>
      </p:sp>
      <p:sp>
        <p:nvSpPr>
          <p:cNvPr id="4" name="Segnaposto contenuto 3">
            <a:extLst>
              <a:ext uri="{FF2B5EF4-FFF2-40B4-BE49-F238E27FC236}">
                <a16:creationId xmlns:a16="http://schemas.microsoft.com/office/drawing/2014/main" id="{48769649-2A7D-0901-D11B-434AEFD4DEE4}"/>
              </a:ext>
            </a:extLst>
          </p:cNvPr>
          <p:cNvSpPr>
            <a:spLocks noGrp="1"/>
          </p:cNvSpPr>
          <p:nvPr>
            <p:ph sz="half" idx="2"/>
          </p:nvPr>
        </p:nvSpPr>
        <p:spPr>
          <a:xfrm>
            <a:off x="6451841" y="2132455"/>
            <a:ext cx="5269987" cy="4493130"/>
          </a:xfrm>
        </p:spPr>
        <p:txBody>
          <a:bodyPr>
            <a:normAutofit/>
          </a:bodyPr>
          <a:lstStyle/>
          <a:p>
            <a:r>
              <a:rPr lang="en-GB" b="1" dirty="0"/>
              <a:t>Example: lower-frequency data (energy grid)</a:t>
            </a:r>
          </a:p>
          <a:p>
            <a:r>
              <a:rPr lang="en-GB" dirty="0"/>
              <a:t>Hourly observations over one year: 24 × 365 = 8,760 frames</a:t>
            </a:r>
          </a:p>
          <a:p>
            <a:r>
              <a:rPr lang="en-GB" dirty="0"/>
              <a:t>Again, using every observation as one token creates a long attention sequence.</a:t>
            </a:r>
          </a:p>
          <a:p>
            <a:endParaRPr lang="en-GB" dirty="0"/>
          </a:p>
          <a:p>
            <a:r>
              <a:rPr lang="en-GB" b="1" dirty="0"/>
              <a:t>A time series may require long physical context while simultaneously having high sampling frequency.</a:t>
            </a:r>
          </a:p>
          <a:p>
            <a:r>
              <a:rPr lang="en-GB" b="1" dirty="0"/>
              <a:t>This combination can make raw-sample attention particularly expensive.</a:t>
            </a:r>
          </a:p>
          <a:p>
            <a:endParaRPr lang="en-GB" dirty="0"/>
          </a:p>
        </p:txBody>
      </p:sp>
    </p:spTree>
    <p:extLst>
      <p:ext uri="{BB962C8B-B14F-4D97-AF65-F5344CB8AC3E}">
        <p14:creationId xmlns:p14="http://schemas.microsoft.com/office/powerpoint/2010/main" val="368604473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4"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Why this matters for time series</a:t>
            </a:r>
            <a:endParaRPr lang="it-IT" sz="2100" b="0" u="none" strike="noStrike">
              <a:solidFill>
                <a:srgbClr val="000000"/>
              </a:solidFill>
              <a:effectLst/>
              <a:uFillTx/>
              <a:latin typeface="Arial"/>
            </a:endParaRPr>
          </a:p>
        </p:txBody>
      </p:sp>
      <p:sp>
        <p:nvSpPr>
          <p:cNvPr id="105"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667085"/>
                </a:solidFill>
                <a:effectLst/>
                <a:uFillTx/>
                <a:latin typeface="Aptos"/>
                <a:ea typeface="Aptos"/>
              </a:rPr>
              <a:t>High sampling frequency and long physical context can produce very long token sequences.</a:t>
            </a:r>
            <a:endParaRPr lang="it-IT" sz="1000" b="1" u="none" strike="noStrike" dirty="0">
              <a:solidFill>
                <a:srgbClr val="000000"/>
              </a:solidFill>
              <a:effectLst/>
              <a:uFillTx/>
              <a:latin typeface="Arial"/>
            </a:endParaRPr>
          </a:p>
        </p:txBody>
      </p:sp>
      <p:sp>
        <p:nvSpPr>
          <p:cNvPr id="106"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7"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dirty="0">
                <a:solidFill>
                  <a:srgbClr val="667085"/>
                </a:solidFill>
                <a:effectLst/>
                <a:uFillTx/>
                <a:latin typeface="Aptos"/>
                <a:ea typeface="Aptos"/>
              </a:rPr>
              <a:t>If every raw observation is a token, attention may become computationally heavy.</a:t>
            </a:r>
            <a:endParaRPr lang="it-IT" sz="800" b="1" u="none" strike="noStrike" dirty="0">
              <a:solidFill>
                <a:srgbClr val="000000"/>
              </a:solidFill>
              <a:effectLst/>
              <a:uFillTx/>
              <a:latin typeface="Arial"/>
            </a:endParaRPr>
          </a:p>
        </p:txBody>
      </p:sp>
      <p:sp>
        <p:nvSpPr>
          <p:cNvPr id="108" name="Shape 5"/>
          <p:cNvSpPr/>
          <p:nvPr/>
        </p:nvSpPr>
        <p:spPr>
          <a:xfrm>
            <a:off x="731520" y="1234440"/>
            <a:ext cx="1645560" cy="639720"/>
          </a:xfrm>
          <a:prstGeom prst="roundRect">
            <a:avLst>
              <a:gd name="adj" fmla="val 8571"/>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09" name="Text 6"/>
          <p:cNvSpPr/>
          <p:nvPr/>
        </p:nvSpPr>
        <p:spPr>
          <a:xfrm>
            <a:off x="777240" y="1261800"/>
            <a:ext cx="1554120" cy="585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vibration signal</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Fs = 1000 Hz</a:t>
            </a:r>
            <a:endParaRPr lang="it-IT" sz="1000" b="0" u="none" strike="noStrike">
              <a:solidFill>
                <a:srgbClr val="000000"/>
              </a:solidFill>
              <a:effectLst/>
              <a:uFillTx/>
              <a:latin typeface="Arial"/>
            </a:endParaRPr>
          </a:p>
        </p:txBody>
      </p:sp>
      <p:sp>
        <p:nvSpPr>
          <p:cNvPr id="110" name="Shape 7"/>
          <p:cNvSpPr/>
          <p:nvPr/>
        </p:nvSpPr>
        <p:spPr>
          <a:xfrm>
            <a:off x="2514600" y="1554480"/>
            <a:ext cx="1143000" cy="360"/>
          </a:xfrm>
          <a:prstGeom prst="line">
            <a:avLst/>
          </a:prstGeom>
          <a:ln w="12700">
            <a:solidFill>
              <a:srgbClr val="4D8CF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11" name="Shape 8"/>
          <p:cNvSpPr/>
          <p:nvPr/>
        </p:nvSpPr>
        <p:spPr>
          <a:xfrm>
            <a:off x="3840480" y="1234440"/>
            <a:ext cx="1828440" cy="639720"/>
          </a:xfrm>
          <a:prstGeom prst="roundRect">
            <a:avLst>
              <a:gd name="adj" fmla="val 8571"/>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2" name="Text 9"/>
          <p:cNvSpPr/>
          <p:nvPr/>
        </p:nvSpPr>
        <p:spPr>
          <a:xfrm>
            <a:off x="3886200" y="1261800"/>
            <a:ext cx="1737000" cy="585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10 seconds</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 10,000 samples</a:t>
            </a:r>
            <a:endParaRPr lang="it-IT" sz="1000" b="0" u="none" strike="noStrike">
              <a:solidFill>
                <a:srgbClr val="000000"/>
              </a:solidFill>
              <a:effectLst/>
              <a:uFillTx/>
              <a:latin typeface="Arial"/>
            </a:endParaRPr>
          </a:p>
        </p:txBody>
      </p:sp>
      <p:sp>
        <p:nvSpPr>
          <p:cNvPr id="113" name="Shape 10"/>
          <p:cNvSpPr/>
          <p:nvPr/>
        </p:nvSpPr>
        <p:spPr>
          <a:xfrm>
            <a:off x="5852160" y="1554480"/>
            <a:ext cx="1051560" cy="360"/>
          </a:xfrm>
          <a:prstGeom prst="line">
            <a:avLst/>
          </a:prstGeom>
          <a:ln w="12700">
            <a:solidFill>
              <a:srgbClr val="5F8E13"/>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14" name="Shape 11"/>
          <p:cNvSpPr/>
          <p:nvPr/>
        </p:nvSpPr>
        <p:spPr>
          <a:xfrm>
            <a:off x="7086600" y="1234440"/>
            <a:ext cx="1828440" cy="639720"/>
          </a:xfrm>
          <a:prstGeom prst="roundRect">
            <a:avLst>
              <a:gd name="adj" fmla="val 857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5" name="Text 12"/>
          <p:cNvSpPr/>
          <p:nvPr/>
        </p:nvSpPr>
        <p:spPr>
          <a:xfrm>
            <a:off x="7132320" y="1261800"/>
            <a:ext cx="1737000" cy="585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L = 10,000 tokens</a:t>
            </a:r>
            <a:endParaRPr lang="it-IT" sz="1000" b="0" u="none" strike="noStrike">
              <a:solidFill>
                <a:srgbClr val="000000"/>
              </a:solidFill>
              <a:effectLst/>
              <a:uFillTx/>
              <a:latin typeface="Arial"/>
            </a:endParaRPr>
          </a:p>
        </p:txBody>
      </p:sp>
      <p:sp>
        <p:nvSpPr>
          <p:cNvPr id="116" name="Shape 13"/>
          <p:cNvSpPr/>
          <p:nvPr/>
        </p:nvSpPr>
        <p:spPr>
          <a:xfrm>
            <a:off x="9098280" y="1554480"/>
            <a:ext cx="1051560" cy="36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17" name="Shape 14"/>
          <p:cNvSpPr/>
          <p:nvPr/>
        </p:nvSpPr>
        <p:spPr>
          <a:xfrm>
            <a:off x="10241280" y="1207080"/>
            <a:ext cx="1234080" cy="685440"/>
          </a:xfrm>
          <a:prstGeom prst="roundRect">
            <a:avLst>
              <a:gd name="adj" fmla="val 8000"/>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18" name="Text 15"/>
          <p:cNvSpPr/>
          <p:nvPr/>
        </p:nvSpPr>
        <p:spPr>
          <a:xfrm>
            <a:off x="10287000" y="1234440"/>
            <a:ext cx="1142640" cy="630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dirty="0">
                <a:solidFill>
                  <a:srgbClr val="111827"/>
                </a:solidFill>
                <a:effectLst/>
                <a:uFillTx/>
                <a:latin typeface="Aptos"/>
                <a:ea typeface="Aptos"/>
              </a:rPr>
              <a:t>100M scores</a:t>
            </a:r>
            <a:endParaRPr lang="it-IT" sz="1000" b="0" u="none" strike="noStrike" dirty="0">
              <a:solidFill>
                <a:srgbClr val="000000"/>
              </a:solidFill>
              <a:effectLst/>
              <a:uFillTx/>
              <a:latin typeface="Arial"/>
            </a:endParaRPr>
          </a:p>
          <a:p>
            <a:pPr algn="ctr" defTabSz="914400">
              <a:lnSpc>
                <a:spcPct val="100000"/>
              </a:lnSpc>
              <a:tabLst>
                <a:tab pos="0" algn="l"/>
              </a:tabLst>
            </a:pPr>
            <a:r>
              <a:rPr lang="en-US" sz="1000" b="1" u="none" strike="noStrike" dirty="0">
                <a:solidFill>
                  <a:srgbClr val="111827"/>
                </a:solidFill>
                <a:effectLst/>
                <a:highlight>
                  <a:srgbClr val="FFFF00"/>
                </a:highlight>
                <a:uFillTx/>
                <a:latin typeface="Aptos"/>
                <a:ea typeface="Aptos"/>
              </a:rPr>
              <a:t>per head</a:t>
            </a:r>
            <a:endParaRPr lang="it-IT" sz="1000" b="0" u="none" strike="noStrike" dirty="0">
              <a:solidFill>
                <a:srgbClr val="000000"/>
              </a:solidFill>
              <a:effectLst/>
              <a:highlight>
                <a:srgbClr val="FFFF00"/>
              </a:highlight>
              <a:uFillTx/>
              <a:latin typeface="Arial"/>
            </a:endParaRPr>
          </a:p>
        </p:txBody>
      </p:sp>
      <p:sp>
        <p:nvSpPr>
          <p:cNvPr id="119" name="Shape 16"/>
          <p:cNvSpPr/>
          <p:nvPr/>
        </p:nvSpPr>
        <p:spPr>
          <a:xfrm>
            <a:off x="822960" y="2926080"/>
            <a:ext cx="987552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20" name="Shape 17"/>
          <p:cNvSpPr/>
          <p:nvPr/>
        </p:nvSpPr>
        <p:spPr>
          <a:xfrm>
            <a:off x="9144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1" name="Shape 18"/>
          <p:cNvSpPr/>
          <p:nvPr/>
        </p:nvSpPr>
        <p:spPr>
          <a:xfrm>
            <a:off x="10515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2" name="Shape 19"/>
          <p:cNvSpPr/>
          <p:nvPr/>
        </p:nvSpPr>
        <p:spPr>
          <a:xfrm>
            <a:off x="11887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3" name="Shape 20"/>
          <p:cNvSpPr/>
          <p:nvPr/>
        </p:nvSpPr>
        <p:spPr>
          <a:xfrm>
            <a:off x="13258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4" name="Shape 21"/>
          <p:cNvSpPr/>
          <p:nvPr/>
        </p:nvSpPr>
        <p:spPr>
          <a:xfrm>
            <a:off x="14630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5" name="Shape 22"/>
          <p:cNvSpPr/>
          <p:nvPr/>
        </p:nvSpPr>
        <p:spPr>
          <a:xfrm>
            <a:off x="16002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6" name="Shape 23"/>
          <p:cNvSpPr/>
          <p:nvPr/>
        </p:nvSpPr>
        <p:spPr>
          <a:xfrm>
            <a:off x="17373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7" name="Shape 24"/>
          <p:cNvSpPr/>
          <p:nvPr/>
        </p:nvSpPr>
        <p:spPr>
          <a:xfrm>
            <a:off x="18745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8" name="Shape 25"/>
          <p:cNvSpPr/>
          <p:nvPr/>
        </p:nvSpPr>
        <p:spPr>
          <a:xfrm>
            <a:off x="20116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29" name="Shape 26"/>
          <p:cNvSpPr/>
          <p:nvPr/>
        </p:nvSpPr>
        <p:spPr>
          <a:xfrm>
            <a:off x="21488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0" name="Shape 27"/>
          <p:cNvSpPr/>
          <p:nvPr/>
        </p:nvSpPr>
        <p:spPr>
          <a:xfrm>
            <a:off x="22860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1" name="Shape 28"/>
          <p:cNvSpPr/>
          <p:nvPr/>
        </p:nvSpPr>
        <p:spPr>
          <a:xfrm>
            <a:off x="24231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2" name="Shape 29"/>
          <p:cNvSpPr/>
          <p:nvPr/>
        </p:nvSpPr>
        <p:spPr>
          <a:xfrm>
            <a:off x="25603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3" name="Shape 30"/>
          <p:cNvSpPr/>
          <p:nvPr/>
        </p:nvSpPr>
        <p:spPr>
          <a:xfrm>
            <a:off x="26974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4" name="Shape 31"/>
          <p:cNvSpPr/>
          <p:nvPr/>
        </p:nvSpPr>
        <p:spPr>
          <a:xfrm>
            <a:off x="28346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5" name="Shape 32"/>
          <p:cNvSpPr/>
          <p:nvPr/>
        </p:nvSpPr>
        <p:spPr>
          <a:xfrm>
            <a:off x="29718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6" name="Shape 33"/>
          <p:cNvSpPr/>
          <p:nvPr/>
        </p:nvSpPr>
        <p:spPr>
          <a:xfrm>
            <a:off x="31089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7" name="Shape 34"/>
          <p:cNvSpPr/>
          <p:nvPr/>
        </p:nvSpPr>
        <p:spPr>
          <a:xfrm>
            <a:off x="32461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8" name="Shape 35"/>
          <p:cNvSpPr/>
          <p:nvPr/>
        </p:nvSpPr>
        <p:spPr>
          <a:xfrm>
            <a:off x="33832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39" name="Shape 36"/>
          <p:cNvSpPr/>
          <p:nvPr/>
        </p:nvSpPr>
        <p:spPr>
          <a:xfrm>
            <a:off x="35204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0" name="Shape 37"/>
          <p:cNvSpPr/>
          <p:nvPr/>
        </p:nvSpPr>
        <p:spPr>
          <a:xfrm>
            <a:off x="36576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1" name="Shape 38"/>
          <p:cNvSpPr/>
          <p:nvPr/>
        </p:nvSpPr>
        <p:spPr>
          <a:xfrm>
            <a:off x="37947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2" name="Shape 39"/>
          <p:cNvSpPr/>
          <p:nvPr/>
        </p:nvSpPr>
        <p:spPr>
          <a:xfrm>
            <a:off x="39319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3" name="Shape 40"/>
          <p:cNvSpPr/>
          <p:nvPr/>
        </p:nvSpPr>
        <p:spPr>
          <a:xfrm>
            <a:off x="40690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4" name="Shape 41"/>
          <p:cNvSpPr/>
          <p:nvPr/>
        </p:nvSpPr>
        <p:spPr>
          <a:xfrm>
            <a:off x="42062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5" name="Shape 42"/>
          <p:cNvSpPr/>
          <p:nvPr/>
        </p:nvSpPr>
        <p:spPr>
          <a:xfrm>
            <a:off x="43434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6" name="Shape 43"/>
          <p:cNvSpPr/>
          <p:nvPr/>
        </p:nvSpPr>
        <p:spPr>
          <a:xfrm>
            <a:off x="44805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7" name="Shape 44"/>
          <p:cNvSpPr/>
          <p:nvPr/>
        </p:nvSpPr>
        <p:spPr>
          <a:xfrm>
            <a:off x="46177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8" name="Shape 45"/>
          <p:cNvSpPr/>
          <p:nvPr/>
        </p:nvSpPr>
        <p:spPr>
          <a:xfrm>
            <a:off x="47548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49" name="Shape 46"/>
          <p:cNvSpPr/>
          <p:nvPr/>
        </p:nvSpPr>
        <p:spPr>
          <a:xfrm>
            <a:off x="48920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0" name="Shape 47"/>
          <p:cNvSpPr/>
          <p:nvPr/>
        </p:nvSpPr>
        <p:spPr>
          <a:xfrm>
            <a:off x="50292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1" name="Shape 48"/>
          <p:cNvSpPr/>
          <p:nvPr/>
        </p:nvSpPr>
        <p:spPr>
          <a:xfrm>
            <a:off x="51663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2" name="Shape 49"/>
          <p:cNvSpPr/>
          <p:nvPr/>
        </p:nvSpPr>
        <p:spPr>
          <a:xfrm>
            <a:off x="53035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3" name="Shape 50"/>
          <p:cNvSpPr/>
          <p:nvPr/>
        </p:nvSpPr>
        <p:spPr>
          <a:xfrm>
            <a:off x="54406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4" name="Shape 51"/>
          <p:cNvSpPr/>
          <p:nvPr/>
        </p:nvSpPr>
        <p:spPr>
          <a:xfrm>
            <a:off x="55778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5" name="Shape 52"/>
          <p:cNvSpPr/>
          <p:nvPr/>
        </p:nvSpPr>
        <p:spPr>
          <a:xfrm>
            <a:off x="57150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6" name="Shape 53"/>
          <p:cNvSpPr/>
          <p:nvPr/>
        </p:nvSpPr>
        <p:spPr>
          <a:xfrm>
            <a:off x="58521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7" name="Shape 54"/>
          <p:cNvSpPr/>
          <p:nvPr/>
        </p:nvSpPr>
        <p:spPr>
          <a:xfrm>
            <a:off x="59893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8" name="Shape 55"/>
          <p:cNvSpPr/>
          <p:nvPr/>
        </p:nvSpPr>
        <p:spPr>
          <a:xfrm>
            <a:off x="61264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59" name="Shape 56"/>
          <p:cNvSpPr/>
          <p:nvPr/>
        </p:nvSpPr>
        <p:spPr>
          <a:xfrm>
            <a:off x="62636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0" name="Shape 57"/>
          <p:cNvSpPr/>
          <p:nvPr/>
        </p:nvSpPr>
        <p:spPr>
          <a:xfrm>
            <a:off x="64008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1" name="Shape 58"/>
          <p:cNvSpPr/>
          <p:nvPr/>
        </p:nvSpPr>
        <p:spPr>
          <a:xfrm>
            <a:off x="65379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2" name="Shape 59"/>
          <p:cNvSpPr/>
          <p:nvPr/>
        </p:nvSpPr>
        <p:spPr>
          <a:xfrm>
            <a:off x="66751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3" name="Shape 60"/>
          <p:cNvSpPr/>
          <p:nvPr/>
        </p:nvSpPr>
        <p:spPr>
          <a:xfrm>
            <a:off x="68122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4" name="Shape 61"/>
          <p:cNvSpPr/>
          <p:nvPr/>
        </p:nvSpPr>
        <p:spPr>
          <a:xfrm>
            <a:off x="69494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5" name="Shape 62"/>
          <p:cNvSpPr/>
          <p:nvPr/>
        </p:nvSpPr>
        <p:spPr>
          <a:xfrm>
            <a:off x="70866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6" name="Shape 63"/>
          <p:cNvSpPr/>
          <p:nvPr/>
        </p:nvSpPr>
        <p:spPr>
          <a:xfrm>
            <a:off x="72237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7" name="Shape 64"/>
          <p:cNvSpPr/>
          <p:nvPr/>
        </p:nvSpPr>
        <p:spPr>
          <a:xfrm>
            <a:off x="73609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8" name="Shape 65"/>
          <p:cNvSpPr/>
          <p:nvPr/>
        </p:nvSpPr>
        <p:spPr>
          <a:xfrm>
            <a:off x="74980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69" name="Shape 66"/>
          <p:cNvSpPr/>
          <p:nvPr/>
        </p:nvSpPr>
        <p:spPr>
          <a:xfrm>
            <a:off x="76352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0" name="Shape 67"/>
          <p:cNvSpPr/>
          <p:nvPr/>
        </p:nvSpPr>
        <p:spPr>
          <a:xfrm>
            <a:off x="77724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1" name="Shape 68"/>
          <p:cNvSpPr/>
          <p:nvPr/>
        </p:nvSpPr>
        <p:spPr>
          <a:xfrm>
            <a:off x="79095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2" name="Shape 69"/>
          <p:cNvSpPr/>
          <p:nvPr/>
        </p:nvSpPr>
        <p:spPr>
          <a:xfrm>
            <a:off x="80467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3" name="Shape 70"/>
          <p:cNvSpPr/>
          <p:nvPr/>
        </p:nvSpPr>
        <p:spPr>
          <a:xfrm>
            <a:off x="81838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4" name="Shape 71"/>
          <p:cNvSpPr/>
          <p:nvPr/>
        </p:nvSpPr>
        <p:spPr>
          <a:xfrm>
            <a:off x="83210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5" name="Shape 72"/>
          <p:cNvSpPr/>
          <p:nvPr/>
        </p:nvSpPr>
        <p:spPr>
          <a:xfrm>
            <a:off x="84582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6" name="Shape 73"/>
          <p:cNvSpPr/>
          <p:nvPr/>
        </p:nvSpPr>
        <p:spPr>
          <a:xfrm>
            <a:off x="85953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7" name="Shape 74"/>
          <p:cNvSpPr/>
          <p:nvPr/>
        </p:nvSpPr>
        <p:spPr>
          <a:xfrm>
            <a:off x="87325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8" name="Shape 75"/>
          <p:cNvSpPr/>
          <p:nvPr/>
        </p:nvSpPr>
        <p:spPr>
          <a:xfrm>
            <a:off x="88696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79" name="Shape 76"/>
          <p:cNvSpPr/>
          <p:nvPr/>
        </p:nvSpPr>
        <p:spPr>
          <a:xfrm>
            <a:off x="90068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0" name="Shape 77"/>
          <p:cNvSpPr/>
          <p:nvPr/>
        </p:nvSpPr>
        <p:spPr>
          <a:xfrm>
            <a:off x="91440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1" name="Shape 78"/>
          <p:cNvSpPr/>
          <p:nvPr/>
        </p:nvSpPr>
        <p:spPr>
          <a:xfrm>
            <a:off x="92811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2" name="Shape 79"/>
          <p:cNvSpPr/>
          <p:nvPr/>
        </p:nvSpPr>
        <p:spPr>
          <a:xfrm>
            <a:off x="94183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3" name="Shape 80"/>
          <p:cNvSpPr/>
          <p:nvPr/>
        </p:nvSpPr>
        <p:spPr>
          <a:xfrm>
            <a:off x="95554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4" name="Shape 81"/>
          <p:cNvSpPr/>
          <p:nvPr/>
        </p:nvSpPr>
        <p:spPr>
          <a:xfrm>
            <a:off x="96926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5" name="Shape 82"/>
          <p:cNvSpPr/>
          <p:nvPr/>
        </p:nvSpPr>
        <p:spPr>
          <a:xfrm>
            <a:off x="982980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6" name="Shape 83"/>
          <p:cNvSpPr/>
          <p:nvPr/>
        </p:nvSpPr>
        <p:spPr>
          <a:xfrm>
            <a:off x="996696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7" name="Shape 84"/>
          <p:cNvSpPr/>
          <p:nvPr/>
        </p:nvSpPr>
        <p:spPr>
          <a:xfrm>
            <a:off x="1010412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8" name="Shape 85"/>
          <p:cNvSpPr/>
          <p:nvPr/>
        </p:nvSpPr>
        <p:spPr>
          <a:xfrm>
            <a:off x="1024128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89" name="Shape 86"/>
          <p:cNvSpPr/>
          <p:nvPr/>
        </p:nvSpPr>
        <p:spPr>
          <a:xfrm>
            <a:off x="10378440" y="2889360"/>
            <a:ext cx="72720" cy="72720"/>
          </a:xfrm>
          <a:prstGeom prst="ellipse">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190" name="Text 87"/>
          <p:cNvSpPr/>
          <p:nvPr/>
        </p:nvSpPr>
        <p:spPr>
          <a:xfrm>
            <a:off x="822960" y="3154680"/>
            <a:ext cx="29257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900" b="0" u="none" strike="noStrike">
                <a:solidFill>
                  <a:srgbClr val="667085"/>
                </a:solidFill>
                <a:effectLst/>
                <a:uFillTx/>
                <a:latin typeface="Aptos"/>
                <a:ea typeface="Aptos"/>
              </a:rPr>
              <a:t>10 seconds of raw samples</a:t>
            </a:r>
            <a:endParaRPr lang="it-IT" sz="900" b="0" u="none" strike="noStrike">
              <a:solidFill>
                <a:srgbClr val="000000"/>
              </a:solidFill>
              <a:effectLst/>
              <a:uFillTx/>
              <a:latin typeface="Arial"/>
            </a:endParaRPr>
          </a:p>
        </p:txBody>
      </p:sp>
      <p:sp>
        <p:nvSpPr>
          <p:cNvPr id="191" name="Shape 88"/>
          <p:cNvSpPr/>
          <p:nvPr/>
        </p:nvSpPr>
        <p:spPr>
          <a:xfrm>
            <a:off x="1097280" y="4572000"/>
            <a:ext cx="1737000" cy="594000"/>
          </a:xfrm>
          <a:prstGeom prst="roundRect">
            <a:avLst>
              <a:gd name="adj" fmla="val 9231"/>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2" name="Text 89"/>
          <p:cNvSpPr/>
          <p:nvPr/>
        </p:nvSpPr>
        <p:spPr>
          <a:xfrm>
            <a:off x="1143000" y="4599360"/>
            <a:ext cx="164556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hourly observations</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1 year</a:t>
            </a:r>
            <a:endParaRPr lang="it-IT" sz="900" b="0" u="none" strike="noStrike">
              <a:solidFill>
                <a:srgbClr val="000000"/>
              </a:solidFill>
              <a:effectLst/>
              <a:uFillTx/>
              <a:latin typeface="Arial"/>
            </a:endParaRPr>
          </a:p>
        </p:txBody>
      </p:sp>
      <p:sp>
        <p:nvSpPr>
          <p:cNvPr id="193" name="Shape 90"/>
          <p:cNvSpPr/>
          <p:nvPr/>
        </p:nvSpPr>
        <p:spPr>
          <a:xfrm>
            <a:off x="3063240" y="4864320"/>
            <a:ext cx="1508760" cy="36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94" name="Shape 91"/>
          <p:cNvSpPr/>
          <p:nvPr/>
        </p:nvSpPr>
        <p:spPr>
          <a:xfrm>
            <a:off x="4754880" y="4526280"/>
            <a:ext cx="1737000" cy="685440"/>
          </a:xfrm>
          <a:prstGeom prst="roundRect">
            <a:avLst>
              <a:gd name="adj" fmla="val 800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5" name="Text 92"/>
          <p:cNvSpPr/>
          <p:nvPr/>
        </p:nvSpPr>
        <p:spPr>
          <a:xfrm>
            <a:off x="4800600" y="4553640"/>
            <a:ext cx="1645560" cy="630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24 × 365</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 8,760 tokens</a:t>
            </a:r>
            <a:endParaRPr lang="it-IT" sz="900" b="0" u="none" strike="noStrike">
              <a:solidFill>
                <a:srgbClr val="000000"/>
              </a:solidFill>
              <a:effectLst/>
              <a:uFillTx/>
              <a:latin typeface="Arial"/>
            </a:endParaRPr>
          </a:p>
        </p:txBody>
      </p:sp>
      <p:sp>
        <p:nvSpPr>
          <p:cNvPr id="196" name="Shape 93"/>
          <p:cNvSpPr/>
          <p:nvPr/>
        </p:nvSpPr>
        <p:spPr>
          <a:xfrm>
            <a:off x="6720840" y="4864320"/>
            <a:ext cx="1508760" cy="36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197" name="Shape 94"/>
          <p:cNvSpPr/>
          <p:nvPr/>
        </p:nvSpPr>
        <p:spPr>
          <a:xfrm>
            <a:off x="8412480" y="4526280"/>
            <a:ext cx="1828440" cy="685440"/>
          </a:xfrm>
          <a:prstGeom prst="roundRect">
            <a:avLst>
              <a:gd name="adj" fmla="val 8000"/>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198" name="Text 95"/>
          <p:cNvSpPr/>
          <p:nvPr/>
        </p:nvSpPr>
        <p:spPr>
          <a:xfrm>
            <a:off x="8458200" y="4553640"/>
            <a:ext cx="1737000" cy="630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≈76.7M scores</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per head</a:t>
            </a:r>
            <a:endParaRPr lang="it-IT" sz="900" b="0" u="none" strike="noStrike">
              <a:solidFill>
                <a:srgbClr val="000000"/>
              </a:solidFill>
              <a:effectLst/>
              <a:uFillTx/>
              <a:latin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F974866-0EF6-7CB2-4D34-7122485C4C19}"/>
              </a:ext>
            </a:extLst>
          </p:cNvPr>
          <p:cNvSpPr>
            <a:spLocks noGrp="1"/>
          </p:cNvSpPr>
          <p:nvPr>
            <p:ph type="title"/>
          </p:nvPr>
        </p:nvSpPr>
        <p:spPr/>
        <p:txBody>
          <a:bodyPr/>
          <a:lstStyle/>
          <a:p>
            <a:r>
              <a:rPr lang="en-GB" dirty="0"/>
              <a:t>Attention cost is not only the attention matrix</a:t>
            </a:r>
          </a:p>
        </p:txBody>
      </p:sp>
      <p:sp>
        <p:nvSpPr>
          <p:cNvPr id="3" name="Segnaposto contenuto 2">
            <a:extLst>
              <a:ext uri="{FF2B5EF4-FFF2-40B4-BE49-F238E27FC236}">
                <a16:creationId xmlns:a16="http://schemas.microsoft.com/office/drawing/2014/main" id="{B2F065EA-20C4-9EB5-18F5-BF3AA4827329}"/>
              </a:ext>
            </a:extLst>
          </p:cNvPr>
          <p:cNvSpPr>
            <a:spLocks noGrp="1"/>
          </p:cNvSpPr>
          <p:nvPr>
            <p:ph sz="half" idx="1"/>
          </p:nvPr>
        </p:nvSpPr>
        <p:spPr>
          <a:xfrm>
            <a:off x="677334" y="2160588"/>
            <a:ext cx="4497781" cy="4240211"/>
          </a:xfrm>
        </p:spPr>
        <p:txBody>
          <a:bodyPr>
            <a:normAutofit fontScale="92500" lnSpcReduction="10000"/>
          </a:bodyPr>
          <a:lstStyle/>
          <a:p>
            <a:r>
              <a:rPr lang="en-GB" dirty="0"/>
              <a:t>The Transformer also </a:t>
            </a:r>
            <a:r>
              <a:rPr lang="en-GB" b="1" dirty="0"/>
              <a:t>performs learned projections for queries, keys and values</a:t>
            </a:r>
            <a:r>
              <a:rPr lang="en-GB" dirty="0"/>
              <a:t>.</a:t>
            </a:r>
          </a:p>
          <a:p>
            <a:r>
              <a:rPr lang="en-GB" dirty="0"/>
              <a:t>Input representations: [N, L, </a:t>
            </a:r>
            <a:r>
              <a:rPr lang="en-GB" dirty="0" err="1"/>
              <a:t>d_model</a:t>
            </a:r>
            <a:r>
              <a:rPr lang="en-GB" dirty="0"/>
              <a:t>]</a:t>
            </a:r>
          </a:p>
          <a:p>
            <a:r>
              <a:rPr lang="en-GB" dirty="0"/>
              <a:t>are transformed into:</a:t>
            </a:r>
          </a:p>
          <a:p>
            <a:pPr lvl="1"/>
            <a:r>
              <a:rPr lang="en-GB" dirty="0"/>
              <a:t>queries; </a:t>
            </a:r>
          </a:p>
          <a:p>
            <a:pPr lvl="1"/>
            <a:r>
              <a:rPr lang="en-GB" dirty="0"/>
              <a:t>keys; </a:t>
            </a:r>
          </a:p>
          <a:p>
            <a:pPr lvl="1"/>
            <a:r>
              <a:rPr lang="en-GB" dirty="0"/>
              <a:t>values. </a:t>
            </a:r>
          </a:p>
          <a:p>
            <a:r>
              <a:rPr lang="en-GB" dirty="0"/>
              <a:t>These operations also require computation.</a:t>
            </a:r>
          </a:p>
          <a:p>
            <a:r>
              <a:rPr lang="en-GB" dirty="0"/>
              <a:t>However, </a:t>
            </a:r>
            <a:r>
              <a:rPr lang="en-GB" b="1" dirty="0"/>
              <a:t>for very long sequences, the pairwise attention operation becomes especially important </a:t>
            </a:r>
            <a:r>
              <a:rPr lang="en-GB" dirty="0"/>
              <a:t>because its cost grows approximately with: L²</a:t>
            </a:r>
          </a:p>
          <a:p>
            <a:endParaRPr lang="en-GB" dirty="0"/>
          </a:p>
        </p:txBody>
      </p:sp>
      <p:sp>
        <p:nvSpPr>
          <p:cNvPr id="4" name="Segnaposto contenuto 3">
            <a:extLst>
              <a:ext uri="{FF2B5EF4-FFF2-40B4-BE49-F238E27FC236}">
                <a16:creationId xmlns:a16="http://schemas.microsoft.com/office/drawing/2014/main" id="{D701364B-162D-ACB9-30E9-20F1A90E5B10}"/>
              </a:ext>
            </a:extLst>
          </p:cNvPr>
          <p:cNvSpPr>
            <a:spLocks noGrp="1"/>
          </p:cNvSpPr>
          <p:nvPr>
            <p:ph sz="half" idx="2"/>
          </p:nvPr>
        </p:nvSpPr>
        <p:spPr>
          <a:xfrm>
            <a:off x="6292653" y="2210276"/>
            <a:ext cx="5386719" cy="4502858"/>
          </a:xfrm>
        </p:spPr>
        <p:txBody>
          <a:bodyPr>
            <a:normAutofit fontScale="92500" lnSpcReduction="10000"/>
          </a:bodyPr>
          <a:lstStyle/>
          <a:p>
            <a:r>
              <a:rPr lang="en-GB" b="1" dirty="0"/>
              <a:t>Therefore Transformer cost depends on both</a:t>
            </a:r>
          </a:p>
          <a:p>
            <a:pPr lvl="1"/>
            <a:r>
              <a:rPr lang="en-GB" b="1" dirty="0"/>
              <a:t>sequence length L; </a:t>
            </a:r>
          </a:p>
          <a:p>
            <a:pPr lvl="1"/>
            <a:r>
              <a:rPr lang="en-GB" b="1" dirty="0"/>
              <a:t>representation dimension </a:t>
            </a:r>
            <a:r>
              <a:rPr lang="en-GB" b="1" dirty="0" err="1"/>
              <a:t>d_model</a:t>
            </a:r>
            <a:r>
              <a:rPr lang="en-GB" b="1" dirty="0"/>
              <a:t>. </a:t>
            </a:r>
          </a:p>
          <a:p>
            <a:endParaRPr lang="en-GB" b="1" dirty="0"/>
          </a:p>
          <a:p>
            <a:r>
              <a:rPr lang="en-GB" b="1" dirty="0"/>
              <a:t>Practical consequence</a:t>
            </a:r>
          </a:p>
          <a:p>
            <a:r>
              <a:rPr lang="en-GB" dirty="0"/>
              <a:t>Reducing sequence length can have a very large effect.</a:t>
            </a:r>
          </a:p>
          <a:p>
            <a:r>
              <a:rPr lang="en-GB" dirty="0"/>
              <a:t>For example:</a:t>
            </a:r>
          </a:p>
          <a:p>
            <a:r>
              <a:rPr lang="en-GB" dirty="0"/>
              <a:t>L = 1000 → 1,000,000 pairwise scores</a:t>
            </a:r>
          </a:p>
          <a:p>
            <a:r>
              <a:rPr lang="en-GB" dirty="0"/>
              <a:t>L = 100  →    10,000 pairwise scores</a:t>
            </a:r>
          </a:p>
          <a:p>
            <a:r>
              <a:rPr lang="en-GB" b="1" dirty="0"/>
              <a:t>Reducing L by a factor of 10 reduces the number of pairwise scores by a factor of approximately 100.</a:t>
            </a:r>
          </a:p>
          <a:p>
            <a:endParaRPr lang="en-GB" dirty="0"/>
          </a:p>
        </p:txBody>
      </p:sp>
    </p:spTree>
    <p:extLst>
      <p:ext uri="{BB962C8B-B14F-4D97-AF65-F5344CB8AC3E}">
        <p14:creationId xmlns:p14="http://schemas.microsoft.com/office/powerpoint/2010/main" val="21996054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522E5BB-BE37-08B7-32F5-08F84222F49F}"/>
              </a:ext>
            </a:extLst>
          </p:cNvPr>
          <p:cNvSpPr>
            <a:spLocks noGrp="1"/>
          </p:cNvSpPr>
          <p:nvPr>
            <p:ph type="title"/>
          </p:nvPr>
        </p:nvSpPr>
        <p:spPr/>
        <p:txBody>
          <a:bodyPr/>
          <a:lstStyle/>
          <a:p>
            <a:r>
              <a:rPr lang="en-GB" dirty="0"/>
              <a:t>RNN, CNN and attention scale differently with temporal length</a:t>
            </a:r>
          </a:p>
        </p:txBody>
      </p:sp>
      <p:sp>
        <p:nvSpPr>
          <p:cNvPr id="3" name="Segnaposto contenuto 2">
            <a:extLst>
              <a:ext uri="{FF2B5EF4-FFF2-40B4-BE49-F238E27FC236}">
                <a16:creationId xmlns:a16="http://schemas.microsoft.com/office/drawing/2014/main" id="{D2F15E1C-3012-7A16-ECA4-250C0763EF26}"/>
              </a:ext>
            </a:extLst>
          </p:cNvPr>
          <p:cNvSpPr>
            <a:spLocks noGrp="1"/>
          </p:cNvSpPr>
          <p:nvPr>
            <p:ph sz="half" idx="1"/>
          </p:nvPr>
        </p:nvSpPr>
        <p:spPr/>
        <p:txBody>
          <a:bodyPr>
            <a:normAutofit fontScale="62500" lnSpcReduction="20000"/>
          </a:bodyPr>
          <a:lstStyle/>
          <a:p>
            <a:r>
              <a:rPr lang="en-GB" b="1" dirty="0"/>
              <a:t>Recurrent network</a:t>
            </a:r>
          </a:p>
          <a:p>
            <a:r>
              <a:rPr lang="en-GB" dirty="0"/>
              <a:t>Each time step is processed sequentially.</a:t>
            </a:r>
          </a:p>
          <a:p>
            <a:r>
              <a:rPr lang="en-GB" dirty="0"/>
              <a:t>Approximate temporal progression:</a:t>
            </a:r>
          </a:p>
          <a:p>
            <a:r>
              <a:rPr lang="en-GB" dirty="0"/>
              <a:t>1 → 2 → 3 → ... → L</a:t>
            </a:r>
          </a:p>
          <a:p>
            <a:r>
              <a:rPr lang="en-GB" dirty="0"/>
              <a:t>Main limitation:</a:t>
            </a:r>
          </a:p>
          <a:p>
            <a:pPr lvl="0"/>
            <a:r>
              <a:rPr lang="en-GB" b="1" dirty="0"/>
              <a:t>limited parallelism across time. </a:t>
            </a:r>
          </a:p>
          <a:p>
            <a:endParaRPr lang="en-GB" dirty="0"/>
          </a:p>
        </p:txBody>
      </p:sp>
      <p:sp>
        <p:nvSpPr>
          <p:cNvPr id="4" name="Segnaposto contenuto 3">
            <a:extLst>
              <a:ext uri="{FF2B5EF4-FFF2-40B4-BE49-F238E27FC236}">
                <a16:creationId xmlns:a16="http://schemas.microsoft.com/office/drawing/2014/main" id="{0C136CBE-0190-DECE-987A-8FA069D7E801}"/>
              </a:ext>
            </a:extLst>
          </p:cNvPr>
          <p:cNvSpPr>
            <a:spLocks noGrp="1"/>
          </p:cNvSpPr>
          <p:nvPr>
            <p:ph sz="half" idx="2"/>
          </p:nvPr>
        </p:nvSpPr>
        <p:spPr/>
        <p:txBody>
          <a:bodyPr>
            <a:normAutofit fontScale="62500" lnSpcReduction="20000"/>
          </a:bodyPr>
          <a:lstStyle/>
          <a:p>
            <a:r>
              <a:rPr lang="en-GB" b="1" dirty="0"/>
              <a:t>Temporal CNN</a:t>
            </a:r>
          </a:p>
          <a:p>
            <a:r>
              <a:rPr lang="en-GB" b="1" dirty="0"/>
              <a:t>Convolutional operations are local and can be computed in parallel across positions</a:t>
            </a:r>
            <a:r>
              <a:rPr lang="en-GB" dirty="0"/>
              <a:t>.</a:t>
            </a:r>
          </a:p>
          <a:p>
            <a:r>
              <a:rPr lang="en-GB" dirty="0"/>
              <a:t>Cost grows roughly with:</a:t>
            </a:r>
          </a:p>
          <a:p>
            <a:pPr lvl="1"/>
            <a:r>
              <a:rPr lang="en-GB" dirty="0"/>
              <a:t>sequence length; </a:t>
            </a:r>
          </a:p>
          <a:p>
            <a:pPr lvl="1"/>
            <a:r>
              <a:rPr lang="en-GB" dirty="0"/>
              <a:t>kernel size; </a:t>
            </a:r>
          </a:p>
          <a:p>
            <a:pPr lvl="1"/>
            <a:r>
              <a:rPr lang="en-GB" dirty="0"/>
              <a:t>number of channels. </a:t>
            </a:r>
          </a:p>
          <a:p>
            <a:r>
              <a:rPr lang="en-GB" b="1" dirty="0"/>
              <a:t>Full self-attention</a:t>
            </a:r>
          </a:p>
          <a:p>
            <a:r>
              <a:rPr lang="en-GB" dirty="0"/>
              <a:t>Can also process positions in parallel, but explicitly computes many position-to-position interactions.</a:t>
            </a:r>
          </a:p>
          <a:p>
            <a:r>
              <a:rPr lang="en-GB" dirty="0"/>
              <a:t>Main limitation:</a:t>
            </a:r>
          </a:p>
          <a:p>
            <a:pPr lvl="1"/>
            <a:r>
              <a:rPr lang="en-GB" b="1" dirty="0"/>
              <a:t>memory and computation grow rapidly with L. </a:t>
            </a:r>
          </a:p>
          <a:p>
            <a:endParaRPr lang="en-GB" b="1" dirty="0"/>
          </a:p>
          <a:p>
            <a:r>
              <a:rPr lang="en-GB" b="1" dirty="0"/>
              <a:t>Important trade-off</a:t>
            </a:r>
          </a:p>
          <a:p>
            <a:r>
              <a:rPr lang="en-GB" dirty="0"/>
              <a:t>Transformers provide </a:t>
            </a:r>
            <a:r>
              <a:rPr lang="en-GB" b="1" dirty="0"/>
              <a:t>flexible global interaction</a:t>
            </a:r>
            <a:r>
              <a:rPr lang="en-GB" dirty="0"/>
              <a:t>, but this flexibility can become expensive for </a:t>
            </a:r>
            <a:r>
              <a:rPr lang="en-GB" b="1" dirty="0"/>
              <a:t>long temporal sequences</a:t>
            </a:r>
            <a:r>
              <a:rPr lang="en-GB" dirty="0"/>
              <a:t>.</a:t>
            </a:r>
          </a:p>
          <a:p>
            <a:endParaRPr lang="en-GB" dirty="0"/>
          </a:p>
        </p:txBody>
      </p:sp>
    </p:spTree>
    <p:extLst>
      <p:ext uri="{BB962C8B-B14F-4D97-AF65-F5344CB8AC3E}">
        <p14:creationId xmlns:p14="http://schemas.microsoft.com/office/powerpoint/2010/main" val="18830008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98332AA-8ED1-2B69-83A2-29BC16502AAE}"/>
              </a:ext>
            </a:extLst>
          </p:cNvPr>
          <p:cNvSpPr>
            <a:spLocks noGrp="1"/>
          </p:cNvSpPr>
          <p:nvPr>
            <p:ph type="title"/>
          </p:nvPr>
        </p:nvSpPr>
        <p:spPr/>
        <p:txBody>
          <a:bodyPr/>
          <a:lstStyle/>
          <a:p>
            <a:r>
              <a:rPr lang="en-GB" dirty="0"/>
              <a:t>How can long sequences be handled?</a:t>
            </a:r>
          </a:p>
        </p:txBody>
      </p:sp>
      <p:sp>
        <p:nvSpPr>
          <p:cNvPr id="3" name="Segnaposto contenuto 2">
            <a:extLst>
              <a:ext uri="{FF2B5EF4-FFF2-40B4-BE49-F238E27FC236}">
                <a16:creationId xmlns:a16="http://schemas.microsoft.com/office/drawing/2014/main" id="{870F2651-F292-8635-CA7F-94F6E8096E86}"/>
              </a:ext>
            </a:extLst>
          </p:cNvPr>
          <p:cNvSpPr>
            <a:spLocks noGrp="1"/>
          </p:cNvSpPr>
          <p:nvPr>
            <p:ph sz="half" idx="1"/>
          </p:nvPr>
        </p:nvSpPr>
        <p:spPr>
          <a:xfrm>
            <a:off x="677334" y="2160589"/>
            <a:ext cx="5567823" cy="4454220"/>
          </a:xfrm>
        </p:spPr>
        <p:txBody>
          <a:bodyPr>
            <a:normAutofit fontScale="85000" lnSpcReduction="20000"/>
          </a:bodyPr>
          <a:lstStyle/>
          <a:p>
            <a:r>
              <a:rPr lang="en-GB" dirty="0"/>
              <a:t>Several strategies can reduce attention cost.</a:t>
            </a:r>
          </a:p>
          <a:p>
            <a:endParaRPr lang="en-GB" b="1" dirty="0"/>
          </a:p>
          <a:p>
            <a:r>
              <a:rPr lang="en-GB" b="1" dirty="0" err="1"/>
              <a:t>Downsampling</a:t>
            </a:r>
            <a:endParaRPr lang="en-GB" b="1" dirty="0"/>
          </a:p>
          <a:p>
            <a:r>
              <a:rPr lang="en-GB" dirty="0"/>
              <a:t>Reduce the number of temporal positions before attention.</a:t>
            </a:r>
          </a:p>
          <a:p>
            <a:r>
              <a:rPr lang="en-GB" dirty="0"/>
              <a:t>Potential limitation: fine temporal information may be lost. </a:t>
            </a:r>
          </a:p>
          <a:p>
            <a:endParaRPr lang="en-GB" b="1" dirty="0"/>
          </a:p>
          <a:p>
            <a:r>
              <a:rPr lang="en-GB" b="1" dirty="0"/>
              <a:t>Local attention</a:t>
            </a:r>
          </a:p>
          <a:p>
            <a:r>
              <a:rPr lang="en-GB" dirty="0"/>
              <a:t>Allow each position to attend only to a local </a:t>
            </a:r>
            <a:r>
              <a:rPr lang="en-GB" dirty="0" err="1"/>
              <a:t>neighborhood</a:t>
            </a:r>
            <a:r>
              <a:rPr lang="en-GB" dirty="0"/>
              <a:t>.</a:t>
            </a:r>
          </a:p>
          <a:p>
            <a:r>
              <a:rPr lang="en-GB" dirty="0"/>
              <a:t>Advantage: lower cost. </a:t>
            </a:r>
          </a:p>
          <a:p>
            <a:r>
              <a:rPr lang="en-GB" dirty="0"/>
              <a:t>Limitation: direct global interaction is reduced. </a:t>
            </a:r>
          </a:p>
          <a:p>
            <a:endParaRPr lang="en-GB" dirty="0"/>
          </a:p>
        </p:txBody>
      </p:sp>
      <p:sp>
        <p:nvSpPr>
          <p:cNvPr id="4" name="Segnaposto contenuto 3">
            <a:extLst>
              <a:ext uri="{FF2B5EF4-FFF2-40B4-BE49-F238E27FC236}">
                <a16:creationId xmlns:a16="http://schemas.microsoft.com/office/drawing/2014/main" id="{330B9D8F-AA44-7785-0CA9-8F9599609896}"/>
              </a:ext>
            </a:extLst>
          </p:cNvPr>
          <p:cNvSpPr>
            <a:spLocks noGrp="1"/>
          </p:cNvSpPr>
          <p:nvPr>
            <p:ph sz="half" idx="2"/>
          </p:nvPr>
        </p:nvSpPr>
        <p:spPr>
          <a:xfrm>
            <a:off x="6096000" y="2160589"/>
            <a:ext cx="5717460" cy="4454220"/>
          </a:xfrm>
        </p:spPr>
        <p:txBody>
          <a:bodyPr>
            <a:normAutofit fontScale="85000" lnSpcReduction="20000"/>
          </a:bodyPr>
          <a:lstStyle/>
          <a:p>
            <a:r>
              <a:rPr lang="en-GB" b="1" dirty="0"/>
              <a:t>Sparse attention</a:t>
            </a:r>
          </a:p>
          <a:p>
            <a:r>
              <a:rPr lang="en-GB" dirty="0"/>
              <a:t>Allow only selected position-to-position interactions.</a:t>
            </a:r>
          </a:p>
          <a:p>
            <a:endParaRPr lang="en-GB" b="1" dirty="0"/>
          </a:p>
          <a:p>
            <a:r>
              <a:rPr lang="en-GB" b="1" dirty="0"/>
              <a:t>Patching</a:t>
            </a:r>
          </a:p>
          <a:p>
            <a:r>
              <a:rPr lang="en-GB" dirty="0"/>
              <a:t>Group several </a:t>
            </a:r>
            <a:r>
              <a:rPr lang="en-GB" dirty="0" err="1"/>
              <a:t>neighboring</a:t>
            </a:r>
            <a:r>
              <a:rPr lang="en-GB" dirty="0"/>
              <a:t> observations into one token.</a:t>
            </a:r>
          </a:p>
          <a:p>
            <a:r>
              <a:rPr lang="en-GB" dirty="0"/>
              <a:t>Example:</a:t>
            </a:r>
          </a:p>
          <a:p>
            <a:pPr lvl="1"/>
            <a:r>
              <a:rPr lang="en-GB" dirty="0"/>
              <a:t>1000 raw samples</a:t>
            </a:r>
          </a:p>
          <a:p>
            <a:pPr lvl="1"/>
            <a:r>
              <a:rPr lang="en-GB" dirty="0"/>
              <a:t>      ↓</a:t>
            </a:r>
          </a:p>
          <a:p>
            <a:pPr lvl="1"/>
            <a:r>
              <a:rPr lang="en-GB" dirty="0"/>
              <a:t>patch size = 20</a:t>
            </a:r>
          </a:p>
          <a:p>
            <a:pPr lvl="1"/>
            <a:r>
              <a:rPr lang="en-GB" dirty="0"/>
              <a:t>      ↓</a:t>
            </a:r>
          </a:p>
          <a:p>
            <a:pPr lvl="1"/>
            <a:r>
              <a:rPr lang="en-GB" dirty="0"/>
              <a:t>50 patch tokens</a:t>
            </a:r>
          </a:p>
          <a:p>
            <a:endParaRPr lang="en-GB" dirty="0"/>
          </a:p>
          <a:p>
            <a:r>
              <a:rPr lang="en-GB" dirty="0"/>
              <a:t>We will concentrate on </a:t>
            </a:r>
            <a:r>
              <a:rPr lang="en-GB" b="1" dirty="0"/>
              <a:t>patching</a:t>
            </a:r>
            <a:r>
              <a:rPr lang="en-GB" dirty="0"/>
              <a:t>, because it provides a simple and influential way of adapting Transformers to long time series.</a:t>
            </a:r>
          </a:p>
          <a:p>
            <a:endParaRPr lang="en-GB" dirty="0"/>
          </a:p>
        </p:txBody>
      </p:sp>
    </p:spTree>
    <p:extLst>
      <p:ext uri="{BB962C8B-B14F-4D97-AF65-F5344CB8AC3E}">
        <p14:creationId xmlns:p14="http://schemas.microsoft.com/office/powerpoint/2010/main" val="38072626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0"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Strategies for long sequences</a:t>
            </a:r>
            <a:endParaRPr lang="it-IT" sz="2100" b="0" u="none" strike="noStrike">
              <a:solidFill>
                <a:srgbClr val="000000"/>
              </a:solidFill>
              <a:effectLst/>
              <a:uFillTx/>
              <a:latin typeface="Arial"/>
            </a:endParaRPr>
          </a:p>
        </p:txBody>
      </p:sp>
      <p:sp>
        <p:nvSpPr>
          <p:cNvPr id="201"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667085"/>
                </a:solidFill>
                <a:effectLst/>
                <a:uFillTx/>
                <a:latin typeface="Aptos"/>
                <a:ea typeface="Aptos"/>
              </a:rPr>
              <a:t>Several mechanisms reduce attention cost or sequence length.</a:t>
            </a:r>
            <a:endParaRPr lang="it-IT" sz="1000" b="0" u="none" strike="noStrike" dirty="0">
              <a:solidFill>
                <a:srgbClr val="000000"/>
              </a:solidFill>
              <a:effectLst/>
              <a:uFillTx/>
              <a:latin typeface="Arial"/>
            </a:endParaRPr>
          </a:p>
        </p:txBody>
      </p:sp>
      <p:sp>
        <p:nvSpPr>
          <p:cNvPr id="202"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3"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667085"/>
                </a:solidFill>
                <a:effectLst/>
                <a:uFillTx/>
                <a:latin typeface="Aptos"/>
                <a:ea typeface="Aptos"/>
              </a:rPr>
              <a:t>Course focus: patching, because it is simple and widely used in temporal Transformers.</a:t>
            </a:r>
            <a:endParaRPr lang="it-IT" sz="900" b="0" u="none" strike="noStrike" dirty="0">
              <a:solidFill>
                <a:srgbClr val="000000"/>
              </a:solidFill>
              <a:effectLst/>
              <a:uFillTx/>
              <a:latin typeface="Arial"/>
            </a:endParaRPr>
          </a:p>
        </p:txBody>
      </p:sp>
      <p:sp>
        <p:nvSpPr>
          <p:cNvPr id="204" name="Shape 5"/>
          <p:cNvSpPr/>
          <p:nvPr/>
        </p:nvSpPr>
        <p:spPr>
          <a:xfrm>
            <a:off x="822960" y="1234440"/>
            <a:ext cx="1919880" cy="411120"/>
          </a:xfrm>
          <a:prstGeom prst="roundRect">
            <a:avLst>
              <a:gd name="adj" fmla="val 13333"/>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5" name="Text 6"/>
          <p:cNvSpPr/>
          <p:nvPr/>
        </p:nvSpPr>
        <p:spPr>
          <a:xfrm>
            <a:off x="868680" y="1261800"/>
            <a:ext cx="18284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Downsampling</a:t>
            </a:r>
            <a:endParaRPr lang="it-IT" sz="1100" b="0" u="none" strike="noStrike">
              <a:solidFill>
                <a:srgbClr val="000000"/>
              </a:solidFill>
              <a:effectLst/>
              <a:uFillTx/>
              <a:latin typeface="Arial"/>
            </a:endParaRPr>
          </a:p>
        </p:txBody>
      </p:sp>
      <p:sp>
        <p:nvSpPr>
          <p:cNvPr id="206" name="Shape 7"/>
          <p:cNvSpPr/>
          <p:nvPr/>
        </p:nvSpPr>
        <p:spPr>
          <a:xfrm>
            <a:off x="3291840" y="1234440"/>
            <a:ext cx="1919880" cy="411120"/>
          </a:xfrm>
          <a:prstGeom prst="roundRect">
            <a:avLst>
              <a:gd name="adj" fmla="val 1333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7" name="Text 8"/>
          <p:cNvSpPr/>
          <p:nvPr/>
        </p:nvSpPr>
        <p:spPr>
          <a:xfrm>
            <a:off x="3337560" y="1261800"/>
            <a:ext cx="18284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Local attention</a:t>
            </a:r>
            <a:endParaRPr lang="it-IT" sz="1100" b="0" u="none" strike="noStrike">
              <a:solidFill>
                <a:srgbClr val="000000"/>
              </a:solidFill>
              <a:effectLst/>
              <a:uFillTx/>
              <a:latin typeface="Arial"/>
            </a:endParaRPr>
          </a:p>
        </p:txBody>
      </p:sp>
      <p:sp>
        <p:nvSpPr>
          <p:cNvPr id="208" name="Shape 9"/>
          <p:cNvSpPr/>
          <p:nvPr/>
        </p:nvSpPr>
        <p:spPr>
          <a:xfrm>
            <a:off x="5760720" y="1234440"/>
            <a:ext cx="1919880" cy="411120"/>
          </a:xfrm>
          <a:prstGeom prst="roundRect">
            <a:avLst>
              <a:gd name="adj" fmla="val 13333"/>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09" name="Text 10"/>
          <p:cNvSpPr/>
          <p:nvPr/>
        </p:nvSpPr>
        <p:spPr>
          <a:xfrm>
            <a:off x="5806440" y="1261800"/>
            <a:ext cx="18284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Sparse attention</a:t>
            </a:r>
            <a:endParaRPr lang="it-IT" sz="1100" b="0" u="none" strike="noStrike">
              <a:solidFill>
                <a:srgbClr val="000000"/>
              </a:solidFill>
              <a:effectLst/>
              <a:uFillTx/>
              <a:latin typeface="Arial"/>
            </a:endParaRPr>
          </a:p>
        </p:txBody>
      </p:sp>
      <p:sp>
        <p:nvSpPr>
          <p:cNvPr id="210" name="Shape 11"/>
          <p:cNvSpPr/>
          <p:nvPr/>
        </p:nvSpPr>
        <p:spPr>
          <a:xfrm>
            <a:off x="8229600" y="1234440"/>
            <a:ext cx="1919880" cy="411120"/>
          </a:xfrm>
          <a:prstGeom prst="roundRect">
            <a:avLst>
              <a:gd name="adj" fmla="val 13333"/>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11" name="Text 12"/>
          <p:cNvSpPr/>
          <p:nvPr/>
        </p:nvSpPr>
        <p:spPr>
          <a:xfrm>
            <a:off x="8275320" y="1261800"/>
            <a:ext cx="18284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Patching</a:t>
            </a:r>
            <a:endParaRPr lang="it-IT" sz="1100" b="0" u="none" strike="noStrike">
              <a:solidFill>
                <a:srgbClr val="000000"/>
              </a:solidFill>
              <a:effectLst/>
              <a:uFillTx/>
              <a:latin typeface="Arial"/>
            </a:endParaRPr>
          </a:p>
        </p:txBody>
      </p:sp>
      <p:sp>
        <p:nvSpPr>
          <p:cNvPr id="212" name="Shape 13"/>
          <p:cNvSpPr/>
          <p:nvPr/>
        </p:nvSpPr>
        <p:spPr>
          <a:xfrm>
            <a:off x="105156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3" name="Shape 14"/>
          <p:cNvSpPr/>
          <p:nvPr/>
        </p:nvSpPr>
        <p:spPr>
          <a:xfrm>
            <a:off x="120708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4" name="Shape 15"/>
          <p:cNvSpPr/>
          <p:nvPr/>
        </p:nvSpPr>
        <p:spPr>
          <a:xfrm>
            <a:off x="136260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5" name="Shape 16"/>
          <p:cNvSpPr/>
          <p:nvPr/>
        </p:nvSpPr>
        <p:spPr>
          <a:xfrm>
            <a:off x="151776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6" name="Shape 17"/>
          <p:cNvSpPr/>
          <p:nvPr/>
        </p:nvSpPr>
        <p:spPr>
          <a:xfrm>
            <a:off x="167328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7" name="Shape 18"/>
          <p:cNvSpPr/>
          <p:nvPr/>
        </p:nvSpPr>
        <p:spPr>
          <a:xfrm>
            <a:off x="182880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8" name="Shape 19"/>
          <p:cNvSpPr/>
          <p:nvPr/>
        </p:nvSpPr>
        <p:spPr>
          <a:xfrm>
            <a:off x="198432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19" name="Shape 20"/>
          <p:cNvSpPr/>
          <p:nvPr/>
        </p:nvSpPr>
        <p:spPr>
          <a:xfrm>
            <a:off x="213984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0" name="Shape 21"/>
          <p:cNvSpPr/>
          <p:nvPr/>
        </p:nvSpPr>
        <p:spPr>
          <a:xfrm>
            <a:off x="229500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1" name="Shape 22"/>
          <p:cNvSpPr/>
          <p:nvPr/>
        </p:nvSpPr>
        <p:spPr>
          <a:xfrm>
            <a:off x="2450520" y="23317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2" name="Shape 23"/>
          <p:cNvSpPr/>
          <p:nvPr/>
        </p:nvSpPr>
        <p:spPr>
          <a:xfrm>
            <a:off x="1783080" y="2541960"/>
            <a:ext cx="360" cy="475560"/>
          </a:xfrm>
          <a:prstGeom prst="line">
            <a:avLst/>
          </a:prstGeom>
          <a:ln w="12700">
            <a:solidFill>
              <a:srgbClr val="4D8CF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223" name="Shape 24"/>
          <p:cNvSpPr/>
          <p:nvPr/>
        </p:nvSpPr>
        <p:spPr>
          <a:xfrm>
            <a:off x="1207080" y="3246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4" name="Shape 25"/>
          <p:cNvSpPr/>
          <p:nvPr/>
        </p:nvSpPr>
        <p:spPr>
          <a:xfrm>
            <a:off x="1517760" y="3246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5" name="Shape 26"/>
          <p:cNvSpPr/>
          <p:nvPr/>
        </p:nvSpPr>
        <p:spPr>
          <a:xfrm>
            <a:off x="1828800" y="3246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6" name="Shape 27"/>
          <p:cNvSpPr/>
          <p:nvPr/>
        </p:nvSpPr>
        <p:spPr>
          <a:xfrm>
            <a:off x="2139840" y="3246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7" name="Shape 28"/>
          <p:cNvSpPr/>
          <p:nvPr/>
        </p:nvSpPr>
        <p:spPr>
          <a:xfrm>
            <a:off x="2450520" y="3246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228" name="Text 29"/>
          <p:cNvSpPr/>
          <p:nvPr/>
        </p:nvSpPr>
        <p:spPr>
          <a:xfrm>
            <a:off x="868680" y="3794760"/>
            <a:ext cx="164556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fewer positions</a:t>
            </a:r>
            <a:endParaRPr lang="it-IT" sz="800" b="0" u="none" strike="noStrike">
              <a:solidFill>
                <a:srgbClr val="000000"/>
              </a:solidFill>
              <a:effectLst/>
              <a:uFillTx/>
              <a:latin typeface="Arial"/>
            </a:endParaRPr>
          </a:p>
          <a:p>
            <a:pPr algn="ctr" defTabSz="914400">
              <a:lnSpc>
                <a:spcPct val="100000"/>
              </a:lnSpc>
              <a:tabLst>
                <a:tab pos="0" algn="l"/>
              </a:tabLst>
            </a:pPr>
            <a:r>
              <a:rPr lang="en-US" sz="800" b="0" u="none" strike="noStrike">
                <a:solidFill>
                  <a:srgbClr val="667085"/>
                </a:solidFill>
                <a:effectLst/>
                <a:uFillTx/>
                <a:latin typeface="Aptos"/>
                <a:ea typeface="Aptos"/>
              </a:rPr>
              <a:t>but less detail</a:t>
            </a:r>
            <a:endParaRPr lang="it-IT" sz="800" b="0" u="none" strike="noStrike">
              <a:solidFill>
                <a:srgbClr val="000000"/>
              </a:solidFill>
              <a:effectLst/>
              <a:uFillTx/>
              <a:latin typeface="Arial"/>
            </a:endParaRPr>
          </a:p>
        </p:txBody>
      </p:sp>
      <p:sp>
        <p:nvSpPr>
          <p:cNvPr id="229" name="Shape 30"/>
          <p:cNvSpPr/>
          <p:nvPr/>
        </p:nvSpPr>
        <p:spPr>
          <a:xfrm>
            <a:off x="3429000" y="210312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0" name="Shape 31"/>
          <p:cNvSpPr/>
          <p:nvPr/>
        </p:nvSpPr>
        <p:spPr>
          <a:xfrm>
            <a:off x="3684960" y="210312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1" name="Shape 32"/>
          <p:cNvSpPr/>
          <p:nvPr/>
        </p:nvSpPr>
        <p:spPr>
          <a:xfrm>
            <a:off x="3940920" y="210312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2" name="Shape 33"/>
          <p:cNvSpPr/>
          <p:nvPr/>
        </p:nvSpPr>
        <p:spPr>
          <a:xfrm>
            <a:off x="4197240" y="210312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3" name="Shape 34"/>
          <p:cNvSpPr/>
          <p:nvPr/>
        </p:nvSpPr>
        <p:spPr>
          <a:xfrm>
            <a:off x="3429000" y="235908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4" name="Shape 35"/>
          <p:cNvSpPr/>
          <p:nvPr/>
        </p:nvSpPr>
        <p:spPr>
          <a:xfrm>
            <a:off x="3684960" y="235908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5" name="Shape 36"/>
          <p:cNvSpPr/>
          <p:nvPr/>
        </p:nvSpPr>
        <p:spPr>
          <a:xfrm>
            <a:off x="3940920" y="235908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6" name="Shape 37"/>
          <p:cNvSpPr/>
          <p:nvPr/>
        </p:nvSpPr>
        <p:spPr>
          <a:xfrm>
            <a:off x="4197240" y="235908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7" name="Shape 38"/>
          <p:cNvSpPr/>
          <p:nvPr/>
        </p:nvSpPr>
        <p:spPr>
          <a:xfrm>
            <a:off x="3429000" y="261504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8" name="Shape 39"/>
          <p:cNvSpPr/>
          <p:nvPr/>
        </p:nvSpPr>
        <p:spPr>
          <a:xfrm>
            <a:off x="3684960" y="261504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39" name="Shape 40"/>
          <p:cNvSpPr/>
          <p:nvPr/>
        </p:nvSpPr>
        <p:spPr>
          <a:xfrm>
            <a:off x="3940920" y="261504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0" name="Shape 41"/>
          <p:cNvSpPr/>
          <p:nvPr/>
        </p:nvSpPr>
        <p:spPr>
          <a:xfrm>
            <a:off x="4197240" y="261504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1" name="Shape 42"/>
          <p:cNvSpPr/>
          <p:nvPr/>
        </p:nvSpPr>
        <p:spPr>
          <a:xfrm>
            <a:off x="3429000" y="287136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2" name="Shape 43"/>
          <p:cNvSpPr/>
          <p:nvPr/>
        </p:nvSpPr>
        <p:spPr>
          <a:xfrm>
            <a:off x="3684960" y="287136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3" name="Shape 44"/>
          <p:cNvSpPr/>
          <p:nvPr/>
        </p:nvSpPr>
        <p:spPr>
          <a:xfrm>
            <a:off x="3940920" y="287136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4" name="Shape 45"/>
          <p:cNvSpPr/>
          <p:nvPr/>
        </p:nvSpPr>
        <p:spPr>
          <a:xfrm>
            <a:off x="4197240" y="2871360"/>
            <a:ext cx="228240" cy="228240"/>
          </a:xfrm>
          <a:prstGeom prst="rect">
            <a:avLst/>
          </a:prstGeom>
          <a:solidFill>
            <a:srgbClr val="86B81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5" name="Text 46"/>
          <p:cNvSpPr/>
          <p:nvPr/>
        </p:nvSpPr>
        <p:spPr>
          <a:xfrm>
            <a:off x="3246120" y="3794760"/>
            <a:ext cx="17370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only a neighborhood</a:t>
            </a:r>
            <a:endParaRPr lang="it-IT" sz="800" b="0" u="none" strike="noStrike">
              <a:solidFill>
                <a:srgbClr val="000000"/>
              </a:solidFill>
              <a:effectLst/>
              <a:uFillTx/>
              <a:latin typeface="Arial"/>
            </a:endParaRPr>
          </a:p>
        </p:txBody>
      </p:sp>
      <p:sp>
        <p:nvSpPr>
          <p:cNvPr id="246" name="Shape 47"/>
          <p:cNvSpPr/>
          <p:nvPr/>
        </p:nvSpPr>
        <p:spPr>
          <a:xfrm>
            <a:off x="5897880" y="210312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7" name="Shape 48"/>
          <p:cNvSpPr/>
          <p:nvPr/>
        </p:nvSpPr>
        <p:spPr>
          <a:xfrm>
            <a:off x="6153840" y="210312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8" name="Shape 49"/>
          <p:cNvSpPr/>
          <p:nvPr/>
        </p:nvSpPr>
        <p:spPr>
          <a:xfrm>
            <a:off x="6409800" y="210312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49" name="Shape 50"/>
          <p:cNvSpPr/>
          <p:nvPr/>
        </p:nvSpPr>
        <p:spPr>
          <a:xfrm>
            <a:off x="6666120" y="210312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0" name="Shape 51"/>
          <p:cNvSpPr/>
          <p:nvPr/>
        </p:nvSpPr>
        <p:spPr>
          <a:xfrm>
            <a:off x="5897880" y="235908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1" name="Shape 52"/>
          <p:cNvSpPr/>
          <p:nvPr/>
        </p:nvSpPr>
        <p:spPr>
          <a:xfrm>
            <a:off x="6153840" y="235908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2" name="Shape 53"/>
          <p:cNvSpPr/>
          <p:nvPr/>
        </p:nvSpPr>
        <p:spPr>
          <a:xfrm>
            <a:off x="6409800" y="235908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3" name="Shape 54"/>
          <p:cNvSpPr/>
          <p:nvPr/>
        </p:nvSpPr>
        <p:spPr>
          <a:xfrm>
            <a:off x="6666120" y="235908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4" name="Shape 55"/>
          <p:cNvSpPr/>
          <p:nvPr/>
        </p:nvSpPr>
        <p:spPr>
          <a:xfrm>
            <a:off x="5897880" y="261504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5" name="Shape 56"/>
          <p:cNvSpPr/>
          <p:nvPr/>
        </p:nvSpPr>
        <p:spPr>
          <a:xfrm>
            <a:off x="6153840" y="261504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6" name="Shape 57"/>
          <p:cNvSpPr/>
          <p:nvPr/>
        </p:nvSpPr>
        <p:spPr>
          <a:xfrm>
            <a:off x="6409800" y="261504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7" name="Shape 58"/>
          <p:cNvSpPr/>
          <p:nvPr/>
        </p:nvSpPr>
        <p:spPr>
          <a:xfrm>
            <a:off x="6666120" y="261504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8" name="Shape 59"/>
          <p:cNvSpPr/>
          <p:nvPr/>
        </p:nvSpPr>
        <p:spPr>
          <a:xfrm>
            <a:off x="5897880" y="287136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59" name="Shape 60"/>
          <p:cNvSpPr/>
          <p:nvPr/>
        </p:nvSpPr>
        <p:spPr>
          <a:xfrm>
            <a:off x="6153840" y="287136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0" name="Shape 61"/>
          <p:cNvSpPr/>
          <p:nvPr/>
        </p:nvSpPr>
        <p:spPr>
          <a:xfrm>
            <a:off x="6409800" y="2871360"/>
            <a:ext cx="228240" cy="228240"/>
          </a:xfrm>
          <a:prstGeom prst="rect">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1" name="Shape 62"/>
          <p:cNvSpPr/>
          <p:nvPr/>
        </p:nvSpPr>
        <p:spPr>
          <a:xfrm>
            <a:off x="6666120" y="2871360"/>
            <a:ext cx="228240" cy="228240"/>
          </a:xfrm>
          <a:prstGeom prst="rect">
            <a:avLst/>
          </a:prstGeom>
          <a:solidFill>
            <a:srgbClr val="BBA6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62" name="Text 63"/>
          <p:cNvSpPr/>
          <p:nvPr/>
        </p:nvSpPr>
        <p:spPr>
          <a:xfrm>
            <a:off x="5623560" y="3794760"/>
            <a:ext cx="17370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selected interactions</a:t>
            </a:r>
            <a:endParaRPr lang="it-IT" sz="800" b="0" u="none" strike="noStrike">
              <a:solidFill>
                <a:srgbClr val="000000"/>
              </a:solidFill>
              <a:effectLst/>
              <a:uFillTx/>
              <a:latin typeface="Arial"/>
            </a:endParaRPr>
          </a:p>
        </p:txBody>
      </p:sp>
      <p:sp>
        <p:nvSpPr>
          <p:cNvPr id="263" name="Shape 64"/>
          <p:cNvSpPr/>
          <p:nvPr/>
        </p:nvSpPr>
        <p:spPr>
          <a:xfrm>
            <a:off x="843084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64" name="Shape 65"/>
          <p:cNvSpPr/>
          <p:nvPr/>
        </p:nvSpPr>
        <p:spPr>
          <a:xfrm>
            <a:off x="854964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65" name="Shape 66"/>
          <p:cNvSpPr/>
          <p:nvPr/>
        </p:nvSpPr>
        <p:spPr>
          <a:xfrm>
            <a:off x="866844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66" name="Shape 67"/>
          <p:cNvSpPr/>
          <p:nvPr/>
        </p:nvSpPr>
        <p:spPr>
          <a:xfrm>
            <a:off x="878724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67" name="Shape 68"/>
          <p:cNvSpPr/>
          <p:nvPr/>
        </p:nvSpPr>
        <p:spPr>
          <a:xfrm>
            <a:off x="890640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68" name="Shape 69"/>
          <p:cNvSpPr/>
          <p:nvPr/>
        </p:nvSpPr>
        <p:spPr>
          <a:xfrm>
            <a:off x="902520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69" name="Shape 70"/>
          <p:cNvSpPr/>
          <p:nvPr/>
        </p:nvSpPr>
        <p:spPr>
          <a:xfrm>
            <a:off x="914400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70" name="Shape 71"/>
          <p:cNvSpPr/>
          <p:nvPr/>
        </p:nvSpPr>
        <p:spPr>
          <a:xfrm>
            <a:off x="926280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71" name="Shape 72"/>
          <p:cNvSpPr/>
          <p:nvPr/>
        </p:nvSpPr>
        <p:spPr>
          <a:xfrm>
            <a:off x="938160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72" name="Shape 73"/>
          <p:cNvSpPr/>
          <p:nvPr/>
        </p:nvSpPr>
        <p:spPr>
          <a:xfrm>
            <a:off x="950076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73" name="Shape 74"/>
          <p:cNvSpPr/>
          <p:nvPr/>
        </p:nvSpPr>
        <p:spPr>
          <a:xfrm>
            <a:off x="961956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74" name="Shape 75"/>
          <p:cNvSpPr/>
          <p:nvPr/>
        </p:nvSpPr>
        <p:spPr>
          <a:xfrm>
            <a:off x="9738360" y="230436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275" name="Shape 76"/>
          <p:cNvSpPr/>
          <p:nvPr/>
        </p:nvSpPr>
        <p:spPr>
          <a:xfrm>
            <a:off x="8275320" y="2971800"/>
            <a:ext cx="502560" cy="292320"/>
          </a:xfrm>
          <a:prstGeom prst="roundRect">
            <a:avLst>
              <a:gd name="adj" fmla="val 1875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76" name="Text 77"/>
          <p:cNvSpPr/>
          <p:nvPr/>
        </p:nvSpPr>
        <p:spPr>
          <a:xfrm>
            <a:off x="8321040" y="2999160"/>
            <a:ext cx="4111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600" b="0" u="none" strike="noStrike">
                <a:solidFill>
                  <a:srgbClr val="111827"/>
                </a:solidFill>
                <a:effectLst/>
                <a:uFillTx/>
                <a:latin typeface="Aptos"/>
                <a:ea typeface="Aptos"/>
              </a:rPr>
              <a:t>patch 1</a:t>
            </a:r>
            <a:endParaRPr lang="it-IT" sz="600" b="0" u="none" strike="noStrike">
              <a:solidFill>
                <a:srgbClr val="000000"/>
              </a:solidFill>
              <a:effectLst/>
              <a:uFillTx/>
              <a:latin typeface="Arial"/>
            </a:endParaRPr>
          </a:p>
        </p:txBody>
      </p:sp>
      <p:sp>
        <p:nvSpPr>
          <p:cNvPr id="277" name="Shape 78"/>
          <p:cNvSpPr/>
          <p:nvPr/>
        </p:nvSpPr>
        <p:spPr>
          <a:xfrm>
            <a:off x="8869680" y="2971800"/>
            <a:ext cx="502560" cy="292320"/>
          </a:xfrm>
          <a:prstGeom prst="roundRect">
            <a:avLst>
              <a:gd name="adj" fmla="val 1875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78" name="Text 79"/>
          <p:cNvSpPr/>
          <p:nvPr/>
        </p:nvSpPr>
        <p:spPr>
          <a:xfrm>
            <a:off x="8915400" y="2999160"/>
            <a:ext cx="4111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600" b="0" u="none" strike="noStrike">
                <a:solidFill>
                  <a:srgbClr val="111827"/>
                </a:solidFill>
                <a:effectLst/>
                <a:uFillTx/>
                <a:latin typeface="Aptos"/>
                <a:ea typeface="Aptos"/>
              </a:rPr>
              <a:t>patch 2</a:t>
            </a:r>
            <a:endParaRPr lang="it-IT" sz="600" b="0" u="none" strike="noStrike">
              <a:solidFill>
                <a:srgbClr val="000000"/>
              </a:solidFill>
              <a:effectLst/>
              <a:uFillTx/>
              <a:latin typeface="Arial"/>
            </a:endParaRPr>
          </a:p>
        </p:txBody>
      </p:sp>
      <p:sp>
        <p:nvSpPr>
          <p:cNvPr id="279" name="Shape 80"/>
          <p:cNvSpPr/>
          <p:nvPr/>
        </p:nvSpPr>
        <p:spPr>
          <a:xfrm>
            <a:off x="9464040" y="2971800"/>
            <a:ext cx="502560" cy="292320"/>
          </a:xfrm>
          <a:prstGeom prst="roundRect">
            <a:avLst>
              <a:gd name="adj" fmla="val 1875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0" name="Text 81"/>
          <p:cNvSpPr/>
          <p:nvPr/>
        </p:nvSpPr>
        <p:spPr>
          <a:xfrm>
            <a:off x="9509760" y="2999160"/>
            <a:ext cx="4111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600" b="0" u="none" strike="noStrike">
                <a:solidFill>
                  <a:srgbClr val="111827"/>
                </a:solidFill>
                <a:effectLst/>
                <a:uFillTx/>
                <a:latin typeface="Aptos"/>
                <a:ea typeface="Aptos"/>
              </a:rPr>
              <a:t>patch 3</a:t>
            </a:r>
            <a:endParaRPr lang="it-IT" sz="600" b="0" u="none" strike="noStrike">
              <a:solidFill>
                <a:srgbClr val="000000"/>
              </a:solidFill>
              <a:effectLst/>
              <a:uFillTx/>
              <a:latin typeface="Arial"/>
            </a:endParaRPr>
          </a:p>
        </p:txBody>
      </p:sp>
      <p:sp>
        <p:nvSpPr>
          <p:cNvPr id="281" name="Text 82"/>
          <p:cNvSpPr/>
          <p:nvPr/>
        </p:nvSpPr>
        <p:spPr>
          <a:xfrm>
            <a:off x="8229600" y="3794760"/>
            <a:ext cx="173700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group samples</a:t>
            </a:r>
            <a:endParaRPr lang="it-IT" sz="800" b="0" u="none" strike="noStrike">
              <a:solidFill>
                <a:srgbClr val="000000"/>
              </a:solidFill>
              <a:effectLst/>
              <a:uFillTx/>
              <a:latin typeface="Arial"/>
            </a:endParaRPr>
          </a:p>
          <a:p>
            <a:pPr algn="ctr" defTabSz="914400">
              <a:lnSpc>
                <a:spcPct val="100000"/>
              </a:lnSpc>
              <a:tabLst>
                <a:tab pos="0" algn="l"/>
              </a:tabLst>
            </a:pPr>
            <a:r>
              <a:rPr lang="en-US" sz="800" b="0" u="none" strike="noStrike">
                <a:solidFill>
                  <a:srgbClr val="667085"/>
                </a:solidFill>
                <a:effectLst/>
                <a:uFillTx/>
                <a:latin typeface="Aptos"/>
                <a:ea typeface="Aptos"/>
              </a:rPr>
              <a:t>into tokens</a:t>
            </a:r>
            <a:endParaRPr lang="it-IT" sz="800" b="0" u="none" strike="noStrike">
              <a:solidFill>
                <a:srgbClr val="000000"/>
              </a:solidFill>
              <a:effectLst/>
              <a:uFillTx/>
              <a:latin typeface="Arial"/>
            </a:endParaRPr>
          </a:p>
        </p:txBody>
      </p:sp>
      <p:sp>
        <p:nvSpPr>
          <p:cNvPr id="282" name="Shape 83"/>
          <p:cNvSpPr/>
          <p:nvPr/>
        </p:nvSpPr>
        <p:spPr>
          <a:xfrm>
            <a:off x="3657600" y="5257800"/>
            <a:ext cx="5028840" cy="548280"/>
          </a:xfrm>
          <a:prstGeom prst="roundRect">
            <a:avLst>
              <a:gd name="adj" fmla="val 10000"/>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3" name="Text 84"/>
          <p:cNvSpPr/>
          <p:nvPr/>
        </p:nvSpPr>
        <p:spPr>
          <a:xfrm>
            <a:off x="3703320" y="5285160"/>
            <a:ext cx="4937400" cy="493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1827"/>
                </a:solidFill>
                <a:effectLst/>
                <a:uFillTx/>
                <a:latin typeface="Aptos"/>
                <a:ea typeface="Aptos"/>
              </a:rPr>
              <a:t>1000 raw samples → 50 patch tokens</a:t>
            </a:r>
            <a:endParaRPr lang="it-IT" sz="1400" b="0" u="none" strike="noStrike">
              <a:solidFill>
                <a:srgbClr val="000000"/>
              </a:solidFill>
              <a:effectLst/>
              <a:uFillTx/>
              <a:latin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491412-B6FB-8BE3-9C30-FE198B548136}"/>
              </a:ext>
            </a:extLst>
          </p:cNvPr>
          <p:cNvSpPr>
            <a:spLocks noGrp="1"/>
          </p:cNvSpPr>
          <p:nvPr>
            <p:ph type="title"/>
          </p:nvPr>
        </p:nvSpPr>
        <p:spPr/>
        <p:txBody>
          <a:bodyPr/>
          <a:lstStyle/>
          <a:p>
            <a:r>
              <a:rPr lang="en-GB" dirty="0"/>
              <a:t>Block 6.H — Patching Time Series</a:t>
            </a:r>
          </a:p>
        </p:txBody>
      </p:sp>
      <p:sp>
        <p:nvSpPr>
          <p:cNvPr id="3" name="Segnaposto contenuto 2">
            <a:extLst>
              <a:ext uri="{FF2B5EF4-FFF2-40B4-BE49-F238E27FC236}">
                <a16:creationId xmlns:a16="http://schemas.microsoft.com/office/drawing/2014/main" id="{9403585B-5F87-10DF-CA45-E06EC8C000A4}"/>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06584740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356F09-5061-413A-BC53-B0DE85350AAA}"/>
              </a:ext>
            </a:extLst>
          </p:cNvPr>
          <p:cNvSpPr>
            <a:spLocks noGrp="1"/>
          </p:cNvSpPr>
          <p:nvPr>
            <p:ph type="title"/>
          </p:nvPr>
        </p:nvSpPr>
        <p:spPr/>
        <p:txBody>
          <a:bodyPr/>
          <a:lstStyle/>
          <a:p>
            <a:r>
              <a:rPr lang="en-GB" dirty="0"/>
              <a:t>One raw observation does not need to be one token</a:t>
            </a:r>
          </a:p>
        </p:txBody>
      </p:sp>
      <p:sp>
        <p:nvSpPr>
          <p:cNvPr id="3" name="Segnaposto contenuto 2">
            <a:extLst>
              <a:ext uri="{FF2B5EF4-FFF2-40B4-BE49-F238E27FC236}">
                <a16:creationId xmlns:a16="http://schemas.microsoft.com/office/drawing/2014/main" id="{4CFC3384-3CB9-A5E5-8C17-B50FCD842742}"/>
              </a:ext>
            </a:extLst>
          </p:cNvPr>
          <p:cNvSpPr>
            <a:spLocks noGrp="1"/>
          </p:cNvSpPr>
          <p:nvPr>
            <p:ph sz="half" idx="1"/>
          </p:nvPr>
        </p:nvSpPr>
        <p:spPr>
          <a:xfrm>
            <a:off x="677334" y="2160589"/>
            <a:ext cx="5110623" cy="4434764"/>
          </a:xfrm>
        </p:spPr>
        <p:txBody>
          <a:bodyPr>
            <a:normAutofit fontScale="92500" lnSpcReduction="20000"/>
          </a:bodyPr>
          <a:lstStyle/>
          <a:p>
            <a:r>
              <a:rPr lang="en-GB" dirty="0"/>
              <a:t>A straightforward Transformer approach would represent each time step as one token.</a:t>
            </a:r>
          </a:p>
          <a:p>
            <a:r>
              <a:rPr lang="en-GB" dirty="0"/>
              <a:t>Example:</a:t>
            </a:r>
          </a:p>
          <a:p>
            <a:pPr lvl="1"/>
            <a:r>
              <a:rPr lang="en-GB" dirty="0"/>
              <a:t>x[1] → token 1</a:t>
            </a:r>
          </a:p>
          <a:p>
            <a:pPr lvl="1"/>
            <a:r>
              <a:rPr lang="en-GB" dirty="0"/>
              <a:t>x[2] → token 2</a:t>
            </a:r>
          </a:p>
          <a:p>
            <a:pPr lvl="1"/>
            <a:r>
              <a:rPr lang="en-GB" dirty="0"/>
              <a:t>...</a:t>
            </a:r>
          </a:p>
          <a:p>
            <a:pPr lvl="1"/>
            <a:r>
              <a:rPr lang="en-GB" dirty="0"/>
              <a:t>x[1000] → token 1000</a:t>
            </a:r>
          </a:p>
          <a:p>
            <a:r>
              <a:rPr lang="en-GB" dirty="0"/>
              <a:t>This creates: L = 1000 tokens.</a:t>
            </a:r>
          </a:p>
          <a:p>
            <a:endParaRPr lang="en-GB" dirty="0"/>
          </a:p>
        </p:txBody>
      </p:sp>
      <p:sp>
        <p:nvSpPr>
          <p:cNvPr id="4" name="Segnaposto contenuto 3">
            <a:extLst>
              <a:ext uri="{FF2B5EF4-FFF2-40B4-BE49-F238E27FC236}">
                <a16:creationId xmlns:a16="http://schemas.microsoft.com/office/drawing/2014/main" id="{BDA1598B-A79F-B63C-8C16-7185AD41841D}"/>
              </a:ext>
            </a:extLst>
          </p:cNvPr>
          <p:cNvSpPr>
            <a:spLocks noGrp="1"/>
          </p:cNvSpPr>
          <p:nvPr>
            <p:ph sz="half" idx="2"/>
          </p:nvPr>
        </p:nvSpPr>
        <p:spPr>
          <a:xfrm>
            <a:off x="6096000" y="2160589"/>
            <a:ext cx="5698004" cy="4600134"/>
          </a:xfrm>
        </p:spPr>
        <p:txBody>
          <a:bodyPr>
            <a:normAutofit fontScale="92500" lnSpcReduction="20000"/>
          </a:bodyPr>
          <a:lstStyle/>
          <a:p>
            <a:r>
              <a:rPr lang="en-GB" b="1" dirty="0"/>
              <a:t>Alternative</a:t>
            </a:r>
          </a:p>
          <a:p>
            <a:r>
              <a:rPr lang="en-GB" dirty="0"/>
              <a:t>Group </a:t>
            </a:r>
            <a:r>
              <a:rPr lang="en-GB" dirty="0" err="1"/>
              <a:t>neighboring</a:t>
            </a:r>
            <a:r>
              <a:rPr lang="en-GB" dirty="0"/>
              <a:t> observations into short temporal segments called </a:t>
            </a:r>
            <a:r>
              <a:rPr lang="en-GB" b="1" dirty="0"/>
              <a:t>patches</a:t>
            </a:r>
            <a:r>
              <a:rPr lang="en-GB" dirty="0"/>
              <a:t>.</a:t>
            </a:r>
          </a:p>
          <a:p>
            <a:r>
              <a:rPr lang="en-GB" dirty="0"/>
              <a:t>For patch size: P = 20</a:t>
            </a:r>
          </a:p>
          <a:p>
            <a:r>
              <a:rPr lang="en-GB" dirty="0"/>
              <a:t>we obtain approximately:</a:t>
            </a:r>
          </a:p>
          <a:p>
            <a:r>
              <a:rPr lang="en-GB" dirty="0"/>
              <a:t>1000 / 20 = 50 patches.</a:t>
            </a:r>
          </a:p>
          <a:p>
            <a:r>
              <a:rPr lang="en-GB" b="1" dirty="0"/>
              <a:t>Conceptual transformation</a:t>
            </a:r>
          </a:p>
          <a:p>
            <a:r>
              <a:rPr lang="en-GB" dirty="0"/>
              <a:t>raw samples</a:t>
            </a:r>
          </a:p>
          <a:p>
            <a:r>
              <a:rPr lang="en-GB" dirty="0"/>
              <a:t>[x1 ... x20] [x21 ... x40] [x41 ... x60] ...</a:t>
            </a:r>
          </a:p>
          <a:p>
            <a:r>
              <a:rPr lang="en-GB" dirty="0"/>
              <a:t>      ↓             ↓             ↓</a:t>
            </a:r>
          </a:p>
          <a:p>
            <a:r>
              <a:rPr lang="en-GB" dirty="0"/>
              <a:t>    patch 1       patch 2       patch 3</a:t>
            </a:r>
          </a:p>
          <a:p>
            <a:endParaRPr lang="en-GB" b="1" dirty="0"/>
          </a:p>
          <a:p>
            <a:r>
              <a:rPr lang="en-GB" b="1" dirty="0"/>
              <a:t>Patching changes the basic Transformer token from an individual observation to a short temporal segment.</a:t>
            </a:r>
          </a:p>
          <a:p>
            <a:endParaRPr lang="en-GB" dirty="0"/>
          </a:p>
        </p:txBody>
      </p:sp>
    </p:spTree>
    <p:extLst>
      <p:ext uri="{BB962C8B-B14F-4D97-AF65-F5344CB8AC3E}">
        <p14:creationId xmlns:p14="http://schemas.microsoft.com/office/powerpoint/2010/main" val="245935413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5"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Patching: raw observations become temporal tokens</a:t>
            </a:r>
            <a:endParaRPr lang="it-IT" sz="2100" b="0" u="none" strike="noStrike">
              <a:solidFill>
                <a:srgbClr val="000000"/>
              </a:solidFill>
              <a:effectLst/>
              <a:uFillTx/>
              <a:latin typeface="Arial"/>
            </a:endParaRPr>
          </a:p>
        </p:txBody>
      </p:sp>
      <p:sp>
        <p:nvSpPr>
          <p:cNvPr id="286"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dirty="0">
                <a:solidFill>
                  <a:srgbClr val="667085"/>
                </a:solidFill>
                <a:effectLst/>
                <a:uFillTx/>
                <a:latin typeface="Aptos"/>
                <a:ea typeface="Aptos"/>
              </a:rPr>
              <a:t>One Transformer token can represent a short segment rather than one raw sample</a:t>
            </a:r>
            <a:r>
              <a:rPr lang="en-US" sz="850" b="0" u="none" strike="noStrike" dirty="0">
                <a:solidFill>
                  <a:srgbClr val="667085"/>
                </a:solidFill>
                <a:effectLst/>
                <a:uFillTx/>
                <a:latin typeface="Aptos"/>
                <a:ea typeface="Aptos"/>
              </a:rPr>
              <a:t>.</a:t>
            </a:r>
            <a:endParaRPr lang="it-IT" sz="850" b="0" u="none" strike="noStrike" dirty="0">
              <a:solidFill>
                <a:srgbClr val="000000"/>
              </a:solidFill>
              <a:effectLst/>
              <a:uFillTx/>
              <a:latin typeface="Arial"/>
            </a:endParaRPr>
          </a:p>
        </p:txBody>
      </p:sp>
      <p:sp>
        <p:nvSpPr>
          <p:cNvPr id="287"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288"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667085"/>
                </a:solidFill>
                <a:effectLst/>
                <a:uFillTx/>
                <a:latin typeface="Aptos"/>
                <a:ea typeface="Aptos"/>
              </a:rPr>
              <a:t>Patching changes the unit of attention from individual sample to local temporal segment.</a:t>
            </a:r>
            <a:endParaRPr lang="it-IT" sz="900" b="0" u="none" strike="noStrike" dirty="0">
              <a:solidFill>
                <a:srgbClr val="000000"/>
              </a:solidFill>
              <a:effectLst/>
              <a:uFillTx/>
              <a:latin typeface="Arial"/>
            </a:endParaRPr>
          </a:p>
        </p:txBody>
      </p:sp>
      <p:sp>
        <p:nvSpPr>
          <p:cNvPr id="289" name="Shape 5"/>
          <p:cNvSpPr/>
          <p:nvPr/>
        </p:nvSpPr>
        <p:spPr>
          <a:xfrm>
            <a:off x="731520" y="1828800"/>
            <a:ext cx="987552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290" name="Shape 6"/>
          <p:cNvSpPr/>
          <p:nvPr/>
        </p:nvSpPr>
        <p:spPr>
          <a:xfrm>
            <a:off x="8686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1" name="Shape 7"/>
          <p:cNvSpPr/>
          <p:nvPr/>
        </p:nvSpPr>
        <p:spPr>
          <a:xfrm>
            <a:off x="10972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2" name="Shape 8"/>
          <p:cNvSpPr/>
          <p:nvPr/>
        </p:nvSpPr>
        <p:spPr>
          <a:xfrm>
            <a:off x="13258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3" name="Shape 9"/>
          <p:cNvSpPr/>
          <p:nvPr/>
        </p:nvSpPr>
        <p:spPr>
          <a:xfrm>
            <a:off x="15544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4" name="Shape 10"/>
          <p:cNvSpPr/>
          <p:nvPr/>
        </p:nvSpPr>
        <p:spPr>
          <a:xfrm>
            <a:off x="17830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5" name="Shape 11"/>
          <p:cNvSpPr/>
          <p:nvPr/>
        </p:nvSpPr>
        <p:spPr>
          <a:xfrm>
            <a:off x="20116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6" name="Shape 12"/>
          <p:cNvSpPr/>
          <p:nvPr/>
        </p:nvSpPr>
        <p:spPr>
          <a:xfrm>
            <a:off x="22402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7" name="Shape 13"/>
          <p:cNvSpPr/>
          <p:nvPr/>
        </p:nvSpPr>
        <p:spPr>
          <a:xfrm>
            <a:off x="24688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8" name="Shape 14"/>
          <p:cNvSpPr/>
          <p:nvPr/>
        </p:nvSpPr>
        <p:spPr>
          <a:xfrm>
            <a:off x="26974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299" name="Shape 15"/>
          <p:cNvSpPr/>
          <p:nvPr/>
        </p:nvSpPr>
        <p:spPr>
          <a:xfrm>
            <a:off x="29260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0" name="Shape 16"/>
          <p:cNvSpPr/>
          <p:nvPr/>
        </p:nvSpPr>
        <p:spPr>
          <a:xfrm>
            <a:off x="31546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1" name="Shape 17"/>
          <p:cNvSpPr/>
          <p:nvPr/>
        </p:nvSpPr>
        <p:spPr>
          <a:xfrm>
            <a:off x="33832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2" name="Shape 18"/>
          <p:cNvSpPr/>
          <p:nvPr/>
        </p:nvSpPr>
        <p:spPr>
          <a:xfrm>
            <a:off x="36118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3" name="Shape 19"/>
          <p:cNvSpPr/>
          <p:nvPr/>
        </p:nvSpPr>
        <p:spPr>
          <a:xfrm>
            <a:off x="38404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4" name="Shape 20"/>
          <p:cNvSpPr/>
          <p:nvPr/>
        </p:nvSpPr>
        <p:spPr>
          <a:xfrm>
            <a:off x="40690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5" name="Shape 21"/>
          <p:cNvSpPr/>
          <p:nvPr/>
        </p:nvSpPr>
        <p:spPr>
          <a:xfrm>
            <a:off x="42976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6" name="Shape 22"/>
          <p:cNvSpPr/>
          <p:nvPr/>
        </p:nvSpPr>
        <p:spPr>
          <a:xfrm>
            <a:off x="45262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7" name="Shape 23"/>
          <p:cNvSpPr/>
          <p:nvPr/>
        </p:nvSpPr>
        <p:spPr>
          <a:xfrm>
            <a:off x="47548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8" name="Shape 24"/>
          <p:cNvSpPr/>
          <p:nvPr/>
        </p:nvSpPr>
        <p:spPr>
          <a:xfrm>
            <a:off x="49834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09" name="Shape 25"/>
          <p:cNvSpPr/>
          <p:nvPr/>
        </p:nvSpPr>
        <p:spPr>
          <a:xfrm>
            <a:off x="52120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0" name="Shape 26"/>
          <p:cNvSpPr/>
          <p:nvPr/>
        </p:nvSpPr>
        <p:spPr>
          <a:xfrm>
            <a:off x="54406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1" name="Shape 27"/>
          <p:cNvSpPr/>
          <p:nvPr/>
        </p:nvSpPr>
        <p:spPr>
          <a:xfrm>
            <a:off x="56692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2" name="Shape 28"/>
          <p:cNvSpPr/>
          <p:nvPr/>
        </p:nvSpPr>
        <p:spPr>
          <a:xfrm>
            <a:off x="58978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3" name="Shape 29"/>
          <p:cNvSpPr/>
          <p:nvPr/>
        </p:nvSpPr>
        <p:spPr>
          <a:xfrm>
            <a:off x="61264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4" name="Shape 30"/>
          <p:cNvSpPr/>
          <p:nvPr/>
        </p:nvSpPr>
        <p:spPr>
          <a:xfrm>
            <a:off x="63550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5" name="Shape 31"/>
          <p:cNvSpPr/>
          <p:nvPr/>
        </p:nvSpPr>
        <p:spPr>
          <a:xfrm>
            <a:off x="65836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6" name="Shape 32"/>
          <p:cNvSpPr/>
          <p:nvPr/>
        </p:nvSpPr>
        <p:spPr>
          <a:xfrm>
            <a:off x="68122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7" name="Shape 33"/>
          <p:cNvSpPr/>
          <p:nvPr/>
        </p:nvSpPr>
        <p:spPr>
          <a:xfrm>
            <a:off x="70408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8" name="Shape 34"/>
          <p:cNvSpPr/>
          <p:nvPr/>
        </p:nvSpPr>
        <p:spPr>
          <a:xfrm>
            <a:off x="72694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19" name="Shape 35"/>
          <p:cNvSpPr/>
          <p:nvPr/>
        </p:nvSpPr>
        <p:spPr>
          <a:xfrm>
            <a:off x="74980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0" name="Shape 36"/>
          <p:cNvSpPr/>
          <p:nvPr/>
        </p:nvSpPr>
        <p:spPr>
          <a:xfrm>
            <a:off x="77266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1" name="Shape 37"/>
          <p:cNvSpPr/>
          <p:nvPr/>
        </p:nvSpPr>
        <p:spPr>
          <a:xfrm>
            <a:off x="7955280" y="179208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2" name="Shape 38"/>
          <p:cNvSpPr/>
          <p:nvPr/>
        </p:nvSpPr>
        <p:spPr>
          <a:xfrm>
            <a:off x="81838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3" name="Shape 39"/>
          <p:cNvSpPr/>
          <p:nvPr/>
        </p:nvSpPr>
        <p:spPr>
          <a:xfrm>
            <a:off x="84124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4" name="Shape 40"/>
          <p:cNvSpPr/>
          <p:nvPr/>
        </p:nvSpPr>
        <p:spPr>
          <a:xfrm>
            <a:off x="86410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5" name="Shape 41"/>
          <p:cNvSpPr/>
          <p:nvPr/>
        </p:nvSpPr>
        <p:spPr>
          <a:xfrm>
            <a:off x="88696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6" name="Shape 42"/>
          <p:cNvSpPr/>
          <p:nvPr/>
        </p:nvSpPr>
        <p:spPr>
          <a:xfrm>
            <a:off x="90982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7" name="Shape 43"/>
          <p:cNvSpPr/>
          <p:nvPr/>
        </p:nvSpPr>
        <p:spPr>
          <a:xfrm>
            <a:off x="93268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8" name="Shape 44"/>
          <p:cNvSpPr/>
          <p:nvPr/>
        </p:nvSpPr>
        <p:spPr>
          <a:xfrm>
            <a:off x="95554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29" name="Shape 45"/>
          <p:cNvSpPr/>
          <p:nvPr/>
        </p:nvSpPr>
        <p:spPr>
          <a:xfrm>
            <a:off x="9784080" y="179208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30" name="Shape 46"/>
          <p:cNvSpPr/>
          <p:nvPr/>
        </p:nvSpPr>
        <p:spPr>
          <a:xfrm>
            <a:off x="758880" y="2011680"/>
            <a:ext cx="1737000" cy="319680"/>
          </a:xfrm>
          <a:prstGeom prst="bracePair">
            <a:avLst>
              <a:gd name="adj" fmla="val 8333"/>
            </a:avLst>
          </a:prstGeom>
          <a:noFill/>
          <a:ln w="12700">
            <a:solidFill>
              <a:srgbClr val="6670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1" name="Text 47"/>
          <p:cNvSpPr/>
          <p:nvPr/>
        </p:nvSpPr>
        <p:spPr>
          <a:xfrm>
            <a:off x="941760" y="2423160"/>
            <a:ext cx="12798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patch 1</a:t>
            </a:r>
            <a:endParaRPr lang="it-IT" sz="700" b="0" u="none" strike="noStrike">
              <a:solidFill>
                <a:srgbClr val="000000"/>
              </a:solidFill>
              <a:effectLst/>
              <a:uFillTx/>
              <a:latin typeface="Arial"/>
            </a:endParaRPr>
          </a:p>
        </p:txBody>
      </p:sp>
      <p:sp>
        <p:nvSpPr>
          <p:cNvPr id="332" name="Shape 48"/>
          <p:cNvSpPr/>
          <p:nvPr/>
        </p:nvSpPr>
        <p:spPr>
          <a:xfrm>
            <a:off x="1627560" y="27432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3" name="Shape 49"/>
          <p:cNvSpPr/>
          <p:nvPr/>
        </p:nvSpPr>
        <p:spPr>
          <a:xfrm>
            <a:off x="1170360" y="3520440"/>
            <a:ext cx="914040" cy="347040"/>
          </a:xfrm>
          <a:prstGeom prst="roundRect">
            <a:avLst>
              <a:gd name="adj" fmla="val 1578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4" name="Text 50"/>
          <p:cNvSpPr/>
          <p:nvPr/>
        </p:nvSpPr>
        <p:spPr>
          <a:xfrm>
            <a:off x="1216080" y="3547800"/>
            <a:ext cx="822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token 1</a:t>
            </a:r>
            <a:endParaRPr lang="it-IT" sz="800" b="0" u="none" strike="noStrike">
              <a:solidFill>
                <a:srgbClr val="000000"/>
              </a:solidFill>
              <a:effectLst/>
              <a:uFillTx/>
              <a:latin typeface="Arial"/>
            </a:endParaRPr>
          </a:p>
        </p:txBody>
      </p:sp>
      <p:sp>
        <p:nvSpPr>
          <p:cNvPr id="335" name="Shape 51"/>
          <p:cNvSpPr/>
          <p:nvPr/>
        </p:nvSpPr>
        <p:spPr>
          <a:xfrm>
            <a:off x="2587680" y="2011680"/>
            <a:ext cx="1737000" cy="319680"/>
          </a:xfrm>
          <a:prstGeom prst="bracePair">
            <a:avLst>
              <a:gd name="adj" fmla="val 8333"/>
            </a:avLst>
          </a:prstGeom>
          <a:noFill/>
          <a:ln w="12700">
            <a:solidFill>
              <a:srgbClr val="6670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6" name="Text 52"/>
          <p:cNvSpPr/>
          <p:nvPr/>
        </p:nvSpPr>
        <p:spPr>
          <a:xfrm>
            <a:off x="2770560" y="2423160"/>
            <a:ext cx="12798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patch 2</a:t>
            </a:r>
            <a:endParaRPr lang="it-IT" sz="700" b="0" u="none" strike="noStrike">
              <a:solidFill>
                <a:srgbClr val="000000"/>
              </a:solidFill>
              <a:effectLst/>
              <a:uFillTx/>
              <a:latin typeface="Arial"/>
            </a:endParaRPr>
          </a:p>
        </p:txBody>
      </p:sp>
      <p:sp>
        <p:nvSpPr>
          <p:cNvPr id="337" name="Shape 53"/>
          <p:cNvSpPr/>
          <p:nvPr/>
        </p:nvSpPr>
        <p:spPr>
          <a:xfrm>
            <a:off x="3456360" y="27432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38" name="Shape 54"/>
          <p:cNvSpPr/>
          <p:nvPr/>
        </p:nvSpPr>
        <p:spPr>
          <a:xfrm>
            <a:off x="2999160" y="3520440"/>
            <a:ext cx="914040" cy="347040"/>
          </a:xfrm>
          <a:prstGeom prst="roundRect">
            <a:avLst>
              <a:gd name="adj" fmla="val 15789"/>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39" name="Text 55"/>
          <p:cNvSpPr/>
          <p:nvPr/>
        </p:nvSpPr>
        <p:spPr>
          <a:xfrm>
            <a:off x="3044880" y="3547800"/>
            <a:ext cx="822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token 2</a:t>
            </a:r>
            <a:endParaRPr lang="it-IT" sz="800" b="0" u="none" strike="noStrike">
              <a:solidFill>
                <a:srgbClr val="000000"/>
              </a:solidFill>
              <a:effectLst/>
              <a:uFillTx/>
              <a:latin typeface="Arial"/>
            </a:endParaRPr>
          </a:p>
        </p:txBody>
      </p:sp>
      <p:sp>
        <p:nvSpPr>
          <p:cNvPr id="340" name="Shape 56"/>
          <p:cNvSpPr/>
          <p:nvPr/>
        </p:nvSpPr>
        <p:spPr>
          <a:xfrm>
            <a:off x="4416480" y="2011680"/>
            <a:ext cx="1737000" cy="319680"/>
          </a:xfrm>
          <a:prstGeom prst="bracePair">
            <a:avLst>
              <a:gd name="adj" fmla="val 8333"/>
            </a:avLst>
          </a:prstGeom>
          <a:noFill/>
          <a:ln w="12700">
            <a:solidFill>
              <a:srgbClr val="6670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1" name="Text 57"/>
          <p:cNvSpPr/>
          <p:nvPr/>
        </p:nvSpPr>
        <p:spPr>
          <a:xfrm>
            <a:off x="4599360" y="2423160"/>
            <a:ext cx="12798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patch 3</a:t>
            </a:r>
            <a:endParaRPr lang="it-IT" sz="700" b="0" u="none" strike="noStrike">
              <a:solidFill>
                <a:srgbClr val="000000"/>
              </a:solidFill>
              <a:effectLst/>
              <a:uFillTx/>
              <a:latin typeface="Arial"/>
            </a:endParaRPr>
          </a:p>
        </p:txBody>
      </p:sp>
      <p:sp>
        <p:nvSpPr>
          <p:cNvPr id="342" name="Shape 58"/>
          <p:cNvSpPr/>
          <p:nvPr/>
        </p:nvSpPr>
        <p:spPr>
          <a:xfrm>
            <a:off x="5285160" y="27432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43" name="Shape 59"/>
          <p:cNvSpPr/>
          <p:nvPr/>
        </p:nvSpPr>
        <p:spPr>
          <a:xfrm>
            <a:off x="4827960" y="3520440"/>
            <a:ext cx="914040" cy="347040"/>
          </a:xfrm>
          <a:prstGeom prst="roundRect">
            <a:avLst>
              <a:gd name="adj" fmla="val 1578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4" name="Text 60"/>
          <p:cNvSpPr/>
          <p:nvPr/>
        </p:nvSpPr>
        <p:spPr>
          <a:xfrm>
            <a:off x="4873680" y="3547800"/>
            <a:ext cx="822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token 3</a:t>
            </a:r>
            <a:endParaRPr lang="it-IT" sz="800" b="0" u="none" strike="noStrike">
              <a:solidFill>
                <a:srgbClr val="000000"/>
              </a:solidFill>
              <a:effectLst/>
              <a:uFillTx/>
              <a:latin typeface="Arial"/>
            </a:endParaRPr>
          </a:p>
        </p:txBody>
      </p:sp>
      <p:sp>
        <p:nvSpPr>
          <p:cNvPr id="345" name="Shape 61"/>
          <p:cNvSpPr/>
          <p:nvPr/>
        </p:nvSpPr>
        <p:spPr>
          <a:xfrm>
            <a:off x="6245280" y="2011680"/>
            <a:ext cx="1737000" cy="319680"/>
          </a:xfrm>
          <a:prstGeom prst="bracePair">
            <a:avLst>
              <a:gd name="adj" fmla="val 8333"/>
            </a:avLst>
          </a:prstGeom>
          <a:noFill/>
          <a:ln w="12700">
            <a:solidFill>
              <a:srgbClr val="6670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6" name="Text 62"/>
          <p:cNvSpPr/>
          <p:nvPr/>
        </p:nvSpPr>
        <p:spPr>
          <a:xfrm>
            <a:off x="6428160" y="2423160"/>
            <a:ext cx="12798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patch 4</a:t>
            </a:r>
            <a:endParaRPr lang="it-IT" sz="700" b="0" u="none" strike="noStrike">
              <a:solidFill>
                <a:srgbClr val="000000"/>
              </a:solidFill>
              <a:effectLst/>
              <a:uFillTx/>
              <a:latin typeface="Arial"/>
            </a:endParaRPr>
          </a:p>
        </p:txBody>
      </p:sp>
      <p:sp>
        <p:nvSpPr>
          <p:cNvPr id="347" name="Shape 63"/>
          <p:cNvSpPr/>
          <p:nvPr/>
        </p:nvSpPr>
        <p:spPr>
          <a:xfrm>
            <a:off x="7113960" y="27432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48" name="Shape 64"/>
          <p:cNvSpPr/>
          <p:nvPr/>
        </p:nvSpPr>
        <p:spPr>
          <a:xfrm>
            <a:off x="6656760" y="3520440"/>
            <a:ext cx="914040" cy="347040"/>
          </a:xfrm>
          <a:prstGeom prst="roundRect">
            <a:avLst>
              <a:gd name="adj" fmla="val 15789"/>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49" name="Text 65"/>
          <p:cNvSpPr/>
          <p:nvPr/>
        </p:nvSpPr>
        <p:spPr>
          <a:xfrm>
            <a:off x="6702480" y="3547800"/>
            <a:ext cx="822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token 4</a:t>
            </a:r>
            <a:endParaRPr lang="it-IT" sz="800" b="0" u="none" strike="noStrike">
              <a:solidFill>
                <a:srgbClr val="000000"/>
              </a:solidFill>
              <a:effectLst/>
              <a:uFillTx/>
              <a:latin typeface="Arial"/>
            </a:endParaRPr>
          </a:p>
        </p:txBody>
      </p:sp>
      <p:sp>
        <p:nvSpPr>
          <p:cNvPr id="350" name="Shape 66"/>
          <p:cNvSpPr/>
          <p:nvPr/>
        </p:nvSpPr>
        <p:spPr>
          <a:xfrm>
            <a:off x="8074080" y="2011680"/>
            <a:ext cx="1737000" cy="319680"/>
          </a:xfrm>
          <a:prstGeom prst="bracePair">
            <a:avLst>
              <a:gd name="adj" fmla="val 8333"/>
            </a:avLst>
          </a:prstGeom>
          <a:noFill/>
          <a:ln w="12700">
            <a:solidFill>
              <a:srgbClr val="66708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1" name="Text 67"/>
          <p:cNvSpPr/>
          <p:nvPr/>
        </p:nvSpPr>
        <p:spPr>
          <a:xfrm>
            <a:off x="8256960" y="2423160"/>
            <a:ext cx="12798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patch 5</a:t>
            </a:r>
            <a:endParaRPr lang="it-IT" sz="700" b="0" u="none" strike="noStrike">
              <a:solidFill>
                <a:srgbClr val="000000"/>
              </a:solidFill>
              <a:effectLst/>
              <a:uFillTx/>
              <a:latin typeface="Arial"/>
            </a:endParaRPr>
          </a:p>
        </p:txBody>
      </p:sp>
      <p:sp>
        <p:nvSpPr>
          <p:cNvPr id="352" name="Shape 68"/>
          <p:cNvSpPr/>
          <p:nvPr/>
        </p:nvSpPr>
        <p:spPr>
          <a:xfrm>
            <a:off x="8942760" y="27432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53" name="Shape 69"/>
          <p:cNvSpPr/>
          <p:nvPr/>
        </p:nvSpPr>
        <p:spPr>
          <a:xfrm>
            <a:off x="8485560" y="3520440"/>
            <a:ext cx="914040" cy="347040"/>
          </a:xfrm>
          <a:prstGeom prst="roundRect">
            <a:avLst>
              <a:gd name="adj" fmla="val 1578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4" name="Text 70"/>
          <p:cNvSpPr/>
          <p:nvPr/>
        </p:nvSpPr>
        <p:spPr>
          <a:xfrm>
            <a:off x="8531280" y="3547800"/>
            <a:ext cx="8226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token 5</a:t>
            </a:r>
            <a:endParaRPr lang="it-IT" sz="800" b="0" u="none" strike="noStrike">
              <a:solidFill>
                <a:srgbClr val="000000"/>
              </a:solidFill>
              <a:effectLst/>
              <a:uFillTx/>
              <a:latin typeface="Arial"/>
            </a:endParaRPr>
          </a:p>
        </p:txBody>
      </p:sp>
      <p:sp>
        <p:nvSpPr>
          <p:cNvPr id="355" name="Shape 71"/>
          <p:cNvSpPr/>
          <p:nvPr/>
        </p:nvSpPr>
        <p:spPr>
          <a:xfrm>
            <a:off x="1005840" y="4800600"/>
            <a:ext cx="2651400" cy="456840"/>
          </a:xfrm>
          <a:prstGeom prst="roundRect">
            <a:avLst>
              <a:gd name="adj" fmla="val 1200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6" name="Text 72"/>
          <p:cNvSpPr/>
          <p:nvPr/>
        </p:nvSpPr>
        <p:spPr>
          <a:xfrm>
            <a:off x="1051560" y="4827960"/>
            <a:ext cx="255996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dirty="0">
                <a:solidFill>
                  <a:srgbClr val="111827"/>
                </a:solidFill>
                <a:effectLst/>
                <a:uFillTx/>
                <a:latin typeface="Aptos"/>
                <a:ea typeface="Aptos"/>
              </a:rPr>
              <a:t>Patch size P = 8 </a:t>
            </a:r>
            <a:r>
              <a:rPr lang="en-US" sz="1200" b="1" u="none" strike="noStrike" dirty="0" err="1">
                <a:solidFill>
                  <a:srgbClr val="111827"/>
                </a:solidFill>
                <a:effectLst/>
                <a:uFillTx/>
                <a:latin typeface="Aptos"/>
                <a:ea typeface="Aptos"/>
              </a:rPr>
              <a:t>farmes</a:t>
            </a:r>
            <a:r>
              <a:rPr lang="en-US" sz="1200" b="1" u="none" strike="noStrike" dirty="0">
                <a:solidFill>
                  <a:srgbClr val="111827"/>
                </a:solidFill>
                <a:effectLst/>
                <a:uFillTx/>
                <a:latin typeface="Aptos"/>
                <a:ea typeface="Aptos"/>
              </a:rPr>
              <a:t>/samples</a:t>
            </a:r>
            <a:endParaRPr lang="it-IT" sz="1200" b="0" u="none" strike="noStrike" dirty="0">
              <a:solidFill>
                <a:srgbClr val="000000"/>
              </a:solidFill>
              <a:effectLst/>
              <a:uFillTx/>
              <a:latin typeface="Arial"/>
            </a:endParaRPr>
          </a:p>
        </p:txBody>
      </p:sp>
      <p:sp>
        <p:nvSpPr>
          <p:cNvPr id="357" name="Shape 73"/>
          <p:cNvSpPr/>
          <p:nvPr/>
        </p:nvSpPr>
        <p:spPr>
          <a:xfrm>
            <a:off x="6766560" y="4800600"/>
            <a:ext cx="2468520" cy="456840"/>
          </a:xfrm>
          <a:prstGeom prst="roundRect">
            <a:avLst>
              <a:gd name="adj" fmla="val 12000"/>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58" name="Text 74"/>
          <p:cNvSpPr/>
          <p:nvPr/>
        </p:nvSpPr>
        <p:spPr>
          <a:xfrm>
            <a:off x="6812280" y="4827960"/>
            <a:ext cx="237708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dirty="0">
                <a:solidFill>
                  <a:srgbClr val="111827"/>
                </a:solidFill>
                <a:effectLst/>
                <a:highlight>
                  <a:srgbClr val="FFFF00"/>
                </a:highlight>
                <a:uFillTx/>
                <a:latin typeface="Aptos"/>
                <a:ea typeface="Aptos"/>
              </a:rPr>
              <a:t>M</a:t>
            </a:r>
            <a:r>
              <a:rPr lang="en-US" sz="1200" b="1" u="none" strike="noStrike" dirty="0">
                <a:solidFill>
                  <a:srgbClr val="111827"/>
                </a:solidFill>
                <a:effectLst/>
                <a:uFillTx/>
                <a:latin typeface="Aptos"/>
                <a:ea typeface="Aptos"/>
              </a:rPr>
              <a:t> ≈ L / P </a:t>
            </a:r>
            <a:r>
              <a:rPr lang="en-US" sz="1200" b="1" u="none" strike="noStrike" dirty="0">
                <a:solidFill>
                  <a:srgbClr val="111827"/>
                </a:solidFill>
                <a:effectLst/>
                <a:highlight>
                  <a:srgbClr val="FFFF00"/>
                </a:highlight>
                <a:uFillTx/>
                <a:latin typeface="Aptos"/>
                <a:ea typeface="Aptos"/>
              </a:rPr>
              <a:t>tokens</a:t>
            </a:r>
            <a:endParaRPr lang="it-IT" sz="1200" b="0" u="none" strike="noStrike" dirty="0">
              <a:solidFill>
                <a:srgbClr val="000000"/>
              </a:solidFill>
              <a:effectLst/>
              <a:highlight>
                <a:srgbClr val="FFFF00"/>
              </a:highlight>
              <a:uFillTx/>
              <a:latin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D61321-48C4-1B32-DD43-751CA1040286}"/>
              </a:ext>
            </a:extLst>
          </p:cNvPr>
          <p:cNvSpPr>
            <a:spLocks noGrp="1"/>
          </p:cNvSpPr>
          <p:nvPr>
            <p:ph type="title"/>
          </p:nvPr>
        </p:nvSpPr>
        <p:spPr/>
        <p:txBody>
          <a:bodyPr/>
          <a:lstStyle/>
          <a:p>
            <a:r>
              <a:rPr lang="en-GB" dirty="0"/>
              <a:t>A patch contains local temporal structure</a:t>
            </a:r>
          </a:p>
        </p:txBody>
      </p:sp>
      <p:sp>
        <p:nvSpPr>
          <p:cNvPr id="3" name="Segnaposto contenuto 2">
            <a:extLst>
              <a:ext uri="{FF2B5EF4-FFF2-40B4-BE49-F238E27FC236}">
                <a16:creationId xmlns:a16="http://schemas.microsoft.com/office/drawing/2014/main" id="{0BEED3D7-25F7-3362-16EF-30ADE96825AB}"/>
              </a:ext>
            </a:extLst>
          </p:cNvPr>
          <p:cNvSpPr>
            <a:spLocks noGrp="1"/>
          </p:cNvSpPr>
          <p:nvPr>
            <p:ph sz="half" idx="1"/>
          </p:nvPr>
        </p:nvSpPr>
        <p:spPr>
          <a:xfrm>
            <a:off x="677334" y="2160588"/>
            <a:ext cx="4976841" cy="4087811"/>
          </a:xfrm>
        </p:spPr>
        <p:txBody>
          <a:bodyPr>
            <a:normAutofit lnSpcReduction="10000"/>
          </a:bodyPr>
          <a:lstStyle/>
          <a:p>
            <a:r>
              <a:rPr lang="en-GB" dirty="0"/>
              <a:t>Suppose a univariate time series is divided into patches of: P = 8 frames/samples.</a:t>
            </a:r>
          </a:p>
          <a:p>
            <a:r>
              <a:rPr lang="en-GB" dirty="0"/>
              <a:t>One patch contains:</a:t>
            </a:r>
          </a:p>
          <a:p>
            <a:pPr lvl="1"/>
            <a:r>
              <a:rPr lang="en-GB" dirty="0"/>
              <a:t>[x[t], x[t+1], ..., x[t+7]]</a:t>
            </a:r>
          </a:p>
          <a:p>
            <a:r>
              <a:rPr lang="en-GB" dirty="0"/>
              <a:t>Instead of presenting these eight observations as eight separate tokens, they are represented together.</a:t>
            </a:r>
          </a:p>
          <a:p>
            <a:r>
              <a:rPr lang="en-GB" b="1" dirty="0"/>
              <a:t>Each patch may contain</a:t>
            </a:r>
          </a:p>
          <a:p>
            <a:pPr lvl="1"/>
            <a:r>
              <a:rPr lang="en-GB" dirty="0"/>
              <a:t>local level; </a:t>
            </a:r>
          </a:p>
          <a:p>
            <a:pPr lvl="1"/>
            <a:r>
              <a:rPr lang="en-GB" dirty="0"/>
              <a:t>short trend; </a:t>
            </a:r>
          </a:p>
          <a:p>
            <a:pPr lvl="1"/>
            <a:r>
              <a:rPr lang="en-GB" dirty="0"/>
              <a:t>local oscillation; </a:t>
            </a:r>
          </a:p>
          <a:p>
            <a:pPr lvl="1"/>
            <a:r>
              <a:rPr lang="en-GB" dirty="0"/>
              <a:t>short event shape. </a:t>
            </a:r>
          </a:p>
          <a:p>
            <a:endParaRPr lang="en-GB" dirty="0"/>
          </a:p>
          <a:p>
            <a:endParaRPr lang="en-GB" dirty="0"/>
          </a:p>
        </p:txBody>
      </p:sp>
      <p:sp>
        <p:nvSpPr>
          <p:cNvPr id="4" name="Segnaposto contenuto 3">
            <a:extLst>
              <a:ext uri="{FF2B5EF4-FFF2-40B4-BE49-F238E27FC236}">
                <a16:creationId xmlns:a16="http://schemas.microsoft.com/office/drawing/2014/main" id="{7C908099-E50C-576F-050D-E4BC067ECDE6}"/>
              </a:ext>
            </a:extLst>
          </p:cNvPr>
          <p:cNvSpPr>
            <a:spLocks noGrp="1"/>
          </p:cNvSpPr>
          <p:nvPr>
            <p:ph sz="half" idx="2"/>
          </p:nvPr>
        </p:nvSpPr>
        <p:spPr>
          <a:xfrm>
            <a:off x="5654175" y="2160589"/>
            <a:ext cx="6164932" cy="4454220"/>
          </a:xfrm>
        </p:spPr>
        <p:txBody>
          <a:bodyPr>
            <a:normAutofit lnSpcReduction="10000"/>
          </a:bodyPr>
          <a:lstStyle/>
          <a:p>
            <a:r>
              <a:rPr lang="en-GB" b="1" dirty="0"/>
              <a:t>Therefore</a:t>
            </a:r>
          </a:p>
          <a:p>
            <a:r>
              <a:rPr lang="en-GB" dirty="0"/>
              <a:t>The patch representation already summarizes a small temporal </a:t>
            </a:r>
            <a:r>
              <a:rPr lang="en-GB" dirty="0" err="1"/>
              <a:t>neighborhood</a:t>
            </a:r>
            <a:r>
              <a:rPr lang="en-GB" dirty="0"/>
              <a:t> before self-attention operates.</a:t>
            </a:r>
          </a:p>
          <a:p>
            <a:endParaRPr lang="en-GB" b="1" dirty="0"/>
          </a:p>
          <a:p>
            <a:r>
              <a:rPr lang="en-GB" b="1" dirty="0"/>
              <a:t>Analogy with temporal CNNs</a:t>
            </a:r>
          </a:p>
          <a:p>
            <a:r>
              <a:rPr lang="en-GB" dirty="0"/>
              <a:t>A convolutional kernel also operates over a local temporal region.</a:t>
            </a:r>
          </a:p>
          <a:p>
            <a:r>
              <a:rPr lang="en-GB" dirty="0"/>
              <a:t>But patching does not necessarily perform convolution.</a:t>
            </a:r>
          </a:p>
          <a:p>
            <a:r>
              <a:rPr lang="en-GB" dirty="0"/>
              <a:t>It simply changes how the sequence is divided into Transformer tokens.</a:t>
            </a:r>
          </a:p>
          <a:p>
            <a:endParaRPr lang="en-GB" dirty="0"/>
          </a:p>
        </p:txBody>
      </p:sp>
    </p:spTree>
    <p:extLst>
      <p:ext uri="{BB962C8B-B14F-4D97-AF65-F5344CB8AC3E}">
        <p14:creationId xmlns:p14="http://schemas.microsoft.com/office/powerpoint/2010/main" val="28768932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AA164B-107E-7431-8BAF-09EEC86FBADB}"/>
              </a:ext>
            </a:extLst>
          </p:cNvPr>
          <p:cNvSpPr>
            <a:spLocks noGrp="1"/>
          </p:cNvSpPr>
          <p:nvPr>
            <p:ph type="title"/>
          </p:nvPr>
        </p:nvSpPr>
        <p:spPr/>
        <p:txBody>
          <a:bodyPr/>
          <a:lstStyle/>
          <a:p>
            <a:r>
              <a:rPr lang="en-GB" dirty="0"/>
              <a:t>From patch to embedding</a:t>
            </a:r>
          </a:p>
        </p:txBody>
      </p:sp>
      <p:sp>
        <p:nvSpPr>
          <p:cNvPr id="3" name="Segnaposto contenuto 2">
            <a:extLst>
              <a:ext uri="{FF2B5EF4-FFF2-40B4-BE49-F238E27FC236}">
                <a16:creationId xmlns:a16="http://schemas.microsoft.com/office/drawing/2014/main" id="{3B5D91F6-1CE6-D135-5A05-D5940D66D26C}"/>
              </a:ext>
            </a:extLst>
          </p:cNvPr>
          <p:cNvSpPr>
            <a:spLocks noGrp="1"/>
          </p:cNvSpPr>
          <p:nvPr>
            <p:ph sz="half" idx="1"/>
          </p:nvPr>
        </p:nvSpPr>
        <p:spPr/>
        <p:txBody>
          <a:bodyPr>
            <a:normAutofit fontScale="92500" lnSpcReduction="10000"/>
          </a:bodyPr>
          <a:lstStyle/>
          <a:p>
            <a:r>
              <a:rPr lang="en-GB" b="1" dirty="0"/>
              <a:t>A Transformer expects each token to be represented by a vector of fixed dimension.</a:t>
            </a:r>
          </a:p>
          <a:p>
            <a:r>
              <a:rPr lang="en-GB" dirty="0"/>
              <a:t>Therefore each temporal patch is mapped to a </a:t>
            </a:r>
            <a:r>
              <a:rPr lang="en-GB" b="1" dirty="0"/>
              <a:t>patch embedding</a:t>
            </a:r>
            <a:r>
              <a:rPr lang="en-GB" dirty="0"/>
              <a:t>.</a:t>
            </a:r>
          </a:p>
          <a:p>
            <a:r>
              <a:rPr lang="en-GB" dirty="0"/>
              <a:t>Conceptually:</a:t>
            </a:r>
          </a:p>
          <a:p>
            <a:pPr lvl="1"/>
            <a:r>
              <a:rPr lang="en-GB" dirty="0"/>
              <a:t>raw patch</a:t>
            </a:r>
          </a:p>
          <a:p>
            <a:pPr lvl="1"/>
            <a:r>
              <a:rPr lang="en-GB" dirty="0"/>
              <a:t>[P observations]</a:t>
            </a:r>
          </a:p>
          <a:p>
            <a:pPr lvl="1"/>
            <a:r>
              <a:rPr lang="en-GB" dirty="0"/>
              <a:t>      ↓</a:t>
            </a:r>
          </a:p>
          <a:p>
            <a:pPr lvl="1"/>
            <a:r>
              <a:rPr lang="en-GB" dirty="0"/>
              <a:t>linear projection / embedding</a:t>
            </a:r>
          </a:p>
          <a:p>
            <a:pPr lvl="1"/>
            <a:r>
              <a:rPr lang="en-GB" dirty="0"/>
              <a:t>      ↓</a:t>
            </a:r>
          </a:p>
          <a:p>
            <a:pPr lvl="1"/>
            <a:r>
              <a:rPr lang="en-GB" dirty="0"/>
              <a:t>vector of dimension </a:t>
            </a:r>
            <a:r>
              <a:rPr lang="en-GB" dirty="0" err="1"/>
              <a:t>d_model</a:t>
            </a:r>
            <a:endParaRPr lang="en-GB" dirty="0"/>
          </a:p>
          <a:p>
            <a:endParaRPr lang="en-GB" dirty="0"/>
          </a:p>
        </p:txBody>
      </p:sp>
      <p:sp>
        <p:nvSpPr>
          <p:cNvPr id="4" name="Segnaposto contenuto 3">
            <a:extLst>
              <a:ext uri="{FF2B5EF4-FFF2-40B4-BE49-F238E27FC236}">
                <a16:creationId xmlns:a16="http://schemas.microsoft.com/office/drawing/2014/main" id="{30D10D61-926B-701A-1C5D-131C345F9345}"/>
              </a:ext>
            </a:extLst>
          </p:cNvPr>
          <p:cNvSpPr>
            <a:spLocks noGrp="1"/>
          </p:cNvSpPr>
          <p:nvPr>
            <p:ph sz="half" idx="2"/>
          </p:nvPr>
        </p:nvSpPr>
        <p:spPr>
          <a:xfrm>
            <a:off x="5809817" y="2171364"/>
            <a:ext cx="6057928" cy="4521265"/>
          </a:xfrm>
        </p:spPr>
        <p:txBody>
          <a:bodyPr>
            <a:normAutofit fontScale="92500" lnSpcReduction="10000"/>
          </a:bodyPr>
          <a:lstStyle/>
          <a:p>
            <a:r>
              <a:rPr lang="en-GB" dirty="0"/>
              <a:t>For a sequence containing M patches:</a:t>
            </a:r>
          </a:p>
          <a:p>
            <a:pPr lvl="1"/>
            <a:r>
              <a:rPr lang="en-GB" dirty="0"/>
              <a:t>patch 1 → embedding 1</a:t>
            </a:r>
          </a:p>
          <a:p>
            <a:pPr lvl="1"/>
            <a:r>
              <a:rPr lang="en-GB" dirty="0"/>
              <a:t>patch 2 → embedding 2</a:t>
            </a:r>
          </a:p>
          <a:p>
            <a:pPr lvl="1"/>
            <a:r>
              <a:rPr lang="en-GB" dirty="0"/>
              <a:t>...</a:t>
            </a:r>
          </a:p>
          <a:p>
            <a:pPr lvl="1"/>
            <a:r>
              <a:rPr lang="en-GB" dirty="0"/>
              <a:t>patch M → embedding M</a:t>
            </a:r>
          </a:p>
          <a:p>
            <a:r>
              <a:rPr lang="en-GB" b="1" dirty="0"/>
              <a:t>The Transformer then processes: M patch tokens instead of: L individual observations.</a:t>
            </a:r>
          </a:p>
          <a:p>
            <a:pPr marL="0" indent="0">
              <a:buNone/>
            </a:pPr>
            <a:endParaRPr lang="en-GB" b="1" dirty="0"/>
          </a:p>
          <a:p>
            <a:r>
              <a:rPr lang="en-GB" b="1" dirty="0"/>
              <a:t>Patch embedding converts a local temporal segment into one learned token representation.</a:t>
            </a:r>
          </a:p>
          <a:p>
            <a:endParaRPr lang="en-GB" dirty="0"/>
          </a:p>
        </p:txBody>
      </p:sp>
    </p:spTree>
    <p:extLst>
      <p:ext uri="{BB962C8B-B14F-4D97-AF65-F5344CB8AC3E}">
        <p14:creationId xmlns:p14="http://schemas.microsoft.com/office/powerpoint/2010/main" val="7950917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0"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From patch to embedding</a:t>
            </a:r>
            <a:endParaRPr lang="it-IT" sz="2100" b="0" u="none" strike="noStrike">
              <a:solidFill>
                <a:srgbClr val="000000"/>
              </a:solidFill>
              <a:effectLst/>
              <a:uFillTx/>
              <a:latin typeface="Arial"/>
            </a:endParaRPr>
          </a:p>
        </p:txBody>
      </p:sp>
      <p:sp>
        <p:nvSpPr>
          <p:cNvPr id="361"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67085"/>
                </a:solidFill>
                <a:effectLst/>
                <a:uFillTx/>
                <a:latin typeface="Aptos"/>
                <a:ea typeface="Aptos"/>
              </a:rPr>
              <a:t>Each raw patch is mapped to a fixed-size vector before the Transformer.</a:t>
            </a:r>
            <a:endParaRPr lang="it-IT" sz="850" b="0" u="none" strike="noStrike">
              <a:solidFill>
                <a:srgbClr val="000000"/>
              </a:solidFill>
              <a:effectLst/>
              <a:uFillTx/>
              <a:latin typeface="Arial"/>
            </a:endParaRPr>
          </a:p>
        </p:txBody>
      </p:sp>
      <p:sp>
        <p:nvSpPr>
          <p:cNvPr id="362"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3"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dirty="0">
                <a:solidFill>
                  <a:srgbClr val="667085"/>
                </a:solidFill>
                <a:effectLst/>
                <a:uFillTx/>
                <a:latin typeface="Aptos"/>
                <a:ea typeface="Aptos"/>
              </a:rPr>
              <a:t>Patch embedding converts a local temporal segment into one learned token representation.</a:t>
            </a:r>
            <a:endParaRPr lang="it-IT" sz="1050" b="0" u="none" strike="noStrike" dirty="0">
              <a:solidFill>
                <a:srgbClr val="000000"/>
              </a:solidFill>
              <a:effectLst/>
              <a:uFillTx/>
              <a:latin typeface="Arial"/>
            </a:endParaRPr>
          </a:p>
        </p:txBody>
      </p:sp>
      <p:sp>
        <p:nvSpPr>
          <p:cNvPr id="364" name="Shape 5"/>
          <p:cNvSpPr/>
          <p:nvPr/>
        </p:nvSpPr>
        <p:spPr>
          <a:xfrm>
            <a:off x="822960" y="1417320"/>
            <a:ext cx="1554120" cy="50256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65" name="Shape 6"/>
          <p:cNvSpPr/>
          <p:nvPr/>
        </p:nvSpPr>
        <p:spPr>
          <a:xfrm>
            <a:off x="96012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66" name="Shape 7"/>
          <p:cNvSpPr/>
          <p:nvPr/>
        </p:nvSpPr>
        <p:spPr>
          <a:xfrm>
            <a:off x="112464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67" name="Shape 8"/>
          <p:cNvSpPr/>
          <p:nvPr/>
        </p:nvSpPr>
        <p:spPr>
          <a:xfrm>
            <a:off x="128916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68" name="Shape 9"/>
          <p:cNvSpPr/>
          <p:nvPr/>
        </p:nvSpPr>
        <p:spPr>
          <a:xfrm>
            <a:off x="145404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69" name="Shape 10"/>
          <p:cNvSpPr/>
          <p:nvPr/>
        </p:nvSpPr>
        <p:spPr>
          <a:xfrm>
            <a:off x="161856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70" name="Shape 11"/>
          <p:cNvSpPr/>
          <p:nvPr/>
        </p:nvSpPr>
        <p:spPr>
          <a:xfrm>
            <a:off x="178308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71" name="Shape 12"/>
          <p:cNvSpPr/>
          <p:nvPr/>
        </p:nvSpPr>
        <p:spPr>
          <a:xfrm>
            <a:off x="194760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72" name="Shape 13"/>
          <p:cNvSpPr/>
          <p:nvPr/>
        </p:nvSpPr>
        <p:spPr>
          <a:xfrm>
            <a:off x="211212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73" name="Text 14"/>
          <p:cNvSpPr/>
          <p:nvPr/>
        </p:nvSpPr>
        <p:spPr>
          <a:xfrm>
            <a:off x="914400" y="2057400"/>
            <a:ext cx="1371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raw patch 1</a:t>
            </a:r>
            <a:endParaRPr lang="it-IT" sz="700" b="0" u="none" strike="noStrike">
              <a:solidFill>
                <a:srgbClr val="000000"/>
              </a:solidFill>
              <a:effectLst/>
              <a:uFillTx/>
              <a:latin typeface="Arial"/>
            </a:endParaRPr>
          </a:p>
        </p:txBody>
      </p:sp>
      <p:sp>
        <p:nvSpPr>
          <p:cNvPr id="374" name="Shape 15"/>
          <p:cNvSpPr/>
          <p:nvPr/>
        </p:nvSpPr>
        <p:spPr>
          <a:xfrm>
            <a:off x="1600200" y="233172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75" name="Shape 16"/>
          <p:cNvSpPr/>
          <p:nvPr/>
        </p:nvSpPr>
        <p:spPr>
          <a:xfrm>
            <a:off x="1005840" y="3108960"/>
            <a:ext cx="1188360" cy="502560"/>
          </a:xfrm>
          <a:prstGeom prst="roundRect">
            <a:avLst>
              <a:gd name="adj" fmla="val 10909"/>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6" name="Text 17"/>
          <p:cNvSpPr/>
          <p:nvPr/>
        </p:nvSpPr>
        <p:spPr>
          <a:xfrm>
            <a:off x="1051560" y="3136320"/>
            <a:ext cx="109692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linear projection</a:t>
            </a:r>
            <a:endParaRPr lang="it-IT" sz="700" b="0" u="none" strike="noStrike">
              <a:solidFill>
                <a:srgbClr val="000000"/>
              </a:solidFill>
              <a:effectLst/>
              <a:uFillTx/>
              <a:latin typeface="Arial"/>
            </a:endParaRPr>
          </a:p>
          <a:p>
            <a:pPr algn="ctr" defTabSz="914400">
              <a:lnSpc>
                <a:spcPct val="100000"/>
              </a:lnSpc>
              <a:tabLst>
                <a:tab pos="0" algn="l"/>
              </a:tabLst>
            </a:pPr>
            <a:r>
              <a:rPr lang="en-US" sz="700" b="0" u="none" strike="noStrike">
                <a:solidFill>
                  <a:srgbClr val="111827"/>
                </a:solidFill>
                <a:effectLst/>
                <a:uFillTx/>
                <a:latin typeface="Aptos"/>
                <a:ea typeface="Aptos"/>
              </a:rPr>
              <a:t>/ embedding</a:t>
            </a:r>
            <a:endParaRPr lang="it-IT" sz="700" b="0" u="none" strike="noStrike">
              <a:solidFill>
                <a:srgbClr val="000000"/>
              </a:solidFill>
              <a:effectLst/>
              <a:uFillTx/>
              <a:latin typeface="Arial"/>
            </a:endParaRPr>
          </a:p>
        </p:txBody>
      </p:sp>
      <p:sp>
        <p:nvSpPr>
          <p:cNvPr id="377" name="Shape 18"/>
          <p:cNvSpPr/>
          <p:nvPr/>
        </p:nvSpPr>
        <p:spPr>
          <a:xfrm>
            <a:off x="1600200" y="36576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78" name="Shape 19"/>
          <p:cNvSpPr/>
          <p:nvPr/>
        </p:nvSpPr>
        <p:spPr>
          <a:xfrm>
            <a:off x="1143000" y="4434840"/>
            <a:ext cx="914040" cy="502560"/>
          </a:xfrm>
          <a:prstGeom prst="roundRect">
            <a:avLst>
              <a:gd name="adj" fmla="val 10909"/>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79" name="Text 20"/>
          <p:cNvSpPr/>
          <p:nvPr/>
        </p:nvSpPr>
        <p:spPr>
          <a:xfrm>
            <a:off x="1188720" y="4462200"/>
            <a:ext cx="82260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e1</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[d_model]</a:t>
            </a:r>
            <a:endParaRPr lang="it-IT" sz="900" b="0" u="none" strike="noStrike">
              <a:solidFill>
                <a:srgbClr val="000000"/>
              </a:solidFill>
              <a:effectLst/>
              <a:uFillTx/>
              <a:latin typeface="Arial"/>
            </a:endParaRPr>
          </a:p>
        </p:txBody>
      </p:sp>
      <p:sp>
        <p:nvSpPr>
          <p:cNvPr id="380" name="Shape 21"/>
          <p:cNvSpPr/>
          <p:nvPr/>
        </p:nvSpPr>
        <p:spPr>
          <a:xfrm>
            <a:off x="3474720" y="1417320"/>
            <a:ext cx="1554120" cy="50256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81" name="Shape 22"/>
          <p:cNvSpPr/>
          <p:nvPr/>
        </p:nvSpPr>
        <p:spPr>
          <a:xfrm>
            <a:off x="361188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2" name="Shape 23"/>
          <p:cNvSpPr/>
          <p:nvPr/>
        </p:nvSpPr>
        <p:spPr>
          <a:xfrm>
            <a:off x="377640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3" name="Shape 24"/>
          <p:cNvSpPr/>
          <p:nvPr/>
        </p:nvSpPr>
        <p:spPr>
          <a:xfrm>
            <a:off x="394092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4" name="Shape 25"/>
          <p:cNvSpPr/>
          <p:nvPr/>
        </p:nvSpPr>
        <p:spPr>
          <a:xfrm>
            <a:off x="410580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5" name="Shape 26"/>
          <p:cNvSpPr/>
          <p:nvPr/>
        </p:nvSpPr>
        <p:spPr>
          <a:xfrm>
            <a:off x="427032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6" name="Shape 27"/>
          <p:cNvSpPr/>
          <p:nvPr/>
        </p:nvSpPr>
        <p:spPr>
          <a:xfrm>
            <a:off x="443484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7" name="Shape 28"/>
          <p:cNvSpPr/>
          <p:nvPr/>
        </p:nvSpPr>
        <p:spPr>
          <a:xfrm>
            <a:off x="459936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8" name="Shape 29"/>
          <p:cNvSpPr/>
          <p:nvPr/>
        </p:nvSpPr>
        <p:spPr>
          <a:xfrm>
            <a:off x="476388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89" name="Text 30"/>
          <p:cNvSpPr/>
          <p:nvPr/>
        </p:nvSpPr>
        <p:spPr>
          <a:xfrm>
            <a:off x="3566160" y="2057400"/>
            <a:ext cx="1371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raw patch 2</a:t>
            </a:r>
            <a:endParaRPr lang="it-IT" sz="700" b="0" u="none" strike="noStrike">
              <a:solidFill>
                <a:srgbClr val="000000"/>
              </a:solidFill>
              <a:effectLst/>
              <a:uFillTx/>
              <a:latin typeface="Arial"/>
            </a:endParaRPr>
          </a:p>
        </p:txBody>
      </p:sp>
      <p:sp>
        <p:nvSpPr>
          <p:cNvPr id="390" name="Shape 31"/>
          <p:cNvSpPr/>
          <p:nvPr/>
        </p:nvSpPr>
        <p:spPr>
          <a:xfrm>
            <a:off x="4251960" y="233172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91" name="Shape 32"/>
          <p:cNvSpPr/>
          <p:nvPr/>
        </p:nvSpPr>
        <p:spPr>
          <a:xfrm>
            <a:off x="3657600" y="3108960"/>
            <a:ext cx="1188360" cy="502560"/>
          </a:xfrm>
          <a:prstGeom prst="roundRect">
            <a:avLst>
              <a:gd name="adj" fmla="val 10909"/>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2" name="Text 33"/>
          <p:cNvSpPr/>
          <p:nvPr/>
        </p:nvSpPr>
        <p:spPr>
          <a:xfrm>
            <a:off x="3703320" y="3136320"/>
            <a:ext cx="109692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linear projection</a:t>
            </a:r>
            <a:endParaRPr lang="it-IT" sz="700" b="0" u="none" strike="noStrike">
              <a:solidFill>
                <a:srgbClr val="000000"/>
              </a:solidFill>
              <a:effectLst/>
              <a:uFillTx/>
              <a:latin typeface="Arial"/>
            </a:endParaRPr>
          </a:p>
          <a:p>
            <a:pPr algn="ctr" defTabSz="914400">
              <a:lnSpc>
                <a:spcPct val="100000"/>
              </a:lnSpc>
              <a:tabLst>
                <a:tab pos="0" algn="l"/>
              </a:tabLst>
            </a:pPr>
            <a:r>
              <a:rPr lang="en-US" sz="700" b="0" u="none" strike="noStrike">
                <a:solidFill>
                  <a:srgbClr val="111827"/>
                </a:solidFill>
                <a:effectLst/>
                <a:uFillTx/>
                <a:latin typeface="Aptos"/>
                <a:ea typeface="Aptos"/>
              </a:rPr>
              <a:t>/ embedding</a:t>
            </a:r>
            <a:endParaRPr lang="it-IT" sz="700" b="0" u="none" strike="noStrike">
              <a:solidFill>
                <a:srgbClr val="000000"/>
              </a:solidFill>
              <a:effectLst/>
              <a:uFillTx/>
              <a:latin typeface="Arial"/>
            </a:endParaRPr>
          </a:p>
        </p:txBody>
      </p:sp>
      <p:sp>
        <p:nvSpPr>
          <p:cNvPr id="393" name="Shape 34"/>
          <p:cNvSpPr/>
          <p:nvPr/>
        </p:nvSpPr>
        <p:spPr>
          <a:xfrm>
            <a:off x="4251960" y="36576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394" name="Shape 35"/>
          <p:cNvSpPr/>
          <p:nvPr/>
        </p:nvSpPr>
        <p:spPr>
          <a:xfrm>
            <a:off x="3794760" y="4434840"/>
            <a:ext cx="914040" cy="502560"/>
          </a:xfrm>
          <a:prstGeom prst="roundRect">
            <a:avLst>
              <a:gd name="adj" fmla="val 10909"/>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5" name="Text 36"/>
          <p:cNvSpPr/>
          <p:nvPr/>
        </p:nvSpPr>
        <p:spPr>
          <a:xfrm>
            <a:off x="3840480" y="4462200"/>
            <a:ext cx="82260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e2</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[d_model]</a:t>
            </a:r>
            <a:endParaRPr lang="it-IT" sz="900" b="0" u="none" strike="noStrike">
              <a:solidFill>
                <a:srgbClr val="000000"/>
              </a:solidFill>
              <a:effectLst/>
              <a:uFillTx/>
              <a:latin typeface="Arial"/>
            </a:endParaRPr>
          </a:p>
        </p:txBody>
      </p:sp>
      <p:sp>
        <p:nvSpPr>
          <p:cNvPr id="396" name="Shape 37"/>
          <p:cNvSpPr/>
          <p:nvPr/>
        </p:nvSpPr>
        <p:spPr>
          <a:xfrm>
            <a:off x="6126480" y="1417320"/>
            <a:ext cx="1554120" cy="50256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397" name="Shape 38"/>
          <p:cNvSpPr/>
          <p:nvPr/>
        </p:nvSpPr>
        <p:spPr>
          <a:xfrm>
            <a:off x="626364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98" name="Shape 39"/>
          <p:cNvSpPr/>
          <p:nvPr/>
        </p:nvSpPr>
        <p:spPr>
          <a:xfrm>
            <a:off x="642816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399" name="Shape 40"/>
          <p:cNvSpPr/>
          <p:nvPr/>
        </p:nvSpPr>
        <p:spPr>
          <a:xfrm>
            <a:off x="659268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00" name="Shape 41"/>
          <p:cNvSpPr/>
          <p:nvPr/>
        </p:nvSpPr>
        <p:spPr>
          <a:xfrm>
            <a:off x="675756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01" name="Shape 42"/>
          <p:cNvSpPr/>
          <p:nvPr/>
        </p:nvSpPr>
        <p:spPr>
          <a:xfrm>
            <a:off x="692208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02" name="Shape 43"/>
          <p:cNvSpPr/>
          <p:nvPr/>
        </p:nvSpPr>
        <p:spPr>
          <a:xfrm>
            <a:off x="708660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03" name="Shape 44"/>
          <p:cNvSpPr/>
          <p:nvPr/>
        </p:nvSpPr>
        <p:spPr>
          <a:xfrm>
            <a:off x="725112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04" name="Shape 45"/>
          <p:cNvSpPr/>
          <p:nvPr/>
        </p:nvSpPr>
        <p:spPr>
          <a:xfrm>
            <a:off x="7415640" y="1627560"/>
            <a:ext cx="63720" cy="63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05" name="Text 46"/>
          <p:cNvSpPr/>
          <p:nvPr/>
        </p:nvSpPr>
        <p:spPr>
          <a:xfrm>
            <a:off x="6217920" y="2057400"/>
            <a:ext cx="1371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raw patch 3</a:t>
            </a:r>
            <a:endParaRPr lang="it-IT" sz="700" b="0" u="none" strike="noStrike">
              <a:solidFill>
                <a:srgbClr val="000000"/>
              </a:solidFill>
              <a:effectLst/>
              <a:uFillTx/>
              <a:latin typeface="Arial"/>
            </a:endParaRPr>
          </a:p>
        </p:txBody>
      </p:sp>
      <p:sp>
        <p:nvSpPr>
          <p:cNvPr id="406" name="Shape 47"/>
          <p:cNvSpPr/>
          <p:nvPr/>
        </p:nvSpPr>
        <p:spPr>
          <a:xfrm>
            <a:off x="6903720" y="233172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07" name="Shape 48"/>
          <p:cNvSpPr/>
          <p:nvPr/>
        </p:nvSpPr>
        <p:spPr>
          <a:xfrm>
            <a:off x="6309360" y="3108960"/>
            <a:ext cx="1188360" cy="502560"/>
          </a:xfrm>
          <a:prstGeom prst="roundRect">
            <a:avLst>
              <a:gd name="adj" fmla="val 10909"/>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08" name="Text 49"/>
          <p:cNvSpPr/>
          <p:nvPr/>
        </p:nvSpPr>
        <p:spPr>
          <a:xfrm>
            <a:off x="6355080" y="3136320"/>
            <a:ext cx="109692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linear projection</a:t>
            </a:r>
            <a:endParaRPr lang="it-IT" sz="700" b="0" u="none" strike="noStrike">
              <a:solidFill>
                <a:srgbClr val="000000"/>
              </a:solidFill>
              <a:effectLst/>
              <a:uFillTx/>
              <a:latin typeface="Arial"/>
            </a:endParaRPr>
          </a:p>
          <a:p>
            <a:pPr algn="ctr" defTabSz="914400">
              <a:lnSpc>
                <a:spcPct val="100000"/>
              </a:lnSpc>
              <a:tabLst>
                <a:tab pos="0" algn="l"/>
              </a:tabLst>
            </a:pPr>
            <a:r>
              <a:rPr lang="en-US" sz="700" b="0" u="none" strike="noStrike">
                <a:solidFill>
                  <a:srgbClr val="111827"/>
                </a:solidFill>
                <a:effectLst/>
                <a:uFillTx/>
                <a:latin typeface="Aptos"/>
                <a:ea typeface="Aptos"/>
              </a:rPr>
              <a:t>/ embedding</a:t>
            </a:r>
            <a:endParaRPr lang="it-IT" sz="700" b="0" u="none" strike="noStrike">
              <a:solidFill>
                <a:srgbClr val="000000"/>
              </a:solidFill>
              <a:effectLst/>
              <a:uFillTx/>
              <a:latin typeface="Arial"/>
            </a:endParaRPr>
          </a:p>
        </p:txBody>
      </p:sp>
      <p:sp>
        <p:nvSpPr>
          <p:cNvPr id="409" name="Shape 50"/>
          <p:cNvSpPr/>
          <p:nvPr/>
        </p:nvSpPr>
        <p:spPr>
          <a:xfrm>
            <a:off x="6903720" y="36576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10" name="Shape 51"/>
          <p:cNvSpPr/>
          <p:nvPr/>
        </p:nvSpPr>
        <p:spPr>
          <a:xfrm>
            <a:off x="6446520" y="4434840"/>
            <a:ext cx="914040" cy="502560"/>
          </a:xfrm>
          <a:prstGeom prst="roundRect">
            <a:avLst>
              <a:gd name="adj" fmla="val 10909"/>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1" name="Text 52"/>
          <p:cNvSpPr/>
          <p:nvPr/>
        </p:nvSpPr>
        <p:spPr>
          <a:xfrm>
            <a:off x="6492240" y="4462200"/>
            <a:ext cx="82260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e3</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[d_model]</a:t>
            </a:r>
            <a:endParaRPr lang="it-IT" sz="900" b="0" u="none" strike="noStrike">
              <a:solidFill>
                <a:srgbClr val="000000"/>
              </a:solidFill>
              <a:effectLst/>
              <a:uFillTx/>
              <a:latin typeface="Arial"/>
            </a:endParaRPr>
          </a:p>
        </p:txBody>
      </p:sp>
      <p:sp>
        <p:nvSpPr>
          <p:cNvPr id="412" name="Shape 53"/>
          <p:cNvSpPr/>
          <p:nvPr/>
        </p:nvSpPr>
        <p:spPr>
          <a:xfrm>
            <a:off x="8778240" y="1417320"/>
            <a:ext cx="1554120" cy="502560"/>
          </a:xfrm>
          <a:prstGeom prst="rect">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13" name="Shape 54"/>
          <p:cNvSpPr/>
          <p:nvPr/>
        </p:nvSpPr>
        <p:spPr>
          <a:xfrm>
            <a:off x="891540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14" name="Shape 55"/>
          <p:cNvSpPr/>
          <p:nvPr/>
        </p:nvSpPr>
        <p:spPr>
          <a:xfrm>
            <a:off x="907992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15" name="Shape 56"/>
          <p:cNvSpPr/>
          <p:nvPr/>
        </p:nvSpPr>
        <p:spPr>
          <a:xfrm>
            <a:off x="924444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16" name="Shape 57"/>
          <p:cNvSpPr/>
          <p:nvPr/>
        </p:nvSpPr>
        <p:spPr>
          <a:xfrm>
            <a:off x="940932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17" name="Shape 58"/>
          <p:cNvSpPr/>
          <p:nvPr/>
        </p:nvSpPr>
        <p:spPr>
          <a:xfrm>
            <a:off x="957384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18" name="Shape 59"/>
          <p:cNvSpPr/>
          <p:nvPr/>
        </p:nvSpPr>
        <p:spPr>
          <a:xfrm>
            <a:off x="973836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19" name="Shape 60"/>
          <p:cNvSpPr/>
          <p:nvPr/>
        </p:nvSpPr>
        <p:spPr>
          <a:xfrm>
            <a:off x="990288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20" name="Shape 61"/>
          <p:cNvSpPr/>
          <p:nvPr/>
        </p:nvSpPr>
        <p:spPr>
          <a:xfrm>
            <a:off x="10067400" y="1627560"/>
            <a:ext cx="63720" cy="63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it-IT" sz="1800" b="0" u="none" strike="noStrike">
              <a:solidFill>
                <a:srgbClr val="FFFFFF"/>
              </a:solidFill>
              <a:effectLst/>
              <a:uFillTx/>
              <a:latin typeface="Arial"/>
            </a:endParaRPr>
          </a:p>
        </p:txBody>
      </p:sp>
      <p:sp>
        <p:nvSpPr>
          <p:cNvPr id="421" name="Text 62"/>
          <p:cNvSpPr/>
          <p:nvPr/>
        </p:nvSpPr>
        <p:spPr>
          <a:xfrm>
            <a:off x="8869680" y="2057400"/>
            <a:ext cx="13712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667085"/>
                </a:solidFill>
                <a:effectLst/>
                <a:uFillTx/>
                <a:latin typeface="Aptos"/>
                <a:ea typeface="Aptos"/>
              </a:rPr>
              <a:t>raw patch 4</a:t>
            </a:r>
            <a:endParaRPr lang="it-IT" sz="700" b="0" u="none" strike="noStrike">
              <a:solidFill>
                <a:srgbClr val="000000"/>
              </a:solidFill>
              <a:effectLst/>
              <a:uFillTx/>
              <a:latin typeface="Arial"/>
            </a:endParaRPr>
          </a:p>
        </p:txBody>
      </p:sp>
      <p:sp>
        <p:nvSpPr>
          <p:cNvPr id="422" name="Shape 63"/>
          <p:cNvSpPr/>
          <p:nvPr/>
        </p:nvSpPr>
        <p:spPr>
          <a:xfrm>
            <a:off x="9555480" y="233172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23" name="Shape 64"/>
          <p:cNvSpPr/>
          <p:nvPr/>
        </p:nvSpPr>
        <p:spPr>
          <a:xfrm>
            <a:off x="8961120" y="3108960"/>
            <a:ext cx="1188360" cy="502560"/>
          </a:xfrm>
          <a:prstGeom prst="roundRect">
            <a:avLst>
              <a:gd name="adj" fmla="val 10909"/>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4" name="Text 65"/>
          <p:cNvSpPr/>
          <p:nvPr/>
        </p:nvSpPr>
        <p:spPr>
          <a:xfrm>
            <a:off x="9006840" y="3136320"/>
            <a:ext cx="109692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0" u="none" strike="noStrike">
                <a:solidFill>
                  <a:srgbClr val="111827"/>
                </a:solidFill>
                <a:effectLst/>
                <a:uFillTx/>
                <a:latin typeface="Aptos"/>
                <a:ea typeface="Aptos"/>
              </a:rPr>
              <a:t>linear projection</a:t>
            </a:r>
            <a:endParaRPr lang="it-IT" sz="700" b="0" u="none" strike="noStrike">
              <a:solidFill>
                <a:srgbClr val="000000"/>
              </a:solidFill>
              <a:effectLst/>
              <a:uFillTx/>
              <a:latin typeface="Arial"/>
            </a:endParaRPr>
          </a:p>
          <a:p>
            <a:pPr algn="ctr" defTabSz="914400">
              <a:lnSpc>
                <a:spcPct val="100000"/>
              </a:lnSpc>
              <a:tabLst>
                <a:tab pos="0" algn="l"/>
              </a:tabLst>
            </a:pPr>
            <a:r>
              <a:rPr lang="en-US" sz="700" b="0" u="none" strike="noStrike">
                <a:solidFill>
                  <a:srgbClr val="111827"/>
                </a:solidFill>
                <a:effectLst/>
                <a:uFillTx/>
                <a:latin typeface="Aptos"/>
                <a:ea typeface="Aptos"/>
              </a:rPr>
              <a:t>/ embedding</a:t>
            </a:r>
            <a:endParaRPr lang="it-IT" sz="700" b="0" u="none" strike="noStrike">
              <a:solidFill>
                <a:srgbClr val="000000"/>
              </a:solidFill>
              <a:effectLst/>
              <a:uFillTx/>
              <a:latin typeface="Arial"/>
            </a:endParaRPr>
          </a:p>
        </p:txBody>
      </p:sp>
      <p:sp>
        <p:nvSpPr>
          <p:cNvPr id="425" name="Shape 66"/>
          <p:cNvSpPr/>
          <p:nvPr/>
        </p:nvSpPr>
        <p:spPr>
          <a:xfrm>
            <a:off x="9555480" y="3657600"/>
            <a:ext cx="360" cy="64008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426" name="Shape 67"/>
          <p:cNvSpPr/>
          <p:nvPr/>
        </p:nvSpPr>
        <p:spPr>
          <a:xfrm>
            <a:off x="9098280" y="4434840"/>
            <a:ext cx="914040" cy="502560"/>
          </a:xfrm>
          <a:prstGeom prst="roundRect">
            <a:avLst>
              <a:gd name="adj" fmla="val 10909"/>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7" name="Text 68"/>
          <p:cNvSpPr/>
          <p:nvPr/>
        </p:nvSpPr>
        <p:spPr>
          <a:xfrm>
            <a:off x="9144000" y="4462200"/>
            <a:ext cx="82260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e4</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[d_model]</a:t>
            </a:r>
            <a:endParaRPr lang="it-IT" sz="900" b="0" u="none" strike="noStrike">
              <a:solidFill>
                <a:srgbClr val="000000"/>
              </a:solidFill>
              <a:effectLst/>
              <a:uFillTx/>
              <a:latin typeface="Arial"/>
            </a:endParaRPr>
          </a:p>
        </p:txBody>
      </p:sp>
      <p:sp>
        <p:nvSpPr>
          <p:cNvPr id="428" name="Shape 69"/>
          <p:cNvSpPr/>
          <p:nvPr/>
        </p:nvSpPr>
        <p:spPr>
          <a:xfrm>
            <a:off x="2926080" y="5669280"/>
            <a:ext cx="6126120" cy="456840"/>
          </a:xfrm>
          <a:prstGeom prst="roundRect">
            <a:avLst>
              <a:gd name="adj" fmla="val 12000"/>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29" name="Text 70"/>
          <p:cNvSpPr/>
          <p:nvPr/>
        </p:nvSpPr>
        <p:spPr>
          <a:xfrm>
            <a:off x="2971800" y="5696640"/>
            <a:ext cx="603468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1827"/>
                </a:solidFill>
                <a:effectLst/>
                <a:uFillTx/>
                <a:latin typeface="Aptos"/>
                <a:ea typeface="Aptos"/>
              </a:rPr>
              <a:t>Transformer processes patch embeddings: [e1, e2, e3, ...]</a:t>
            </a:r>
            <a:endParaRPr lang="it-IT" sz="1200" b="0" u="none" strike="noStrike">
              <a:solidFill>
                <a:srgbClr val="000000"/>
              </a:solidFill>
              <a:effectLst/>
              <a:uFillTx/>
              <a:latin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9003994-97A9-B977-99E6-61838A41DEA5}"/>
              </a:ext>
            </a:extLst>
          </p:cNvPr>
          <p:cNvSpPr>
            <a:spLocks noGrp="1"/>
          </p:cNvSpPr>
          <p:nvPr>
            <p:ph type="title"/>
          </p:nvPr>
        </p:nvSpPr>
        <p:spPr/>
        <p:txBody>
          <a:bodyPr/>
          <a:lstStyle/>
          <a:p>
            <a:r>
              <a:rPr lang="en-GB" dirty="0"/>
              <a:t>Patching greatly reduces attention sequence length</a:t>
            </a:r>
          </a:p>
        </p:txBody>
      </p:sp>
      <p:sp>
        <p:nvSpPr>
          <p:cNvPr id="3" name="Segnaposto contenuto 2">
            <a:extLst>
              <a:ext uri="{FF2B5EF4-FFF2-40B4-BE49-F238E27FC236}">
                <a16:creationId xmlns:a16="http://schemas.microsoft.com/office/drawing/2014/main" id="{4C04D4D0-958E-BC80-07FC-32C13D11507C}"/>
              </a:ext>
            </a:extLst>
          </p:cNvPr>
          <p:cNvSpPr>
            <a:spLocks noGrp="1"/>
          </p:cNvSpPr>
          <p:nvPr>
            <p:ph sz="half" idx="1"/>
          </p:nvPr>
        </p:nvSpPr>
        <p:spPr>
          <a:xfrm>
            <a:off x="677334" y="2160589"/>
            <a:ext cx="5042530" cy="4376398"/>
          </a:xfrm>
        </p:spPr>
        <p:txBody>
          <a:bodyPr>
            <a:normAutofit fontScale="92500" lnSpcReduction="20000"/>
          </a:bodyPr>
          <a:lstStyle/>
          <a:p>
            <a:r>
              <a:rPr lang="en-GB" dirty="0"/>
              <a:t>Suppose: L = 1000 raw observations.</a:t>
            </a:r>
          </a:p>
          <a:p>
            <a:r>
              <a:rPr lang="en-GB" dirty="0"/>
              <a:t>Patch size:</a:t>
            </a:r>
          </a:p>
          <a:p>
            <a:pPr lvl="1"/>
            <a:r>
              <a:rPr lang="en-GB" dirty="0"/>
              <a:t>P = 20</a:t>
            </a:r>
          </a:p>
          <a:p>
            <a:r>
              <a:rPr lang="en-GB" b="1" dirty="0"/>
              <a:t>For non-overlapping patches:</a:t>
            </a:r>
          </a:p>
          <a:p>
            <a:pPr lvl="1"/>
            <a:r>
              <a:rPr lang="en-GB" dirty="0"/>
              <a:t>M ≈ 50</a:t>
            </a:r>
          </a:p>
          <a:p>
            <a:pPr lvl="1"/>
            <a:r>
              <a:rPr lang="en-GB" dirty="0"/>
              <a:t>tokens.</a:t>
            </a:r>
          </a:p>
          <a:p>
            <a:endParaRPr lang="en-GB" dirty="0"/>
          </a:p>
        </p:txBody>
      </p:sp>
      <p:sp>
        <p:nvSpPr>
          <p:cNvPr id="4" name="Segnaposto contenuto 3">
            <a:extLst>
              <a:ext uri="{FF2B5EF4-FFF2-40B4-BE49-F238E27FC236}">
                <a16:creationId xmlns:a16="http://schemas.microsoft.com/office/drawing/2014/main" id="{64986751-0D0B-6A63-456C-0D2B7A8BB2B8}"/>
              </a:ext>
            </a:extLst>
          </p:cNvPr>
          <p:cNvSpPr>
            <a:spLocks noGrp="1"/>
          </p:cNvSpPr>
          <p:nvPr>
            <p:ph sz="half" idx="2"/>
          </p:nvPr>
        </p:nvSpPr>
        <p:spPr>
          <a:xfrm>
            <a:off x="6014097" y="2160589"/>
            <a:ext cx="5805009" cy="4483402"/>
          </a:xfrm>
        </p:spPr>
        <p:txBody>
          <a:bodyPr>
            <a:normAutofit fontScale="92500" lnSpcReduction="20000"/>
          </a:bodyPr>
          <a:lstStyle/>
          <a:p>
            <a:r>
              <a:rPr lang="en-GB" b="1" dirty="0"/>
              <a:t>Raw-sample attention</a:t>
            </a:r>
          </a:p>
          <a:p>
            <a:r>
              <a:rPr lang="en-GB" dirty="0"/>
              <a:t>Attention matrix: 1000 × 1000</a:t>
            </a:r>
          </a:p>
          <a:p>
            <a:r>
              <a:rPr lang="en-GB" dirty="0"/>
              <a:t>approximately: 1,000,000 scores</a:t>
            </a:r>
          </a:p>
          <a:p>
            <a:endParaRPr lang="en-GB" b="1" dirty="0"/>
          </a:p>
          <a:p>
            <a:r>
              <a:rPr lang="en-GB" b="1" dirty="0"/>
              <a:t>Patch attention</a:t>
            </a:r>
          </a:p>
          <a:p>
            <a:r>
              <a:rPr lang="en-GB" dirty="0"/>
              <a:t>Attention matrix: 50 × 50</a:t>
            </a:r>
          </a:p>
          <a:p>
            <a:r>
              <a:rPr lang="en-GB" dirty="0"/>
              <a:t>approximately: 2,500 scores</a:t>
            </a:r>
          </a:p>
          <a:p>
            <a:endParaRPr lang="en-GB" b="1" dirty="0"/>
          </a:p>
          <a:p>
            <a:r>
              <a:rPr lang="en-GB" b="1" dirty="0"/>
              <a:t>Reduction</a:t>
            </a:r>
          </a:p>
          <a:p>
            <a:r>
              <a:rPr lang="en-GB" dirty="0"/>
              <a:t>The number of pairwise attention scores is dramatically reduced.</a:t>
            </a:r>
          </a:p>
          <a:p>
            <a:r>
              <a:rPr lang="en-GB" b="1" dirty="0"/>
              <a:t>Important consequence</a:t>
            </a:r>
          </a:p>
          <a:p>
            <a:r>
              <a:rPr lang="en-GB" dirty="0"/>
              <a:t>The Transformer can process a long physical interval while operating on a much shorter token sequence.</a:t>
            </a:r>
          </a:p>
          <a:p>
            <a:endParaRPr lang="en-GB" dirty="0"/>
          </a:p>
        </p:txBody>
      </p:sp>
    </p:spTree>
    <p:extLst>
      <p:ext uri="{BB962C8B-B14F-4D97-AF65-F5344CB8AC3E}">
        <p14:creationId xmlns:p14="http://schemas.microsoft.com/office/powerpoint/2010/main" val="30760063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1"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Patching reduces the attention matrix</a:t>
            </a:r>
            <a:endParaRPr lang="it-IT" sz="2100" b="0" u="none" strike="noStrike">
              <a:solidFill>
                <a:srgbClr val="000000"/>
              </a:solidFill>
              <a:effectLst/>
              <a:uFillTx/>
              <a:latin typeface="Arial"/>
            </a:endParaRPr>
          </a:p>
        </p:txBody>
      </p:sp>
      <p:sp>
        <p:nvSpPr>
          <p:cNvPr id="432"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dirty="0">
                <a:solidFill>
                  <a:srgbClr val="667085"/>
                </a:solidFill>
                <a:effectLst/>
                <a:uFillTx/>
                <a:latin typeface="Aptos"/>
                <a:ea typeface="Aptos"/>
              </a:rPr>
              <a:t>Reducing token count has a quadratic effect on attention scores.</a:t>
            </a:r>
            <a:endParaRPr lang="it-IT" sz="1050" b="1" u="none" strike="noStrike" dirty="0">
              <a:solidFill>
                <a:srgbClr val="000000"/>
              </a:solidFill>
              <a:effectLst/>
              <a:uFillTx/>
              <a:latin typeface="Arial"/>
            </a:endParaRPr>
          </a:p>
        </p:txBody>
      </p:sp>
      <p:sp>
        <p:nvSpPr>
          <p:cNvPr id="435" name="Shape 5"/>
          <p:cNvSpPr/>
          <p:nvPr/>
        </p:nvSpPr>
        <p:spPr>
          <a:xfrm>
            <a:off x="960120" y="1097280"/>
            <a:ext cx="2194200" cy="502560"/>
          </a:xfrm>
          <a:prstGeom prst="roundRect">
            <a:avLst>
              <a:gd name="adj" fmla="val 1090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6" name="Text 6"/>
          <p:cNvSpPr/>
          <p:nvPr/>
        </p:nvSpPr>
        <p:spPr>
          <a:xfrm>
            <a:off x="1005840" y="1124640"/>
            <a:ext cx="210276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raw sample tokens</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11827"/>
                </a:solidFill>
                <a:effectLst/>
                <a:uFillTx/>
                <a:latin typeface="Aptos"/>
                <a:ea typeface="Aptos"/>
              </a:rPr>
              <a:t>L = 1000</a:t>
            </a:r>
            <a:endParaRPr lang="it-IT" sz="1100" b="0" u="none" strike="noStrike">
              <a:solidFill>
                <a:srgbClr val="000000"/>
              </a:solidFill>
              <a:effectLst/>
              <a:uFillTx/>
              <a:latin typeface="Arial"/>
            </a:endParaRPr>
          </a:p>
        </p:txBody>
      </p:sp>
      <p:sp>
        <p:nvSpPr>
          <p:cNvPr id="437" name="Shape 7"/>
          <p:cNvSpPr/>
          <p:nvPr/>
        </p:nvSpPr>
        <p:spPr>
          <a:xfrm>
            <a:off x="114300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8" name="Shape 8"/>
          <p:cNvSpPr/>
          <p:nvPr/>
        </p:nvSpPr>
        <p:spPr>
          <a:xfrm>
            <a:off x="128916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39" name="Shape 9"/>
          <p:cNvSpPr/>
          <p:nvPr/>
        </p:nvSpPr>
        <p:spPr>
          <a:xfrm>
            <a:off x="143568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0" name="Shape 10"/>
          <p:cNvSpPr/>
          <p:nvPr/>
        </p:nvSpPr>
        <p:spPr>
          <a:xfrm>
            <a:off x="158184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1" name="Shape 11"/>
          <p:cNvSpPr/>
          <p:nvPr/>
        </p:nvSpPr>
        <p:spPr>
          <a:xfrm>
            <a:off x="172836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2" name="Shape 12"/>
          <p:cNvSpPr/>
          <p:nvPr/>
        </p:nvSpPr>
        <p:spPr>
          <a:xfrm>
            <a:off x="187452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3" name="Shape 13"/>
          <p:cNvSpPr/>
          <p:nvPr/>
        </p:nvSpPr>
        <p:spPr>
          <a:xfrm>
            <a:off x="202068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4" name="Shape 14"/>
          <p:cNvSpPr/>
          <p:nvPr/>
        </p:nvSpPr>
        <p:spPr>
          <a:xfrm>
            <a:off x="216720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5" name="Shape 15"/>
          <p:cNvSpPr/>
          <p:nvPr/>
        </p:nvSpPr>
        <p:spPr>
          <a:xfrm>
            <a:off x="231336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6" name="Shape 16"/>
          <p:cNvSpPr/>
          <p:nvPr/>
        </p:nvSpPr>
        <p:spPr>
          <a:xfrm>
            <a:off x="2459880" y="18745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7" name="Shape 17"/>
          <p:cNvSpPr/>
          <p:nvPr/>
        </p:nvSpPr>
        <p:spPr>
          <a:xfrm>
            <a:off x="114300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8" name="Shape 18"/>
          <p:cNvSpPr/>
          <p:nvPr/>
        </p:nvSpPr>
        <p:spPr>
          <a:xfrm>
            <a:off x="128916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49" name="Shape 19"/>
          <p:cNvSpPr/>
          <p:nvPr/>
        </p:nvSpPr>
        <p:spPr>
          <a:xfrm>
            <a:off x="143568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0" name="Shape 20"/>
          <p:cNvSpPr/>
          <p:nvPr/>
        </p:nvSpPr>
        <p:spPr>
          <a:xfrm>
            <a:off x="158184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1" name="Shape 21"/>
          <p:cNvSpPr/>
          <p:nvPr/>
        </p:nvSpPr>
        <p:spPr>
          <a:xfrm>
            <a:off x="172836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2" name="Shape 22"/>
          <p:cNvSpPr/>
          <p:nvPr/>
        </p:nvSpPr>
        <p:spPr>
          <a:xfrm>
            <a:off x="187452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3" name="Shape 23"/>
          <p:cNvSpPr/>
          <p:nvPr/>
        </p:nvSpPr>
        <p:spPr>
          <a:xfrm>
            <a:off x="202068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4" name="Shape 24"/>
          <p:cNvSpPr/>
          <p:nvPr/>
        </p:nvSpPr>
        <p:spPr>
          <a:xfrm>
            <a:off x="216720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5" name="Shape 25"/>
          <p:cNvSpPr/>
          <p:nvPr/>
        </p:nvSpPr>
        <p:spPr>
          <a:xfrm>
            <a:off x="231336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6" name="Shape 26"/>
          <p:cNvSpPr/>
          <p:nvPr/>
        </p:nvSpPr>
        <p:spPr>
          <a:xfrm>
            <a:off x="2459880" y="20206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7" name="Shape 27"/>
          <p:cNvSpPr/>
          <p:nvPr/>
        </p:nvSpPr>
        <p:spPr>
          <a:xfrm>
            <a:off x="114300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8" name="Shape 28"/>
          <p:cNvSpPr/>
          <p:nvPr/>
        </p:nvSpPr>
        <p:spPr>
          <a:xfrm>
            <a:off x="128916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59" name="Shape 29"/>
          <p:cNvSpPr/>
          <p:nvPr/>
        </p:nvSpPr>
        <p:spPr>
          <a:xfrm>
            <a:off x="143568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0" name="Shape 30"/>
          <p:cNvSpPr/>
          <p:nvPr/>
        </p:nvSpPr>
        <p:spPr>
          <a:xfrm>
            <a:off x="158184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1" name="Shape 31"/>
          <p:cNvSpPr/>
          <p:nvPr/>
        </p:nvSpPr>
        <p:spPr>
          <a:xfrm>
            <a:off x="172836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2" name="Shape 32"/>
          <p:cNvSpPr/>
          <p:nvPr/>
        </p:nvSpPr>
        <p:spPr>
          <a:xfrm>
            <a:off x="187452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3" name="Shape 33"/>
          <p:cNvSpPr/>
          <p:nvPr/>
        </p:nvSpPr>
        <p:spPr>
          <a:xfrm>
            <a:off x="202068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4" name="Shape 34"/>
          <p:cNvSpPr/>
          <p:nvPr/>
        </p:nvSpPr>
        <p:spPr>
          <a:xfrm>
            <a:off x="216720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5" name="Shape 35"/>
          <p:cNvSpPr/>
          <p:nvPr/>
        </p:nvSpPr>
        <p:spPr>
          <a:xfrm>
            <a:off x="231336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6" name="Shape 36"/>
          <p:cNvSpPr/>
          <p:nvPr/>
        </p:nvSpPr>
        <p:spPr>
          <a:xfrm>
            <a:off x="2459880" y="2167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7" name="Shape 37"/>
          <p:cNvSpPr/>
          <p:nvPr/>
        </p:nvSpPr>
        <p:spPr>
          <a:xfrm>
            <a:off x="114300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8" name="Shape 38"/>
          <p:cNvSpPr/>
          <p:nvPr/>
        </p:nvSpPr>
        <p:spPr>
          <a:xfrm>
            <a:off x="128916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69" name="Shape 39"/>
          <p:cNvSpPr/>
          <p:nvPr/>
        </p:nvSpPr>
        <p:spPr>
          <a:xfrm>
            <a:off x="143568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0" name="Shape 40"/>
          <p:cNvSpPr/>
          <p:nvPr/>
        </p:nvSpPr>
        <p:spPr>
          <a:xfrm>
            <a:off x="158184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1" name="Shape 41"/>
          <p:cNvSpPr/>
          <p:nvPr/>
        </p:nvSpPr>
        <p:spPr>
          <a:xfrm>
            <a:off x="172836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2" name="Shape 42"/>
          <p:cNvSpPr/>
          <p:nvPr/>
        </p:nvSpPr>
        <p:spPr>
          <a:xfrm>
            <a:off x="187452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3" name="Shape 43"/>
          <p:cNvSpPr/>
          <p:nvPr/>
        </p:nvSpPr>
        <p:spPr>
          <a:xfrm>
            <a:off x="202068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4" name="Shape 44"/>
          <p:cNvSpPr/>
          <p:nvPr/>
        </p:nvSpPr>
        <p:spPr>
          <a:xfrm>
            <a:off x="216720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5" name="Shape 45"/>
          <p:cNvSpPr/>
          <p:nvPr/>
        </p:nvSpPr>
        <p:spPr>
          <a:xfrm>
            <a:off x="231336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6" name="Shape 46"/>
          <p:cNvSpPr/>
          <p:nvPr/>
        </p:nvSpPr>
        <p:spPr>
          <a:xfrm>
            <a:off x="2459880" y="231336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7" name="Shape 47"/>
          <p:cNvSpPr/>
          <p:nvPr/>
        </p:nvSpPr>
        <p:spPr>
          <a:xfrm>
            <a:off x="114300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8" name="Shape 48"/>
          <p:cNvSpPr/>
          <p:nvPr/>
        </p:nvSpPr>
        <p:spPr>
          <a:xfrm>
            <a:off x="128916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79" name="Shape 49"/>
          <p:cNvSpPr/>
          <p:nvPr/>
        </p:nvSpPr>
        <p:spPr>
          <a:xfrm>
            <a:off x="143568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0" name="Shape 50"/>
          <p:cNvSpPr/>
          <p:nvPr/>
        </p:nvSpPr>
        <p:spPr>
          <a:xfrm>
            <a:off x="158184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1" name="Shape 51"/>
          <p:cNvSpPr/>
          <p:nvPr/>
        </p:nvSpPr>
        <p:spPr>
          <a:xfrm>
            <a:off x="172836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2" name="Shape 52"/>
          <p:cNvSpPr/>
          <p:nvPr/>
        </p:nvSpPr>
        <p:spPr>
          <a:xfrm>
            <a:off x="187452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3" name="Shape 53"/>
          <p:cNvSpPr/>
          <p:nvPr/>
        </p:nvSpPr>
        <p:spPr>
          <a:xfrm>
            <a:off x="202068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4" name="Shape 54"/>
          <p:cNvSpPr/>
          <p:nvPr/>
        </p:nvSpPr>
        <p:spPr>
          <a:xfrm>
            <a:off x="216720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5" name="Shape 55"/>
          <p:cNvSpPr/>
          <p:nvPr/>
        </p:nvSpPr>
        <p:spPr>
          <a:xfrm>
            <a:off x="231336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6" name="Shape 56"/>
          <p:cNvSpPr/>
          <p:nvPr/>
        </p:nvSpPr>
        <p:spPr>
          <a:xfrm>
            <a:off x="2459880" y="2459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7" name="Shape 57"/>
          <p:cNvSpPr/>
          <p:nvPr/>
        </p:nvSpPr>
        <p:spPr>
          <a:xfrm>
            <a:off x="114300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8" name="Shape 58"/>
          <p:cNvSpPr/>
          <p:nvPr/>
        </p:nvSpPr>
        <p:spPr>
          <a:xfrm>
            <a:off x="128916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89" name="Shape 59"/>
          <p:cNvSpPr/>
          <p:nvPr/>
        </p:nvSpPr>
        <p:spPr>
          <a:xfrm>
            <a:off x="143568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0" name="Shape 60"/>
          <p:cNvSpPr/>
          <p:nvPr/>
        </p:nvSpPr>
        <p:spPr>
          <a:xfrm>
            <a:off x="158184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1" name="Shape 61"/>
          <p:cNvSpPr/>
          <p:nvPr/>
        </p:nvSpPr>
        <p:spPr>
          <a:xfrm>
            <a:off x="172836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2" name="Shape 62"/>
          <p:cNvSpPr/>
          <p:nvPr/>
        </p:nvSpPr>
        <p:spPr>
          <a:xfrm>
            <a:off x="187452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3" name="Shape 63"/>
          <p:cNvSpPr/>
          <p:nvPr/>
        </p:nvSpPr>
        <p:spPr>
          <a:xfrm>
            <a:off x="202068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4" name="Shape 64"/>
          <p:cNvSpPr/>
          <p:nvPr/>
        </p:nvSpPr>
        <p:spPr>
          <a:xfrm>
            <a:off x="216720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5" name="Shape 65"/>
          <p:cNvSpPr/>
          <p:nvPr/>
        </p:nvSpPr>
        <p:spPr>
          <a:xfrm>
            <a:off x="231336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6" name="Shape 66"/>
          <p:cNvSpPr/>
          <p:nvPr/>
        </p:nvSpPr>
        <p:spPr>
          <a:xfrm>
            <a:off x="2459880" y="260604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7" name="Shape 67"/>
          <p:cNvSpPr/>
          <p:nvPr/>
        </p:nvSpPr>
        <p:spPr>
          <a:xfrm>
            <a:off x="114300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8" name="Shape 68"/>
          <p:cNvSpPr/>
          <p:nvPr/>
        </p:nvSpPr>
        <p:spPr>
          <a:xfrm>
            <a:off x="128916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499" name="Shape 69"/>
          <p:cNvSpPr/>
          <p:nvPr/>
        </p:nvSpPr>
        <p:spPr>
          <a:xfrm>
            <a:off x="143568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0" name="Shape 70"/>
          <p:cNvSpPr/>
          <p:nvPr/>
        </p:nvSpPr>
        <p:spPr>
          <a:xfrm>
            <a:off x="158184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1" name="Shape 71"/>
          <p:cNvSpPr/>
          <p:nvPr/>
        </p:nvSpPr>
        <p:spPr>
          <a:xfrm>
            <a:off x="172836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2" name="Shape 72"/>
          <p:cNvSpPr/>
          <p:nvPr/>
        </p:nvSpPr>
        <p:spPr>
          <a:xfrm>
            <a:off x="187452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3" name="Shape 73"/>
          <p:cNvSpPr/>
          <p:nvPr/>
        </p:nvSpPr>
        <p:spPr>
          <a:xfrm>
            <a:off x="202068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4" name="Shape 74"/>
          <p:cNvSpPr/>
          <p:nvPr/>
        </p:nvSpPr>
        <p:spPr>
          <a:xfrm>
            <a:off x="216720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5" name="Shape 75"/>
          <p:cNvSpPr/>
          <p:nvPr/>
        </p:nvSpPr>
        <p:spPr>
          <a:xfrm>
            <a:off x="231336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6" name="Shape 76"/>
          <p:cNvSpPr/>
          <p:nvPr/>
        </p:nvSpPr>
        <p:spPr>
          <a:xfrm>
            <a:off x="2459880" y="27522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7" name="Shape 77"/>
          <p:cNvSpPr/>
          <p:nvPr/>
        </p:nvSpPr>
        <p:spPr>
          <a:xfrm>
            <a:off x="114300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8" name="Shape 78"/>
          <p:cNvSpPr/>
          <p:nvPr/>
        </p:nvSpPr>
        <p:spPr>
          <a:xfrm>
            <a:off x="128916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09" name="Shape 79"/>
          <p:cNvSpPr/>
          <p:nvPr/>
        </p:nvSpPr>
        <p:spPr>
          <a:xfrm>
            <a:off x="143568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0" name="Shape 80"/>
          <p:cNvSpPr/>
          <p:nvPr/>
        </p:nvSpPr>
        <p:spPr>
          <a:xfrm>
            <a:off x="158184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1" name="Shape 81"/>
          <p:cNvSpPr/>
          <p:nvPr/>
        </p:nvSpPr>
        <p:spPr>
          <a:xfrm>
            <a:off x="172836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2" name="Shape 82"/>
          <p:cNvSpPr/>
          <p:nvPr/>
        </p:nvSpPr>
        <p:spPr>
          <a:xfrm>
            <a:off x="187452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3" name="Shape 83"/>
          <p:cNvSpPr/>
          <p:nvPr/>
        </p:nvSpPr>
        <p:spPr>
          <a:xfrm>
            <a:off x="202068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4" name="Shape 84"/>
          <p:cNvSpPr/>
          <p:nvPr/>
        </p:nvSpPr>
        <p:spPr>
          <a:xfrm>
            <a:off x="216720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5" name="Shape 85"/>
          <p:cNvSpPr/>
          <p:nvPr/>
        </p:nvSpPr>
        <p:spPr>
          <a:xfrm>
            <a:off x="231336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6" name="Shape 86"/>
          <p:cNvSpPr/>
          <p:nvPr/>
        </p:nvSpPr>
        <p:spPr>
          <a:xfrm>
            <a:off x="2459880" y="289872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7" name="Shape 87"/>
          <p:cNvSpPr/>
          <p:nvPr/>
        </p:nvSpPr>
        <p:spPr>
          <a:xfrm>
            <a:off x="114300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8" name="Shape 88"/>
          <p:cNvSpPr/>
          <p:nvPr/>
        </p:nvSpPr>
        <p:spPr>
          <a:xfrm>
            <a:off x="128916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19" name="Shape 89"/>
          <p:cNvSpPr/>
          <p:nvPr/>
        </p:nvSpPr>
        <p:spPr>
          <a:xfrm>
            <a:off x="143568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0" name="Shape 90"/>
          <p:cNvSpPr/>
          <p:nvPr/>
        </p:nvSpPr>
        <p:spPr>
          <a:xfrm>
            <a:off x="158184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1" name="Shape 91"/>
          <p:cNvSpPr/>
          <p:nvPr/>
        </p:nvSpPr>
        <p:spPr>
          <a:xfrm>
            <a:off x="172836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2" name="Shape 92"/>
          <p:cNvSpPr/>
          <p:nvPr/>
        </p:nvSpPr>
        <p:spPr>
          <a:xfrm>
            <a:off x="187452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3" name="Shape 93"/>
          <p:cNvSpPr/>
          <p:nvPr/>
        </p:nvSpPr>
        <p:spPr>
          <a:xfrm>
            <a:off x="202068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4" name="Shape 94"/>
          <p:cNvSpPr/>
          <p:nvPr/>
        </p:nvSpPr>
        <p:spPr>
          <a:xfrm>
            <a:off x="216720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5" name="Shape 95"/>
          <p:cNvSpPr/>
          <p:nvPr/>
        </p:nvSpPr>
        <p:spPr>
          <a:xfrm>
            <a:off x="231336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6" name="Shape 96"/>
          <p:cNvSpPr/>
          <p:nvPr/>
        </p:nvSpPr>
        <p:spPr>
          <a:xfrm>
            <a:off x="2459880" y="304488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7" name="Shape 97"/>
          <p:cNvSpPr/>
          <p:nvPr/>
        </p:nvSpPr>
        <p:spPr>
          <a:xfrm>
            <a:off x="114300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8" name="Shape 98"/>
          <p:cNvSpPr/>
          <p:nvPr/>
        </p:nvSpPr>
        <p:spPr>
          <a:xfrm>
            <a:off x="128916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29" name="Shape 99"/>
          <p:cNvSpPr/>
          <p:nvPr/>
        </p:nvSpPr>
        <p:spPr>
          <a:xfrm>
            <a:off x="143568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0" name="Shape 100"/>
          <p:cNvSpPr/>
          <p:nvPr/>
        </p:nvSpPr>
        <p:spPr>
          <a:xfrm>
            <a:off x="158184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1" name="Shape 101"/>
          <p:cNvSpPr/>
          <p:nvPr/>
        </p:nvSpPr>
        <p:spPr>
          <a:xfrm>
            <a:off x="172836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2" name="Shape 102"/>
          <p:cNvSpPr/>
          <p:nvPr/>
        </p:nvSpPr>
        <p:spPr>
          <a:xfrm>
            <a:off x="187452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3" name="Shape 103"/>
          <p:cNvSpPr/>
          <p:nvPr/>
        </p:nvSpPr>
        <p:spPr>
          <a:xfrm>
            <a:off x="202068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4" name="Shape 104"/>
          <p:cNvSpPr/>
          <p:nvPr/>
        </p:nvSpPr>
        <p:spPr>
          <a:xfrm>
            <a:off x="216720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5" name="Shape 105"/>
          <p:cNvSpPr/>
          <p:nvPr/>
        </p:nvSpPr>
        <p:spPr>
          <a:xfrm>
            <a:off x="231336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6" name="Shape 106"/>
          <p:cNvSpPr/>
          <p:nvPr/>
        </p:nvSpPr>
        <p:spPr>
          <a:xfrm>
            <a:off x="2459880" y="3191400"/>
            <a:ext cx="127800" cy="127800"/>
          </a:xfrm>
          <a:prstGeom prst="rect">
            <a:avLst/>
          </a:prstGeom>
          <a:solidFill>
            <a:srgbClr val="D9EAFE"/>
          </a:solidFill>
          <a:ln w="12700">
            <a:solidFill>
              <a:srgbClr val="BFD7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37" name="Text 107"/>
          <p:cNvSpPr/>
          <p:nvPr/>
        </p:nvSpPr>
        <p:spPr>
          <a:xfrm>
            <a:off x="777240" y="3611880"/>
            <a:ext cx="255996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4D8CF5"/>
                </a:solidFill>
                <a:effectLst/>
                <a:uFillTx/>
                <a:latin typeface="Aptos"/>
                <a:ea typeface="Aptos"/>
              </a:rPr>
              <a:t>1000 × 1000</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4D8CF5"/>
                </a:solidFill>
                <a:effectLst/>
                <a:uFillTx/>
                <a:latin typeface="Aptos"/>
                <a:ea typeface="Aptos"/>
              </a:rPr>
              <a:t>≈ 1,000,000 scores</a:t>
            </a:r>
            <a:endParaRPr lang="it-IT" sz="1200" b="0" u="none" strike="noStrike">
              <a:solidFill>
                <a:srgbClr val="000000"/>
              </a:solidFill>
              <a:effectLst/>
              <a:uFillTx/>
              <a:latin typeface="Arial"/>
            </a:endParaRPr>
          </a:p>
        </p:txBody>
      </p:sp>
      <p:sp>
        <p:nvSpPr>
          <p:cNvPr id="538" name="Shape 108"/>
          <p:cNvSpPr/>
          <p:nvPr/>
        </p:nvSpPr>
        <p:spPr>
          <a:xfrm>
            <a:off x="3840480" y="2743200"/>
            <a:ext cx="182880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39" name="Shape 109"/>
          <p:cNvSpPr/>
          <p:nvPr/>
        </p:nvSpPr>
        <p:spPr>
          <a:xfrm>
            <a:off x="4160520" y="1965960"/>
            <a:ext cx="118836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0" name="Text 110"/>
          <p:cNvSpPr/>
          <p:nvPr/>
        </p:nvSpPr>
        <p:spPr>
          <a:xfrm>
            <a:off x="4206240" y="1993320"/>
            <a:ext cx="109692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patching</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11827"/>
                </a:solidFill>
                <a:effectLst/>
                <a:uFillTx/>
                <a:latin typeface="Aptos"/>
                <a:ea typeface="Aptos"/>
              </a:rPr>
              <a:t>P = 20</a:t>
            </a:r>
            <a:endParaRPr lang="it-IT" sz="1100" b="0" u="none" strike="noStrike">
              <a:solidFill>
                <a:srgbClr val="000000"/>
              </a:solidFill>
              <a:effectLst/>
              <a:uFillTx/>
              <a:latin typeface="Arial"/>
            </a:endParaRPr>
          </a:p>
        </p:txBody>
      </p:sp>
      <p:sp>
        <p:nvSpPr>
          <p:cNvPr id="541" name="Shape 111"/>
          <p:cNvSpPr/>
          <p:nvPr/>
        </p:nvSpPr>
        <p:spPr>
          <a:xfrm>
            <a:off x="6400800" y="1097280"/>
            <a:ext cx="2194200" cy="502560"/>
          </a:xfrm>
          <a:prstGeom prst="roundRect">
            <a:avLst>
              <a:gd name="adj" fmla="val 10909"/>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2" name="Text 112"/>
          <p:cNvSpPr/>
          <p:nvPr/>
        </p:nvSpPr>
        <p:spPr>
          <a:xfrm>
            <a:off x="6446520" y="1124640"/>
            <a:ext cx="210276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patch tokens</a:t>
            </a:r>
            <a:endParaRPr lang="it-IT"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11827"/>
                </a:solidFill>
                <a:effectLst/>
                <a:uFillTx/>
                <a:latin typeface="Aptos"/>
                <a:ea typeface="Aptos"/>
              </a:rPr>
              <a:t>M ≈ 50</a:t>
            </a:r>
            <a:endParaRPr lang="it-IT" sz="1100" b="0" u="none" strike="noStrike">
              <a:solidFill>
                <a:srgbClr val="000000"/>
              </a:solidFill>
              <a:effectLst/>
              <a:uFillTx/>
              <a:latin typeface="Arial"/>
            </a:endParaRPr>
          </a:p>
        </p:txBody>
      </p:sp>
      <p:sp>
        <p:nvSpPr>
          <p:cNvPr id="543" name="Shape 113"/>
          <p:cNvSpPr/>
          <p:nvPr/>
        </p:nvSpPr>
        <p:spPr>
          <a:xfrm>
            <a:off x="6903720" y="203004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4" name="Shape 114"/>
          <p:cNvSpPr/>
          <p:nvPr/>
        </p:nvSpPr>
        <p:spPr>
          <a:xfrm>
            <a:off x="7113960" y="203004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5" name="Shape 115"/>
          <p:cNvSpPr/>
          <p:nvPr/>
        </p:nvSpPr>
        <p:spPr>
          <a:xfrm>
            <a:off x="7324200" y="203004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6" name="Shape 116"/>
          <p:cNvSpPr/>
          <p:nvPr/>
        </p:nvSpPr>
        <p:spPr>
          <a:xfrm>
            <a:off x="7534800" y="203004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7" name="Shape 117"/>
          <p:cNvSpPr/>
          <p:nvPr/>
        </p:nvSpPr>
        <p:spPr>
          <a:xfrm>
            <a:off x="7745040" y="203004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8" name="Shape 118"/>
          <p:cNvSpPr/>
          <p:nvPr/>
        </p:nvSpPr>
        <p:spPr>
          <a:xfrm>
            <a:off x="6903720" y="224028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49" name="Shape 119"/>
          <p:cNvSpPr/>
          <p:nvPr/>
        </p:nvSpPr>
        <p:spPr>
          <a:xfrm>
            <a:off x="7113960" y="224028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0" name="Shape 120"/>
          <p:cNvSpPr/>
          <p:nvPr/>
        </p:nvSpPr>
        <p:spPr>
          <a:xfrm>
            <a:off x="7324200" y="224028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1" name="Shape 121"/>
          <p:cNvSpPr/>
          <p:nvPr/>
        </p:nvSpPr>
        <p:spPr>
          <a:xfrm>
            <a:off x="7534800" y="224028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2" name="Shape 122"/>
          <p:cNvSpPr/>
          <p:nvPr/>
        </p:nvSpPr>
        <p:spPr>
          <a:xfrm>
            <a:off x="7745040" y="224028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3" name="Shape 123"/>
          <p:cNvSpPr/>
          <p:nvPr/>
        </p:nvSpPr>
        <p:spPr>
          <a:xfrm>
            <a:off x="6903720" y="245052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4" name="Shape 124"/>
          <p:cNvSpPr/>
          <p:nvPr/>
        </p:nvSpPr>
        <p:spPr>
          <a:xfrm>
            <a:off x="7113960" y="245052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5" name="Shape 125"/>
          <p:cNvSpPr/>
          <p:nvPr/>
        </p:nvSpPr>
        <p:spPr>
          <a:xfrm>
            <a:off x="7324200" y="245052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6" name="Shape 126"/>
          <p:cNvSpPr/>
          <p:nvPr/>
        </p:nvSpPr>
        <p:spPr>
          <a:xfrm>
            <a:off x="7534800" y="245052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7" name="Shape 127"/>
          <p:cNvSpPr/>
          <p:nvPr/>
        </p:nvSpPr>
        <p:spPr>
          <a:xfrm>
            <a:off x="7745040" y="245052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8" name="Shape 128"/>
          <p:cNvSpPr/>
          <p:nvPr/>
        </p:nvSpPr>
        <p:spPr>
          <a:xfrm>
            <a:off x="6903720" y="26607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59" name="Shape 129"/>
          <p:cNvSpPr/>
          <p:nvPr/>
        </p:nvSpPr>
        <p:spPr>
          <a:xfrm>
            <a:off x="7113960" y="26607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0" name="Shape 130"/>
          <p:cNvSpPr/>
          <p:nvPr/>
        </p:nvSpPr>
        <p:spPr>
          <a:xfrm>
            <a:off x="7324200" y="26607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1" name="Shape 131"/>
          <p:cNvSpPr/>
          <p:nvPr/>
        </p:nvSpPr>
        <p:spPr>
          <a:xfrm>
            <a:off x="7534800" y="26607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2" name="Shape 132"/>
          <p:cNvSpPr/>
          <p:nvPr/>
        </p:nvSpPr>
        <p:spPr>
          <a:xfrm>
            <a:off x="7745040" y="26607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3" name="Shape 133"/>
          <p:cNvSpPr/>
          <p:nvPr/>
        </p:nvSpPr>
        <p:spPr>
          <a:xfrm>
            <a:off x="6903720" y="28713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4" name="Shape 134"/>
          <p:cNvSpPr/>
          <p:nvPr/>
        </p:nvSpPr>
        <p:spPr>
          <a:xfrm>
            <a:off x="7113960" y="28713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5" name="Shape 135"/>
          <p:cNvSpPr/>
          <p:nvPr/>
        </p:nvSpPr>
        <p:spPr>
          <a:xfrm>
            <a:off x="7324200" y="28713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6" name="Shape 136"/>
          <p:cNvSpPr/>
          <p:nvPr/>
        </p:nvSpPr>
        <p:spPr>
          <a:xfrm>
            <a:off x="7534800" y="28713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7" name="Shape 137"/>
          <p:cNvSpPr/>
          <p:nvPr/>
        </p:nvSpPr>
        <p:spPr>
          <a:xfrm>
            <a:off x="7745040" y="2871360"/>
            <a:ext cx="182520" cy="182520"/>
          </a:xfrm>
          <a:prstGeom prst="rect">
            <a:avLst/>
          </a:prstGeom>
          <a:solidFill>
            <a:srgbClr val="CBEA9A"/>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68" name="Text 138"/>
          <p:cNvSpPr/>
          <p:nvPr/>
        </p:nvSpPr>
        <p:spPr>
          <a:xfrm>
            <a:off x="6355080" y="3611880"/>
            <a:ext cx="2559960" cy="502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5F8E13"/>
                </a:solidFill>
                <a:effectLst/>
                <a:uFillTx/>
                <a:latin typeface="Aptos"/>
                <a:ea typeface="Aptos"/>
              </a:rPr>
              <a:t>50 × 50</a:t>
            </a:r>
            <a:endParaRPr lang="it-IT"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5F8E13"/>
                </a:solidFill>
                <a:effectLst/>
                <a:uFillTx/>
                <a:latin typeface="Aptos"/>
                <a:ea typeface="Aptos"/>
              </a:rPr>
              <a:t>≈ 2,500 scores</a:t>
            </a:r>
            <a:endParaRPr lang="it-IT" sz="1200" b="0" u="none" strike="noStrike">
              <a:solidFill>
                <a:srgbClr val="000000"/>
              </a:solidFill>
              <a:effectLst/>
              <a:uFillTx/>
              <a:latin typeface="Arial"/>
            </a:endParaRPr>
          </a:p>
        </p:txBody>
      </p:sp>
      <p:sp>
        <p:nvSpPr>
          <p:cNvPr id="569" name="Shape 139"/>
          <p:cNvSpPr/>
          <p:nvPr/>
        </p:nvSpPr>
        <p:spPr>
          <a:xfrm>
            <a:off x="4114800" y="5166360"/>
            <a:ext cx="3931560" cy="594000"/>
          </a:xfrm>
          <a:prstGeom prst="roundRect">
            <a:avLst>
              <a:gd name="adj" fmla="val 9231"/>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0" name="Text 140"/>
          <p:cNvSpPr/>
          <p:nvPr/>
        </p:nvSpPr>
        <p:spPr>
          <a:xfrm>
            <a:off x="4160520" y="5193720"/>
            <a:ext cx="384012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dirty="0">
                <a:solidFill>
                  <a:srgbClr val="111827"/>
                </a:solidFill>
                <a:effectLst/>
                <a:highlight>
                  <a:srgbClr val="FFFF00"/>
                </a:highlight>
                <a:uFillTx/>
                <a:latin typeface="Aptos"/>
                <a:ea typeface="Aptos"/>
              </a:rPr>
              <a:t>≈400× fewer </a:t>
            </a:r>
            <a:r>
              <a:rPr lang="en-US" sz="1500" b="1" u="none" strike="noStrike" dirty="0">
                <a:solidFill>
                  <a:srgbClr val="111827"/>
                </a:solidFill>
                <a:effectLst/>
                <a:uFillTx/>
                <a:latin typeface="Aptos"/>
                <a:ea typeface="Aptos"/>
              </a:rPr>
              <a:t>pairwise scores</a:t>
            </a:r>
            <a:endParaRPr lang="it-IT" sz="1500" b="0" u="none" strike="noStrike" dirty="0">
              <a:solidFill>
                <a:srgbClr val="000000"/>
              </a:solidFill>
              <a:effectLst/>
              <a:uFillTx/>
              <a:latin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54C728D-53D5-5AEE-723D-9383E8B1A8AA}"/>
              </a:ext>
            </a:extLst>
          </p:cNvPr>
          <p:cNvSpPr>
            <a:spLocks noGrp="1"/>
          </p:cNvSpPr>
          <p:nvPr>
            <p:ph type="title"/>
          </p:nvPr>
        </p:nvSpPr>
        <p:spPr/>
        <p:txBody>
          <a:bodyPr/>
          <a:lstStyle/>
          <a:p>
            <a:r>
              <a:rPr lang="en-GB" dirty="0"/>
              <a:t>Patching trades temporal resolution for efficiency</a:t>
            </a:r>
          </a:p>
        </p:txBody>
      </p:sp>
      <p:sp>
        <p:nvSpPr>
          <p:cNvPr id="3" name="Segnaposto contenuto 2">
            <a:extLst>
              <a:ext uri="{FF2B5EF4-FFF2-40B4-BE49-F238E27FC236}">
                <a16:creationId xmlns:a16="http://schemas.microsoft.com/office/drawing/2014/main" id="{FC070502-AC94-7361-1C71-084CB8D9A459}"/>
              </a:ext>
            </a:extLst>
          </p:cNvPr>
          <p:cNvSpPr>
            <a:spLocks noGrp="1"/>
          </p:cNvSpPr>
          <p:nvPr>
            <p:ph sz="half" idx="1"/>
          </p:nvPr>
        </p:nvSpPr>
        <p:spPr>
          <a:xfrm>
            <a:off x="677334" y="2160588"/>
            <a:ext cx="5548368" cy="4551495"/>
          </a:xfrm>
        </p:spPr>
        <p:txBody>
          <a:bodyPr>
            <a:normAutofit/>
          </a:bodyPr>
          <a:lstStyle/>
          <a:p>
            <a:r>
              <a:rPr lang="en-GB" dirty="0"/>
              <a:t>Patching is not free.</a:t>
            </a:r>
          </a:p>
          <a:p>
            <a:r>
              <a:rPr lang="en-GB" dirty="0"/>
              <a:t>Suppose 20 raw observations are represented by one token.</a:t>
            </a:r>
          </a:p>
          <a:p>
            <a:r>
              <a:rPr lang="en-GB" b="1" dirty="0"/>
              <a:t>The Transformer now reasons primarily at the level of that 20-sample patch.</a:t>
            </a:r>
          </a:p>
          <a:p>
            <a:r>
              <a:rPr lang="en-GB" b="1" dirty="0"/>
              <a:t>Advantages</a:t>
            </a:r>
          </a:p>
          <a:p>
            <a:pPr lvl="1"/>
            <a:r>
              <a:rPr lang="en-GB" dirty="0"/>
              <a:t>shorter token sequence; </a:t>
            </a:r>
          </a:p>
          <a:p>
            <a:pPr lvl="1"/>
            <a:r>
              <a:rPr lang="en-GB" dirty="0"/>
              <a:t>lower attention cost; </a:t>
            </a:r>
          </a:p>
          <a:p>
            <a:pPr lvl="1"/>
            <a:r>
              <a:rPr lang="en-GB" dirty="0"/>
              <a:t>longer physical context becomes practical; </a:t>
            </a:r>
          </a:p>
          <a:p>
            <a:pPr lvl="1"/>
            <a:r>
              <a:rPr lang="en-GB" dirty="0"/>
              <a:t>local observations are grouped into meaningful temporal units. </a:t>
            </a:r>
          </a:p>
          <a:p>
            <a:endParaRPr lang="en-GB" dirty="0"/>
          </a:p>
        </p:txBody>
      </p:sp>
      <p:sp>
        <p:nvSpPr>
          <p:cNvPr id="4" name="Segnaposto contenuto 3">
            <a:extLst>
              <a:ext uri="{FF2B5EF4-FFF2-40B4-BE49-F238E27FC236}">
                <a16:creationId xmlns:a16="http://schemas.microsoft.com/office/drawing/2014/main" id="{54EAED31-FFC0-7A30-5507-C23E9F8C93D7}"/>
              </a:ext>
            </a:extLst>
          </p:cNvPr>
          <p:cNvSpPr>
            <a:spLocks noGrp="1"/>
          </p:cNvSpPr>
          <p:nvPr>
            <p:ph sz="half" idx="2"/>
          </p:nvPr>
        </p:nvSpPr>
        <p:spPr>
          <a:xfrm>
            <a:off x="6529664" y="2161638"/>
            <a:ext cx="5308898" cy="4551496"/>
          </a:xfrm>
        </p:spPr>
        <p:txBody>
          <a:bodyPr>
            <a:normAutofit/>
          </a:bodyPr>
          <a:lstStyle/>
          <a:p>
            <a:r>
              <a:rPr lang="en-GB" b="1" dirty="0"/>
              <a:t>Potential disadvantages</a:t>
            </a:r>
          </a:p>
          <a:p>
            <a:pPr lvl="1"/>
            <a:r>
              <a:rPr lang="en-GB" dirty="0"/>
              <a:t>fine temporal detail may be compressed; </a:t>
            </a:r>
          </a:p>
          <a:p>
            <a:pPr lvl="1"/>
            <a:r>
              <a:rPr lang="en-GB" dirty="0"/>
              <a:t>exact within-patch timing becomes less explicit; </a:t>
            </a:r>
          </a:p>
          <a:p>
            <a:pPr lvl="1"/>
            <a:r>
              <a:rPr lang="en-GB" dirty="0"/>
              <a:t>very short events may be harder to preserve. </a:t>
            </a:r>
          </a:p>
          <a:p>
            <a:endParaRPr lang="en-GB" b="1" dirty="0"/>
          </a:p>
          <a:p>
            <a:r>
              <a:rPr lang="en-GB" b="1" dirty="0"/>
              <a:t>Key trade-off</a:t>
            </a:r>
          </a:p>
          <a:p>
            <a:pPr lvl="1"/>
            <a:r>
              <a:rPr lang="en-GB" b="1" dirty="0"/>
              <a:t>Larger patches increase efficiency but reduce temporal granularity.</a:t>
            </a:r>
          </a:p>
          <a:p>
            <a:endParaRPr lang="en-GB" dirty="0"/>
          </a:p>
        </p:txBody>
      </p:sp>
    </p:spTree>
    <p:extLst>
      <p:ext uri="{BB962C8B-B14F-4D97-AF65-F5344CB8AC3E}">
        <p14:creationId xmlns:p14="http://schemas.microsoft.com/office/powerpoint/2010/main" val="400805885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2"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 size trades temporal detail for efficiency</a:t>
            </a:r>
            <a:endParaRPr lang="it-IT" sz="2100" b="0" u="none" strike="noStrike">
              <a:solidFill>
                <a:srgbClr val="000000"/>
              </a:solidFill>
              <a:effectLst/>
              <a:uFillTx/>
              <a:latin typeface="Arial"/>
            </a:endParaRPr>
          </a:p>
        </p:txBody>
      </p:sp>
      <p:sp>
        <p:nvSpPr>
          <p:cNvPr id="573"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dirty="0">
                <a:solidFill>
                  <a:srgbClr val="667085"/>
                </a:solidFill>
                <a:effectLst/>
                <a:uFillTx/>
                <a:latin typeface="Aptos"/>
                <a:ea typeface="Aptos"/>
              </a:rPr>
              <a:t>Larger patches produce shorter token sequences but coarser temporal granularity.</a:t>
            </a:r>
            <a:endParaRPr lang="it-IT" sz="1050" b="0" u="none" strike="noStrike" dirty="0">
              <a:solidFill>
                <a:srgbClr val="000000"/>
              </a:solidFill>
              <a:effectLst/>
              <a:uFillTx/>
              <a:latin typeface="Arial"/>
            </a:endParaRPr>
          </a:p>
        </p:txBody>
      </p:sp>
      <p:sp>
        <p:nvSpPr>
          <p:cNvPr id="574"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5"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dirty="0">
                <a:solidFill>
                  <a:srgbClr val="667085"/>
                </a:solidFill>
                <a:effectLst/>
                <a:uFillTx/>
                <a:latin typeface="Aptos"/>
                <a:ea typeface="Aptos"/>
              </a:rPr>
              <a:t>Patch size should be interpreted in physical time</a:t>
            </a:r>
            <a:r>
              <a:rPr lang="en-US" sz="900" b="0" u="none" strike="noStrike" dirty="0">
                <a:solidFill>
                  <a:srgbClr val="667085"/>
                </a:solidFill>
                <a:effectLst/>
                <a:uFillTx/>
                <a:latin typeface="Aptos"/>
                <a:ea typeface="Aptos"/>
              </a:rPr>
              <a:t>, not only in samples.</a:t>
            </a:r>
            <a:endParaRPr lang="it-IT" sz="900" b="0" u="none" strike="noStrike" dirty="0">
              <a:solidFill>
                <a:srgbClr val="000000"/>
              </a:solidFill>
              <a:effectLst/>
              <a:uFillTx/>
              <a:latin typeface="Arial"/>
            </a:endParaRPr>
          </a:p>
        </p:txBody>
      </p:sp>
      <p:sp>
        <p:nvSpPr>
          <p:cNvPr id="576" name="Shape 5"/>
          <p:cNvSpPr/>
          <p:nvPr/>
        </p:nvSpPr>
        <p:spPr>
          <a:xfrm>
            <a:off x="1005840" y="3017520"/>
            <a:ext cx="95097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577" name="Shape 6"/>
          <p:cNvSpPr/>
          <p:nvPr/>
        </p:nvSpPr>
        <p:spPr>
          <a:xfrm>
            <a:off x="1097280" y="1920240"/>
            <a:ext cx="1462680" cy="411120"/>
          </a:xfrm>
          <a:prstGeom prst="roundRect">
            <a:avLst>
              <a:gd name="adj" fmla="val 1333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78" name="Text 7"/>
          <p:cNvSpPr/>
          <p:nvPr/>
        </p:nvSpPr>
        <p:spPr>
          <a:xfrm>
            <a:off x="1143000" y="1947600"/>
            <a:ext cx="13712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 = 5</a:t>
            </a:r>
            <a:endParaRPr lang="it-IT" sz="1100" b="0" u="none" strike="noStrike">
              <a:solidFill>
                <a:srgbClr val="000000"/>
              </a:solidFill>
              <a:effectLst/>
              <a:uFillTx/>
              <a:latin typeface="Arial"/>
            </a:endParaRPr>
          </a:p>
        </p:txBody>
      </p:sp>
      <p:sp>
        <p:nvSpPr>
          <p:cNvPr id="579" name="Shape 8"/>
          <p:cNvSpPr/>
          <p:nvPr/>
        </p:nvSpPr>
        <p:spPr>
          <a:xfrm>
            <a:off x="1828800" y="2331720"/>
            <a:ext cx="360" cy="594360"/>
          </a:xfrm>
          <a:prstGeom prst="line">
            <a:avLst/>
          </a:prstGeom>
          <a:ln w="12700">
            <a:solidFill>
              <a:srgbClr val="5F8E1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80" name="Shape 9"/>
          <p:cNvSpPr/>
          <p:nvPr/>
        </p:nvSpPr>
        <p:spPr>
          <a:xfrm>
            <a:off x="1097280" y="3337560"/>
            <a:ext cx="1462680" cy="383760"/>
          </a:xfrm>
          <a:prstGeom prst="roundRect">
            <a:avLst>
              <a:gd name="adj" fmla="val 14286"/>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1" name="Text 10"/>
          <p:cNvSpPr/>
          <p:nvPr/>
        </p:nvSpPr>
        <p:spPr>
          <a:xfrm>
            <a:off x="1143000" y="3364920"/>
            <a:ext cx="1371240" cy="328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200 tokens</a:t>
            </a:r>
            <a:endParaRPr lang="it-IT" sz="1000" b="0" u="none" strike="noStrike">
              <a:solidFill>
                <a:srgbClr val="000000"/>
              </a:solidFill>
              <a:effectLst/>
              <a:uFillTx/>
              <a:latin typeface="Arial"/>
            </a:endParaRPr>
          </a:p>
        </p:txBody>
      </p:sp>
      <p:sp>
        <p:nvSpPr>
          <p:cNvPr id="582" name="Text 11"/>
          <p:cNvSpPr/>
          <p:nvPr/>
        </p:nvSpPr>
        <p:spPr>
          <a:xfrm>
            <a:off x="1097280" y="3977640"/>
            <a:ext cx="1462680" cy="475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fine detail</a:t>
            </a:r>
            <a:endParaRPr lang="it-IT" sz="800" b="0" u="none" strike="noStrike">
              <a:solidFill>
                <a:srgbClr val="000000"/>
              </a:solidFill>
              <a:effectLst/>
              <a:uFillTx/>
              <a:latin typeface="Arial"/>
            </a:endParaRPr>
          </a:p>
          <a:p>
            <a:pPr algn="ctr" defTabSz="914400">
              <a:lnSpc>
                <a:spcPct val="100000"/>
              </a:lnSpc>
              <a:tabLst>
                <a:tab pos="0" algn="l"/>
              </a:tabLst>
            </a:pPr>
            <a:r>
              <a:rPr lang="en-US" sz="800" b="0" u="none" strike="noStrike">
                <a:solidFill>
                  <a:srgbClr val="667085"/>
                </a:solidFill>
                <a:effectLst/>
                <a:uFillTx/>
                <a:latin typeface="Aptos"/>
                <a:ea typeface="Aptos"/>
              </a:rPr>
              <a:t>higher cost</a:t>
            </a:r>
            <a:endParaRPr lang="it-IT" sz="800" b="0" u="none" strike="noStrike">
              <a:solidFill>
                <a:srgbClr val="000000"/>
              </a:solidFill>
              <a:effectLst/>
              <a:uFillTx/>
              <a:latin typeface="Arial"/>
            </a:endParaRPr>
          </a:p>
        </p:txBody>
      </p:sp>
      <p:sp>
        <p:nvSpPr>
          <p:cNvPr id="583" name="Shape 12"/>
          <p:cNvSpPr/>
          <p:nvPr/>
        </p:nvSpPr>
        <p:spPr>
          <a:xfrm>
            <a:off x="3931920" y="1920240"/>
            <a:ext cx="1462680" cy="411120"/>
          </a:xfrm>
          <a:prstGeom prst="roundRect">
            <a:avLst>
              <a:gd name="adj" fmla="val 1333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4" name="Text 13"/>
          <p:cNvSpPr/>
          <p:nvPr/>
        </p:nvSpPr>
        <p:spPr>
          <a:xfrm>
            <a:off x="3977640" y="1947600"/>
            <a:ext cx="13712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 = 20</a:t>
            </a:r>
            <a:endParaRPr lang="it-IT" sz="1100" b="0" u="none" strike="noStrike">
              <a:solidFill>
                <a:srgbClr val="000000"/>
              </a:solidFill>
              <a:effectLst/>
              <a:uFillTx/>
              <a:latin typeface="Arial"/>
            </a:endParaRPr>
          </a:p>
        </p:txBody>
      </p:sp>
      <p:sp>
        <p:nvSpPr>
          <p:cNvPr id="585" name="Shape 14"/>
          <p:cNvSpPr/>
          <p:nvPr/>
        </p:nvSpPr>
        <p:spPr>
          <a:xfrm>
            <a:off x="4663440" y="2331720"/>
            <a:ext cx="360" cy="594360"/>
          </a:xfrm>
          <a:prstGeom prst="line">
            <a:avLst/>
          </a:prstGeom>
          <a:ln w="12700">
            <a:solidFill>
              <a:srgbClr val="5F8E1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86" name="Shape 15"/>
          <p:cNvSpPr/>
          <p:nvPr/>
        </p:nvSpPr>
        <p:spPr>
          <a:xfrm>
            <a:off x="3931920" y="3337560"/>
            <a:ext cx="1462680" cy="383760"/>
          </a:xfrm>
          <a:prstGeom prst="roundRect">
            <a:avLst>
              <a:gd name="adj" fmla="val 14286"/>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87" name="Text 16"/>
          <p:cNvSpPr/>
          <p:nvPr/>
        </p:nvSpPr>
        <p:spPr>
          <a:xfrm>
            <a:off x="3977640" y="3364920"/>
            <a:ext cx="1371240" cy="328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50 tokens</a:t>
            </a:r>
            <a:endParaRPr lang="it-IT" sz="1000" b="0" u="none" strike="noStrike">
              <a:solidFill>
                <a:srgbClr val="000000"/>
              </a:solidFill>
              <a:effectLst/>
              <a:uFillTx/>
              <a:latin typeface="Arial"/>
            </a:endParaRPr>
          </a:p>
        </p:txBody>
      </p:sp>
      <p:sp>
        <p:nvSpPr>
          <p:cNvPr id="588" name="Text 17"/>
          <p:cNvSpPr/>
          <p:nvPr/>
        </p:nvSpPr>
        <p:spPr>
          <a:xfrm>
            <a:off x="3931920" y="3977640"/>
            <a:ext cx="1462680" cy="475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balanced</a:t>
            </a:r>
            <a:endParaRPr lang="it-IT" sz="800" b="0" u="none" strike="noStrike">
              <a:solidFill>
                <a:srgbClr val="000000"/>
              </a:solidFill>
              <a:effectLst/>
              <a:uFillTx/>
              <a:latin typeface="Arial"/>
            </a:endParaRPr>
          </a:p>
          <a:p>
            <a:pPr algn="ctr" defTabSz="914400">
              <a:lnSpc>
                <a:spcPct val="100000"/>
              </a:lnSpc>
              <a:tabLst>
                <a:tab pos="0" algn="l"/>
              </a:tabLst>
            </a:pPr>
            <a:r>
              <a:rPr lang="en-US" sz="800" b="0" u="none" strike="noStrike">
                <a:solidFill>
                  <a:srgbClr val="667085"/>
                </a:solidFill>
                <a:effectLst/>
                <a:uFillTx/>
                <a:latin typeface="Aptos"/>
                <a:ea typeface="Aptos"/>
              </a:rPr>
              <a:t>trade-off</a:t>
            </a:r>
            <a:endParaRPr lang="it-IT" sz="800" b="0" u="none" strike="noStrike">
              <a:solidFill>
                <a:srgbClr val="000000"/>
              </a:solidFill>
              <a:effectLst/>
              <a:uFillTx/>
              <a:latin typeface="Arial"/>
            </a:endParaRPr>
          </a:p>
        </p:txBody>
      </p:sp>
      <p:sp>
        <p:nvSpPr>
          <p:cNvPr id="589" name="Shape 18"/>
          <p:cNvSpPr/>
          <p:nvPr/>
        </p:nvSpPr>
        <p:spPr>
          <a:xfrm>
            <a:off x="6766560" y="1920240"/>
            <a:ext cx="1462680" cy="411120"/>
          </a:xfrm>
          <a:prstGeom prst="roundRect">
            <a:avLst>
              <a:gd name="adj" fmla="val 13333"/>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0" name="Text 19"/>
          <p:cNvSpPr/>
          <p:nvPr/>
        </p:nvSpPr>
        <p:spPr>
          <a:xfrm>
            <a:off x="6812280" y="1947600"/>
            <a:ext cx="13712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 = 50</a:t>
            </a:r>
            <a:endParaRPr lang="it-IT" sz="1100" b="0" u="none" strike="noStrike">
              <a:solidFill>
                <a:srgbClr val="000000"/>
              </a:solidFill>
              <a:effectLst/>
              <a:uFillTx/>
              <a:latin typeface="Arial"/>
            </a:endParaRPr>
          </a:p>
        </p:txBody>
      </p:sp>
      <p:sp>
        <p:nvSpPr>
          <p:cNvPr id="591" name="Shape 20"/>
          <p:cNvSpPr/>
          <p:nvPr/>
        </p:nvSpPr>
        <p:spPr>
          <a:xfrm>
            <a:off x="7498080" y="2331720"/>
            <a:ext cx="360" cy="59436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92" name="Shape 21"/>
          <p:cNvSpPr/>
          <p:nvPr/>
        </p:nvSpPr>
        <p:spPr>
          <a:xfrm>
            <a:off x="6766560" y="3337560"/>
            <a:ext cx="1462680" cy="383760"/>
          </a:xfrm>
          <a:prstGeom prst="roundRect">
            <a:avLst>
              <a:gd name="adj" fmla="val 14286"/>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3" name="Text 22"/>
          <p:cNvSpPr/>
          <p:nvPr/>
        </p:nvSpPr>
        <p:spPr>
          <a:xfrm>
            <a:off x="6812280" y="3364920"/>
            <a:ext cx="1371240" cy="328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20 tokens</a:t>
            </a:r>
            <a:endParaRPr lang="it-IT" sz="1000" b="0" u="none" strike="noStrike">
              <a:solidFill>
                <a:srgbClr val="000000"/>
              </a:solidFill>
              <a:effectLst/>
              <a:uFillTx/>
              <a:latin typeface="Arial"/>
            </a:endParaRPr>
          </a:p>
        </p:txBody>
      </p:sp>
      <p:sp>
        <p:nvSpPr>
          <p:cNvPr id="594" name="Text 23"/>
          <p:cNvSpPr/>
          <p:nvPr/>
        </p:nvSpPr>
        <p:spPr>
          <a:xfrm>
            <a:off x="6766560" y="3977640"/>
            <a:ext cx="1462680" cy="475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balanced</a:t>
            </a:r>
            <a:endParaRPr lang="it-IT" sz="800" b="0" u="none" strike="noStrike">
              <a:solidFill>
                <a:srgbClr val="000000"/>
              </a:solidFill>
              <a:effectLst/>
              <a:uFillTx/>
              <a:latin typeface="Arial"/>
            </a:endParaRPr>
          </a:p>
          <a:p>
            <a:pPr algn="ctr" defTabSz="914400">
              <a:lnSpc>
                <a:spcPct val="100000"/>
              </a:lnSpc>
              <a:tabLst>
                <a:tab pos="0" algn="l"/>
              </a:tabLst>
            </a:pPr>
            <a:r>
              <a:rPr lang="en-US" sz="800" b="0" u="none" strike="noStrike">
                <a:solidFill>
                  <a:srgbClr val="667085"/>
                </a:solidFill>
                <a:effectLst/>
                <a:uFillTx/>
                <a:latin typeface="Aptos"/>
                <a:ea typeface="Aptos"/>
              </a:rPr>
              <a:t>trade-off</a:t>
            </a:r>
            <a:endParaRPr lang="it-IT" sz="800" b="0" u="none" strike="noStrike">
              <a:solidFill>
                <a:srgbClr val="000000"/>
              </a:solidFill>
              <a:effectLst/>
              <a:uFillTx/>
              <a:latin typeface="Arial"/>
            </a:endParaRPr>
          </a:p>
        </p:txBody>
      </p:sp>
      <p:sp>
        <p:nvSpPr>
          <p:cNvPr id="595" name="Shape 24"/>
          <p:cNvSpPr/>
          <p:nvPr/>
        </p:nvSpPr>
        <p:spPr>
          <a:xfrm>
            <a:off x="9601200" y="1920240"/>
            <a:ext cx="1462680" cy="411120"/>
          </a:xfrm>
          <a:prstGeom prst="roundRect">
            <a:avLst>
              <a:gd name="adj" fmla="val 13333"/>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6" name="Text 25"/>
          <p:cNvSpPr/>
          <p:nvPr/>
        </p:nvSpPr>
        <p:spPr>
          <a:xfrm>
            <a:off x="9646920" y="1947600"/>
            <a:ext cx="13712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 = 200</a:t>
            </a:r>
            <a:endParaRPr lang="it-IT" sz="1100" b="0" u="none" strike="noStrike">
              <a:solidFill>
                <a:srgbClr val="000000"/>
              </a:solidFill>
              <a:effectLst/>
              <a:uFillTx/>
              <a:latin typeface="Arial"/>
            </a:endParaRPr>
          </a:p>
        </p:txBody>
      </p:sp>
      <p:sp>
        <p:nvSpPr>
          <p:cNvPr id="597" name="Shape 26"/>
          <p:cNvSpPr/>
          <p:nvPr/>
        </p:nvSpPr>
        <p:spPr>
          <a:xfrm>
            <a:off x="10332720" y="2331720"/>
            <a:ext cx="360" cy="59436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598" name="Shape 27"/>
          <p:cNvSpPr/>
          <p:nvPr/>
        </p:nvSpPr>
        <p:spPr>
          <a:xfrm>
            <a:off x="9601200" y="3337560"/>
            <a:ext cx="1462680" cy="383760"/>
          </a:xfrm>
          <a:prstGeom prst="roundRect">
            <a:avLst>
              <a:gd name="adj" fmla="val 14286"/>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599" name="Text 28"/>
          <p:cNvSpPr/>
          <p:nvPr/>
        </p:nvSpPr>
        <p:spPr>
          <a:xfrm>
            <a:off x="9646920" y="3364920"/>
            <a:ext cx="1371240" cy="328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5 tokens</a:t>
            </a:r>
            <a:endParaRPr lang="it-IT" sz="1000" b="0" u="none" strike="noStrike">
              <a:solidFill>
                <a:srgbClr val="000000"/>
              </a:solidFill>
              <a:effectLst/>
              <a:uFillTx/>
              <a:latin typeface="Arial"/>
            </a:endParaRPr>
          </a:p>
        </p:txBody>
      </p:sp>
      <p:sp>
        <p:nvSpPr>
          <p:cNvPr id="600" name="Text 29"/>
          <p:cNvSpPr/>
          <p:nvPr/>
        </p:nvSpPr>
        <p:spPr>
          <a:xfrm>
            <a:off x="9601200" y="3977640"/>
            <a:ext cx="1462680" cy="475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coarse detail</a:t>
            </a:r>
            <a:endParaRPr lang="it-IT" sz="800" b="0" u="none" strike="noStrike">
              <a:solidFill>
                <a:srgbClr val="000000"/>
              </a:solidFill>
              <a:effectLst/>
              <a:uFillTx/>
              <a:latin typeface="Arial"/>
            </a:endParaRPr>
          </a:p>
          <a:p>
            <a:pPr algn="ctr" defTabSz="914400">
              <a:lnSpc>
                <a:spcPct val="100000"/>
              </a:lnSpc>
              <a:tabLst>
                <a:tab pos="0" algn="l"/>
              </a:tabLst>
            </a:pPr>
            <a:r>
              <a:rPr lang="en-US" sz="800" b="0" u="none" strike="noStrike">
                <a:solidFill>
                  <a:srgbClr val="667085"/>
                </a:solidFill>
                <a:effectLst/>
                <a:uFillTx/>
                <a:latin typeface="Aptos"/>
                <a:ea typeface="Aptos"/>
              </a:rPr>
              <a:t>lower cost</a:t>
            </a:r>
            <a:endParaRPr lang="it-IT" sz="800" b="0" u="none" strike="noStrike">
              <a:solidFill>
                <a:srgbClr val="000000"/>
              </a:solidFill>
              <a:effectLst/>
              <a:uFillTx/>
              <a:latin typeface="Arial"/>
            </a:endParaRPr>
          </a:p>
        </p:txBody>
      </p:sp>
      <p:sp>
        <p:nvSpPr>
          <p:cNvPr id="601" name="Shape 30"/>
          <p:cNvSpPr/>
          <p:nvPr/>
        </p:nvSpPr>
        <p:spPr>
          <a:xfrm>
            <a:off x="1005840" y="5394960"/>
            <a:ext cx="2285640" cy="411120"/>
          </a:xfrm>
          <a:prstGeom prst="roundRect">
            <a:avLst>
              <a:gd name="adj" fmla="val 1333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2" name="Text 31"/>
          <p:cNvSpPr/>
          <p:nvPr/>
        </p:nvSpPr>
        <p:spPr>
          <a:xfrm>
            <a:off x="1051560" y="5422320"/>
            <a:ext cx="219420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1827"/>
                </a:solidFill>
                <a:effectLst/>
                <a:uFillTx/>
                <a:latin typeface="Aptos"/>
                <a:ea typeface="Aptos"/>
              </a:rPr>
              <a:t>Small patches</a:t>
            </a:r>
            <a:endParaRPr lang="it-IT" sz="1200" b="0" u="none" strike="noStrike">
              <a:solidFill>
                <a:srgbClr val="000000"/>
              </a:solidFill>
              <a:effectLst/>
              <a:uFillTx/>
              <a:latin typeface="Arial"/>
            </a:endParaRPr>
          </a:p>
        </p:txBody>
      </p:sp>
      <p:sp>
        <p:nvSpPr>
          <p:cNvPr id="603" name="Shape 32"/>
          <p:cNvSpPr/>
          <p:nvPr/>
        </p:nvSpPr>
        <p:spPr>
          <a:xfrm>
            <a:off x="8229600" y="5394960"/>
            <a:ext cx="2285640" cy="411120"/>
          </a:xfrm>
          <a:prstGeom prst="roundRect">
            <a:avLst>
              <a:gd name="adj" fmla="val 13333"/>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4" name="Text 33"/>
          <p:cNvSpPr/>
          <p:nvPr/>
        </p:nvSpPr>
        <p:spPr>
          <a:xfrm>
            <a:off x="8275320" y="5422320"/>
            <a:ext cx="219420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1827"/>
                </a:solidFill>
                <a:effectLst/>
                <a:uFillTx/>
                <a:latin typeface="Aptos"/>
                <a:ea typeface="Aptos"/>
              </a:rPr>
              <a:t>Large patches</a:t>
            </a:r>
            <a:endParaRPr lang="it-IT" sz="1200" b="0" u="none" strike="noStrike">
              <a:solidFill>
                <a:srgbClr val="000000"/>
              </a:solidFill>
              <a:effectLst/>
              <a:uFillTx/>
              <a:latin typeface="Arial"/>
            </a:endParaRPr>
          </a:p>
        </p:txBody>
      </p:sp>
      <p:sp>
        <p:nvSpPr>
          <p:cNvPr id="605" name="Shape 34"/>
          <p:cNvSpPr/>
          <p:nvPr/>
        </p:nvSpPr>
        <p:spPr>
          <a:xfrm>
            <a:off x="3474720" y="5595840"/>
            <a:ext cx="452628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606" name="Text 35"/>
          <p:cNvSpPr/>
          <p:nvPr/>
        </p:nvSpPr>
        <p:spPr>
          <a:xfrm>
            <a:off x="3794760" y="5806440"/>
            <a:ext cx="40230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increasing efficiency, decreasing temporal granularity</a:t>
            </a:r>
            <a:endParaRPr lang="it-IT" sz="800" b="0" u="none" strike="noStrike">
              <a:solidFill>
                <a:srgbClr val="000000"/>
              </a:solidFill>
              <a:effectLst/>
              <a:uFillTx/>
              <a:latin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09DADE-FCF0-FEDA-AA28-9390B39A9C0E}"/>
              </a:ext>
            </a:extLst>
          </p:cNvPr>
          <p:cNvSpPr>
            <a:spLocks noGrp="1"/>
          </p:cNvSpPr>
          <p:nvPr>
            <p:ph type="title"/>
          </p:nvPr>
        </p:nvSpPr>
        <p:spPr/>
        <p:txBody>
          <a:bodyPr/>
          <a:lstStyle/>
          <a:p>
            <a:r>
              <a:rPr lang="en-GB" dirty="0"/>
              <a:t>Patch size is a temporal design parameter</a:t>
            </a:r>
          </a:p>
        </p:txBody>
      </p:sp>
      <p:sp>
        <p:nvSpPr>
          <p:cNvPr id="3" name="Segnaposto contenuto 2">
            <a:extLst>
              <a:ext uri="{FF2B5EF4-FFF2-40B4-BE49-F238E27FC236}">
                <a16:creationId xmlns:a16="http://schemas.microsoft.com/office/drawing/2014/main" id="{FB1C121C-D719-970F-8A6A-FA9F2BA7D6BD}"/>
              </a:ext>
            </a:extLst>
          </p:cNvPr>
          <p:cNvSpPr>
            <a:spLocks noGrp="1"/>
          </p:cNvSpPr>
          <p:nvPr>
            <p:ph sz="half" idx="1"/>
          </p:nvPr>
        </p:nvSpPr>
        <p:spPr>
          <a:xfrm>
            <a:off x="677334" y="2160588"/>
            <a:ext cx="5237083" cy="4356943"/>
          </a:xfrm>
        </p:spPr>
        <p:txBody>
          <a:bodyPr>
            <a:normAutofit/>
          </a:bodyPr>
          <a:lstStyle/>
          <a:p>
            <a:r>
              <a:rPr lang="en-GB" dirty="0"/>
              <a:t>Patch size should be interpreted in physical time.</a:t>
            </a:r>
          </a:p>
          <a:p>
            <a:r>
              <a:rPr lang="en-GB" dirty="0"/>
              <a:t>Suppose: Fs = 100 Hz</a:t>
            </a:r>
          </a:p>
          <a:p>
            <a:r>
              <a:rPr lang="en-GB" b="1" dirty="0"/>
              <a:t>Patch size 10</a:t>
            </a:r>
          </a:p>
          <a:p>
            <a:pPr lvl="1"/>
            <a:r>
              <a:rPr lang="en-GB" dirty="0"/>
              <a:t>Duration: 10 / 100 = 0.1 s</a:t>
            </a:r>
          </a:p>
          <a:p>
            <a:r>
              <a:rPr lang="en-GB" b="1" dirty="0"/>
              <a:t>Patch size 50</a:t>
            </a:r>
          </a:p>
          <a:p>
            <a:pPr lvl="1"/>
            <a:r>
              <a:rPr lang="en-GB" dirty="0"/>
              <a:t>Duration: 0.5 s</a:t>
            </a:r>
          </a:p>
          <a:p>
            <a:r>
              <a:rPr lang="en-GB" b="1" dirty="0"/>
              <a:t>Patch size 200</a:t>
            </a:r>
          </a:p>
          <a:p>
            <a:pPr lvl="1"/>
            <a:r>
              <a:rPr lang="en-GB" dirty="0"/>
              <a:t>Duration: 2 s</a:t>
            </a:r>
          </a:p>
          <a:p>
            <a:endParaRPr lang="en-GB" dirty="0"/>
          </a:p>
        </p:txBody>
      </p:sp>
      <p:sp>
        <p:nvSpPr>
          <p:cNvPr id="4" name="Segnaposto contenuto 3">
            <a:extLst>
              <a:ext uri="{FF2B5EF4-FFF2-40B4-BE49-F238E27FC236}">
                <a16:creationId xmlns:a16="http://schemas.microsoft.com/office/drawing/2014/main" id="{A6A3B2DE-88F9-2B3E-E5D6-F785B7D02C39}"/>
              </a:ext>
            </a:extLst>
          </p:cNvPr>
          <p:cNvSpPr>
            <a:spLocks noGrp="1"/>
          </p:cNvSpPr>
          <p:nvPr>
            <p:ph sz="half" idx="2"/>
          </p:nvPr>
        </p:nvSpPr>
        <p:spPr>
          <a:xfrm>
            <a:off x="6096000" y="2160589"/>
            <a:ext cx="5863375" cy="4541768"/>
          </a:xfrm>
        </p:spPr>
        <p:txBody>
          <a:bodyPr>
            <a:normAutofit/>
          </a:bodyPr>
          <a:lstStyle/>
          <a:p>
            <a:r>
              <a:rPr lang="en-GB" b="1" dirty="0"/>
              <a:t>Therefore</a:t>
            </a:r>
          </a:p>
          <a:p>
            <a:r>
              <a:rPr lang="en-GB" dirty="0"/>
              <a:t>Patch size determines the local temporal interval summarized by one token.</a:t>
            </a:r>
          </a:p>
          <a:p>
            <a:r>
              <a:rPr lang="en-GB" dirty="0"/>
              <a:t>It should reflect:</a:t>
            </a:r>
          </a:p>
          <a:p>
            <a:pPr lvl="1"/>
            <a:r>
              <a:rPr lang="en-GB" dirty="0"/>
              <a:t>sampling frequency; </a:t>
            </a:r>
          </a:p>
          <a:p>
            <a:pPr lvl="1"/>
            <a:r>
              <a:rPr lang="en-GB" dirty="0"/>
              <a:t>expected duration of local patterns; </a:t>
            </a:r>
          </a:p>
          <a:p>
            <a:pPr lvl="1"/>
            <a:r>
              <a:rPr lang="en-GB" dirty="0"/>
              <a:t>required temporal precision; </a:t>
            </a:r>
          </a:p>
          <a:p>
            <a:pPr lvl="1"/>
            <a:r>
              <a:rPr lang="en-GB" dirty="0"/>
              <a:t>available computational budget. </a:t>
            </a:r>
          </a:p>
          <a:p>
            <a:r>
              <a:rPr lang="en-GB" b="1" dirty="0"/>
              <a:t>Key message</a:t>
            </a:r>
          </a:p>
          <a:p>
            <a:r>
              <a:rPr lang="en-GB" b="1" dirty="0"/>
              <a:t>Patch size </a:t>
            </a:r>
            <a:r>
              <a:rPr lang="en-GB" dirty="0"/>
              <a:t>plays </a:t>
            </a:r>
            <a:r>
              <a:rPr lang="en-GB" b="1" dirty="0"/>
              <a:t>a role analogous </a:t>
            </a:r>
            <a:r>
              <a:rPr lang="en-GB" dirty="0"/>
              <a:t>to other </a:t>
            </a:r>
            <a:r>
              <a:rPr lang="en-GB" b="1" dirty="0"/>
              <a:t>temporal-scale choices </a:t>
            </a:r>
            <a:r>
              <a:rPr lang="en-GB" dirty="0"/>
              <a:t>such as </a:t>
            </a:r>
            <a:r>
              <a:rPr lang="en-GB" b="1" dirty="0"/>
              <a:t>window length</a:t>
            </a:r>
            <a:r>
              <a:rPr lang="en-GB" dirty="0"/>
              <a:t> or </a:t>
            </a:r>
            <a:r>
              <a:rPr lang="en-GB" b="1" dirty="0"/>
              <a:t>convolutional kernel size</a:t>
            </a:r>
            <a:r>
              <a:rPr lang="en-GB" dirty="0"/>
              <a:t>.</a:t>
            </a:r>
          </a:p>
          <a:p>
            <a:endParaRPr lang="en-GB" dirty="0"/>
          </a:p>
        </p:txBody>
      </p:sp>
    </p:spTree>
    <p:extLst>
      <p:ext uri="{BB962C8B-B14F-4D97-AF65-F5344CB8AC3E}">
        <p14:creationId xmlns:p14="http://schemas.microsoft.com/office/powerpoint/2010/main" val="105567561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D94075-BB2D-960D-EDF9-283E4BD94BEE}"/>
              </a:ext>
            </a:extLst>
          </p:cNvPr>
          <p:cNvSpPr>
            <a:spLocks noGrp="1"/>
          </p:cNvSpPr>
          <p:nvPr>
            <p:ph type="title"/>
          </p:nvPr>
        </p:nvSpPr>
        <p:spPr/>
        <p:txBody>
          <a:bodyPr/>
          <a:lstStyle/>
          <a:p>
            <a:r>
              <a:rPr lang="en-GB" dirty="0"/>
              <a:t>Patches can overlap</a:t>
            </a:r>
          </a:p>
        </p:txBody>
      </p:sp>
      <p:sp>
        <p:nvSpPr>
          <p:cNvPr id="3" name="Segnaposto contenuto 2">
            <a:extLst>
              <a:ext uri="{FF2B5EF4-FFF2-40B4-BE49-F238E27FC236}">
                <a16:creationId xmlns:a16="http://schemas.microsoft.com/office/drawing/2014/main" id="{E7870A4E-68B8-CA7A-7EC2-5C0BF20396AE}"/>
              </a:ext>
            </a:extLst>
          </p:cNvPr>
          <p:cNvSpPr>
            <a:spLocks noGrp="1"/>
          </p:cNvSpPr>
          <p:nvPr>
            <p:ph sz="half" idx="1"/>
          </p:nvPr>
        </p:nvSpPr>
        <p:spPr>
          <a:xfrm>
            <a:off x="677334" y="2160588"/>
            <a:ext cx="5139806" cy="4240211"/>
          </a:xfrm>
        </p:spPr>
        <p:txBody>
          <a:bodyPr>
            <a:normAutofit lnSpcReduction="10000"/>
          </a:bodyPr>
          <a:lstStyle/>
          <a:p>
            <a:r>
              <a:rPr lang="en-GB" dirty="0"/>
              <a:t>Patches do not have to be non-overlapping.</a:t>
            </a:r>
          </a:p>
          <a:p>
            <a:r>
              <a:rPr lang="en-GB" dirty="0"/>
              <a:t>Suppose:</a:t>
            </a:r>
          </a:p>
          <a:p>
            <a:pPr lvl="0"/>
            <a:r>
              <a:rPr lang="en-GB" dirty="0"/>
              <a:t>patch size P = 20; </a:t>
            </a:r>
          </a:p>
          <a:p>
            <a:pPr lvl="0"/>
            <a:r>
              <a:rPr lang="en-GB" dirty="0"/>
              <a:t>patch stride S = 10. </a:t>
            </a:r>
          </a:p>
          <a:p>
            <a:r>
              <a:rPr lang="en-GB" dirty="0"/>
              <a:t>Then consecutive patches overlap by:</a:t>
            </a:r>
          </a:p>
          <a:p>
            <a:r>
              <a:rPr lang="en-GB" dirty="0"/>
              <a:t>10 samples</a:t>
            </a:r>
          </a:p>
          <a:p>
            <a:r>
              <a:rPr lang="en-GB" dirty="0"/>
              <a:t>Conceptually:</a:t>
            </a:r>
          </a:p>
          <a:p>
            <a:r>
              <a:rPr lang="en-GB" dirty="0"/>
              <a:t>Patch 1: [1 ............. 20]</a:t>
            </a:r>
          </a:p>
          <a:p>
            <a:r>
              <a:rPr lang="en-GB" dirty="0"/>
              <a:t>Patch 2:           [11 ............. 30]</a:t>
            </a:r>
          </a:p>
          <a:p>
            <a:r>
              <a:rPr lang="en-GB" dirty="0"/>
              <a:t>Patch 3:                          [21 ............. 40]</a:t>
            </a:r>
          </a:p>
          <a:p>
            <a:endParaRPr lang="en-GB" dirty="0"/>
          </a:p>
        </p:txBody>
      </p:sp>
      <p:sp>
        <p:nvSpPr>
          <p:cNvPr id="4" name="Segnaposto contenuto 3">
            <a:extLst>
              <a:ext uri="{FF2B5EF4-FFF2-40B4-BE49-F238E27FC236}">
                <a16:creationId xmlns:a16="http://schemas.microsoft.com/office/drawing/2014/main" id="{1A66C11E-942B-8C1D-4B98-983A6028A1A1}"/>
              </a:ext>
            </a:extLst>
          </p:cNvPr>
          <p:cNvSpPr>
            <a:spLocks noGrp="1"/>
          </p:cNvSpPr>
          <p:nvPr>
            <p:ph sz="half" idx="2"/>
          </p:nvPr>
        </p:nvSpPr>
        <p:spPr>
          <a:xfrm>
            <a:off x="6079307" y="2160589"/>
            <a:ext cx="5768981" cy="4600134"/>
          </a:xfrm>
        </p:spPr>
        <p:txBody>
          <a:bodyPr>
            <a:normAutofit lnSpcReduction="10000"/>
          </a:bodyPr>
          <a:lstStyle/>
          <a:p>
            <a:r>
              <a:rPr lang="en-GB" b="1" dirty="0"/>
              <a:t>Why overlap?</a:t>
            </a:r>
          </a:p>
          <a:p>
            <a:r>
              <a:rPr lang="en-GB" dirty="0"/>
              <a:t>It can:</a:t>
            </a:r>
          </a:p>
          <a:p>
            <a:pPr lvl="1"/>
            <a:r>
              <a:rPr lang="en-GB" dirty="0"/>
              <a:t>preserve smoother transitions between patches; </a:t>
            </a:r>
          </a:p>
          <a:p>
            <a:pPr lvl="1"/>
            <a:r>
              <a:rPr lang="en-GB" dirty="0"/>
              <a:t>reduce sensitivity to arbitrary patch boundaries; </a:t>
            </a:r>
          </a:p>
          <a:p>
            <a:pPr lvl="1"/>
            <a:r>
              <a:rPr lang="en-GB" dirty="0"/>
              <a:t>provide denser temporal representation. </a:t>
            </a:r>
          </a:p>
          <a:p>
            <a:r>
              <a:rPr lang="en-GB" b="1" dirty="0"/>
              <a:t>Cost</a:t>
            </a:r>
          </a:p>
          <a:p>
            <a:pPr lvl="1"/>
            <a:r>
              <a:rPr lang="en-GB" dirty="0"/>
              <a:t>Overlap increases the number of patch tokens.</a:t>
            </a:r>
          </a:p>
          <a:p>
            <a:r>
              <a:rPr lang="en-GB" dirty="0"/>
              <a:t>Therefore:</a:t>
            </a:r>
          </a:p>
          <a:p>
            <a:pPr lvl="1"/>
            <a:r>
              <a:rPr lang="en-GB" dirty="0"/>
              <a:t>more overlap → better temporal coverage; </a:t>
            </a:r>
          </a:p>
          <a:p>
            <a:pPr lvl="1"/>
            <a:r>
              <a:rPr lang="en-GB" dirty="0"/>
              <a:t>more overlap → greater computation. </a:t>
            </a:r>
          </a:p>
          <a:p>
            <a:r>
              <a:rPr lang="en-GB" b="1" dirty="0"/>
              <a:t>Connection to Lecture 1</a:t>
            </a:r>
          </a:p>
          <a:p>
            <a:r>
              <a:rPr lang="en-GB" dirty="0"/>
              <a:t>As with sliding windows, patch size and patch stride are distinct parameters.</a:t>
            </a:r>
          </a:p>
        </p:txBody>
      </p:sp>
    </p:spTree>
    <p:extLst>
      <p:ext uri="{BB962C8B-B14F-4D97-AF65-F5344CB8AC3E}">
        <p14:creationId xmlns:p14="http://schemas.microsoft.com/office/powerpoint/2010/main" val="293597711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08"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Patches can overlap</a:t>
            </a:r>
            <a:endParaRPr lang="it-IT" sz="2100" b="0" u="none" strike="noStrike">
              <a:solidFill>
                <a:srgbClr val="000000"/>
              </a:solidFill>
              <a:effectLst/>
              <a:uFillTx/>
              <a:latin typeface="Arial"/>
            </a:endParaRPr>
          </a:p>
        </p:txBody>
      </p:sp>
      <p:sp>
        <p:nvSpPr>
          <p:cNvPr id="609"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a:solidFill>
                  <a:srgbClr val="667085"/>
                </a:solidFill>
                <a:effectLst/>
                <a:uFillTx/>
                <a:latin typeface="Aptos"/>
                <a:ea typeface="Aptos"/>
              </a:rPr>
              <a:t>Overlap reduces sensitivity to arbitrary patch boundaries, but increases token count.</a:t>
            </a:r>
            <a:endParaRPr lang="it-IT" sz="1100" b="0" u="none" strike="noStrike" dirty="0">
              <a:solidFill>
                <a:srgbClr val="000000"/>
              </a:solidFill>
              <a:effectLst/>
              <a:uFillTx/>
              <a:latin typeface="Arial"/>
            </a:endParaRPr>
          </a:p>
        </p:txBody>
      </p:sp>
      <p:sp>
        <p:nvSpPr>
          <p:cNvPr id="610"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11"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667085"/>
                </a:solidFill>
                <a:effectLst/>
                <a:uFillTx/>
                <a:latin typeface="Aptos"/>
                <a:ea typeface="Aptos"/>
              </a:rPr>
              <a:t>Patch size P and patch stride S are distinct temporal design parameters.</a:t>
            </a:r>
            <a:endParaRPr lang="it-IT" sz="1000" b="0" u="none" strike="noStrike" dirty="0">
              <a:solidFill>
                <a:srgbClr val="000000"/>
              </a:solidFill>
              <a:effectLst/>
              <a:uFillTx/>
              <a:latin typeface="Arial"/>
            </a:endParaRPr>
          </a:p>
        </p:txBody>
      </p:sp>
      <p:sp>
        <p:nvSpPr>
          <p:cNvPr id="612" name="Shape 5"/>
          <p:cNvSpPr/>
          <p:nvPr/>
        </p:nvSpPr>
        <p:spPr>
          <a:xfrm>
            <a:off x="914400" y="1828800"/>
            <a:ext cx="960120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613" name="Shape 6"/>
          <p:cNvSpPr/>
          <p:nvPr/>
        </p:nvSpPr>
        <p:spPr>
          <a:xfrm>
            <a:off x="1005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14" name="Shape 7"/>
          <p:cNvSpPr/>
          <p:nvPr/>
        </p:nvSpPr>
        <p:spPr>
          <a:xfrm>
            <a:off x="1234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15" name="Shape 8"/>
          <p:cNvSpPr/>
          <p:nvPr/>
        </p:nvSpPr>
        <p:spPr>
          <a:xfrm>
            <a:off x="1463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16" name="Shape 9"/>
          <p:cNvSpPr/>
          <p:nvPr/>
        </p:nvSpPr>
        <p:spPr>
          <a:xfrm>
            <a:off x="1691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17" name="Shape 10"/>
          <p:cNvSpPr/>
          <p:nvPr/>
        </p:nvSpPr>
        <p:spPr>
          <a:xfrm>
            <a:off x="1920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18" name="Shape 11"/>
          <p:cNvSpPr/>
          <p:nvPr/>
        </p:nvSpPr>
        <p:spPr>
          <a:xfrm>
            <a:off x="2148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19" name="Shape 12"/>
          <p:cNvSpPr/>
          <p:nvPr/>
        </p:nvSpPr>
        <p:spPr>
          <a:xfrm>
            <a:off x="2377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0" name="Shape 13"/>
          <p:cNvSpPr/>
          <p:nvPr/>
        </p:nvSpPr>
        <p:spPr>
          <a:xfrm>
            <a:off x="2606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1" name="Shape 14"/>
          <p:cNvSpPr/>
          <p:nvPr/>
        </p:nvSpPr>
        <p:spPr>
          <a:xfrm>
            <a:off x="2834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2" name="Shape 15"/>
          <p:cNvSpPr/>
          <p:nvPr/>
        </p:nvSpPr>
        <p:spPr>
          <a:xfrm>
            <a:off x="3063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3" name="Shape 16"/>
          <p:cNvSpPr/>
          <p:nvPr/>
        </p:nvSpPr>
        <p:spPr>
          <a:xfrm>
            <a:off x="3291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4" name="Shape 17"/>
          <p:cNvSpPr/>
          <p:nvPr/>
        </p:nvSpPr>
        <p:spPr>
          <a:xfrm>
            <a:off x="3520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5" name="Shape 18"/>
          <p:cNvSpPr/>
          <p:nvPr/>
        </p:nvSpPr>
        <p:spPr>
          <a:xfrm>
            <a:off x="3749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6" name="Shape 19"/>
          <p:cNvSpPr/>
          <p:nvPr/>
        </p:nvSpPr>
        <p:spPr>
          <a:xfrm>
            <a:off x="3977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7" name="Shape 20"/>
          <p:cNvSpPr/>
          <p:nvPr/>
        </p:nvSpPr>
        <p:spPr>
          <a:xfrm>
            <a:off x="4206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8" name="Shape 21"/>
          <p:cNvSpPr/>
          <p:nvPr/>
        </p:nvSpPr>
        <p:spPr>
          <a:xfrm>
            <a:off x="4434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29" name="Shape 22"/>
          <p:cNvSpPr/>
          <p:nvPr/>
        </p:nvSpPr>
        <p:spPr>
          <a:xfrm>
            <a:off x="4663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0" name="Shape 23"/>
          <p:cNvSpPr/>
          <p:nvPr/>
        </p:nvSpPr>
        <p:spPr>
          <a:xfrm>
            <a:off x="4892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1" name="Shape 24"/>
          <p:cNvSpPr/>
          <p:nvPr/>
        </p:nvSpPr>
        <p:spPr>
          <a:xfrm>
            <a:off x="5120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2" name="Shape 25"/>
          <p:cNvSpPr/>
          <p:nvPr/>
        </p:nvSpPr>
        <p:spPr>
          <a:xfrm>
            <a:off x="5349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3" name="Shape 26"/>
          <p:cNvSpPr/>
          <p:nvPr/>
        </p:nvSpPr>
        <p:spPr>
          <a:xfrm>
            <a:off x="5577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4" name="Shape 27"/>
          <p:cNvSpPr/>
          <p:nvPr/>
        </p:nvSpPr>
        <p:spPr>
          <a:xfrm>
            <a:off x="5806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5" name="Shape 28"/>
          <p:cNvSpPr/>
          <p:nvPr/>
        </p:nvSpPr>
        <p:spPr>
          <a:xfrm>
            <a:off x="6035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6" name="Shape 29"/>
          <p:cNvSpPr/>
          <p:nvPr/>
        </p:nvSpPr>
        <p:spPr>
          <a:xfrm>
            <a:off x="6263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7" name="Shape 30"/>
          <p:cNvSpPr/>
          <p:nvPr/>
        </p:nvSpPr>
        <p:spPr>
          <a:xfrm>
            <a:off x="6492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8" name="Shape 31"/>
          <p:cNvSpPr/>
          <p:nvPr/>
        </p:nvSpPr>
        <p:spPr>
          <a:xfrm>
            <a:off x="6720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39" name="Shape 32"/>
          <p:cNvSpPr/>
          <p:nvPr/>
        </p:nvSpPr>
        <p:spPr>
          <a:xfrm>
            <a:off x="6949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0" name="Shape 33"/>
          <p:cNvSpPr/>
          <p:nvPr/>
        </p:nvSpPr>
        <p:spPr>
          <a:xfrm>
            <a:off x="7178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1" name="Shape 34"/>
          <p:cNvSpPr/>
          <p:nvPr/>
        </p:nvSpPr>
        <p:spPr>
          <a:xfrm>
            <a:off x="7406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2" name="Shape 35"/>
          <p:cNvSpPr/>
          <p:nvPr/>
        </p:nvSpPr>
        <p:spPr>
          <a:xfrm>
            <a:off x="7635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3" name="Shape 36"/>
          <p:cNvSpPr/>
          <p:nvPr/>
        </p:nvSpPr>
        <p:spPr>
          <a:xfrm>
            <a:off x="7863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4" name="Shape 37"/>
          <p:cNvSpPr/>
          <p:nvPr/>
        </p:nvSpPr>
        <p:spPr>
          <a:xfrm>
            <a:off x="8092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5" name="Shape 38"/>
          <p:cNvSpPr/>
          <p:nvPr/>
        </p:nvSpPr>
        <p:spPr>
          <a:xfrm>
            <a:off x="8321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6" name="Shape 39"/>
          <p:cNvSpPr/>
          <p:nvPr/>
        </p:nvSpPr>
        <p:spPr>
          <a:xfrm>
            <a:off x="85496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7" name="Shape 40"/>
          <p:cNvSpPr/>
          <p:nvPr/>
        </p:nvSpPr>
        <p:spPr>
          <a:xfrm>
            <a:off x="87782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8" name="Shape 41"/>
          <p:cNvSpPr/>
          <p:nvPr/>
        </p:nvSpPr>
        <p:spPr>
          <a:xfrm>
            <a:off x="90068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49" name="Shape 42"/>
          <p:cNvSpPr/>
          <p:nvPr/>
        </p:nvSpPr>
        <p:spPr>
          <a:xfrm>
            <a:off x="92354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50" name="Shape 43"/>
          <p:cNvSpPr/>
          <p:nvPr/>
        </p:nvSpPr>
        <p:spPr>
          <a:xfrm>
            <a:off x="9464040" y="1792080"/>
            <a:ext cx="72720" cy="7272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651" name="Shape 44"/>
          <p:cNvSpPr/>
          <p:nvPr/>
        </p:nvSpPr>
        <p:spPr>
          <a:xfrm>
            <a:off x="1005840" y="2240280"/>
            <a:ext cx="4114440" cy="255600"/>
          </a:xfrm>
          <a:prstGeom prst="rect">
            <a:avLst/>
          </a:prstGeom>
          <a:solidFill>
            <a:srgbClr val="D9EAFE">
              <a:alpha val="65000"/>
            </a:srgbClr>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52" name="Text 45"/>
          <p:cNvSpPr/>
          <p:nvPr/>
        </p:nvSpPr>
        <p:spPr>
          <a:xfrm>
            <a:off x="2423160" y="2286000"/>
            <a:ext cx="1188360" cy="109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650" b="1" u="none" strike="noStrike">
                <a:solidFill>
                  <a:srgbClr val="111827"/>
                </a:solidFill>
                <a:effectLst/>
                <a:uFillTx/>
                <a:latin typeface="Aptos"/>
                <a:ea typeface="Aptos"/>
              </a:rPr>
              <a:t>Patch 1</a:t>
            </a:r>
            <a:endParaRPr lang="it-IT" sz="650" b="0" u="none" strike="noStrike">
              <a:solidFill>
                <a:srgbClr val="000000"/>
              </a:solidFill>
              <a:effectLst/>
              <a:uFillTx/>
              <a:latin typeface="Arial"/>
            </a:endParaRPr>
          </a:p>
        </p:txBody>
      </p:sp>
      <p:sp>
        <p:nvSpPr>
          <p:cNvPr id="653" name="Shape 46"/>
          <p:cNvSpPr/>
          <p:nvPr/>
        </p:nvSpPr>
        <p:spPr>
          <a:xfrm>
            <a:off x="3291840" y="2651760"/>
            <a:ext cx="4114440" cy="255600"/>
          </a:xfrm>
          <a:prstGeom prst="rect">
            <a:avLst/>
          </a:prstGeom>
          <a:solidFill>
            <a:srgbClr val="FFF1CC">
              <a:alpha val="65000"/>
            </a:srgbClr>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54" name="Text 47"/>
          <p:cNvSpPr/>
          <p:nvPr/>
        </p:nvSpPr>
        <p:spPr>
          <a:xfrm>
            <a:off x="4709160" y="2697480"/>
            <a:ext cx="1188360" cy="109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650" b="1" u="none" strike="noStrike">
                <a:solidFill>
                  <a:srgbClr val="111827"/>
                </a:solidFill>
                <a:effectLst/>
                <a:uFillTx/>
                <a:latin typeface="Aptos"/>
                <a:ea typeface="Aptos"/>
              </a:rPr>
              <a:t>Patch 2</a:t>
            </a:r>
            <a:endParaRPr lang="it-IT" sz="650" b="0" u="none" strike="noStrike">
              <a:solidFill>
                <a:srgbClr val="000000"/>
              </a:solidFill>
              <a:effectLst/>
              <a:uFillTx/>
              <a:latin typeface="Arial"/>
            </a:endParaRPr>
          </a:p>
        </p:txBody>
      </p:sp>
      <p:sp>
        <p:nvSpPr>
          <p:cNvPr id="655" name="Shape 48"/>
          <p:cNvSpPr/>
          <p:nvPr/>
        </p:nvSpPr>
        <p:spPr>
          <a:xfrm>
            <a:off x="5577840" y="3063240"/>
            <a:ext cx="4114440" cy="255600"/>
          </a:xfrm>
          <a:prstGeom prst="rect">
            <a:avLst/>
          </a:prstGeom>
          <a:solidFill>
            <a:srgbClr val="D9EAFE">
              <a:alpha val="65000"/>
            </a:srgbClr>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56" name="Text 49"/>
          <p:cNvSpPr/>
          <p:nvPr/>
        </p:nvSpPr>
        <p:spPr>
          <a:xfrm>
            <a:off x="6995160" y="3108960"/>
            <a:ext cx="1188360" cy="109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650" b="1" u="none" strike="noStrike">
                <a:solidFill>
                  <a:srgbClr val="111827"/>
                </a:solidFill>
                <a:effectLst/>
                <a:uFillTx/>
                <a:latin typeface="Aptos"/>
                <a:ea typeface="Aptos"/>
              </a:rPr>
              <a:t>Patch 3</a:t>
            </a:r>
            <a:endParaRPr lang="it-IT" sz="650" b="0" u="none" strike="noStrike">
              <a:solidFill>
                <a:srgbClr val="000000"/>
              </a:solidFill>
              <a:effectLst/>
              <a:uFillTx/>
              <a:latin typeface="Arial"/>
            </a:endParaRPr>
          </a:p>
        </p:txBody>
      </p:sp>
      <p:sp>
        <p:nvSpPr>
          <p:cNvPr id="657" name="Shape 50"/>
          <p:cNvSpPr/>
          <p:nvPr/>
        </p:nvSpPr>
        <p:spPr>
          <a:xfrm>
            <a:off x="1280160" y="3840480"/>
            <a:ext cx="2194200" cy="438480"/>
          </a:xfrm>
          <a:prstGeom prst="roundRect">
            <a:avLst>
              <a:gd name="adj" fmla="val 12500"/>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58" name="Text 51"/>
          <p:cNvSpPr/>
          <p:nvPr/>
        </p:nvSpPr>
        <p:spPr>
          <a:xfrm>
            <a:off x="1325880" y="3867840"/>
            <a:ext cx="21027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patch size P = 20</a:t>
            </a:r>
            <a:endParaRPr lang="it-IT" sz="1100" b="0" u="none" strike="noStrike">
              <a:solidFill>
                <a:srgbClr val="000000"/>
              </a:solidFill>
              <a:effectLst/>
              <a:uFillTx/>
              <a:latin typeface="Arial"/>
            </a:endParaRPr>
          </a:p>
        </p:txBody>
      </p:sp>
      <p:sp>
        <p:nvSpPr>
          <p:cNvPr id="659" name="Shape 52"/>
          <p:cNvSpPr/>
          <p:nvPr/>
        </p:nvSpPr>
        <p:spPr>
          <a:xfrm>
            <a:off x="4297680" y="3840480"/>
            <a:ext cx="2194200" cy="438480"/>
          </a:xfrm>
          <a:prstGeom prst="roundRect">
            <a:avLst>
              <a:gd name="adj" fmla="val 1250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60" name="Text 53"/>
          <p:cNvSpPr/>
          <p:nvPr/>
        </p:nvSpPr>
        <p:spPr>
          <a:xfrm>
            <a:off x="4343400" y="3867840"/>
            <a:ext cx="210276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patch stride S = 10</a:t>
            </a:r>
            <a:endParaRPr lang="it-IT" sz="1100" b="0" u="none" strike="noStrike">
              <a:solidFill>
                <a:srgbClr val="000000"/>
              </a:solidFill>
              <a:effectLst/>
              <a:uFillTx/>
              <a:latin typeface="Arial"/>
            </a:endParaRPr>
          </a:p>
        </p:txBody>
      </p:sp>
      <p:sp>
        <p:nvSpPr>
          <p:cNvPr id="661" name="Shape 54"/>
          <p:cNvSpPr/>
          <p:nvPr/>
        </p:nvSpPr>
        <p:spPr>
          <a:xfrm>
            <a:off x="7315200" y="3840480"/>
            <a:ext cx="2468520" cy="438480"/>
          </a:xfrm>
          <a:prstGeom prst="roundRect">
            <a:avLst>
              <a:gd name="adj" fmla="val 12500"/>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62" name="Text 55"/>
          <p:cNvSpPr/>
          <p:nvPr/>
        </p:nvSpPr>
        <p:spPr>
          <a:xfrm>
            <a:off x="7360920" y="3867840"/>
            <a:ext cx="237708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overlap = 10 samples</a:t>
            </a:r>
            <a:endParaRPr lang="it-IT" sz="1100" b="0" u="none" strike="noStrike">
              <a:solidFill>
                <a:srgbClr val="000000"/>
              </a:solidFill>
              <a:effectLst/>
              <a:uFillTx/>
              <a:latin typeface="Arial"/>
            </a:endParaRPr>
          </a:p>
        </p:txBody>
      </p:sp>
      <p:sp>
        <p:nvSpPr>
          <p:cNvPr id="663" name="Shape 56"/>
          <p:cNvSpPr/>
          <p:nvPr/>
        </p:nvSpPr>
        <p:spPr>
          <a:xfrm>
            <a:off x="2377440" y="4709160"/>
            <a:ext cx="360" cy="594360"/>
          </a:xfrm>
          <a:prstGeom prst="line">
            <a:avLst/>
          </a:prstGeom>
          <a:ln w="12700">
            <a:solidFill>
              <a:srgbClr val="4D8CF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64" name="Shape 57"/>
          <p:cNvSpPr/>
          <p:nvPr/>
        </p:nvSpPr>
        <p:spPr>
          <a:xfrm>
            <a:off x="5394960" y="4709160"/>
            <a:ext cx="360" cy="59436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65" name="Shape 58"/>
          <p:cNvSpPr/>
          <p:nvPr/>
        </p:nvSpPr>
        <p:spPr>
          <a:xfrm>
            <a:off x="8503920" y="4709160"/>
            <a:ext cx="360" cy="594360"/>
          </a:xfrm>
          <a:prstGeom prst="line">
            <a:avLst/>
          </a:prstGeom>
          <a:ln w="12700">
            <a:solidFill>
              <a:srgbClr val="5F8E13"/>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666" name="Text 59"/>
          <p:cNvSpPr/>
          <p:nvPr/>
        </p:nvSpPr>
        <p:spPr>
          <a:xfrm>
            <a:off x="1554480" y="5486400"/>
            <a:ext cx="164556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more local coverage</a:t>
            </a:r>
            <a:endParaRPr lang="it-IT" sz="800" b="0" u="none" strike="noStrike">
              <a:solidFill>
                <a:srgbClr val="000000"/>
              </a:solidFill>
              <a:effectLst/>
              <a:uFillTx/>
              <a:latin typeface="Arial"/>
            </a:endParaRPr>
          </a:p>
        </p:txBody>
      </p:sp>
      <p:sp>
        <p:nvSpPr>
          <p:cNvPr id="667" name="Text 60"/>
          <p:cNvSpPr/>
          <p:nvPr/>
        </p:nvSpPr>
        <p:spPr>
          <a:xfrm>
            <a:off x="4754880" y="5486400"/>
            <a:ext cx="118836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more tokens</a:t>
            </a:r>
            <a:endParaRPr lang="it-IT" sz="800" b="0" u="none" strike="noStrike">
              <a:solidFill>
                <a:srgbClr val="000000"/>
              </a:solidFill>
              <a:effectLst/>
              <a:uFillTx/>
              <a:latin typeface="Arial"/>
            </a:endParaRPr>
          </a:p>
        </p:txBody>
      </p:sp>
      <p:sp>
        <p:nvSpPr>
          <p:cNvPr id="668" name="Text 61"/>
          <p:cNvSpPr/>
          <p:nvPr/>
        </p:nvSpPr>
        <p:spPr>
          <a:xfrm>
            <a:off x="7680960" y="5486400"/>
            <a:ext cx="164556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0" u="none" strike="noStrike">
                <a:solidFill>
                  <a:srgbClr val="667085"/>
                </a:solidFill>
                <a:effectLst/>
                <a:uFillTx/>
                <a:latin typeface="Aptos"/>
                <a:ea typeface="Aptos"/>
              </a:rPr>
              <a:t>smoother transitions</a:t>
            </a:r>
            <a:endParaRPr lang="it-IT" sz="800" b="0" u="none" strike="noStrike">
              <a:solidFill>
                <a:srgbClr val="000000"/>
              </a:solidFill>
              <a:effectLst/>
              <a:uFillTx/>
              <a:latin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9215CE-1F4D-B6BA-FDD5-CBBC6CE6008E}"/>
              </a:ext>
            </a:extLst>
          </p:cNvPr>
          <p:cNvSpPr>
            <a:spLocks noGrp="1"/>
          </p:cNvSpPr>
          <p:nvPr>
            <p:ph type="title"/>
          </p:nvPr>
        </p:nvSpPr>
        <p:spPr/>
        <p:txBody>
          <a:bodyPr/>
          <a:lstStyle/>
          <a:p>
            <a:r>
              <a:rPr lang="en-GB" dirty="0"/>
              <a:t>Patching (</a:t>
            </a:r>
            <a:r>
              <a:rPr lang="en-GB" u="sng" dirty="0"/>
              <a:t>token</a:t>
            </a:r>
            <a:r>
              <a:rPr lang="en-GB" dirty="0"/>
              <a:t>) versus windowing (</a:t>
            </a:r>
            <a:r>
              <a:rPr lang="en-GB" u="sng" dirty="0"/>
              <a:t>sample</a:t>
            </a:r>
            <a:r>
              <a:rPr lang="en-GB" dirty="0"/>
              <a:t>)</a:t>
            </a:r>
          </a:p>
        </p:txBody>
      </p:sp>
      <p:sp>
        <p:nvSpPr>
          <p:cNvPr id="3" name="Segnaposto contenuto 2">
            <a:extLst>
              <a:ext uri="{FF2B5EF4-FFF2-40B4-BE49-F238E27FC236}">
                <a16:creationId xmlns:a16="http://schemas.microsoft.com/office/drawing/2014/main" id="{6B4F3712-32E6-18C7-EC3F-2292DE2B4317}"/>
              </a:ext>
            </a:extLst>
          </p:cNvPr>
          <p:cNvSpPr>
            <a:spLocks noGrp="1"/>
          </p:cNvSpPr>
          <p:nvPr>
            <p:ph sz="half" idx="1"/>
          </p:nvPr>
        </p:nvSpPr>
        <p:spPr>
          <a:xfrm>
            <a:off x="677334" y="2160589"/>
            <a:ext cx="5178717" cy="4551496"/>
          </a:xfrm>
        </p:spPr>
        <p:txBody>
          <a:bodyPr>
            <a:normAutofit fontScale="92500" lnSpcReduction="20000"/>
          </a:bodyPr>
          <a:lstStyle/>
          <a:p>
            <a:r>
              <a:rPr lang="en-GB" dirty="0"/>
              <a:t>These concepts are related but serve different purposes.</a:t>
            </a:r>
          </a:p>
          <a:p>
            <a:r>
              <a:rPr lang="en-GB" b="1" dirty="0"/>
              <a:t>Input window</a:t>
            </a:r>
          </a:p>
          <a:p>
            <a:r>
              <a:rPr lang="en-GB" dirty="0"/>
              <a:t>Defines the complete historical sequence presented to one model sample.</a:t>
            </a:r>
          </a:p>
          <a:p>
            <a:r>
              <a:rPr lang="en-GB" dirty="0"/>
              <a:t>Example:</a:t>
            </a:r>
          </a:p>
          <a:p>
            <a:r>
              <a:rPr lang="en-GB" dirty="0"/>
              <a:t>previous 1000 observations</a:t>
            </a:r>
          </a:p>
          <a:p>
            <a:r>
              <a:rPr lang="en-GB" b="1" dirty="0"/>
              <a:t>Patch</a:t>
            </a:r>
          </a:p>
          <a:p>
            <a:r>
              <a:rPr lang="en-GB" dirty="0"/>
              <a:t>Divides that input window into smaller internal units.</a:t>
            </a:r>
          </a:p>
          <a:p>
            <a:r>
              <a:rPr lang="en-GB" dirty="0"/>
              <a:t>Example:</a:t>
            </a:r>
          </a:p>
          <a:p>
            <a:r>
              <a:rPr lang="en-GB" dirty="0"/>
              <a:t>1000-observation input window</a:t>
            </a:r>
          </a:p>
          <a:p>
            <a:r>
              <a:rPr lang="en-GB" dirty="0"/>
              <a:t>        ↓</a:t>
            </a:r>
          </a:p>
          <a:p>
            <a:r>
              <a:rPr lang="en-GB" dirty="0"/>
              <a:t>50 patches of 20 observations</a:t>
            </a:r>
          </a:p>
          <a:p>
            <a:endParaRPr lang="en-GB" dirty="0"/>
          </a:p>
        </p:txBody>
      </p:sp>
      <p:sp>
        <p:nvSpPr>
          <p:cNvPr id="4" name="Segnaposto contenuto 3">
            <a:extLst>
              <a:ext uri="{FF2B5EF4-FFF2-40B4-BE49-F238E27FC236}">
                <a16:creationId xmlns:a16="http://schemas.microsoft.com/office/drawing/2014/main" id="{2FF4EA98-992F-869B-DF4C-9055333B896C}"/>
              </a:ext>
            </a:extLst>
          </p:cNvPr>
          <p:cNvSpPr>
            <a:spLocks noGrp="1"/>
          </p:cNvSpPr>
          <p:nvPr>
            <p:ph sz="half" idx="2"/>
          </p:nvPr>
        </p:nvSpPr>
        <p:spPr>
          <a:xfrm>
            <a:off x="6096000" y="2161638"/>
            <a:ext cx="5600728" cy="4415309"/>
          </a:xfrm>
        </p:spPr>
        <p:txBody>
          <a:bodyPr>
            <a:normAutofit fontScale="92500" lnSpcReduction="20000"/>
          </a:bodyPr>
          <a:lstStyle/>
          <a:p>
            <a:r>
              <a:rPr lang="en-GB" b="1" dirty="0">
                <a:highlight>
                  <a:srgbClr val="FFFF00"/>
                </a:highlight>
              </a:rPr>
              <a:t>Therefore</a:t>
            </a:r>
          </a:p>
          <a:p>
            <a:pPr lvl="1"/>
            <a:r>
              <a:rPr lang="en-GB" dirty="0"/>
              <a:t>dataset sample</a:t>
            </a:r>
          </a:p>
          <a:p>
            <a:pPr lvl="1"/>
            <a:r>
              <a:rPr lang="en-GB" dirty="0"/>
              <a:t>    ↓</a:t>
            </a:r>
          </a:p>
          <a:p>
            <a:pPr lvl="1"/>
            <a:r>
              <a:rPr lang="en-GB" dirty="0"/>
              <a:t>input window</a:t>
            </a:r>
          </a:p>
          <a:p>
            <a:pPr lvl="1"/>
            <a:r>
              <a:rPr lang="en-GB" dirty="0"/>
              <a:t>    ↓</a:t>
            </a:r>
          </a:p>
          <a:p>
            <a:pPr lvl="1"/>
            <a:r>
              <a:rPr lang="en-GB" dirty="0"/>
              <a:t>patches</a:t>
            </a:r>
          </a:p>
          <a:p>
            <a:pPr lvl="1"/>
            <a:r>
              <a:rPr lang="en-GB" dirty="0"/>
              <a:t>    ↓</a:t>
            </a:r>
          </a:p>
          <a:p>
            <a:pPr lvl="1"/>
            <a:r>
              <a:rPr lang="en-GB" dirty="0"/>
              <a:t>Transformer tokens</a:t>
            </a:r>
          </a:p>
          <a:p>
            <a:endParaRPr lang="en-GB" b="1" dirty="0"/>
          </a:p>
          <a:p>
            <a:r>
              <a:rPr lang="en-GB" b="1" dirty="0"/>
              <a:t>Key distinction</a:t>
            </a:r>
          </a:p>
          <a:p>
            <a:r>
              <a:rPr lang="en-GB" b="1" dirty="0"/>
              <a:t>Windowing creates supervised-learning samples; patching creates internal tokens inside one sample.</a:t>
            </a:r>
          </a:p>
          <a:p>
            <a:r>
              <a:rPr lang="en-GB" dirty="0"/>
              <a:t>This distinction is important because both involve temporal segmentation but operate at different levels.</a:t>
            </a:r>
          </a:p>
          <a:p>
            <a:endParaRPr lang="en-GB" dirty="0"/>
          </a:p>
        </p:txBody>
      </p:sp>
    </p:spTree>
    <p:extLst>
      <p:ext uri="{BB962C8B-B14F-4D97-AF65-F5344CB8AC3E}">
        <p14:creationId xmlns:p14="http://schemas.microsoft.com/office/powerpoint/2010/main" val="163164719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70"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Windowing and patching operate at different levels</a:t>
            </a:r>
            <a:endParaRPr lang="it-IT" sz="2100" b="0" u="none" strike="noStrike">
              <a:solidFill>
                <a:srgbClr val="000000"/>
              </a:solidFill>
              <a:effectLst/>
              <a:uFillTx/>
              <a:latin typeface="Arial"/>
            </a:endParaRPr>
          </a:p>
        </p:txBody>
      </p:sp>
      <p:sp>
        <p:nvSpPr>
          <p:cNvPr id="671"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dirty="0">
                <a:solidFill>
                  <a:srgbClr val="667085"/>
                </a:solidFill>
                <a:effectLst/>
                <a:uFillTx/>
                <a:latin typeface="Aptos"/>
                <a:ea typeface="Aptos"/>
              </a:rPr>
              <a:t>Both segment time, but one creates supervised samples and the other creates internal Transformer tokens.</a:t>
            </a:r>
            <a:endParaRPr lang="it-IT" sz="1050" b="1" u="none" strike="noStrike" dirty="0">
              <a:solidFill>
                <a:srgbClr val="000000"/>
              </a:solidFill>
              <a:effectLst/>
              <a:uFillTx/>
              <a:latin typeface="Arial"/>
            </a:endParaRPr>
          </a:p>
        </p:txBody>
      </p:sp>
      <p:sp>
        <p:nvSpPr>
          <p:cNvPr id="672"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73"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dirty="0">
                <a:solidFill>
                  <a:srgbClr val="667085"/>
                </a:solidFill>
                <a:effectLst/>
                <a:uFillTx/>
                <a:latin typeface="Aptos"/>
                <a:ea typeface="Aptos"/>
              </a:rPr>
              <a:t>Do not confuse dataset sample construction with internal tokenization.</a:t>
            </a:r>
            <a:endParaRPr lang="it-IT" sz="900" b="1" u="none" strike="noStrike" dirty="0">
              <a:solidFill>
                <a:srgbClr val="000000"/>
              </a:solidFill>
              <a:effectLst/>
              <a:uFillTx/>
              <a:latin typeface="Arial"/>
            </a:endParaRPr>
          </a:p>
        </p:txBody>
      </p:sp>
      <p:sp>
        <p:nvSpPr>
          <p:cNvPr id="674" name="Shape 5"/>
          <p:cNvSpPr/>
          <p:nvPr/>
        </p:nvSpPr>
        <p:spPr>
          <a:xfrm>
            <a:off x="822960" y="1097280"/>
            <a:ext cx="2102760" cy="411120"/>
          </a:xfrm>
          <a:prstGeom prst="roundRect">
            <a:avLst>
              <a:gd name="adj" fmla="val 13333"/>
            </a:avLst>
          </a:prstGeom>
          <a:solidFill>
            <a:srgbClr val="EEF2F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75" name="Text 6"/>
          <p:cNvSpPr/>
          <p:nvPr/>
        </p:nvSpPr>
        <p:spPr>
          <a:xfrm>
            <a:off x="868680" y="1124640"/>
            <a:ext cx="2011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recording / long series</a:t>
            </a:r>
            <a:endParaRPr lang="it-IT" sz="1000" b="0" u="none" strike="noStrike">
              <a:solidFill>
                <a:srgbClr val="000000"/>
              </a:solidFill>
              <a:effectLst/>
              <a:uFillTx/>
              <a:latin typeface="Arial"/>
            </a:endParaRPr>
          </a:p>
        </p:txBody>
      </p:sp>
      <p:sp>
        <p:nvSpPr>
          <p:cNvPr id="676" name="Shape 7"/>
          <p:cNvSpPr/>
          <p:nvPr/>
        </p:nvSpPr>
        <p:spPr>
          <a:xfrm>
            <a:off x="2926080" y="1298160"/>
            <a:ext cx="91440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677" name="Shape 8"/>
          <p:cNvSpPr/>
          <p:nvPr/>
        </p:nvSpPr>
        <p:spPr>
          <a:xfrm>
            <a:off x="3931920" y="960120"/>
            <a:ext cx="2011320" cy="685440"/>
          </a:xfrm>
          <a:prstGeom prst="roundRect">
            <a:avLst>
              <a:gd name="adj" fmla="val 8000"/>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78" name="Text 9"/>
          <p:cNvSpPr/>
          <p:nvPr/>
        </p:nvSpPr>
        <p:spPr>
          <a:xfrm>
            <a:off x="3977640" y="987480"/>
            <a:ext cx="1919880" cy="630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input windows</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(supervised samples)</a:t>
            </a:r>
            <a:endParaRPr lang="it-IT" sz="1000" b="0" u="none" strike="noStrike">
              <a:solidFill>
                <a:srgbClr val="000000"/>
              </a:solidFill>
              <a:effectLst/>
              <a:uFillTx/>
              <a:latin typeface="Arial"/>
            </a:endParaRPr>
          </a:p>
        </p:txBody>
      </p:sp>
      <p:sp>
        <p:nvSpPr>
          <p:cNvPr id="679" name="Shape 10"/>
          <p:cNvSpPr/>
          <p:nvPr/>
        </p:nvSpPr>
        <p:spPr>
          <a:xfrm>
            <a:off x="6035040" y="1298160"/>
            <a:ext cx="91440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680" name="Shape 11"/>
          <p:cNvSpPr/>
          <p:nvPr/>
        </p:nvSpPr>
        <p:spPr>
          <a:xfrm>
            <a:off x="7132320" y="1005840"/>
            <a:ext cx="1188360" cy="594000"/>
          </a:xfrm>
          <a:prstGeom prst="roundRect">
            <a:avLst>
              <a:gd name="adj" fmla="val 9231"/>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81" name="Text 12"/>
          <p:cNvSpPr/>
          <p:nvPr/>
        </p:nvSpPr>
        <p:spPr>
          <a:xfrm>
            <a:off x="7178040" y="1033200"/>
            <a:ext cx="109692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targets</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y</a:t>
            </a:r>
            <a:endParaRPr lang="it-IT" sz="1000" b="0" u="none" strike="noStrike">
              <a:solidFill>
                <a:srgbClr val="000000"/>
              </a:solidFill>
              <a:effectLst/>
              <a:uFillTx/>
              <a:latin typeface="Arial"/>
            </a:endParaRPr>
          </a:p>
        </p:txBody>
      </p:sp>
      <p:sp>
        <p:nvSpPr>
          <p:cNvPr id="682" name="Shape 13"/>
          <p:cNvSpPr/>
          <p:nvPr/>
        </p:nvSpPr>
        <p:spPr>
          <a:xfrm>
            <a:off x="914400" y="3429000"/>
            <a:ext cx="2011320" cy="594000"/>
          </a:xfrm>
          <a:prstGeom prst="roundRect">
            <a:avLst>
              <a:gd name="adj" fmla="val 9231"/>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83" name="Text 14"/>
          <p:cNvSpPr/>
          <p:nvPr/>
        </p:nvSpPr>
        <p:spPr>
          <a:xfrm>
            <a:off x="960120" y="3456360"/>
            <a:ext cx="191988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one input window</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L = 1000</a:t>
            </a:r>
            <a:endParaRPr lang="it-IT" sz="1000" b="0" u="none" strike="noStrike">
              <a:solidFill>
                <a:srgbClr val="000000"/>
              </a:solidFill>
              <a:effectLst/>
              <a:uFillTx/>
              <a:latin typeface="Arial"/>
            </a:endParaRPr>
          </a:p>
        </p:txBody>
      </p:sp>
      <p:sp>
        <p:nvSpPr>
          <p:cNvPr id="684" name="Shape 15"/>
          <p:cNvSpPr/>
          <p:nvPr/>
        </p:nvSpPr>
        <p:spPr>
          <a:xfrm>
            <a:off x="3108960" y="3730680"/>
            <a:ext cx="96012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685" name="Shape 16"/>
          <p:cNvSpPr/>
          <p:nvPr/>
        </p:nvSpPr>
        <p:spPr>
          <a:xfrm>
            <a:off x="4251960" y="3429000"/>
            <a:ext cx="68544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86" name="Text 17"/>
          <p:cNvSpPr/>
          <p:nvPr/>
        </p:nvSpPr>
        <p:spPr>
          <a:xfrm>
            <a:off x="4297680" y="3456360"/>
            <a:ext cx="59400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1" u="none" strike="noStrike">
                <a:solidFill>
                  <a:srgbClr val="111827"/>
                </a:solidFill>
                <a:effectLst/>
                <a:uFillTx/>
                <a:latin typeface="Aptos"/>
                <a:ea typeface="Aptos"/>
              </a:rPr>
              <a:t>patch</a:t>
            </a:r>
            <a:endParaRPr lang="it-IT" sz="700" b="0" u="none" strike="noStrike">
              <a:solidFill>
                <a:srgbClr val="000000"/>
              </a:solidFill>
              <a:effectLst/>
              <a:uFillTx/>
              <a:latin typeface="Arial"/>
            </a:endParaRPr>
          </a:p>
          <a:p>
            <a:pPr algn="ctr" defTabSz="914400">
              <a:lnSpc>
                <a:spcPct val="100000"/>
              </a:lnSpc>
              <a:tabLst>
                <a:tab pos="0" algn="l"/>
              </a:tabLst>
            </a:pPr>
            <a:r>
              <a:rPr lang="en-US" sz="700" b="1" u="none" strike="noStrike">
                <a:solidFill>
                  <a:srgbClr val="111827"/>
                </a:solidFill>
                <a:effectLst/>
                <a:uFillTx/>
                <a:latin typeface="Aptos"/>
                <a:ea typeface="Aptos"/>
              </a:rPr>
              <a:t>1</a:t>
            </a:r>
            <a:endParaRPr lang="it-IT" sz="700" b="0" u="none" strike="noStrike">
              <a:solidFill>
                <a:srgbClr val="000000"/>
              </a:solidFill>
              <a:effectLst/>
              <a:uFillTx/>
              <a:latin typeface="Arial"/>
            </a:endParaRPr>
          </a:p>
        </p:txBody>
      </p:sp>
      <p:sp>
        <p:nvSpPr>
          <p:cNvPr id="687" name="Shape 18"/>
          <p:cNvSpPr/>
          <p:nvPr/>
        </p:nvSpPr>
        <p:spPr>
          <a:xfrm>
            <a:off x="5120640" y="3429000"/>
            <a:ext cx="68544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88" name="Text 19"/>
          <p:cNvSpPr/>
          <p:nvPr/>
        </p:nvSpPr>
        <p:spPr>
          <a:xfrm>
            <a:off x="5166360" y="3456360"/>
            <a:ext cx="59400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1" u="none" strike="noStrike">
                <a:solidFill>
                  <a:srgbClr val="111827"/>
                </a:solidFill>
                <a:effectLst/>
                <a:uFillTx/>
                <a:latin typeface="Aptos"/>
                <a:ea typeface="Aptos"/>
              </a:rPr>
              <a:t>patch</a:t>
            </a:r>
            <a:endParaRPr lang="it-IT" sz="700" b="0" u="none" strike="noStrike">
              <a:solidFill>
                <a:srgbClr val="000000"/>
              </a:solidFill>
              <a:effectLst/>
              <a:uFillTx/>
              <a:latin typeface="Arial"/>
            </a:endParaRPr>
          </a:p>
          <a:p>
            <a:pPr algn="ctr" defTabSz="914400">
              <a:lnSpc>
                <a:spcPct val="100000"/>
              </a:lnSpc>
              <a:tabLst>
                <a:tab pos="0" algn="l"/>
              </a:tabLst>
            </a:pPr>
            <a:r>
              <a:rPr lang="en-US" sz="700" b="1" u="none" strike="noStrike">
                <a:solidFill>
                  <a:srgbClr val="111827"/>
                </a:solidFill>
                <a:effectLst/>
                <a:uFillTx/>
                <a:latin typeface="Aptos"/>
                <a:ea typeface="Aptos"/>
              </a:rPr>
              <a:t>2</a:t>
            </a:r>
            <a:endParaRPr lang="it-IT" sz="700" b="0" u="none" strike="noStrike">
              <a:solidFill>
                <a:srgbClr val="000000"/>
              </a:solidFill>
              <a:effectLst/>
              <a:uFillTx/>
              <a:latin typeface="Arial"/>
            </a:endParaRPr>
          </a:p>
        </p:txBody>
      </p:sp>
      <p:sp>
        <p:nvSpPr>
          <p:cNvPr id="689" name="Shape 20"/>
          <p:cNvSpPr/>
          <p:nvPr/>
        </p:nvSpPr>
        <p:spPr>
          <a:xfrm>
            <a:off x="5989320" y="3429000"/>
            <a:ext cx="68544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90" name="Text 21"/>
          <p:cNvSpPr/>
          <p:nvPr/>
        </p:nvSpPr>
        <p:spPr>
          <a:xfrm>
            <a:off x="6035040" y="3456360"/>
            <a:ext cx="59400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1" u="none" strike="noStrike">
                <a:solidFill>
                  <a:srgbClr val="111827"/>
                </a:solidFill>
                <a:effectLst/>
                <a:uFillTx/>
                <a:latin typeface="Aptos"/>
                <a:ea typeface="Aptos"/>
              </a:rPr>
              <a:t>patch</a:t>
            </a:r>
            <a:endParaRPr lang="it-IT" sz="700" b="0" u="none" strike="noStrike">
              <a:solidFill>
                <a:srgbClr val="000000"/>
              </a:solidFill>
              <a:effectLst/>
              <a:uFillTx/>
              <a:latin typeface="Arial"/>
            </a:endParaRPr>
          </a:p>
          <a:p>
            <a:pPr algn="ctr" defTabSz="914400">
              <a:lnSpc>
                <a:spcPct val="100000"/>
              </a:lnSpc>
              <a:tabLst>
                <a:tab pos="0" algn="l"/>
              </a:tabLst>
            </a:pPr>
            <a:r>
              <a:rPr lang="en-US" sz="700" b="1" u="none" strike="noStrike">
                <a:solidFill>
                  <a:srgbClr val="111827"/>
                </a:solidFill>
                <a:effectLst/>
                <a:uFillTx/>
                <a:latin typeface="Aptos"/>
                <a:ea typeface="Aptos"/>
              </a:rPr>
              <a:t>3</a:t>
            </a:r>
            <a:endParaRPr lang="it-IT" sz="700" b="0" u="none" strike="noStrike">
              <a:solidFill>
                <a:srgbClr val="000000"/>
              </a:solidFill>
              <a:effectLst/>
              <a:uFillTx/>
              <a:latin typeface="Arial"/>
            </a:endParaRPr>
          </a:p>
        </p:txBody>
      </p:sp>
      <p:sp>
        <p:nvSpPr>
          <p:cNvPr id="691" name="Shape 22"/>
          <p:cNvSpPr/>
          <p:nvPr/>
        </p:nvSpPr>
        <p:spPr>
          <a:xfrm>
            <a:off x="6858000" y="3429000"/>
            <a:ext cx="68544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92" name="Text 23"/>
          <p:cNvSpPr/>
          <p:nvPr/>
        </p:nvSpPr>
        <p:spPr>
          <a:xfrm>
            <a:off x="6903720" y="3456360"/>
            <a:ext cx="59400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1" u="none" strike="noStrike">
                <a:solidFill>
                  <a:srgbClr val="111827"/>
                </a:solidFill>
                <a:effectLst/>
                <a:uFillTx/>
                <a:latin typeface="Aptos"/>
                <a:ea typeface="Aptos"/>
              </a:rPr>
              <a:t>patch</a:t>
            </a:r>
            <a:endParaRPr lang="it-IT" sz="700" b="0" u="none" strike="noStrike">
              <a:solidFill>
                <a:srgbClr val="000000"/>
              </a:solidFill>
              <a:effectLst/>
              <a:uFillTx/>
              <a:latin typeface="Arial"/>
            </a:endParaRPr>
          </a:p>
          <a:p>
            <a:pPr algn="ctr" defTabSz="914400">
              <a:lnSpc>
                <a:spcPct val="100000"/>
              </a:lnSpc>
              <a:tabLst>
                <a:tab pos="0" algn="l"/>
              </a:tabLst>
            </a:pPr>
            <a:r>
              <a:rPr lang="en-US" sz="700" b="1" u="none" strike="noStrike">
                <a:solidFill>
                  <a:srgbClr val="111827"/>
                </a:solidFill>
                <a:effectLst/>
                <a:uFillTx/>
                <a:latin typeface="Aptos"/>
                <a:ea typeface="Aptos"/>
              </a:rPr>
              <a:t>4</a:t>
            </a:r>
            <a:endParaRPr lang="it-IT" sz="700" b="0" u="none" strike="noStrike">
              <a:solidFill>
                <a:srgbClr val="000000"/>
              </a:solidFill>
              <a:effectLst/>
              <a:uFillTx/>
              <a:latin typeface="Arial"/>
            </a:endParaRPr>
          </a:p>
        </p:txBody>
      </p:sp>
      <p:sp>
        <p:nvSpPr>
          <p:cNvPr id="693" name="Shape 24"/>
          <p:cNvSpPr/>
          <p:nvPr/>
        </p:nvSpPr>
        <p:spPr>
          <a:xfrm>
            <a:off x="7726680" y="3429000"/>
            <a:ext cx="68544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94" name="Text 25"/>
          <p:cNvSpPr/>
          <p:nvPr/>
        </p:nvSpPr>
        <p:spPr>
          <a:xfrm>
            <a:off x="7772400" y="3456360"/>
            <a:ext cx="59400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700" b="1" u="none" strike="noStrike">
                <a:solidFill>
                  <a:srgbClr val="111827"/>
                </a:solidFill>
                <a:effectLst/>
                <a:uFillTx/>
                <a:latin typeface="Aptos"/>
                <a:ea typeface="Aptos"/>
              </a:rPr>
              <a:t>patch</a:t>
            </a:r>
            <a:endParaRPr lang="it-IT" sz="700" b="0" u="none" strike="noStrike">
              <a:solidFill>
                <a:srgbClr val="000000"/>
              </a:solidFill>
              <a:effectLst/>
              <a:uFillTx/>
              <a:latin typeface="Arial"/>
            </a:endParaRPr>
          </a:p>
          <a:p>
            <a:pPr algn="ctr" defTabSz="914400">
              <a:lnSpc>
                <a:spcPct val="100000"/>
              </a:lnSpc>
              <a:tabLst>
                <a:tab pos="0" algn="l"/>
              </a:tabLst>
            </a:pPr>
            <a:r>
              <a:rPr lang="en-US" sz="700" b="1" u="none" strike="noStrike">
                <a:solidFill>
                  <a:srgbClr val="111827"/>
                </a:solidFill>
                <a:effectLst/>
                <a:uFillTx/>
                <a:latin typeface="Aptos"/>
                <a:ea typeface="Aptos"/>
              </a:rPr>
              <a:t>5</a:t>
            </a:r>
            <a:endParaRPr lang="it-IT" sz="700" b="0" u="none" strike="noStrike">
              <a:solidFill>
                <a:srgbClr val="000000"/>
              </a:solidFill>
              <a:effectLst/>
              <a:uFillTx/>
              <a:latin typeface="Arial"/>
            </a:endParaRPr>
          </a:p>
        </p:txBody>
      </p:sp>
      <p:sp>
        <p:nvSpPr>
          <p:cNvPr id="695" name="Shape 26"/>
          <p:cNvSpPr/>
          <p:nvPr/>
        </p:nvSpPr>
        <p:spPr>
          <a:xfrm>
            <a:off x="8823960" y="3730680"/>
            <a:ext cx="82296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696" name="Shape 27"/>
          <p:cNvSpPr/>
          <p:nvPr/>
        </p:nvSpPr>
        <p:spPr>
          <a:xfrm>
            <a:off x="9829800" y="3429000"/>
            <a:ext cx="1416960" cy="594000"/>
          </a:xfrm>
          <a:prstGeom prst="roundRect">
            <a:avLst>
              <a:gd name="adj" fmla="val 9231"/>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97" name="Text 28"/>
          <p:cNvSpPr/>
          <p:nvPr/>
        </p:nvSpPr>
        <p:spPr>
          <a:xfrm>
            <a:off x="9875520" y="3456360"/>
            <a:ext cx="132552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Transformer</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tokens</a:t>
            </a:r>
            <a:endParaRPr lang="it-IT" sz="1000" b="0" u="none" strike="noStrike">
              <a:solidFill>
                <a:srgbClr val="000000"/>
              </a:solidFill>
              <a:effectLst/>
              <a:uFillTx/>
              <a:latin typeface="Arial"/>
            </a:endParaRPr>
          </a:p>
        </p:txBody>
      </p:sp>
      <p:sp>
        <p:nvSpPr>
          <p:cNvPr id="698" name="Shape 29"/>
          <p:cNvSpPr/>
          <p:nvPr/>
        </p:nvSpPr>
        <p:spPr>
          <a:xfrm>
            <a:off x="914400" y="1920240"/>
            <a:ext cx="7406280" cy="347040"/>
          </a:xfrm>
          <a:prstGeom prst="bracePair">
            <a:avLst>
              <a:gd name="adj" fmla="val 8333"/>
            </a:avLst>
          </a:prstGeom>
          <a:no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699" name="Text 30"/>
          <p:cNvSpPr/>
          <p:nvPr/>
        </p:nvSpPr>
        <p:spPr>
          <a:xfrm>
            <a:off x="2286000" y="2331720"/>
            <a:ext cx="457164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4D8CF5"/>
                </a:solidFill>
                <a:effectLst/>
                <a:uFillTx/>
                <a:latin typeface="Aptos"/>
                <a:ea typeface="Aptos"/>
              </a:rPr>
              <a:t>windowing: sample generation for learning/evaluation</a:t>
            </a:r>
            <a:endParaRPr lang="it-IT" sz="900" b="0" u="none" strike="noStrike">
              <a:solidFill>
                <a:srgbClr val="000000"/>
              </a:solidFill>
              <a:effectLst/>
              <a:uFillTx/>
              <a:latin typeface="Arial"/>
            </a:endParaRPr>
          </a:p>
        </p:txBody>
      </p:sp>
      <p:sp>
        <p:nvSpPr>
          <p:cNvPr id="700" name="Shape 31"/>
          <p:cNvSpPr/>
          <p:nvPr/>
        </p:nvSpPr>
        <p:spPr>
          <a:xfrm>
            <a:off x="4251960" y="4343400"/>
            <a:ext cx="4114440" cy="347040"/>
          </a:xfrm>
          <a:prstGeom prst="bracePair">
            <a:avLst>
              <a:gd name="adj" fmla="val 8333"/>
            </a:avLst>
          </a:prstGeom>
          <a:no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01" name="Text 32"/>
          <p:cNvSpPr/>
          <p:nvPr/>
        </p:nvSpPr>
        <p:spPr>
          <a:xfrm>
            <a:off x="4206240" y="4754880"/>
            <a:ext cx="420588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dirty="0">
                <a:solidFill>
                  <a:srgbClr val="F0A202"/>
                </a:solidFill>
                <a:effectLst/>
                <a:highlight>
                  <a:srgbClr val="FFFF00"/>
                </a:highlight>
                <a:uFillTx/>
                <a:latin typeface="Aptos"/>
                <a:ea typeface="Aptos"/>
              </a:rPr>
              <a:t>patching: internal tokenization within one sample</a:t>
            </a:r>
            <a:endParaRPr lang="it-IT" sz="900" b="0" u="none" strike="noStrike" dirty="0">
              <a:solidFill>
                <a:srgbClr val="000000"/>
              </a:solidFill>
              <a:effectLst/>
              <a:highlight>
                <a:srgbClr val="FFFF00"/>
              </a:highlight>
              <a:uFillTx/>
              <a:latin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C49A06-07F5-D32F-5E65-6C4680DBAA3A}"/>
              </a:ext>
            </a:extLst>
          </p:cNvPr>
          <p:cNvSpPr>
            <a:spLocks noGrp="1"/>
          </p:cNvSpPr>
          <p:nvPr>
            <p:ph type="title"/>
          </p:nvPr>
        </p:nvSpPr>
        <p:spPr/>
        <p:txBody>
          <a:bodyPr/>
          <a:lstStyle/>
          <a:p>
            <a:r>
              <a:rPr lang="en-GB" dirty="0"/>
              <a:t>Patching and convolution are related but not identical</a:t>
            </a:r>
          </a:p>
        </p:txBody>
      </p:sp>
      <p:sp>
        <p:nvSpPr>
          <p:cNvPr id="3" name="Segnaposto contenuto 2">
            <a:extLst>
              <a:ext uri="{FF2B5EF4-FFF2-40B4-BE49-F238E27FC236}">
                <a16:creationId xmlns:a16="http://schemas.microsoft.com/office/drawing/2014/main" id="{5097637C-3445-B8AB-8EDE-99B85A756DA8}"/>
              </a:ext>
            </a:extLst>
          </p:cNvPr>
          <p:cNvSpPr>
            <a:spLocks noGrp="1"/>
          </p:cNvSpPr>
          <p:nvPr>
            <p:ph sz="half" idx="1"/>
          </p:nvPr>
        </p:nvSpPr>
        <p:spPr>
          <a:xfrm>
            <a:off x="677334" y="2160588"/>
            <a:ext cx="5552090" cy="4347215"/>
          </a:xfrm>
        </p:spPr>
        <p:txBody>
          <a:bodyPr>
            <a:normAutofit fontScale="77500" lnSpcReduction="20000"/>
          </a:bodyPr>
          <a:lstStyle/>
          <a:p>
            <a:r>
              <a:rPr lang="en-GB" dirty="0"/>
              <a:t>Both use local temporal regions.</a:t>
            </a:r>
          </a:p>
          <a:p>
            <a:r>
              <a:rPr lang="en-GB" b="1" dirty="0"/>
              <a:t>Conv1D</a:t>
            </a:r>
          </a:p>
          <a:p>
            <a:r>
              <a:rPr lang="en-GB" dirty="0"/>
              <a:t>A learned kernel slides across time.</a:t>
            </a:r>
          </a:p>
          <a:p>
            <a:r>
              <a:rPr lang="en-GB" dirty="0"/>
              <a:t>It directly computes local feature maps with shared filter weights.</a:t>
            </a:r>
          </a:p>
          <a:p>
            <a:r>
              <a:rPr lang="en-GB" b="1" dirty="0"/>
              <a:t>Patching</a:t>
            </a:r>
          </a:p>
          <a:p>
            <a:r>
              <a:rPr lang="en-GB" dirty="0"/>
              <a:t>Divides the sequence into temporal blocks and maps each block to a token representation.</a:t>
            </a:r>
          </a:p>
          <a:p>
            <a:r>
              <a:rPr lang="en-GB" dirty="0"/>
              <a:t>Then self-attention models relationships among patches.</a:t>
            </a:r>
          </a:p>
          <a:p>
            <a:r>
              <a:rPr lang="en-GB" b="1" dirty="0"/>
              <a:t>Conv1D view</a:t>
            </a:r>
          </a:p>
          <a:p>
            <a:r>
              <a:rPr lang="en-GB" dirty="0"/>
              <a:t>local region</a:t>
            </a:r>
          </a:p>
          <a:p>
            <a:r>
              <a:rPr lang="en-GB" dirty="0"/>
              <a:t>   ↓</a:t>
            </a:r>
          </a:p>
          <a:p>
            <a:r>
              <a:rPr lang="en-GB" dirty="0"/>
              <a:t>shared temporal filter</a:t>
            </a:r>
          </a:p>
          <a:p>
            <a:r>
              <a:rPr lang="en-GB" dirty="0"/>
              <a:t>   ↓</a:t>
            </a:r>
          </a:p>
          <a:p>
            <a:r>
              <a:rPr lang="en-GB" dirty="0"/>
              <a:t>feature activation</a:t>
            </a:r>
          </a:p>
          <a:p>
            <a:endParaRPr lang="en-GB" dirty="0"/>
          </a:p>
        </p:txBody>
      </p:sp>
      <p:sp>
        <p:nvSpPr>
          <p:cNvPr id="4" name="Segnaposto contenuto 3">
            <a:extLst>
              <a:ext uri="{FF2B5EF4-FFF2-40B4-BE49-F238E27FC236}">
                <a16:creationId xmlns:a16="http://schemas.microsoft.com/office/drawing/2014/main" id="{C0B391CE-BC36-E2CE-7607-9FD5805F82C9}"/>
              </a:ext>
            </a:extLst>
          </p:cNvPr>
          <p:cNvSpPr>
            <a:spLocks noGrp="1"/>
          </p:cNvSpPr>
          <p:nvPr>
            <p:ph sz="half" idx="2"/>
          </p:nvPr>
        </p:nvSpPr>
        <p:spPr>
          <a:xfrm>
            <a:off x="6374021" y="2043857"/>
            <a:ext cx="5552090" cy="4463947"/>
          </a:xfrm>
        </p:spPr>
        <p:txBody>
          <a:bodyPr>
            <a:normAutofit fontScale="77500" lnSpcReduction="20000"/>
          </a:bodyPr>
          <a:lstStyle/>
          <a:p>
            <a:r>
              <a:rPr lang="en-GB" b="1" dirty="0"/>
              <a:t>Patch Transformer view</a:t>
            </a:r>
          </a:p>
          <a:p>
            <a:r>
              <a:rPr lang="en-GB" dirty="0"/>
              <a:t>local region</a:t>
            </a:r>
          </a:p>
          <a:p>
            <a:r>
              <a:rPr lang="en-GB" dirty="0"/>
              <a:t>   ↓</a:t>
            </a:r>
          </a:p>
          <a:p>
            <a:r>
              <a:rPr lang="en-GB" dirty="0"/>
              <a:t>patch embedding</a:t>
            </a:r>
          </a:p>
          <a:p>
            <a:r>
              <a:rPr lang="en-GB" dirty="0"/>
              <a:t>   ↓</a:t>
            </a:r>
          </a:p>
          <a:p>
            <a:r>
              <a:rPr lang="en-GB" dirty="0"/>
              <a:t>token</a:t>
            </a:r>
          </a:p>
          <a:p>
            <a:r>
              <a:rPr lang="en-GB" dirty="0"/>
              <a:t>   ↓</a:t>
            </a:r>
          </a:p>
          <a:p>
            <a:r>
              <a:rPr lang="en-GB" dirty="0"/>
              <a:t>attention with other patches</a:t>
            </a:r>
          </a:p>
          <a:p>
            <a:endParaRPr lang="en-GB" dirty="0"/>
          </a:p>
          <a:p>
            <a:r>
              <a:rPr lang="en-GB" b="1" dirty="0"/>
              <a:t>Convolution learns local pattern detectors; patching changes the unit over which attention operates.</a:t>
            </a:r>
          </a:p>
          <a:p>
            <a:endParaRPr lang="en-GB" dirty="0"/>
          </a:p>
        </p:txBody>
      </p:sp>
    </p:spTree>
    <p:extLst>
      <p:ext uri="{BB962C8B-B14F-4D97-AF65-F5344CB8AC3E}">
        <p14:creationId xmlns:p14="http://schemas.microsoft.com/office/powerpoint/2010/main" val="230245383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03"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Patching and convolution are related but not identical</a:t>
            </a:r>
            <a:endParaRPr lang="it-IT" sz="2100" b="0" u="none" strike="noStrike">
              <a:solidFill>
                <a:srgbClr val="000000"/>
              </a:solidFill>
              <a:effectLst/>
              <a:uFillTx/>
              <a:latin typeface="Arial"/>
            </a:endParaRPr>
          </a:p>
        </p:txBody>
      </p:sp>
      <p:sp>
        <p:nvSpPr>
          <p:cNvPr id="704"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667085"/>
                </a:solidFill>
                <a:effectLst/>
                <a:uFillTx/>
                <a:latin typeface="Aptos"/>
                <a:ea typeface="Aptos"/>
              </a:rPr>
              <a:t>Both use local temporal regions, but they process those regions differently.</a:t>
            </a:r>
            <a:endParaRPr lang="it-IT" sz="850" b="0" u="none" strike="noStrike">
              <a:solidFill>
                <a:srgbClr val="000000"/>
              </a:solidFill>
              <a:effectLst/>
              <a:uFillTx/>
              <a:latin typeface="Arial"/>
            </a:endParaRPr>
          </a:p>
        </p:txBody>
      </p:sp>
      <p:sp>
        <p:nvSpPr>
          <p:cNvPr id="705"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06"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667085"/>
                </a:solidFill>
                <a:effectLst/>
                <a:uFillTx/>
                <a:latin typeface="Aptos"/>
                <a:ea typeface="Aptos"/>
              </a:rPr>
              <a:t>Convolution learns sliding filters; patching creates tokens for attention.</a:t>
            </a:r>
            <a:endParaRPr lang="it-IT" sz="900" b="0" u="none" strike="noStrike" dirty="0">
              <a:solidFill>
                <a:srgbClr val="000000"/>
              </a:solidFill>
              <a:effectLst/>
              <a:uFillTx/>
              <a:latin typeface="Arial"/>
            </a:endParaRPr>
          </a:p>
        </p:txBody>
      </p:sp>
      <p:sp>
        <p:nvSpPr>
          <p:cNvPr id="707" name="Shape 5"/>
          <p:cNvSpPr/>
          <p:nvPr/>
        </p:nvSpPr>
        <p:spPr>
          <a:xfrm>
            <a:off x="1188720" y="1097280"/>
            <a:ext cx="2011320" cy="411120"/>
          </a:xfrm>
          <a:prstGeom prst="roundRect">
            <a:avLst>
              <a:gd name="adj" fmla="val 13333"/>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08" name="Text 6"/>
          <p:cNvSpPr/>
          <p:nvPr/>
        </p:nvSpPr>
        <p:spPr>
          <a:xfrm>
            <a:off x="1234440" y="1124640"/>
            <a:ext cx="191988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1827"/>
                </a:solidFill>
                <a:effectLst/>
                <a:uFillTx/>
                <a:latin typeface="Aptos"/>
                <a:ea typeface="Aptos"/>
              </a:rPr>
              <a:t>Conv1D</a:t>
            </a:r>
            <a:endParaRPr lang="it-IT" sz="1300" b="0" u="none" strike="noStrike">
              <a:solidFill>
                <a:srgbClr val="000000"/>
              </a:solidFill>
              <a:effectLst/>
              <a:uFillTx/>
              <a:latin typeface="Arial"/>
            </a:endParaRPr>
          </a:p>
        </p:txBody>
      </p:sp>
      <p:sp>
        <p:nvSpPr>
          <p:cNvPr id="709" name="Shape 7"/>
          <p:cNvSpPr/>
          <p:nvPr/>
        </p:nvSpPr>
        <p:spPr>
          <a:xfrm>
            <a:off x="822960" y="2148840"/>
            <a:ext cx="411480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10" name="Shape 8"/>
          <p:cNvSpPr/>
          <p:nvPr/>
        </p:nvSpPr>
        <p:spPr>
          <a:xfrm>
            <a:off x="91440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1" name="Shape 9"/>
          <p:cNvSpPr/>
          <p:nvPr/>
        </p:nvSpPr>
        <p:spPr>
          <a:xfrm>
            <a:off x="111564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2" name="Shape 10"/>
          <p:cNvSpPr/>
          <p:nvPr/>
        </p:nvSpPr>
        <p:spPr>
          <a:xfrm>
            <a:off x="131688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3" name="Shape 11"/>
          <p:cNvSpPr/>
          <p:nvPr/>
        </p:nvSpPr>
        <p:spPr>
          <a:xfrm>
            <a:off x="151776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4" name="Shape 12"/>
          <p:cNvSpPr/>
          <p:nvPr/>
        </p:nvSpPr>
        <p:spPr>
          <a:xfrm>
            <a:off x="171900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5" name="Shape 13"/>
          <p:cNvSpPr/>
          <p:nvPr/>
        </p:nvSpPr>
        <p:spPr>
          <a:xfrm>
            <a:off x="192024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6" name="Shape 14"/>
          <p:cNvSpPr/>
          <p:nvPr/>
        </p:nvSpPr>
        <p:spPr>
          <a:xfrm>
            <a:off x="212148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7" name="Shape 15"/>
          <p:cNvSpPr/>
          <p:nvPr/>
        </p:nvSpPr>
        <p:spPr>
          <a:xfrm>
            <a:off x="232272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8" name="Shape 16"/>
          <p:cNvSpPr/>
          <p:nvPr/>
        </p:nvSpPr>
        <p:spPr>
          <a:xfrm>
            <a:off x="252360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19" name="Shape 17"/>
          <p:cNvSpPr/>
          <p:nvPr/>
        </p:nvSpPr>
        <p:spPr>
          <a:xfrm>
            <a:off x="272484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0" name="Shape 18"/>
          <p:cNvSpPr/>
          <p:nvPr/>
        </p:nvSpPr>
        <p:spPr>
          <a:xfrm>
            <a:off x="292608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1" name="Shape 19"/>
          <p:cNvSpPr/>
          <p:nvPr/>
        </p:nvSpPr>
        <p:spPr>
          <a:xfrm>
            <a:off x="312732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2" name="Shape 20"/>
          <p:cNvSpPr/>
          <p:nvPr/>
        </p:nvSpPr>
        <p:spPr>
          <a:xfrm>
            <a:off x="332856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3" name="Shape 21"/>
          <p:cNvSpPr/>
          <p:nvPr/>
        </p:nvSpPr>
        <p:spPr>
          <a:xfrm>
            <a:off x="352944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4" name="Shape 22"/>
          <p:cNvSpPr/>
          <p:nvPr/>
        </p:nvSpPr>
        <p:spPr>
          <a:xfrm>
            <a:off x="373068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5" name="Shape 23"/>
          <p:cNvSpPr/>
          <p:nvPr/>
        </p:nvSpPr>
        <p:spPr>
          <a:xfrm>
            <a:off x="393192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6" name="Shape 24"/>
          <p:cNvSpPr/>
          <p:nvPr/>
        </p:nvSpPr>
        <p:spPr>
          <a:xfrm>
            <a:off x="413316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7" name="Shape 25"/>
          <p:cNvSpPr/>
          <p:nvPr/>
        </p:nvSpPr>
        <p:spPr>
          <a:xfrm>
            <a:off x="4334400" y="2112120"/>
            <a:ext cx="72720" cy="72720"/>
          </a:xfrm>
          <a:prstGeom prst="ellipse">
            <a:avLst/>
          </a:prstGeom>
          <a:solidFill>
            <a:srgbClr val="4D8CF5"/>
          </a:solidFill>
          <a:ln w="12700">
            <a:solidFill>
              <a:srgbClr val="4D8CF5"/>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FFFFFF"/>
              </a:solidFill>
              <a:effectLst/>
              <a:uFillTx/>
              <a:latin typeface="Arial"/>
            </a:endParaRPr>
          </a:p>
        </p:txBody>
      </p:sp>
      <p:sp>
        <p:nvSpPr>
          <p:cNvPr id="728" name="Shape 26"/>
          <p:cNvSpPr/>
          <p:nvPr/>
        </p:nvSpPr>
        <p:spPr>
          <a:xfrm>
            <a:off x="1417320" y="2331720"/>
            <a:ext cx="914040" cy="319680"/>
          </a:xfrm>
          <a:prstGeom prst="bracePair">
            <a:avLst>
              <a:gd name="adj" fmla="val 8333"/>
            </a:avLst>
          </a:prstGeom>
          <a:no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29" name="Shape 27"/>
          <p:cNvSpPr/>
          <p:nvPr/>
        </p:nvSpPr>
        <p:spPr>
          <a:xfrm>
            <a:off x="1874520" y="2697480"/>
            <a:ext cx="360" cy="457200"/>
          </a:xfrm>
          <a:prstGeom prst="line">
            <a:avLst/>
          </a:prstGeom>
          <a:ln w="12700">
            <a:solidFill>
              <a:srgbClr val="4D8CF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30" name="Shape 28"/>
          <p:cNvSpPr/>
          <p:nvPr/>
        </p:nvSpPr>
        <p:spPr>
          <a:xfrm>
            <a:off x="1143000" y="3291840"/>
            <a:ext cx="1462680" cy="502560"/>
          </a:xfrm>
          <a:prstGeom prst="roundRect">
            <a:avLst>
              <a:gd name="adj" fmla="val 10909"/>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31" name="Text 29"/>
          <p:cNvSpPr/>
          <p:nvPr/>
        </p:nvSpPr>
        <p:spPr>
          <a:xfrm>
            <a:off x="1188720" y="3319200"/>
            <a:ext cx="137124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shared</a:t>
            </a:r>
            <a:endParaRPr lang="it-IT" sz="800" b="0" u="none" strike="noStrike">
              <a:solidFill>
                <a:srgbClr val="000000"/>
              </a:solidFill>
              <a:effectLst/>
              <a:uFillTx/>
              <a:latin typeface="Arial"/>
            </a:endParaRPr>
          </a:p>
          <a:p>
            <a:pPr algn="ctr" defTabSz="914400">
              <a:lnSpc>
                <a:spcPct val="100000"/>
              </a:lnSpc>
              <a:tabLst>
                <a:tab pos="0" algn="l"/>
              </a:tabLst>
            </a:pPr>
            <a:r>
              <a:rPr lang="en-US" sz="800" b="1" u="none" strike="noStrike">
                <a:solidFill>
                  <a:srgbClr val="111827"/>
                </a:solidFill>
                <a:effectLst/>
                <a:uFillTx/>
                <a:latin typeface="Aptos"/>
                <a:ea typeface="Aptos"/>
              </a:rPr>
              <a:t>temporal filter</a:t>
            </a:r>
            <a:endParaRPr lang="it-IT" sz="800" b="0" u="none" strike="noStrike">
              <a:solidFill>
                <a:srgbClr val="000000"/>
              </a:solidFill>
              <a:effectLst/>
              <a:uFillTx/>
              <a:latin typeface="Arial"/>
            </a:endParaRPr>
          </a:p>
        </p:txBody>
      </p:sp>
      <p:sp>
        <p:nvSpPr>
          <p:cNvPr id="732" name="Shape 30"/>
          <p:cNvSpPr/>
          <p:nvPr/>
        </p:nvSpPr>
        <p:spPr>
          <a:xfrm>
            <a:off x="1874520" y="3840480"/>
            <a:ext cx="360" cy="548640"/>
          </a:xfrm>
          <a:prstGeom prst="line">
            <a:avLst/>
          </a:prstGeom>
          <a:ln w="12700">
            <a:solidFill>
              <a:srgbClr val="4D8CF5"/>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33" name="Shape 31"/>
          <p:cNvSpPr/>
          <p:nvPr/>
        </p:nvSpPr>
        <p:spPr>
          <a:xfrm>
            <a:off x="1143000" y="4526280"/>
            <a:ext cx="1462680" cy="502560"/>
          </a:xfrm>
          <a:prstGeom prst="roundRect">
            <a:avLst>
              <a:gd name="adj" fmla="val 10909"/>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34" name="Text 32"/>
          <p:cNvSpPr/>
          <p:nvPr/>
        </p:nvSpPr>
        <p:spPr>
          <a:xfrm>
            <a:off x="1188720" y="4553640"/>
            <a:ext cx="137124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feature</a:t>
            </a:r>
            <a:endParaRPr lang="it-IT" sz="800" b="0" u="none" strike="noStrike">
              <a:solidFill>
                <a:srgbClr val="000000"/>
              </a:solidFill>
              <a:effectLst/>
              <a:uFillTx/>
              <a:latin typeface="Arial"/>
            </a:endParaRPr>
          </a:p>
          <a:p>
            <a:pPr algn="ctr" defTabSz="914400">
              <a:lnSpc>
                <a:spcPct val="100000"/>
              </a:lnSpc>
              <a:tabLst>
                <a:tab pos="0" algn="l"/>
              </a:tabLst>
            </a:pPr>
            <a:r>
              <a:rPr lang="en-US" sz="800" b="1" u="none" strike="noStrike">
                <a:solidFill>
                  <a:srgbClr val="111827"/>
                </a:solidFill>
                <a:effectLst/>
                <a:uFillTx/>
                <a:latin typeface="Aptos"/>
                <a:ea typeface="Aptos"/>
              </a:rPr>
              <a:t>activation</a:t>
            </a:r>
            <a:endParaRPr lang="it-IT" sz="800" b="0" u="none" strike="noStrike">
              <a:solidFill>
                <a:srgbClr val="000000"/>
              </a:solidFill>
              <a:effectLst/>
              <a:uFillTx/>
              <a:latin typeface="Arial"/>
            </a:endParaRPr>
          </a:p>
        </p:txBody>
      </p:sp>
      <p:sp>
        <p:nvSpPr>
          <p:cNvPr id="735" name="Shape 33"/>
          <p:cNvSpPr/>
          <p:nvPr/>
        </p:nvSpPr>
        <p:spPr>
          <a:xfrm>
            <a:off x="7132320" y="1097280"/>
            <a:ext cx="2377080" cy="411120"/>
          </a:xfrm>
          <a:prstGeom prst="roundRect">
            <a:avLst>
              <a:gd name="adj" fmla="val 13333"/>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36" name="Text 34"/>
          <p:cNvSpPr/>
          <p:nvPr/>
        </p:nvSpPr>
        <p:spPr>
          <a:xfrm>
            <a:off x="7178040" y="1124640"/>
            <a:ext cx="22856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u="none" strike="noStrike">
                <a:solidFill>
                  <a:srgbClr val="111827"/>
                </a:solidFill>
                <a:effectLst/>
                <a:uFillTx/>
                <a:latin typeface="Aptos"/>
                <a:ea typeface="Aptos"/>
              </a:rPr>
              <a:t>Patch Transformer</a:t>
            </a:r>
            <a:endParaRPr lang="it-IT" sz="1300" b="0" u="none" strike="noStrike">
              <a:solidFill>
                <a:srgbClr val="000000"/>
              </a:solidFill>
              <a:effectLst/>
              <a:uFillTx/>
              <a:latin typeface="Arial"/>
            </a:endParaRPr>
          </a:p>
        </p:txBody>
      </p:sp>
      <p:sp>
        <p:nvSpPr>
          <p:cNvPr id="737" name="Shape 35"/>
          <p:cNvSpPr/>
          <p:nvPr/>
        </p:nvSpPr>
        <p:spPr>
          <a:xfrm>
            <a:off x="6400800" y="2148840"/>
            <a:ext cx="438912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38" name="Shape 36"/>
          <p:cNvSpPr/>
          <p:nvPr/>
        </p:nvSpPr>
        <p:spPr>
          <a:xfrm>
            <a:off x="649224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39" name="Shape 37"/>
          <p:cNvSpPr/>
          <p:nvPr/>
        </p:nvSpPr>
        <p:spPr>
          <a:xfrm>
            <a:off x="669348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0" name="Shape 38"/>
          <p:cNvSpPr/>
          <p:nvPr/>
        </p:nvSpPr>
        <p:spPr>
          <a:xfrm>
            <a:off x="689472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1" name="Shape 39"/>
          <p:cNvSpPr/>
          <p:nvPr/>
        </p:nvSpPr>
        <p:spPr>
          <a:xfrm>
            <a:off x="709560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2" name="Shape 40"/>
          <p:cNvSpPr/>
          <p:nvPr/>
        </p:nvSpPr>
        <p:spPr>
          <a:xfrm>
            <a:off x="729684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3" name="Shape 41"/>
          <p:cNvSpPr/>
          <p:nvPr/>
        </p:nvSpPr>
        <p:spPr>
          <a:xfrm>
            <a:off x="749808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4" name="Shape 42"/>
          <p:cNvSpPr/>
          <p:nvPr/>
        </p:nvSpPr>
        <p:spPr>
          <a:xfrm>
            <a:off x="769932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5" name="Shape 43"/>
          <p:cNvSpPr/>
          <p:nvPr/>
        </p:nvSpPr>
        <p:spPr>
          <a:xfrm>
            <a:off x="790056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6" name="Shape 44"/>
          <p:cNvSpPr/>
          <p:nvPr/>
        </p:nvSpPr>
        <p:spPr>
          <a:xfrm>
            <a:off x="810144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7" name="Shape 45"/>
          <p:cNvSpPr/>
          <p:nvPr/>
        </p:nvSpPr>
        <p:spPr>
          <a:xfrm>
            <a:off x="830268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8" name="Shape 46"/>
          <p:cNvSpPr/>
          <p:nvPr/>
        </p:nvSpPr>
        <p:spPr>
          <a:xfrm>
            <a:off x="850392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49" name="Shape 47"/>
          <p:cNvSpPr/>
          <p:nvPr/>
        </p:nvSpPr>
        <p:spPr>
          <a:xfrm>
            <a:off x="870516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0" name="Shape 48"/>
          <p:cNvSpPr/>
          <p:nvPr/>
        </p:nvSpPr>
        <p:spPr>
          <a:xfrm>
            <a:off x="890640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1" name="Shape 49"/>
          <p:cNvSpPr/>
          <p:nvPr/>
        </p:nvSpPr>
        <p:spPr>
          <a:xfrm>
            <a:off x="910728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2" name="Shape 50"/>
          <p:cNvSpPr/>
          <p:nvPr/>
        </p:nvSpPr>
        <p:spPr>
          <a:xfrm>
            <a:off x="930852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3" name="Shape 51"/>
          <p:cNvSpPr/>
          <p:nvPr/>
        </p:nvSpPr>
        <p:spPr>
          <a:xfrm>
            <a:off x="950976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4" name="Shape 52"/>
          <p:cNvSpPr/>
          <p:nvPr/>
        </p:nvSpPr>
        <p:spPr>
          <a:xfrm>
            <a:off x="971100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5" name="Shape 53"/>
          <p:cNvSpPr/>
          <p:nvPr/>
        </p:nvSpPr>
        <p:spPr>
          <a:xfrm>
            <a:off x="9912240" y="2112120"/>
            <a:ext cx="72720" cy="72720"/>
          </a:xfrm>
          <a:prstGeom prst="ellipse">
            <a:avLst/>
          </a:prstGeom>
          <a:solidFill>
            <a:srgbClr val="F0A202"/>
          </a:solidFill>
          <a:ln w="12700">
            <a:solidFill>
              <a:srgbClr val="F0A202"/>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it-IT" sz="1800" b="0" u="none" strike="noStrike">
              <a:solidFill>
                <a:srgbClr val="000000"/>
              </a:solidFill>
              <a:effectLst/>
              <a:uFillTx/>
              <a:latin typeface="Arial"/>
            </a:endParaRPr>
          </a:p>
        </p:txBody>
      </p:sp>
      <p:sp>
        <p:nvSpPr>
          <p:cNvPr id="756" name="Shape 54"/>
          <p:cNvSpPr/>
          <p:nvPr/>
        </p:nvSpPr>
        <p:spPr>
          <a:xfrm>
            <a:off x="6903720" y="2331720"/>
            <a:ext cx="1371240" cy="319680"/>
          </a:xfrm>
          <a:prstGeom prst="bracePair">
            <a:avLst>
              <a:gd name="adj" fmla="val 8333"/>
            </a:avLst>
          </a:prstGeom>
          <a:no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57" name="Shape 55"/>
          <p:cNvSpPr/>
          <p:nvPr/>
        </p:nvSpPr>
        <p:spPr>
          <a:xfrm>
            <a:off x="7589520" y="2697480"/>
            <a:ext cx="360" cy="45720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58" name="Shape 56"/>
          <p:cNvSpPr/>
          <p:nvPr/>
        </p:nvSpPr>
        <p:spPr>
          <a:xfrm>
            <a:off x="6858000" y="3291840"/>
            <a:ext cx="1462680" cy="502560"/>
          </a:xfrm>
          <a:prstGeom prst="roundRect">
            <a:avLst>
              <a:gd name="adj" fmla="val 10909"/>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59" name="Text 57"/>
          <p:cNvSpPr/>
          <p:nvPr/>
        </p:nvSpPr>
        <p:spPr>
          <a:xfrm>
            <a:off x="6903720" y="3319200"/>
            <a:ext cx="137124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patch</a:t>
            </a:r>
            <a:endParaRPr lang="it-IT" sz="800" b="0" u="none" strike="noStrike">
              <a:solidFill>
                <a:srgbClr val="000000"/>
              </a:solidFill>
              <a:effectLst/>
              <a:uFillTx/>
              <a:latin typeface="Arial"/>
            </a:endParaRPr>
          </a:p>
          <a:p>
            <a:pPr algn="ctr" defTabSz="914400">
              <a:lnSpc>
                <a:spcPct val="100000"/>
              </a:lnSpc>
              <a:tabLst>
                <a:tab pos="0" algn="l"/>
              </a:tabLst>
            </a:pPr>
            <a:r>
              <a:rPr lang="en-US" sz="800" b="1" u="none" strike="noStrike">
                <a:solidFill>
                  <a:srgbClr val="111827"/>
                </a:solidFill>
                <a:effectLst/>
                <a:uFillTx/>
                <a:latin typeface="Aptos"/>
                <a:ea typeface="Aptos"/>
              </a:rPr>
              <a:t>embedding</a:t>
            </a:r>
            <a:endParaRPr lang="it-IT" sz="800" b="0" u="none" strike="noStrike">
              <a:solidFill>
                <a:srgbClr val="000000"/>
              </a:solidFill>
              <a:effectLst/>
              <a:uFillTx/>
              <a:latin typeface="Arial"/>
            </a:endParaRPr>
          </a:p>
        </p:txBody>
      </p:sp>
      <p:sp>
        <p:nvSpPr>
          <p:cNvPr id="760" name="Shape 58"/>
          <p:cNvSpPr/>
          <p:nvPr/>
        </p:nvSpPr>
        <p:spPr>
          <a:xfrm>
            <a:off x="7589520" y="3840480"/>
            <a:ext cx="360" cy="54864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it-IT" sz="1800" b="0" u="none" strike="noStrike">
              <a:solidFill>
                <a:srgbClr val="000000"/>
              </a:solidFill>
              <a:effectLst/>
              <a:uFillTx/>
              <a:latin typeface="Arial"/>
            </a:endParaRPr>
          </a:p>
        </p:txBody>
      </p:sp>
      <p:sp>
        <p:nvSpPr>
          <p:cNvPr id="761" name="Shape 59"/>
          <p:cNvSpPr/>
          <p:nvPr/>
        </p:nvSpPr>
        <p:spPr>
          <a:xfrm>
            <a:off x="6583680" y="4526280"/>
            <a:ext cx="2011320" cy="502560"/>
          </a:xfrm>
          <a:prstGeom prst="roundRect">
            <a:avLst>
              <a:gd name="adj" fmla="val 10909"/>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62" name="Text 60"/>
          <p:cNvSpPr/>
          <p:nvPr/>
        </p:nvSpPr>
        <p:spPr>
          <a:xfrm>
            <a:off x="6629400" y="4553640"/>
            <a:ext cx="1919880" cy="44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800" b="1" u="none" strike="noStrike">
                <a:solidFill>
                  <a:srgbClr val="111827"/>
                </a:solidFill>
                <a:effectLst/>
                <a:uFillTx/>
                <a:latin typeface="Aptos"/>
                <a:ea typeface="Aptos"/>
              </a:rPr>
              <a:t>attention with</a:t>
            </a:r>
            <a:endParaRPr lang="it-IT" sz="800" b="0" u="none" strike="noStrike">
              <a:solidFill>
                <a:srgbClr val="000000"/>
              </a:solidFill>
              <a:effectLst/>
              <a:uFillTx/>
              <a:latin typeface="Arial"/>
            </a:endParaRPr>
          </a:p>
          <a:p>
            <a:pPr algn="ctr" defTabSz="914400">
              <a:lnSpc>
                <a:spcPct val="100000"/>
              </a:lnSpc>
              <a:tabLst>
                <a:tab pos="0" algn="l"/>
              </a:tabLst>
            </a:pPr>
            <a:r>
              <a:rPr lang="en-US" sz="800" b="1" u="none" strike="noStrike">
                <a:solidFill>
                  <a:srgbClr val="111827"/>
                </a:solidFill>
                <a:effectLst/>
                <a:uFillTx/>
                <a:latin typeface="Aptos"/>
                <a:ea typeface="Aptos"/>
              </a:rPr>
              <a:t>other patches</a:t>
            </a:r>
            <a:endParaRPr lang="it-IT" sz="800" b="0" u="none" strike="noStrike">
              <a:solidFill>
                <a:srgbClr val="000000"/>
              </a:solidFill>
              <a:effectLst/>
              <a:uFillTx/>
              <a:latin typeface="Arial"/>
            </a:endParaRPr>
          </a:p>
        </p:txBody>
      </p:sp>
      <p:sp>
        <p:nvSpPr>
          <p:cNvPr id="763" name="Shape 61"/>
          <p:cNvSpPr/>
          <p:nvPr/>
        </p:nvSpPr>
        <p:spPr>
          <a:xfrm>
            <a:off x="5074920" y="2971800"/>
            <a:ext cx="1005480" cy="411120"/>
          </a:xfrm>
          <a:prstGeom prst="roundRect">
            <a:avLst>
              <a:gd name="adj" fmla="val 13333"/>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64" name="Text 62"/>
          <p:cNvSpPr/>
          <p:nvPr/>
        </p:nvSpPr>
        <p:spPr>
          <a:xfrm>
            <a:off x="5120640" y="2999160"/>
            <a:ext cx="9140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1827"/>
                </a:solidFill>
                <a:effectLst/>
                <a:uFillTx/>
                <a:latin typeface="Aptos"/>
                <a:ea typeface="Aptos"/>
              </a:rPr>
              <a:t>versus</a:t>
            </a:r>
            <a:endParaRPr lang="it-IT" sz="1200" b="0" u="none" strike="noStrike">
              <a:solidFill>
                <a:srgbClr val="000000"/>
              </a:solidFill>
              <a:effectLst/>
              <a:uFillTx/>
              <a:latin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177EC2-6567-86C9-8CB5-32C8CBB929C0}"/>
              </a:ext>
            </a:extLst>
          </p:cNvPr>
          <p:cNvSpPr>
            <a:spLocks noGrp="1"/>
          </p:cNvSpPr>
          <p:nvPr>
            <p:ph type="title"/>
          </p:nvPr>
        </p:nvSpPr>
        <p:spPr/>
        <p:txBody>
          <a:bodyPr>
            <a:normAutofit/>
          </a:bodyPr>
          <a:lstStyle/>
          <a:p>
            <a:r>
              <a:rPr lang="en-GB" dirty="0"/>
              <a:t>With patching, longer physical context becomes easier to model</a:t>
            </a:r>
          </a:p>
        </p:txBody>
      </p:sp>
      <p:sp>
        <p:nvSpPr>
          <p:cNvPr id="3" name="Segnaposto contenuto 2">
            <a:extLst>
              <a:ext uri="{FF2B5EF4-FFF2-40B4-BE49-F238E27FC236}">
                <a16:creationId xmlns:a16="http://schemas.microsoft.com/office/drawing/2014/main" id="{2B408F9F-A028-8189-5699-F7FAB3E80431}"/>
              </a:ext>
            </a:extLst>
          </p:cNvPr>
          <p:cNvSpPr>
            <a:spLocks noGrp="1"/>
          </p:cNvSpPr>
          <p:nvPr>
            <p:ph sz="half" idx="1"/>
          </p:nvPr>
        </p:nvSpPr>
        <p:spPr>
          <a:xfrm>
            <a:off x="677334" y="2160588"/>
            <a:ext cx="5334360" cy="4513635"/>
          </a:xfrm>
        </p:spPr>
        <p:txBody>
          <a:bodyPr>
            <a:normAutofit/>
          </a:bodyPr>
          <a:lstStyle/>
          <a:p>
            <a:r>
              <a:rPr lang="en-GB" dirty="0"/>
              <a:t>Suppose:</a:t>
            </a:r>
          </a:p>
          <a:p>
            <a:pPr lvl="1"/>
            <a:r>
              <a:rPr lang="en-GB" dirty="0"/>
              <a:t>sampling frequency = 100 Hz; </a:t>
            </a:r>
          </a:p>
          <a:p>
            <a:pPr lvl="1"/>
            <a:r>
              <a:rPr lang="en-GB" dirty="0"/>
              <a:t>input duration = 60 s. </a:t>
            </a:r>
          </a:p>
          <a:p>
            <a:r>
              <a:rPr lang="en-GB" dirty="0"/>
              <a:t>Raw sequence length: 6000 samples</a:t>
            </a:r>
          </a:p>
          <a:p>
            <a:endParaRPr lang="en-GB" dirty="0"/>
          </a:p>
          <a:p>
            <a:r>
              <a:rPr lang="en-GB" dirty="0"/>
              <a:t>With patch size: P = 100</a:t>
            </a:r>
          </a:p>
          <a:p>
            <a:r>
              <a:rPr lang="en-GB" dirty="0"/>
              <a:t>each patch covers: 1 second</a:t>
            </a:r>
          </a:p>
          <a:p>
            <a:r>
              <a:rPr lang="en-GB" dirty="0"/>
              <a:t>The Transformer receives approximately: 60 patch tokens</a:t>
            </a:r>
          </a:p>
          <a:p>
            <a:r>
              <a:rPr lang="en-GB" dirty="0"/>
              <a:t>instead of: 6000 raw-sample tokens.</a:t>
            </a:r>
          </a:p>
          <a:p>
            <a:endParaRPr lang="en-GB" dirty="0"/>
          </a:p>
        </p:txBody>
      </p:sp>
      <p:sp>
        <p:nvSpPr>
          <p:cNvPr id="4" name="Segnaposto contenuto 3">
            <a:extLst>
              <a:ext uri="{FF2B5EF4-FFF2-40B4-BE49-F238E27FC236}">
                <a16:creationId xmlns:a16="http://schemas.microsoft.com/office/drawing/2014/main" id="{2F08D226-3045-4535-0095-8C905B0109FE}"/>
              </a:ext>
            </a:extLst>
          </p:cNvPr>
          <p:cNvSpPr>
            <a:spLocks noGrp="1"/>
          </p:cNvSpPr>
          <p:nvPr>
            <p:ph sz="half" idx="2"/>
          </p:nvPr>
        </p:nvSpPr>
        <p:spPr>
          <a:xfrm>
            <a:off x="5770907" y="2190821"/>
            <a:ext cx="6233026" cy="4483402"/>
          </a:xfrm>
        </p:spPr>
        <p:txBody>
          <a:bodyPr>
            <a:normAutofit/>
          </a:bodyPr>
          <a:lstStyle/>
          <a:p>
            <a:r>
              <a:rPr lang="en-GB" b="1" dirty="0"/>
              <a:t>Consequence</a:t>
            </a:r>
          </a:p>
          <a:p>
            <a:r>
              <a:rPr lang="en-GB" dirty="0"/>
              <a:t>The model can potentially attend among events separated by tens of seconds while keeping the attention sequence manageable.</a:t>
            </a:r>
          </a:p>
          <a:p>
            <a:r>
              <a:rPr lang="en-GB" b="1" dirty="0"/>
              <a:t>Example</a:t>
            </a:r>
          </a:p>
          <a:p>
            <a:r>
              <a:rPr lang="en-GB" dirty="0"/>
              <a:t>One patch may represent: an early vibration anomaly. </a:t>
            </a:r>
          </a:p>
          <a:p>
            <a:r>
              <a:rPr lang="en-GB" dirty="0"/>
              <a:t>Another patch, 40 seconds later: a temperature rise. </a:t>
            </a:r>
          </a:p>
          <a:p>
            <a:r>
              <a:rPr lang="en-GB" dirty="0"/>
              <a:t>Attention can directly relate their patch representations.</a:t>
            </a:r>
          </a:p>
          <a:p>
            <a:pPr marL="0" indent="0">
              <a:buNone/>
            </a:pPr>
            <a:endParaRPr lang="en-GB" b="1" dirty="0"/>
          </a:p>
          <a:p>
            <a:r>
              <a:rPr lang="en-GB" b="1" dirty="0"/>
              <a:t>Patching separates physical context length from raw sampling resolution.</a:t>
            </a:r>
          </a:p>
          <a:p>
            <a:endParaRPr lang="en-GB" dirty="0"/>
          </a:p>
        </p:txBody>
      </p:sp>
    </p:spTree>
    <p:extLst>
      <p:ext uri="{BB962C8B-B14F-4D97-AF65-F5344CB8AC3E}">
        <p14:creationId xmlns:p14="http://schemas.microsoft.com/office/powerpoint/2010/main" val="399258006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97"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Patching separates physical context from raw sampling resolution</a:t>
            </a:r>
            <a:endParaRPr lang="it-IT" sz="2100" b="0" u="none" strike="noStrike">
              <a:solidFill>
                <a:srgbClr val="000000"/>
              </a:solidFill>
              <a:effectLst/>
              <a:uFillTx/>
              <a:latin typeface="Arial"/>
            </a:endParaRPr>
          </a:p>
        </p:txBody>
      </p:sp>
      <p:sp>
        <p:nvSpPr>
          <p:cNvPr id="798"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667085"/>
                </a:solidFill>
                <a:effectLst/>
                <a:uFillTx/>
                <a:latin typeface="Aptos"/>
                <a:ea typeface="Aptos"/>
              </a:rPr>
              <a:t>A long physical interval can be represented by a manageable number of patch tokens.</a:t>
            </a:r>
            <a:endParaRPr lang="it-IT" sz="1000" b="0" u="none" strike="noStrike" dirty="0">
              <a:solidFill>
                <a:srgbClr val="000000"/>
              </a:solidFill>
              <a:effectLst/>
              <a:uFillTx/>
              <a:latin typeface="Arial"/>
            </a:endParaRPr>
          </a:p>
        </p:txBody>
      </p:sp>
      <p:sp>
        <p:nvSpPr>
          <p:cNvPr id="799"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00"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667085"/>
                </a:solidFill>
                <a:effectLst/>
                <a:uFillTx/>
                <a:latin typeface="Aptos"/>
                <a:ea typeface="Aptos"/>
              </a:rPr>
              <a:t>This is why patching is attractive for long high-frequency time series.</a:t>
            </a:r>
            <a:endParaRPr lang="it-IT" sz="900" b="0" u="none" strike="noStrike" dirty="0">
              <a:solidFill>
                <a:srgbClr val="000000"/>
              </a:solidFill>
              <a:effectLst/>
              <a:uFillTx/>
              <a:latin typeface="Arial"/>
            </a:endParaRPr>
          </a:p>
        </p:txBody>
      </p:sp>
      <p:sp>
        <p:nvSpPr>
          <p:cNvPr id="801" name="Shape 5"/>
          <p:cNvSpPr/>
          <p:nvPr/>
        </p:nvSpPr>
        <p:spPr>
          <a:xfrm>
            <a:off x="914400" y="1143000"/>
            <a:ext cx="1554120" cy="411120"/>
          </a:xfrm>
          <a:prstGeom prst="roundRect">
            <a:avLst>
              <a:gd name="adj" fmla="val 13333"/>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02" name="Text 6"/>
          <p:cNvSpPr/>
          <p:nvPr/>
        </p:nvSpPr>
        <p:spPr>
          <a:xfrm>
            <a:off x="960120" y="1170360"/>
            <a:ext cx="146268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Fs = 100 Hz</a:t>
            </a:r>
            <a:endParaRPr lang="it-IT" sz="1100" b="0" u="none" strike="noStrike">
              <a:solidFill>
                <a:srgbClr val="000000"/>
              </a:solidFill>
              <a:effectLst/>
              <a:uFillTx/>
              <a:latin typeface="Arial"/>
            </a:endParaRPr>
          </a:p>
        </p:txBody>
      </p:sp>
      <p:sp>
        <p:nvSpPr>
          <p:cNvPr id="803" name="Shape 7"/>
          <p:cNvSpPr/>
          <p:nvPr/>
        </p:nvSpPr>
        <p:spPr>
          <a:xfrm>
            <a:off x="2651760" y="1343880"/>
            <a:ext cx="1005840" cy="360"/>
          </a:xfrm>
          <a:prstGeom prst="line">
            <a:avLst/>
          </a:prstGeom>
          <a:ln w="12700">
            <a:solidFill>
              <a:srgbClr val="4D8CF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804" name="Shape 8"/>
          <p:cNvSpPr/>
          <p:nvPr/>
        </p:nvSpPr>
        <p:spPr>
          <a:xfrm>
            <a:off x="3840480" y="1143000"/>
            <a:ext cx="1554120" cy="411120"/>
          </a:xfrm>
          <a:prstGeom prst="roundRect">
            <a:avLst>
              <a:gd name="adj" fmla="val 1333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05" name="Text 9"/>
          <p:cNvSpPr/>
          <p:nvPr/>
        </p:nvSpPr>
        <p:spPr>
          <a:xfrm>
            <a:off x="3886200" y="1170360"/>
            <a:ext cx="146268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60 s input</a:t>
            </a:r>
            <a:endParaRPr lang="it-IT" sz="1100" b="0" u="none" strike="noStrike">
              <a:solidFill>
                <a:srgbClr val="000000"/>
              </a:solidFill>
              <a:effectLst/>
              <a:uFillTx/>
              <a:latin typeface="Arial"/>
            </a:endParaRPr>
          </a:p>
        </p:txBody>
      </p:sp>
      <p:sp>
        <p:nvSpPr>
          <p:cNvPr id="806" name="Shape 10"/>
          <p:cNvSpPr/>
          <p:nvPr/>
        </p:nvSpPr>
        <p:spPr>
          <a:xfrm>
            <a:off x="5577840" y="1343880"/>
            <a:ext cx="1005840" cy="360"/>
          </a:xfrm>
          <a:prstGeom prst="line">
            <a:avLst/>
          </a:prstGeom>
          <a:ln w="12700">
            <a:solidFill>
              <a:srgbClr val="5F8E13"/>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807" name="Shape 11"/>
          <p:cNvSpPr/>
          <p:nvPr/>
        </p:nvSpPr>
        <p:spPr>
          <a:xfrm>
            <a:off x="6766560" y="1143000"/>
            <a:ext cx="1828440" cy="411120"/>
          </a:xfrm>
          <a:prstGeom prst="roundRect">
            <a:avLst>
              <a:gd name="adj" fmla="val 13333"/>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08" name="Text 12"/>
          <p:cNvSpPr/>
          <p:nvPr/>
        </p:nvSpPr>
        <p:spPr>
          <a:xfrm>
            <a:off x="6812280" y="1170360"/>
            <a:ext cx="173700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6000 raw samples</a:t>
            </a:r>
            <a:endParaRPr lang="it-IT" sz="1100" b="0" u="none" strike="noStrike">
              <a:solidFill>
                <a:srgbClr val="000000"/>
              </a:solidFill>
              <a:effectLst/>
              <a:uFillTx/>
              <a:latin typeface="Arial"/>
            </a:endParaRPr>
          </a:p>
        </p:txBody>
      </p:sp>
      <p:sp>
        <p:nvSpPr>
          <p:cNvPr id="809" name="Shape 13"/>
          <p:cNvSpPr/>
          <p:nvPr/>
        </p:nvSpPr>
        <p:spPr>
          <a:xfrm>
            <a:off x="8823960" y="1343880"/>
            <a:ext cx="1005840" cy="360"/>
          </a:xfrm>
          <a:prstGeom prst="line">
            <a:avLst/>
          </a:prstGeom>
          <a:ln w="12700">
            <a:solidFill>
              <a:srgbClr val="F0A20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810" name="Shape 14"/>
          <p:cNvSpPr/>
          <p:nvPr/>
        </p:nvSpPr>
        <p:spPr>
          <a:xfrm>
            <a:off x="10012680" y="987480"/>
            <a:ext cx="1416960" cy="712800"/>
          </a:xfrm>
          <a:prstGeom prst="roundRect">
            <a:avLst>
              <a:gd name="adj" fmla="val 7692"/>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11" name="Text 15"/>
          <p:cNvSpPr/>
          <p:nvPr/>
        </p:nvSpPr>
        <p:spPr>
          <a:xfrm>
            <a:off x="10058400" y="1014840"/>
            <a:ext cx="13255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u="none" strike="noStrike">
                <a:solidFill>
                  <a:srgbClr val="111827"/>
                </a:solidFill>
                <a:effectLst/>
                <a:uFillTx/>
                <a:latin typeface="Aptos"/>
                <a:ea typeface="Aptos"/>
              </a:rPr>
              <a:t>P = 100</a:t>
            </a:r>
            <a:endParaRPr lang="it-IT"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111827"/>
                </a:solidFill>
                <a:effectLst/>
                <a:uFillTx/>
                <a:latin typeface="Aptos"/>
                <a:ea typeface="Aptos"/>
              </a:rPr>
              <a:t>→ 60 tokens</a:t>
            </a:r>
            <a:endParaRPr lang="it-IT" sz="1000" b="0" u="none" strike="noStrike">
              <a:solidFill>
                <a:srgbClr val="000000"/>
              </a:solidFill>
              <a:effectLst/>
              <a:uFillTx/>
              <a:latin typeface="Arial"/>
            </a:endParaRPr>
          </a:p>
        </p:txBody>
      </p:sp>
      <p:sp>
        <p:nvSpPr>
          <p:cNvPr id="812" name="Shape 16"/>
          <p:cNvSpPr/>
          <p:nvPr/>
        </p:nvSpPr>
        <p:spPr>
          <a:xfrm>
            <a:off x="1005840" y="2743200"/>
            <a:ext cx="960120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813" name="Shape 17"/>
          <p:cNvSpPr/>
          <p:nvPr/>
        </p:nvSpPr>
        <p:spPr>
          <a:xfrm>
            <a:off x="109728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14" name="Shape 18"/>
          <p:cNvSpPr/>
          <p:nvPr/>
        </p:nvSpPr>
        <p:spPr>
          <a:xfrm>
            <a:off x="156348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15" name="Shape 19"/>
          <p:cNvSpPr/>
          <p:nvPr/>
        </p:nvSpPr>
        <p:spPr>
          <a:xfrm>
            <a:off x="203004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16" name="Shape 20"/>
          <p:cNvSpPr/>
          <p:nvPr/>
        </p:nvSpPr>
        <p:spPr>
          <a:xfrm>
            <a:off x="249624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17" name="Shape 21"/>
          <p:cNvSpPr/>
          <p:nvPr/>
        </p:nvSpPr>
        <p:spPr>
          <a:xfrm>
            <a:off x="296280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18" name="Shape 22"/>
          <p:cNvSpPr/>
          <p:nvPr/>
        </p:nvSpPr>
        <p:spPr>
          <a:xfrm>
            <a:off x="342900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19" name="Shape 23"/>
          <p:cNvSpPr/>
          <p:nvPr/>
        </p:nvSpPr>
        <p:spPr>
          <a:xfrm>
            <a:off x="389520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0" name="Shape 24"/>
          <p:cNvSpPr/>
          <p:nvPr/>
        </p:nvSpPr>
        <p:spPr>
          <a:xfrm>
            <a:off x="436176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1" name="Shape 25"/>
          <p:cNvSpPr/>
          <p:nvPr/>
        </p:nvSpPr>
        <p:spPr>
          <a:xfrm>
            <a:off x="482796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2" name="Shape 26"/>
          <p:cNvSpPr/>
          <p:nvPr/>
        </p:nvSpPr>
        <p:spPr>
          <a:xfrm>
            <a:off x="529452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3" name="Shape 27"/>
          <p:cNvSpPr/>
          <p:nvPr/>
        </p:nvSpPr>
        <p:spPr>
          <a:xfrm>
            <a:off x="576072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4" name="Shape 28"/>
          <p:cNvSpPr/>
          <p:nvPr/>
        </p:nvSpPr>
        <p:spPr>
          <a:xfrm>
            <a:off x="622692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5" name="Shape 29"/>
          <p:cNvSpPr/>
          <p:nvPr/>
        </p:nvSpPr>
        <p:spPr>
          <a:xfrm>
            <a:off x="669348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6" name="Shape 30"/>
          <p:cNvSpPr/>
          <p:nvPr/>
        </p:nvSpPr>
        <p:spPr>
          <a:xfrm>
            <a:off x="715968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7" name="Shape 31"/>
          <p:cNvSpPr/>
          <p:nvPr/>
        </p:nvSpPr>
        <p:spPr>
          <a:xfrm>
            <a:off x="762624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8" name="Shape 32"/>
          <p:cNvSpPr/>
          <p:nvPr/>
        </p:nvSpPr>
        <p:spPr>
          <a:xfrm>
            <a:off x="809244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29" name="Shape 33"/>
          <p:cNvSpPr/>
          <p:nvPr/>
        </p:nvSpPr>
        <p:spPr>
          <a:xfrm>
            <a:off x="855864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30" name="Shape 34"/>
          <p:cNvSpPr/>
          <p:nvPr/>
        </p:nvSpPr>
        <p:spPr>
          <a:xfrm>
            <a:off x="902520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31" name="Shape 35"/>
          <p:cNvSpPr/>
          <p:nvPr/>
        </p:nvSpPr>
        <p:spPr>
          <a:xfrm>
            <a:off x="949140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32" name="Shape 36"/>
          <p:cNvSpPr/>
          <p:nvPr/>
        </p:nvSpPr>
        <p:spPr>
          <a:xfrm>
            <a:off x="9957960" y="2706480"/>
            <a:ext cx="50040" cy="50040"/>
          </a:xfrm>
          <a:prstGeom prst="ellipse">
            <a:avLst/>
          </a:prstGeom>
          <a:solidFill>
            <a:srgbClr val="5F8E13"/>
          </a:solidFill>
          <a:ln w="12700">
            <a:solidFill>
              <a:srgbClr val="5F8E13"/>
            </a:solidFill>
            <a:round/>
          </a:ln>
        </p:spPr>
        <p:style>
          <a:lnRef idx="0">
            <a:scrgbClr r="0" g="0" b="0"/>
          </a:lnRef>
          <a:fillRef idx="0">
            <a:scrgbClr r="0" g="0" b="0"/>
          </a:fillRef>
          <a:effectRef idx="0">
            <a:scrgbClr r="0" g="0" b="0"/>
          </a:effectRef>
          <a:fontRef idx="minor"/>
        </p:style>
        <p:txBody>
          <a:bodyPr lIns="90000" tIns="-9360" rIns="90000" bIns="-9360" anchor="t">
            <a:noAutofit/>
          </a:bodyPr>
          <a:lstStyle/>
          <a:p>
            <a:endParaRPr lang="it-IT" sz="1800" b="0" u="none" strike="noStrike">
              <a:solidFill>
                <a:srgbClr val="FFFFFF"/>
              </a:solidFill>
              <a:effectLst/>
              <a:uFillTx/>
              <a:latin typeface="Arial"/>
            </a:endParaRPr>
          </a:p>
        </p:txBody>
      </p:sp>
      <p:sp>
        <p:nvSpPr>
          <p:cNvPr id="833" name="Shape 37"/>
          <p:cNvSpPr/>
          <p:nvPr/>
        </p:nvSpPr>
        <p:spPr>
          <a:xfrm>
            <a:off x="1828800" y="3291840"/>
            <a:ext cx="1919880" cy="411120"/>
          </a:xfrm>
          <a:prstGeom prst="roundRect">
            <a:avLst>
              <a:gd name="adj" fmla="val 13333"/>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34" name="Text 38"/>
          <p:cNvSpPr/>
          <p:nvPr/>
        </p:nvSpPr>
        <p:spPr>
          <a:xfrm>
            <a:off x="1874520" y="3319200"/>
            <a:ext cx="182844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early anomaly patch</a:t>
            </a:r>
            <a:endParaRPr lang="it-IT" sz="900" b="0" u="none" strike="noStrike">
              <a:solidFill>
                <a:srgbClr val="000000"/>
              </a:solidFill>
              <a:effectLst/>
              <a:uFillTx/>
              <a:latin typeface="Arial"/>
            </a:endParaRPr>
          </a:p>
        </p:txBody>
      </p:sp>
      <p:sp>
        <p:nvSpPr>
          <p:cNvPr id="835" name="Shape 39"/>
          <p:cNvSpPr/>
          <p:nvPr/>
        </p:nvSpPr>
        <p:spPr>
          <a:xfrm>
            <a:off x="7955280" y="3291840"/>
            <a:ext cx="2102760" cy="411120"/>
          </a:xfrm>
          <a:prstGeom prst="roundRect">
            <a:avLst>
              <a:gd name="adj" fmla="val 13333"/>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36" name="Text 40"/>
          <p:cNvSpPr/>
          <p:nvPr/>
        </p:nvSpPr>
        <p:spPr>
          <a:xfrm>
            <a:off x="8001000" y="3319200"/>
            <a:ext cx="201132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temperature-rise patch</a:t>
            </a:r>
            <a:endParaRPr lang="it-IT" sz="900" b="0" u="none" strike="noStrike">
              <a:solidFill>
                <a:srgbClr val="000000"/>
              </a:solidFill>
              <a:effectLst/>
              <a:uFillTx/>
              <a:latin typeface="Arial"/>
            </a:endParaRPr>
          </a:p>
        </p:txBody>
      </p:sp>
      <p:sp>
        <p:nvSpPr>
          <p:cNvPr id="837" name="Shape 41"/>
          <p:cNvSpPr/>
          <p:nvPr/>
        </p:nvSpPr>
        <p:spPr>
          <a:xfrm>
            <a:off x="3749040" y="3520440"/>
            <a:ext cx="4206240" cy="360"/>
          </a:xfrm>
          <a:prstGeom prst="line">
            <a:avLst/>
          </a:prstGeom>
          <a:ln w="12700">
            <a:solidFill>
              <a:srgbClr val="8B5CF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838" name="Text 42"/>
          <p:cNvSpPr/>
          <p:nvPr/>
        </p:nvSpPr>
        <p:spPr>
          <a:xfrm>
            <a:off x="4206240" y="3749040"/>
            <a:ext cx="347436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8B5CF6"/>
                </a:solidFill>
                <a:effectLst/>
                <a:uFillTx/>
                <a:latin typeface="Aptos"/>
                <a:ea typeface="Aptos"/>
              </a:rPr>
              <a:t>attention can relate distant patch representations</a:t>
            </a:r>
            <a:endParaRPr lang="it-IT" sz="900" b="0" u="none" strike="noStrike">
              <a:solidFill>
                <a:srgbClr val="000000"/>
              </a:solidFill>
              <a:effectLst/>
              <a:uFillTx/>
              <a:latin typeface="Arial"/>
            </a:endParaRPr>
          </a:p>
        </p:txBody>
      </p:sp>
      <p:sp>
        <p:nvSpPr>
          <p:cNvPr id="839" name="Shape 43"/>
          <p:cNvSpPr/>
          <p:nvPr/>
        </p:nvSpPr>
        <p:spPr>
          <a:xfrm>
            <a:off x="1280160" y="4892040"/>
            <a:ext cx="2011320" cy="411120"/>
          </a:xfrm>
          <a:prstGeom prst="roundRect">
            <a:avLst>
              <a:gd name="adj" fmla="val 13333"/>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40" name="Text 44"/>
          <p:cNvSpPr/>
          <p:nvPr/>
        </p:nvSpPr>
        <p:spPr>
          <a:xfrm>
            <a:off x="1325880" y="4919400"/>
            <a:ext cx="191988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Raw context: long</a:t>
            </a:r>
            <a:endParaRPr lang="it-IT" sz="1100" b="0" u="none" strike="noStrike">
              <a:solidFill>
                <a:srgbClr val="000000"/>
              </a:solidFill>
              <a:effectLst/>
              <a:uFillTx/>
              <a:latin typeface="Arial"/>
            </a:endParaRPr>
          </a:p>
        </p:txBody>
      </p:sp>
      <p:sp>
        <p:nvSpPr>
          <p:cNvPr id="841" name="Shape 45"/>
          <p:cNvSpPr/>
          <p:nvPr/>
        </p:nvSpPr>
        <p:spPr>
          <a:xfrm>
            <a:off x="8229600" y="4892040"/>
            <a:ext cx="2194200" cy="411120"/>
          </a:xfrm>
          <a:prstGeom prst="roundRect">
            <a:avLst>
              <a:gd name="adj" fmla="val 13333"/>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842" name="Text 46"/>
          <p:cNvSpPr/>
          <p:nvPr/>
        </p:nvSpPr>
        <p:spPr>
          <a:xfrm>
            <a:off x="8275320" y="4919400"/>
            <a:ext cx="2102760" cy="356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u="none" strike="noStrike">
                <a:solidFill>
                  <a:srgbClr val="111827"/>
                </a:solidFill>
                <a:effectLst/>
                <a:uFillTx/>
                <a:latin typeface="Aptos"/>
                <a:ea typeface="Aptos"/>
              </a:rPr>
              <a:t>Token sequence: short</a:t>
            </a:r>
            <a:endParaRPr lang="it-IT" sz="1100" b="0" u="none" strike="noStrike">
              <a:solidFill>
                <a:srgbClr val="000000"/>
              </a:solidFill>
              <a:effectLst/>
              <a:uFillTx/>
              <a:latin typeface="Arial"/>
            </a:endParaRPr>
          </a:p>
        </p:txBody>
      </p:sp>
      <p:sp>
        <p:nvSpPr>
          <p:cNvPr id="843" name="Shape 47"/>
          <p:cNvSpPr/>
          <p:nvPr/>
        </p:nvSpPr>
        <p:spPr>
          <a:xfrm>
            <a:off x="3566160" y="5102280"/>
            <a:ext cx="443484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51D0B4C-F61F-CCFE-5514-D80169754E51}"/>
              </a:ext>
            </a:extLst>
          </p:cNvPr>
          <p:cNvSpPr>
            <a:spLocks noGrp="1"/>
          </p:cNvSpPr>
          <p:nvPr>
            <p:ph type="title"/>
          </p:nvPr>
        </p:nvSpPr>
        <p:spPr/>
        <p:txBody>
          <a:bodyPr/>
          <a:lstStyle/>
          <a:p>
            <a:r>
              <a:rPr lang="en-GB" dirty="0"/>
              <a:t>Patching introduces another representation trade-off</a:t>
            </a:r>
          </a:p>
        </p:txBody>
      </p:sp>
      <p:sp>
        <p:nvSpPr>
          <p:cNvPr id="3" name="Segnaposto contenuto 2">
            <a:extLst>
              <a:ext uri="{FF2B5EF4-FFF2-40B4-BE49-F238E27FC236}">
                <a16:creationId xmlns:a16="http://schemas.microsoft.com/office/drawing/2014/main" id="{6087E0DD-EBB9-704C-9A90-74C60F65DF6E}"/>
              </a:ext>
            </a:extLst>
          </p:cNvPr>
          <p:cNvSpPr>
            <a:spLocks noGrp="1"/>
          </p:cNvSpPr>
          <p:nvPr>
            <p:ph sz="half" idx="1"/>
          </p:nvPr>
        </p:nvSpPr>
        <p:spPr>
          <a:xfrm>
            <a:off x="677334" y="2160589"/>
            <a:ext cx="4993892" cy="4541768"/>
          </a:xfrm>
        </p:spPr>
        <p:txBody>
          <a:bodyPr>
            <a:normAutofit fontScale="92500" lnSpcReduction="20000"/>
          </a:bodyPr>
          <a:lstStyle/>
          <a:p>
            <a:r>
              <a:rPr lang="en-GB" b="1" dirty="0"/>
              <a:t>Individual observations as tokens</a:t>
            </a:r>
          </a:p>
          <a:p>
            <a:r>
              <a:rPr lang="en-GB" dirty="0"/>
              <a:t>Advantages: maximum temporal resolution. </a:t>
            </a:r>
          </a:p>
          <a:p>
            <a:r>
              <a:rPr lang="en-GB" dirty="0"/>
              <a:t>Limitations: very long attention sequence. </a:t>
            </a:r>
          </a:p>
          <a:p>
            <a:endParaRPr lang="en-GB" b="1" dirty="0"/>
          </a:p>
          <a:p>
            <a:r>
              <a:rPr lang="en-GB" b="1" dirty="0"/>
              <a:t>Large patches</a:t>
            </a:r>
          </a:p>
          <a:p>
            <a:r>
              <a:rPr lang="en-GB" dirty="0"/>
              <a:t>Advantages: strong reduction in sequence length. </a:t>
            </a:r>
          </a:p>
          <a:p>
            <a:r>
              <a:rPr lang="en-GB" dirty="0"/>
              <a:t>Limitations: coarse temporal representation.</a:t>
            </a:r>
          </a:p>
          <a:p>
            <a:endParaRPr lang="en-GB" b="1" dirty="0"/>
          </a:p>
          <a:p>
            <a:r>
              <a:rPr lang="en-GB" b="1" dirty="0"/>
              <a:t>Intermediate patches</a:t>
            </a:r>
          </a:p>
          <a:p>
            <a:r>
              <a:rPr lang="en-GB" dirty="0"/>
              <a:t>Attempt to balance:</a:t>
            </a:r>
          </a:p>
          <a:p>
            <a:pPr lvl="1"/>
            <a:r>
              <a:rPr lang="en-GB" dirty="0"/>
              <a:t>local detail; </a:t>
            </a:r>
          </a:p>
          <a:p>
            <a:pPr lvl="1"/>
            <a:r>
              <a:rPr lang="en-GB" dirty="0"/>
              <a:t>global context; </a:t>
            </a:r>
          </a:p>
          <a:p>
            <a:pPr lvl="1"/>
            <a:r>
              <a:rPr lang="en-GB" dirty="0"/>
              <a:t>computational cost.  </a:t>
            </a:r>
          </a:p>
          <a:p>
            <a:endParaRPr lang="en-GB" dirty="0"/>
          </a:p>
        </p:txBody>
      </p:sp>
      <p:sp>
        <p:nvSpPr>
          <p:cNvPr id="4" name="Segnaposto contenuto 3">
            <a:extLst>
              <a:ext uri="{FF2B5EF4-FFF2-40B4-BE49-F238E27FC236}">
                <a16:creationId xmlns:a16="http://schemas.microsoft.com/office/drawing/2014/main" id="{CB33F1B9-2E97-64E7-8365-E607A9A42019}"/>
              </a:ext>
            </a:extLst>
          </p:cNvPr>
          <p:cNvSpPr>
            <a:spLocks noGrp="1"/>
          </p:cNvSpPr>
          <p:nvPr>
            <p:ph sz="half" idx="2"/>
          </p:nvPr>
        </p:nvSpPr>
        <p:spPr>
          <a:xfrm>
            <a:off x="5858454" y="2092495"/>
            <a:ext cx="6096839" cy="4444492"/>
          </a:xfrm>
        </p:spPr>
        <p:txBody>
          <a:bodyPr>
            <a:normAutofit fontScale="92500" lnSpcReduction="20000"/>
          </a:bodyPr>
          <a:lstStyle/>
          <a:p>
            <a:r>
              <a:rPr lang="en-GB" b="1" dirty="0"/>
              <a:t>Therefore patch size should be validated</a:t>
            </a:r>
          </a:p>
          <a:p>
            <a:r>
              <a:rPr lang="en-GB" dirty="0"/>
              <a:t>Just like:</a:t>
            </a:r>
          </a:p>
          <a:p>
            <a:pPr lvl="1"/>
            <a:r>
              <a:rPr lang="en-GB" dirty="0"/>
              <a:t>input-window length; </a:t>
            </a:r>
          </a:p>
          <a:p>
            <a:pPr lvl="1"/>
            <a:r>
              <a:rPr lang="en-GB" dirty="0"/>
              <a:t>convolution kernel size; </a:t>
            </a:r>
          </a:p>
          <a:p>
            <a:pPr lvl="1"/>
            <a:r>
              <a:rPr lang="en-GB" dirty="0"/>
              <a:t>receptive field; </a:t>
            </a:r>
          </a:p>
          <a:p>
            <a:pPr lvl="1"/>
            <a:r>
              <a:rPr lang="en-GB" dirty="0"/>
              <a:t>hidden-state dimension. </a:t>
            </a:r>
          </a:p>
          <a:p>
            <a:endParaRPr lang="en-GB" b="1" dirty="0"/>
          </a:p>
          <a:p>
            <a:r>
              <a:rPr lang="en-GB" b="1" dirty="0"/>
              <a:t>Engineering question</a:t>
            </a:r>
          </a:p>
          <a:p>
            <a:r>
              <a:rPr lang="en-GB" dirty="0"/>
              <a:t>What is the smallest temporal detail that must be distinguishable, and how much overall history must the model cover?</a:t>
            </a:r>
          </a:p>
          <a:p>
            <a:endParaRPr lang="en-GB" dirty="0"/>
          </a:p>
        </p:txBody>
      </p:sp>
    </p:spTree>
    <p:extLst>
      <p:ext uri="{BB962C8B-B14F-4D97-AF65-F5344CB8AC3E}">
        <p14:creationId xmlns:p14="http://schemas.microsoft.com/office/powerpoint/2010/main" val="145626411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1A9B232-DCA6-E13A-10FF-E95597BBAF4E}"/>
              </a:ext>
            </a:extLst>
          </p:cNvPr>
          <p:cNvSpPr>
            <a:spLocks noGrp="1"/>
          </p:cNvSpPr>
          <p:nvPr>
            <p:ph type="title"/>
          </p:nvPr>
        </p:nvSpPr>
        <p:spPr/>
        <p:txBody>
          <a:bodyPr/>
          <a:lstStyle/>
          <a:p>
            <a:r>
              <a:rPr lang="en-GB" dirty="0"/>
              <a:t>Patching prepares time series for Transformer processing</a:t>
            </a:r>
          </a:p>
        </p:txBody>
      </p:sp>
      <p:sp>
        <p:nvSpPr>
          <p:cNvPr id="3" name="Segnaposto contenuto 2">
            <a:extLst>
              <a:ext uri="{FF2B5EF4-FFF2-40B4-BE49-F238E27FC236}">
                <a16:creationId xmlns:a16="http://schemas.microsoft.com/office/drawing/2014/main" id="{9C8D669D-3267-A415-F763-FB7561E7F087}"/>
              </a:ext>
            </a:extLst>
          </p:cNvPr>
          <p:cNvSpPr>
            <a:spLocks noGrp="1"/>
          </p:cNvSpPr>
          <p:nvPr>
            <p:ph sz="half" idx="1"/>
          </p:nvPr>
        </p:nvSpPr>
        <p:spPr>
          <a:xfrm>
            <a:off x="677334" y="2160588"/>
            <a:ext cx="5606734" cy="4445541"/>
          </a:xfrm>
        </p:spPr>
        <p:txBody>
          <a:bodyPr>
            <a:normAutofit fontScale="85000" lnSpcReduction="20000"/>
          </a:bodyPr>
          <a:lstStyle/>
          <a:p>
            <a:r>
              <a:rPr lang="en-GB" dirty="0"/>
              <a:t>The complete pipeline becomes:</a:t>
            </a:r>
          </a:p>
          <a:p>
            <a:r>
              <a:rPr lang="en-GB" dirty="0"/>
              <a:t>raw temporal window</a:t>
            </a:r>
          </a:p>
          <a:p>
            <a:r>
              <a:rPr lang="en-GB" dirty="0"/>
              <a:t>        ↓</a:t>
            </a:r>
          </a:p>
          <a:p>
            <a:r>
              <a:rPr lang="en-GB" dirty="0"/>
              <a:t>divide into patches</a:t>
            </a:r>
          </a:p>
          <a:p>
            <a:r>
              <a:rPr lang="en-GB" dirty="0"/>
              <a:t>        ↓</a:t>
            </a:r>
          </a:p>
          <a:p>
            <a:r>
              <a:rPr lang="en-GB" dirty="0"/>
              <a:t>embed each patch</a:t>
            </a:r>
          </a:p>
          <a:p>
            <a:r>
              <a:rPr lang="en-GB" dirty="0"/>
              <a:t>        ↓</a:t>
            </a:r>
          </a:p>
          <a:p>
            <a:r>
              <a:rPr lang="en-GB" dirty="0"/>
              <a:t>add positional information</a:t>
            </a:r>
          </a:p>
          <a:p>
            <a:r>
              <a:rPr lang="en-GB" dirty="0"/>
              <a:t>        ↓</a:t>
            </a:r>
          </a:p>
          <a:p>
            <a:r>
              <a:rPr lang="en-GB" dirty="0"/>
              <a:t>Transformer blocks</a:t>
            </a:r>
          </a:p>
          <a:p>
            <a:r>
              <a:rPr lang="en-GB" dirty="0"/>
              <a:t>        ↓</a:t>
            </a:r>
          </a:p>
          <a:p>
            <a:r>
              <a:rPr lang="en-GB" dirty="0"/>
              <a:t>temporal representation</a:t>
            </a:r>
          </a:p>
          <a:p>
            <a:r>
              <a:rPr lang="en-GB" dirty="0"/>
              <a:t>        ↓</a:t>
            </a:r>
          </a:p>
          <a:p>
            <a:r>
              <a:rPr lang="en-GB" dirty="0"/>
              <a:t>forecast / classification / regression</a:t>
            </a:r>
          </a:p>
          <a:p>
            <a:endParaRPr lang="en-GB" dirty="0"/>
          </a:p>
        </p:txBody>
      </p:sp>
      <p:sp>
        <p:nvSpPr>
          <p:cNvPr id="4" name="Segnaposto contenuto 3">
            <a:extLst>
              <a:ext uri="{FF2B5EF4-FFF2-40B4-BE49-F238E27FC236}">
                <a16:creationId xmlns:a16="http://schemas.microsoft.com/office/drawing/2014/main" id="{449A5228-C2C1-EDF6-1E9A-D3E9D77F5E07}"/>
              </a:ext>
            </a:extLst>
          </p:cNvPr>
          <p:cNvSpPr>
            <a:spLocks noGrp="1"/>
          </p:cNvSpPr>
          <p:nvPr>
            <p:ph sz="half" idx="2"/>
          </p:nvPr>
        </p:nvSpPr>
        <p:spPr>
          <a:xfrm>
            <a:off x="6451841" y="2151908"/>
            <a:ext cx="4773877" cy="4425037"/>
          </a:xfrm>
        </p:spPr>
        <p:txBody>
          <a:bodyPr>
            <a:normAutofit fontScale="85000" lnSpcReduction="20000"/>
          </a:bodyPr>
          <a:lstStyle/>
          <a:p>
            <a:r>
              <a:rPr lang="en-GB" b="1" dirty="0"/>
              <a:t>What patching contributes</a:t>
            </a:r>
          </a:p>
          <a:p>
            <a:pPr lvl="1"/>
            <a:r>
              <a:rPr lang="en-GB" b="1" dirty="0"/>
              <a:t>local temporal grouping; </a:t>
            </a:r>
          </a:p>
          <a:p>
            <a:pPr lvl="1"/>
            <a:r>
              <a:rPr lang="en-GB" dirty="0"/>
              <a:t>shorter token sequence; </a:t>
            </a:r>
          </a:p>
          <a:p>
            <a:pPr lvl="1"/>
            <a:r>
              <a:rPr lang="en-GB" dirty="0"/>
              <a:t>reduced attention cost. </a:t>
            </a:r>
          </a:p>
          <a:p>
            <a:endParaRPr lang="en-GB" b="1" dirty="0"/>
          </a:p>
          <a:p>
            <a:r>
              <a:rPr lang="en-GB" b="1" dirty="0"/>
              <a:t>What attention contributes</a:t>
            </a:r>
          </a:p>
          <a:p>
            <a:pPr lvl="1"/>
            <a:r>
              <a:rPr lang="en-GB" dirty="0"/>
              <a:t>flexible interaction among patches; </a:t>
            </a:r>
          </a:p>
          <a:p>
            <a:pPr lvl="1"/>
            <a:r>
              <a:rPr lang="en-GB" dirty="0"/>
              <a:t>direct long-range relationships. </a:t>
            </a:r>
          </a:p>
          <a:p>
            <a:endParaRPr lang="en-GB" b="1" dirty="0"/>
          </a:p>
          <a:p>
            <a:r>
              <a:rPr lang="en-GB" b="1" dirty="0"/>
              <a:t>What positional information contributes</a:t>
            </a:r>
          </a:p>
          <a:p>
            <a:pPr lvl="1"/>
            <a:r>
              <a:rPr lang="en-GB" dirty="0"/>
              <a:t>ordering and temporal location of patches. </a:t>
            </a:r>
          </a:p>
          <a:p>
            <a:endParaRPr lang="en-GB" dirty="0"/>
          </a:p>
        </p:txBody>
      </p:sp>
    </p:spTree>
    <p:extLst>
      <p:ext uri="{BB962C8B-B14F-4D97-AF65-F5344CB8AC3E}">
        <p14:creationId xmlns:p14="http://schemas.microsoft.com/office/powerpoint/2010/main" val="398517553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Shape 0"/>
          <p:cNvSpPr/>
          <p:nvPr/>
        </p:nvSpPr>
        <p:spPr>
          <a:xfrm>
            <a:off x="11750040" y="0"/>
            <a:ext cx="255600" cy="6857640"/>
          </a:xfrm>
          <a:prstGeom prst="rect">
            <a:avLst/>
          </a:prstGeom>
          <a:solidFill>
            <a:srgbClr val="86B817"/>
          </a:solidFill>
          <a:ln w="12700">
            <a:solidFill>
              <a:srgbClr val="86B81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66" name="Text 1"/>
          <p:cNvSpPr/>
          <p:nvPr/>
        </p:nvSpPr>
        <p:spPr>
          <a:xfrm>
            <a:off x="411480" y="201240"/>
            <a:ext cx="105152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111827"/>
                </a:solidFill>
                <a:effectLst/>
                <a:uFillTx/>
                <a:latin typeface="Aptos Display"/>
                <a:ea typeface="Aptos Display"/>
              </a:rPr>
              <a:t>Patch Transformer pipeline</a:t>
            </a:r>
            <a:endParaRPr lang="it-IT" sz="2100" b="0" u="none" strike="noStrike">
              <a:solidFill>
                <a:srgbClr val="000000"/>
              </a:solidFill>
              <a:effectLst/>
              <a:uFillTx/>
              <a:latin typeface="Arial"/>
            </a:endParaRPr>
          </a:p>
        </p:txBody>
      </p:sp>
      <p:sp>
        <p:nvSpPr>
          <p:cNvPr id="767" name="Text 2"/>
          <p:cNvSpPr/>
          <p:nvPr/>
        </p:nvSpPr>
        <p:spPr>
          <a:xfrm>
            <a:off x="429840" y="658440"/>
            <a:ext cx="10332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667085"/>
                </a:solidFill>
                <a:effectLst/>
                <a:uFillTx/>
                <a:latin typeface="Aptos"/>
                <a:ea typeface="Aptos"/>
              </a:rPr>
              <a:t>Patching, positional information and self-attention contribute different functions.</a:t>
            </a:r>
            <a:endParaRPr lang="it-IT" sz="1000" b="0" u="none" strike="noStrike" dirty="0">
              <a:solidFill>
                <a:srgbClr val="000000"/>
              </a:solidFill>
              <a:effectLst/>
              <a:uFillTx/>
              <a:latin typeface="Arial"/>
            </a:endParaRPr>
          </a:p>
        </p:txBody>
      </p:sp>
      <p:sp>
        <p:nvSpPr>
          <p:cNvPr id="768" name="Shape 3"/>
          <p:cNvSpPr/>
          <p:nvPr/>
        </p:nvSpPr>
        <p:spPr>
          <a:xfrm>
            <a:off x="411480" y="6446520"/>
            <a:ext cx="10835280" cy="21924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69" name="Text 4"/>
          <p:cNvSpPr/>
          <p:nvPr/>
        </p:nvSpPr>
        <p:spPr>
          <a:xfrm>
            <a:off x="502920" y="6483240"/>
            <a:ext cx="1065240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dirty="0">
                <a:solidFill>
                  <a:srgbClr val="667085"/>
                </a:solidFill>
                <a:effectLst/>
                <a:uFillTx/>
                <a:latin typeface="Aptos"/>
                <a:ea typeface="Aptos"/>
              </a:rPr>
              <a:t>Patching reduces length; positional information preserves order; attention connects patches.</a:t>
            </a:r>
            <a:endParaRPr lang="it-IT" sz="900" b="0" u="none" strike="noStrike" dirty="0">
              <a:solidFill>
                <a:srgbClr val="000000"/>
              </a:solidFill>
              <a:effectLst/>
              <a:uFillTx/>
              <a:latin typeface="Arial"/>
            </a:endParaRPr>
          </a:p>
        </p:txBody>
      </p:sp>
      <p:sp>
        <p:nvSpPr>
          <p:cNvPr id="770" name="Shape 5"/>
          <p:cNvSpPr/>
          <p:nvPr/>
        </p:nvSpPr>
        <p:spPr>
          <a:xfrm>
            <a:off x="731520" y="2468880"/>
            <a:ext cx="1142640" cy="731160"/>
          </a:xfrm>
          <a:prstGeom prst="roundRect">
            <a:avLst>
              <a:gd name="adj" fmla="val 7500"/>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71" name="Text 6"/>
          <p:cNvSpPr/>
          <p:nvPr/>
        </p:nvSpPr>
        <p:spPr>
          <a:xfrm>
            <a:off x="77724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raw</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window</a:t>
            </a:r>
            <a:endParaRPr lang="it-IT" sz="900" b="0" u="none" strike="noStrike">
              <a:solidFill>
                <a:srgbClr val="000000"/>
              </a:solidFill>
              <a:effectLst/>
              <a:uFillTx/>
              <a:latin typeface="Arial"/>
            </a:endParaRPr>
          </a:p>
        </p:txBody>
      </p:sp>
      <p:sp>
        <p:nvSpPr>
          <p:cNvPr id="772" name="Shape 7"/>
          <p:cNvSpPr/>
          <p:nvPr/>
        </p:nvSpPr>
        <p:spPr>
          <a:xfrm>
            <a:off x="1874520" y="2834640"/>
            <a:ext cx="41148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73" name="Shape 8"/>
          <p:cNvSpPr/>
          <p:nvPr/>
        </p:nvSpPr>
        <p:spPr>
          <a:xfrm>
            <a:off x="2331720" y="2468880"/>
            <a:ext cx="1142640" cy="731160"/>
          </a:xfrm>
          <a:prstGeom prst="roundRect">
            <a:avLst>
              <a:gd name="adj" fmla="val 750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74" name="Text 9"/>
          <p:cNvSpPr/>
          <p:nvPr/>
        </p:nvSpPr>
        <p:spPr>
          <a:xfrm>
            <a:off x="237744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divide into</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patches</a:t>
            </a:r>
            <a:endParaRPr lang="it-IT" sz="900" b="0" u="none" strike="noStrike">
              <a:solidFill>
                <a:srgbClr val="000000"/>
              </a:solidFill>
              <a:effectLst/>
              <a:uFillTx/>
              <a:latin typeface="Arial"/>
            </a:endParaRPr>
          </a:p>
        </p:txBody>
      </p:sp>
      <p:sp>
        <p:nvSpPr>
          <p:cNvPr id="775" name="Shape 10"/>
          <p:cNvSpPr/>
          <p:nvPr/>
        </p:nvSpPr>
        <p:spPr>
          <a:xfrm>
            <a:off x="3474720" y="2834640"/>
            <a:ext cx="45720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76" name="Shape 11"/>
          <p:cNvSpPr/>
          <p:nvPr/>
        </p:nvSpPr>
        <p:spPr>
          <a:xfrm>
            <a:off x="3977640" y="2468880"/>
            <a:ext cx="1142640" cy="731160"/>
          </a:xfrm>
          <a:prstGeom prst="roundRect">
            <a:avLst>
              <a:gd name="adj" fmla="val 7500"/>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77" name="Text 12"/>
          <p:cNvSpPr/>
          <p:nvPr/>
        </p:nvSpPr>
        <p:spPr>
          <a:xfrm>
            <a:off x="402336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patch</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embedding</a:t>
            </a:r>
            <a:endParaRPr lang="it-IT" sz="900" b="0" u="none" strike="noStrike">
              <a:solidFill>
                <a:srgbClr val="000000"/>
              </a:solidFill>
              <a:effectLst/>
              <a:uFillTx/>
              <a:latin typeface="Arial"/>
            </a:endParaRPr>
          </a:p>
        </p:txBody>
      </p:sp>
      <p:sp>
        <p:nvSpPr>
          <p:cNvPr id="778" name="Shape 13"/>
          <p:cNvSpPr/>
          <p:nvPr/>
        </p:nvSpPr>
        <p:spPr>
          <a:xfrm>
            <a:off x="5120640" y="2834640"/>
            <a:ext cx="50292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79" name="Shape 14"/>
          <p:cNvSpPr/>
          <p:nvPr/>
        </p:nvSpPr>
        <p:spPr>
          <a:xfrm>
            <a:off x="5669280" y="2468880"/>
            <a:ext cx="1142640" cy="731160"/>
          </a:xfrm>
          <a:prstGeom prst="roundRect">
            <a:avLst>
              <a:gd name="adj" fmla="val 7500"/>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80" name="Text 15"/>
          <p:cNvSpPr/>
          <p:nvPr/>
        </p:nvSpPr>
        <p:spPr>
          <a:xfrm>
            <a:off x="571500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add positional</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information</a:t>
            </a:r>
            <a:endParaRPr lang="it-IT" sz="900" b="0" u="none" strike="noStrike">
              <a:solidFill>
                <a:srgbClr val="000000"/>
              </a:solidFill>
              <a:effectLst/>
              <a:uFillTx/>
              <a:latin typeface="Arial"/>
            </a:endParaRPr>
          </a:p>
        </p:txBody>
      </p:sp>
      <p:sp>
        <p:nvSpPr>
          <p:cNvPr id="781" name="Shape 16"/>
          <p:cNvSpPr/>
          <p:nvPr/>
        </p:nvSpPr>
        <p:spPr>
          <a:xfrm>
            <a:off x="6812280" y="2834640"/>
            <a:ext cx="50292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82" name="Shape 17"/>
          <p:cNvSpPr/>
          <p:nvPr/>
        </p:nvSpPr>
        <p:spPr>
          <a:xfrm>
            <a:off x="7360920" y="2468880"/>
            <a:ext cx="1142640" cy="731160"/>
          </a:xfrm>
          <a:prstGeom prst="roundRect">
            <a:avLst>
              <a:gd name="adj" fmla="val 7500"/>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83" name="Text 18"/>
          <p:cNvSpPr/>
          <p:nvPr/>
        </p:nvSpPr>
        <p:spPr>
          <a:xfrm>
            <a:off x="740664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Transformer</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blocks</a:t>
            </a:r>
            <a:endParaRPr lang="it-IT" sz="900" b="0" u="none" strike="noStrike">
              <a:solidFill>
                <a:srgbClr val="000000"/>
              </a:solidFill>
              <a:effectLst/>
              <a:uFillTx/>
              <a:latin typeface="Arial"/>
            </a:endParaRPr>
          </a:p>
        </p:txBody>
      </p:sp>
      <p:sp>
        <p:nvSpPr>
          <p:cNvPr id="784" name="Shape 19"/>
          <p:cNvSpPr/>
          <p:nvPr/>
        </p:nvSpPr>
        <p:spPr>
          <a:xfrm>
            <a:off x="8503920" y="2834640"/>
            <a:ext cx="45720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85" name="Shape 20"/>
          <p:cNvSpPr/>
          <p:nvPr/>
        </p:nvSpPr>
        <p:spPr>
          <a:xfrm>
            <a:off x="9006840" y="2468880"/>
            <a:ext cx="1142640" cy="731160"/>
          </a:xfrm>
          <a:prstGeom prst="roundRect">
            <a:avLst>
              <a:gd name="adj" fmla="val 7500"/>
            </a:avLst>
          </a:prstGeom>
          <a:solidFill>
            <a:srgbClr val="D9EAFE"/>
          </a:solidFill>
          <a:ln w="12700">
            <a:solidFill>
              <a:srgbClr val="4D8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86" name="Text 21"/>
          <p:cNvSpPr/>
          <p:nvPr/>
        </p:nvSpPr>
        <p:spPr>
          <a:xfrm>
            <a:off x="905256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task</a:t>
            </a:r>
            <a:endParaRPr lang="it-IT"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11827"/>
                </a:solidFill>
                <a:effectLst/>
                <a:uFillTx/>
                <a:latin typeface="Aptos"/>
                <a:ea typeface="Aptos"/>
              </a:rPr>
              <a:t>head</a:t>
            </a:r>
            <a:endParaRPr lang="it-IT" sz="900" b="0" u="none" strike="noStrike">
              <a:solidFill>
                <a:srgbClr val="000000"/>
              </a:solidFill>
              <a:effectLst/>
              <a:uFillTx/>
              <a:latin typeface="Arial"/>
            </a:endParaRPr>
          </a:p>
        </p:txBody>
      </p:sp>
      <p:sp>
        <p:nvSpPr>
          <p:cNvPr id="787" name="Shape 22"/>
          <p:cNvSpPr/>
          <p:nvPr/>
        </p:nvSpPr>
        <p:spPr>
          <a:xfrm>
            <a:off x="10149840" y="2834640"/>
            <a:ext cx="274320" cy="360"/>
          </a:xfrm>
          <a:prstGeom prst="line">
            <a:avLst/>
          </a:prstGeom>
          <a:ln w="1270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it-IT" sz="1800" b="0" u="none" strike="noStrike">
              <a:solidFill>
                <a:srgbClr val="000000"/>
              </a:solidFill>
              <a:effectLst/>
              <a:uFillTx/>
              <a:latin typeface="Arial"/>
            </a:endParaRPr>
          </a:p>
        </p:txBody>
      </p:sp>
      <p:sp>
        <p:nvSpPr>
          <p:cNvPr id="788" name="Shape 23"/>
          <p:cNvSpPr/>
          <p:nvPr/>
        </p:nvSpPr>
        <p:spPr>
          <a:xfrm>
            <a:off x="10469880" y="2468880"/>
            <a:ext cx="1142640" cy="731160"/>
          </a:xfrm>
          <a:prstGeom prst="roundRect">
            <a:avLst>
              <a:gd name="adj" fmla="val 7500"/>
            </a:avLst>
          </a:prstGeom>
          <a:solidFill>
            <a:srgbClr val="FFE4E6"/>
          </a:solidFill>
          <a:ln w="12700">
            <a:solidFill>
              <a:srgbClr val="E11D4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89" name="Text 24"/>
          <p:cNvSpPr/>
          <p:nvPr/>
        </p:nvSpPr>
        <p:spPr>
          <a:xfrm>
            <a:off x="10515600" y="2496240"/>
            <a:ext cx="1051200" cy="676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1" u="none" strike="noStrike">
                <a:solidFill>
                  <a:srgbClr val="111827"/>
                </a:solidFill>
                <a:effectLst/>
                <a:uFillTx/>
                <a:latin typeface="Aptos"/>
                <a:ea typeface="Aptos"/>
              </a:rPr>
              <a:t>output</a:t>
            </a:r>
            <a:endParaRPr lang="it-IT" sz="900" b="0" u="none" strike="noStrike">
              <a:solidFill>
                <a:srgbClr val="000000"/>
              </a:solidFill>
              <a:effectLst/>
              <a:uFillTx/>
              <a:latin typeface="Arial"/>
            </a:endParaRPr>
          </a:p>
        </p:txBody>
      </p:sp>
      <p:sp>
        <p:nvSpPr>
          <p:cNvPr id="790" name="Shape 25"/>
          <p:cNvSpPr/>
          <p:nvPr/>
        </p:nvSpPr>
        <p:spPr>
          <a:xfrm>
            <a:off x="1645920" y="4389120"/>
            <a:ext cx="2377080" cy="594000"/>
          </a:xfrm>
          <a:prstGeom prst="roundRect">
            <a:avLst>
              <a:gd name="adj" fmla="val 9231"/>
            </a:avLst>
          </a:prstGeom>
          <a:solidFill>
            <a:srgbClr val="FFF1CC"/>
          </a:solidFill>
          <a:ln w="12700">
            <a:solidFill>
              <a:srgbClr val="F0A20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91" name="Text 26"/>
          <p:cNvSpPr/>
          <p:nvPr/>
        </p:nvSpPr>
        <p:spPr>
          <a:xfrm>
            <a:off x="1691640" y="4416480"/>
            <a:ext cx="228564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0" u="none" strike="noStrike" dirty="0">
                <a:solidFill>
                  <a:srgbClr val="111827"/>
                </a:solidFill>
                <a:effectLst/>
                <a:uFillTx/>
                <a:latin typeface="Aptos"/>
                <a:ea typeface="Aptos"/>
              </a:rPr>
              <a:t>local grouping</a:t>
            </a:r>
            <a:endParaRPr lang="it-IT" sz="900" b="0" u="none" strike="noStrike" dirty="0">
              <a:solidFill>
                <a:srgbClr val="000000"/>
              </a:solidFill>
              <a:effectLst/>
              <a:uFillTx/>
              <a:latin typeface="Arial"/>
            </a:endParaRPr>
          </a:p>
          <a:p>
            <a:pPr algn="ctr" defTabSz="914400">
              <a:lnSpc>
                <a:spcPct val="100000"/>
              </a:lnSpc>
              <a:tabLst>
                <a:tab pos="0" algn="l"/>
              </a:tabLst>
            </a:pPr>
            <a:r>
              <a:rPr lang="en-US" sz="900" b="0" u="none" strike="noStrike" dirty="0">
                <a:solidFill>
                  <a:srgbClr val="111827"/>
                </a:solidFill>
                <a:effectLst/>
                <a:uFillTx/>
                <a:latin typeface="Aptos"/>
                <a:ea typeface="Aptos"/>
              </a:rPr>
              <a:t>shorter token sequence</a:t>
            </a:r>
            <a:endParaRPr lang="it-IT" sz="900" b="0" u="none" strike="noStrike" dirty="0">
              <a:solidFill>
                <a:srgbClr val="000000"/>
              </a:solidFill>
              <a:effectLst/>
              <a:uFillTx/>
              <a:latin typeface="Arial"/>
            </a:endParaRPr>
          </a:p>
        </p:txBody>
      </p:sp>
      <p:sp>
        <p:nvSpPr>
          <p:cNvPr id="792" name="Shape 27"/>
          <p:cNvSpPr/>
          <p:nvPr/>
        </p:nvSpPr>
        <p:spPr>
          <a:xfrm>
            <a:off x="5212080" y="4389120"/>
            <a:ext cx="2194200" cy="594000"/>
          </a:xfrm>
          <a:prstGeom prst="roundRect">
            <a:avLst>
              <a:gd name="adj" fmla="val 9231"/>
            </a:avLst>
          </a:prstGeom>
          <a:solidFill>
            <a:srgbClr val="EAF6D0"/>
          </a:solidFill>
          <a:ln w="12700">
            <a:solidFill>
              <a:srgbClr val="5F8E1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93" name="Text 28"/>
          <p:cNvSpPr/>
          <p:nvPr/>
        </p:nvSpPr>
        <p:spPr>
          <a:xfrm>
            <a:off x="5257800" y="4416480"/>
            <a:ext cx="210276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0" u="none" strike="noStrike">
                <a:solidFill>
                  <a:srgbClr val="111827"/>
                </a:solidFill>
                <a:effectLst/>
                <a:uFillTx/>
                <a:latin typeface="Aptos"/>
                <a:ea typeface="Aptos"/>
              </a:rPr>
              <a:t>ordering and temporal location</a:t>
            </a:r>
            <a:endParaRPr lang="it-IT" sz="900" b="0" u="none" strike="noStrike">
              <a:solidFill>
                <a:srgbClr val="000000"/>
              </a:solidFill>
              <a:effectLst/>
              <a:uFillTx/>
              <a:latin typeface="Arial"/>
            </a:endParaRPr>
          </a:p>
        </p:txBody>
      </p:sp>
      <p:sp>
        <p:nvSpPr>
          <p:cNvPr id="794" name="Shape 29"/>
          <p:cNvSpPr/>
          <p:nvPr/>
        </p:nvSpPr>
        <p:spPr>
          <a:xfrm>
            <a:off x="8046720" y="4389120"/>
            <a:ext cx="2377080" cy="594000"/>
          </a:xfrm>
          <a:prstGeom prst="roundRect">
            <a:avLst>
              <a:gd name="adj" fmla="val 9231"/>
            </a:avLst>
          </a:prstGeom>
          <a:solidFill>
            <a:srgbClr val="EDE1FF"/>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it-IT" sz="1800" b="0" u="none" strike="noStrike">
              <a:solidFill>
                <a:srgbClr val="000000"/>
              </a:solidFill>
              <a:effectLst/>
              <a:uFillTx/>
              <a:latin typeface="Arial"/>
            </a:endParaRPr>
          </a:p>
        </p:txBody>
      </p:sp>
      <p:sp>
        <p:nvSpPr>
          <p:cNvPr id="795" name="Text 30"/>
          <p:cNvSpPr/>
          <p:nvPr/>
        </p:nvSpPr>
        <p:spPr>
          <a:xfrm>
            <a:off x="8092440" y="4416480"/>
            <a:ext cx="2285640" cy="539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900" b="0" u="none" strike="noStrike">
                <a:solidFill>
                  <a:srgbClr val="111827"/>
                </a:solidFill>
                <a:effectLst/>
                <a:uFillTx/>
                <a:latin typeface="Aptos"/>
                <a:ea typeface="Aptos"/>
              </a:rPr>
              <a:t>flexible long-range interactions</a:t>
            </a:r>
            <a:endParaRPr lang="it-IT" sz="900" b="0" u="none" strike="noStrike">
              <a:solidFill>
                <a:srgbClr val="000000"/>
              </a:solidFill>
              <a:effectLst/>
              <a:uFillTx/>
              <a:latin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6DD32E-4FB1-60CD-BF04-9492BEC0335D}"/>
              </a:ext>
            </a:extLst>
          </p:cNvPr>
          <p:cNvSpPr>
            <a:spLocks noGrp="1"/>
          </p:cNvSpPr>
          <p:nvPr>
            <p:ph type="title"/>
          </p:nvPr>
        </p:nvSpPr>
        <p:spPr/>
        <p:txBody>
          <a:bodyPr/>
          <a:lstStyle/>
          <a:p>
            <a:r>
              <a:rPr lang="en-GB" b="1" dirty="0"/>
              <a:t>Transition</a:t>
            </a:r>
            <a:br>
              <a:rPr lang="en-GB" b="1" dirty="0"/>
            </a:br>
            <a:endParaRPr lang="en-GB" dirty="0"/>
          </a:p>
        </p:txBody>
      </p:sp>
      <p:sp>
        <p:nvSpPr>
          <p:cNvPr id="3" name="Segnaposto contenuto 2">
            <a:extLst>
              <a:ext uri="{FF2B5EF4-FFF2-40B4-BE49-F238E27FC236}">
                <a16:creationId xmlns:a16="http://schemas.microsoft.com/office/drawing/2014/main" id="{4DC6209A-169A-FD46-0B8E-24647553EB81}"/>
              </a:ext>
            </a:extLst>
          </p:cNvPr>
          <p:cNvSpPr>
            <a:spLocks noGrp="1"/>
          </p:cNvSpPr>
          <p:nvPr>
            <p:ph idx="1"/>
          </p:nvPr>
        </p:nvSpPr>
        <p:spPr/>
        <p:txBody>
          <a:bodyPr/>
          <a:lstStyle/>
          <a:p>
            <a:r>
              <a:rPr lang="en-GB" dirty="0"/>
              <a:t>An influential forecasting architecture built around this idea is </a:t>
            </a:r>
            <a:r>
              <a:rPr lang="en-GB" b="1" dirty="0" err="1"/>
              <a:t>PatchTST</a:t>
            </a:r>
            <a:r>
              <a:rPr lang="en-GB" dirty="0"/>
              <a:t>.</a:t>
            </a:r>
          </a:p>
          <a:p>
            <a:r>
              <a:rPr lang="en-GB" dirty="0"/>
              <a:t>This leads to </a:t>
            </a:r>
            <a:r>
              <a:rPr lang="en-GB" b="1" dirty="0"/>
              <a:t>Block 6.I — </a:t>
            </a:r>
            <a:r>
              <a:rPr lang="en-GB" b="1" dirty="0" err="1"/>
              <a:t>PatchTST</a:t>
            </a:r>
            <a:r>
              <a:rPr lang="en-GB" b="1" dirty="0"/>
              <a:t> as a Representative Temporal Transformer</a:t>
            </a:r>
            <a:r>
              <a:rPr lang="en-GB" dirty="0"/>
              <a:t>.</a:t>
            </a:r>
          </a:p>
          <a:p>
            <a:endParaRPr lang="en-GB" dirty="0"/>
          </a:p>
        </p:txBody>
      </p:sp>
    </p:spTree>
    <p:extLst>
      <p:ext uri="{BB962C8B-B14F-4D97-AF65-F5344CB8AC3E}">
        <p14:creationId xmlns:p14="http://schemas.microsoft.com/office/powerpoint/2010/main" val="223960509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79DB77-692C-B6BF-7DB2-A53743B24063}"/>
              </a:ext>
            </a:extLst>
          </p:cNvPr>
          <p:cNvSpPr>
            <a:spLocks noGrp="1"/>
          </p:cNvSpPr>
          <p:nvPr>
            <p:ph type="title"/>
          </p:nvPr>
        </p:nvSpPr>
        <p:spPr/>
        <p:txBody>
          <a:bodyPr/>
          <a:lstStyle/>
          <a:p>
            <a:r>
              <a:rPr lang="en-GB" dirty="0"/>
              <a:t>Block 6.I — </a:t>
            </a:r>
            <a:r>
              <a:rPr lang="en-GB" dirty="0" err="1"/>
              <a:t>PatchTST</a:t>
            </a:r>
            <a:r>
              <a:rPr lang="en-GB" dirty="0"/>
              <a:t> as a Representative Temporal Transformer</a:t>
            </a:r>
          </a:p>
        </p:txBody>
      </p:sp>
      <p:sp>
        <p:nvSpPr>
          <p:cNvPr id="3" name="Segnaposto contenuto 2">
            <a:extLst>
              <a:ext uri="{FF2B5EF4-FFF2-40B4-BE49-F238E27FC236}">
                <a16:creationId xmlns:a16="http://schemas.microsoft.com/office/drawing/2014/main" id="{19F02303-B5A5-54F7-F9CF-CBE887B4573B}"/>
              </a:ext>
            </a:extLst>
          </p:cNvPr>
          <p:cNvSpPr>
            <a:spLocks noGrp="1"/>
          </p:cNvSpPr>
          <p:nvPr>
            <p:ph idx="1"/>
          </p:nvPr>
        </p:nvSpPr>
        <p:spPr/>
        <p:txBody>
          <a:bodyPr/>
          <a:lstStyle/>
          <a:p>
            <a:r>
              <a:rPr lang="it-IT" dirty="0"/>
              <a:t>Patch </a:t>
            </a:r>
            <a:r>
              <a:rPr lang="it-IT" dirty="0" err="1"/>
              <a:t>TimeSeries</a:t>
            </a:r>
            <a:r>
              <a:rPr lang="it-IT" dirty="0"/>
              <a:t> Transformer</a:t>
            </a:r>
            <a:endParaRPr lang="en-GB" dirty="0"/>
          </a:p>
        </p:txBody>
      </p:sp>
    </p:spTree>
    <p:extLst>
      <p:ext uri="{BB962C8B-B14F-4D97-AF65-F5344CB8AC3E}">
        <p14:creationId xmlns:p14="http://schemas.microsoft.com/office/powerpoint/2010/main" val="406774728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B6F71F-3CF5-8DF8-5FB3-8A7660BD13C4}"/>
              </a:ext>
            </a:extLst>
          </p:cNvPr>
          <p:cNvSpPr>
            <a:spLocks noGrp="1"/>
          </p:cNvSpPr>
          <p:nvPr>
            <p:ph type="title"/>
          </p:nvPr>
        </p:nvSpPr>
        <p:spPr/>
        <p:txBody>
          <a:bodyPr/>
          <a:lstStyle/>
          <a:p>
            <a:r>
              <a:rPr lang="en-GB" dirty="0" err="1"/>
              <a:t>PatchTST</a:t>
            </a:r>
            <a:r>
              <a:rPr lang="en-GB" dirty="0"/>
              <a:t>: adapting the Transformer to time series</a:t>
            </a:r>
          </a:p>
        </p:txBody>
      </p:sp>
      <p:sp>
        <p:nvSpPr>
          <p:cNvPr id="3" name="Segnaposto contenuto 2">
            <a:extLst>
              <a:ext uri="{FF2B5EF4-FFF2-40B4-BE49-F238E27FC236}">
                <a16:creationId xmlns:a16="http://schemas.microsoft.com/office/drawing/2014/main" id="{D73F2511-3C51-7210-24E3-8C5684A902CF}"/>
              </a:ext>
            </a:extLst>
          </p:cNvPr>
          <p:cNvSpPr>
            <a:spLocks noGrp="1"/>
          </p:cNvSpPr>
          <p:nvPr>
            <p:ph sz="half" idx="1"/>
          </p:nvPr>
        </p:nvSpPr>
        <p:spPr>
          <a:xfrm>
            <a:off x="239589" y="2160590"/>
            <a:ext cx="4184035" cy="3880772"/>
          </a:xfrm>
        </p:spPr>
        <p:txBody>
          <a:bodyPr>
            <a:normAutofit fontScale="92500" lnSpcReduction="20000"/>
          </a:bodyPr>
          <a:lstStyle/>
          <a:p>
            <a:r>
              <a:rPr lang="en-GB" dirty="0"/>
              <a:t>A standard Transformer could treat every individual observation as one token.</a:t>
            </a:r>
          </a:p>
          <a:p>
            <a:r>
              <a:rPr lang="en-GB" dirty="0"/>
              <a:t>For long time series, this may produce:</a:t>
            </a:r>
          </a:p>
          <a:p>
            <a:pPr lvl="1"/>
            <a:r>
              <a:rPr lang="en-GB" dirty="0"/>
              <a:t>very long token sequences; </a:t>
            </a:r>
          </a:p>
          <a:p>
            <a:pPr lvl="1"/>
            <a:r>
              <a:rPr lang="en-GB" dirty="0"/>
              <a:t>high self-attention cost; </a:t>
            </a:r>
          </a:p>
          <a:p>
            <a:pPr lvl="1"/>
            <a:r>
              <a:rPr lang="en-GB" dirty="0"/>
              <a:t>little explicit grouping of local temporal structure. </a:t>
            </a:r>
          </a:p>
          <a:p>
            <a:endParaRPr lang="en-GB" dirty="0"/>
          </a:p>
        </p:txBody>
      </p:sp>
      <p:sp>
        <p:nvSpPr>
          <p:cNvPr id="4" name="Segnaposto contenuto 3">
            <a:extLst>
              <a:ext uri="{FF2B5EF4-FFF2-40B4-BE49-F238E27FC236}">
                <a16:creationId xmlns:a16="http://schemas.microsoft.com/office/drawing/2014/main" id="{491EB6E1-1EFF-AA36-6F61-92EBDEA89266}"/>
              </a:ext>
            </a:extLst>
          </p:cNvPr>
          <p:cNvSpPr>
            <a:spLocks noGrp="1"/>
          </p:cNvSpPr>
          <p:nvPr>
            <p:ph sz="half" idx="2"/>
          </p:nvPr>
        </p:nvSpPr>
        <p:spPr>
          <a:xfrm>
            <a:off x="4671681" y="2161640"/>
            <a:ext cx="4184034" cy="3880773"/>
          </a:xfrm>
        </p:spPr>
        <p:txBody>
          <a:bodyPr>
            <a:normAutofit fontScale="92500" lnSpcReduction="20000"/>
          </a:bodyPr>
          <a:lstStyle/>
          <a:p>
            <a:r>
              <a:rPr lang="en-GB" b="1" dirty="0" err="1"/>
              <a:t>PatchTST</a:t>
            </a:r>
            <a:r>
              <a:rPr lang="en-GB" dirty="0"/>
              <a:t> instead divides each time series into temporal patches.</a:t>
            </a:r>
          </a:p>
          <a:p>
            <a:endParaRPr lang="en-GB" dirty="0"/>
          </a:p>
          <a:p>
            <a:r>
              <a:rPr lang="en-GB" dirty="0"/>
              <a:t>raw time series</a:t>
            </a:r>
          </a:p>
          <a:p>
            <a:r>
              <a:rPr lang="en-GB" dirty="0"/>
              <a:t>      ↓</a:t>
            </a:r>
          </a:p>
          <a:p>
            <a:r>
              <a:rPr lang="en-GB" dirty="0"/>
              <a:t>temporal patches</a:t>
            </a:r>
          </a:p>
          <a:p>
            <a:r>
              <a:rPr lang="en-GB" dirty="0"/>
              <a:t>      ↓</a:t>
            </a:r>
          </a:p>
          <a:p>
            <a:r>
              <a:rPr lang="en-GB" dirty="0"/>
              <a:t>patch embeddings</a:t>
            </a:r>
          </a:p>
          <a:p>
            <a:r>
              <a:rPr lang="en-GB" dirty="0"/>
              <a:t>      ↓</a:t>
            </a:r>
          </a:p>
          <a:p>
            <a:r>
              <a:rPr lang="en-GB" dirty="0"/>
              <a:t>Transformer encoder</a:t>
            </a:r>
          </a:p>
          <a:p>
            <a:r>
              <a:rPr lang="en-GB" dirty="0"/>
              <a:t>      ↓</a:t>
            </a:r>
          </a:p>
          <a:p>
            <a:r>
              <a:rPr lang="en-GB" dirty="0"/>
              <a:t>forecast</a:t>
            </a:r>
          </a:p>
          <a:p>
            <a:endParaRPr lang="en-GB" dirty="0"/>
          </a:p>
        </p:txBody>
      </p:sp>
      <p:sp>
        <p:nvSpPr>
          <p:cNvPr id="7" name="Segnaposto contenuto 3">
            <a:extLst>
              <a:ext uri="{FF2B5EF4-FFF2-40B4-BE49-F238E27FC236}">
                <a16:creationId xmlns:a16="http://schemas.microsoft.com/office/drawing/2014/main" id="{E1E86974-7159-E7E0-998A-269E9414D23A}"/>
              </a:ext>
            </a:extLst>
          </p:cNvPr>
          <p:cNvSpPr txBox="1">
            <a:spLocks/>
          </p:cNvSpPr>
          <p:nvPr/>
        </p:nvSpPr>
        <p:spPr>
          <a:xfrm>
            <a:off x="7915945" y="2987214"/>
            <a:ext cx="4184034" cy="388077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b="1" dirty="0"/>
              <a:t>Main ideas</a:t>
            </a:r>
          </a:p>
          <a:p>
            <a:pPr lvl="1"/>
            <a:r>
              <a:rPr lang="en-GB" dirty="0" err="1"/>
              <a:t>neighboring</a:t>
            </a:r>
            <a:r>
              <a:rPr lang="en-GB" dirty="0"/>
              <a:t> observations are grouped into patches; </a:t>
            </a:r>
          </a:p>
          <a:p>
            <a:pPr lvl="1"/>
            <a:r>
              <a:rPr lang="en-GB" dirty="0"/>
              <a:t>each patch becomes one token; </a:t>
            </a:r>
          </a:p>
          <a:p>
            <a:pPr lvl="1"/>
            <a:r>
              <a:rPr lang="en-GB" dirty="0"/>
              <a:t>self-attention operates between patches; </a:t>
            </a:r>
          </a:p>
          <a:p>
            <a:pPr lvl="1"/>
            <a:r>
              <a:rPr lang="en-GB" dirty="0"/>
              <a:t>the resulting representations are used for forecasting. </a:t>
            </a:r>
          </a:p>
          <a:p>
            <a:endParaRPr lang="en-GB" dirty="0"/>
          </a:p>
          <a:p>
            <a:r>
              <a:rPr lang="en-GB" b="1" dirty="0" err="1"/>
              <a:t>PatchTST</a:t>
            </a:r>
            <a:r>
              <a:rPr lang="en-GB" b="1" dirty="0"/>
              <a:t> applies Transformer attention at the level of short temporal segments rather than individual observations.</a:t>
            </a:r>
          </a:p>
          <a:p>
            <a:endParaRPr lang="en-GB" dirty="0"/>
          </a:p>
        </p:txBody>
      </p:sp>
    </p:spTree>
    <p:extLst>
      <p:ext uri="{BB962C8B-B14F-4D97-AF65-F5344CB8AC3E}">
        <p14:creationId xmlns:p14="http://schemas.microsoft.com/office/powerpoint/2010/main" val="213371446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PatchTST: from raw series to forecast</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Patching creates temporal tokens before Transformer encoding.</a:t>
            </a:r>
            <a:endParaRPr lang="en-US" sz="850" dirty="0"/>
          </a:p>
        </p:txBody>
      </p:sp>
      <p:sp>
        <p:nvSpPr>
          <p:cNvPr id="8" name="Shape 6"/>
          <p:cNvSpPr/>
          <p:nvPr/>
        </p:nvSpPr>
        <p:spPr>
          <a:xfrm>
            <a:off x="685800" y="2377440"/>
            <a:ext cx="1051560" cy="685800"/>
          </a:xfrm>
          <a:prstGeom prst="roundRect">
            <a:avLst>
              <a:gd name="adj" fmla="val 10667"/>
            </a:avLst>
          </a:prstGeom>
          <a:solidFill>
            <a:srgbClr val="BFD7FF"/>
          </a:solidFill>
          <a:ln w="13970">
            <a:solidFill>
              <a:srgbClr val="3C7BE8"/>
            </a:solidFill>
            <a:prstDash val="solid"/>
          </a:ln>
        </p:spPr>
        <p:txBody>
          <a:bodyPr/>
          <a:lstStyle/>
          <a:p>
            <a:endParaRPr lang="en-GB"/>
          </a:p>
        </p:txBody>
      </p:sp>
      <p:sp>
        <p:nvSpPr>
          <p:cNvPr id="9" name="Text 7"/>
          <p:cNvSpPr/>
          <p:nvPr/>
        </p:nvSpPr>
        <p:spPr>
          <a:xfrm>
            <a:off x="722376" y="2423160"/>
            <a:ext cx="978408" cy="594360"/>
          </a:xfrm>
          <a:prstGeom prst="rect">
            <a:avLst/>
          </a:prstGeom>
          <a:noFill/>
          <a:ln/>
        </p:spPr>
        <p:txBody>
          <a:bodyPr wrap="square" lIns="0" tIns="0" rIns="0" bIns="0" rtlCol="0" anchor="ctr">
            <a:normAutofit/>
          </a:bodyPr>
          <a:lstStyle/>
          <a:p>
            <a:pPr marL="0" indent="0" algn="ctr">
              <a:buNone/>
            </a:pPr>
            <a:r>
              <a:rPr lang="en-US" sz="820" b="1" dirty="0">
                <a:solidFill>
                  <a:srgbClr val="122033"/>
                </a:solidFill>
                <a:latin typeface="Aptos" pitchFamily="34" charset="0"/>
                <a:ea typeface="Aptos" pitchFamily="34" charset="-122"/>
                <a:cs typeface="Aptos" pitchFamily="34" charset="-120"/>
              </a:rPr>
              <a:t>raw</a:t>
            </a:r>
            <a:endParaRPr lang="en-US" sz="820" dirty="0"/>
          </a:p>
          <a:p>
            <a:pPr marL="0" indent="0" algn="ctr">
              <a:buNone/>
            </a:pPr>
            <a:r>
              <a:rPr lang="en-US" sz="820" b="1" dirty="0">
                <a:solidFill>
                  <a:srgbClr val="122033"/>
                </a:solidFill>
                <a:latin typeface="Aptos" pitchFamily="34" charset="0"/>
                <a:ea typeface="Aptos" pitchFamily="34" charset="-122"/>
                <a:cs typeface="Aptos" pitchFamily="34" charset="-120"/>
              </a:rPr>
              <a:t>series</a:t>
            </a:r>
            <a:endParaRPr lang="en-US" sz="820" dirty="0"/>
          </a:p>
        </p:txBody>
      </p:sp>
      <p:sp>
        <p:nvSpPr>
          <p:cNvPr id="10" name="Shape 8"/>
          <p:cNvSpPr/>
          <p:nvPr/>
        </p:nvSpPr>
        <p:spPr>
          <a:xfrm>
            <a:off x="1764792" y="2724912"/>
            <a:ext cx="219456" cy="0"/>
          </a:xfrm>
          <a:prstGeom prst="line">
            <a:avLst/>
          </a:prstGeom>
          <a:noFill/>
          <a:ln w="19050">
            <a:solidFill>
              <a:srgbClr val="E5A100"/>
            </a:solidFill>
            <a:prstDash val="solid"/>
            <a:headEnd type="none"/>
            <a:tailEnd type="triangle"/>
          </a:ln>
        </p:spPr>
        <p:txBody>
          <a:bodyPr/>
          <a:lstStyle/>
          <a:p>
            <a:endParaRPr lang="en-GB"/>
          </a:p>
        </p:txBody>
      </p:sp>
      <p:sp>
        <p:nvSpPr>
          <p:cNvPr id="11" name="Shape 9"/>
          <p:cNvSpPr/>
          <p:nvPr/>
        </p:nvSpPr>
        <p:spPr>
          <a:xfrm>
            <a:off x="2057400" y="2377440"/>
            <a:ext cx="1051560" cy="685800"/>
          </a:xfrm>
          <a:prstGeom prst="roundRect">
            <a:avLst>
              <a:gd name="adj" fmla="val 10667"/>
            </a:avLst>
          </a:prstGeom>
          <a:solidFill>
            <a:srgbClr val="FFE7B4"/>
          </a:solidFill>
          <a:ln w="13970">
            <a:solidFill>
              <a:srgbClr val="E5A100"/>
            </a:solidFill>
            <a:prstDash val="solid"/>
          </a:ln>
        </p:spPr>
        <p:txBody>
          <a:bodyPr/>
          <a:lstStyle/>
          <a:p>
            <a:endParaRPr lang="en-GB"/>
          </a:p>
        </p:txBody>
      </p:sp>
      <p:sp>
        <p:nvSpPr>
          <p:cNvPr id="12" name="Text 10"/>
          <p:cNvSpPr/>
          <p:nvPr/>
        </p:nvSpPr>
        <p:spPr>
          <a:xfrm>
            <a:off x="2093976" y="2423160"/>
            <a:ext cx="978408" cy="594360"/>
          </a:xfrm>
          <a:prstGeom prst="rect">
            <a:avLst/>
          </a:prstGeom>
          <a:noFill/>
          <a:ln/>
        </p:spPr>
        <p:txBody>
          <a:bodyPr wrap="square" lIns="0" tIns="0" rIns="0" bIns="0" rtlCol="0" anchor="ctr">
            <a:normAutofit/>
          </a:bodyPr>
          <a:lstStyle/>
          <a:p>
            <a:pPr marL="0" indent="0" algn="ctr">
              <a:buNone/>
            </a:pPr>
            <a:r>
              <a:rPr lang="en-US" sz="820" b="1" dirty="0">
                <a:solidFill>
                  <a:srgbClr val="122033"/>
                </a:solidFill>
                <a:latin typeface="Aptos" pitchFamily="34" charset="0"/>
                <a:ea typeface="Aptos" pitchFamily="34" charset="-122"/>
                <a:cs typeface="Aptos" pitchFamily="34" charset="-120"/>
              </a:rPr>
              <a:t>temporal</a:t>
            </a:r>
            <a:endParaRPr lang="en-US" sz="820" dirty="0"/>
          </a:p>
          <a:p>
            <a:pPr marL="0" indent="0" algn="ctr">
              <a:buNone/>
            </a:pPr>
            <a:r>
              <a:rPr lang="en-US" sz="820" b="1" dirty="0">
                <a:solidFill>
                  <a:srgbClr val="122033"/>
                </a:solidFill>
                <a:latin typeface="Aptos" pitchFamily="34" charset="0"/>
                <a:ea typeface="Aptos" pitchFamily="34" charset="-122"/>
                <a:cs typeface="Aptos" pitchFamily="34" charset="-120"/>
              </a:rPr>
              <a:t>patches</a:t>
            </a:r>
            <a:endParaRPr lang="en-US" sz="820" dirty="0"/>
          </a:p>
        </p:txBody>
      </p:sp>
      <p:sp>
        <p:nvSpPr>
          <p:cNvPr id="13" name="Shape 11"/>
          <p:cNvSpPr/>
          <p:nvPr/>
        </p:nvSpPr>
        <p:spPr>
          <a:xfrm>
            <a:off x="3136392" y="2724912"/>
            <a:ext cx="310896" cy="0"/>
          </a:xfrm>
          <a:prstGeom prst="line">
            <a:avLst/>
          </a:prstGeom>
          <a:noFill/>
          <a:ln w="19050">
            <a:solidFill>
              <a:srgbClr val="E5A100"/>
            </a:solidFill>
            <a:prstDash val="solid"/>
            <a:headEnd type="none"/>
            <a:tailEnd type="triangle"/>
          </a:ln>
        </p:spPr>
        <p:txBody>
          <a:bodyPr/>
          <a:lstStyle/>
          <a:p>
            <a:endParaRPr lang="en-GB"/>
          </a:p>
        </p:txBody>
      </p:sp>
      <p:sp>
        <p:nvSpPr>
          <p:cNvPr id="14" name="Shape 12"/>
          <p:cNvSpPr/>
          <p:nvPr/>
        </p:nvSpPr>
        <p:spPr>
          <a:xfrm>
            <a:off x="3520440" y="2377440"/>
            <a:ext cx="1051560" cy="685800"/>
          </a:xfrm>
          <a:prstGeom prst="roundRect">
            <a:avLst>
              <a:gd name="adj" fmla="val 10667"/>
            </a:avLst>
          </a:prstGeom>
          <a:solidFill>
            <a:srgbClr val="FFE7B4"/>
          </a:solidFill>
          <a:ln w="13970">
            <a:solidFill>
              <a:srgbClr val="E5A100"/>
            </a:solidFill>
            <a:prstDash val="solid"/>
          </a:ln>
        </p:spPr>
        <p:txBody>
          <a:bodyPr/>
          <a:lstStyle/>
          <a:p>
            <a:endParaRPr lang="en-GB"/>
          </a:p>
        </p:txBody>
      </p:sp>
      <p:sp>
        <p:nvSpPr>
          <p:cNvPr id="15" name="Text 13"/>
          <p:cNvSpPr/>
          <p:nvPr/>
        </p:nvSpPr>
        <p:spPr>
          <a:xfrm>
            <a:off x="3557016" y="2423160"/>
            <a:ext cx="978408" cy="594360"/>
          </a:xfrm>
          <a:prstGeom prst="rect">
            <a:avLst/>
          </a:prstGeom>
          <a:noFill/>
          <a:ln/>
        </p:spPr>
        <p:txBody>
          <a:bodyPr wrap="square" lIns="0" tIns="0" rIns="0" bIns="0" rtlCol="0" anchor="ctr">
            <a:normAutofit/>
          </a:bodyPr>
          <a:lstStyle/>
          <a:p>
            <a:pPr marL="0" indent="0" algn="ctr">
              <a:buNone/>
            </a:pPr>
            <a:r>
              <a:rPr lang="en-US" sz="820" b="1" dirty="0">
                <a:solidFill>
                  <a:srgbClr val="122033"/>
                </a:solidFill>
                <a:latin typeface="Aptos" pitchFamily="34" charset="0"/>
                <a:ea typeface="Aptos" pitchFamily="34" charset="-122"/>
                <a:cs typeface="Aptos" pitchFamily="34" charset="-120"/>
              </a:rPr>
              <a:t>patch</a:t>
            </a:r>
            <a:endParaRPr lang="en-US" sz="820" dirty="0"/>
          </a:p>
          <a:p>
            <a:pPr marL="0" indent="0" algn="ctr">
              <a:buNone/>
            </a:pPr>
            <a:r>
              <a:rPr lang="en-US" sz="820" b="1" dirty="0">
                <a:solidFill>
                  <a:srgbClr val="122033"/>
                </a:solidFill>
                <a:latin typeface="Aptos" pitchFamily="34" charset="0"/>
                <a:ea typeface="Aptos" pitchFamily="34" charset="-122"/>
                <a:cs typeface="Aptos" pitchFamily="34" charset="-120"/>
              </a:rPr>
              <a:t>embeddings</a:t>
            </a:r>
            <a:endParaRPr lang="en-US" sz="820" dirty="0"/>
          </a:p>
        </p:txBody>
      </p:sp>
      <p:sp>
        <p:nvSpPr>
          <p:cNvPr id="16" name="Shape 14"/>
          <p:cNvSpPr/>
          <p:nvPr/>
        </p:nvSpPr>
        <p:spPr>
          <a:xfrm>
            <a:off x="4599432" y="2724912"/>
            <a:ext cx="493776" cy="0"/>
          </a:xfrm>
          <a:prstGeom prst="line">
            <a:avLst/>
          </a:prstGeom>
          <a:noFill/>
          <a:ln w="19050">
            <a:solidFill>
              <a:srgbClr val="E5A100"/>
            </a:solidFill>
            <a:prstDash val="solid"/>
            <a:headEnd type="none"/>
            <a:tailEnd type="triangle"/>
          </a:ln>
        </p:spPr>
        <p:txBody>
          <a:bodyPr/>
          <a:lstStyle/>
          <a:p>
            <a:endParaRPr lang="en-GB"/>
          </a:p>
        </p:txBody>
      </p:sp>
      <p:sp>
        <p:nvSpPr>
          <p:cNvPr id="17" name="Shape 15"/>
          <p:cNvSpPr/>
          <p:nvPr/>
        </p:nvSpPr>
        <p:spPr>
          <a:xfrm>
            <a:off x="5166360" y="2377440"/>
            <a:ext cx="1051560" cy="685800"/>
          </a:xfrm>
          <a:prstGeom prst="roundRect">
            <a:avLst>
              <a:gd name="adj" fmla="val 10667"/>
            </a:avLst>
          </a:prstGeom>
          <a:solidFill>
            <a:srgbClr val="E9F6D7"/>
          </a:solidFill>
          <a:ln w="13970">
            <a:solidFill>
              <a:srgbClr val="86B817"/>
            </a:solidFill>
            <a:prstDash val="solid"/>
          </a:ln>
        </p:spPr>
        <p:txBody>
          <a:bodyPr/>
          <a:lstStyle/>
          <a:p>
            <a:endParaRPr lang="en-GB"/>
          </a:p>
        </p:txBody>
      </p:sp>
      <p:sp>
        <p:nvSpPr>
          <p:cNvPr id="18" name="Text 16"/>
          <p:cNvSpPr/>
          <p:nvPr/>
        </p:nvSpPr>
        <p:spPr>
          <a:xfrm>
            <a:off x="5202936" y="2423160"/>
            <a:ext cx="978408" cy="594360"/>
          </a:xfrm>
          <a:prstGeom prst="rect">
            <a:avLst/>
          </a:prstGeom>
          <a:noFill/>
          <a:ln/>
        </p:spPr>
        <p:txBody>
          <a:bodyPr wrap="square" lIns="0" tIns="0" rIns="0" bIns="0" rtlCol="0" anchor="ctr">
            <a:normAutofit/>
          </a:bodyPr>
          <a:lstStyle/>
          <a:p>
            <a:pPr marL="0" indent="0" algn="ctr">
              <a:buNone/>
            </a:pPr>
            <a:r>
              <a:rPr lang="en-US" sz="820" b="1" dirty="0">
                <a:solidFill>
                  <a:srgbClr val="122033"/>
                </a:solidFill>
                <a:latin typeface="Aptos" pitchFamily="34" charset="0"/>
                <a:ea typeface="Aptos" pitchFamily="34" charset="-122"/>
                <a:cs typeface="Aptos" pitchFamily="34" charset="-120"/>
              </a:rPr>
              <a:t>+ positional</a:t>
            </a:r>
            <a:endParaRPr lang="en-US" sz="820" dirty="0"/>
          </a:p>
          <a:p>
            <a:pPr marL="0" indent="0" algn="ctr">
              <a:buNone/>
            </a:pPr>
            <a:r>
              <a:rPr lang="en-US" sz="820" b="1" dirty="0">
                <a:solidFill>
                  <a:srgbClr val="122033"/>
                </a:solidFill>
                <a:latin typeface="Aptos" pitchFamily="34" charset="0"/>
                <a:ea typeface="Aptos" pitchFamily="34" charset="-122"/>
                <a:cs typeface="Aptos" pitchFamily="34" charset="-120"/>
              </a:rPr>
              <a:t>information</a:t>
            </a:r>
            <a:endParaRPr lang="en-US" sz="820" dirty="0"/>
          </a:p>
        </p:txBody>
      </p:sp>
      <p:sp>
        <p:nvSpPr>
          <p:cNvPr id="19" name="Shape 17"/>
          <p:cNvSpPr/>
          <p:nvPr/>
        </p:nvSpPr>
        <p:spPr>
          <a:xfrm>
            <a:off x="6245352" y="2724912"/>
            <a:ext cx="585216" cy="0"/>
          </a:xfrm>
          <a:prstGeom prst="line">
            <a:avLst/>
          </a:prstGeom>
          <a:noFill/>
          <a:ln w="19050">
            <a:solidFill>
              <a:srgbClr val="E5A100"/>
            </a:solidFill>
            <a:prstDash val="solid"/>
            <a:headEnd type="none"/>
            <a:tailEnd type="triangle"/>
          </a:ln>
        </p:spPr>
        <p:txBody>
          <a:bodyPr/>
          <a:lstStyle/>
          <a:p>
            <a:endParaRPr lang="en-GB"/>
          </a:p>
        </p:txBody>
      </p:sp>
      <p:sp>
        <p:nvSpPr>
          <p:cNvPr id="20" name="Shape 18"/>
          <p:cNvSpPr/>
          <p:nvPr/>
        </p:nvSpPr>
        <p:spPr>
          <a:xfrm>
            <a:off x="6903720" y="2377440"/>
            <a:ext cx="1051560" cy="685800"/>
          </a:xfrm>
          <a:prstGeom prst="roundRect">
            <a:avLst>
              <a:gd name="adj" fmla="val 10667"/>
            </a:avLst>
          </a:prstGeom>
          <a:solidFill>
            <a:srgbClr val="E3D4FF"/>
          </a:solidFill>
          <a:ln w="13970">
            <a:solidFill>
              <a:srgbClr val="895DE8"/>
            </a:solidFill>
            <a:prstDash val="solid"/>
          </a:ln>
        </p:spPr>
        <p:txBody>
          <a:bodyPr/>
          <a:lstStyle/>
          <a:p>
            <a:endParaRPr lang="en-GB"/>
          </a:p>
        </p:txBody>
      </p:sp>
      <p:sp>
        <p:nvSpPr>
          <p:cNvPr id="21" name="Text 19"/>
          <p:cNvSpPr/>
          <p:nvPr/>
        </p:nvSpPr>
        <p:spPr>
          <a:xfrm>
            <a:off x="6940296" y="2423160"/>
            <a:ext cx="978408" cy="594360"/>
          </a:xfrm>
          <a:prstGeom prst="rect">
            <a:avLst/>
          </a:prstGeom>
          <a:noFill/>
          <a:ln/>
        </p:spPr>
        <p:txBody>
          <a:bodyPr wrap="square" lIns="0" tIns="0" rIns="0" bIns="0" rtlCol="0" anchor="ctr">
            <a:normAutofit/>
          </a:bodyPr>
          <a:lstStyle/>
          <a:p>
            <a:pPr marL="0" indent="0" algn="ctr">
              <a:buNone/>
            </a:pPr>
            <a:r>
              <a:rPr lang="en-US" sz="820" b="1" dirty="0">
                <a:solidFill>
                  <a:srgbClr val="122033"/>
                </a:solidFill>
                <a:latin typeface="Aptos" pitchFamily="34" charset="0"/>
                <a:ea typeface="Aptos" pitchFamily="34" charset="-122"/>
                <a:cs typeface="Aptos" pitchFamily="34" charset="-120"/>
              </a:rPr>
              <a:t>Transformer</a:t>
            </a:r>
            <a:endParaRPr lang="en-US" sz="820" dirty="0"/>
          </a:p>
          <a:p>
            <a:pPr marL="0" indent="0" algn="ctr">
              <a:buNone/>
            </a:pPr>
            <a:r>
              <a:rPr lang="en-US" sz="820" b="1" dirty="0">
                <a:solidFill>
                  <a:srgbClr val="122033"/>
                </a:solidFill>
                <a:latin typeface="Aptos" pitchFamily="34" charset="0"/>
                <a:ea typeface="Aptos" pitchFamily="34" charset="-122"/>
                <a:cs typeface="Aptos" pitchFamily="34" charset="-120"/>
              </a:rPr>
              <a:t>encoder</a:t>
            </a:r>
            <a:endParaRPr lang="en-US" sz="820" dirty="0"/>
          </a:p>
        </p:txBody>
      </p:sp>
      <p:sp>
        <p:nvSpPr>
          <p:cNvPr id="22" name="Shape 20"/>
          <p:cNvSpPr/>
          <p:nvPr/>
        </p:nvSpPr>
        <p:spPr>
          <a:xfrm>
            <a:off x="7982712" y="2724912"/>
            <a:ext cx="493776" cy="0"/>
          </a:xfrm>
          <a:prstGeom prst="line">
            <a:avLst/>
          </a:prstGeom>
          <a:noFill/>
          <a:ln w="19050">
            <a:solidFill>
              <a:srgbClr val="E5A100"/>
            </a:solidFill>
            <a:prstDash val="solid"/>
            <a:headEnd type="none"/>
            <a:tailEnd type="triangle"/>
          </a:ln>
        </p:spPr>
        <p:txBody>
          <a:bodyPr/>
          <a:lstStyle/>
          <a:p>
            <a:endParaRPr lang="en-GB"/>
          </a:p>
        </p:txBody>
      </p:sp>
      <p:sp>
        <p:nvSpPr>
          <p:cNvPr id="23" name="Shape 21"/>
          <p:cNvSpPr/>
          <p:nvPr/>
        </p:nvSpPr>
        <p:spPr>
          <a:xfrm>
            <a:off x="8549640" y="2377440"/>
            <a:ext cx="1051560" cy="685800"/>
          </a:xfrm>
          <a:prstGeom prst="roundRect">
            <a:avLst>
              <a:gd name="adj" fmla="val 10667"/>
            </a:avLst>
          </a:prstGeom>
          <a:solidFill>
            <a:srgbClr val="BFD7FF"/>
          </a:solidFill>
          <a:ln w="13970">
            <a:solidFill>
              <a:srgbClr val="3C7BE8"/>
            </a:solidFill>
            <a:prstDash val="solid"/>
          </a:ln>
        </p:spPr>
        <p:txBody>
          <a:bodyPr/>
          <a:lstStyle/>
          <a:p>
            <a:endParaRPr lang="en-GB"/>
          </a:p>
        </p:txBody>
      </p:sp>
      <p:sp>
        <p:nvSpPr>
          <p:cNvPr id="24" name="Text 22"/>
          <p:cNvSpPr/>
          <p:nvPr/>
        </p:nvSpPr>
        <p:spPr>
          <a:xfrm>
            <a:off x="8586216" y="2423160"/>
            <a:ext cx="978408" cy="594360"/>
          </a:xfrm>
          <a:prstGeom prst="rect">
            <a:avLst/>
          </a:prstGeom>
          <a:noFill/>
          <a:ln/>
        </p:spPr>
        <p:txBody>
          <a:bodyPr wrap="square" lIns="0" tIns="0" rIns="0" bIns="0" rtlCol="0" anchor="ctr">
            <a:normAutofit/>
          </a:bodyPr>
          <a:lstStyle/>
          <a:p>
            <a:pPr marL="0" indent="0" algn="ctr">
              <a:buNone/>
            </a:pPr>
            <a:r>
              <a:rPr lang="en-US" sz="820" b="1" dirty="0">
                <a:solidFill>
                  <a:srgbClr val="122033"/>
                </a:solidFill>
                <a:latin typeface="Aptos" pitchFamily="34" charset="0"/>
                <a:ea typeface="Aptos" pitchFamily="34" charset="-122"/>
                <a:cs typeface="Aptos" pitchFamily="34" charset="-120"/>
              </a:rPr>
              <a:t>forecast</a:t>
            </a:r>
            <a:endParaRPr lang="en-US" sz="820" dirty="0"/>
          </a:p>
          <a:p>
            <a:pPr marL="0" indent="0" algn="ctr">
              <a:buNone/>
            </a:pPr>
            <a:r>
              <a:rPr lang="en-US" sz="820" b="1" dirty="0">
                <a:solidFill>
                  <a:srgbClr val="122033"/>
                </a:solidFill>
                <a:latin typeface="Aptos" pitchFamily="34" charset="0"/>
                <a:ea typeface="Aptos" pitchFamily="34" charset="-122"/>
                <a:cs typeface="Aptos" pitchFamily="34" charset="-120"/>
              </a:rPr>
              <a:t>head</a:t>
            </a:r>
            <a:endParaRPr lang="en-US" sz="820" dirty="0"/>
          </a:p>
        </p:txBody>
      </p:sp>
      <p:sp>
        <p:nvSpPr>
          <p:cNvPr id="25" name="Shape 23"/>
          <p:cNvSpPr/>
          <p:nvPr/>
        </p:nvSpPr>
        <p:spPr>
          <a:xfrm>
            <a:off x="10012680" y="2377440"/>
            <a:ext cx="1143000" cy="685800"/>
          </a:xfrm>
          <a:prstGeom prst="roundRect">
            <a:avLst>
              <a:gd name="adj" fmla="val 10667"/>
            </a:avLst>
          </a:prstGeom>
          <a:solidFill>
            <a:srgbClr val="FFD6E0"/>
          </a:solidFill>
          <a:ln w="13970">
            <a:solidFill>
              <a:srgbClr val="EE6A7C"/>
            </a:solidFill>
            <a:prstDash val="solid"/>
          </a:ln>
        </p:spPr>
        <p:txBody>
          <a:bodyPr/>
          <a:lstStyle/>
          <a:p>
            <a:endParaRPr lang="en-GB"/>
          </a:p>
        </p:txBody>
      </p:sp>
      <p:sp>
        <p:nvSpPr>
          <p:cNvPr id="26" name="Text 24"/>
          <p:cNvSpPr/>
          <p:nvPr/>
        </p:nvSpPr>
        <p:spPr>
          <a:xfrm>
            <a:off x="10049256" y="2423160"/>
            <a:ext cx="1069848" cy="594360"/>
          </a:xfrm>
          <a:prstGeom prst="rect">
            <a:avLst/>
          </a:prstGeom>
          <a:noFill/>
          <a:ln/>
        </p:spPr>
        <p:txBody>
          <a:bodyPr wrap="square" lIns="0" tIns="0" rIns="0" bIns="0" rtlCol="0" anchor="ctr">
            <a:normAutofit/>
          </a:bodyPr>
          <a:lstStyle/>
          <a:p>
            <a:pPr marL="0" indent="0" algn="ctr">
              <a:buNone/>
            </a:pPr>
            <a:r>
              <a:rPr lang="en-US" sz="760" b="1" dirty="0">
                <a:solidFill>
                  <a:srgbClr val="122033"/>
                </a:solidFill>
                <a:latin typeface="Aptos" pitchFamily="34" charset="0"/>
                <a:ea typeface="Aptos" pitchFamily="34" charset="-122"/>
                <a:cs typeface="Aptos" pitchFamily="34" charset="-120"/>
              </a:rPr>
              <a:t>[ŷ[t+1], …, ŷ[t+H]]</a:t>
            </a:r>
            <a:endParaRPr lang="en-US" sz="760" dirty="0"/>
          </a:p>
        </p:txBody>
      </p:sp>
      <p:sp>
        <p:nvSpPr>
          <p:cNvPr id="27" name="Shape 25"/>
          <p:cNvSpPr/>
          <p:nvPr/>
        </p:nvSpPr>
        <p:spPr>
          <a:xfrm>
            <a:off x="9189720" y="2724912"/>
            <a:ext cx="777240" cy="0"/>
          </a:xfrm>
          <a:prstGeom prst="line">
            <a:avLst/>
          </a:prstGeom>
          <a:noFill/>
          <a:ln w="19050">
            <a:solidFill>
              <a:srgbClr val="EE6A7C"/>
            </a:solidFill>
            <a:prstDash val="solid"/>
            <a:headEnd type="none"/>
            <a:tailEnd type="triangle"/>
          </a:ln>
        </p:spPr>
        <p:txBody>
          <a:bodyPr/>
          <a:lstStyle/>
          <a:p>
            <a:endParaRPr lang="en-GB"/>
          </a:p>
        </p:txBody>
      </p:sp>
      <p:sp>
        <p:nvSpPr>
          <p:cNvPr id="28" name="Text 26"/>
          <p:cNvSpPr/>
          <p:nvPr/>
        </p:nvSpPr>
        <p:spPr>
          <a:xfrm>
            <a:off x="2674620" y="3378416"/>
            <a:ext cx="1234440" cy="228600"/>
          </a:xfrm>
          <a:prstGeom prst="rect">
            <a:avLst/>
          </a:prstGeom>
          <a:noFill/>
          <a:ln/>
        </p:spPr>
        <p:txBody>
          <a:bodyPr wrap="square" lIns="635" tIns="635" rIns="635" bIns="635" rtlCol="0" anchor="ctr">
            <a:normAutofit/>
          </a:bodyPr>
          <a:lstStyle/>
          <a:p>
            <a:pPr marL="0" indent="0" algn="ctr">
              <a:buNone/>
            </a:pPr>
            <a:r>
              <a:rPr lang="en-US" sz="700" dirty="0">
                <a:solidFill>
                  <a:srgbClr val="E5A100"/>
                </a:solidFill>
                <a:latin typeface="Aptos" pitchFamily="34" charset="0"/>
                <a:ea typeface="Aptos" pitchFamily="34" charset="-122"/>
                <a:cs typeface="Aptos" pitchFamily="34" charset="-120"/>
              </a:rPr>
              <a:t>local temporal grouping</a:t>
            </a:r>
            <a:endParaRPr lang="en-US" sz="700" dirty="0"/>
          </a:p>
        </p:txBody>
      </p:sp>
      <p:sp>
        <p:nvSpPr>
          <p:cNvPr id="29" name="Text 27"/>
          <p:cNvSpPr/>
          <p:nvPr/>
        </p:nvSpPr>
        <p:spPr>
          <a:xfrm>
            <a:off x="5055757" y="3333085"/>
            <a:ext cx="1508760" cy="228600"/>
          </a:xfrm>
          <a:prstGeom prst="rect">
            <a:avLst/>
          </a:prstGeom>
          <a:noFill/>
          <a:ln/>
        </p:spPr>
        <p:txBody>
          <a:bodyPr wrap="square" lIns="635" tIns="635" rIns="635" bIns="635" rtlCol="0" anchor="ctr">
            <a:normAutofit/>
          </a:bodyPr>
          <a:lstStyle/>
          <a:p>
            <a:pPr marL="0" indent="0" algn="ctr">
              <a:buNone/>
            </a:pPr>
            <a:r>
              <a:rPr lang="en-US" sz="700" dirty="0">
                <a:solidFill>
                  <a:srgbClr val="86B817"/>
                </a:solidFill>
                <a:latin typeface="Aptos" pitchFamily="34" charset="0"/>
                <a:ea typeface="Aptos" pitchFamily="34" charset="-122"/>
                <a:cs typeface="Aptos" pitchFamily="34" charset="-120"/>
              </a:rPr>
              <a:t>ordering and temporal location</a:t>
            </a:r>
            <a:endParaRPr lang="en-US" sz="700" dirty="0"/>
          </a:p>
        </p:txBody>
      </p:sp>
      <p:sp>
        <p:nvSpPr>
          <p:cNvPr id="30" name="Text 28"/>
          <p:cNvSpPr/>
          <p:nvPr/>
        </p:nvSpPr>
        <p:spPr>
          <a:xfrm>
            <a:off x="6903720" y="3333085"/>
            <a:ext cx="1508760" cy="228600"/>
          </a:xfrm>
          <a:prstGeom prst="rect">
            <a:avLst/>
          </a:prstGeom>
          <a:noFill/>
          <a:ln/>
        </p:spPr>
        <p:txBody>
          <a:bodyPr wrap="square" lIns="635" tIns="635" rIns="635" bIns="635" rtlCol="0" anchor="ctr">
            <a:normAutofit/>
          </a:bodyPr>
          <a:lstStyle/>
          <a:p>
            <a:pPr marL="0" indent="0" algn="ctr">
              <a:buNone/>
            </a:pPr>
            <a:r>
              <a:rPr lang="en-US" sz="700" dirty="0">
                <a:solidFill>
                  <a:srgbClr val="895DE8"/>
                </a:solidFill>
                <a:latin typeface="Aptos" pitchFamily="34" charset="0"/>
                <a:ea typeface="Aptos" pitchFamily="34" charset="-122"/>
                <a:cs typeface="Aptos" pitchFamily="34" charset="-120"/>
              </a:rPr>
              <a:t>long-range patch interaction</a:t>
            </a:r>
            <a:endParaRPr lang="en-US" sz="700" dirty="0"/>
          </a:p>
        </p:txBody>
      </p:sp>
      <p:sp>
        <p:nvSpPr>
          <p:cNvPr id="31" name="Shape 29"/>
          <p:cNvSpPr/>
          <p:nvPr/>
        </p:nvSpPr>
        <p:spPr>
          <a:xfrm>
            <a:off x="2194560" y="4800600"/>
            <a:ext cx="6035040" cy="530352"/>
          </a:xfrm>
          <a:prstGeom prst="roundRect">
            <a:avLst>
              <a:gd name="adj" fmla="val 13793"/>
            </a:avLst>
          </a:prstGeom>
          <a:solidFill>
            <a:srgbClr val="E9F6D7"/>
          </a:solidFill>
          <a:ln w="13970">
            <a:solidFill>
              <a:srgbClr val="86B817"/>
            </a:solidFill>
            <a:prstDash val="solid"/>
          </a:ln>
        </p:spPr>
        <p:txBody>
          <a:bodyPr/>
          <a:lstStyle/>
          <a:p>
            <a:endParaRPr lang="en-GB"/>
          </a:p>
        </p:txBody>
      </p:sp>
      <p:sp>
        <p:nvSpPr>
          <p:cNvPr id="32" name="Text 30"/>
          <p:cNvSpPr/>
          <p:nvPr/>
        </p:nvSpPr>
        <p:spPr>
          <a:xfrm>
            <a:off x="2231136" y="4846320"/>
            <a:ext cx="5961888" cy="438912"/>
          </a:xfrm>
          <a:prstGeom prst="rect">
            <a:avLst/>
          </a:prstGeom>
          <a:noFill/>
          <a:ln/>
        </p:spPr>
        <p:txBody>
          <a:bodyPr wrap="square" lIns="0" tIns="0" rIns="0" bIns="0" rtlCol="0" anchor="ctr">
            <a:normAutofit/>
          </a:bodyPr>
          <a:lstStyle/>
          <a:p>
            <a:pPr marL="0" indent="0" algn="ctr">
              <a:buNone/>
            </a:pPr>
            <a:r>
              <a:rPr lang="en-US" sz="1000" b="1" dirty="0">
                <a:solidFill>
                  <a:srgbClr val="122033"/>
                </a:solidFill>
                <a:latin typeface="Aptos" pitchFamily="34" charset="0"/>
                <a:ea typeface="Aptos" pitchFamily="34" charset="-122"/>
                <a:cs typeface="Aptos" pitchFamily="34" charset="-120"/>
              </a:rPr>
              <a:t>Key visual idea: PatchTST applies attention to patch tokens, not raw samples.</a:t>
            </a:r>
            <a:endParaRPr lang="en-US" sz="10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F2D78B-A634-E83C-18CC-74A7CC1E7E37}"/>
              </a:ext>
            </a:extLst>
          </p:cNvPr>
          <p:cNvSpPr>
            <a:spLocks noGrp="1"/>
          </p:cNvSpPr>
          <p:nvPr>
            <p:ph type="title"/>
          </p:nvPr>
        </p:nvSpPr>
        <p:spPr/>
        <p:txBody>
          <a:bodyPr/>
          <a:lstStyle/>
          <a:p>
            <a:r>
              <a:rPr lang="en-GB" dirty="0"/>
              <a:t>From an input window to patches</a:t>
            </a:r>
          </a:p>
        </p:txBody>
      </p:sp>
      <p:sp>
        <p:nvSpPr>
          <p:cNvPr id="3" name="Segnaposto contenuto 2">
            <a:extLst>
              <a:ext uri="{FF2B5EF4-FFF2-40B4-BE49-F238E27FC236}">
                <a16:creationId xmlns:a16="http://schemas.microsoft.com/office/drawing/2014/main" id="{12A3D809-7290-DE4D-9072-A8E9CC577887}"/>
              </a:ext>
            </a:extLst>
          </p:cNvPr>
          <p:cNvSpPr>
            <a:spLocks noGrp="1"/>
          </p:cNvSpPr>
          <p:nvPr>
            <p:ph sz="half" idx="1"/>
          </p:nvPr>
        </p:nvSpPr>
        <p:spPr>
          <a:xfrm>
            <a:off x="677334" y="2160588"/>
            <a:ext cx="5418666" cy="4473675"/>
          </a:xfrm>
        </p:spPr>
        <p:txBody>
          <a:bodyPr>
            <a:normAutofit/>
          </a:bodyPr>
          <a:lstStyle/>
          <a:p>
            <a:r>
              <a:rPr lang="en-GB" dirty="0"/>
              <a:t>Suppose the historical input contains:</a:t>
            </a:r>
          </a:p>
          <a:p>
            <a:r>
              <a:rPr lang="en-GB" dirty="0"/>
              <a:t>L = 336 time steps.</a:t>
            </a:r>
          </a:p>
          <a:p>
            <a:r>
              <a:rPr lang="en-GB" dirty="0"/>
              <a:t>Choose:</a:t>
            </a:r>
          </a:p>
          <a:p>
            <a:pPr lvl="1"/>
            <a:r>
              <a:rPr lang="en-GB" dirty="0"/>
              <a:t>patch length P = 16; </a:t>
            </a:r>
          </a:p>
          <a:p>
            <a:pPr lvl="1"/>
            <a:r>
              <a:rPr lang="en-GB" dirty="0"/>
              <a:t>patch stride S = 8. </a:t>
            </a:r>
          </a:p>
          <a:p>
            <a:r>
              <a:rPr lang="en-GB" dirty="0"/>
              <a:t>Patches are extracted as:</a:t>
            </a:r>
          </a:p>
          <a:p>
            <a:pPr lvl="1"/>
            <a:r>
              <a:rPr lang="en-GB" dirty="0"/>
              <a:t>Patch 1: x[1] ... x[16]</a:t>
            </a:r>
          </a:p>
          <a:p>
            <a:pPr lvl="1"/>
            <a:r>
              <a:rPr lang="en-GB" dirty="0"/>
              <a:t>Patch 2: x[9] ... x[24]</a:t>
            </a:r>
          </a:p>
          <a:p>
            <a:pPr lvl="1"/>
            <a:r>
              <a:rPr lang="en-GB" dirty="0"/>
              <a:t>Patch 3: x[17] ... x[32]</a:t>
            </a:r>
          </a:p>
          <a:p>
            <a:pPr lvl="1"/>
            <a:r>
              <a:rPr lang="en-GB" dirty="0"/>
              <a:t>...</a:t>
            </a:r>
          </a:p>
          <a:p>
            <a:endParaRPr lang="en-GB" dirty="0"/>
          </a:p>
        </p:txBody>
      </p:sp>
      <p:sp>
        <p:nvSpPr>
          <p:cNvPr id="4" name="Segnaposto contenuto 3">
            <a:extLst>
              <a:ext uri="{FF2B5EF4-FFF2-40B4-BE49-F238E27FC236}">
                <a16:creationId xmlns:a16="http://schemas.microsoft.com/office/drawing/2014/main" id="{23F5B9F4-2FD7-7979-A1C0-9DF24CA7C150}"/>
              </a:ext>
            </a:extLst>
          </p:cNvPr>
          <p:cNvSpPr>
            <a:spLocks noGrp="1"/>
          </p:cNvSpPr>
          <p:nvPr>
            <p:ph sz="half" idx="2"/>
          </p:nvPr>
        </p:nvSpPr>
        <p:spPr>
          <a:xfrm>
            <a:off x="6364293" y="2160589"/>
            <a:ext cx="5600728" cy="4473675"/>
          </a:xfrm>
        </p:spPr>
        <p:txBody>
          <a:bodyPr>
            <a:normAutofit/>
          </a:bodyPr>
          <a:lstStyle/>
          <a:p>
            <a:r>
              <a:rPr lang="en-GB" dirty="0"/>
              <a:t>Because: S &lt; P the patches overlap.</a:t>
            </a:r>
          </a:p>
          <a:p>
            <a:r>
              <a:rPr lang="en-GB" b="1" dirty="0"/>
              <a:t>Why overlapping patches?</a:t>
            </a:r>
          </a:p>
          <a:p>
            <a:r>
              <a:rPr lang="en-GB" dirty="0"/>
              <a:t>They provide:</a:t>
            </a:r>
          </a:p>
          <a:p>
            <a:pPr lvl="1"/>
            <a:r>
              <a:rPr lang="en-GB" dirty="0"/>
              <a:t>denser temporal coverage; </a:t>
            </a:r>
          </a:p>
          <a:p>
            <a:pPr lvl="1"/>
            <a:r>
              <a:rPr lang="en-GB" dirty="0"/>
              <a:t>less sensitivity to arbitrary patch boundaries; </a:t>
            </a:r>
          </a:p>
          <a:p>
            <a:pPr lvl="1"/>
            <a:r>
              <a:rPr lang="en-GB" dirty="0"/>
              <a:t>partially shared local context between </a:t>
            </a:r>
            <a:r>
              <a:rPr lang="en-GB" dirty="0" err="1"/>
              <a:t>neighboring</a:t>
            </a:r>
            <a:r>
              <a:rPr lang="en-GB" dirty="0"/>
              <a:t> tokens. </a:t>
            </a:r>
          </a:p>
          <a:p>
            <a:endParaRPr lang="en-GB" b="1" dirty="0"/>
          </a:p>
          <a:p>
            <a:r>
              <a:rPr lang="en-GB" b="1" dirty="0"/>
              <a:t>Result</a:t>
            </a:r>
          </a:p>
          <a:p>
            <a:r>
              <a:rPr lang="en-GB" dirty="0"/>
              <a:t>A long raw sequence becomes a substantially shorter sequence of patch tokens.</a:t>
            </a:r>
          </a:p>
          <a:p>
            <a:endParaRPr lang="en-GB" dirty="0"/>
          </a:p>
        </p:txBody>
      </p:sp>
    </p:spTree>
    <p:extLst>
      <p:ext uri="{BB962C8B-B14F-4D97-AF65-F5344CB8AC3E}">
        <p14:creationId xmlns:p14="http://schemas.microsoft.com/office/powerpoint/2010/main" val="126268099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Overlapping temporal patches</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1050" b="1" dirty="0">
                <a:solidFill>
                  <a:srgbClr val="53627A"/>
                </a:solidFill>
              </a:rPr>
              <a:t>Patch length and patch stride are independent design parameters.</a:t>
            </a:r>
            <a:endParaRPr lang="en-US" sz="1050" b="1" dirty="0"/>
          </a:p>
        </p:txBody>
      </p:sp>
      <p:sp>
        <p:nvSpPr>
          <p:cNvPr id="8" name="Shape 6"/>
          <p:cNvSpPr/>
          <p:nvPr/>
        </p:nvSpPr>
        <p:spPr>
          <a:xfrm>
            <a:off x="731520"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9" name="Shape 7"/>
          <p:cNvSpPr/>
          <p:nvPr/>
        </p:nvSpPr>
        <p:spPr>
          <a:xfrm>
            <a:off x="89611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0" name="Shape 8"/>
          <p:cNvSpPr/>
          <p:nvPr/>
        </p:nvSpPr>
        <p:spPr>
          <a:xfrm>
            <a:off x="106070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1" name="Shape 9"/>
          <p:cNvSpPr/>
          <p:nvPr/>
        </p:nvSpPr>
        <p:spPr>
          <a:xfrm>
            <a:off x="122529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2" name="Shape 10"/>
          <p:cNvSpPr/>
          <p:nvPr/>
        </p:nvSpPr>
        <p:spPr>
          <a:xfrm>
            <a:off x="138988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3" name="Shape 11"/>
          <p:cNvSpPr/>
          <p:nvPr/>
        </p:nvSpPr>
        <p:spPr>
          <a:xfrm>
            <a:off x="155448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4" name="Shape 12"/>
          <p:cNvSpPr/>
          <p:nvPr/>
        </p:nvSpPr>
        <p:spPr>
          <a:xfrm>
            <a:off x="171907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5" name="Shape 13"/>
          <p:cNvSpPr/>
          <p:nvPr/>
        </p:nvSpPr>
        <p:spPr>
          <a:xfrm>
            <a:off x="188366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6" name="Shape 14"/>
          <p:cNvSpPr/>
          <p:nvPr/>
        </p:nvSpPr>
        <p:spPr>
          <a:xfrm>
            <a:off x="2048256"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17" name="Shape 15"/>
          <p:cNvSpPr/>
          <p:nvPr/>
        </p:nvSpPr>
        <p:spPr>
          <a:xfrm>
            <a:off x="221284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8" name="Shape 16"/>
          <p:cNvSpPr/>
          <p:nvPr/>
        </p:nvSpPr>
        <p:spPr>
          <a:xfrm>
            <a:off x="237744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19" name="Shape 17"/>
          <p:cNvSpPr/>
          <p:nvPr/>
        </p:nvSpPr>
        <p:spPr>
          <a:xfrm>
            <a:off x="254203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0" name="Shape 18"/>
          <p:cNvSpPr/>
          <p:nvPr/>
        </p:nvSpPr>
        <p:spPr>
          <a:xfrm>
            <a:off x="270662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1" name="Shape 19"/>
          <p:cNvSpPr/>
          <p:nvPr/>
        </p:nvSpPr>
        <p:spPr>
          <a:xfrm>
            <a:off x="287121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2" name="Shape 20"/>
          <p:cNvSpPr/>
          <p:nvPr/>
        </p:nvSpPr>
        <p:spPr>
          <a:xfrm>
            <a:off x="303580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3" name="Shape 21"/>
          <p:cNvSpPr/>
          <p:nvPr/>
        </p:nvSpPr>
        <p:spPr>
          <a:xfrm>
            <a:off x="320040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4" name="Shape 22"/>
          <p:cNvSpPr/>
          <p:nvPr/>
        </p:nvSpPr>
        <p:spPr>
          <a:xfrm>
            <a:off x="3364992"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25" name="Shape 23"/>
          <p:cNvSpPr/>
          <p:nvPr/>
        </p:nvSpPr>
        <p:spPr>
          <a:xfrm>
            <a:off x="352958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6" name="Shape 24"/>
          <p:cNvSpPr/>
          <p:nvPr/>
        </p:nvSpPr>
        <p:spPr>
          <a:xfrm>
            <a:off x="369417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7" name="Shape 25"/>
          <p:cNvSpPr/>
          <p:nvPr/>
        </p:nvSpPr>
        <p:spPr>
          <a:xfrm>
            <a:off x="385876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8" name="Shape 26"/>
          <p:cNvSpPr/>
          <p:nvPr/>
        </p:nvSpPr>
        <p:spPr>
          <a:xfrm>
            <a:off x="402336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29" name="Shape 27"/>
          <p:cNvSpPr/>
          <p:nvPr/>
        </p:nvSpPr>
        <p:spPr>
          <a:xfrm>
            <a:off x="418795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0" name="Shape 28"/>
          <p:cNvSpPr/>
          <p:nvPr/>
        </p:nvSpPr>
        <p:spPr>
          <a:xfrm>
            <a:off x="435254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1" name="Shape 29"/>
          <p:cNvSpPr/>
          <p:nvPr/>
        </p:nvSpPr>
        <p:spPr>
          <a:xfrm>
            <a:off x="451713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2" name="Shape 30"/>
          <p:cNvSpPr/>
          <p:nvPr/>
        </p:nvSpPr>
        <p:spPr>
          <a:xfrm>
            <a:off x="4681728"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33" name="Shape 31"/>
          <p:cNvSpPr/>
          <p:nvPr/>
        </p:nvSpPr>
        <p:spPr>
          <a:xfrm>
            <a:off x="484632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4" name="Shape 32"/>
          <p:cNvSpPr/>
          <p:nvPr/>
        </p:nvSpPr>
        <p:spPr>
          <a:xfrm>
            <a:off x="501091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5" name="Shape 33"/>
          <p:cNvSpPr/>
          <p:nvPr/>
        </p:nvSpPr>
        <p:spPr>
          <a:xfrm>
            <a:off x="517550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6" name="Shape 34"/>
          <p:cNvSpPr/>
          <p:nvPr/>
        </p:nvSpPr>
        <p:spPr>
          <a:xfrm>
            <a:off x="534009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7" name="Shape 35"/>
          <p:cNvSpPr/>
          <p:nvPr/>
        </p:nvSpPr>
        <p:spPr>
          <a:xfrm>
            <a:off x="550468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8" name="Shape 36"/>
          <p:cNvSpPr/>
          <p:nvPr/>
        </p:nvSpPr>
        <p:spPr>
          <a:xfrm>
            <a:off x="566928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39" name="Shape 37"/>
          <p:cNvSpPr/>
          <p:nvPr/>
        </p:nvSpPr>
        <p:spPr>
          <a:xfrm>
            <a:off x="583387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0" name="Shape 38"/>
          <p:cNvSpPr/>
          <p:nvPr/>
        </p:nvSpPr>
        <p:spPr>
          <a:xfrm>
            <a:off x="5998464"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41" name="Shape 39"/>
          <p:cNvSpPr/>
          <p:nvPr/>
        </p:nvSpPr>
        <p:spPr>
          <a:xfrm>
            <a:off x="616305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2" name="Shape 40"/>
          <p:cNvSpPr/>
          <p:nvPr/>
        </p:nvSpPr>
        <p:spPr>
          <a:xfrm>
            <a:off x="632764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3" name="Shape 41"/>
          <p:cNvSpPr/>
          <p:nvPr/>
        </p:nvSpPr>
        <p:spPr>
          <a:xfrm>
            <a:off x="649224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4" name="Shape 42"/>
          <p:cNvSpPr/>
          <p:nvPr/>
        </p:nvSpPr>
        <p:spPr>
          <a:xfrm>
            <a:off x="665683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5" name="Shape 43"/>
          <p:cNvSpPr/>
          <p:nvPr/>
        </p:nvSpPr>
        <p:spPr>
          <a:xfrm>
            <a:off x="682142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6" name="Shape 44"/>
          <p:cNvSpPr/>
          <p:nvPr/>
        </p:nvSpPr>
        <p:spPr>
          <a:xfrm>
            <a:off x="698601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7" name="Shape 45"/>
          <p:cNvSpPr/>
          <p:nvPr/>
        </p:nvSpPr>
        <p:spPr>
          <a:xfrm>
            <a:off x="715060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48" name="Shape 46"/>
          <p:cNvSpPr/>
          <p:nvPr/>
        </p:nvSpPr>
        <p:spPr>
          <a:xfrm>
            <a:off x="7315200"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49" name="Shape 47"/>
          <p:cNvSpPr/>
          <p:nvPr/>
        </p:nvSpPr>
        <p:spPr>
          <a:xfrm>
            <a:off x="747979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0" name="Shape 48"/>
          <p:cNvSpPr/>
          <p:nvPr/>
        </p:nvSpPr>
        <p:spPr>
          <a:xfrm>
            <a:off x="764438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1" name="Shape 49"/>
          <p:cNvSpPr/>
          <p:nvPr/>
        </p:nvSpPr>
        <p:spPr>
          <a:xfrm>
            <a:off x="780897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2" name="Shape 50"/>
          <p:cNvSpPr/>
          <p:nvPr/>
        </p:nvSpPr>
        <p:spPr>
          <a:xfrm>
            <a:off x="797356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3" name="Shape 51"/>
          <p:cNvSpPr/>
          <p:nvPr/>
        </p:nvSpPr>
        <p:spPr>
          <a:xfrm>
            <a:off x="813816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4" name="Shape 52"/>
          <p:cNvSpPr/>
          <p:nvPr/>
        </p:nvSpPr>
        <p:spPr>
          <a:xfrm>
            <a:off x="830275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5" name="Shape 53"/>
          <p:cNvSpPr/>
          <p:nvPr/>
        </p:nvSpPr>
        <p:spPr>
          <a:xfrm>
            <a:off x="846734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6" name="Shape 54"/>
          <p:cNvSpPr/>
          <p:nvPr/>
        </p:nvSpPr>
        <p:spPr>
          <a:xfrm>
            <a:off x="8631936"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57" name="Shape 55"/>
          <p:cNvSpPr/>
          <p:nvPr/>
        </p:nvSpPr>
        <p:spPr>
          <a:xfrm>
            <a:off x="879652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8" name="Shape 56"/>
          <p:cNvSpPr/>
          <p:nvPr/>
        </p:nvSpPr>
        <p:spPr>
          <a:xfrm>
            <a:off x="896112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59" name="Shape 57"/>
          <p:cNvSpPr/>
          <p:nvPr/>
        </p:nvSpPr>
        <p:spPr>
          <a:xfrm>
            <a:off x="912571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0" name="Shape 58"/>
          <p:cNvSpPr/>
          <p:nvPr/>
        </p:nvSpPr>
        <p:spPr>
          <a:xfrm>
            <a:off x="929030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1" name="Shape 59"/>
          <p:cNvSpPr/>
          <p:nvPr/>
        </p:nvSpPr>
        <p:spPr>
          <a:xfrm>
            <a:off x="945489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2" name="Shape 60"/>
          <p:cNvSpPr/>
          <p:nvPr/>
        </p:nvSpPr>
        <p:spPr>
          <a:xfrm>
            <a:off x="961948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3" name="Shape 61"/>
          <p:cNvSpPr/>
          <p:nvPr/>
        </p:nvSpPr>
        <p:spPr>
          <a:xfrm>
            <a:off x="978408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4" name="Shape 62"/>
          <p:cNvSpPr/>
          <p:nvPr/>
        </p:nvSpPr>
        <p:spPr>
          <a:xfrm>
            <a:off x="9948672" y="1828800"/>
            <a:ext cx="50292" cy="50292"/>
          </a:xfrm>
          <a:prstGeom prst="ellipse">
            <a:avLst/>
          </a:prstGeom>
          <a:solidFill>
            <a:srgbClr val="86B817"/>
          </a:solidFill>
          <a:ln w="12700">
            <a:solidFill>
              <a:srgbClr val="86B817"/>
            </a:solidFill>
            <a:prstDash val="solid"/>
          </a:ln>
        </p:spPr>
        <p:txBody>
          <a:bodyPr/>
          <a:lstStyle/>
          <a:p>
            <a:endParaRPr lang="en-GB"/>
          </a:p>
        </p:txBody>
      </p:sp>
      <p:sp>
        <p:nvSpPr>
          <p:cNvPr id="65" name="Shape 63"/>
          <p:cNvSpPr/>
          <p:nvPr/>
        </p:nvSpPr>
        <p:spPr>
          <a:xfrm>
            <a:off x="1011326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6" name="Shape 64"/>
          <p:cNvSpPr/>
          <p:nvPr/>
        </p:nvSpPr>
        <p:spPr>
          <a:xfrm>
            <a:off x="1027785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7" name="Shape 65"/>
          <p:cNvSpPr/>
          <p:nvPr/>
        </p:nvSpPr>
        <p:spPr>
          <a:xfrm>
            <a:off x="10442448"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8" name="Shape 66"/>
          <p:cNvSpPr/>
          <p:nvPr/>
        </p:nvSpPr>
        <p:spPr>
          <a:xfrm>
            <a:off x="10607040"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69" name="Shape 67"/>
          <p:cNvSpPr/>
          <p:nvPr/>
        </p:nvSpPr>
        <p:spPr>
          <a:xfrm>
            <a:off x="10771632"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70" name="Shape 68"/>
          <p:cNvSpPr/>
          <p:nvPr/>
        </p:nvSpPr>
        <p:spPr>
          <a:xfrm>
            <a:off x="10936224"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71" name="Shape 69"/>
          <p:cNvSpPr/>
          <p:nvPr/>
        </p:nvSpPr>
        <p:spPr>
          <a:xfrm>
            <a:off x="11100816" y="1828800"/>
            <a:ext cx="50292" cy="50292"/>
          </a:xfrm>
          <a:prstGeom prst="ellipse">
            <a:avLst/>
          </a:prstGeom>
          <a:solidFill>
            <a:srgbClr val="3C7BE8"/>
          </a:solidFill>
          <a:ln w="12700">
            <a:solidFill>
              <a:srgbClr val="3C7BE8"/>
            </a:solidFill>
            <a:prstDash val="solid"/>
          </a:ln>
        </p:spPr>
        <p:txBody>
          <a:bodyPr/>
          <a:lstStyle/>
          <a:p>
            <a:endParaRPr lang="en-GB"/>
          </a:p>
        </p:txBody>
      </p:sp>
      <p:sp>
        <p:nvSpPr>
          <p:cNvPr id="72" name="Text 70"/>
          <p:cNvSpPr/>
          <p:nvPr/>
        </p:nvSpPr>
        <p:spPr>
          <a:xfrm>
            <a:off x="685800" y="1325880"/>
            <a:ext cx="2926080" cy="228600"/>
          </a:xfrm>
          <a:prstGeom prst="rect">
            <a:avLst/>
          </a:prstGeom>
          <a:noFill/>
          <a:ln/>
        </p:spPr>
        <p:txBody>
          <a:bodyPr wrap="square" lIns="635" tIns="635" rIns="635" bIns="635" rtlCol="0" anchor="ctr">
            <a:normAutofit/>
          </a:bodyPr>
          <a:lstStyle/>
          <a:p>
            <a:pPr marL="0" indent="0">
              <a:buNone/>
            </a:pPr>
            <a:r>
              <a:rPr lang="en-US" sz="800" dirty="0">
                <a:solidFill>
                  <a:srgbClr val="53627A"/>
                </a:solidFill>
                <a:latin typeface="Aptos" pitchFamily="34" charset="0"/>
                <a:ea typeface="Aptos" pitchFamily="34" charset="-122"/>
                <a:cs typeface="Aptos" pitchFamily="34" charset="-120"/>
              </a:rPr>
              <a:t>historical input window, L = 336</a:t>
            </a:r>
            <a:endParaRPr lang="en-US" sz="800" dirty="0"/>
          </a:p>
        </p:txBody>
      </p:sp>
      <p:sp>
        <p:nvSpPr>
          <p:cNvPr id="73" name="Shape 71"/>
          <p:cNvSpPr/>
          <p:nvPr/>
        </p:nvSpPr>
        <p:spPr>
          <a:xfrm>
            <a:off x="731520" y="2377440"/>
            <a:ext cx="2633472" cy="329184"/>
          </a:xfrm>
          <a:prstGeom prst="roundRect">
            <a:avLst>
              <a:gd name="adj" fmla="val 13889"/>
            </a:avLst>
          </a:prstGeom>
          <a:solidFill>
            <a:srgbClr val="FFE7B4">
              <a:alpha val="80000"/>
            </a:srgbClr>
          </a:solidFill>
          <a:ln w="13970">
            <a:solidFill>
              <a:srgbClr val="E5A100"/>
            </a:solidFill>
            <a:prstDash val="solid"/>
          </a:ln>
        </p:spPr>
        <p:txBody>
          <a:bodyPr/>
          <a:lstStyle/>
          <a:p>
            <a:endParaRPr lang="en-GB"/>
          </a:p>
        </p:txBody>
      </p:sp>
      <p:sp>
        <p:nvSpPr>
          <p:cNvPr id="74" name="Text 72"/>
          <p:cNvSpPr/>
          <p:nvPr/>
        </p:nvSpPr>
        <p:spPr>
          <a:xfrm>
            <a:off x="768096" y="2441448"/>
            <a:ext cx="2560320" cy="137160"/>
          </a:xfrm>
          <a:prstGeom prst="rect">
            <a:avLst/>
          </a:prstGeom>
          <a:noFill/>
          <a:ln/>
        </p:spPr>
        <p:txBody>
          <a:bodyPr wrap="square" lIns="0" tIns="0" rIns="0" bIns="0" rtlCol="0" anchor="ctr"/>
          <a:lstStyle/>
          <a:p>
            <a:pPr marL="0" indent="0" algn="ctr">
              <a:buNone/>
            </a:pPr>
            <a:r>
              <a:rPr lang="en-US" sz="650" dirty="0">
                <a:solidFill>
                  <a:srgbClr val="122033"/>
                </a:solidFill>
              </a:rPr>
              <a:t>Patch 1: 1–16</a:t>
            </a:r>
            <a:endParaRPr lang="en-US" sz="650" dirty="0"/>
          </a:p>
        </p:txBody>
      </p:sp>
      <p:sp>
        <p:nvSpPr>
          <p:cNvPr id="75" name="Shape 73"/>
          <p:cNvSpPr/>
          <p:nvPr/>
        </p:nvSpPr>
        <p:spPr>
          <a:xfrm>
            <a:off x="2048256" y="2816352"/>
            <a:ext cx="2633472" cy="329184"/>
          </a:xfrm>
          <a:prstGeom prst="roundRect">
            <a:avLst>
              <a:gd name="adj" fmla="val 13889"/>
            </a:avLst>
          </a:prstGeom>
          <a:solidFill>
            <a:srgbClr val="E9F6D7">
              <a:alpha val="80000"/>
            </a:srgbClr>
          </a:solidFill>
          <a:ln w="13970">
            <a:solidFill>
              <a:srgbClr val="86B817"/>
            </a:solidFill>
            <a:prstDash val="solid"/>
          </a:ln>
        </p:spPr>
        <p:txBody>
          <a:bodyPr/>
          <a:lstStyle/>
          <a:p>
            <a:endParaRPr lang="en-GB"/>
          </a:p>
        </p:txBody>
      </p:sp>
      <p:sp>
        <p:nvSpPr>
          <p:cNvPr id="76" name="Text 74"/>
          <p:cNvSpPr/>
          <p:nvPr/>
        </p:nvSpPr>
        <p:spPr>
          <a:xfrm>
            <a:off x="2084832" y="2880360"/>
            <a:ext cx="2560320" cy="137160"/>
          </a:xfrm>
          <a:prstGeom prst="rect">
            <a:avLst/>
          </a:prstGeom>
          <a:noFill/>
          <a:ln/>
        </p:spPr>
        <p:txBody>
          <a:bodyPr wrap="square" lIns="0" tIns="0" rIns="0" bIns="0" rtlCol="0" anchor="ctr"/>
          <a:lstStyle/>
          <a:p>
            <a:pPr marL="0" indent="0" algn="ctr">
              <a:buNone/>
            </a:pPr>
            <a:r>
              <a:rPr lang="en-US" sz="650" dirty="0">
                <a:solidFill>
                  <a:srgbClr val="122033"/>
                </a:solidFill>
              </a:rPr>
              <a:t>Patch 2: 9–24</a:t>
            </a:r>
            <a:endParaRPr lang="en-US" sz="650" dirty="0"/>
          </a:p>
        </p:txBody>
      </p:sp>
      <p:sp>
        <p:nvSpPr>
          <p:cNvPr id="77" name="Shape 75"/>
          <p:cNvSpPr/>
          <p:nvPr/>
        </p:nvSpPr>
        <p:spPr>
          <a:xfrm>
            <a:off x="3364992" y="3255264"/>
            <a:ext cx="2633472" cy="329184"/>
          </a:xfrm>
          <a:prstGeom prst="roundRect">
            <a:avLst>
              <a:gd name="adj" fmla="val 13889"/>
            </a:avLst>
          </a:prstGeom>
          <a:solidFill>
            <a:srgbClr val="FFE7B4">
              <a:alpha val="80000"/>
            </a:srgbClr>
          </a:solidFill>
          <a:ln w="13970">
            <a:solidFill>
              <a:srgbClr val="E5A100"/>
            </a:solidFill>
            <a:prstDash val="solid"/>
          </a:ln>
        </p:spPr>
        <p:txBody>
          <a:bodyPr/>
          <a:lstStyle/>
          <a:p>
            <a:endParaRPr lang="en-GB"/>
          </a:p>
        </p:txBody>
      </p:sp>
      <p:sp>
        <p:nvSpPr>
          <p:cNvPr id="78" name="Text 76"/>
          <p:cNvSpPr/>
          <p:nvPr/>
        </p:nvSpPr>
        <p:spPr>
          <a:xfrm>
            <a:off x="3401568" y="3319272"/>
            <a:ext cx="2560320" cy="137160"/>
          </a:xfrm>
          <a:prstGeom prst="rect">
            <a:avLst/>
          </a:prstGeom>
          <a:noFill/>
          <a:ln/>
        </p:spPr>
        <p:txBody>
          <a:bodyPr wrap="square" lIns="0" tIns="0" rIns="0" bIns="0" rtlCol="0" anchor="ctr"/>
          <a:lstStyle/>
          <a:p>
            <a:pPr marL="0" indent="0" algn="ctr">
              <a:buNone/>
            </a:pPr>
            <a:r>
              <a:rPr lang="en-US" sz="650" dirty="0">
                <a:solidFill>
                  <a:srgbClr val="122033"/>
                </a:solidFill>
              </a:rPr>
              <a:t>Patch 3: 17–32</a:t>
            </a:r>
            <a:endParaRPr lang="en-US" sz="650" dirty="0"/>
          </a:p>
        </p:txBody>
      </p:sp>
      <p:sp>
        <p:nvSpPr>
          <p:cNvPr id="79" name="Shape 77"/>
          <p:cNvSpPr/>
          <p:nvPr/>
        </p:nvSpPr>
        <p:spPr>
          <a:xfrm>
            <a:off x="4681728" y="3694176"/>
            <a:ext cx="2633472" cy="329184"/>
          </a:xfrm>
          <a:prstGeom prst="roundRect">
            <a:avLst>
              <a:gd name="adj" fmla="val 13889"/>
            </a:avLst>
          </a:prstGeom>
          <a:solidFill>
            <a:srgbClr val="E9F6D7">
              <a:alpha val="80000"/>
            </a:srgbClr>
          </a:solidFill>
          <a:ln w="13970">
            <a:solidFill>
              <a:srgbClr val="86B817"/>
            </a:solidFill>
            <a:prstDash val="solid"/>
          </a:ln>
        </p:spPr>
        <p:txBody>
          <a:bodyPr/>
          <a:lstStyle/>
          <a:p>
            <a:endParaRPr lang="en-GB"/>
          </a:p>
        </p:txBody>
      </p:sp>
      <p:sp>
        <p:nvSpPr>
          <p:cNvPr id="80" name="Text 78"/>
          <p:cNvSpPr/>
          <p:nvPr/>
        </p:nvSpPr>
        <p:spPr>
          <a:xfrm>
            <a:off x="4718304" y="3758184"/>
            <a:ext cx="2560320" cy="137160"/>
          </a:xfrm>
          <a:prstGeom prst="rect">
            <a:avLst/>
          </a:prstGeom>
          <a:noFill/>
          <a:ln/>
        </p:spPr>
        <p:txBody>
          <a:bodyPr wrap="square" lIns="0" tIns="0" rIns="0" bIns="0" rtlCol="0" anchor="ctr"/>
          <a:lstStyle/>
          <a:p>
            <a:pPr marL="0" indent="0" algn="ctr">
              <a:buNone/>
            </a:pPr>
            <a:r>
              <a:rPr lang="en-US" sz="650" dirty="0">
                <a:solidFill>
                  <a:srgbClr val="122033"/>
                </a:solidFill>
              </a:rPr>
              <a:t>Patch 4: 25–40</a:t>
            </a:r>
            <a:endParaRPr lang="en-US" sz="650" dirty="0"/>
          </a:p>
        </p:txBody>
      </p:sp>
      <p:sp>
        <p:nvSpPr>
          <p:cNvPr id="81" name="Shape 79"/>
          <p:cNvSpPr/>
          <p:nvPr/>
        </p:nvSpPr>
        <p:spPr>
          <a:xfrm>
            <a:off x="1097280" y="4800600"/>
            <a:ext cx="1828800" cy="384048"/>
          </a:xfrm>
          <a:prstGeom prst="roundRect">
            <a:avLst>
              <a:gd name="adj" fmla="val 19048"/>
            </a:avLst>
          </a:prstGeom>
          <a:solidFill>
            <a:srgbClr val="FFE7B4"/>
          </a:solidFill>
          <a:ln w="13970">
            <a:solidFill>
              <a:srgbClr val="E5A100"/>
            </a:solidFill>
            <a:prstDash val="solid"/>
          </a:ln>
        </p:spPr>
        <p:txBody>
          <a:bodyPr/>
          <a:lstStyle/>
          <a:p>
            <a:endParaRPr lang="en-GB"/>
          </a:p>
        </p:txBody>
      </p:sp>
      <p:sp>
        <p:nvSpPr>
          <p:cNvPr id="82" name="Text 80"/>
          <p:cNvSpPr/>
          <p:nvPr/>
        </p:nvSpPr>
        <p:spPr>
          <a:xfrm>
            <a:off x="1133856" y="4846320"/>
            <a:ext cx="1755648" cy="292608"/>
          </a:xfrm>
          <a:prstGeom prst="rect">
            <a:avLst/>
          </a:prstGeom>
          <a:noFill/>
          <a:ln/>
        </p:spPr>
        <p:txBody>
          <a:bodyPr wrap="square" lIns="0" tIns="0" rIns="0" bIns="0" rtlCol="0" anchor="ctr">
            <a:normAutofit/>
          </a:bodyPr>
          <a:lstStyle/>
          <a:p>
            <a:pPr marL="0" indent="0" algn="ctr">
              <a:buNone/>
            </a:pPr>
            <a:r>
              <a:rPr lang="en-US" sz="850" b="1" dirty="0">
                <a:solidFill>
                  <a:srgbClr val="122033"/>
                </a:solidFill>
                <a:latin typeface="Aptos" pitchFamily="34" charset="0"/>
                <a:ea typeface="Aptos" pitchFamily="34" charset="-122"/>
                <a:cs typeface="Aptos" pitchFamily="34" charset="-120"/>
              </a:rPr>
              <a:t>patch length P = 16</a:t>
            </a:r>
            <a:endParaRPr lang="en-US" sz="850" dirty="0"/>
          </a:p>
        </p:txBody>
      </p:sp>
      <p:sp>
        <p:nvSpPr>
          <p:cNvPr id="83" name="Shape 81"/>
          <p:cNvSpPr/>
          <p:nvPr/>
        </p:nvSpPr>
        <p:spPr>
          <a:xfrm>
            <a:off x="3749040" y="4800600"/>
            <a:ext cx="1828800" cy="384048"/>
          </a:xfrm>
          <a:prstGeom prst="roundRect">
            <a:avLst>
              <a:gd name="adj" fmla="val 19048"/>
            </a:avLst>
          </a:prstGeom>
          <a:solidFill>
            <a:srgbClr val="E9F6D7"/>
          </a:solidFill>
          <a:ln w="13970">
            <a:solidFill>
              <a:srgbClr val="86B817"/>
            </a:solidFill>
            <a:prstDash val="solid"/>
          </a:ln>
        </p:spPr>
        <p:txBody>
          <a:bodyPr/>
          <a:lstStyle/>
          <a:p>
            <a:endParaRPr lang="en-GB"/>
          </a:p>
        </p:txBody>
      </p:sp>
      <p:sp>
        <p:nvSpPr>
          <p:cNvPr id="84" name="Text 82"/>
          <p:cNvSpPr/>
          <p:nvPr/>
        </p:nvSpPr>
        <p:spPr>
          <a:xfrm>
            <a:off x="3785616" y="4846320"/>
            <a:ext cx="1755648" cy="292608"/>
          </a:xfrm>
          <a:prstGeom prst="rect">
            <a:avLst/>
          </a:prstGeom>
          <a:noFill/>
          <a:ln/>
        </p:spPr>
        <p:txBody>
          <a:bodyPr wrap="square" lIns="0" tIns="0" rIns="0" bIns="0" rtlCol="0" anchor="ctr">
            <a:normAutofit/>
          </a:bodyPr>
          <a:lstStyle/>
          <a:p>
            <a:pPr marL="0" indent="0" algn="ctr">
              <a:buNone/>
            </a:pPr>
            <a:r>
              <a:rPr lang="en-US" sz="850" b="1" dirty="0">
                <a:solidFill>
                  <a:srgbClr val="122033"/>
                </a:solidFill>
                <a:latin typeface="Aptos" pitchFamily="34" charset="0"/>
                <a:ea typeface="Aptos" pitchFamily="34" charset="-122"/>
                <a:cs typeface="Aptos" pitchFamily="34" charset="-120"/>
              </a:rPr>
              <a:t>patch stride S = 8</a:t>
            </a:r>
            <a:endParaRPr lang="en-US" sz="850" dirty="0"/>
          </a:p>
        </p:txBody>
      </p:sp>
      <p:sp>
        <p:nvSpPr>
          <p:cNvPr id="85" name="Shape 83"/>
          <p:cNvSpPr/>
          <p:nvPr/>
        </p:nvSpPr>
        <p:spPr>
          <a:xfrm>
            <a:off x="6400800" y="4800600"/>
            <a:ext cx="1828800" cy="384048"/>
          </a:xfrm>
          <a:prstGeom prst="roundRect">
            <a:avLst>
              <a:gd name="adj" fmla="val 19048"/>
            </a:avLst>
          </a:prstGeom>
          <a:solidFill>
            <a:srgbClr val="E3D4FF"/>
          </a:solidFill>
          <a:ln w="13970">
            <a:solidFill>
              <a:srgbClr val="895DE8"/>
            </a:solidFill>
            <a:prstDash val="solid"/>
          </a:ln>
        </p:spPr>
        <p:txBody>
          <a:bodyPr/>
          <a:lstStyle/>
          <a:p>
            <a:endParaRPr lang="en-GB"/>
          </a:p>
        </p:txBody>
      </p:sp>
      <p:sp>
        <p:nvSpPr>
          <p:cNvPr id="86" name="Text 84"/>
          <p:cNvSpPr/>
          <p:nvPr/>
        </p:nvSpPr>
        <p:spPr>
          <a:xfrm>
            <a:off x="6437376" y="4846320"/>
            <a:ext cx="1755648" cy="292608"/>
          </a:xfrm>
          <a:prstGeom prst="rect">
            <a:avLst/>
          </a:prstGeom>
          <a:noFill/>
          <a:ln/>
        </p:spPr>
        <p:txBody>
          <a:bodyPr wrap="square" lIns="0" tIns="0" rIns="0" bIns="0" rtlCol="0" anchor="ctr">
            <a:normAutofit/>
          </a:bodyPr>
          <a:lstStyle/>
          <a:p>
            <a:pPr marL="0" indent="0" algn="ctr">
              <a:buNone/>
            </a:pPr>
            <a:r>
              <a:rPr lang="en-US" sz="850" b="1" dirty="0">
                <a:solidFill>
                  <a:srgbClr val="122033"/>
                </a:solidFill>
                <a:latin typeface="Aptos" pitchFamily="34" charset="0"/>
                <a:ea typeface="Aptos" pitchFamily="34" charset="-122"/>
                <a:cs typeface="Aptos" pitchFamily="34" charset="-120"/>
              </a:rPr>
              <a:t>overlap = 8 samples/</a:t>
            </a:r>
            <a:r>
              <a:rPr lang="en-US" sz="850" b="1" dirty="0" err="1">
                <a:solidFill>
                  <a:srgbClr val="122033"/>
                </a:solidFill>
                <a:latin typeface="Aptos" pitchFamily="34" charset="0"/>
                <a:ea typeface="Aptos" pitchFamily="34" charset="-122"/>
                <a:cs typeface="Aptos" pitchFamily="34" charset="-120"/>
              </a:rPr>
              <a:t>franes</a:t>
            </a:r>
            <a:endParaRPr lang="en-US" sz="850" dirty="0"/>
          </a:p>
        </p:txBody>
      </p:sp>
      <p:sp>
        <p:nvSpPr>
          <p:cNvPr id="87" name="Shape 85"/>
          <p:cNvSpPr/>
          <p:nvPr/>
        </p:nvSpPr>
        <p:spPr>
          <a:xfrm>
            <a:off x="2331720" y="4343400"/>
            <a:ext cx="0" cy="0"/>
          </a:xfrm>
          <a:prstGeom prst="line">
            <a:avLst/>
          </a:prstGeom>
          <a:noFill/>
          <a:ln w="12700">
            <a:solidFill>
              <a:srgbClr val="E5A100"/>
            </a:solidFill>
            <a:prstDash val="solid"/>
            <a:headEnd type="none"/>
            <a:tailEnd type="triangle"/>
          </a:ln>
        </p:spPr>
        <p:txBody>
          <a:bodyPr/>
          <a:lstStyle/>
          <a:p>
            <a:endParaRPr lang="en-GB"/>
          </a:p>
        </p:txBody>
      </p:sp>
      <p:sp>
        <p:nvSpPr>
          <p:cNvPr id="88" name="Shape 86"/>
          <p:cNvSpPr/>
          <p:nvPr/>
        </p:nvSpPr>
        <p:spPr>
          <a:xfrm>
            <a:off x="4892040" y="4343400"/>
            <a:ext cx="0" cy="0"/>
          </a:xfrm>
          <a:prstGeom prst="line">
            <a:avLst/>
          </a:prstGeom>
          <a:noFill/>
          <a:ln w="12700">
            <a:solidFill>
              <a:srgbClr val="86B817"/>
            </a:solidFill>
            <a:prstDash val="solid"/>
            <a:headEnd type="none"/>
            <a:tailEnd type="triangle"/>
          </a:ln>
        </p:spPr>
        <p:txBody>
          <a:bodyPr/>
          <a:lstStyle/>
          <a:p>
            <a:endParaRPr lang="en-GB"/>
          </a:p>
        </p:txBody>
      </p:sp>
      <p:sp>
        <p:nvSpPr>
          <p:cNvPr id="89" name="Shape 87"/>
          <p:cNvSpPr/>
          <p:nvPr/>
        </p:nvSpPr>
        <p:spPr>
          <a:xfrm>
            <a:off x="7315200" y="4343400"/>
            <a:ext cx="0" cy="0"/>
          </a:xfrm>
          <a:prstGeom prst="line">
            <a:avLst/>
          </a:prstGeom>
          <a:noFill/>
          <a:ln w="12700">
            <a:solidFill>
              <a:srgbClr val="895DE8"/>
            </a:solidFill>
            <a:prstDash val="solid"/>
            <a:headEnd type="none"/>
            <a:tailEnd type="triangle"/>
          </a:ln>
        </p:spPr>
        <p:txBody>
          <a:bodyPr/>
          <a:lstStyle/>
          <a:p>
            <a:endParaRPr lang="en-GB"/>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47EEE7-E85B-311E-FEB0-B396702355CF}"/>
              </a:ext>
            </a:extLst>
          </p:cNvPr>
          <p:cNvSpPr>
            <a:spLocks noGrp="1"/>
          </p:cNvSpPr>
          <p:nvPr>
            <p:ph type="title"/>
          </p:nvPr>
        </p:nvSpPr>
        <p:spPr/>
        <p:txBody>
          <a:bodyPr/>
          <a:lstStyle/>
          <a:p>
            <a:r>
              <a:rPr lang="en-GB" dirty="0"/>
              <a:t>Each patch becomes a Transformer token</a:t>
            </a:r>
          </a:p>
        </p:txBody>
      </p:sp>
      <p:sp>
        <p:nvSpPr>
          <p:cNvPr id="3" name="Segnaposto contenuto 2">
            <a:extLst>
              <a:ext uri="{FF2B5EF4-FFF2-40B4-BE49-F238E27FC236}">
                <a16:creationId xmlns:a16="http://schemas.microsoft.com/office/drawing/2014/main" id="{5C9D4211-AD6E-F90D-D98D-1892890C385D}"/>
              </a:ext>
            </a:extLst>
          </p:cNvPr>
          <p:cNvSpPr>
            <a:spLocks noGrp="1"/>
          </p:cNvSpPr>
          <p:nvPr>
            <p:ph sz="half" idx="1"/>
          </p:nvPr>
        </p:nvSpPr>
        <p:spPr>
          <a:xfrm>
            <a:off x="677334" y="2160588"/>
            <a:ext cx="5178717" cy="4415309"/>
          </a:xfrm>
        </p:spPr>
        <p:txBody>
          <a:bodyPr>
            <a:normAutofit fontScale="92500" lnSpcReduction="20000"/>
          </a:bodyPr>
          <a:lstStyle/>
          <a:p>
            <a:r>
              <a:rPr lang="en-GB" dirty="0"/>
              <a:t>A patch contains several consecutive observations:</a:t>
            </a:r>
          </a:p>
          <a:p>
            <a:r>
              <a:rPr lang="en-GB" dirty="0"/>
              <a:t>[x[t], ..., x[t+P−1]]</a:t>
            </a:r>
          </a:p>
          <a:p>
            <a:r>
              <a:rPr lang="en-GB" dirty="0"/>
              <a:t>This local segment is projected into a fixed-dimensional vector.</a:t>
            </a:r>
          </a:p>
          <a:p>
            <a:r>
              <a:rPr lang="en-GB" dirty="0"/>
              <a:t>Conceptually:</a:t>
            </a:r>
          </a:p>
          <a:p>
            <a:pPr lvl="1"/>
            <a:r>
              <a:rPr lang="en-GB" dirty="0"/>
              <a:t>P raw values</a:t>
            </a:r>
          </a:p>
          <a:p>
            <a:pPr lvl="1"/>
            <a:r>
              <a:rPr lang="en-GB" dirty="0"/>
              <a:t>    ↓</a:t>
            </a:r>
          </a:p>
          <a:p>
            <a:pPr lvl="1"/>
            <a:r>
              <a:rPr lang="en-GB" dirty="0"/>
              <a:t>linear projection</a:t>
            </a:r>
          </a:p>
          <a:p>
            <a:pPr lvl="1"/>
            <a:r>
              <a:rPr lang="en-GB" dirty="0"/>
              <a:t>    ↓</a:t>
            </a:r>
          </a:p>
          <a:p>
            <a:pPr lvl="1"/>
            <a:r>
              <a:rPr lang="en-GB" dirty="0"/>
              <a:t>patch embedding</a:t>
            </a:r>
          </a:p>
          <a:p>
            <a:pPr lvl="1"/>
            <a:r>
              <a:rPr lang="en-GB" dirty="0"/>
              <a:t>    ↓</a:t>
            </a:r>
          </a:p>
          <a:p>
            <a:pPr lvl="1"/>
            <a:r>
              <a:rPr lang="en-GB" dirty="0" err="1"/>
              <a:t>d_model</a:t>
            </a:r>
            <a:r>
              <a:rPr lang="en-GB" dirty="0"/>
              <a:t>-dimensional token</a:t>
            </a:r>
          </a:p>
          <a:p>
            <a:endParaRPr lang="en-GB" dirty="0"/>
          </a:p>
        </p:txBody>
      </p:sp>
      <p:sp>
        <p:nvSpPr>
          <p:cNvPr id="4" name="Segnaposto contenuto 3">
            <a:extLst>
              <a:ext uri="{FF2B5EF4-FFF2-40B4-BE49-F238E27FC236}">
                <a16:creationId xmlns:a16="http://schemas.microsoft.com/office/drawing/2014/main" id="{F4EA09CC-1EAB-6973-4BD5-FE496AA41D53}"/>
              </a:ext>
            </a:extLst>
          </p:cNvPr>
          <p:cNvSpPr>
            <a:spLocks noGrp="1"/>
          </p:cNvSpPr>
          <p:nvPr>
            <p:ph sz="half" idx="2"/>
          </p:nvPr>
        </p:nvSpPr>
        <p:spPr>
          <a:xfrm>
            <a:off x="6549119" y="2160589"/>
            <a:ext cx="5094890" cy="4502858"/>
          </a:xfrm>
        </p:spPr>
        <p:txBody>
          <a:bodyPr>
            <a:normAutofit fontScale="92500" lnSpcReduction="20000"/>
          </a:bodyPr>
          <a:lstStyle/>
          <a:p>
            <a:r>
              <a:rPr lang="en-GB" dirty="0"/>
              <a:t>Then positional information is added.</a:t>
            </a:r>
          </a:p>
          <a:p>
            <a:r>
              <a:rPr lang="en-GB" dirty="0"/>
              <a:t>The Transformer therefore receives:</a:t>
            </a:r>
          </a:p>
          <a:p>
            <a:pPr lvl="1"/>
            <a:r>
              <a:rPr lang="en-GB" dirty="0"/>
              <a:t>patch token 1</a:t>
            </a:r>
          </a:p>
          <a:p>
            <a:pPr lvl="1"/>
            <a:r>
              <a:rPr lang="en-GB" dirty="0"/>
              <a:t>patch token 2</a:t>
            </a:r>
          </a:p>
          <a:p>
            <a:pPr lvl="1"/>
            <a:r>
              <a:rPr lang="en-GB" dirty="0"/>
              <a:t>...</a:t>
            </a:r>
          </a:p>
          <a:p>
            <a:pPr lvl="1"/>
            <a:r>
              <a:rPr lang="en-GB" dirty="0"/>
              <a:t>patch token M</a:t>
            </a:r>
          </a:p>
          <a:p>
            <a:r>
              <a:rPr lang="en-GB" dirty="0"/>
              <a:t>rather than the original individual time steps.</a:t>
            </a:r>
          </a:p>
          <a:p>
            <a:endParaRPr lang="en-GB" b="1" dirty="0"/>
          </a:p>
          <a:p>
            <a:r>
              <a:rPr lang="en-GB" b="1" dirty="0"/>
              <a:t>Interpretation</a:t>
            </a:r>
          </a:p>
          <a:p>
            <a:r>
              <a:rPr lang="en-GB" dirty="0"/>
              <a:t>Each token already represents a local temporal pattern.</a:t>
            </a:r>
          </a:p>
          <a:p>
            <a:r>
              <a:rPr lang="en-GB" dirty="0"/>
              <a:t>Self-attention can then learn relationships among these local patterns over longer temporal distances.</a:t>
            </a:r>
          </a:p>
          <a:p>
            <a:endParaRPr lang="en-GB" dirty="0"/>
          </a:p>
        </p:txBody>
      </p:sp>
    </p:spTree>
    <p:extLst>
      <p:ext uri="{BB962C8B-B14F-4D97-AF65-F5344CB8AC3E}">
        <p14:creationId xmlns:p14="http://schemas.microsoft.com/office/powerpoint/2010/main" val="384677793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Each patch becomes a Transformer token</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b="1" dirty="0">
                <a:solidFill>
                  <a:srgbClr val="53627A"/>
                </a:solidFill>
              </a:rPr>
              <a:t>Patch embedding converts a local segment into a d_model-dimensional vector.</a:t>
            </a:r>
            <a:endParaRPr lang="en-US" sz="850" b="1" dirty="0"/>
          </a:p>
        </p:txBody>
      </p:sp>
      <p:sp>
        <p:nvSpPr>
          <p:cNvPr id="8" name="Shape 6"/>
          <p:cNvSpPr/>
          <p:nvPr/>
        </p:nvSpPr>
        <p:spPr>
          <a:xfrm>
            <a:off x="822960" y="1737360"/>
            <a:ext cx="1143000" cy="292608"/>
          </a:xfrm>
          <a:prstGeom prst="rect">
            <a:avLst/>
          </a:prstGeom>
          <a:solidFill>
            <a:srgbClr val="FFFFFF"/>
          </a:solidFill>
          <a:ln w="10160">
            <a:solidFill>
              <a:srgbClr val="D7DEE8"/>
            </a:solidFill>
            <a:prstDash val="solid"/>
          </a:ln>
        </p:spPr>
        <p:txBody>
          <a:bodyPr/>
          <a:lstStyle/>
          <a:p>
            <a:endParaRPr lang="en-GB"/>
          </a:p>
        </p:txBody>
      </p:sp>
      <p:sp>
        <p:nvSpPr>
          <p:cNvPr id="9" name="Shape 7"/>
          <p:cNvSpPr/>
          <p:nvPr/>
        </p:nvSpPr>
        <p:spPr>
          <a:xfrm>
            <a:off x="969264"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0" name="Shape 8"/>
          <p:cNvSpPr/>
          <p:nvPr/>
        </p:nvSpPr>
        <p:spPr>
          <a:xfrm>
            <a:off x="1088136"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1" name="Shape 9"/>
          <p:cNvSpPr/>
          <p:nvPr/>
        </p:nvSpPr>
        <p:spPr>
          <a:xfrm>
            <a:off x="1207008"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2" name="Shape 10"/>
          <p:cNvSpPr/>
          <p:nvPr/>
        </p:nvSpPr>
        <p:spPr>
          <a:xfrm>
            <a:off x="1325880"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3" name="Shape 11"/>
          <p:cNvSpPr/>
          <p:nvPr/>
        </p:nvSpPr>
        <p:spPr>
          <a:xfrm>
            <a:off x="1444752"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4" name="Shape 12"/>
          <p:cNvSpPr/>
          <p:nvPr/>
        </p:nvSpPr>
        <p:spPr>
          <a:xfrm>
            <a:off x="1563624"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5" name="Shape 13"/>
          <p:cNvSpPr/>
          <p:nvPr/>
        </p:nvSpPr>
        <p:spPr>
          <a:xfrm>
            <a:off x="1682496"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6" name="Shape 14"/>
          <p:cNvSpPr/>
          <p:nvPr/>
        </p:nvSpPr>
        <p:spPr>
          <a:xfrm>
            <a:off x="1801368"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17" name="Text 15"/>
          <p:cNvSpPr/>
          <p:nvPr/>
        </p:nvSpPr>
        <p:spPr>
          <a:xfrm>
            <a:off x="1024128" y="2121408"/>
            <a:ext cx="777240" cy="164592"/>
          </a:xfrm>
          <a:prstGeom prst="rect">
            <a:avLst/>
          </a:prstGeom>
          <a:noFill/>
          <a:ln/>
        </p:spPr>
        <p:txBody>
          <a:bodyPr wrap="square" lIns="635" tIns="635" rIns="635" bIns="635" rtlCol="0" anchor="ctr">
            <a:normAutofit/>
          </a:bodyPr>
          <a:lstStyle/>
          <a:p>
            <a:pPr marL="0" indent="0" algn="ctr">
              <a:buNone/>
            </a:pPr>
            <a:r>
              <a:rPr lang="en-US" sz="650" dirty="0">
                <a:solidFill>
                  <a:srgbClr val="53627A"/>
                </a:solidFill>
                <a:latin typeface="Aptos" pitchFamily="34" charset="0"/>
                <a:ea typeface="Aptos" pitchFamily="34" charset="-122"/>
                <a:cs typeface="Aptos" pitchFamily="34" charset="-120"/>
              </a:rPr>
              <a:t>patch 1</a:t>
            </a:r>
            <a:endParaRPr lang="en-US" sz="650" dirty="0"/>
          </a:p>
        </p:txBody>
      </p:sp>
      <p:sp>
        <p:nvSpPr>
          <p:cNvPr id="18" name="Shape 16"/>
          <p:cNvSpPr/>
          <p:nvPr/>
        </p:nvSpPr>
        <p:spPr>
          <a:xfrm>
            <a:off x="960120" y="2743200"/>
            <a:ext cx="868680" cy="548640"/>
          </a:xfrm>
          <a:prstGeom prst="roundRect">
            <a:avLst>
              <a:gd name="adj" fmla="val 13333"/>
            </a:avLst>
          </a:prstGeom>
          <a:solidFill>
            <a:srgbClr val="FFE7B4"/>
          </a:solidFill>
          <a:ln w="13970">
            <a:solidFill>
              <a:srgbClr val="E5A100"/>
            </a:solidFill>
            <a:prstDash val="solid"/>
          </a:ln>
        </p:spPr>
        <p:txBody>
          <a:bodyPr/>
          <a:lstStyle/>
          <a:p>
            <a:endParaRPr lang="en-GB"/>
          </a:p>
        </p:txBody>
      </p:sp>
      <p:sp>
        <p:nvSpPr>
          <p:cNvPr id="19" name="Text 17"/>
          <p:cNvSpPr/>
          <p:nvPr/>
        </p:nvSpPr>
        <p:spPr>
          <a:xfrm>
            <a:off x="996696" y="27889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linear</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projection</a:t>
            </a:r>
            <a:endParaRPr lang="en-US" sz="680" dirty="0"/>
          </a:p>
        </p:txBody>
      </p:sp>
      <p:sp>
        <p:nvSpPr>
          <p:cNvPr id="20" name="Shape 18"/>
          <p:cNvSpPr/>
          <p:nvPr/>
        </p:nvSpPr>
        <p:spPr>
          <a:xfrm>
            <a:off x="1389888" y="2103120"/>
            <a:ext cx="0" cy="576072"/>
          </a:xfrm>
          <a:prstGeom prst="line">
            <a:avLst/>
          </a:prstGeom>
          <a:noFill/>
          <a:ln w="12700">
            <a:solidFill>
              <a:srgbClr val="8DA0B8"/>
            </a:solidFill>
            <a:prstDash val="solid"/>
            <a:headEnd type="none"/>
            <a:tailEnd type="triangle"/>
          </a:ln>
        </p:spPr>
        <p:txBody>
          <a:bodyPr/>
          <a:lstStyle/>
          <a:p>
            <a:endParaRPr lang="en-GB"/>
          </a:p>
        </p:txBody>
      </p:sp>
      <p:sp>
        <p:nvSpPr>
          <p:cNvPr id="21" name="Shape 19"/>
          <p:cNvSpPr/>
          <p:nvPr/>
        </p:nvSpPr>
        <p:spPr>
          <a:xfrm>
            <a:off x="960120" y="3657600"/>
            <a:ext cx="868680" cy="548640"/>
          </a:xfrm>
          <a:prstGeom prst="roundRect">
            <a:avLst>
              <a:gd name="adj" fmla="val 13333"/>
            </a:avLst>
          </a:prstGeom>
          <a:solidFill>
            <a:srgbClr val="E3D4FF"/>
          </a:solidFill>
          <a:ln w="13970">
            <a:solidFill>
              <a:srgbClr val="895DE8"/>
            </a:solidFill>
            <a:prstDash val="solid"/>
          </a:ln>
        </p:spPr>
        <p:txBody>
          <a:bodyPr/>
          <a:lstStyle/>
          <a:p>
            <a:endParaRPr lang="en-GB"/>
          </a:p>
        </p:txBody>
      </p:sp>
      <p:sp>
        <p:nvSpPr>
          <p:cNvPr id="22" name="Text 20"/>
          <p:cNvSpPr/>
          <p:nvPr/>
        </p:nvSpPr>
        <p:spPr>
          <a:xfrm>
            <a:off x="996696" y="37033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token</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embedding</a:t>
            </a:r>
            <a:endParaRPr lang="en-US" sz="680" dirty="0"/>
          </a:p>
        </p:txBody>
      </p:sp>
      <p:sp>
        <p:nvSpPr>
          <p:cNvPr id="23" name="Shape 21"/>
          <p:cNvSpPr/>
          <p:nvPr/>
        </p:nvSpPr>
        <p:spPr>
          <a:xfrm>
            <a:off x="1389888" y="3337560"/>
            <a:ext cx="0" cy="265176"/>
          </a:xfrm>
          <a:prstGeom prst="line">
            <a:avLst/>
          </a:prstGeom>
          <a:noFill/>
          <a:ln w="12700">
            <a:solidFill>
              <a:srgbClr val="8DA0B8"/>
            </a:solidFill>
            <a:prstDash val="solid"/>
            <a:headEnd type="none"/>
            <a:tailEnd type="triangle"/>
          </a:ln>
        </p:spPr>
        <p:txBody>
          <a:bodyPr/>
          <a:lstStyle/>
          <a:p>
            <a:endParaRPr lang="en-GB"/>
          </a:p>
        </p:txBody>
      </p:sp>
      <p:sp>
        <p:nvSpPr>
          <p:cNvPr id="24" name="Shape 22"/>
          <p:cNvSpPr/>
          <p:nvPr/>
        </p:nvSpPr>
        <p:spPr>
          <a:xfrm>
            <a:off x="2926080" y="1737360"/>
            <a:ext cx="1143000" cy="292608"/>
          </a:xfrm>
          <a:prstGeom prst="rect">
            <a:avLst/>
          </a:prstGeom>
          <a:solidFill>
            <a:srgbClr val="FFFFFF"/>
          </a:solidFill>
          <a:ln w="10160">
            <a:solidFill>
              <a:srgbClr val="D7DEE8"/>
            </a:solidFill>
            <a:prstDash val="solid"/>
          </a:ln>
        </p:spPr>
        <p:txBody>
          <a:bodyPr/>
          <a:lstStyle/>
          <a:p>
            <a:endParaRPr lang="en-GB"/>
          </a:p>
        </p:txBody>
      </p:sp>
      <p:sp>
        <p:nvSpPr>
          <p:cNvPr id="25" name="Shape 23"/>
          <p:cNvSpPr/>
          <p:nvPr/>
        </p:nvSpPr>
        <p:spPr>
          <a:xfrm>
            <a:off x="3072384"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26" name="Shape 24"/>
          <p:cNvSpPr/>
          <p:nvPr/>
        </p:nvSpPr>
        <p:spPr>
          <a:xfrm>
            <a:off x="3191256"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27" name="Shape 25"/>
          <p:cNvSpPr/>
          <p:nvPr/>
        </p:nvSpPr>
        <p:spPr>
          <a:xfrm>
            <a:off x="3310128"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28" name="Shape 26"/>
          <p:cNvSpPr/>
          <p:nvPr/>
        </p:nvSpPr>
        <p:spPr>
          <a:xfrm>
            <a:off x="3429000"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29" name="Shape 27"/>
          <p:cNvSpPr/>
          <p:nvPr/>
        </p:nvSpPr>
        <p:spPr>
          <a:xfrm>
            <a:off x="3547872"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30" name="Shape 28"/>
          <p:cNvSpPr/>
          <p:nvPr/>
        </p:nvSpPr>
        <p:spPr>
          <a:xfrm>
            <a:off x="3666744"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31" name="Shape 29"/>
          <p:cNvSpPr/>
          <p:nvPr/>
        </p:nvSpPr>
        <p:spPr>
          <a:xfrm>
            <a:off x="3785616"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32" name="Shape 30"/>
          <p:cNvSpPr/>
          <p:nvPr/>
        </p:nvSpPr>
        <p:spPr>
          <a:xfrm>
            <a:off x="3904488"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33" name="Text 31"/>
          <p:cNvSpPr/>
          <p:nvPr/>
        </p:nvSpPr>
        <p:spPr>
          <a:xfrm>
            <a:off x="3127248" y="2121408"/>
            <a:ext cx="777240" cy="164592"/>
          </a:xfrm>
          <a:prstGeom prst="rect">
            <a:avLst/>
          </a:prstGeom>
          <a:noFill/>
          <a:ln/>
        </p:spPr>
        <p:txBody>
          <a:bodyPr wrap="square" lIns="635" tIns="635" rIns="635" bIns="635" rtlCol="0" anchor="ctr">
            <a:normAutofit/>
          </a:bodyPr>
          <a:lstStyle/>
          <a:p>
            <a:pPr marL="0" indent="0" algn="ctr">
              <a:buNone/>
            </a:pPr>
            <a:r>
              <a:rPr lang="en-US" sz="650" dirty="0">
                <a:solidFill>
                  <a:srgbClr val="53627A"/>
                </a:solidFill>
                <a:latin typeface="Aptos" pitchFamily="34" charset="0"/>
                <a:ea typeface="Aptos" pitchFamily="34" charset="-122"/>
                <a:cs typeface="Aptos" pitchFamily="34" charset="-120"/>
              </a:rPr>
              <a:t>patch 2</a:t>
            </a:r>
            <a:endParaRPr lang="en-US" sz="650" dirty="0"/>
          </a:p>
        </p:txBody>
      </p:sp>
      <p:sp>
        <p:nvSpPr>
          <p:cNvPr id="34" name="Shape 32"/>
          <p:cNvSpPr/>
          <p:nvPr/>
        </p:nvSpPr>
        <p:spPr>
          <a:xfrm>
            <a:off x="3063240" y="2743200"/>
            <a:ext cx="868680" cy="548640"/>
          </a:xfrm>
          <a:prstGeom prst="roundRect">
            <a:avLst>
              <a:gd name="adj" fmla="val 13333"/>
            </a:avLst>
          </a:prstGeom>
          <a:solidFill>
            <a:srgbClr val="FFE7B4"/>
          </a:solidFill>
          <a:ln w="13970">
            <a:solidFill>
              <a:srgbClr val="E5A100"/>
            </a:solidFill>
            <a:prstDash val="solid"/>
          </a:ln>
        </p:spPr>
        <p:txBody>
          <a:bodyPr/>
          <a:lstStyle/>
          <a:p>
            <a:endParaRPr lang="en-GB"/>
          </a:p>
        </p:txBody>
      </p:sp>
      <p:sp>
        <p:nvSpPr>
          <p:cNvPr id="35" name="Text 33"/>
          <p:cNvSpPr/>
          <p:nvPr/>
        </p:nvSpPr>
        <p:spPr>
          <a:xfrm>
            <a:off x="3099816" y="27889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linear</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projection</a:t>
            </a:r>
            <a:endParaRPr lang="en-US" sz="680" dirty="0"/>
          </a:p>
        </p:txBody>
      </p:sp>
      <p:sp>
        <p:nvSpPr>
          <p:cNvPr id="36" name="Shape 34"/>
          <p:cNvSpPr/>
          <p:nvPr/>
        </p:nvSpPr>
        <p:spPr>
          <a:xfrm>
            <a:off x="3493008" y="2103120"/>
            <a:ext cx="0" cy="576072"/>
          </a:xfrm>
          <a:prstGeom prst="line">
            <a:avLst/>
          </a:prstGeom>
          <a:noFill/>
          <a:ln w="12700">
            <a:solidFill>
              <a:srgbClr val="8DA0B8"/>
            </a:solidFill>
            <a:prstDash val="solid"/>
            <a:headEnd type="none"/>
            <a:tailEnd type="triangle"/>
          </a:ln>
        </p:spPr>
        <p:txBody>
          <a:bodyPr/>
          <a:lstStyle/>
          <a:p>
            <a:endParaRPr lang="en-GB"/>
          </a:p>
        </p:txBody>
      </p:sp>
      <p:sp>
        <p:nvSpPr>
          <p:cNvPr id="37" name="Shape 35"/>
          <p:cNvSpPr/>
          <p:nvPr/>
        </p:nvSpPr>
        <p:spPr>
          <a:xfrm>
            <a:off x="3063240" y="3657600"/>
            <a:ext cx="868680" cy="548640"/>
          </a:xfrm>
          <a:prstGeom prst="roundRect">
            <a:avLst>
              <a:gd name="adj" fmla="val 13333"/>
            </a:avLst>
          </a:prstGeom>
          <a:solidFill>
            <a:srgbClr val="E3D4FF"/>
          </a:solidFill>
          <a:ln w="13970">
            <a:solidFill>
              <a:srgbClr val="895DE8"/>
            </a:solidFill>
            <a:prstDash val="solid"/>
          </a:ln>
        </p:spPr>
        <p:txBody>
          <a:bodyPr/>
          <a:lstStyle/>
          <a:p>
            <a:endParaRPr lang="en-GB"/>
          </a:p>
        </p:txBody>
      </p:sp>
      <p:sp>
        <p:nvSpPr>
          <p:cNvPr id="38" name="Text 36"/>
          <p:cNvSpPr/>
          <p:nvPr/>
        </p:nvSpPr>
        <p:spPr>
          <a:xfrm>
            <a:off x="3099816" y="37033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token</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embedding</a:t>
            </a:r>
            <a:endParaRPr lang="en-US" sz="680" dirty="0"/>
          </a:p>
        </p:txBody>
      </p:sp>
      <p:sp>
        <p:nvSpPr>
          <p:cNvPr id="39" name="Shape 37"/>
          <p:cNvSpPr/>
          <p:nvPr/>
        </p:nvSpPr>
        <p:spPr>
          <a:xfrm>
            <a:off x="3493008" y="3337560"/>
            <a:ext cx="0" cy="265176"/>
          </a:xfrm>
          <a:prstGeom prst="line">
            <a:avLst/>
          </a:prstGeom>
          <a:noFill/>
          <a:ln w="12700">
            <a:solidFill>
              <a:srgbClr val="8DA0B8"/>
            </a:solidFill>
            <a:prstDash val="solid"/>
            <a:headEnd type="none"/>
            <a:tailEnd type="triangle"/>
          </a:ln>
        </p:spPr>
        <p:txBody>
          <a:bodyPr/>
          <a:lstStyle/>
          <a:p>
            <a:endParaRPr lang="en-GB"/>
          </a:p>
        </p:txBody>
      </p:sp>
      <p:sp>
        <p:nvSpPr>
          <p:cNvPr id="40" name="Shape 38"/>
          <p:cNvSpPr/>
          <p:nvPr/>
        </p:nvSpPr>
        <p:spPr>
          <a:xfrm>
            <a:off x="5029200" y="1737360"/>
            <a:ext cx="1143000" cy="292608"/>
          </a:xfrm>
          <a:prstGeom prst="rect">
            <a:avLst/>
          </a:prstGeom>
          <a:solidFill>
            <a:srgbClr val="FFFFFF"/>
          </a:solidFill>
          <a:ln w="10160">
            <a:solidFill>
              <a:srgbClr val="D7DEE8"/>
            </a:solidFill>
            <a:prstDash val="solid"/>
          </a:ln>
        </p:spPr>
        <p:txBody>
          <a:bodyPr/>
          <a:lstStyle/>
          <a:p>
            <a:endParaRPr lang="en-GB"/>
          </a:p>
        </p:txBody>
      </p:sp>
      <p:sp>
        <p:nvSpPr>
          <p:cNvPr id="41" name="Shape 39"/>
          <p:cNvSpPr/>
          <p:nvPr/>
        </p:nvSpPr>
        <p:spPr>
          <a:xfrm>
            <a:off x="5175504"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2" name="Shape 40"/>
          <p:cNvSpPr/>
          <p:nvPr/>
        </p:nvSpPr>
        <p:spPr>
          <a:xfrm>
            <a:off x="5294376"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3" name="Shape 41"/>
          <p:cNvSpPr/>
          <p:nvPr/>
        </p:nvSpPr>
        <p:spPr>
          <a:xfrm>
            <a:off x="5413248"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4" name="Shape 42"/>
          <p:cNvSpPr/>
          <p:nvPr/>
        </p:nvSpPr>
        <p:spPr>
          <a:xfrm>
            <a:off x="5532120"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5" name="Shape 43"/>
          <p:cNvSpPr/>
          <p:nvPr/>
        </p:nvSpPr>
        <p:spPr>
          <a:xfrm>
            <a:off x="5650992"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6" name="Shape 44"/>
          <p:cNvSpPr/>
          <p:nvPr/>
        </p:nvSpPr>
        <p:spPr>
          <a:xfrm>
            <a:off x="5769864"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7" name="Shape 45"/>
          <p:cNvSpPr/>
          <p:nvPr/>
        </p:nvSpPr>
        <p:spPr>
          <a:xfrm>
            <a:off x="5888736"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8" name="Shape 46"/>
          <p:cNvSpPr/>
          <p:nvPr/>
        </p:nvSpPr>
        <p:spPr>
          <a:xfrm>
            <a:off x="6007608" y="1847088"/>
            <a:ext cx="50292" cy="50292"/>
          </a:xfrm>
          <a:prstGeom prst="ellipse">
            <a:avLst/>
          </a:prstGeom>
          <a:solidFill>
            <a:srgbClr val="3C7BE8"/>
          </a:solidFill>
          <a:ln w="12700">
            <a:solidFill>
              <a:srgbClr val="3C7BE8"/>
            </a:solidFill>
            <a:prstDash val="solid"/>
          </a:ln>
        </p:spPr>
        <p:txBody>
          <a:bodyPr/>
          <a:lstStyle/>
          <a:p>
            <a:endParaRPr lang="en-GB"/>
          </a:p>
        </p:txBody>
      </p:sp>
      <p:sp>
        <p:nvSpPr>
          <p:cNvPr id="49" name="Text 47"/>
          <p:cNvSpPr/>
          <p:nvPr/>
        </p:nvSpPr>
        <p:spPr>
          <a:xfrm>
            <a:off x="5230368" y="2121408"/>
            <a:ext cx="777240" cy="164592"/>
          </a:xfrm>
          <a:prstGeom prst="rect">
            <a:avLst/>
          </a:prstGeom>
          <a:noFill/>
          <a:ln/>
        </p:spPr>
        <p:txBody>
          <a:bodyPr wrap="square" lIns="635" tIns="635" rIns="635" bIns="635" rtlCol="0" anchor="ctr">
            <a:normAutofit/>
          </a:bodyPr>
          <a:lstStyle/>
          <a:p>
            <a:pPr marL="0" indent="0" algn="ctr">
              <a:buNone/>
            </a:pPr>
            <a:r>
              <a:rPr lang="en-US" sz="650" dirty="0">
                <a:solidFill>
                  <a:srgbClr val="53627A"/>
                </a:solidFill>
                <a:latin typeface="Aptos" pitchFamily="34" charset="0"/>
                <a:ea typeface="Aptos" pitchFamily="34" charset="-122"/>
                <a:cs typeface="Aptos" pitchFamily="34" charset="-120"/>
              </a:rPr>
              <a:t>patch 3</a:t>
            </a:r>
            <a:endParaRPr lang="en-US" sz="650" dirty="0"/>
          </a:p>
        </p:txBody>
      </p:sp>
      <p:sp>
        <p:nvSpPr>
          <p:cNvPr id="50" name="Shape 48"/>
          <p:cNvSpPr/>
          <p:nvPr/>
        </p:nvSpPr>
        <p:spPr>
          <a:xfrm>
            <a:off x="5166360" y="2743200"/>
            <a:ext cx="868680" cy="548640"/>
          </a:xfrm>
          <a:prstGeom prst="roundRect">
            <a:avLst>
              <a:gd name="adj" fmla="val 13333"/>
            </a:avLst>
          </a:prstGeom>
          <a:solidFill>
            <a:srgbClr val="FFE7B4"/>
          </a:solidFill>
          <a:ln w="13970">
            <a:solidFill>
              <a:srgbClr val="E5A100"/>
            </a:solidFill>
            <a:prstDash val="solid"/>
          </a:ln>
        </p:spPr>
        <p:txBody>
          <a:bodyPr/>
          <a:lstStyle/>
          <a:p>
            <a:endParaRPr lang="en-GB"/>
          </a:p>
        </p:txBody>
      </p:sp>
      <p:sp>
        <p:nvSpPr>
          <p:cNvPr id="51" name="Text 49"/>
          <p:cNvSpPr/>
          <p:nvPr/>
        </p:nvSpPr>
        <p:spPr>
          <a:xfrm>
            <a:off x="5202936" y="27889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linear</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projection</a:t>
            </a:r>
            <a:endParaRPr lang="en-US" sz="680" dirty="0"/>
          </a:p>
        </p:txBody>
      </p:sp>
      <p:sp>
        <p:nvSpPr>
          <p:cNvPr id="52" name="Shape 50"/>
          <p:cNvSpPr/>
          <p:nvPr/>
        </p:nvSpPr>
        <p:spPr>
          <a:xfrm>
            <a:off x="5596128" y="2103120"/>
            <a:ext cx="0" cy="576072"/>
          </a:xfrm>
          <a:prstGeom prst="line">
            <a:avLst/>
          </a:prstGeom>
          <a:noFill/>
          <a:ln w="12700">
            <a:solidFill>
              <a:srgbClr val="8DA0B8"/>
            </a:solidFill>
            <a:prstDash val="solid"/>
            <a:headEnd type="none"/>
            <a:tailEnd type="triangle"/>
          </a:ln>
        </p:spPr>
        <p:txBody>
          <a:bodyPr/>
          <a:lstStyle/>
          <a:p>
            <a:endParaRPr lang="en-GB"/>
          </a:p>
        </p:txBody>
      </p:sp>
      <p:sp>
        <p:nvSpPr>
          <p:cNvPr id="53" name="Shape 51"/>
          <p:cNvSpPr/>
          <p:nvPr/>
        </p:nvSpPr>
        <p:spPr>
          <a:xfrm>
            <a:off x="5166360" y="3657600"/>
            <a:ext cx="868680" cy="548640"/>
          </a:xfrm>
          <a:prstGeom prst="roundRect">
            <a:avLst>
              <a:gd name="adj" fmla="val 13333"/>
            </a:avLst>
          </a:prstGeom>
          <a:solidFill>
            <a:srgbClr val="E3D4FF"/>
          </a:solidFill>
          <a:ln w="13970">
            <a:solidFill>
              <a:srgbClr val="895DE8"/>
            </a:solidFill>
            <a:prstDash val="solid"/>
          </a:ln>
        </p:spPr>
        <p:txBody>
          <a:bodyPr/>
          <a:lstStyle/>
          <a:p>
            <a:endParaRPr lang="en-GB"/>
          </a:p>
        </p:txBody>
      </p:sp>
      <p:sp>
        <p:nvSpPr>
          <p:cNvPr id="54" name="Text 52"/>
          <p:cNvSpPr/>
          <p:nvPr/>
        </p:nvSpPr>
        <p:spPr>
          <a:xfrm>
            <a:off x="5202936" y="37033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token</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embedding</a:t>
            </a:r>
            <a:endParaRPr lang="en-US" sz="680" dirty="0"/>
          </a:p>
        </p:txBody>
      </p:sp>
      <p:sp>
        <p:nvSpPr>
          <p:cNvPr id="55" name="Shape 53"/>
          <p:cNvSpPr/>
          <p:nvPr/>
        </p:nvSpPr>
        <p:spPr>
          <a:xfrm>
            <a:off x="5596128" y="3337560"/>
            <a:ext cx="0" cy="265176"/>
          </a:xfrm>
          <a:prstGeom prst="line">
            <a:avLst/>
          </a:prstGeom>
          <a:noFill/>
          <a:ln w="12700">
            <a:solidFill>
              <a:srgbClr val="8DA0B8"/>
            </a:solidFill>
            <a:prstDash val="solid"/>
            <a:headEnd type="none"/>
            <a:tailEnd type="triangle"/>
          </a:ln>
        </p:spPr>
        <p:txBody>
          <a:bodyPr/>
          <a:lstStyle/>
          <a:p>
            <a:endParaRPr lang="en-GB"/>
          </a:p>
        </p:txBody>
      </p:sp>
      <p:sp>
        <p:nvSpPr>
          <p:cNvPr id="56" name="Shape 54"/>
          <p:cNvSpPr/>
          <p:nvPr/>
        </p:nvSpPr>
        <p:spPr>
          <a:xfrm>
            <a:off x="7132320" y="1737360"/>
            <a:ext cx="1143000" cy="292608"/>
          </a:xfrm>
          <a:prstGeom prst="rect">
            <a:avLst/>
          </a:prstGeom>
          <a:solidFill>
            <a:srgbClr val="FFFFFF"/>
          </a:solidFill>
          <a:ln w="10160">
            <a:solidFill>
              <a:srgbClr val="D7DEE8"/>
            </a:solidFill>
            <a:prstDash val="solid"/>
          </a:ln>
        </p:spPr>
        <p:txBody>
          <a:bodyPr/>
          <a:lstStyle/>
          <a:p>
            <a:endParaRPr lang="en-GB"/>
          </a:p>
        </p:txBody>
      </p:sp>
      <p:sp>
        <p:nvSpPr>
          <p:cNvPr id="57" name="Shape 55"/>
          <p:cNvSpPr/>
          <p:nvPr/>
        </p:nvSpPr>
        <p:spPr>
          <a:xfrm>
            <a:off x="7278624"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58" name="Shape 56"/>
          <p:cNvSpPr/>
          <p:nvPr/>
        </p:nvSpPr>
        <p:spPr>
          <a:xfrm>
            <a:off x="7397496"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59" name="Shape 57"/>
          <p:cNvSpPr/>
          <p:nvPr/>
        </p:nvSpPr>
        <p:spPr>
          <a:xfrm>
            <a:off x="7516368"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60" name="Shape 58"/>
          <p:cNvSpPr/>
          <p:nvPr/>
        </p:nvSpPr>
        <p:spPr>
          <a:xfrm>
            <a:off x="7635240"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61" name="Shape 59"/>
          <p:cNvSpPr/>
          <p:nvPr/>
        </p:nvSpPr>
        <p:spPr>
          <a:xfrm>
            <a:off x="7754112"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62" name="Shape 60"/>
          <p:cNvSpPr/>
          <p:nvPr/>
        </p:nvSpPr>
        <p:spPr>
          <a:xfrm>
            <a:off x="7872984"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63" name="Shape 61"/>
          <p:cNvSpPr/>
          <p:nvPr/>
        </p:nvSpPr>
        <p:spPr>
          <a:xfrm>
            <a:off x="7991856"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64" name="Shape 62"/>
          <p:cNvSpPr/>
          <p:nvPr/>
        </p:nvSpPr>
        <p:spPr>
          <a:xfrm>
            <a:off x="8110728" y="1847088"/>
            <a:ext cx="50292" cy="50292"/>
          </a:xfrm>
          <a:prstGeom prst="ellipse">
            <a:avLst/>
          </a:prstGeom>
          <a:solidFill>
            <a:srgbClr val="86B817"/>
          </a:solidFill>
          <a:ln w="12700">
            <a:solidFill>
              <a:srgbClr val="86B817"/>
            </a:solidFill>
            <a:prstDash val="solid"/>
          </a:ln>
        </p:spPr>
        <p:txBody>
          <a:bodyPr/>
          <a:lstStyle/>
          <a:p>
            <a:endParaRPr lang="en-GB"/>
          </a:p>
        </p:txBody>
      </p:sp>
      <p:sp>
        <p:nvSpPr>
          <p:cNvPr id="65" name="Text 63"/>
          <p:cNvSpPr/>
          <p:nvPr/>
        </p:nvSpPr>
        <p:spPr>
          <a:xfrm>
            <a:off x="7333488" y="2121408"/>
            <a:ext cx="777240" cy="164592"/>
          </a:xfrm>
          <a:prstGeom prst="rect">
            <a:avLst/>
          </a:prstGeom>
          <a:noFill/>
          <a:ln/>
        </p:spPr>
        <p:txBody>
          <a:bodyPr wrap="square" lIns="635" tIns="635" rIns="635" bIns="635" rtlCol="0" anchor="ctr">
            <a:normAutofit/>
          </a:bodyPr>
          <a:lstStyle/>
          <a:p>
            <a:pPr marL="0" indent="0" algn="ctr">
              <a:buNone/>
            </a:pPr>
            <a:r>
              <a:rPr lang="en-US" sz="650" dirty="0">
                <a:solidFill>
                  <a:srgbClr val="53627A"/>
                </a:solidFill>
                <a:latin typeface="Aptos" pitchFamily="34" charset="0"/>
                <a:ea typeface="Aptos" pitchFamily="34" charset="-122"/>
                <a:cs typeface="Aptos" pitchFamily="34" charset="-120"/>
              </a:rPr>
              <a:t>patch 4</a:t>
            </a:r>
            <a:endParaRPr lang="en-US" sz="650" dirty="0"/>
          </a:p>
        </p:txBody>
      </p:sp>
      <p:sp>
        <p:nvSpPr>
          <p:cNvPr id="66" name="Shape 64"/>
          <p:cNvSpPr/>
          <p:nvPr/>
        </p:nvSpPr>
        <p:spPr>
          <a:xfrm>
            <a:off x="7269480" y="2743200"/>
            <a:ext cx="868680" cy="548640"/>
          </a:xfrm>
          <a:prstGeom prst="roundRect">
            <a:avLst>
              <a:gd name="adj" fmla="val 13333"/>
            </a:avLst>
          </a:prstGeom>
          <a:solidFill>
            <a:srgbClr val="FFE7B4"/>
          </a:solidFill>
          <a:ln w="13970">
            <a:solidFill>
              <a:srgbClr val="E5A100"/>
            </a:solidFill>
            <a:prstDash val="solid"/>
          </a:ln>
        </p:spPr>
        <p:txBody>
          <a:bodyPr/>
          <a:lstStyle/>
          <a:p>
            <a:endParaRPr lang="en-GB"/>
          </a:p>
        </p:txBody>
      </p:sp>
      <p:sp>
        <p:nvSpPr>
          <p:cNvPr id="67" name="Text 65"/>
          <p:cNvSpPr/>
          <p:nvPr/>
        </p:nvSpPr>
        <p:spPr>
          <a:xfrm>
            <a:off x="7306056" y="27889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linear</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projection</a:t>
            </a:r>
            <a:endParaRPr lang="en-US" sz="680" dirty="0"/>
          </a:p>
        </p:txBody>
      </p:sp>
      <p:sp>
        <p:nvSpPr>
          <p:cNvPr id="68" name="Shape 66"/>
          <p:cNvSpPr/>
          <p:nvPr/>
        </p:nvSpPr>
        <p:spPr>
          <a:xfrm>
            <a:off x="7699248" y="2103120"/>
            <a:ext cx="0" cy="576072"/>
          </a:xfrm>
          <a:prstGeom prst="line">
            <a:avLst/>
          </a:prstGeom>
          <a:noFill/>
          <a:ln w="12700">
            <a:solidFill>
              <a:srgbClr val="8DA0B8"/>
            </a:solidFill>
            <a:prstDash val="solid"/>
            <a:headEnd type="none"/>
            <a:tailEnd type="triangle"/>
          </a:ln>
        </p:spPr>
        <p:txBody>
          <a:bodyPr/>
          <a:lstStyle/>
          <a:p>
            <a:endParaRPr lang="en-GB"/>
          </a:p>
        </p:txBody>
      </p:sp>
      <p:sp>
        <p:nvSpPr>
          <p:cNvPr id="69" name="Shape 67"/>
          <p:cNvSpPr/>
          <p:nvPr/>
        </p:nvSpPr>
        <p:spPr>
          <a:xfrm>
            <a:off x="7269480" y="3657600"/>
            <a:ext cx="868680" cy="548640"/>
          </a:xfrm>
          <a:prstGeom prst="roundRect">
            <a:avLst>
              <a:gd name="adj" fmla="val 13333"/>
            </a:avLst>
          </a:prstGeom>
          <a:solidFill>
            <a:srgbClr val="E3D4FF"/>
          </a:solidFill>
          <a:ln w="13970">
            <a:solidFill>
              <a:srgbClr val="895DE8"/>
            </a:solidFill>
            <a:prstDash val="solid"/>
          </a:ln>
        </p:spPr>
        <p:txBody>
          <a:bodyPr/>
          <a:lstStyle/>
          <a:p>
            <a:endParaRPr lang="en-GB"/>
          </a:p>
        </p:txBody>
      </p:sp>
      <p:sp>
        <p:nvSpPr>
          <p:cNvPr id="70" name="Text 68"/>
          <p:cNvSpPr/>
          <p:nvPr/>
        </p:nvSpPr>
        <p:spPr>
          <a:xfrm>
            <a:off x="7306056" y="3703320"/>
            <a:ext cx="795528" cy="457200"/>
          </a:xfrm>
          <a:prstGeom prst="rect">
            <a:avLst/>
          </a:prstGeom>
          <a:noFill/>
          <a:ln/>
        </p:spPr>
        <p:txBody>
          <a:bodyPr wrap="square" lIns="0" tIns="0" rIns="0" bIns="0" rtlCol="0" anchor="ctr">
            <a:normAutofit/>
          </a:bodyPr>
          <a:lstStyle/>
          <a:p>
            <a:pPr marL="0" indent="0" algn="ctr">
              <a:buNone/>
            </a:pPr>
            <a:r>
              <a:rPr lang="en-US" sz="680" b="1" dirty="0">
                <a:solidFill>
                  <a:srgbClr val="122033"/>
                </a:solidFill>
                <a:latin typeface="Aptos" pitchFamily="34" charset="0"/>
                <a:ea typeface="Aptos" pitchFamily="34" charset="-122"/>
                <a:cs typeface="Aptos" pitchFamily="34" charset="-120"/>
              </a:rPr>
              <a:t>token</a:t>
            </a:r>
            <a:endParaRPr lang="en-US" sz="680" dirty="0"/>
          </a:p>
          <a:p>
            <a:pPr marL="0" indent="0" algn="ctr">
              <a:buNone/>
            </a:pPr>
            <a:r>
              <a:rPr lang="en-US" sz="680" b="1" dirty="0">
                <a:solidFill>
                  <a:srgbClr val="122033"/>
                </a:solidFill>
                <a:latin typeface="Aptos" pitchFamily="34" charset="0"/>
                <a:ea typeface="Aptos" pitchFamily="34" charset="-122"/>
                <a:cs typeface="Aptos" pitchFamily="34" charset="-120"/>
              </a:rPr>
              <a:t>embedding</a:t>
            </a:r>
            <a:endParaRPr lang="en-US" sz="680" dirty="0"/>
          </a:p>
        </p:txBody>
      </p:sp>
      <p:sp>
        <p:nvSpPr>
          <p:cNvPr id="71" name="Shape 69"/>
          <p:cNvSpPr/>
          <p:nvPr/>
        </p:nvSpPr>
        <p:spPr>
          <a:xfrm>
            <a:off x="7699248" y="3337560"/>
            <a:ext cx="0" cy="265176"/>
          </a:xfrm>
          <a:prstGeom prst="line">
            <a:avLst/>
          </a:prstGeom>
          <a:noFill/>
          <a:ln w="12700">
            <a:solidFill>
              <a:srgbClr val="8DA0B8"/>
            </a:solidFill>
            <a:prstDash val="solid"/>
            <a:headEnd type="none"/>
            <a:tailEnd type="triangle"/>
          </a:ln>
        </p:spPr>
        <p:txBody>
          <a:bodyPr/>
          <a:lstStyle/>
          <a:p>
            <a:endParaRPr lang="en-GB"/>
          </a:p>
        </p:txBody>
      </p:sp>
      <p:sp>
        <p:nvSpPr>
          <p:cNvPr id="72" name="Shape 70"/>
          <p:cNvSpPr/>
          <p:nvPr/>
        </p:nvSpPr>
        <p:spPr>
          <a:xfrm>
            <a:off x="2606040" y="4937760"/>
            <a:ext cx="4389120" cy="438912"/>
          </a:xfrm>
          <a:prstGeom prst="roundRect">
            <a:avLst>
              <a:gd name="adj" fmla="val 16667"/>
            </a:avLst>
          </a:prstGeom>
          <a:solidFill>
            <a:srgbClr val="E9F6D7"/>
          </a:solidFill>
          <a:ln w="13970">
            <a:solidFill>
              <a:srgbClr val="86B817"/>
            </a:solidFill>
            <a:prstDash val="solid"/>
          </a:ln>
        </p:spPr>
        <p:txBody>
          <a:bodyPr/>
          <a:lstStyle/>
          <a:p>
            <a:endParaRPr lang="en-GB"/>
          </a:p>
        </p:txBody>
      </p:sp>
      <p:sp>
        <p:nvSpPr>
          <p:cNvPr id="73" name="Text 71"/>
          <p:cNvSpPr/>
          <p:nvPr/>
        </p:nvSpPr>
        <p:spPr>
          <a:xfrm>
            <a:off x="2642616" y="4983480"/>
            <a:ext cx="4315968" cy="347472"/>
          </a:xfrm>
          <a:prstGeom prst="rect">
            <a:avLst/>
          </a:prstGeom>
          <a:noFill/>
          <a:ln/>
        </p:spPr>
        <p:txBody>
          <a:bodyPr wrap="square" lIns="0" tIns="0" rIns="0" bIns="0" rtlCol="0" anchor="ctr">
            <a:normAutofit/>
          </a:bodyPr>
          <a:lstStyle/>
          <a:p>
            <a:pPr marL="0" indent="0" algn="ctr">
              <a:buNone/>
            </a:pPr>
            <a:r>
              <a:rPr lang="en-US" sz="920" b="1" dirty="0">
                <a:solidFill>
                  <a:srgbClr val="122033"/>
                </a:solidFill>
                <a:latin typeface="Aptos" pitchFamily="34" charset="0"/>
                <a:ea typeface="Aptos" pitchFamily="34" charset="-122"/>
                <a:cs typeface="Aptos" pitchFamily="34" charset="-120"/>
              </a:rPr>
              <a:t>Transformer processes patch embeddings: z₁, z₂, z₃, …</a:t>
            </a:r>
            <a:endParaRPr lang="en-US" sz="92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8EAABC-3350-44B0-3C01-955F61447A8C}"/>
              </a:ext>
            </a:extLst>
          </p:cNvPr>
          <p:cNvSpPr>
            <a:spLocks noGrp="1"/>
          </p:cNvSpPr>
          <p:nvPr>
            <p:ph type="title"/>
          </p:nvPr>
        </p:nvSpPr>
        <p:spPr/>
        <p:txBody>
          <a:bodyPr/>
          <a:lstStyle/>
          <a:p>
            <a:r>
              <a:rPr lang="en-GB" dirty="0"/>
              <a:t>Local representation plus global interaction</a:t>
            </a:r>
          </a:p>
        </p:txBody>
      </p:sp>
      <p:sp>
        <p:nvSpPr>
          <p:cNvPr id="3" name="Segnaposto contenuto 2">
            <a:extLst>
              <a:ext uri="{FF2B5EF4-FFF2-40B4-BE49-F238E27FC236}">
                <a16:creationId xmlns:a16="http://schemas.microsoft.com/office/drawing/2014/main" id="{0B8DA9A7-DA4E-6CF1-B263-A7F287AD0611}"/>
              </a:ext>
            </a:extLst>
          </p:cNvPr>
          <p:cNvSpPr>
            <a:spLocks noGrp="1"/>
          </p:cNvSpPr>
          <p:nvPr>
            <p:ph sz="half" idx="1"/>
          </p:nvPr>
        </p:nvSpPr>
        <p:spPr>
          <a:xfrm>
            <a:off x="677334" y="2160588"/>
            <a:ext cx="5791560" cy="4425037"/>
          </a:xfrm>
        </p:spPr>
        <p:txBody>
          <a:bodyPr>
            <a:normAutofit fontScale="77500" lnSpcReduction="20000"/>
          </a:bodyPr>
          <a:lstStyle/>
          <a:p>
            <a:r>
              <a:rPr lang="en-GB" dirty="0"/>
              <a:t>Patching and attention play complementary roles.</a:t>
            </a:r>
          </a:p>
          <a:p>
            <a:r>
              <a:rPr lang="en-GB" b="1" dirty="0"/>
              <a:t>Patching</a:t>
            </a:r>
          </a:p>
          <a:p>
            <a:r>
              <a:rPr lang="en-GB" dirty="0"/>
              <a:t>Represents local temporal structure.</a:t>
            </a:r>
          </a:p>
          <a:p>
            <a:r>
              <a:rPr lang="en-GB" dirty="0"/>
              <a:t>For example, one patch may contain:</a:t>
            </a:r>
          </a:p>
          <a:p>
            <a:pPr lvl="1"/>
            <a:r>
              <a:rPr lang="en-GB" dirty="0"/>
              <a:t>a short rising trend; </a:t>
            </a:r>
          </a:p>
          <a:p>
            <a:pPr lvl="1"/>
            <a:r>
              <a:rPr lang="en-GB" dirty="0"/>
              <a:t>a local oscillation; </a:t>
            </a:r>
          </a:p>
          <a:p>
            <a:pPr lvl="1"/>
            <a:r>
              <a:rPr lang="en-GB" dirty="0"/>
              <a:t>a transient event. </a:t>
            </a:r>
          </a:p>
          <a:p>
            <a:r>
              <a:rPr lang="en-GB" b="1" dirty="0"/>
              <a:t>Self-attention</a:t>
            </a:r>
          </a:p>
          <a:p>
            <a:r>
              <a:rPr lang="en-GB" dirty="0"/>
              <a:t>Models relationships among patches.</a:t>
            </a:r>
          </a:p>
          <a:p>
            <a:r>
              <a:rPr lang="en-GB" dirty="0"/>
              <a:t>For example:</a:t>
            </a:r>
          </a:p>
          <a:p>
            <a:pPr lvl="1"/>
            <a:r>
              <a:rPr lang="en-GB" dirty="0"/>
              <a:t>patch at current time</a:t>
            </a:r>
          </a:p>
          <a:p>
            <a:pPr lvl="1"/>
            <a:r>
              <a:rPr lang="en-GB" dirty="0"/>
              <a:t>       ↕</a:t>
            </a:r>
          </a:p>
          <a:p>
            <a:pPr lvl="1"/>
            <a:r>
              <a:rPr lang="en-GB" dirty="0"/>
              <a:t>patch one day earlier</a:t>
            </a:r>
          </a:p>
          <a:p>
            <a:pPr lvl="1"/>
            <a:r>
              <a:rPr lang="en-GB" dirty="0"/>
              <a:t>       ↕</a:t>
            </a:r>
          </a:p>
          <a:p>
            <a:pPr lvl="1"/>
            <a:r>
              <a:rPr lang="en-GB" dirty="0"/>
              <a:t>patch one week earlier</a:t>
            </a:r>
          </a:p>
          <a:p>
            <a:endParaRPr lang="en-GB" dirty="0"/>
          </a:p>
        </p:txBody>
      </p:sp>
      <p:sp>
        <p:nvSpPr>
          <p:cNvPr id="4" name="Segnaposto contenuto 3">
            <a:extLst>
              <a:ext uri="{FF2B5EF4-FFF2-40B4-BE49-F238E27FC236}">
                <a16:creationId xmlns:a16="http://schemas.microsoft.com/office/drawing/2014/main" id="{CDF6C510-ABD8-9FD4-A3EF-1257A003BC9A}"/>
              </a:ext>
            </a:extLst>
          </p:cNvPr>
          <p:cNvSpPr>
            <a:spLocks noGrp="1"/>
          </p:cNvSpPr>
          <p:nvPr>
            <p:ph sz="half" idx="2"/>
          </p:nvPr>
        </p:nvSpPr>
        <p:spPr>
          <a:xfrm>
            <a:off x="7054958" y="2160589"/>
            <a:ext cx="4696056" cy="4347215"/>
          </a:xfrm>
        </p:spPr>
        <p:txBody>
          <a:bodyPr>
            <a:normAutofit fontScale="77500" lnSpcReduction="20000"/>
          </a:bodyPr>
          <a:lstStyle/>
          <a:p>
            <a:r>
              <a:rPr lang="en-GB" b="1" dirty="0"/>
              <a:t>Conceptual hierarchy</a:t>
            </a:r>
          </a:p>
          <a:p>
            <a:r>
              <a:rPr lang="en-GB" dirty="0"/>
              <a:t>raw samples</a:t>
            </a:r>
          </a:p>
          <a:p>
            <a:r>
              <a:rPr lang="en-GB" dirty="0"/>
              <a:t>   ↓</a:t>
            </a:r>
          </a:p>
          <a:p>
            <a:r>
              <a:rPr lang="en-GB" dirty="0"/>
              <a:t>local temporal segments</a:t>
            </a:r>
          </a:p>
          <a:p>
            <a:r>
              <a:rPr lang="en-GB" dirty="0"/>
              <a:t>   ↓</a:t>
            </a:r>
          </a:p>
          <a:p>
            <a:r>
              <a:rPr lang="en-GB" dirty="0"/>
              <a:t>patch representations</a:t>
            </a:r>
          </a:p>
          <a:p>
            <a:r>
              <a:rPr lang="en-GB" dirty="0"/>
              <a:t>   ↓</a:t>
            </a:r>
          </a:p>
          <a:p>
            <a:r>
              <a:rPr lang="en-GB" dirty="0"/>
              <a:t>long-range attention</a:t>
            </a:r>
          </a:p>
          <a:p>
            <a:endParaRPr lang="en-GB" b="1" dirty="0"/>
          </a:p>
          <a:p>
            <a:r>
              <a:rPr lang="en-GB" b="1" dirty="0" err="1"/>
              <a:t>PatchTST</a:t>
            </a:r>
            <a:r>
              <a:rPr lang="en-GB" b="1" dirty="0"/>
              <a:t> combines local temporal grouping with flexible long-range interaction.</a:t>
            </a:r>
          </a:p>
          <a:p>
            <a:endParaRPr lang="en-GB" dirty="0"/>
          </a:p>
        </p:txBody>
      </p:sp>
    </p:spTree>
    <p:extLst>
      <p:ext uri="{BB962C8B-B14F-4D97-AF65-F5344CB8AC3E}">
        <p14:creationId xmlns:p14="http://schemas.microsoft.com/office/powerpoint/2010/main" val="276586019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PatchTST: local representation plus global interaction</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r>
              <a:rPr lang="en-GB" sz="1000" b="1" dirty="0"/>
              <a:t>Patches capture local temporal structure; self-attention integrates information across distant patches.</a:t>
            </a:r>
            <a:endParaRPr lang="en-US" sz="1000" b="1" dirty="0"/>
          </a:p>
        </p:txBody>
      </p:sp>
      <p:sp>
        <p:nvSpPr>
          <p:cNvPr id="8" name="Shape 6"/>
          <p:cNvSpPr/>
          <p:nvPr/>
        </p:nvSpPr>
        <p:spPr>
          <a:xfrm>
            <a:off x="914400" y="2423160"/>
            <a:ext cx="420624" cy="292608"/>
          </a:xfrm>
          <a:prstGeom prst="roundRect">
            <a:avLst>
              <a:gd name="adj" fmla="val 25000"/>
            </a:avLst>
          </a:prstGeom>
          <a:solidFill>
            <a:srgbClr val="99CCFF"/>
          </a:solidFill>
          <a:ln w="13970">
            <a:solidFill>
              <a:srgbClr val="E5A100"/>
            </a:solidFill>
            <a:prstDash val="solid"/>
          </a:ln>
        </p:spPr>
        <p:txBody>
          <a:bodyPr/>
          <a:lstStyle/>
          <a:p>
            <a:endParaRPr lang="en-GB"/>
          </a:p>
        </p:txBody>
      </p:sp>
      <p:sp>
        <p:nvSpPr>
          <p:cNvPr id="9" name="Text 7"/>
          <p:cNvSpPr/>
          <p:nvPr/>
        </p:nvSpPr>
        <p:spPr>
          <a:xfrm>
            <a:off x="95097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p1</a:t>
            </a:r>
            <a:endParaRPr lang="en-US" sz="580" dirty="0"/>
          </a:p>
        </p:txBody>
      </p:sp>
      <p:sp>
        <p:nvSpPr>
          <p:cNvPr id="10" name="Shape 8"/>
          <p:cNvSpPr/>
          <p:nvPr/>
        </p:nvSpPr>
        <p:spPr>
          <a:xfrm>
            <a:off x="1874520" y="2423160"/>
            <a:ext cx="420624" cy="292608"/>
          </a:xfrm>
          <a:prstGeom prst="roundRect">
            <a:avLst>
              <a:gd name="adj" fmla="val 25000"/>
            </a:avLst>
          </a:prstGeom>
          <a:solidFill>
            <a:schemeClr val="bg1">
              <a:lumMod val="95000"/>
            </a:schemeClr>
          </a:solidFill>
          <a:ln w="13970">
            <a:solidFill>
              <a:srgbClr val="86B817"/>
            </a:solidFill>
            <a:prstDash val="solid"/>
          </a:ln>
        </p:spPr>
        <p:txBody>
          <a:bodyPr/>
          <a:lstStyle/>
          <a:p>
            <a:endParaRPr lang="en-GB"/>
          </a:p>
        </p:txBody>
      </p:sp>
      <p:sp>
        <p:nvSpPr>
          <p:cNvPr id="11" name="Text 9"/>
          <p:cNvSpPr/>
          <p:nvPr/>
        </p:nvSpPr>
        <p:spPr>
          <a:xfrm>
            <a:off x="191109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p2</a:t>
            </a:r>
            <a:endParaRPr lang="en-US" sz="580" dirty="0"/>
          </a:p>
        </p:txBody>
      </p:sp>
      <p:sp>
        <p:nvSpPr>
          <p:cNvPr id="12" name="Shape 10"/>
          <p:cNvSpPr/>
          <p:nvPr/>
        </p:nvSpPr>
        <p:spPr>
          <a:xfrm>
            <a:off x="2834640" y="2423160"/>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3" name="Text 11"/>
          <p:cNvSpPr/>
          <p:nvPr/>
        </p:nvSpPr>
        <p:spPr>
          <a:xfrm>
            <a:off x="287121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p3</a:t>
            </a:r>
            <a:endParaRPr lang="en-US" sz="580" dirty="0"/>
          </a:p>
        </p:txBody>
      </p:sp>
      <p:sp>
        <p:nvSpPr>
          <p:cNvPr id="14" name="Shape 12"/>
          <p:cNvSpPr/>
          <p:nvPr/>
        </p:nvSpPr>
        <p:spPr>
          <a:xfrm>
            <a:off x="3794760" y="2423160"/>
            <a:ext cx="420624" cy="292608"/>
          </a:xfrm>
          <a:prstGeom prst="roundRect">
            <a:avLst>
              <a:gd name="adj" fmla="val 25000"/>
            </a:avLst>
          </a:prstGeom>
          <a:solidFill>
            <a:schemeClr val="bg1">
              <a:lumMod val="95000"/>
            </a:schemeClr>
          </a:solidFill>
          <a:ln w="13970">
            <a:solidFill>
              <a:srgbClr val="86B817"/>
            </a:solidFill>
            <a:prstDash val="solid"/>
          </a:ln>
        </p:spPr>
        <p:txBody>
          <a:bodyPr/>
          <a:lstStyle/>
          <a:p>
            <a:endParaRPr lang="en-GB"/>
          </a:p>
        </p:txBody>
      </p:sp>
      <p:sp>
        <p:nvSpPr>
          <p:cNvPr id="15" name="Text 13"/>
          <p:cNvSpPr/>
          <p:nvPr/>
        </p:nvSpPr>
        <p:spPr>
          <a:xfrm>
            <a:off x="383133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p4</a:t>
            </a:r>
            <a:endParaRPr lang="en-US" sz="580" dirty="0"/>
          </a:p>
        </p:txBody>
      </p:sp>
      <p:sp>
        <p:nvSpPr>
          <p:cNvPr id="16" name="Shape 14"/>
          <p:cNvSpPr/>
          <p:nvPr/>
        </p:nvSpPr>
        <p:spPr>
          <a:xfrm>
            <a:off x="4754880" y="2423160"/>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7" name="Text 15"/>
          <p:cNvSpPr/>
          <p:nvPr/>
        </p:nvSpPr>
        <p:spPr>
          <a:xfrm>
            <a:off x="479145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p5</a:t>
            </a:r>
            <a:endParaRPr lang="en-US" sz="580" dirty="0"/>
          </a:p>
        </p:txBody>
      </p:sp>
      <p:sp>
        <p:nvSpPr>
          <p:cNvPr id="18" name="Shape 16"/>
          <p:cNvSpPr/>
          <p:nvPr/>
        </p:nvSpPr>
        <p:spPr>
          <a:xfrm>
            <a:off x="5715000" y="2423160"/>
            <a:ext cx="420624" cy="292608"/>
          </a:xfrm>
          <a:prstGeom prst="roundRect">
            <a:avLst>
              <a:gd name="adj" fmla="val 25000"/>
            </a:avLst>
          </a:prstGeom>
          <a:solidFill>
            <a:srgbClr val="E9F6D7"/>
          </a:solidFill>
          <a:ln w="13970">
            <a:solidFill>
              <a:srgbClr val="86B817"/>
            </a:solidFill>
            <a:prstDash val="solid"/>
          </a:ln>
        </p:spPr>
        <p:txBody>
          <a:bodyPr/>
          <a:lstStyle/>
          <a:p>
            <a:endParaRPr lang="en-GB"/>
          </a:p>
        </p:txBody>
      </p:sp>
      <p:sp>
        <p:nvSpPr>
          <p:cNvPr id="19" name="Text 17"/>
          <p:cNvSpPr/>
          <p:nvPr/>
        </p:nvSpPr>
        <p:spPr>
          <a:xfrm>
            <a:off x="5751576" y="2468880"/>
            <a:ext cx="347472" cy="201168"/>
          </a:xfrm>
          <a:prstGeom prst="rect">
            <a:avLst/>
          </a:prstGeom>
          <a:solidFill>
            <a:schemeClr val="bg1">
              <a:lumMod val="95000"/>
            </a:schemeClr>
          </a:solid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p6</a:t>
            </a:r>
            <a:endParaRPr lang="en-US" sz="580" dirty="0"/>
          </a:p>
        </p:txBody>
      </p:sp>
      <p:sp>
        <p:nvSpPr>
          <p:cNvPr id="20" name="Shape 18"/>
          <p:cNvSpPr/>
          <p:nvPr/>
        </p:nvSpPr>
        <p:spPr>
          <a:xfrm>
            <a:off x="6675120" y="2423160"/>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21" name="Text 19"/>
          <p:cNvSpPr/>
          <p:nvPr/>
        </p:nvSpPr>
        <p:spPr>
          <a:xfrm>
            <a:off x="671169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p7</a:t>
            </a:r>
            <a:endParaRPr lang="en-US" sz="580" dirty="0"/>
          </a:p>
        </p:txBody>
      </p:sp>
      <p:sp>
        <p:nvSpPr>
          <p:cNvPr id="22" name="Shape 20"/>
          <p:cNvSpPr/>
          <p:nvPr/>
        </p:nvSpPr>
        <p:spPr>
          <a:xfrm>
            <a:off x="7635240" y="2423160"/>
            <a:ext cx="420624" cy="292608"/>
          </a:xfrm>
          <a:prstGeom prst="roundRect">
            <a:avLst>
              <a:gd name="adj" fmla="val 25000"/>
            </a:avLst>
          </a:prstGeom>
          <a:solidFill>
            <a:srgbClr val="E9F6D7"/>
          </a:solidFill>
          <a:ln w="13970">
            <a:solidFill>
              <a:srgbClr val="86B817"/>
            </a:solidFill>
            <a:prstDash val="solid"/>
          </a:ln>
        </p:spPr>
        <p:txBody>
          <a:bodyPr/>
          <a:lstStyle/>
          <a:p>
            <a:endParaRPr lang="en-GB"/>
          </a:p>
        </p:txBody>
      </p:sp>
      <p:sp>
        <p:nvSpPr>
          <p:cNvPr id="23" name="Text 21"/>
          <p:cNvSpPr/>
          <p:nvPr/>
        </p:nvSpPr>
        <p:spPr>
          <a:xfrm>
            <a:off x="7671816" y="2468880"/>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p8</a:t>
            </a:r>
            <a:endParaRPr lang="en-US" sz="580" dirty="0"/>
          </a:p>
        </p:txBody>
      </p:sp>
      <p:sp>
        <p:nvSpPr>
          <p:cNvPr id="24" name="Shape 22"/>
          <p:cNvSpPr/>
          <p:nvPr/>
        </p:nvSpPr>
        <p:spPr>
          <a:xfrm>
            <a:off x="8096631" y="2651760"/>
            <a:ext cx="631698" cy="384048"/>
          </a:xfrm>
          <a:prstGeom prst="line">
            <a:avLst/>
          </a:prstGeom>
          <a:noFill/>
          <a:ln w="13970">
            <a:solidFill>
              <a:schemeClr val="tx1"/>
            </a:solidFill>
            <a:prstDash val="solid"/>
            <a:headEnd type="none"/>
            <a:tailEnd type="triangle"/>
          </a:ln>
        </p:spPr>
        <p:txBody>
          <a:bodyPr/>
          <a:lstStyle/>
          <a:p>
            <a:endParaRPr lang="en-GB"/>
          </a:p>
        </p:txBody>
      </p:sp>
      <p:grpSp>
        <p:nvGrpSpPr>
          <p:cNvPr id="37" name="Gruppo 36">
            <a:extLst>
              <a:ext uri="{FF2B5EF4-FFF2-40B4-BE49-F238E27FC236}">
                <a16:creationId xmlns:a16="http://schemas.microsoft.com/office/drawing/2014/main" id="{EE93D490-8620-87FC-EEFA-C2F2B78C0390}"/>
              </a:ext>
            </a:extLst>
          </p:cNvPr>
          <p:cNvGrpSpPr/>
          <p:nvPr/>
        </p:nvGrpSpPr>
        <p:grpSpPr>
          <a:xfrm>
            <a:off x="8316468" y="3081528"/>
            <a:ext cx="1097280" cy="384048"/>
            <a:chOff x="7543800" y="3063240"/>
            <a:chExt cx="1097280" cy="384048"/>
          </a:xfrm>
        </p:grpSpPr>
        <p:sp>
          <p:nvSpPr>
            <p:cNvPr id="27" name="Shape 25"/>
            <p:cNvSpPr/>
            <p:nvPr/>
          </p:nvSpPr>
          <p:spPr>
            <a:xfrm>
              <a:off x="7543800" y="3063240"/>
              <a:ext cx="1097280" cy="384048"/>
            </a:xfrm>
            <a:prstGeom prst="roundRect">
              <a:avLst>
                <a:gd name="adj" fmla="val 19048"/>
              </a:avLst>
            </a:prstGeom>
            <a:solidFill>
              <a:srgbClr val="E3D4FF"/>
            </a:solidFill>
            <a:ln w="13970">
              <a:solidFill>
                <a:srgbClr val="895DE8"/>
              </a:solidFill>
              <a:prstDash val="solid"/>
            </a:ln>
          </p:spPr>
          <p:txBody>
            <a:bodyPr/>
            <a:lstStyle/>
            <a:p>
              <a:endParaRPr lang="en-GB"/>
            </a:p>
          </p:txBody>
        </p:sp>
        <p:sp>
          <p:nvSpPr>
            <p:cNvPr id="28" name="Text 26"/>
            <p:cNvSpPr/>
            <p:nvPr/>
          </p:nvSpPr>
          <p:spPr>
            <a:xfrm>
              <a:off x="7580376" y="3108960"/>
              <a:ext cx="1024128" cy="292608"/>
            </a:xfrm>
            <a:prstGeom prst="rect">
              <a:avLst/>
            </a:prstGeom>
            <a:noFill/>
            <a:ln/>
          </p:spPr>
          <p:txBody>
            <a:bodyPr wrap="square" lIns="0" tIns="0" rIns="0" bIns="0" rtlCol="0" anchor="ctr">
              <a:normAutofit/>
            </a:bodyPr>
            <a:lstStyle/>
            <a:p>
              <a:pPr marL="0" indent="0" algn="ctr">
                <a:buNone/>
              </a:pPr>
              <a:r>
                <a:rPr lang="en-US" sz="830" b="1" dirty="0">
                  <a:solidFill>
                    <a:srgbClr val="122033"/>
                  </a:solidFill>
                  <a:latin typeface="Aptos" pitchFamily="34" charset="0"/>
                  <a:ea typeface="Aptos" pitchFamily="34" charset="-122"/>
                  <a:cs typeface="Aptos" pitchFamily="34" charset="-120"/>
                </a:rPr>
                <a:t>current patch</a:t>
              </a:r>
              <a:endParaRPr lang="en-US" sz="830" dirty="0"/>
            </a:p>
          </p:txBody>
        </p:sp>
      </p:grpSp>
      <p:sp>
        <p:nvSpPr>
          <p:cNvPr id="29" name="Shape 27"/>
          <p:cNvSpPr/>
          <p:nvPr/>
        </p:nvSpPr>
        <p:spPr>
          <a:xfrm>
            <a:off x="5897880" y="1600200"/>
            <a:ext cx="1051560" cy="365760"/>
          </a:xfrm>
          <a:prstGeom prst="roundRect">
            <a:avLst>
              <a:gd name="adj" fmla="val 20000"/>
            </a:avLst>
          </a:prstGeom>
          <a:solidFill>
            <a:srgbClr val="E9F6D7"/>
          </a:solidFill>
          <a:ln w="13970">
            <a:solidFill>
              <a:srgbClr val="86B817"/>
            </a:solidFill>
            <a:prstDash val="solid"/>
          </a:ln>
        </p:spPr>
        <p:txBody>
          <a:bodyPr/>
          <a:lstStyle/>
          <a:p>
            <a:endParaRPr lang="en-GB"/>
          </a:p>
        </p:txBody>
      </p:sp>
      <p:sp>
        <p:nvSpPr>
          <p:cNvPr id="30" name="Text 28"/>
          <p:cNvSpPr/>
          <p:nvPr/>
        </p:nvSpPr>
        <p:spPr>
          <a:xfrm>
            <a:off x="5934456" y="1645920"/>
            <a:ext cx="978408" cy="274320"/>
          </a:xfrm>
          <a:prstGeom prst="rect">
            <a:avLst/>
          </a:prstGeom>
          <a:noFill/>
          <a:ln/>
        </p:spPr>
        <p:txBody>
          <a:bodyPr wrap="square" lIns="0" tIns="0" rIns="0" bIns="0" rtlCol="0" anchor="ctr">
            <a:normAutofit/>
          </a:bodyPr>
          <a:lstStyle/>
          <a:p>
            <a:pPr marL="0" indent="0" algn="ctr">
              <a:buNone/>
            </a:pPr>
            <a:r>
              <a:rPr lang="en-US" sz="750" b="1" dirty="0">
                <a:solidFill>
                  <a:srgbClr val="122033"/>
                </a:solidFill>
                <a:latin typeface="Aptos" pitchFamily="34" charset="0"/>
                <a:ea typeface="Aptos" pitchFamily="34" charset="-122"/>
                <a:cs typeface="Aptos" pitchFamily="34" charset="-120"/>
              </a:rPr>
              <a:t>recent context</a:t>
            </a:r>
            <a:endParaRPr lang="en-US" sz="750" dirty="0"/>
          </a:p>
        </p:txBody>
      </p:sp>
      <p:sp>
        <p:nvSpPr>
          <p:cNvPr id="31" name="Shape 29"/>
          <p:cNvSpPr/>
          <p:nvPr/>
        </p:nvSpPr>
        <p:spPr>
          <a:xfrm>
            <a:off x="3017520" y="1417320"/>
            <a:ext cx="1554480" cy="365760"/>
          </a:xfrm>
          <a:prstGeom prst="roundRect">
            <a:avLst>
              <a:gd name="adj" fmla="val 20000"/>
            </a:avLst>
          </a:prstGeom>
          <a:solidFill>
            <a:srgbClr val="FFE7B4"/>
          </a:solidFill>
          <a:ln w="13970">
            <a:solidFill>
              <a:srgbClr val="E5A100"/>
            </a:solidFill>
            <a:prstDash val="solid"/>
          </a:ln>
        </p:spPr>
        <p:txBody>
          <a:bodyPr/>
          <a:lstStyle/>
          <a:p>
            <a:endParaRPr lang="en-GB"/>
          </a:p>
        </p:txBody>
      </p:sp>
      <p:sp>
        <p:nvSpPr>
          <p:cNvPr id="32" name="Text 30"/>
          <p:cNvSpPr/>
          <p:nvPr/>
        </p:nvSpPr>
        <p:spPr>
          <a:xfrm>
            <a:off x="3054096" y="1463040"/>
            <a:ext cx="1481328" cy="274320"/>
          </a:xfrm>
          <a:prstGeom prst="rect">
            <a:avLst/>
          </a:prstGeom>
          <a:noFill/>
          <a:ln/>
        </p:spPr>
        <p:txBody>
          <a:bodyPr wrap="square" lIns="0" tIns="0" rIns="0" bIns="0" rtlCol="0" anchor="ctr">
            <a:normAutofit/>
          </a:bodyPr>
          <a:lstStyle/>
          <a:p>
            <a:pPr marL="0" indent="0" algn="ctr">
              <a:buNone/>
            </a:pPr>
            <a:r>
              <a:rPr lang="en-US" sz="750" b="1" dirty="0">
                <a:solidFill>
                  <a:srgbClr val="122033"/>
                </a:solidFill>
                <a:latin typeface="Aptos" pitchFamily="34" charset="0"/>
                <a:ea typeface="Aptos" pitchFamily="34" charset="-122"/>
                <a:cs typeface="Aptos" pitchFamily="34" charset="-120"/>
              </a:rPr>
              <a:t>daily/weekly pattern</a:t>
            </a:r>
            <a:endParaRPr lang="en-US" sz="750" dirty="0"/>
          </a:p>
        </p:txBody>
      </p:sp>
      <p:sp>
        <p:nvSpPr>
          <p:cNvPr id="33" name="Shape 31"/>
          <p:cNvSpPr/>
          <p:nvPr/>
        </p:nvSpPr>
        <p:spPr>
          <a:xfrm>
            <a:off x="731520" y="1325880"/>
            <a:ext cx="1005840" cy="365760"/>
          </a:xfrm>
          <a:prstGeom prst="roundRect">
            <a:avLst>
              <a:gd name="adj" fmla="val 20000"/>
            </a:avLst>
          </a:prstGeom>
          <a:solidFill>
            <a:srgbClr val="BFD7FF"/>
          </a:solidFill>
          <a:ln w="13970">
            <a:solidFill>
              <a:srgbClr val="3C7BE8"/>
            </a:solidFill>
            <a:prstDash val="solid"/>
          </a:ln>
        </p:spPr>
        <p:txBody>
          <a:bodyPr/>
          <a:lstStyle/>
          <a:p>
            <a:endParaRPr lang="en-GB"/>
          </a:p>
        </p:txBody>
      </p:sp>
      <p:sp>
        <p:nvSpPr>
          <p:cNvPr id="34" name="Text 32"/>
          <p:cNvSpPr/>
          <p:nvPr/>
        </p:nvSpPr>
        <p:spPr>
          <a:xfrm>
            <a:off x="768096" y="1371600"/>
            <a:ext cx="932688" cy="274320"/>
          </a:xfrm>
          <a:prstGeom prst="rect">
            <a:avLst/>
          </a:prstGeom>
          <a:noFill/>
          <a:ln/>
        </p:spPr>
        <p:txBody>
          <a:bodyPr wrap="square" lIns="0" tIns="0" rIns="0" bIns="0" rtlCol="0" anchor="ctr">
            <a:normAutofit/>
          </a:bodyPr>
          <a:lstStyle/>
          <a:p>
            <a:pPr marL="0" indent="0" algn="ctr">
              <a:buNone/>
            </a:pPr>
            <a:r>
              <a:rPr lang="en-US" sz="750" b="1" dirty="0">
                <a:solidFill>
                  <a:srgbClr val="122033"/>
                </a:solidFill>
                <a:latin typeface="Aptos" pitchFamily="34" charset="0"/>
                <a:ea typeface="Aptos" pitchFamily="34" charset="-122"/>
                <a:cs typeface="Aptos" pitchFamily="34" charset="-120"/>
              </a:rPr>
              <a:t>earlier event</a:t>
            </a:r>
            <a:endParaRPr lang="en-US" sz="750" dirty="0"/>
          </a:p>
        </p:txBody>
      </p:sp>
      <p:sp>
        <p:nvSpPr>
          <p:cNvPr id="35" name="Shape 33"/>
          <p:cNvSpPr/>
          <p:nvPr/>
        </p:nvSpPr>
        <p:spPr>
          <a:xfrm>
            <a:off x="2011680" y="4709160"/>
            <a:ext cx="548640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36" name="Text 34"/>
          <p:cNvSpPr/>
          <p:nvPr/>
        </p:nvSpPr>
        <p:spPr>
          <a:xfrm>
            <a:off x="2048256" y="4754880"/>
            <a:ext cx="5413248" cy="411480"/>
          </a:xfrm>
          <a:prstGeom prst="rect">
            <a:avLst/>
          </a:prstGeom>
          <a:noFill/>
          <a:ln/>
        </p:spPr>
        <p:txBody>
          <a:bodyPr wrap="square" lIns="0" tIns="0" rIns="0" bIns="0" rtlCol="0" anchor="ctr">
            <a:normAutofit/>
          </a:bodyPr>
          <a:lstStyle/>
          <a:p>
            <a:pPr marL="0" indent="0" algn="ctr">
              <a:buNone/>
            </a:pPr>
            <a:r>
              <a:rPr lang="en-US" sz="1000" b="1" dirty="0">
                <a:solidFill>
                  <a:srgbClr val="122033"/>
                </a:solidFill>
                <a:latin typeface="Aptos" pitchFamily="34" charset="0"/>
                <a:ea typeface="Aptos" pitchFamily="34" charset="-122"/>
                <a:cs typeface="Aptos" pitchFamily="34" charset="-120"/>
              </a:rPr>
              <a:t>Raw samples → local patches → attention among patches</a:t>
            </a:r>
            <a:endParaRPr lang="en-US" sz="1000" dirty="0"/>
          </a:p>
        </p:txBody>
      </p:sp>
      <p:sp>
        <p:nvSpPr>
          <p:cNvPr id="42" name="Shape 22">
            <a:extLst>
              <a:ext uri="{FF2B5EF4-FFF2-40B4-BE49-F238E27FC236}">
                <a16:creationId xmlns:a16="http://schemas.microsoft.com/office/drawing/2014/main" id="{924F701B-8177-7FA1-090E-F5E779AA591F}"/>
              </a:ext>
            </a:extLst>
          </p:cNvPr>
          <p:cNvSpPr/>
          <p:nvPr/>
        </p:nvSpPr>
        <p:spPr>
          <a:xfrm>
            <a:off x="7025642" y="2697480"/>
            <a:ext cx="1569718" cy="384043"/>
          </a:xfrm>
          <a:prstGeom prst="line">
            <a:avLst/>
          </a:prstGeom>
          <a:noFill/>
          <a:ln w="13970">
            <a:solidFill>
              <a:schemeClr val="tx1"/>
            </a:solidFill>
            <a:prstDash val="solid"/>
            <a:headEnd type="none"/>
            <a:tailEnd type="triangle"/>
          </a:ln>
        </p:spPr>
        <p:txBody>
          <a:bodyPr/>
          <a:lstStyle/>
          <a:p>
            <a:endParaRPr lang="en-GB"/>
          </a:p>
        </p:txBody>
      </p:sp>
      <p:sp>
        <p:nvSpPr>
          <p:cNvPr id="44" name="Shape 22">
            <a:extLst>
              <a:ext uri="{FF2B5EF4-FFF2-40B4-BE49-F238E27FC236}">
                <a16:creationId xmlns:a16="http://schemas.microsoft.com/office/drawing/2014/main" id="{6487515A-348F-D57D-46C4-C595C16B98F6}"/>
              </a:ext>
            </a:extLst>
          </p:cNvPr>
          <p:cNvSpPr/>
          <p:nvPr/>
        </p:nvSpPr>
        <p:spPr>
          <a:xfrm>
            <a:off x="5175503" y="2743199"/>
            <a:ext cx="3007995" cy="429759"/>
          </a:xfrm>
          <a:prstGeom prst="line">
            <a:avLst/>
          </a:prstGeom>
          <a:noFill/>
          <a:ln w="13970">
            <a:solidFill>
              <a:schemeClr val="tx1"/>
            </a:solidFill>
            <a:prstDash val="solid"/>
            <a:headEnd type="none"/>
            <a:tailEnd type="triangle"/>
          </a:ln>
        </p:spPr>
        <p:txBody>
          <a:bodyPr/>
          <a:lstStyle/>
          <a:p>
            <a:endParaRPr lang="en-GB"/>
          </a:p>
        </p:txBody>
      </p:sp>
      <p:sp>
        <p:nvSpPr>
          <p:cNvPr id="46" name="Shape 22">
            <a:extLst>
              <a:ext uri="{FF2B5EF4-FFF2-40B4-BE49-F238E27FC236}">
                <a16:creationId xmlns:a16="http://schemas.microsoft.com/office/drawing/2014/main" id="{DD6DCACF-4AAA-0958-2A99-3B2A830C1D4B}"/>
              </a:ext>
            </a:extLst>
          </p:cNvPr>
          <p:cNvSpPr/>
          <p:nvPr/>
        </p:nvSpPr>
        <p:spPr>
          <a:xfrm>
            <a:off x="3279648" y="2766053"/>
            <a:ext cx="4903850" cy="502917"/>
          </a:xfrm>
          <a:prstGeom prst="line">
            <a:avLst/>
          </a:prstGeom>
          <a:noFill/>
          <a:ln w="13970">
            <a:solidFill>
              <a:schemeClr val="tx1"/>
            </a:solidFill>
            <a:prstDash val="solid"/>
            <a:headEnd type="none"/>
            <a:tailEnd type="triangle"/>
          </a:ln>
        </p:spPr>
        <p:txBody>
          <a:bodyPr/>
          <a:lstStyle/>
          <a:p>
            <a:endParaRPr lang="en-GB"/>
          </a:p>
        </p:txBody>
      </p:sp>
      <p:sp>
        <p:nvSpPr>
          <p:cNvPr id="48" name="Shape 22">
            <a:extLst>
              <a:ext uri="{FF2B5EF4-FFF2-40B4-BE49-F238E27FC236}">
                <a16:creationId xmlns:a16="http://schemas.microsoft.com/office/drawing/2014/main" id="{8A2E675D-4AA5-B66B-FB85-8AB6C1FB79A6}"/>
              </a:ext>
            </a:extLst>
          </p:cNvPr>
          <p:cNvSpPr/>
          <p:nvPr/>
        </p:nvSpPr>
        <p:spPr>
          <a:xfrm>
            <a:off x="1453134" y="2834639"/>
            <a:ext cx="6762750" cy="502915"/>
          </a:xfrm>
          <a:prstGeom prst="line">
            <a:avLst/>
          </a:prstGeom>
          <a:noFill/>
          <a:ln w="13970">
            <a:solidFill>
              <a:schemeClr val="tx1"/>
            </a:solidFill>
            <a:prstDash val="solid"/>
            <a:headEnd type="none"/>
            <a:tailEnd type="triangle"/>
          </a:ln>
        </p:spPr>
        <p:txBody>
          <a:bodyPr/>
          <a:lstStyle/>
          <a:p>
            <a:endParaRPr lang="en-GB"/>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8CB221-9D28-D16C-A83D-C4B6A95CAA32}"/>
              </a:ext>
            </a:extLst>
          </p:cNvPr>
          <p:cNvSpPr>
            <a:spLocks noGrp="1"/>
          </p:cNvSpPr>
          <p:nvPr>
            <p:ph type="title"/>
          </p:nvPr>
        </p:nvSpPr>
        <p:spPr/>
        <p:txBody>
          <a:bodyPr/>
          <a:lstStyle/>
          <a:p>
            <a:r>
              <a:rPr lang="en-GB" dirty="0"/>
              <a:t>Channel-independent processing</a:t>
            </a:r>
          </a:p>
        </p:txBody>
      </p:sp>
      <p:sp>
        <p:nvSpPr>
          <p:cNvPr id="3" name="Segnaposto contenuto 2">
            <a:extLst>
              <a:ext uri="{FF2B5EF4-FFF2-40B4-BE49-F238E27FC236}">
                <a16:creationId xmlns:a16="http://schemas.microsoft.com/office/drawing/2014/main" id="{27015A8A-C13E-176B-A99C-25B871B26805}"/>
              </a:ext>
            </a:extLst>
          </p:cNvPr>
          <p:cNvSpPr>
            <a:spLocks noGrp="1"/>
          </p:cNvSpPr>
          <p:nvPr>
            <p:ph sz="half" idx="1"/>
          </p:nvPr>
        </p:nvSpPr>
        <p:spPr/>
        <p:txBody>
          <a:bodyPr>
            <a:normAutofit fontScale="92500" lnSpcReduction="20000"/>
          </a:bodyPr>
          <a:lstStyle/>
          <a:p>
            <a:r>
              <a:rPr lang="en-GB" dirty="0"/>
              <a:t>An important design choice in </a:t>
            </a:r>
            <a:r>
              <a:rPr lang="en-GB" dirty="0" err="1"/>
              <a:t>PatchTST</a:t>
            </a:r>
            <a:r>
              <a:rPr lang="en-GB" dirty="0"/>
              <a:t> is </a:t>
            </a:r>
            <a:r>
              <a:rPr lang="en-GB" b="1" dirty="0"/>
              <a:t>channel independence</a:t>
            </a:r>
            <a:r>
              <a:rPr lang="en-GB" dirty="0"/>
              <a:t>.</a:t>
            </a:r>
          </a:p>
          <a:p>
            <a:r>
              <a:rPr lang="en-GB" dirty="0"/>
              <a:t>Suppose the multivariate input contains:</a:t>
            </a:r>
          </a:p>
          <a:p>
            <a:pPr lvl="1"/>
            <a:r>
              <a:rPr lang="en-GB" dirty="0"/>
              <a:t>temperature; </a:t>
            </a:r>
          </a:p>
          <a:p>
            <a:pPr lvl="1"/>
            <a:r>
              <a:rPr lang="en-GB" dirty="0"/>
              <a:t>pressure; </a:t>
            </a:r>
          </a:p>
          <a:p>
            <a:pPr lvl="1"/>
            <a:r>
              <a:rPr lang="en-GB" dirty="0"/>
              <a:t>flow; </a:t>
            </a:r>
          </a:p>
          <a:p>
            <a:pPr lvl="1"/>
            <a:r>
              <a:rPr lang="en-GB" dirty="0"/>
              <a:t>vibration. </a:t>
            </a:r>
          </a:p>
          <a:p>
            <a:r>
              <a:rPr lang="en-GB" dirty="0"/>
              <a:t>Instead of creating one token that directly combines all variables at each patch, the same Transformer processing can be applied separately to the temporal patches of each variable.</a:t>
            </a:r>
          </a:p>
          <a:p>
            <a:endParaRPr lang="en-GB" dirty="0"/>
          </a:p>
        </p:txBody>
      </p:sp>
      <p:sp>
        <p:nvSpPr>
          <p:cNvPr id="4" name="Segnaposto contenuto 3">
            <a:extLst>
              <a:ext uri="{FF2B5EF4-FFF2-40B4-BE49-F238E27FC236}">
                <a16:creationId xmlns:a16="http://schemas.microsoft.com/office/drawing/2014/main" id="{37AA9F2F-0FD4-6D54-6D03-5C9EB57B5CB8}"/>
              </a:ext>
            </a:extLst>
          </p:cNvPr>
          <p:cNvSpPr>
            <a:spLocks noGrp="1"/>
          </p:cNvSpPr>
          <p:nvPr>
            <p:ph sz="half" idx="2"/>
          </p:nvPr>
        </p:nvSpPr>
        <p:spPr>
          <a:xfrm>
            <a:off x="5089969" y="2160589"/>
            <a:ext cx="6816685" cy="4512585"/>
          </a:xfrm>
        </p:spPr>
        <p:txBody>
          <a:bodyPr>
            <a:normAutofit fontScale="92500" lnSpcReduction="20000"/>
          </a:bodyPr>
          <a:lstStyle/>
          <a:p>
            <a:r>
              <a:rPr lang="en-GB" dirty="0"/>
              <a:t>Conceptually:</a:t>
            </a:r>
          </a:p>
          <a:p>
            <a:pPr lvl="1"/>
            <a:r>
              <a:rPr lang="en-GB" dirty="0"/>
              <a:t>temperature series → patches → Transformer</a:t>
            </a:r>
          </a:p>
          <a:p>
            <a:pPr lvl="1"/>
            <a:r>
              <a:rPr lang="en-GB" dirty="0"/>
              <a:t>pressure series    → patches → same Transformer</a:t>
            </a:r>
          </a:p>
          <a:p>
            <a:pPr lvl="1"/>
            <a:r>
              <a:rPr lang="en-GB" dirty="0"/>
              <a:t>flow series        → patches → same Transformer</a:t>
            </a:r>
          </a:p>
          <a:p>
            <a:r>
              <a:rPr lang="en-GB" b="1" dirty="0"/>
              <a:t>Why?</a:t>
            </a:r>
          </a:p>
          <a:p>
            <a:r>
              <a:rPr lang="en-GB" dirty="0"/>
              <a:t>This reduces direct mixing among variables inside the Transformer encoder and allows the same temporal representation mechanism to be reused across channels.</a:t>
            </a:r>
          </a:p>
          <a:p>
            <a:r>
              <a:rPr lang="en-GB" b="1" dirty="0"/>
              <a:t>Important nuance</a:t>
            </a:r>
          </a:p>
          <a:p>
            <a:r>
              <a:rPr lang="en-GB" dirty="0"/>
              <a:t>Vanilla channel-independent </a:t>
            </a:r>
            <a:r>
              <a:rPr lang="en-GB" dirty="0" err="1"/>
              <a:t>PatchTST</a:t>
            </a:r>
            <a:r>
              <a:rPr lang="en-GB" dirty="0"/>
              <a:t> does not explicitly learn cross-variable dependencies.</a:t>
            </a:r>
          </a:p>
          <a:p>
            <a:r>
              <a:rPr lang="en-GB" dirty="0"/>
              <a:t>The dataset may be multivariate, but </a:t>
            </a:r>
            <a:r>
              <a:rPr lang="en-GB" dirty="0" err="1"/>
              <a:t>PatchTST</a:t>
            </a:r>
            <a:r>
              <a:rPr lang="en-GB" dirty="0"/>
              <a:t> processes each variable as a separate univariate sequence using shared model parameters.</a:t>
            </a:r>
          </a:p>
        </p:txBody>
      </p:sp>
    </p:spTree>
    <p:extLst>
      <p:ext uri="{BB962C8B-B14F-4D97-AF65-F5344CB8AC3E}">
        <p14:creationId xmlns:p14="http://schemas.microsoft.com/office/powerpoint/2010/main" val="9528822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Channel-independent processing</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Temporal patches from each variable can be encoded separately with shared Transformer parameters.</a:t>
            </a:r>
            <a:endParaRPr lang="en-US" sz="850" dirty="0"/>
          </a:p>
        </p:txBody>
      </p:sp>
      <p:sp>
        <p:nvSpPr>
          <p:cNvPr id="8" name="Shape 6"/>
          <p:cNvSpPr/>
          <p:nvPr/>
        </p:nvSpPr>
        <p:spPr>
          <a:xfrm>
            <a:off x="685800" y="1417320"/>
            <a:ext cx="1325880" cy="411480"/>
          </a:xfrm>
          <a:prstGeom prst="roundRect">
            <a:avLst>
              <a:gd name="adj" fmla="val 17778"/>
            </a:avLst>
          </a:prstGeom>
          <a:solidFill>
            <a:srgbClr val="BFD7FF"/>
          </a:solidFill>
          <a:ln w="13970">
            <a:solidFill>
              <a:srgbClr val="3C7BE8"/>
            </a:solidFill>
            <a:prstDash val="solid"/>
          </a:ln>
        </p:spPr>
        <p:txBody>
          <a:bodyPr/>
          <a:lstStyle/>
          <a:p>
            <a:endParaRPr lang="en-GB"/>
          </a:p>
        </p:txBody>
      </p:sp>
      <p:sp>
        <p:nvSpPr>
          <p:cNvPr id="9" name="Text 7"/>
          <p:cNvSpPr/>
          <p:nvPr/>
        </p:nvSpPr>
        <p:spPr>
          <a:xfrm>
            <a:off x="722376" y="1463040"/>
            <a:ext cx="1252728" cy="320040"/>
          </a:xfrm>
          <a:prstGeom prst="rect">
            <a:avLst/>
          </a:prstGeom>
          <a:noFill/>
          <a:ln/>
        </p:spPr>
        <p:txBody>
          <a:bodyPr wrap="square" lIns="0" tIns="0" rIns="0" bIns="0" rtlCol="0" anchor="ctr">
            <a:normAutofit/>
          </a:bodyPr>
          <a:lstStyle/>
          <a:p>
            <a:pPr marL="0" indent="0" algn="ctr">
              <a:buNone/>
            </a:pPr>
            <a:r>
              <a:rPr lang="en-US" sz="830" b="1" dirty="0">
                <a:solidFill>
                  <a:srgbClr val="122033"/>
                </a:solidFill>
                <a:latin typeface="Aptos" pitchFamily="34" charset="0"/>
                <a:ea typeface="Aptos" pitchFamily="34" charset="-122"/>
                <a:cs typeface="Aptos" pitchFamily="34" charset="-120"/>
              </a:rPr>
              <a:t>temperature</a:t>
            </a:r>
            <a:endParaRPr lang="en-US" sz="830" dirty="0"/>
          </a:p>
        </p:txBody>
      </p:sp>
      <p:sp>
        <p:nvSpPr>
          <p:cNvPr id="10" name="Shape 8"/>
          <p:cNvSpPr/>
          <p:nvPr/>
        </p:nvSpPr>
        <p:spPr>
          <a:xfrm>
            <a:off x="2423160" y="145389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1" name="Text 9"/>
          <p:cNvSpPr/>
          <p:nvPr/>
        </p:nvSpPr>
        <p:spPr>
          <a:xfrm>
            <a:off x="2459736" y="149961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p1</a:t>
            </a:r>
            <a:endParaRPr lang="en-US" sz="580" dirty="0"/>
          </a:p>
        </p:txBody>
      </p:sp>
      <p:sp>
        <p:nvSpPr>
          <p:cNvPr id="12" name="Shape 10"/>
          <p:cNvSpPr/>
          <p:nvPr/>
        </p:nvSpPr>
        <p:spPr>
          <a:xfrm>
            <a:off x="2926080" y="145389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3" name="Text 11"/>
          <p:cNvSpPr/>
          <p:nvPr/>
        </p:nvSpPr>
        <p:spPr>
          <a:xfrm>
            <a:off x="2962656" y="149961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p2</a:t>
            </a:r>
            <a:endParaRPr lang="en-US" sz="580" dirty="0"/>
          </a:p>
        </p:txBody>
      </p:sp>
      <p:sp>
        <p:nvSpPr>
          <p:cNvPr id="14" name="Shape 12"/>
          <p:cNvSpPr/>
          <p:nvPr/>
        </p:nvSpPr>
        <p:spPr>
          <a:xfrm>
            <a:off x="3429000" y="145389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5" name="Text 13"/>
          <p:cNvSpPr/>
          <p:nvPr/>
        </p:nvSpPr>
        <p:spPr>
          <a:xfrm>
            <a:off x="3465576" y="149961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p3</a:t>
            </a:r>
            <a:endParaRPr lang="en-US" sz="580" dirty="0"/>
          </a:p>
        </p:txBody>
      </p:sp>
      <p:sp>
        <p:nvSpPr>
          <p:cNvPr id="16" name="Shape 14"/>
          <p:cNvSpPr/>
          <p:nvPr/>
        </p:nvSpPr>
        <p:spPr>
          <a:xfrm>
            <a:off x="3931920" y="145389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7" name="Text 15"/>
          <p:cNvSpPr/>
          <p:nvPr/>
        </p:nvSpPr>
        <p:spPr>
          <a:xfrm>
            <a:off x="3968496" y="149961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p4</a:t>
            </a:r>
            <a:endParaRPr lang="en-US" sz="580" dirty="0"/>
          </a:p>
        </p:txBody>
      </p:sp>
      <p:sp>
        <p:nvSpPr>
          <p:cNvPr id="18" name="Shape 16"/>
          <p:cNvSpPr/>
          <p:nvPr/>
        </p:nvSpPr>
        <p:spPr>
          <a:xfrm>
            <a:off x="4434840" y="145389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19" name="Text 17"/>
          <p:cNvSpPr/>
          <p:nvPr/>
        </p:nvSpPr>
        <p:spPr>
          <a:xfrm>
            <a:off x="4471416" y="149961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p5</a:t>
            </a:r>
            <a:endParaRPr lang="en-US" sz="580" dirty="0"/>
          </a:p>
        </p:txBody>
      </p:sp>
      <p:sp>
        <p:nvSpPr>
          <p:cNvPr id="20" name="Shape 18"/>
          <p:cNvSpPr/>
          <p:nvPr/>
        </p:nvSpPr>
        <p:spPr>
          <a:xfrm>
            <a:off x="2039112" y="1618488"/>
            <a:ext cx="292608" cy="0"/>
          </a:xfrm>
          <a:prstGeom prst="line">
            <a:avLst/>
          </a:prstGeom>
          <a:noFill/>
          <a:ln w="12700">
            <a:solidFill>
              <a:srgbClr val="8DA0B8"/>
            </a:solidFill>
            <a:prstDash val="solid"/>
            <a:headEnd type="none"/>
            <a:tailEnd type="triangle"/>
          </a:ln>
        </p:spPr>
        <p:txBody>
          <a:bodyPr/>
          <a:lstStyle/>
          <a:p>
            <a:endParaRPr lang="en-GB"/>
          </a:p>
        </p:txBody>
      </p:sp>
      <p:sp>
        <p:nvSpPr>
          <p:cNvPr id="21" name="Shape 19"/>
          <p:cNvSpPr/>
          <p:nvPr/>
        </p:nvSpPr>
        <p:spPr>
          <a:xfrm>
            <a:off x="5486400" y="1344168"/>
            <a:ext cx="1188720" cy="566928"/>
          </a:xfrm>
          <a:prstGeom prst="roundRect">
            <a:avLst>
              <a:gd name="adj" fmla="val 12903"/>
            </a:avLst>
          </a:prstGeom>
          <a:solidFill>
            <a:srgbClr val="E3D4FF"/>
          </a:solidFill>
          <a:ln w="13970">
            <a:solidFill>
              <a:srgbClr val="895DE8"/>
            </a:solidFill>
            <a:prstDash val="solid"/>
          </a:ln>
        </p:spPr>
        <p:txBody>
          <a:bodyPr/>
          <a:lstStyle/>
          <a:p>
            <a:endParaRPr lang="en-GB"/>
          </a:p>
        </p:txBody>
      </p:sp>
      <p:sp>
        <p:nvSpPr>
          <p:cNvPr id="22" name="Text 20"/>
          <p:cNvSpPr/>
          <p:nvPr/>
        </p:nvSpPr>
        <p:spPr>
          <a:xfrm>
            <a:off x="5522976" y="1389888"/>
            <a:ext cx="1115568" cy="475488"/>
          </a:xfrm>
          <a:prstGeom prst="rect">
            <a:avLst/>
          </a:prstGeom>
          <a:noFill/>
          <a:ln/>
        </p:spPr>
        <p:txBody>
          <a:bodyPr wrap="square" lIns="0" tIns="0" rIns="0" bIns="0" rtlCol="0" anchor="ctr">
            <a:normAutofit/>
          </a:bodyPr>
          <a:lstStyle/>
          <a:p>
            <a:pPr marL="0" indent="0" algn="ctr">
              <a:buNone/>
            </a:pPr>
            <a:r>
              <a:rPr lang="en-US" sz="660" b="1" dirty="0">
                <a:solidFill>
                  <a:srgbClr val="122033"/>
                </a:solidFill>
                <a:latin typeface="Aptos" pitchFamily="34" charset="0"/>
                <a:ea typeface="Aptos" pitchFamily="34" charset="-122"/>
                <a:cs typeface="Aptos" pitchFamily="34" charset="-120"/>
              </a:rPr>
              <a:t>same</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Transformer</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encoder</a:t>
            </a:r>
            <a:endParaRPr lang="en-US" sz="660" dirty="0"/>
          </a:p>
        </p:txBody>
      </p:sp>
      <p:sp>
        <p:nvSpPr>
          <p:cNvPr id="23" name="Shape 21"/>
          <p:cNvSpPr/>
          <p:nvPr/>
        </p:nvSpPr>
        <p:spPr>
          <a:xfrm>
            <a:off x="4937760" y="1618488"/>
            <a:ext cx="502920" cy="0"/>
          </a:xfrm>
          <a:prstGeom prst="line">
            <a:avLst/>
          </a:prstGeom>
          <a:noFill/>
          <a:ln w="12700">
            <a:solidFill>
              <a:srgbClr val="895DE8"/>
            </a:solidFill>
            <a:prstDash val="solid"/>
            <a:headEnd type="none"/>
            <a:tailEnd type="triangle"/>
          </a:ln>
        </p:spPr>
        <p:txBody>
          <a:bodyPr/>
          <a:lstStyle/>
          <a:p>
            <a:endParaRPr lang="en-GB"/>
          </a:p>
        </p:txBody>
      </p:sp>
      <p:sp>
        <p:nvSpPr>
          <p:cNvPr id="24" name="Shape 22"/>
          <p:cNvSpPr/>
          <p:nvPr/>
        </p:nvSpPr>
        <p:spPr>
          <a:xfrm>
            <a:off x="7223760" y="1371600"/>
            <a:ext cx="91440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25" name="Text 23"/>
          <p:cNvSpPr/>
          <p:nvPr/>
        </p:nvSpPr>
        <p:spPr>
          <a:xfrm>
            <a:off x="7260336" y="1417320"/>
            <a:ext cx="841248" cy="41148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forecast</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head</a:t>
            </a:r>
            <a:endParaRPr lang="en-US" sz="700" dirty="0"/>
          </a:p>
        </p:txBody>
      </p:sp>
      <p:sp>
        <p:nvSpPr>
          <p:cNvPr id="26" name="Shape 24"/>
          <p:cNvSpPr/>
          <p:nvPr/>
        </p:nvSpPr>
        <p:spPr>
          <a:xfrm>
            <a:off x="6720840" y="1618488"/>
            <a:ext cx="457200" cy="0"/>
          </a:xfrm>
          <a:prstGeom prst="line">
            <a:avLst/>
          </a:prstGeom>
          <a:noFill/>
          <a:ln w="12700">
            <a:solidFill>
              <a:srgbClr val="86B817"/>
            </a:solidFill>
            <a:prstDash val="solid"/>
            <a:headEnd type="none"/>
            <a:tailEnd type="triangle"/>
          </a:ln>
        </p:spPr>
        <p:txBody>
          <a:bodyPr/>
          <a:lstStyle/>
          <a:p>
            <a:endParaRPr lang="en-GB"/>
          </a:p>
        </p:txBody>
      </p:sp>
      <p:sp>
        <p:nvSpPr>
          <p:cNvPr id="27" name="Shape 25"/>
          <p:cNvSpPr/>
          <p:nvPr/>
        </p:nvSpPr>
        <p:spPr>
          <a:xfrm>
            <a:off x="685800" y="2377440"/>
            <a:ext cx="1325880" cy="411480"/>
          </a:xfrm>
          <a:prstGeom prst="roundRect">
            <a:avLst>
              <a:gd name="adj" fmla="val 17778"/>
            </a:avLst>
          </a:prstGeom>
          <a:solidFill>
            <a:srgbClr val="BFD7FF"/>
          </a:solidFill>
          <a:ln w="13970">
            <a:solidFill>
              <a:srgbClr val="3C7BE8"/>
            </a:solidFill>
            <a:prstDash val="solid"/>
          </a:ln>
        </p:spPr>
        <p:txBody>
          <a:bodyPr/>
          <a:lstStyle/>
          <a:p>
            <a:endParaRPr lang="en-GB"/>
          </a:p>
        </p:txBody>
      </p:sp>
      <p:sp>
        <p:nvSpPr>
          <p:cNvPr id="28" name="Text 26"/>
          <p:cNvSpPr/>
          <p:nvPr/>
        </p:nvSpPr>
        <p:spPr>
          <a:xfrm>
            <a:off x="722376" y="2423160"/>
            <a:ext cx="1252728" cy="320040"/>
          </a:xfrm>
          <a:prstGeom prst="rect">
            <a:avLst/>
          </a:prstGeom>
          <a:noFill/>
          <a:ln/>
        </p:spPr>
        <p:txBody>
          <a:bodyPr wrap="square" lIns="0" tIns="0" rIns="0" bIns="0" rtlCol="0" anchor="ctr">
            <a:normAutofit/>
          </a:bodyPr>
          <a:lstStyle/>
          <a:p>
            <a:pPr marL="0" indent="0" algn="ctr">
              <a:buNone/>
            </a:pPr>
            <a:r>
              <a:rPr lang="en-US" sz="830" b="1" dirty="0">
                <a:solidFill>
                  <a:srgbClr val="122033"/>
                </a:solidFill>
                <a:latin typeface="Aptos" pitchFamily="34" charset="0"/>
                <a:ea typeface="Aptos" pitchFamily="34" charset="-122"/>
                <a:cs typeface="Aptos" pitchFamily="34" charset="-120"/>
              </a:rPr>
              <a:t>pressure</a:t>
            </a:r>
            <a:endParaRPr lang="en-US" sz="830" dirty="0"/>
          </a:p>
        </p:txBody>
      </p:sp>
      <p:sp>
        <p:nvSpPr>
          <p:cNvPr id="29" name="Shape 27"/>
          <p:cNvSpPr/>
          <p:nvPr/>
        </p:nvSpPr>
        <p:spPr>
          <a:xfrm>
            <a:off x="2423160" y="241401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30" name="Text 28"/>
          <p:cNvSpPr/>
          <p:nvPr/>
        </p:nvSpPr>
        <p:spPr>
          <a:xfrm>
            <a:off x="2459736" y="245973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p1</a:t>
            </a:r>
            <a:endParaRPr lang="en-US" sz="580" dirty="0"/>
          </a:p>
        </p:txBody>
      </p:sp>
      <p:sp>
        <p:nvSpPr>
          <p:cNvPr id="31" name="Shape 29"/>
          <p:cNvSpPr/>
          <p:nvPr/>
        </p:nvSpPr>
        <p:spPr>
          <a:xfrm>
            <a:off x="2926080" y="241401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32" name="Text 30"/>
          <p:cNvSpPr/>
          <p:nvPr/>
        </p:nvSpPr>
        <p:spPr>
          <a:xfrm>
            <a:off x="2962656" y="245973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p2</a:t>
            </a:r>
            <a:endParaRPr lang="en-US" sz="580" dirty="0"/>
          </a:p>
        </p:txBody>
      </p:sp>
      <p:sp>
        <p:nvSpPr>
          <p:cNvPr id="33" name="Shape 31"/>
          <p:cNvSpPr/>
          <p:nvPr/>
        </p:nvSpPr>
        <p:spPr>
          <a:xfrm>
            <a:off x="3429000" y="241401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34" name="Text 32"/>
          <p:cNvSpPr/>
          <p:nvPr/>
        </p:nvSpPr>
        <p:spPr>
          <a:xfrm>
            <a:off x="3465576" y="245973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p3</a:t>
            </a:r>
            <a:endParaRPr lang="en-US" sz="580" dirty="0"/>
          </a:p>
        </p:txBody>
      </p:sp>
      <p:sp>
        <p:nvSpPr>
          <p:cNvPr id="35" name="Shape 33"/>
          <p:cNvSpPr/>
          <p:nvPr/>
        </p:nvSpPr>
        <p:spPr>
          <a:xfrm>
            <a:off x="3931920" y="241401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36" name="Text 34"/>
          <p:cNvSpPr/>
          <p:nvPr/>
        </p:nvSpPr>
        <p:spPr>
          <a:xfrm>
            <a:off x="3968496" y="245973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p4</a:t>
            </a:r>
            <a:endParaRPr lang="en-US" sz="580" dirty="0"/>
          </a:p>
        </p:txBody>
      </p:sp>
      <p:sp>
        <p:nvSpPr>
          <p:cNvPr id="37" name="Shape 35"/>
          <p:cNvSpPr/>
          <p:nvPr/>
        </p:nvSpPr>
        <p:spPr>
          <a:xfrm>
            <a:off x="4434840" y="241401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38" name="Text 36"/>
          <p:cNvSpPr/>
          <p:nvPr/>
        </p:nvSpPr>
        <p:spPr>
          <a:xfrm>
            <a:off x="4471416" y="245973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p5</a:t>
            </a:r>
            <a:endParaRPr lang="en-US" sz="580" dirty="0"/>
          </a:p>
        </p:txBody>
      </p:sp>
      <p:sp>
        <p:nvSpPr>
          <p:cNvPr id="39" name="Shape 37"/>
          <p:cNvSpPr/>
          <p:nvPr/>
        </p:nvSpPr>
        <p:spPr>
          <a:xfrm>
            <a:off x="2039112" y="2578608"/>
            <a:ext cx="292608" cy="0"/>
          </a:xfrm>
          <a:prstGeom prst="line">
            <a:avLst/>
          </a:prstGeom>
          <a:noFill/>
          <a:ln w="12700">
            <a:solidFill>
              <a:srgbClr val="8DA0B8"/>
            </a:solidFill>
            <a:prstDash val="solid"/>
            <a:headEnd type="none"/>
            <a:tailEnd type="triangle"/>
          </a:ln>
        </p:spPr>
        <p:txBody>
          <a:bodyPr/>
          <a:lstStyle/>
          <a:p>
            <a:endParaRPr lang="en-GB"/>
          </a:p>
        </p:txBody>
      </p:sp>
      <p:sp>
        <p:nvSpPr>
          <p:cNvPr id="40" name="Shape 38"/>
          <p:cNvSpPr/>
          <p:nvPr/>
        </p:nvSpPr>
        <p:spPr>
          <a:xfrm>
            <a:off x="5486400" y="2304288"/>
            <a:ext cx="1188720" cy="566928"/>
          </a:xfrm>
          <a:prstGeom prst="roundRect">
            <a:avLst>
              <a:gd name="adj" fmla="val 12903"/>
            </a:avLst>
          </a:prstGeom>
          <a:solidFill>
            <a:srgbClr val="E3D4FF"/>
          </a:solidFill>
          <a:ln w="13970">
            <a:solidFill>
              <a:srgbClr val="895DE8"/>
            </a:solidFill>
            <a:prstDash val="solid"/>
          </a:ln>
        </p:spPr>
        <p:txBody>
          <a:bodyPr/>
          <a:lstStyle/>
          <a:p>
            <a:endParaRPr lang="en-GB"/>
          </a:p>
        </p:txBody>
      </p:sp>
      <p:sp>
        <p:nvSpPr>
          <p:cNvPr id="41" name="Text 39"/>
          <p:cNvSpPr/>
          <p:nvPr/>
        </p:nvSpPr>
        <p:spPr>
          <a:xfrm>
            <a:off x="5522976" y="2350008"/>
            <a:ext cx="1115568" cy="475488"/>
          </a:xfrm>
          <a:prstGeom prst="rect">
            <a:avLst/>
          </a:prstGeom>
          <a:noFill/>
          <a:ln/>
        </p:spPr>
        <p:txBody>
          <a:bodyPr wrap="square" lIns="0" tIns="0" rIns="0" bIns="0" rtlCol="0" anchor="ctr">
            <a:normAutofit/>
          </a:bodyPr>
          <a:lstStyle/>
          <a:p>
            <a:pPr marL="0" indent="0" algn="ctr">
              <a:buNone/>
            </a:pPr>
            <a:r>
              <a:rPr lang="en-US" sz="660" b="1" dirty="0">
                <a:solidFill>
                  <a:srgbClr val="122033"/>
                </a:solidFill>
                <a:latin typeface="Aptos" pitchFamily="34" charset="0"/>
                <a:ea typeface="Aptos" pitchFamily="34" charset="-122"/>
                <a:cs typeface="Aptos" pitchFamily="34" charset="-120"/>
              </a:rPr>
              <a:t>same</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Transformer</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encoder</a:t>
            </a:r>
            <a:endParaRPr lang="en-US" sz="660" dirty="0"/>
          </a:p>
        </p:txBody>
      </p:sp>
      <p:sp>
        <p:nvSpPr>
          <p:cNvPr id="42" name="Shape 40"/>
          <p:cNvSpPr/>
          <p:nvPr/>
        </p:nvSpPr>
        <p:spPr>
          <a:xfrm>
            <a:off x="4937760" y="2578608"/>
            <a:ext cx="502920" cy="0"/>
          </a:xfrm>
          <a:prstGeom prst="line">
            <a:avLst/>
          </a:prstGeom>
          <a:noFill/>
          <a:ln w="12700">
            <a:solidFill>
              <a:srgbClr val="895DE8"/>
            </a:solidFill>
            <a:prstDash val="solid"/>
            <a:headEnd type="none"/>
            <a:tailEnd type="triangle"/>
          </a:ln>
        </p:spPr>
        <p:txBody>
          <a:bodyPr/>
          <a:lstStyle/>
          <a:p>
            <a:endParaRPr lang="en-GB"/>
          </a:p>
        </p:txBody>
      </p:sp>
      <p:sp>
        <p:nvSpPr>
          <p:cNvPr id="43" name="Shape 41"/>
          <p:cNvSpPr/>
          <p:nvPr/>
        </p:nvSpPr>
        <p:spPr>
          <a:xfrm>
            <a:off x="7223760" y="2331720"/>
            <a:ext cx="91440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44" name="Text 42"/>
          <p:cNvSpPr/>
          <p:nvPr/>
        </p:nvSpPr>
        <p:spPr>
          <a:xfrm>
            <a:off x="7260336" y="2377440"/>
            <a:ext cx="841248" cy="41148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forecast</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head</a:t>
            </a:r>
            <a:endParaRPr lang="en-US" sz="700" dirty="0"/>
          </a:p>
        </p:txBody>
      </p:sp>
      <p:sp>
        <p:nvSpPr>
          <p:cNvPr id="45" name="Shape 43"/>
          <p:cNvSpPr/>
          <p:nvPr/>
        </p:nvSpPr>
        <p:spPr>
          <a:xfrm>
            <a:off x="6720840" y="2578608"/>
            <a:ext cx="457200" cy="0"/>
          </a:xfrm>
          <a:prstGeom prst="line">
            <a:avLst/>
          </a:prstGeom>
          <a:noFill/>
          <a:ln w="12700">
            <a:solidFill>
              <a:srgbClr val="86B817"/>
            </a:solidFill>
            <a:prstDash val="solid"/>
            <a:headEnd type="none"/>
            <a:tailEnd type="triangle"/>
          </a:ln>
        </p:spPr>
        <p:txBody>
          <a:bodyPr/>
          <a:lstStyle/>
          <a:p>
            <a:endParaRPr lang="en-GB"/>
          </a:p>
        </p:txBody>
      </p:sp>
      <p:sp>
        <p:nvSpPr>
          <p:cNvPr id="46" name="Shape 44"/>
          <p:cNvSpPr/>
          <p:nvPr/>
        </p:nvSpPr>
        <p:spPr>
          <a:xfrm>
            <a:off x="685800" y="3337560"/>
            <a:ext cx="1325880" cy="411480"/>
          </a:xfrm>
          <a:prstGeom prst="roundRect">
            <a:avLst>
              <a:gd name="adj" fmla="val 17778"/>
            </a:avLst>
          </a:prstGeom>
          <a:solidFill>
            <a:srgbClr val="BFD7FF"/>
          </a:solidFill>
          <a:ln w="13970">
            <a:solidFill>
              <a:srgbClr val="3C7BE8"/>
            </a:solidFill>
            <a:prstDash val="solid"/>
          </a:ln>
        </p:spPr>
        <p:txBody>
          <a:bodyPr/>
          <a:lstStyle/>
          <a:p>
            <a:endParaRPr lang="en-GB"/>
          </a:p>
        </p:txBody>
      </p:sp>
      <p:sp>
        <p:nvSpPr>
          <p:cNvPr id="47" name="Text 45"/>
          <p:cNvSpPr/>
          <p:nvPr/>
        </p:nvSpPr>
        <p:spPr>
          <a:xfrm>
            <a:off x="722376" y="3383280"/>
            <a:ext cx="1252728" cy="320040"/>
          </a:xfrm>
          <a:prstGeom prst="rect">
            <a:avLst/>
          </a:prstGeom>
          <a:noFill/>
          <a:ln/>
        </p:spPr>
        <p:txBody>
          <a:bodyPr wrap="square" lIns="0" tIns="0" rIns="0" bIns="0" rtlCol="0" anchor="ctr">
            <a:normAutofit/>
          </a:bodyPr>
          <a:lstStyle/>
          <a:p>
            <a:pPr marL="0" indent="0" algn="ctr">
              <a:buNone/>
            </a:pPr>
            <a:r>
              <a:rPr lang="en-US" sz="830" b="1" dirty="0">
                <a:solidFill>
                  <a:srgbClr val="122033"/>
                </a:solidFill>
                <a:latin typeface="Aptos" pitchFamily="34" charset="0"/>
                <a:ea typeface="Aptos" pitchFamily="34" charset="-122"/>
                <a:cs typeface="Aptos" pitchFamily="34" charset="-120"/>
              </a:rPr>
              <a:t>flow</a:t>
            </a:r>
            <a:endParaRPr lang="en-US" sz="830" dirty="0"/>
          </a:p>
        </p:txBody>
      </p:sp>
      <p:sp>
        <p:nvSpPr>
          <p:cNvPr id="48" name="Shape 46"/>
          <p:cNvSpPr/>
          <p:nvPr/>
        </p:nvSpPr>
        <p:spPr>
          <a:xfrm>
            <a:off x="2423160" y="337413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49" name="Text 47"/>
          <p:cNvSpPr/>
          <p:nvPr/>
        </p:nvSpPr>
        <p:spPr>
          <a:xfrm>
            <a:off x="2459736" y="341985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p1</a:t>
            </a:r>
            <a:endParaRPr lang="en-US" sz="580" dirty="0"/>
          </a:p>
        </p:txBody>
      </p:sp>
      <p:sp>
        <p:nvSpPr>
          <p:cNvPr id="50" name="Shape 48"/>
          <p:cNvSpPr/>
          <p:nvPr/>
        </p:nvSpPr>
        <p:spPr>
          <a:xfrm>
            <a:off x="2926080" y="337413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51" name="Text 49"/>
          <p:cNvSpPr/>
          <p:nvPr/>
        </p:nvSpPr>
        <p:spPr>
          <a:xfrm>
            <a:off x="2962656" y="341985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p2</a:t>
            </a:r>
            <a:endParaRPr lang="en-US" sz="580" dirty="0"/>
          </a:p>
        </p:txBody>
      </p:sp>
      <p:sp>
        <p:nvSpPr>
          <p:cNvPr id="52" name="Shape 50"/>
          <p:cNvSpPr/>
          <p:nvPr/>
        </p:nvSpPr>
        <p:spPr>
          <a:xfrm>
            <a:off x="3429000" y="337413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53" name="Text 51"/>
          <p:cNvSpPr/>
          <p:nvPr/>
        </p:nvSpPr>
        <p:spPr>
          <a:xfrm>
            <a:off x="3465576" y="341985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p3</a:t>
            </a:r>
            <a:endParaRPr lang="en-US" sz="580" dirty="0"/>
          </a:p>
        </p:txBody>
      </p:sp>
      <p:sp>
        <p:nvSpPr>
          <p:cNvPr id="54" name="Shape 52"/>
          <p:cNvSpPr/>
          <p:nvPr/>
        </p:nvSpPr>
        <p:spPr>
          <a:xfrm>
            <a:off x="3931920" y="337413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55" name="Text 53"/>
          <p:cNvSpPr/>
          <p:nvPr/>
        </p:nvSpPr>
        <p:spPr>
          <a:xfrm>
            <a:off x="3968496" y="341985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p4</a:t>
            </a:r>
            <a:endParaRPr lang="en-US" sz="580" dirty="0"/>
          </a:p>
        </p:txBody>
      </p:sp>
      <p:sp>
        <p:nvSpPr>
          <p:cNvPr id="56" name="Shape 54"/>
          <p:cNvSpPr/>
          <p:nvPr/>
        </p:nvSpPr>
        <p:spPr>
          <a:xfrm>
            <a:off x="4434840" y="337413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57" name="Text 55"/>
          <p:cNvSpPr/>
          <p:nvPr/>
        </p:nvSpPr>
        <p:spPr>
          <a:xfrm>
            <a:off x="4471416" y="341985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p5</a:t>
            </a:r>
            <a:endParaRPr lang="en-US" sz="580" dirty="0"/>
          </a:p>
        </p:txBody>
      </p:sp>
      <p:sp>
        <p:nvSpPr>
          <p:cNvPr id="58" name="Shape 56"/>
          <p:cNvSpPr/>
          <p:nvPr/>
        </p:nvSpPr>
        <p:spPr>
          <a:xfrm>
            <a:off x="2039112" y="3538728"/>
            <a:ext cx="292608" cy="0"/>
          </a:xfrm>
          <a:prstGeom prst="line">
            <a:avLst/>
          </a:prstGeom>
          <a:noFill/>
          <a:ln w="12700">
            <a:solidFill>
              <a:srgbClr val="8DA0B8"/>
            </a:solidFill>
            <a:prstDash val="solid"/>
            <a:headEnd type="none"/>
            <a:tailEnd type="triangle"/>
          </a:ln>
        </p:spPr>
        <p:txBody>
          <a:bodyPr/>
          <a:lstStyle/>
          <a:p>
            <a:endParaRPr lang="en-GB"/>
          </a:p>
        </p:txBody>
      </p:sp>
      <p:sp>
        <p:nvSpPr>
          <p:cNvPr id="59" name="Shape 57"/>
          <p:cNvSpPr/>
          <p:nvPr/>
        </p:nvSpPr>
        <p:spPr>
          <a:xfrm>
            <a:off x="5486400" y="3264408"/>
            <a:ext cx="1188720" cy="566928"/>
          </a:xfrm>
          <a:prstGeom prst="roundRect">
            <a:avLst>
              <a:gd name="adj" fmla="val 12903"/>
            </a:avLst>
          </a:prstGeom>
          <a:solidFill>
            <a:srgbClr val="E3D4FF"/>
          </a:solidFill>
          <a:ln w="13970">
            <a:solidFill>
              <a:srgbClr val="895DE8"/>
            </a:solidFill>
            <a:prstDash val="solid"/>
          </a:ln>
        </p:spPr>
        <p:txBody>
          <a:bodyPr/>
          <a:lstStyle/>
          <a:p>
            <a:endParaRPr lang="en-GB"/>
          </a:p>
        </p:txBody>
      </p:sp>
      <p:sp>
        <p:nvSpPr>
          <p:cNvPr id="60" name="Text 58"/>
          <p:cNvSpPr/>
          <p:nvPr/>
        </p:nvSpPr>
        <p:spPr>
          <a:xfrm>
            <a:off x="5522976" y="3310128"/>
            <a:ext cx="1115568" cy="475488"/>
          </a:xfrm>
          <a:prstGeom prst="rect">
            <a:avLst/>
          </a:prstGeom>
          <a:noFill/>
          <a:ln/>
        </p:spPr>
        <p:txBody>
          <a:bodyPr wrap="square" lIns="0" tIns="0" rIns="0" bIns="0" rtlCol="0" anchor="ctr">
            <a:normAutofit/>
          </a:bodyPr>
          <a:lstStyle/>
          <a:p>
            <a:pPr marL="0" indent="0" algn="ctr">
              <a:buNone/>
            </a:pPr>
            <a:r>
              <a:rPr lang="en-US" sz="660" b="1" dirty="0">
                <a:solidFill>
                  <a:srgbClr val="122033"/>
                </a:solidFill>
                <a:latin typeface="Aptos" pitchFamily="34" charset="0"/>
                <a:ea typeface="Aptos" pitchFamily="34" charset="-122"/>
                <a:cs typeface="Aptos" pitchFamily="34" charset="-120"/>
              </a:rPr>
              <a:t>same</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Transformer</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encoder</a:t>
            </a:r>
            <a:endParaRPr lang="en-US" sz="660" dirty="0"/>
          </a:p>
        </p:txBody>
      </p:sp>
      <p:sp>
        <p:nvSpPr>
          <p:cNvPr id="61" name="Shape 59"/>
          <p:cNvSpPr/>
          <p:nvPr/>
        </p:nvSpPr>
        <p:spPr>
          <a:xfrm>
            <a:off x="4937760" y="3538728"/>
            <a:ext cx="502920" cy="0"/>
          </a:xfrm>
          <a:prstGeom prst="line">
            <a:avLst/>
          </a:prstGeom>
          <a:noFill/>
          <a:ln w="12700">
            <a:solidFill>
              <a:srgbClr val="895DE8"/>
            </a:solidFill>
            <a:prstDash val="solid"/>
            <a:headEnd type="none"/>
            <a:tailEnd type="triangle"/>
          </a:ln>
        </p:spPr>
        <p:txBody>
          <a:bodyPr/>
          <a:lstStyle/>
          <a:p>
            <a:endParaRPr lang="en-GB"/>
          </a:p>
        </p:txBody>
      </p:sp>
      <p:sp>
        <p:nvSpPr>
          <p:cNvPr id="62" name="Shape 60"/>
          <p:cNvSpPr/>
          <p:nvPr/>
        </p:nvSpPr>
        <p:spPr>
          <a:xfrm>
            <a:off x="7223760" y="3291840"/>
            <a:ext cx="91440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63" name="Text 61"/>
          <p:cNvSpPr/>
          <p:nvPr/>
        </p:nvSpPr>
        <p:spPr>
          <a:xfrm>
            <a:off x="7260336" y="3337560"/>
            <a:ext cx="841248" cy="41148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forecast</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head</a:t>
            </a:r>
            <a:endParaRPr lang="en-US" sz="700" dirty="0"/>
          </a:p>
        </p:txBody>
      </p:sp>
      <p:sp>
        <p:nvSpPr>
          <p:cNvPr id="64" name="Shape 62"/>
          <p:cNvSpPr/>
          <p:nvPr/>
        </p:nvSpPr>
        <p:spPr>
          <a:xfrm>
            <a:off x="6720840" y="3538728"/>
            <a:ext cx="457200" cy="0"/>
          </a:xfrm>
          <a:prstGeom prst="line">
            <a:avLst/>
          </a:prstGeom>
          <a:noFill/>
          <a:ln w="12700">
            <a:solidFill>
              <a:srgbClr val="86B817"/>
            </a:solidFill>
            <a:prstDash val="solid"/>
            <a:headEnd type="none"/>
            <a:tailEnd type="triangle"/>
          </a:ln>
        </p:spPr>
        <p:txBody>
          <a:bodyPr/>
          <a:lstStyle/>
          <a:p>
            <a:endParaRPr lang="en-GB"/>
          </a:p>
        </p:txBody>
      </p:sp>
      <p:sp>
        <p:nvSpPr>
          <p:cNvPr id="65" name="Shape 63"/>
          <p:cNvSpPr/>
          <p:nvPr/>
        </p:nvSpPr>
        <p:spPr>
          <a:xfrm>
            <a:off x="685800" y="4297680"/>
            <a:ext cx="1325880" cy="411480"/>
          </a:xfrm>
          <a:prstGeom prst="roundRect">
            <a:avLst>
              <a:gd name="adj" fmla="val 17778"/>
            </a:avLst>
          </a:prstGeom>
          <a:solidFill>
            <a:srgbClr val="BFD7FF"/>
          </a:solidFill>
          <a:ln w="13970">
            <a:solidFill>
              <a:srgbClr val="3C7BE8"/>
            </a:solidFill>
            <a:prstDash val="solid"/>
          </a:ln>
        </p:spPr>
        <p:txBody>
          <a:bodyPr/>
          <a:lstStyle/>
          <a:p>
            <a:endParaRPr lang="en-GB"/>
          </a:p>
        </p:txBody>
      </p:sp>
      <p:sp>
        <p:nvSpPr>
          <p:cNvPr id="66" name="Text 64"/>
          <p:cNvSpPr/>
          <p:nvPr/>
        </p:nvSpPr>
        <p:spPr>
          <a:xfrm>
            <a:off x="722376" y="4343400"/>
            <a:ext cx="1252728" cy="320040"/>
          </a:xfrm>
          <a:prstGeom prst="rect">
            <a:avLst/>
          </a:prstGeom>
          <a:noFill/>
          <a:ln/>
        </p:spPr>
        <p:txBody>
          <a:bodyPr wrap="square" lIns="0" tIns="0" rIns="0" bIns="0" rtlCol="0" anchor="ctr">
            <a:normAutofit/>
          </a:bodyPr>
          <a:lstStyle/>
          <a:p>
            <a:pPr marL="0" indent="0" algn="ctr">
              <a:buNone/>
            </a:pPr>
            <a:r>
              <a:rPr lang="en-US" sz="830" b="1" dirty="0">
                <a:solidFill>
                  <a:srgbClr val="122033"/>
                </a:solidFill>
                <a:latin typeface="Aptos" pitchFamily="34" charset="0"/>
                <a:ea typeface="Aptos" pitchFamily="34" charset="-122"/>
                <a:cs typeface="Aptos" pitchFamily="34" charset="-120"/>
              </a:rPr>
              <a:t>vibration</a:t>
            </a:r>
            <a:endParaRPr lang="en-US" sz="830" dirty="0"/>
          </a:p>
        </p:txBody>
      </p:sp>
      <p:sp>
        <p:nvSpPr>
          <p:cNvPr id="67" name="Shape 65"/>
          <p:cNvSpPr/>
          <p:nvPr/>
        </p:nvSpPr>
        <p:spPr>
          <a:xfrm>
            <a:off x="2423160" y="433425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68" name="Text 66"/>
          <p:cNvSpPr/>
          <p:nvPr/>
        </p:nvSpPr>
        <p:spPr>
          <a:xfrm>
            <a:off x="2459736" y="437997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p1</a:t>
            </a:r>
            <a:endParaRPr lang="en-US" sz="580" dirty="0"/>
          </a:p>
        </p:txBody>
      </p:sp>
      <p:sp>
        <p:nvSpPr>
          <p:cNvPr id="69" name="Shape 67"/>
          <p:cNvSpPr/>
          <p:nvPr/>
        </p:nvSpPr>
        <p:spPr>
          <a:xfrm>
            <a:off x="2926080" y="433425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70" name="Text 68"/>
          <p:cNvSpPr/>
          <p:nvPr/>
        </p:nvSpPr>
        <p:spPr>
          <a:xfrm>
            <a:off x="2962656" y="437997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p2</a:t>
            </a:r>
            <a:endParaRPr lang="en-US" sz="580" dirty="0"/>
          </a:p>
        </p:txBody>
      </p:sp>
      <p:sp>
        <p:nvSpPr>
          <p:cNvPr id="71" name="Shape 69"/>
          <p:cNvSpPr/>
          <p:nvPr/>
        </p:nvSpPr>
        <p:spPr>
          <a:xfrm>
            <a:off x="3429000" y="433425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72" name="Text 70"/>
          <p:cNvSpPr/>
          <p:nvPr/>
        </p:nvSpPr>
        <p:spPr>
          <a:xfrm>
            <a:off x="3465576" y="437997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p3</a:t>
            </a:r>
            <a:endParaRPr lang="en-US" sz="580" dirty="0"/>
          </a:p>
        </p:txBody>
      </p:sp>
      <p:sp>
        <p:nvSpPr>
          <p:cNvPr id="73" name="Shape 71"/>
          <p:cNvSpPr/>
          <p:nvPr/>
        </p:nvSpPr>
        <p:spPr>
          <a:xfrm>
            <a:off x="3931920" y="433425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74" name="Text 72"/>
          <p:cNvSpPr/>
          <p:nvPr/>
        </p:nvSpPr>
        <p:spPr>
          <a:xfrm>
            <a:off x="3968496" y="437997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p4</a:t>
            </a:r>
            <a:endParaRPr lang="en-US" sz="580" dirty="0"/>
          </a:p>
        </p:txBody>
      </p:sp>
      <p:sp>
        <p:nvSpPr>
          <p:cNvPr id="75" name="Shape 73"/>
          <p:cNvSpPr/>
          <p:nvPr/>
        </p:nvSpPr>
        <p:spPr>
          <a:xfrm>
            <a:off x="4434840" y="4334256"/>
            <a:ext cx="420624" cy="292608"/>
          </a:xfrm>
          <a:prstGeom prst="roundRect">
            <a:avLst>
              <a:gd name="adj" fmla="val 25000"/>
            </a:avLst>
          </a:prstGeom>
          <a:solidFill>
            <a:srgbClr val="FFE7B4"/>
          </a:solidFill>
          <a:ln w="13970">
            <a:solidFill>
              <a:srgbClr val="E5A100"/>
            </a:solidFill>
            <a:prstDash val="solid"/>
          </a:ln>
        </p:spPr>
        <p:txBody>
          <a:bodyPr/>
          <a:lstStyle/>
          <a:p>
            <a:endParaRPr lang="en-GB"/>
          </a:p>
        </p:txBody>
      </p:sp>
      <p:sp>
        <p:nvSpPr>
          <p:cNvPr id="76" name="Text 74"/>
          <p:cNvSpPr/>
          <p:nvPr/>
        </p:nvSpPr>
        <p:spPr>
          <a:xfrm>
            <a:off x="4471416" y="4379976"/>
            <a:ext cx="347472" cy="201168"/>
          </a:xfrm>
          <a:prstGeom prst="rect">
            <a:avLst/>
          </a:prstGeom>
          <a:noFill/>
          <a:ln/>
        </p:spPr>
        <p:txBody>
          <a:bodyPr wrap="square" lIns="0" tIns="0" rIns="0" bIns="0" rtlCol="0" anchor="ctr">
            <a:normAutofit/>
          </a:bodyPr>
          <a:lstStyle/>
          <a:p>
            <a:pPr marL="0" indent="0" algn="ctr">
              <a:buNone/>
            </a:pPr>
            <a:r>
              <a:rPr lang="en-US" sz="580" b="1" dirty="0">
                <a:solidFill>
                  <a:srgbClr val="122033"/>
                </a:solidFill>
                <a:latin typeface="Aptos" pitchFamily="34" charset="0"/>
                <a:ea typeface="Aptos" pitchFamily="34" charset="-122"/>
                <a:cs typeface="Aptos" pitchFamily="34" charset="-120"/>
              </a:rPr>
              <a:t>p5</a:t>
            </a:r>
            <a:endParaRPr lang="en-US" sz="580" dirty="0"/>
          </a:p>
        </p:txBody>
      </p:sp>
      <p:sp>
        <p:nvSpPr>
          <p:cNvPr id="77" name="Shape 75"/>
          <p:cNvSpPr/>
          <p:nvPr/>
        </p:nvSpPr>
        <p:spPr>
          <a:xfrm>
            <a:off x="2039112" y="4498848"/>
            <a:ext cx="292608" cy="0"/>
          </a:xfrm>
          <a:prstGeom prst="line">
            <a:avLst/>
          </a:prstGeom>
          <a:noFill/>
          <a:ln w="12700">
            <a:solidFill>
              <a:srgbClr val="8DA0B8"/>
            </a:solidFill>
            <a:prstDash val="solid"/>
            <a:headEnd type="none"/>
            <a:tailEnd type="triangle"/>
          </a:ln>
        </p:spPr>
        <p:txBody>
          <a:bodyPr/>
          <a:lstStyle/>
          <a:p>
            <a:endParaRPr lang="en-GB"/>
          </a:p>
        </p:txBody>
      </p:sp>
      <p:sp>
        <p:nvSpPr>
          <p:cNvPr id="78" name="Shape 76"/>
          <p:cNvSpPr/>
          <p:nvPr/>
        </p:nvSpPr>
        <p:spPr>
          <a:xfrm>
            <a:off x="5486400" y="4224528"/>
            <a:ext cx="1188720" cy="566928"/>
          </a:xfrm>
          <a:prstGeom prst="roundRect">
            <a:avLst>
              <a:gd name="adj" fmla="val 12903"/>
            </a:avLst>
          </a:prstGeom>
          <a:solidFill>
            <a:srgbClr val="E3D4FF"/>
          </a:solidFill>
          <a:ln w="13970">
            <a:solidFill>
              <a:srgbClr val="895DE8"/>
            </a:solidFill>
            <a:prstDash val="solid"/>
          </a:ln>
        </p:spPr>
        <p:txBody>
          <a:bodyPr/>
          <a:lstStyle/>
          <a:p>
            <a:endParaRPr lang="en-GB"/>
          </a:p>
        </p:txBody>
      </p:sp>
      <p:sp>
        <p:nvSpPr>
          <p:cNvPr id="79" name="Text 77"/>
          <p:cNvSpPr/>
          <p:nvPr/>
        </p:nvSpPr>
        <p:spPr>
          <a:xfrm>
            <a:off x="5522976" y="4270248"/>
            <a:ext cx="1115568" cy="475488"/>
          </a:xfrm>
          <a:prstGeom prst="rect">
            <a:avLst/>
          </a:prstGeom>
          <a:noFill/>
          <a:ln/>
        </p:spPr>
        <p:txBody>
          <a:bodyPr wrap="square" lIns="0" tIns="0" rIns="0" bIns="0" rtlCol="0" anchor="ctr">
            <a:normAutofit/>
          </a:bodyPr>
          <a:lstStyle/>
          <a:p>
            <a:pPr marL="0" indent="0" algn="ctr">
              <a:buNone/>
            </a:pPr>
            <a:r>
              <a:rPr lang="en-US" sz="660" b="1" dirty="0">
                <a:solidFill>
                  <a:srgbClr val="122033"/>
                </a:solidFill>
                <a:latin typeface="Aptos" pitchFamily="34" charset="0"/>
                <a:ea typeface="Aptos" pitchFamily="34" charset="-122"/>
                <a:cs typeface="Aptos" pitchFamily="34" charset="-120"/>
              </a:rPr>
              <a:t>same</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Transformer</a:t>
            </a:r>
            <a:endParaRPr lang="en-US" sz="660" dirty="0"/>
          </a:p>
          <a:p>
            <a:pPr marL="0" indent="0" algn="ctr">
              <a:buNone/>
            </a:pPr>
            <a:r>
              <a:rPr lang="en-US" sz="660" b="1" dirty="0">
                <a:solidFill>
                  <a:srgbClr val="122033"/>
                </a:solidFill>
                <a:latin typeface="Aptos" pitchFamily="34" charset="0"/>
                <a:ea typeface="Aptos" pitchFamily="34" charset="-122"/>
                <a:cs typeface="Aptos" pitchFamily="34" charset="-120"/>
              </a:rPr>
              <a:t>encoder</a:t>
            </a:r>
            <a:endParaRPr lang="en-US" sz="660" dirty="0"/>
          </a:p>
        </p:txBody>
      </p:sp>
      <p:sp>
        <p:nvSpPr>
          <p:cNvPr id="80" name="Shape 78"/>
          <p:cNvSpPr/>
          <p:nvPr/>
        </p:nvSpPr>
        <p:spPr>
          <a:xfrm>
            <a:off x="4937760" y="4498848"/>
            <a:ext cx="502920" cy="0"/>
          </a:xfrm>
          <a:prstGeom prst="line">
            <a:avLst/>
          </a:prstGeom>
          <a:noFill/>
          <a:ln w="12700">
            <a:solidFill>
              <a:srgbClr val="895DE8"/>
            </a:solidFill>
            <a:prstDash val="solid"/>
            <a:headEnd type="none"/>
            <a:tailEnd type="triangle"/>
          </a:ln>
        </p:spPr>
        <p:txBody>
          <a:bodyPr/>
          <a:lstStyle/>
          <a:p>
            <a:endParaRPr lang="en-GB"/>
          </a:p>
        </p:txBody>
      </p:sp>
      <p:sp>
        <p:nvSpPr>
          <p:cNvPr id="81" name="Shape 79"/>
          <p:cNvSpPr/>
          <p:nvPr/>
        </p:nvSpPr>
        <p:spPr>
          <a:xfrm>
            <a:off x="7223760" y="4251960"/>
            <a:ext cx="91440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82" name="Text 80"/>
          <p:cNvSpPr/>
          <p:nvPr/>
        </p:nvSpPr>
        <p:spPr>
          <a:xfrm>
            <a:off x="7260336" y="4297680"/>
            <a:ext cx="841248" cy="41148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forecast</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head</a:t>
            </a:r>
            <a:endParaRPr lang="en-US" sz="700" dirty="0"/>
          </a:p>
        </p:txBody>
      </p:sp>
      <p:sp>
        <p:nvSpPr>
          <p:cNvPr id="83" name="Shape 81"/>
          <p:cNvSpPr/>
          <p:nvPr/>
        </p:nvSpPr>
        <p:spPr>
          <a:xfrm>
            <a:off x="6720840" y="4498848"/>
            <a:ext cx="457200" cy="0"/>
          </a:xfrm>
          <a:prstGeom prst="line">
            <a:avLst/>
          </a:prstGeom>
          <a:noFill/>
          <a:ln w="12700">
            <a:solidFill>
              <a:srgbClr val="86B817"/>
            </a:solidFill>
            <a:prstDash val="solid"/>
            <a:headEnd type="none"/>
            <a:tailEnd type="triangle"/>
          </a:ln>
        </p:spPr>
        <p:txBody>
          <a:bodyPr/>
          <a:lstStyle/>
          <a:p>
            <a:endParaRPr lang="en-GB"/>
          </a:p>
        </p:txBody>
      </p:sp>
      <p:sp>
        <p:nvSpPr>
          <p:cNvPr id="84" name="Shape 82"/>
          <p:cNvSpPr/>
          <p:nvPr/>
        </p:nvSpPr>
        <p:spPr>
          <a:xfrm>
            <a:off x="1737360" y="5623560"/>
            <a:ext cx="5760720" cy="438912"/>
          </a:xfrm>
          <a:prstGeom prst="roundRect">
            <a:avLst>
              <a:gd name="adj" fmla="val 16667"/>
            </a:avLst>
          </a:prstGeom>
          <a:solidFill>
            <a:srgbClr val="E9F6D7"/>
          </a:solidFill>
          <a:ln w="13970">
            <a:solidFill>
              <a:srgbClr val="86B817"/>
            </a:solidFill>
            <a:prstDash val="solid"/>
          </a:ln>
        </p:spPr>
        <p:txBody>
          <a:bodyPr/>
          <a:lstStyle/>
          <a:p>
            <a:endParaRPr lang="en-GB"/>
          </a:p>
        </p:txBody>
      </p:sp>
      <p:sp>
        <p:nvSpPr>
          <p:cNvPr id="85" name="Text 83"/>
          <p:cNvSpPr/>
          <p:nvPr/>
        </p:nvSpPr>
        <p:spPr>
          <a:xfrm>
            <a:off x="1773936" y="5669280"/>
            <a:ext cx="5687568" cy="347472"/>
          </a:xfrm>
          <a:prstGeom prst="rect">
            <a:avLst/>
          </a:prstGeom>
          <a:noFill/>
          <a:ln/>
        </p:spPr>
        <p:txBody>
          <a:bodyPr wrap="square" lIns="0" tIns="0" rIns="0" bIns="0" rtlCol="0" anchor="ctr">
            <a:normAutofit/>
          </a:bodyPr>
          <a:lstStyle/>
          <a:p>
            <a:pPr marL="0" indent="0" algn="ctr">
              <a:buNone/>
            </a:pPr>
            <a:r>
              <a:rPr lang="en-US" sz="920" b="1" dirty="0">
                <a:solidFill>
                  <a:srgbClr val="122033"/>
                </a:solidFill>
                <a:latin typeface="Aptos" pitchFamily="34" charset="0"/>
                <a:ea typeface="Aptos" pitchFamily="34" charset="-122"/>
                <a:cs typeface="Aptos" pitchFamily="34" charset="-120"/>
              </a:rPr>
              <a:t>Architectural bias: learn reusable temporal patterns within each channel</a:t>
            </a:r>
            <a:endParaRPr lang="en-US" sz="92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674597-C3E4-1877-B1AC-0F749B7EE4C7}"/>
              </a:ext>
            </a:extLst>
          </p:cNvPr>
          <p:cNvSpPr>
            <a:spLocks noGrp="1"/>
          </p:cNvSpPr>
          <p:nvPr>
            <p:ph type="title"/>
          </p:nvPr>
        </p:nvSpPr>
        <p:spPr/>
        <p:txBody>
          <a:bodyPr/>
          <a:lstStyle/>
          <a:p>
            <a:r>
              <a:rPr lang="en-GB" dirty="0"/>
              <a:t>Why channel independence can be useful</a:t>
            </a:r>
          </a:p>
        </p:txBody>
      </p:sp>
      <p:sp>
        <p:nvSpPr>
          <p:cNvPr id="3" name="Segnaposto contenuto 2">
            <a:extLst>
              <a:ext uri="{FF2B5EF4-FFF2-40B4-BE49-F238E27FC236}">
                <a16:creationId xmlns:a16="http://schemas.microsoft.com/office/drawing/2014/main" id="{496F5887-3CCD-1DF1-6E26-302BBD67E818}"/>
              </a:ext>
            </a:extLst>
          </p:cNvPr>
          <p:cNvSpPr>
            <a:spLocks noGrp="1"/>
          </p:cNvSpPr>
          <p:nvPr>
            <p:ph sz="half" idx="1"/>
          </p:nvPr>
        </p:nvSpPr>
        <p:spPr>
          <a:xfrm>
            <a:off x="677334" y="2160588"/>
            <a:ext cx="4609041" cy="4278311"/>
          </a:xfrm>
        </p:spPr>
        <p:txBody>
          <a:bodyPr>
            <a:normAutofit lnSpcReduction="10000"/>
          </a:bodyPr>
          <a:lstStyle/>
          <a:p>
            <a:r>
              <a:rPr lang="en-GB" dirty="0"/>
              <a:t>Multivariate time series often contain many channels.</a:t>
            </a:r>
          </a:p>
          <a:p>
            <a:r>
              <a:rPr lang="en-GB" dirty="0"/>
              <a:t>Directly modelling every cross-channel relationship can:</a:t>
            </a:r>
          </a:p>
          <a:p>
            <a:pPr lvl="1"/>
            <a:r>
              <a:rPr lang="en-GB" dirty="0"/>
              <a:t>increase model complexity; </a:t>
            </a:r>
          </a:p>
          <a:p>
            <a:pPr lvl="1"/>
            <a:r>
              <a:rPr lang="en-GB" dirty="0"/>
              <a:t>introduce noise from weakly related variables; </a:t>
            </a:r>
          </a:p>
          <a:p>
            <a:pPr lvl="1"/>
            <a:r>
              <a:rPr lang="en-GB" dirty="0"/>
              <a:t>make learning more difficult. </a:t>
            </a:r>
          </a:p>
          <a:p>
            <a:r>
              <a:rPr lang="en-GB" dirty="0"/>
              <a:t>Channel-independent processing instead emphasizes:</a:t>
            </a:r>
          </a:p>
          <a:p>
            <a:pPr lvl="1"/>
            <a:r>
              <a:rPr lang="en-GB" dirty="0"/>
              <a:t>learning reusable temporal patterns within each variable.</a:t>
            </a:r>
          </a:p>
          <a:p>
            <a:endParaRPr lang="en-GB" dirty="0"/>
          </a:p>
        </p:txBody>
      </p:sp>
      <p:sp>
        <p:nvSpPr>
          <p:cNvPr id="4" name="Segnaposto contenuto 3">
            <a:extLst>
              <a:ext uri="{FF2B5EF4-FFF2-40B4-BE49-F238E27FC236}">
                <a16:creationId xmlns:a16="http://schemas.microsoft.com/office/drawing/2014/main" id="{02BD3145-D8B8-089B-601F-506E2C7E6B5E}"/>
              </a:ext>
            </a:extLst>
          </p:cNvPr>
          <p:cNvSpPr>
            <a:spLocks noGrp="1"/>
          </p:cNvSpPr>
          <p:nvPr>
            <p:ph sz="half" idx="2"/>
          </p:nvPr>
        </p:nvSpPr>
        <p:spPr>
          <a:xfrm>
            <a:off x="5737669" y="2160589"/>
            <a:ext cx="6073331" cy="4516436"/>
          </a:xfrm>
        </p:spPr>
        <p:txBody>
          <a:bodyPr>
            <a:normAutofit lnSpcReduction="10000"/>
          </a:bodyPr>
          <a:lstStyle/>
          <a:p>
            <a:r>
              <a:rPr lang="en-GB" b="1" dirty="0"/>
              <a:t>Potential advantage</a:t>
            </a:r>
          </a:p>
          <a:p>
            <a:r>
              <a:rPr lang="en-GB" dirty="0"/>
              <a:t>A temporal pattern such as:</a:t>
            </a:r>
          </a:p>
          <a:p>
            <a:r>
              <a:rPr lang="en-GB" dirty="0"/>
              <a:t>stable → rising → peak → decline</a:t>
            </a:r>
          </a:p>
          <a:p>
            <a:r>
              <a:rPr lang="en-GB" dirty="0"/>
              <a:t>may be meaningful across several different variables.</a:t>
            </a:r>
          </a:p>
          <a:p>
            <a:r>
              <a:rPr lang="en-GB" dirty="0"/>
              <a:t>The same Transformer parameters can learn such temporal structures.</a:t>
            </a:r>
          </a:p>
          <a:p>
            <a:r>
              <a:rPr lang="en-GB" b="1" dirty="0"/>
              <a:t>Potential limitation</a:t>
            </a:r>
          </a:p>
          <a:p>
            <a:r>
              <a:rPr lang="en-GB" dirty="0"/>
              <a:t>Strong instantaneous or delayed relationships between different channels may not be modelled as directly inside the encoder.</a:t>
            </a:r>
          </a:p>
          <a:p>
            <a:r>
              <a:rPr lang="en-GB" b="1" dirty="0"/>
              <a:t>Key point</a:t>
            </a:r>
          </a:p>
          <a:p>
            <a:r>
              <a:rPr lang="en-GB" dirty="0"/>
              <a:t>Channel independence is an architectural bias, not a universally optimal assumption.</a:t>
            </a:r>
          </a:p>
          <a:p>
            <a:endParaRPr lang="en-GB" dirty="0"/>
          </a:p>
        </p:txBody>
      </p:sp>
    </p:spTree>
    <p:extLst>
      <p:ext uri="{BB962C8B-B14F-4D97-AF65-F5344CB8AC3E}">
        <p14:creationId xmlns:p14="http://schemas.microsoft.com/office/powerpoint/2010/main" val="253345629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CE6751-2C2C-76A5-3662-3E7E4C666909}"/>
              </a:ext>
            </a:extLst>
          </p:cNvPr>
          <p:cNvSpPr>
            <a:spLocks noGrp="1"/>
          </p:cNvSpPr>
          <p:nvPr>
            <p:ph type="title"/>
          </p:nvPr>
        </p:nvSpPr>
        <p:spPr/>
        <p:txBody>
          <a:bodyPr/>
          <a:lstStyle/>
          <a:p>
            <a:r>
              <a:rPr lang="en-GB" dirty="0" err="1"/>
              <a:t>PatchTST</a:t>
            </a:r>
            <a:r>
              <a:rPr lang="en-GB" dirty="0"/>
              <a:t> forecasting structure</a:t>
            </a:r>
          </a:p>
        </p:txBody>
      </p:sp>
      <p:sp>
        <p:nvSpPr>
          <p:cNvPr id="3" name="Segnaposto contenuto 2">
            <a:extLst>
              <a:ext uri="{FF2B5EF4-FFF2-40B4-BE49-F238E27FC236}">
                <a16:creationId xmlns:a16="http://schemas.microsoft.com/office/drawing/2014/main" id="{10565DE4-038D-36FB-53BD-A9A4941F9193}"/>
              </a:ext>
            </a:extLst>
          </p:cNvPr>
          <p:cNvSpPr>
            <a:spLocks noGrp="1"/>
          </p:cNvSpPr>
          <p:nvPr>
            <p:ph sz="half" idx="1"/>
          </p:nvPr>
        </p:nvSpPr>
        <p:spPr>
          <a:xfrm>
            <a:off x="677334" y="2160589"/>
            <a:ext cx="5418666" cy="4421186"/>
          </a:xfrm>
        </p:spPr>
        <p:txBody>
          <a:bodyPr>
            <a:normAutofit fontScale="85000" lnSpcReduction="20000"/>
          </a:bodyPr>
          <a:lstStyle/>
          <a:p>
            <a:r>
              <a:rPr lang="en-GB" b="1" dirty="0"/>
              <a:t>For one channel, the conceptual processing is:</a:t>
            </a:r>
          </a:p>
          <a:p>
            <a:r>
              <a:rPr lang="en-GB" dirty="0"/>
              <a:t>historical sequence</a:t>
            </a:r>
          </a:p>
          <a:p>
            <a:r>
              <a:rPr lang="en-GB" dirty="0"/>
              <a:t>      ↓</a:t>
            </a:r>
          </a:p>
          <a:p>
            <a:r>
              <a:rPr lang="en-GB" dirty="0"/>
              <a:t>patching</a:t>
            </a:r>
          </a:p>
          <a:p>
            <a:r>
              <a:rPr lang="en-GB" dirty="0"/>
              <a:t>      ↓</a:t>
            </a:r>
          </a:p>
          <a:p>
            <a:r>
              <a:rPr lang="en-GB" dirty="0"/>
              <a:t>patch embeddings + position</a:t>
            </a:r>
          </a:p>
          <a:p>
            <a:r>
              <a:rPr lang="en-GB" dirty="0"/>
              <a:t>      ↓</a:t>
            </a:r>
          </a:p>
          <a:p>
            <a:r>
              <a:rPr lang="en-GB" dirty="0"/>
              <a:t>Transformer encoder blocks</a:t>
            </a:r>
          </a:p>
          <a:p>
            <a:r>
              <a:rPr lang="en-GB" dirty="0"/>
              <a:t>      ↓</a:t>
            </a:r>
          </a:p>
          <a:p>
            <a:r>
              <a:rPr lang="en-GB" dirty="0"/>
              <a:t>contextualized patch representations</a:t>
            </a:r>
          </a:p>
          <a:p>
            <a:r>
              <a:rPr lang="en-GB" dirty="0"/>
              <a:t>      ↓</a:t>
            </a:r>
          </a:p>
          <a:p>
            <a:r>
              <a:rPr lang="en-GB" dirty="0"/>
              <a:t>forecasting head</a:t>
            </a:r>
          </a:p>
          <a:p>
            <a:r>
              <a:rPr lang="en-GB" dirty="0"/>
              <a:t>      ↓</a:t>
            </a:r>
          </a:p>
          <a:p>
            <a:r>
              <a:rPr lang="en-GB" dirty="0"/>
              <a:t>future values</a:t>
            </a:r>
          </a:p>
          <a:p>
            <a:endParaRPr lang="en-GB" dirty="0"/>
          </a:p>
        </p:txBody>
      </p:sp>
      <p:sp>
        <p:nvSpPr>
          <p:cNvPr id="4" name="Segnaposto contenuto 3">
            <a:extLst>
              <a:ext uri="{FF2B5EF4-FFF2-40B4-BE49-F238E27FC236}">
                <a16:creationId xmlns:a16="http://schemas.microsoft.com/office/drawing/2014/main" id="{0A049FCF-588C-D4EF-EE7D-D9DD4E51B5A5}"/>
              </a:ext>
            </a:extLst>
          </p:cNvPr>
          <p:cNvSpPr>
            <a:spLocks noGrp="1"/>
          </p:cNvSpPr>
          <p:nvPr>
            <p:ph sz="half" idx="2"/>
          </p:nvPr>
        </p:nvSpPr>
        <p:spPr>
          <a:xfrm>
            <a:off x="6594919" y="2246314"/>
            <a:ext cx="5187505" cy="4335461"/>
          </a:xfrm>
        </p:spPr>
        <p:txBody>
          <a:bodyPr>
            <a:normAutofit fontScale="85000" lnSpcReduction="20000"/>
          </a:bodyPr>
          <a:lstStyle/>
          <a:p>
            <a:r>
              <a:rPr lang="en-GB" dirty="0"/>
              <a:t>For a forecast horizon: H</a:t>
            </a:r>
          </a:p>
          <a:p>
            <a:r>
              <a:rPr lang="en-GB" dirty="0"/>
              <a:t>the output may be:</a:t>
            </a:r>
          </a:p>
          <a:p>
            <a:r>
              <a:rPr lang="en-GB" dirty="0"/>
              <a:t>[</a:t>
            </a:r>
            <a:r>
              <a:rPr lang="en-GB" dirty="0" err="1"/>
              <a:t>y_hat</a:t>
            </a:r>
            <a:r>
              <a:rPr lang="en-GB" dirty="0"/>
              <a:t>[t+1], ..., </a:t>
            </a:r>
            <a:r>
              <a:rPr lang="en-GB" dirty="0" err="1"/>
              <a:t>y_hat</a:t>
            </a:r>
            <a:r>
              <a:rPr lang="en-GB" dirty="0"/>
              <a:t>[</a:t>
            </a:r>
            <a:r>
              <a:rPr lang="en-GB" dirty="0" err="1"/>
              <a:t>t+H</a:t>
            </a:r>
            <a:r>
              <a:rPr lang="en-GB" dirty="0"/>
              <a:t>]]</a:t>
            </a:r>
          </a:p>
          <a:p>
            <a:endParaRPr lang="en-GB" b="1" dirty="0"/>
          </a:p>
          <a:p>
            <a:r>
              <a:rPr lang="en-GB" b="1" dirty="0"/>
              <a:t>Important point</a:t>
            </a:r>
          </a:p>
          <a:p>
            <a:r>
              <a:rPr lang="en-GB" dirty="0" err="1"/>
              <a:t>PatchTST</a:t>
            </a:r>
            <a:r>
              <a:rPr lang="en-GB" dirty="0"/>
              <a:t> is naturally suited to </a:t>
            </a:r>
            <a:r>
              <a:rPr lang="en-GB" b="1" dirty="0"/>
              <a:t>direct multi-horizon forecasting</a:t>
            </a:r>
            <a:r>
              <a:rPr lang="en-GB" dirty="0"/>
              <a:t>.</a:t>
            </a:r>
          </a:p>
          <a:p>
            <a:r>
              <a:rPr lang="en-GB" dirty="0"/>
              <a:t>The future trajectory can be generated from the historical patch representation without recursively feeding previous predictions back into the model.</a:t>
            </a:r>
          </a:p>
          <a:p>
            <a:endParaRPr lang="en-GB" dirty="0"/>
          </a:p>
        </p:txBody>
      </p:sp>
    </p:spTree>
    <p:extLst>
      <p:ext uri="{BB962C8B-B14F-4D97-AF65-F5344CB8AC3E}">
        <p14:creationId xmlns:p14="http://schemas.microsoft.com/office/powerpoint/2010/main" val="75201693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PatchTST forecasting structure</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Contextualized patch representations are mapped to a direct forecast horizon.</a:t>
            </a:r>
            <a:endParaRPr lang="en-US" sz="850" dirty="0"/>
          </a:p>
        </p:txBody>
      </p:sp>
      <p:sp>
        <p:nvSpPr>
          <p:cNvPr id="8" name="Shape 6"/>
          <p:cNvSpPr/>
          <p:nvPr/>
        </p:nvSpPr>
        <p:spPr>
          <a:xfrm>
            <a:off x="822960" y="2103120"/>
            <a:ext cx="1051560" cy="594360"/>
          </a:xfrm>
          <a:prstGeom prst="roundRect">
            <a:avLst>
              <a:gd name="adj" fmla="val 12308"/>
            </a:avLst>
          </a:prstGeom>
          <a:solidFill>
            <a:srgbClr val="BFD7FF"/>
          </a:solidFill>
          <a:ln w="13970">
            <a:solidFill>
              <a:srgbClr val="3C7BE8"/>
            </a:solidFill>
            <a:prstDash val="solid"/>
          </a:ln>
        </p:spPr>
        <p:txBody>
          <a:bodyPr/>
          <a:lstStyle/>
          <a:p>
            <a:endParaRPr lang="en-GB"/>
          </a:p>
        </p:txBody>
      </p:sp>
      <p:sp>
        <p:nvSpPr>
          <p:cNvPr id="9" name="Text 7"/>
          <p:cNvSpPr/>
          <p:nvPr/>
        </p:nvSpPr>
        <p:spPr>
          <a:xfrm>
            <a:off x="859536" y="2148840"/>
            <a:ext cx="978408" cy="502920"/>
          </a:xfrm>
          <a:prstGeom prst="rect">
            <a:avLst/>
          </a:prstGeom>
          <a:noFill/>
          <a:ln/>
        </p:spPr>
        <p:txBody>
          <a:bodyPr wrap="square" lIns="0" tIns="0" rIns="0" bIns="0" rtlCol="0" anchor="ctr">
            <a:normAutofit/>
          </a:bodyPr>
          <a:lstStyle/>
          <a:p>
            <a:pPr marL="0" indent="0" algn="ctr">
              <a:buNone/>
            </a:pPr>
            <a:r>
              <a:rPr lang="en-US" sz="780" b="1" dirty="0">
                <a:solidFill>
                  <a:srgbClr val="122033"/>
                </a:solidFill>
                <a:latin typeface="Aptos" pitchFamily="34" charset="0"/>
                <a:ea typeface="Aptos" pitchFamily="34" charset="-122"/>
                <a:cs typeface="Aptos" pitchFamily="34" charset="-120"/>
              </a:rPr>
              <a:t>historical</a:t>
            </a:r>
            <a:endParaRPr lang="en-US" sz="780" dirty="0"/>
          </a:p>
          <a:p>
            <a:pPr marL="0" indent="0" algn="ctr">
              <a:buNone/>
            </a:pPr>
            <a:r>
              <a:rPr lang="en-US" sz="780" b="1" dirty="0">
                <a:solidFill>
                  <a:srgbClr val="122033"/>
                </a:solidFill>
                <a:latin typeface="Aptos" pitchFamily="34" charset="0"/>
                <a:ea typeface="Aptos" pitchFamily="34" charset="-122"/>
                <a:cs typeface="Aptos" pitchFamily="34" charset="-120"/>
              </a:rPr>
              <a:t>sequence</a:t>
            </a:r>
            <a:endParaRPr lang="en-US" sz="780" dirty="0"/>
          </a:p>
        </p:txBody>
      </p:sp>
      <p:sp>
        <p:nvSpPr>
          <p:cNvPr id="10" name="Shape 8"/>
          <p:cNvSpPr/>
          <p:nvPr/>
        </p:nvSpPr>
        <p:spPr>
          <a:xfrm>
            <a:off x="1920240" y="2404872"/>
            <a:ext cx="320040" cy="0"/>
          </a:xfrm>
          <a:prstGeom prst="line">
            <a:avLst/>
          </a:prstGeom>
          <a:noFill/>
          <a:ln w="15240">
            <a:solidFill>
              <a:srgbClr val="8DA0B8"/>
            </a:solidFill>
            <a:prstDash val="solid"/>
            <a:headEnd type="none"/>
            <a:tailEnd type="triangle"/>
          </a:ln>
        </p:spPr>
        <p:txBody>
          <a:bodyPr/>
          <a:lstStyle/>
          <a:p>
            <a:endParaRPr lang="en-GB"/>
          </a:p>
        </p:txBody>
      </p:sp>
      <p:sp>
        <p:nvSpPr>
          <p:cNvPr id="11" name="Shape 9"/>
          <p:cNvSpPr/>
          <p:nvPr/>
        </p:nvSpPr>
        <p:spPr>
          <a:xfrm>
            <a:off x="2286000" y="2103120"/>
            <a:ext cx="914400" cy="594360"/>
          </a:xfrm>
          <a:prstGeom prst="roundRect">
            <a:avLst>
              <a:gd name="adj" fmla="val 12308"/>
            </a:avLst>
          </a:prstGeom>
          <a:solidFill>
            <a:srgbClr val="FFE7B4"/>
          </a:solidFill>
          <a:ln w="13970">
            <a:solidFill>
              <a:srgbClr val="E5A100"/>
            </a:solidFill>
            <a:prstDash val="solid"/>
          </a:ln>
        </p:spPr>
        <p:txBody>
          <a:bodyPr/>
          <a:lstStyle/>
          <a:p>
            <a:endParaRPr lang="en-GB"/>
          </a:p>
        </p:txBody>
      </p:sp>
      <p:sp>
        <p:nvSpPr>
          <p:cNvPr id="12" name="Text 10"/>
          <p:cNvSpPr/>
          <p:nvPr/>
        </p:nvSpPr>
        <p:spPr>
          <a:xfrm>
            <a:off x="2322576" y="2148840"/>
            <a:ext cx="841248" cy="502920"/>
          </a:xfrm>
          <a:prstGeom prst="rect">
            <a:avLst/>
          </a:prstGeom>
          <a:noFill/>
          <a:ln/>
        </p:spPr>
        <p:txBody>
          <a:bodyPr wrap="square" lIns="0" tIns="0" rIns="0" bIns="0" rtlCol="0" anchor="ctr">
            <a:normAutofit/>
          </a:bodyPr>
          <a:lstStyle/>
          <a:p>
            <a:pPr marL="0" indent="0" algn="ctr">
              <a:buNone/>
            </a:pPr>
            <a:r>
              <a:rPr lang="en-US" sz="800" b="1" dirty="0">
                <a:solidFill>
                  <a:srgbClr val="122033"/>
                </a:solidFill>
                <a:latin typeface="Aptos" pitchFamily="34" charset="0"/>
                <a:ea typeface="Aptos" pitchFamily="34" charset="-122"/>
                <a:cs typeface="Aptos" pitchFamily="34" charset="-120"/>
              </a:rPr>
              <a:t>patching</a:t>
            </a:r>
            <a:endParaRPr lang="en-US" sz="800" dirty="0"/>
          </a:p>
        </p:txBody>
      </p:sp>
      <p:sp>
        <p:nvSpPr>
          <p:cNvPr id="13" name="Shape 11"/>
          <p:cNvSpPr/>
          <p:nvPr/>
        </p:nvSpPr>
        <p:spPr>
          <a:xfrm>
            <a:off x="3246120" y="2404872"/>
            <a:ext cx="411480" cy="0"/>
          </a:xfrm>
          <a:prstGeom prst="line">
            <a:avLst/>
          </a:prstGeom>
          <a:noFill/>
          <a:ln w="15240">
            <a:solidFill>
              <a:srgbClr val="8DA0B8"/>
            </a:solidFill>
            <a:prstDash val="solid"/>
            <a:headEnd type="none"/>
            <a:tailEnd type="triangle"/>
          </a:ln>
        </p:spPr>
        <p:txBody>
          <a:bodyPr/>
          <a:lstStyle/>
          <a:p>
            <a:endParaRPr lang="en-GB"/>
          </a:p>
        </p:txBody>
      </p:sp>
      <p:sp>
        <p:nvSpPr>
          <p:cNvPr id="14" name="Shape 12"/>
          <p:cNvSpPr/>
          <p:nvPr/>
        </p:nvSpPr>
        <p:spPr>
          <a:xfrm>
            <a:off x="3703320" y="2103120"/>
            <a:ext cx="1463040" cy="594360"/>
          </a:xfrm>
          <a:prstGeom prst="roundRect">
            <a:avLst>
              <a:gd name="adj" fmla="val 12308"/>
            </a:avLst>
          </a:prstGeom>
          <a:solidFill>
            <a:srgbClr val="E9F6D7"/>
          </a:solidFill>
          <a:ln w="13970">
            <a:solidFill>
              <a:srgbClr val="86B817"/>
            </a:solidFill>
            <a:prstDash val="solid"/>
          </a:ln>
        </p:spPr>
        <p:txBody>
          <a:bodyPr/>
          <a:lstStyle/>
          <a:p>
            <a:endParaRPr lang="en-GB"/>
          </a:p>
        </p:txBody>
      </p:sp>
      <p:sp>
        <p:nvSpPr>
          <p:cNvPr id="15" name="Text 13"/>
          <p:cNvSpPr/>
          <p:nvPr/>
        </p:nvSpPr>
        <p:spPr>
          <a:xfrm>
            <a:off x="3739896" y="2148840"/>
            <a:ext cx="1389888" cy="502920"/>
          </a:xfrm>
          <a:prstGeom prst="rect">
            <a:avLst/>
          </a:prstGeom>
          <a:noFill/>
          <a:ln/>
        </p:spPr>
        <p:txBody>
          <a:bodyPr wrap="square" lIns="0" tIns="0" rIns="0" bIns="0" rtlCol="0" anchor="ctr">
            <a:normAutofit/>
          </a:bodyPr>
          <a:lstStyle/>
          <a:p>
            <a:pPr marL="0" indent="0" algn="ctr">
              <a:buNone/>
            </a:pPr>
            <a:r>
              <a:rPr lang="en-US" sz="730" b="1" dirty="0">
                <a:solidFill>
                  <a:srgbClr val="122033"/>
                </a:solidFill>
                <a:latin typeface="Aptos" pitchFamily="34" charset="0"/>
                <a:ea typeface="Aptos" pitchFamily="34" charset="-122"/>
                <a:cs typeface="Aptos" pitchFamily="34" charset="-120"/>
              </a:rPr>
              <a:t>patch embeddings</a:t>
            </a:r>
            <a:endParaRPr lang="en-US" sz="730" dirty="0"/>
          </a:p>
          <a:p>
            <a:pPr marL="0" indent="0" algn="ctr">
              <a:buNone/>
            </a:pPr>
            <a:r>
              <a:rPr lang="en-US" sz="730" b="1" dirty="0">
                <a:solidFill>
                  <a:srgbClr val="122033"/>
                </a:solidFill>
                <a:latin typeface="Aptos" pitchFamily="34" charset="0"/>
                <a:ea typeface="Aptos" pitchFamily="34" charset="-122"/>
                <a:cs typeface="Aptos" pitchFamily="34" charset="-120"/>
              </a:rPr>
              <a:t>+ position</a:t>
            </a:r>
            <a:endParaRPr lang="en-US" sz="730" dirty="0"/>
          </a:p>
        </p:txBody>
      </p:sp>
      <p:sp>
        <p:nvSpPr>
          <p:cNvPr id="16" name="Shape 14"/>
          <p:cNvSpPr/>
          <p:nvPr/>
        </p:nvSpPr>
        <p:spPr>
          <a:xfrm>
            <a:off x="5212080" y="2404872"/>
            <a:ext cx="502920" cy="0"/>
          </a:xfrm>
          <a:prstGeom prst="line">
            <a:avLst/>
          </a:prstGeom>
          <a:noFill/>
          <a:ln w="15240">
            <a:solidFill>
              <a:srgbClr val="8DA0B8"/>
            </a:solidFill>
            <a:prstDash val="solid"/>
            <a:headEnd type="none"/>
            <a:tailEnd type="triangle"/>
          </a:ln>
        </p:spPr>
        <p:txBody>
          <a:bodyPr/>
          <a:lstStyle/>
          <a:p>
            <a:endParaRPr lang="en-GB"/>
          </a:p>
        </p:txBody>
      </p:sp>
      <p:sp>
        <p:nvSpPr>
          <p:cNvPr id="17" name="Shape 15"/>
          <p:cNvSpPr/>
          <p:nvPr/>
        </p:nvSpPr>
        <p:spPr>
          <a:xfrm>
            <a:off x="5760720" y="2103120"/>
            <a:ext cx="1325880" cy="594360"/>
          </a:xfrm>
          <a:prstGeom prst="roundRect">
            <a:avLst>
              <a:gd name="adj" fmla="val 12308"/>
            </a:avLst>
          </a:prstGeom>
          <a:solidFill>
            <a:srgbClr val="E3D4FF"/>
          </a:solidFill>
          <a:ln w="13970">
            <a:solidFill>
              <a:srgbClr val="895DE8"/>
            </a:solidFill>
            <a:prstDash val="solid"/>
          </a:ln>
        </p:spPr>
        <p:txBody>
          <a:bodyPr/>
          <a:lstStyle/>
          <a:p>
            <a:endParaRPr lang="en-GB"/>
          </a:p>
        </p:txBody>
      </p:sp>
      <p:sp>
        <p:nvSpPr>
          <p:cNvPr id="18" name="Text 16"/>
          <p:cNvSpPr/>
          <p:nvPr/>
        </p:nvSpPr>
        <p:spPr>
          <a:xfrm>
            <a:off x="5797296" y="2148840"/>
            <a:ext cx="1252728" cy="502920"/>
          </a:xfrm>
          <a:prstGeom prst="rect">
            <a:avLst/>
          </a:prstGeom>
          <a:noFill/>
          <a:ln/>
        </p:spPr>
        <p:txBody>
          <a:bodyPr wrap="square" lIns="0" tIns="0" rIns="0" bIns="0" rtlCol="0" anchor="ctr">
            <a:normAutofit/>
          </a:bodyPr>
          <a:lstStyle/>
          <a:p>
            <a:pPr marL="0" indent="0" algn="ctr">
              <a:buNone/>
            </a:pPr>
            <a:r>
              <a:rPr lang="en-US" sz="730" b="1" dirty="0">
                <a:solidFill>
                  <a:srgbClr val="122033"/>
                </a:solidFill>
                <a:latin typeface="Aptos" pitchFamily="34" charset="0"/>
                <a:ea typeface="Aptos" pitchFamily="34" charset="-122"/>
                <a:cs typeface="Aptos" pitchFamily="34" charset="-120"/>
              </a:rPr>
              <a:t>Transformer</a:t>
            </a:r>
            <a:endParaRPr lang="en-US" sz="730" dirty="0"/>
          </a:p>
          <a:p>
            <a:pPr marL="0" indent="0" algn="ctr">
              <a:buNone/>
            </a:pPr>
            <a:r>
              <a:rPr lang="en-US" sz="730" b="1" dirty="0">
                <a:solidFill>
                  <a:srgbClr val="122033"/>
                </a:solidFill>
                <a:latin typeface="Aptos" pitchFamily="34" charset="0"/>
                <a:ea typeface="Aptos" pitchFamily="34" charset="-122"/>
                <a:cs typeface="Aptos" pitchFamily="34" charset="-120"/>
              </a:rPr>
              <a:t>encoder blocks</a:t>
            </a:r>
            <a:endParaRPr lang="en-US" sz="730" dirty="0"/>
          </a:p>
        </p:txBody>
      </p:sp>
      <p:sp>
        <p:nvSpPr>
          <p:cNvPr id="19" name="Shape 17"/>
          <p:cNvSpPr/>
          <p:nvPr/>
        </p:nvSpPr>
        <p:spPr>
          <a:xfrm>
            <a:off x="7132320" y="2404872"/>
            <a:ext cx="594360" cy="0"/>
          </a:xfrm>
          <a:prstGeom prst="line">
            <a:avLst/>
          </a:prstGeom>
          <a:noFill/>
          <a:ln w="15240">
            <a:solidFill>
              <a:srgbClr val="8DA0B8"/>
            </a:solidFill>
            <a:prstDash val="solid"/>
            <a:headEnd type="none"/>
            <a:tailEnd type="triangle"/>
          </a:ln>
        </p:spPr>
        <p:txBody>
          <a:bodyPr/>
          <a:lstStyle/>
          <a:p>
            <a:endParaRPr lang="en-GB"/>
          </a:p>
        </p:txBody>
      </p:sp>
      <p:sp>
        <p:nvSpPr>
          <p:cNvPr id="20" name="Shape 18"/>
          <p:cNvSpPr/>
          <p:nvPr/>
        </p:nvSpPr>
        <p:spPr>
          <a:xfrm>
            <a:off x="7772400" y="2103120"/>
            <a:ext cx="1051560" cy="594360"/>
          </a:xfrm>
          <a:prstGeom prst="roundRect">
            <a:avLst>
              <a:gd name="adj" fmla="val 12308"/>
            </a:avLst>
          </a:prstGeom>
          <a:solidFill>
            <a:srgbClr val="BFD7FF"/>
          </a:solidFill>
          <a:ln w="13970">
            <a:solidFill>
              <a:srgbClr val="3C7BE8"/>
            </a:solidFill>
            <a:prstDash val="solid"/>
          </a:ln>
        </p:spPr>
        <p:txBody>
          <a:bodyPr/>
          <a:lstStyle/>
          <a:p>
            <a:endParaRPr lang="en-GB"/>
          </a:p>
        </p:txBody>
      </p:sp>
      <p:sp>
        <p:nvSpPr>
          <p:cNvPr id="21" name="Text 19"/>
          <p:cNvSpPr/>
          <p:nvPr/>
        </p:nvSpPr>
        <p:spPr>
          <a:xfrm>
            <a:off x="7808976" y="2148840"/>
            <a:ext cx="978408" cy="502920"/>
          </a:xfrm>
          <a:prstGeom prst="rect">
            <a:avLst/>
          </a:prstGeom>
          <a:noFill/>
          <a:ln/>
        </p:spPr>
        <p:txBody>
          <a:bodyPr wrap="square" lIns="0" tIns="0" rIns="0" bIns="0" rtlCol="0" anchor="ctr">
            <a:normAutofit/>
          </a:bodyPr>
          <a:lstStyle/>
          <a:p>
            <a:pPr marL="0" indent="0" algn="ctr">
              <a:buNone/>
            </a:pPr>
            <a:r>
              <a:rPr lang="en-US" sz="750" b="1" dirty="0">
                <a:solidFill>
                  <a:srgbClr val="122033"/>
                </a:solidFill>
                <a:latin typeface="Aptos" pitchFamily="34" charset="0"/>
                <a:ea typeface="Aptos" pitchFamily="34" charset="-122"/>
                <a:cs typeface="Aptos" pitchFamily="34" charset="-120"/>
              </a:rPr>
              <a:t>forecasting</a:t>
            </a:r>
            <a:endParaRPr lang="en-US" sz="750" dirty="0"/>
          </a:p>
          <a:p>
            <a:pPr marL="0" indent="0" algn="ctr">
              <a:buNone/>
            </a:pPr>
            <a:r>
              <a:rPr lang="en-US" sz="750" b="1" dirty="0">
                <a:solidFill>
                  <a:srgbClr val="122033"/>
                </a:solidFill>
                <a:latin typeface="Aptos" pitchFamily="34" charset="0"/>
                <a:ea typeface="Aptos" pitchFamily="34" charset="-122"/>
                <a:cs typeface="Aptos" pitchFamily="34" charset="-120"/>
              </a:rPr>
              <a:t>head</a:t>
            </a:r>
            <a:endParaRPr lang="en-US" sz="750" dirty="0"/>
          </a:p>
        </p:txBody>
      </p:sp>
      <p:sp>
        <p:nvSpPr>
          <p:cNvPr id="22" name="Shape 20"/>
          <p:cNvSpPr/>
          <p:nvPr/>
        </p:nvSpPr>
        <p:spPr>
          <a:xfrm>
            <a:off x="8869680" y="2404872"/>
            <a:ext cx="548640" cy="0"/>
          </a:xfrm>
          <a:prstGeom prst="line">
            <a:avLst/>
          </a:prstGeom>
          <a:noFill/>
          <a:ln w="15240">
            <a:solidFill>
              <a:srgbClr val="8DA0B8"/>
            </a:solidFill>
            <a:prstDash val="solid"/>
            <a:headEnd type="none"/>
            <a:tailEnd type="triangle"/>
          </a:ln>
        </p:spPr>
        <p:txBody>
          <a:bodyPr/>
          <a:lstStyle/>
          <a:p>
            <a:endParaRPr lang="en-GB"/>
          </a:p>
        </p:txBody>
      </p:sp>
      <p:sp>
        <p:nvSpPr>
          <p:cNvPr id="23" name="Shape 21"/>
          <p:cNvSpPr/>
          <p:nvPr/>
        </p:nvSpPr>
        <p:spPr>
          <a:xfrm>
            <a:off x="9464040" y="2057400"/>
            <a:ext cx="960120" cy="685800"/>
          </a:xfrm>
          <a:prstGeom prst="roundRect">
            <a:avLst>
              <a:gd name="adj" fmla="val 10667"/>
            </a:avLst>
          </a:prstGeom>
          <a:solidFill>
            <a:srgbClr val="FFD6E0"/>
          </a:solidFill>
          <a:ln w="13970">
            <a:solidFill>
              <a:srgbClr val="EE6A7C"/>
            </a:solidFill>
            <a:prstDash val="solid"/>
          </a:ln>
        </p:spPr>
        <p:txBody>
          <a:bodyPr/>
          <a:lstStyle/>
          <a:p>
            <a:endParaRPr lang="en-GB"/>
          </a:p>
        </p:txBody>
      </p:sp>
      <p:sp>
        <p:nvSpPr>
          <p:cNvPr id="24" name="Text 22"/>
          <p:cNvSpPr/>
          <p:nvPr/>
        </p:nvSpPr>
        <p:spPr>
          <a:xfrm>
            <a:off x="9500616" y="2103120"/>
            <a:ext cx="886968" cy="59436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ŷ[t+1]</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ŷ[t+H]</a:t>
            </a:r>
            <a:endParaRPr lang="en-US" sz="700" dirty="0"/>
          </a:p>
        </p:txBody>
      </p:sp>
      <p:sp>
        <p:nvSpPr>
          <p:cNvPr id="25" name="Shape 23"/>
          <p:cNvSpPr/>
          <p:nvPr/>
        </p:nvSpPr>
        <p:spPr>
          <a:xfrm>
            <a:off x="9555480" y="3886200"/>
            <a:ext cx="1005840" cy="0"/>
          </a:xfrm>
          <a:prstGeom prst="line">
            <a:avLst/>
          </a:prstGeom>
          <a:noFill/>
          <a:ln w="13970">
            <a:solidFill>
              <a:srgbClr val="EE6A7C"/>
            </a:solidFill>
            <a:prstDash val="solid"/>
          </a:ln>
        </p:spPr>
        <p:txBody>
          <a:bodyPr/>
          <a:lstStyle/>
          <a:p>
            <a:endParaRPr lang="en-GB"/>
          </a:p>
        </p:txBody>
      </p:sp>
      <p:sp>
        <p:nvSpPr>
          <p:cNvPr id="26" name="Shape 24"/>
          <p:cNvSpPr/>
          <p:nvPr/>
        </p:nvSpPr>
        <p:spPr>
          <a:xfrm>
            <a:off x="9601200" y="3858768"/>
            <a:ext cx="50292" cy="50292"/>
          </a:xfrm>
          <a:prstGeom prst="ellipse">
            <a:avLst/>
          </a:prstGeom>
          <a:solidFill>
            <a:srgbClr val="EE6A7C"/>
          </a:solidFill>
          <a:ln w="12700">
            <a:solidFill>
              <a:srgbClr val="EE6A7C"/>
            </a:solidFill>
            <a:prstDash val="solid"/>
          </a:ln>
        </p:spPr>
        <p:txBody>
          <a:bodyPr/>
          <a:lstStyle/>
          <a:p>
            <a:endParaRPr lang="en-GB"/>
          </a:p>
        </p:txBody>
      </p:sp>
      <p:sp>
        <p:nvSpPr>
          <p:cNvPr id="27" name="Shape 25"/>
          <p:cNvSpPr/>
          <p:nvPr/>
        </p:nvSpPr>
        <p:spPr>
          <a:xfrm>
            <a:off x="9811512" y="3858768"/>
            <a:ext cx="50292" cy="50292"/>
          </a:xfrm>
          <a:prstGeom prst="ellipse">
            <a:avLst/>
          </a:prstGeom>
          <a:solidFill>
            <a:srgbClr val="EE6A7C"/>
          </a:solidFill>
          <a:ln w="12700">
            <a:solidFill>
              <a:srgbClr val="EE6A7C"/>
            </a:solidFill>
            <a:prstDash val="solid"/>
          </a:ln>
        </p:spPr>
        <p:txBody>
          <a:bodyPr/>
          <a:lstStyle/>
          <a:p>
            <a:endParaRPr lang="en-GB"/>
          </a:p>
        </p:txBody>
      </p:sp>
      <p:sp>
        <p:nvSpPr>
          <p:cNvPr id="28" name="Shape 26"/>
          <p:cNvSpPr/>
          <p:nvPr/>
        </p:nvSpPr>
        <p:spPr>
          <a:xfrm>
            <a:off x="10021824" y="3858768"/>
            <a:ext cx="50292" cy="50292"/>
          </a:xfrm>
          <a:prstGeom prst="ellipse">
            <a:avLst/>
          </a:prstGeom>
          <a:solidFill>
            <a:srgbClr val="EE6A7C"/>
          </a:solidFill>
          <a:ln w="12700">
            <a:solidFill>
              <a:srgbClr val="EE6A7C"/>
            </a:solidFill>
            <a:prstDash val="solid"/>
          </a:ln>
        </p:spPr>
        <p:txBody>
          <a:bodyPr/>
          <a:lstStyle/>
          <a:p>
            <a:endParaRPr lang="en-GB"/>
          </a:p>
        </p:txBody>
      </p:sp>
      <p:sp>
        <p:nvSpPr>
          <p:cNvPr id="29" name="Shape 27"/>
          <p:cNvSpPr/>
          <p:nvPr/>
        </p:nvSpPr>
        <p:spPr>
          <a:xfrm>
            <a:off x="10232136" y="3858768"/>
            <a:ext cx="50292" cy="50292"/>
          </a:xfrm>
          <a:prstGeom prst="ellipse">
            <a:avLst/>
          </a:prstGeom>
          <a:solidFill>
            <a:srgbClr val="EE6A7C"/>
          </a:solidFill>
          <a:ln w="12700">
            <a:solidFill>
              <a:srgbClr val="EE6A7C"/>
            </a:solidFill>
            <a:prstDash val="solid"/>
          </a:ln>
        </p:spPr>
        <p:txBody>
          <a:bodyPr/>
          <a:lstStyle/>
          <a:p>
            <a:endParaRPr lang="en-GB"/>
          </a:p>
        </p:txBody>
      </p:sp>
      <p:sp>
        <p:nvSpPr>
          <p:cNvPr id="30" name="Shape 28"/>
          <p:cNvSpPr/>
          <p:nvPr/>
        </p:nvSpPr>
        <p:spPr>
          <a:xfrm>
            <a:off x="10442448" y="3858768"/>
            <a:ext cx="50292" cy="50292"/>
          </a:xfrm>
          <a:prstGeom prst="ellipse">
            <a:avLst/>
          </a:prstGeom>
          <a:solidFill>
            <a:srgbClr val="EE6A7C"/>
          </a:solidFill>
          <a:ln w="12700">
            <a:solidFill>
              <a:srgbClr val="EE6A7C"/>
            </a:solidFill>
            <a:prstDash val="solid"/>
          </a:ln>
        </p:spPr>
        <p:txBody>
          <a:bodyPr/>
          <a:lstStyle/>
          <a:p>
            <a:endParaRPr lang="en-GB"/>
          </a:p>
        </p:txBody>
      </p:sp>
      <p:sp>
        <p:nvSpPr>
          <p:cNvPr id="31" name="Text 29"/>
          <p:cNvSpPr/>
          <p:nvPr/>
        </p:nvSpPr>
        <p:spPr>
          <a:xfrm>
            <a:off x="9464040" y="4096512"/>
            <a:ext cx="320040" cy="137160"/>
          </a:xfrm>
          <a:prstGeom prst="rect">
            <a:avLst/>
          </a:prstGeom>
          <a:noFill/>
          <a:ln/>
        </p:spPr>
        <p:txBody>
          <a:bodyPr wrap="square" lIns="635" tIns="635" rIns="635" bIns="635" rtlCol="0" anchor="ctr">
            <a:normAutofit/>
          </a:bodyPr>
          <a:lstStyle/>
          <a:p>
            <a:pPr marL="0" indent="0" algn="ctr">
              <a:buNone/>
            </a:pPr>
            <a:r>
              <a:rPr lang="en-US" sz="500" dirty="0">
                <a:solidFill>
                  <a:srgbClr val="EE6A7C"/>
                </a:solidFill>
                <a:latin typeface="Aptos" pitchFamily="34" charset="0"/>
                <a:ea typeface="Aptos" pitchFamily="34" charset="-122"/>
                <a:cs typeface="Aptos" pitchFamily="34" charset="-120"/>
              </a:rPr>
              <a:t>t+1</a:t>
            </a:r>
            <a:endParaRPr lang="en-US" sz="500" dirty="0"/>
          </a:p>
        </p:txBody>
      </p:sp>
      <p:sp>
        <p:nvSpPr>
          <p:cNvPr id="32" name="Text 30"/>
          <p:cNvSpPr/>
          <p:nvPr/>
        </p:nvSpPr>
        <p:spPr>
          <a:xfrm>
            <a:off x="10378440" y="4096512"/>
            <a:ext cx="320040" cy="137160"/>
          </a:xfrm>
          <a:prstGeom prst="rect">
            <a:avLst/>
          </a:prstGeom>
          <a:noFill/>
          <a:ln/>
        </p:spPr>
        <p:txBody>
          <a:bodyPr wrap="square" lIns="635" tIns="635" rIns="635" bIns="635" rtlCol="0" anchor="ctr">
            <a:normAutofit/>
          </a:bodyPr>
          <a:lstStyle/>
          <a:p>
            <a:pPr marL="0" indent="0" algn="ctr">
              <a:buNone/>
            </a:pPr>
            <a:r>
              <a:rPr lang="en-US" sz="500" dirty="0">
                <a:solidFill>
                  <a:srgbClr val="EE6A7C"/>
                </a:solidFill>
                <a:latin typeface="Aptos" pitchFamily="34" charset="0"/>
                <a:ea typeface="Aptos" pitchFamily="34" charset="-122"/>
                <a:cs typeface="Aptos" pitchFamily="34" charset="-120"/>
              </a:rPr>
              <a:t>t+H</a:t>
            </a:r>
            <a:endParaRPr lang="en-US" sz="500" dirty="0"/>
          </a:p>
        </p:txBody>
      </p:sp>
      <p:sp>
        <p:nvSpPr>
          <p:cNvPr id="33" name="Shape 31"/>
          <p:cNvSpPr/>
          <p:nvPr/>
        </p:nvSpPr>
        <p:spPr>
          <a:xfrm>
            <a:off x="2697480" y="4892040"/>
            <a:ext cx="5212080" cy="457200"/>
          </a:xfrm>
          <a:prstGeom prst="roundRect">
            <a:avLst>
              <a:gd name="adj" fmla="val 16000"/>
            </a:avLst>
          </a:prstGeom>
          <a:solidFill>
            <a:srgbClr val="FFE7B4"/>
          </a:solidFill>
          <a:ln w="13970">
            <a:solidFill>
              <a:srgbClr val="E5A100"/>
            </a:solidFill>
            <a:prstDash val="solid"/>
          </a:ln>
        </p:spPr>
        <p:txBody>
          <a:bodyPr/>
          <a:lstStyle/>
          <a:p>
            <a:endParaRPr lang="en-GB"/>
          </a:p>
        </p:txBody>
      </p:sp>
      <p:sp>
        <p:nvSpPr>
          <p:cNvPr id="34" name="Text 32"/>
          <p:cNvSpPr/>
          <p:nvPr/>
        </p:nvSpPr>
        <p:spPr>
          <a:xfrm>
            <a:off x="2734056" y="4937760"/>
            <a:ext cx="5138928" cy="365760"/>
          </a:xfrm>
          <a:prstGeom prst="rect">
            <a:avLst/>
          </a:prstGeom>
          <a:noFill/>
          <a:ln/>
        </p:spPr>
        <p:txBody>
          <a:bodyPr wrap="square" lIns="0" tIns="0" rIns="0" bIns="0" rtlCol="0" anchor="ctr">
            <a:normAutofit/>
          </a:bodyPr>
          <a:lstStyle/>
          <a:p>
            <a:pPr marL="0" indent="0" algn="ctr">
              <a:buNone/>
            </a:pPr>
            <a:r>
              <a:rPr lang="en-US" sz="900" b="1" dirty="0">
                <a:solidFill>
                  <a:srgbClr val="122033"/>
                </a:solidFill>
                <a:latin typeface="Aptos" pitchFamily="34" charset="0"/>
                <a:ea typeface="Aptos" pitchFamily="34" charset="-122"/>
                <a:cs typeface="Aptos" pitchFamily="34" charset="-120"/>
              </a:rPr>
              <a:t>Direct multi-horizon forecast: no recursive feeding of predicted values</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704AB3-6143-3228-5875-E359FFDEEF87}"/>
              </a:ext>
            </a:extLst>
          </p:cNvPr>
          <p:cNvSpPr>
            <a:spLocks noGrp="1"/>
          </p:cNvSpPr>
          <p:nvPr>
            <p:ph type="title"/>
          </p:nvPr>
        </p:nvSpPr>
        <p:spPr/>
        <p:txBody>
          <a:bodyPr/>
          <a:lstStyle/>
          <a:p>
            <a:r>
              <a:rPr lang="en-GB" dirty="0"/>
              <a:t>Why patching helps with long input windows</a:t>
            </a:r>
          </a:p>
        </p:txBody>
      </p:sp>
      <p:sp>
        <p:nvSpPr>
          <p:cNvPr id="3" name="Segnaposto contenuto 2">
            <a:extLst>
              <a:ext uri="{FF2B5EF4-FFF2-40B4-BE49-F238E27FC236}">
                <a16:creationId xmlns:a16="http://schemas.microsoft.com/office/drawing/2014/main" id="{EE9006C0-7228-6B02-3AE3-6A52A21B7F5E}"/>
              </a:ext>
            </a:extLst>
          </p:cNvPr>
          <p:cNvSpPr>
            <a:spLocks noGrp="1"/>
          </p:cNvSpPr>
          <p:nvPr>
            <p:ph sz="half" idx="1"/>
          </p:nvPr>
        </p:nvSpPr>
        <p:spPr>
          <a:xfrm>
            <a:off x="677334" y="2160588"/>
            <a:ext cx="5066241" cy="4611685"/>
          </a:xfrm>
        </p:spPr>
        <p:txBody>
          <a:bodyPr>
            <a:normAutofit/>
          </a:bodyPr>
          <a:lstStyle/>
          <a:p>
            <a:r>
              <a:rPr lang="en-GB" dirty="0"/>
              <a:t>Suppose: L = 1024 raw observations.</a:t>
            </a:r>
          </a:p>
          <a:p>
            <a:r>
              <a:rPr lang="en-GB" dirty="0"/>
              <a:t>Without patching: 1024 tokens</a:t>
            </a:r>
          </a:p>
          <a:p>
            <a:r>
              <a:rPr lang="en-GB" dirty="0"/>
              <a:t>Full attention involves approximately:</a:t>
            </a:r>
          </a:p>
          <a:p>
            <a:pPr lvl="1"/>
            <a:r>
              <a:rPr lang="en-GB" dirty="0"/>
              <a:t>1024² ≈ 1.05 million position-to-position scores per head.</a:t>
            </a:r>
          </a:p>
          <a:p>
            <a:r>
              <a:rPr lang="en-GB" dirty="0"/>
              <a:t>Suppose patching gives:	64 tokens.</a:t>
            </a:r>
          </a:p>
          <a:p>
            <a:r>
              <a:rPr lang="en-GB" dirty="0"/>
              <a:t>Then: 64² = 4096 scores.</a:t>
            </a:r>
          </a:p>
          <a:p>
            <a:endParaRPr lang="en-GB" dirty="0"/>
          </a:p>
        </p:txBody>
      </p:sp>
      <p:sp>
        <p:nvSpPr>
          <p:cNvPr id="4" name="Segnaposto contenuto 3">
            <a:extLst>
              <a:ext uri="{FF2B5EF4-FFF2-40B4-BE49-F238E27FC236}">
                <a16:creationId xmlns:a16="http://schemas.microsoft.com/office/drawing/2014/main" id="{7F78D4A0-D50D-BD3C-126A-9C3148092726}"/>
              </a:ext>
            </a:extLst>
          </p:cNvPr>
          <p:cNvSpPr>
            <a:spLocks noGrp="1"/>
          </p:cNvSpPr>
          <p:nvPr>
            <p:ph sz="half" idx="2"/>
          </p:nvPr>
        </p:nvSpPr>
        <p:spPr>
          <a:xfrm>
            <a:off x="5623369" y="2160589"/>
            <a:ext cx="6349555" cy="4611686"/>
          </a:xfrm>
        </p:spPr>
        <p:txBody>
          <a:bodyPr>
            <a:normAutofit/>
          </a:bodyPr>
          <a:lstStyle/>
          <a:p>
            <a:r>
              <a:rPr lang="en-GB" b="1" dirty="0"/>
              <a:t>Conceptual consequence</a:t>
            </a:r>
          </a:p>
          <a:p>
            <a:r>
              <a:rPr lang="en-GB" dirty="0"/>
              <a:t>The model can use a long physical history while applying attention to a much shorter sequence.</a:t>
            </a:r>
          </a:p>
          <a:p>
            <a:r>
              <a:rPr lang="en-GB" b="1" dirty="0"/>
              <a:t>But</a:t>
            </a:r>
          </a:p>
          <a:p>
            <a:r>
              <a:rPr lang="en-GB" dirty="0"/>
              <a:t>The reduction comes at the price of representing several raw time steps together.</a:t>
            </a:r>
          </a:p>
          <a:p>
            <a:r>
              <a:rPr lang="en-GB" b="1" dirty="0"/>
              <a:t>Therefore:</a:t>
            </a:r>
          </a:p>
          <a:p>
            <a:r>
              <a:rPr lang="en-GB" dirty="0"/>
              <a:t>patch size determines a trade-off between temporal detail and computational efficiency.</a:t>
            </a:r>
          </a:p>
          <a:p>
            <a:endParaRPr lang="en-GB" dirty="0"/>
          </a:p>
        </p:txBody>
      </p:sp>
    </p:spTree>
    <p:extLst>
      <p:ext uri="{BB962C8B-B14F-4D97-AF65-F5344CB8AC3E}">
        <p14:creationId xmlns:p14="http://schemas.microsoft.com/office/powerpoint/2010/main" val="195248238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B685C8-A1BA-9EFE-6397-AD2A9D5C8E19}"/>
              </a:ext>
            </a:extLst>
          </p:cNvPr>
          <p:cNvSpPr>
            <a:spLocks noGrp="1"/>
          </p:cNvSpPr>
          <p:nvPr>
            <p:ph type="title"/>
          </p:nvPr>
        </p:nvSpPr>
        <p:spPr/>
        <p:txBody>
          <a:bodyPr/>
          <a:lstStyle/>
          <a:p>
            <a:r>
              <a:rPr lang="en-GB" dirty="0" err="1"/>
              <a:t>PatchTST</a:t>
            </a:r>
            <a:r>
              <a:rPr lang="en-GB" dirty="0"/>
              <a:t> is not simply “a Transformer on time series”</a:t>
            </a:r>
          </a:p>
        </p:txBody>
      </p:sp>
      <p:sp>
        <p:nvSpPr>
          <p:cNvPr id="3" name="Segnaposto contenuto 2">
            <a:extLst>
              <a:ext uri="{FF2B5EF4-FFF2-40B4-BE49-F238E27FC236}">
                <a16:creationId xmlns:a16="http://schemas.microsoft.com/office/drawing/2014/main" id="{521C464C-6B7B-E219-E2D9-A05EBF5FCD01}"/>
              </a:ext>
            </a:extLst>
          </p:cNvPr>
          <p:cNvSpPr>
            <a:spLocks noGrp="1"/>
          </p:cNvSpPr>
          <p:nvPr>
            <p:ph sz="half" idx="1"/>
          </p:nvPr>
        </p:nvSpPr>
        <p:spPr>
          <a:xfrm>
            <a:off x="677334" y="2160589"/>
            <a:ext cx="5253123" cy="4402136"/>
          </a:xfrm>
        </p:spPr>
        <p:txBody>
          <a:bodyPr>
            <a:normAutofit/>
          </a:bodyPr>
          <a:lstStyle/>
          <a:p>
            <a:r>
              <a:rPr lang="en-GB" dirty="0"/>
              <a:t>Several adaptations make the architecture specifically temporal:</a:t>
            </a:r>
          </a:p>
          <a:p>
            <a:pPr lvl="1"/>
            <a:r>
              <a:rPr lang="en-GB" dirty="0"/>
              <a:t>temporal input windows; </a:t>
            </a:r>
          </a:p>
          <a:p>
            <a:pPr lvl="1"/>
            <a:r>
              <a:rPr lang="en-GB" dirty="0"/>
              <a:t>patch extraction; </a:t>
            </a:r>
          </a:p>
          <a:p>
            <a:pPr lvl="1"/>
            <a:r>
              <a:rPr lang="en-GB" dirty="0"/>
              <a:t>patch stride; </a:t>
            </a:r>
          </a:p>
          <a:p>
            <a:pPr lvl="1"/>
            <a:r>
              <a:rPr lang="en-GB" dirty="0"/>
              <a:t>patch embedding; </a:t>
            </a:r>
          </a:p>
          <a:p>
            <a:pPr lvl="1"/>
            <a:r>
              <a:rPr lang="en-GB" dirty="0"/>
              <a:t>positional information; </a:t>
            </a:r>
          </a:p>
          <a:p>
            <a:pPr lvl="1"/>
            <a:r>
              <a:rPr lang="en-GB" dirty="0"/>
              <a:t>channel-independent processing; </a:t>
            </a:r>
          </a:p>
          <a:p>
            <a:pPr lvl="1"/>
            <a:r>
              <a:rPr lang="en-GB" dirty="0"/>
              <a:t>forecasting-specific output head. </a:t>
            </a:r>
          </a:p>
          <a:p>
            <a:endParaRPr lang="en-GB" dirty="0"/>
          </a:p>
        </p:txBody>
      </p:sp>
      <p:sp>
        <p:nvSpPr>
          <p:cNvPr id="4" name="Segnaposto contenuto 3">
            <a:extLst>
              <a:ext uri="{FF2B5EF4-FFF2-40B4-BE49-F238E27FC236}">
                <a16:creationId xmlns:a16="http://schemas.microsoft.com/office/drawing/2014/main" id="{9A5E02D4-3E5D-9C7C-EA13-E2DCA14D39BA}"/>
              </a:ext>
            </a:extLst>
          </p:cNvPr>
          <p:cNvSpPr>
            <a:spLocks noGrp="1"/>
          </p:cNvSpPr>
          <p:nvPr>
            <p:ph sz="half" idx="2"/>
          </p:nvPr>
        </p:nvSpPr>
        <p:spPr>
          <a:xfrm>
            <a:off x="6261544" y="2160589"/>
            <a:ext cx="5606605" cy="4497386"/>
          </a:xfrm>
        </p:spPr>
        <p:txBody>
          <a:bodyPr>
            <a:normAutofit/>
          </a:bodyPr>
          <a:lstStyle/>
          <a:p>
            <a:r>
              <a:rPr lang="en-GB" b="1" dirty="0"/>
              <a:t>This illustrates a broader principle</a:t>
            </a:r>
          </a:p>
          <a:p>
            <a:r>
              <a:rPr lang="en-GB" dirty="0"/>
              <a:t>Modern temporal architectures often reuse general neural mechanisms while modifying:</a:t>
            </a:r>
          </a:p>
          <a:p>
            <a:pPr lvl="1"/>
            <a:r>
              <a:rPr lang="en-GB" dirty="0"/>
              <a:t>input representation; </a:t>
            </a:r>
          </a:p>
          <a:p>
            <a:pPr lvl="1"/>
            <a:r>
              <a:rPr lang="en-GB" dirty="0"/>
              <a:t>temporal scale; </a:t>
            </a:r>
          </a:p>
          <a:p>
            <a:pPr lvl="1"/>
            <a:r>
              <a:rPr lang="en-GB" dirty="0"/>
              <a:t>information flow; </a:t>
            </a:r>
          </a:p>
          <a:p>
            <a:pPr lvl="1"/>
            <a:r>
              <a:rPr lang="en-GB" dirty="0"/>
              <a:t>output structure. </a:t>
            </a:r>
          </a:p>
          <a:p>
            <a:endParaRPr lang="en-GB" b="1" dirty="0"/>
          </a:p>
          <a:p>
            <a:r>
              <a:rPr lang="en-GB" b="1" dirty="0"/>
              <a:t>Adapting a model to time series often requires changing how temporal observations are represented, not merely changing the final prediction layer.</a:t>
            </a:r>
          </a:p>
          <a:p>
            <a:endParaRPr lang="en-GB" dirty="0"/>
          </a:p>
        </p:txBody>
      </p:sp>
    </p:spTree>
    <p:extLst>
      <p:ext uri="{BB962C8B-B14F-4D97-AF65-F5344CB8AC3E}">
        <p14:creationId xmlns:p14="http://schemas.microsoft.com/office/powerpoint/2010/main" val="146794044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0ABC6B3-8E28-ACDD-87DF-F8437CEE9AA0}"/>
              </a:ext>
            </a:extLst>
          </p:cNvPr>
          <p:cNvSpPr>
            <a:spLocks noGrp="1"/>
          </p:cNvSpPr>
          <p:nvPr>
            <p:ph type="title"/>
          </p:nvPr>
        </p:nvSpPr>
        <p:spPr/>
        <p:txBody>
          <a:bodyPr/>
          <a:lstStyle/>
          <a:p>
            <a:r>
              <a:rPr lang="en-GB" dirty="0"/>
              <a:t>What </a:t>
            </a:r>
            <a:r>
              <a:rPr lang="en-GB" dirty="0" err="1"/>
              <a:t>PatchTST</a:t>
            </a:r>
            <a:r>
              <a:rPr lang="en-GB" dirty="0"/>
              <a:t> teaches us</a:t>
            </a:r>
          </a:p>
        </p:txBody>
      </p:sp>
      <p:sp>
        <p:nvSpPr>
          <p:cNvPr id="3" name="Segnaposto contenuto 2">
            <a:extLst>
              <a:ext uri="{FF2B5EF4-FFF2-40B4-BE49-F238E27FC236}">
                <a16:creationId xmlns:a16="http://schemas.microsoft.com/office/drawing/2014/main" id="{9A0CD515-880A-517E-1B3A-09203C74038B}"/>
              </a:ext>
            </a:extLst>
          </p:cNvPr>
          <p:cNvSpPr>
            <a:spLocks noGrp="1"/>
          </p:cNvSpPr>
          <p:nvPr>
            <p:ph idx="1"/>
          </p:nvPr>
        </p:nvSpPr>
        <p:spPr/>
        <p:txBody>
          <a:bodyPr>
            <a:normAutofit/>
          </a:bodyPr>
          <a:lstStyle/>
          <a:p>
            <a:r>
              <a:rPr lang="en-GB" dirty="0" err="1"/>
              <a:t>PatchTST</a:t>
            </a:r>
            <a:r>
              <a:rPr lang="en-GB" dirty="0"/>
              <a:t> provides three useful general lessons.</a:t>
            </a:r>
          </a:p>
          <a:p>
            <a:r>
              <a:rPr lang="en-GB" b="1" dirty="0"/>
              <a:t>1. Tokenization matters</a:t>
            </a:r>
          </a:p>
          <a:p>
            <a:pPr lvl="1"/>
            <a:r>
              <a:rPr lang="en-GB" dirty="0"/>
              <a:t>The choice of token determines what the attention mechanism sees.</a:t>
            </a:r>
          </a:p>
          <a:p>
            <a:pPr lvl="1"/>
            <a:r>
              <a:rPr lang="en-GB" dirty="0"/>
              <a:t>Individual frames/samples are not the only possible tokens.</a:t>
            </a:r>
          </a:p>
          <a:p>
            <a:r>
              <a:rPr lang="en-GB" b="1" dirty="0"/>
              <a:t>2. Local and global modelling can be separated</a:t>
            </a:r>
          </a:p>
          <a:p>
            <a:pPr lvl="1"/>
            <a:r>
              <a:rPr lang="en-GB" dirty="0"/>
              <a:t>Patches represent local structure.</a:t>
            </a:r>
          </a:p>
          <a:p>
            <a:pPr lvl="1"/>
            <a:r>
              <a:rPr lang="en-GB" dirty="0"/>
              <a:t>Attention connects distant patches.</a:t>
            </a:r>
          </a:p>
          <a:p>
            <a:r>
              <a:rPr lang="en-GB" b="1" dirty="0"/>
              <a:t>3. Architecture should reflect computational constraints</a:t>
            </a:r>
          </a:p>
          <a:p>
            <a:pPr lvl="1"/>
            <a:r>
              <a:rPr lang="en-GB" dirty="0"/>
              <a:t>A long raw time series may be manageable after appropriate temporal aggregation.</a:t>
            </a:r>
          </a:p>
          <a:p>
            <a:endParaRPr lang="en-GB" dirty="0"/>
          </a:p>
        </p:txBody>
      </p:sp>
    </p:spTree>
    <p:extLst>
      <p:ext uri="{BB962C8B-B14F-4D97-AF65-F5344CB8AC3E}">
        <p14:creationId xmlns:p14="http://schemas.microsoft.com/office/powerpoint/2010/main" val="104789650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B48AC6-9736-0B56-4C28-3294C4086A36}"/>
              </a:ext>
            </a:extLst>
          </p:cNvPr>
          <p:cNvSpPr>
            <a:spLocks noGrp="1"/>
          </p:cNvSpPr>
          <p:nvPr>
            <p:ph type="title"/>
          </p:nvPr>
        </p:nvSpPr>
        <p:spPr/>
        <p:txBody>
          <a:bodyPr/>
          <a:lstStyle/>
          <a:p>
            <a:r>
              <a:rPr lang="en-GB" dirty="0"/>
              <a:t>What </a:t>
            </a:r>
            <a:r>
              <a:rPr lang="en-GB" dirty="0" err="1"/>
              <a:t>PatchTST</a:t>
            </a:r>
            <a:r>
              <a:rPr lang="en-GB" dirty="0"/>
              <a:t> teaches us</a:t>
            </a:r>
          </a:p>
        </p:txBody>
      </p:sp>
      <p:sp>
        <p:nvSpPr>
          <p:cNvPr id="3" name="Segnaposto contenuto 2">
            <a:extLst>
              <a:ext uri="{FF2B5EF4-FFF2-40B4-BE49-F238E27FC236}">
                <a16:creationId xmlns:a16="http://schemas.microsoft.com/office/drawing/2014/main" id="{ECCCCB12-AA20-8EFE-6A42-1DD59F95B3B6}"/>
              </a:ext>
            </a:extLst>
          </p:cNvPr>
          <p:cNvSpPr>
            <a:spLocks noGrp="1"/>
          </p:cNvSpPr>
          <p:nvPr>
            <p:ph idx="1"/>
          </p:nvPr>
        </p:nvSpPr>
        <p:spPr/>
        <p:txBody>
          <a:bodyPr/>
          <a:lstStyle/>
          <a:p>
            <a:r>
              <a:rPr lang="en-GB" b="1" dirty="0"/>
              <a:t>Limitation</a:t>
            </a:r>
          </a:p>
          <a:p>
            <a:r>
              <a:rPr lang="en-GB" dirty="0" err="1"/>
              <a:t>PatchTST</a:t>
            </a:r>
            <a:r>
              <a:rPr lang="en-GB" dirty="0"/>
              <a:t> is not automatically preferable to:</a:t>
            </a:r>
          </a:p>
          <a:p>
            <a:pPr lvl="1"/>
            <a:r>
              <a:rPr lang="en-GB" dirty="0"/>
              <a:t>TCNs; </a:t>
            </a:r>
          </a:p>
          <a:p>
            <a:pPr lvl="1"/>
            <a:r>
              <a:rPr lang="en-GB" dirty="0"/>
              <a:t>recurrent models; </a:t>
            </a:r>
          </a:p>
          <a:p>
            <a:pPr lvl="1"/>
            <a:r>
              <a:rPr lang="en-GB" dirty="0"/>
              <a:t>boosting; </a:t>
            </a:r>
          </a:p>
          <a:p>
            <a:pPr lvl="1"/>
            <a:r>
              <a:rPr lang="en-GB" dirty="0"/>
              <a:t>classical forecasting models. </a:t>
            </a:r>
          </a:p>
          <a:p>
            <a:r>
              <a:rPr lang="en-GB" dirty="0"/>
              <a:t>Its value must still be established using the same evaluation protocol and strong baselines.</a:t>
            </a:r>
          </a:p>
          <a:p>
            <a:endParaRPr lang="en-GB" dirty="0"/>
          </a:p>
        </p:txBody>
      </p:sp>
    </p:spTree>
    <p:extLst>
      <p:ext uri="{BB962C8B-B14F-4D97-AF65-F5344CB8AC3E}">
        <p14:creationId xmlns:p14="http://schemas.microsoft.com/office/powerpoint/2010/main" val="358172907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What PatchTST teaches us</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Three design lessons that extend beyond one model name.</a:t>
            </a:r>
            <a:endParaRPr lang="en-US" sz="850" dirty="0"/>
          </a:p>
        </p:txBody>
      </p:sp>
      <p:sp>
        <p:nvSpPr>
          <p:cNvPr id="8" name="Shape 6"/>
          <p:cNvSpPr/>
          <p:nvPr/>
        </p:nvSpPr>
        <p:spPr>
          <a:xfrm>
            <a:off x="914400" y="1920240"/>
            <a:ext cx="2103120" cy="502920"/>
          </a:xfrm>
          <a:prstGeom prst="roundRect">
            <a:avLst>
              <a:gd name="adj" fmla="val 14545"/>
            </a:avLst>
          </a:prstGeom>
          <a:solidFill>
            <a:srgbClr val="BFD7FF"/>
          </a:solidFill>
          <a:ln w="13970">
            <a:solidFill>
              <a:srgbClr val="3C7BE8"/>
            </a:solidFill>
            <a:prstDash val="solid"/>
          </a:ln>
        </p:spPr>
        <p:txBody>
          <a:bodyPr/>
          <a:lstStyle/>
          <a:p>
            <a:endParaRPr lang="en-GB"/>
          </a:p>
        </p:txBody>
      </p:sp>
      <p:sp>
        <p:nvSpPr>
          <p:cNvPr id="9" name="Text 7"/>
          <p:cNvSpPr/>
          <p:nvPr/>
        </p:nvSpPr>
        <p:spPr>
          <a:xfrm>
            <a:off x="950976" y="1965960"/>
            <a:ext cx="2029968" cy="411480"/>
          </a:xfrm>
          <a:prstGeom prst="rect">
            <a:avLst/>
          </a:prstGeom>
          <a:noFill/>
          <a:ln/>
        </p:spPr>
        <p:txBody>
          <a:bodyPr wrap="square" lIns="0" tIns="0" rIns="0" bIns="0" rtlCol="0" anchor="ctr">
            <a:normAutofit/>
          </a:bodyPr>
          <a:lstStyle/>
          <a:p>
            <a:pPr marL="0" indent="0" algn="ctr">
              <a:buNone/>
            </a:pPr>
            <a:r>
              <a:rPr lang="en-US" sz="900" b="1" dirty="0">
                <a:solidFill>
                  <a:srgbClr val="122033"/>
                </a:solidFill>
                <a:latin typeface="Aptos" pitchFamily="34" charset="0"/>
                <a:ea typeface="Aptos" pitchFamily="34" charset="-122"/>
                <a:cs typeface="Aptos" pitchFamily="34" charset="-120"/>
              </a:rPr>
              <a:t>Tokenization matters</a:t>
            </a:r>
            <a:endParaRPr lang="en-US" sz="900" dirty="0"/>
          </a:p>
        </p:txBody>
      </p:sp>
      <p:sp>
        <p:nvSpPr>
          <p:cNvPr id="10" name="Text 8"/>
          <p:cNvSpPr/>
          <p:nvPr/>
        </p:nvSpPr>
        <p:spPr>
          <a:xfrm>
            <a:off x="914400" y="2606040"/>
            <a:ext cx="2103120" cy="457200"/>
          </a:xfrm>
          <a:prstGeom prst="rect">
            <a:avLst/>
          </a:prstGeom>
          <a:noFill/>
          <a:ln/>
        </p:spPr>
        <p:txBody>
          <a:bodyPr wrap="square" lIns="635" tIns="635" rIns="635" bIns="635" rtlCol="0" anchor="ctr">
            <a:normAutofit/>
          </a:bodyPr>
          <a:lstStyle/>
          <a:p>
            <a:pPr marL="0" indent="0" algn="ctr">
              <a:buNone/>
            </a:pPr>
            <a:r>
              <a:rPr lang="en-US" sz="800" dirty="0">
                <a:solidFill>
                  <a:srgbClr val="53627A"/>
                </a:solidFill>
                <a:latin typeface="Aptos" pitchFamily="34" charset="0"/>
                <a:ea typeface="Aptos" pitchFamily="34" charset="-122"/>
                <a:cs typeface="Aptos" pitchFamily="34" charset="-120"/>
              </a:rPr>
              <a:t>what the attention mechanism sees</a:t>
            </a:r>
            <a:endParaRPr lang="en-US" sz="800" dirty="0"/>
          </a:p>
        </p:txBody>
      </p:sp>
      <p:sp>
        <p:nvSpPr>
          <p:cNvPr id="11" name="Shape 9"/>
          <p:cNvSpPr/>
          <p:nvPr/>
        </p:nvSpPr>
        <p:spPr>
          <a:xfrm>
            <a:off x="3749040" y="1920240"/>
            <a:ext cx="210312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12" name="Text 10"/>
          <p:cNvSpPr/>
          <p:nvPr/>
        </p:nvSpPr>
        <p:spPr>
          <a:xfrm>
            <a:off x="3785616" y="1965960"/>
            <a:ext cx="2029968" cy="411480"/>
          </a:xfrm>
          <a:prstGeom prst="rect">
            <a:avLst/>
          </a:prstGeom>
          <a:noFill/>
          <a:ln/>
        </p:spPr>
        <p:txBody>
          <a:bodyPr wrap="square" lIns="0" tIns="0" rIns="0" bIns="0" rtlCol="0" anchor="ctr">
            <a:normAutofit/>
          </a:bodyPr>
          <a:lstStyle/>
          <a:p>
            <a:pPr marL="0" indent="0" algn="ctr">
              <a:buNone/>
            </a:pPr>
            <a:r>
              <a:rPr lang="en-US" sz="900" b="1" dirty="0">
                <a:solidFill>
                  <a:srgbClr val="122033"/>
                </a:solidFill>
                <a:latin typeface="Aptos" pitchFamily="34" charset="0"/>
                <a:ea typeface="Aptos" pitchFamily="34" charset="-122"/>
                <a:cs typeface="Aptos" pitchFamily="34" charset="-120"/>
              </a:rPr>
              <a:t>Local + global can be separated</a:t>
            </a:r>
            <a:endParaRPr lang="en-US" sz="900" dirty="0"/>
          </a:p>
        </p:txBody>
      </p:sp>
      <p:sp>
        <p:nvSpPr>
          <p:cNvPr id="13" name="Text 11"/>
          <p:cNvSpPr/>
          <p:nvPr/>
        </p:nvSpPr>
        <p:spPr>
          <a:xfrm>
            <a:off x="3749040" y="2606040"/>
            <a:ext cx="2103120" cy="457200"/>
          </a:xfrm>
          <a:prstGeom prst="rect">
            <a:avLst/>
          </a:prstGeom>
          <a:noFill/>
          <a:ln/>
        </p:spPr>
        <p:txBody>
          <a:bodyPr wrap="square" lIns="635" tIns="635" rIns="635" bIns="635" rtlCol="0" anchor="ctr">
            <a:normAutofit/>
          </a:bodyPr>
          <a:lstStyle/>
          <a:p>
            <a:pPr marL="0" indent="0" algn="ctr">
              <a:buNone/>
            </a:pPr>
            <a:r>
              <a:rPr lang="en-US" sz="800" dirty="0">
                <a:solidFill>
                  <a:srgbClr val="53627A"/>
                </a:solidFill>
                <a:latin typeface="Aptos" pitchFamily="34" charset="0"/>
                <a:ea typeface="Aptos" pitchFamily="34" charset="-122"/>
                <a:cs typeface="Aptos" pitchFamily="34" charset="-120"/>
              </a:rPr>
              <a:t>patches encode local structure; attention connects patches</a:t>
            </a:r>
            <a:endParaRPr lang="en-US" sz="800" dirty="0"/>
          </a:p>
        </p:txBody>
      </p:sp>
      <p:sp>
        <p:nvSpPr>
          <p:cNvPr id="14" name="Shape 12"/>
          <p:cNvSpPr/>
          <p:nvPr/>
        </p:nvSpPr>
        <p:spPr>
          <a:xfrm>
            <a:off x="6583680" y="1920240"/>
            <a:ext cx="2103120" cy="502920"/>
          </a:xfrm>
          <a:prstGeom prst="roundRect">
            <a:avLst>
              <a:gd name="adj" fmla="val 14545"/>
            </a:avLst>
          </a:prstGeom>
          <a:solidFill>
            <a:srgbClr val="FFE7B4"/>
          </a:solidFill>
          <a:ln w="13970">
            <a:solidFill>
              <a:srgbClr val="E5A100"/>
            </a:solidFill>
            <a:prstDash val="solid"/>
          </a:ln>
        </p:spPr>
        <p:txBody>
          <a:bodyPr/>
          <a:lstStyle/>
          <a:p>
            <a:endParaRPr lang="en-GB"/>
          </a:p>
        </p:txBody>
      </p:sp>
      <p:sp>
        <p:nvSpPr>
          <p:cNvPr id="15" name="Text 13"/>
          <p:cNvSpPr/>
          <p:nvPr/>
        </p:nvSpPr>
        <p:spPr>
          <a:xfrm>
            <a:off x="6620256" y="1965960"/>
            <a:ext cx="2029968" cy="411480"/>
          </a:xfrm>
          <a:prstGeom prst="rect">
            <a:avLst/>
          </a:prstGeom>
          <a:noFill/>
          <a:ln/>
        </p:spPr>
        <p:txBody>
          <a:bodyPr wrap="square" lIns="0" tIns="0" rIns="0" bIns="0" rtlCol="0" anchor="ctr">
            <a:normAutofit/>
          </a:bodyPr>
          <a:lstStyle/>
          <a:p>
            <a:pPr marL="0" indent="0" algn="ctr">
              <a:buNone/>
            </a:pPr>
            <a:r>
              <a:rPr lang="en-US" sz="900" b="1" dirty="0">
                <a:solidFill>
                  <a:srgbClr val="122033"/>
                </a:solidFill>
                <a:latin typeface="Aptos" pitchFamily="34" charset="0"/>
                <a:ea typeface="Aptos" pitchFamily="34" charset="-122"/>
                <a:cs typeface="Aptos" pitchFamily="34" charset="-120"/>
              </a:rPr>
              <a:t>Architecture reflects constraints</a:t>
            </a:r>
            <a:endParaRPr lang="en-US" sz="900" dirty="0"/>
          </a:p>
        </p:txBody>
      </p:sp>
      <p:sp>
        <p:nvSpPr>
          <p:cNvPr id="16" name="Text 14"/>
          <p:cNvSpPr/>
          <p:nvPr/>
        </p:nvSpPr>
        <p:spPr>
          <a:xfrm>
            <a:off x="6583680" y="2606040"/>
            <a:ext cx="2103120" cy="457200"/>
          </a:xfrm>
          <a:prstGeom prst="rect">
            <a:avLst/>
          </a:prstGeom>
          <a:noFill/>
          <a:ln/>
        </p:spPr>
        <p:txBody>
          <a:bodyPr wrap="square" lIns="635" tIns="635" rIns="635" bIns="635" rtlCol="0" anchor="ctr">
            <a:normAutofit/>
          </a:bodyPr>
          <a:lstStyle/>
          <a:p>
            <a:pPr marL="0" indent="0" algn="ctr">
              <a:buNone/>
            </a:pPr>
            <a:r>
              <a:rPr lang="en-US" sz="800" dirty="0">
                <a:solidFill>
                  <a:srgbClr val="53627A"/>
                </a:solidFill>
                <a:latin typeface="Aptos" pitchFamily="34" charset="0"/>
                <a:ea typeface="Aptos" pitchFamily="34" charset="-122"/>
                <a:cs typeface="Aptos" pitchFamily="34" charset="-120"/>
              </a:rPr>
              <a:t>long physical context must fit memory and computation</a:t>
            </a:r>
            <a:endParaRPr lang="en-US" sz="800" dirty="0"/>
          </a:p>
        </p:txBody>
      </p:sp>
      <p:sp>
        <p:nvSpPr>
          <p:cNvPr id="17" name="Shape 15"/>
          <p:cNvSpPr/>
          <p:nvPr/>
        </p:nvSpPr>
        <p:spPr>
          <a:xfrm>
            <a:off x="1645920" y="3794760"/>
            <a:ext cx="6400800" cy="0"/>
          </a:xfrm>
          <a:prstGeom prst="line">
            <a:avLst/>
          </a:prstGeom>
          <a:noFill/>
          <a:ln w="13970">
            <a:solidFill>
              <a:srgbClr val="8DA0B8"/>
            </a:solidFill>
            <a:prstDash val="solid"/>
          </a:ln>
        </p:spPr>
        <p:txBody>
          <a:bodyPr/>
          <a:lstStyle/>
          <a:p>
            <a:endParaRPr lang="en-GB"/>
          </a:p>
        </p:txBody>
      </p:sp>
      <p:sp>
        <p:nvSpPr>
          <p:cNvPr id="18" name="Shape 16"/>
          <p:cNvSpPr/>
          <p:nvPr/>
        </p:nvSpPr>
        <p:spPr>
          <a:xfrm>
            <a:off x="1645920" y="3794760"/>
            <a:ext cx="6400800" cy="0"/>
          </a:xfrm>
          <a:prstGeom prst="line">
            <a:avLst/>
          </a:prstGeom>
          <a:noFill/>
          <a:ln w="15240">
            <a:solidFill>
              <a:srgbClr val="8DA0B8"/>
            </a:solidFill>
            <a:prstDash val="solid"/>
            <a:headEnd type="none"/>
            <a:tailEnd type="triangle"/>
          </a:ln>
        </p:spPr>
        <p:txBody>
          <a:bodyPr/>
          <a:lstStyle/>
          <a:p>
            <a:endParaRPr lang="en-GB"/>
          </a:p>
        </p:txBody>
      </p:sp>
      <p:sp>
        <p:nvSpPr>
          <p:cNvPr id="19" name="Shape 17"/>
          <p:cNvSpPr/>
          <p:nvPr/>
        </p:nvSpPr>
        <p:spPr>
          <a:xfrm>
            <a:off x="1143000" y="4160520"/>
            <a:ext cx="1005840" cy="347472"/>
          </a:xfrm>
          <a:prstGeom prst="roundRect">
            <a:avLst>
              <a:gd name="adj" fmla="val 21053"/>
            </a:avLst>
          </a:prstGeom>
          <a:solidFill>
            <a:srgbClr val="F3F6F9"/>
          </a:solidFill>
          <a:ln w="13970">
            <a:solidFill>
              <a:srgbClr val="8DA0B8"/>
            </a:solidFill>
            <a:prstDash val="solid"/>
          </a:ln>
        </p:spPr>
        <p:txBody>
          <a:bodyPr/>
          <a:lstStyle/>
          <a:p>
            <a:endParaRPr lang="en-GB"/>
          </a:p>
        </p:txBody>
      </p:sp>
      <p:sp>
        <p:nvSpPr>
          <p:cNvPr id="20" name="Text 18"/>
          <p:cNvSpPr/>
          <p:nvPr/>
        </p:nvSpPr>
        <p:spPr>
          <a:xfrm>
            <a:off x="1179576" y="4206240"/>
            <a:ext cx="932688" cy="256032"/>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raw sample</a:t>
            </a:r>
            <a:endParaRPr lang="en-US" sz="720" dirty="0"/>
          </a:p>
        </p:txBody>
      </p:sp>
      <p:sp>
        <p:nvSpPr>
          <p:cNvPr id="21" name="Shape 19"/>
          <p:cNvSpPr/>
          <p:nvPr/>
        </p:nvSpPr>
        <p:spPr>
          <a:xfrm>
            <a:off x="3931920" y="4160520"/>
            <a:ext cx="1005840" cy="347472"/>
          </a:xfrm>
          <a:prstGeom prst="roundRect">
            <a:avLst>
              <a:gd name="adj" fmla="val 21053"/>
            </a:avLst>
          </a:prstGeom>
          <a:solidFill>
            <a:srgbClr val="FFE7B4"/>
          </a:solidFill>
          <a:ln w="13970">
            <a:solidFill>
              <a:srgbClr val="E5A100"/>
            </a:solidFill>
            <a:prstDash val="solid"/>
          </a:ln>
        </p:spPr>
        <p:txBody>
          <a:bodyPr/>
          <a:lstStyle/>
          <a:p>
            <a:endParaRPr lang="en-GB"/>
          </a:p>
        </p:txBody>
      </p:sp>
      <p:sp>
        <p:nvSpPr>
          <p:cNvPr id="22" name="Text 20"/>
          <p:cNvSpPr/>
          <p:nvPr/>
        </p:nvSpPr>
        <p:spPr>
          <a:xfrm>
            <a:off x="3968496" y="4206240"/>
            <a:ext cx="932688" cy="256032"/>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patch token</a:t>
            </a:r>
            <a:endParaRPr lang="en-US" sz="720" dirty="0"/>
          </a:p>
        </p:txBody>
      </p:sp>
      <p:sp>
        <p:nvSpPr>
          <p:cNvPr id="23" name="Shape 21"/>
          <p:cNvSpPr/>
          <p:nvPr/>
        </p:nvSpPr>
        <p:spPr>
          <a:xfrm>
            <a:off x="6629400" y="4160520"/>
            <a:ext cx="1188720" cy="347472"/>
          </a:xfrm>
          <a:prstGeom prst="roundRect">
            <a:avLst>
              <a:gd name="adj" fmla="val 21053"/>
            </a:avLst>
          </a:prstGeom>
          <a:solidFill>
            <a:srgbClr val="E3D4FF"/>
          </a:solidFill>
          <a:ln w="13970">
            <a:solidFill>
              <a:srgbClr val="895DE8"/>
            </a:solidFill>
            <a:prstDash val="solid"/>
          </a:ln>
        </p:spPr>
        <p:txBody>
          <a:bodyPr/>
          <a:lstStyle/>
          <a:p>
            <a:endParaRPr lang="en-GB"/>
          </a:p>
        </p:txBody>
      </p:sp>
      <p:sp>
        <p:nvSpPr>
          <p:cNvPr id="24" name="Text 22"/>
          <p:cNvSpPr/>
          <p:nvPr/>
        </p:nvSpPr>
        <p:spPr>
          <a:xfrm>
            <a:off x="6665976" y="4206240"/>
            <a:ext cx="1115568" cy="256032"/>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patch sequence</a:t>
            </a:r>
            <a:endParaRPr lang="en-US" sz="72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5AAF4B-B9C6-D329-99E1-5804670DB457}"/>
              </a:ext>
            </a:extLst>
          </p:cNvPr>
          <p:cNvSpPr>
            <a:spLocks noGrp="1"/>
          </p:cNvSpPr>
          <p:nvPr>
            <p:ph type="title"/>
          </p:nvPr>
        </p:nvSpPr>
        <p:spPr/>
        <p:txBody>
          <a:bodyPr/>
          <a:lstStyle/>
          <a:p>
            <a:r>
              <a:rPr lang="en-GB" dirty="0"/>
              <a:t>Block 6.J — A Map of Selected Modern Temporal Architectures</a:t>
            </a:r>
          </a:p>
        </p:txBody>
      </p:sp>
      <p:sp>
        <p:nvSpPr>
          <p:cNvPr id="3" name="Segnaposto contenuto 2">
            <a:extLst>
              <a:ext uri="{FF2B5EF4-FFF2-40B4-BE49-F238E27FC236}">
                <a16:creationId xmlns:a16="http://schemas.microsoft.com/office/drawing/2014/main" id="{6D69D4A7-447A-5635-7808-D1E9FE2F350A}"/>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5804307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FDA47F-6ECE-7FA7-2B89-A1D61BF06AD2}"/>
              </a:ext>
            </a:extLst>
          </p:cNvPr>
          <p:cNvSpPr>
            <a:spLocks noGrp="1"/>
          </p:cNvSpPr>
          <p:nvPr>
            <p:ph type="title"/>
          </p:nvPr>
        </p:nvSpPr>
        <p:spPr/>
        <p:txBody>
          <a:bodyPr/>
          <a:lstStyle/>
          <a:p>
            <a:r>
              <a:rPr lang="en-GB" dirty="0"/>
              <a:t>Modern time-series modelling is not one architectural family</a:t>
            </a:r>
          </a:p>
        </p:txBody>
      </p:sp>
      <p:sp>
        <p:nvSpPr>
          <p:cNvPr id="3" name="Segnaposto contenuto 2">
            <a:extLst>
              <a:ext uri="{FF2B5EF4-FFF2-40B4-BE49-F238E27FC236}">
                <a16:creationId xmlns:a16="http://schemas.microsoft.com/office/drawing/2014/main" id="{E3AD9DEB-E405-2B79-01A3-37FE0BD922F4}"/>
              </a:ext>
            </a:extLst>
          </p:cNvPr>
          <p:cNvSpPr>
            <a:spLocks noGrp="1"/>
          </p:cNvSpPr>
          <p:nvPr>
            <p:ph sz="half" idx="1"/>
          </p:nvPr>
        </p:nvSpPr>
        <p:spPr>
          <a:xfrm>
            <a:off x="677334" y="2160588"/>
            <a:ext cx="4885266" cy="4297361"/>
          </a:xfrm>
        </p:spPr>
        <p:txBody>
          <a:bodyPr>
            <a:normAutofit fontScale="85000" lnSpcReduction="20000"/>
          </a:bodyPr>
          <a:lstStyle/>
          <a:p>
            <a:r>
              <a:rPr lang="en-GB" dirty="0"/>
              <a:t>Recent time-series models use very different mechanisms.</a:t>
            </a:r>
          </a:p>
          <a:p>
            <a:r>
              <a:rPr lang="en-GB" dirty="0"/>
              <a:t>Examples include:</a:t>
            </a:r>
          </a:p>
          <a:p>
            <a:pPr lvl="1"/>
            <a:r>
              <a:rPr lang="en-GB" dirty="0"/>
              <a:t>feed-forward forecasting; </a:t>
            </a:r>
          </a:p>
          <a:p>
            <a:pPr lvl="1"/>
            <a:r>
              <a:rPr lang="en-GB" dirty="0"/>
              <a:t>multiscale convolution; </a:t>
            </a:r>
          </a:p>
          <a:p>
            <a:pPr lvl="1"/>
            <a:r>
              <a:rPr lang="en-GB" dirty="0"/>
              <a:t>random convolutional features; </a:t>
            </a:r>
          </a:p>
          <a:p>
            <a:pPr lvl="1"/>
            <a:r>
              <a:rPr lang="en-GB" dirty="0"/>
              <a:t>recurrent networks; </a:t>
            </a:r>
          </a:p>
          <a:p>
            <a:pPr lvl="1"/>
            <a:r>
              <a:rPr lang="en-GB" dirty="0"/>
              <a:t>dilated temporal CNNs; </a:t>
            </a:r>
          </a:p>
          <a:p>
            <a:pPr lvl="1"/>
            <a:r>
              <a:rPr lang="en-GB" dirty="0"/>
              <a:t>patched Transformers; </a:t>
            </a:r>
          </a:p>
          <a:p>
            <a:pPr lvl="1"/>
            <a:r>
              <a:rPr lang="en-GB" dirty="0"/>
              <a:t>pretrained forecasting models. </a:t>
            </a:r>
          </a:p>
          <a:p>
            <a:r>
              <a:rPr lang="en-GB" dirty="0"/>
              <a:t>Rather than memorizing model names, it is more useful to ask:</a:t>
            </a:r>
          </a:p>
          <a:p>
            <a:r>
              <a:rPr lang="en-GB" b="1" dirty="0"/>
              <a:t>What representation mechanism does each model use?</a:t>
            </a:r>
          </a:p>
          <a:p>
            <a:endParaRPr lang="en-GB" dirty="0"/>
          </a:p>
        </p:txBody>
      </p:sp>
      <p:sp>
        <p:nvSpPr>
          <p:cNvPr id="4" name="Segnaposto contenuto 3">
            <a:extLst>
              <a:ext uri="{FF2B5EF4-FFF2-40B4-BE49-F238E27FC236}">
                <a16:creationId xmlns:a16="http://schemas.microsoft.com/office/drawing/2014/main" id="{EAB6A040-5D91-35C1-8FB8-60075B58FE79}"/>
              </a:ext>
            </a:extLst>
          </p:cNvPr>
          <p:cNvSpPr>
            <a:spLocks noGrp="1"/>
          </p:cNvSpPr>
          <p:nvPr>
            <p:ph sz="half" idx="2"/>
          </p:nvPr>
        </p:nvSpPr>
        <p:spPr>
          <a:xfrm>
            <a:off x="5819775" y="2160588"/>
            <a:ext cx="6057899" cy="4545011"/>
          </a:xfrm>
        </p:spPr>
        <p:txBody>
          <a:bodyPr>
            <a:normAutofit fontScale="85000" lnSpcReduction="20000"/>
          </a:bodyPr>
          <a:lstStyle/>
          <a:p>
            <a:r>
              <a:rPr lang="en-GB" b="1" dirty="0"/>
              <a:t>A useful map</a:t>
            </a:r>
          </a:p>
          <a:p>
            <a:pPr lvl="1"/>
            <a:r>
              <a:rPr lang="en-GB" dirty="0"/>
              <a:t>manual features</a:t>
            </a:r>
          </a:p>
          <a:p>
            <a:pPr lvl="1"/>
            <a:r>
              <a:rPr lang="en-GB" dirty="0"/>
              <a:t>      ↓</a:t>
            </a:r>
          </a:p>
          <a:p>
            <a:pPr lvl="1"/>
            <a:r>
              <a:rPr lang="en-GB" dirty="0"/>
              <a:t>random / fixed temporal transforms</a:t>
            </a:r>
          </a:p>
          <a:p>
            <a:pPr lvl="1"/>
            <a:r>
              <a:rPr lang="en-GB" dirty="0"/>
              <a:t>      ↓</a:t>
            </a:r>
          </a:p>
          <a:p>
            <a:pPr lvl="1"/>
            <a:r>
              <a:rPr lang="en-GB" dirty="0"/>
              <a:t>learned convolution</a:t>
            </a:r>
          </a:p>
          <a:p>
            <a:pPr lvl="1"/>
            <a:r>
              <a:rPr lang="en-GB" dirty="0"/>
              <a:t>      ↓</a:t>
            </a:r>
          </a:p>
          <a:p>
            <a:pPr lvl="1"/>
            <a:r>
              <a:rPr lang="en-GB" dirty="0"/>
              <a:t>recurrent state</a:t>
            </a:r>
          </a:p>
          <a:p>
            <a:pPr lvl="1"/>
            <a:r>
              <a:rPr lang="en-GB" dirty="0"/>
              <a:t>      ↓</a:t>
            </a:r>
          </a:p>
          <a:p>
            <a:pPr lvl="1"/>
            <a:r>
              <a:rPr lang="en-GB" dirty="0"/>
              <a:t>attention</a:t>
            </a:r>
          </a:p>
          <a:p>
            <a:pPr lvl="1"/>
            <a:r>
              <a:rPr lang="en-GB" dirty="0"/>
              <a:t>      ↓</a:t>
            </a:r>
          </a:p>
          <a:p>
            <a:pPr lvl="1"/>
            <a:r>
              <a:rPr lang="en-GB" dirty="0"/>
              <a:t>large-scale pretraining</a:t>
            </a:r>
          </a:p>
          <a:p>
            <a:r>
              <a:rPr lang="en-GB" dirty="0"/>
              <a:t>These approaches are not necessarily historical replacements for one another.</a:t>
            </a:r>
          </a:p>
          <a:p>
            <a:r>
              <a:rPr lang="en-GB" dirty="0"/>
              <a:t>Strong representatives from several families are still competitive.</a:t>
            </a:r>
          </a:p>
          <a:p>
            <a:endParaRPr lang="en-GB" dirty="0"/>
          </a:p>
        </p:txBody>
      </p:sp>
    </p:spTree>
    <p:extLst>
      <p:ext uri="{BB962C8B-B14F-4D97-AF65-F5344CB8AC3E}">
        <p14:creationId xmlns:p14="http://schemas.microsoft.com/office/powerpoint/2010/main" val="23700263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A map of representative modern temporal approaches</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Organize models by representation mechanism, not by model-name catalogue.</a:t>
            </a:r>
            <a:endParaRPr lang="en-US" sz="850" dirty="0"/>
          </a:p>
        </p:txBody>
      </p:sp>
      <p:sp>
        <p:nvSpPr>
          <p:cNvPr id="8" name="Shape 6"/>
          <p:cNvSpPr/>
          <p:nvPr/>
        </p:nvSpPr>
        <p:spPr>
          <a:xfrm>
            <a:off x="685800" y="2377440"/>
            <a:ext cx="1143000" cy="594360"/>
          </a:xfrm>
          <a:prstGeom prst="roundRect">
            <a:avLst>
              <a:gd name="adj" fmla="val 12308"/>
            </a:avLst>
          </a:prstGeom>
          <a:solidFill>
            <a:srgbClr val="F3F6F9"/>
          </a:solidFill>
          <a:ln w="13970">
            <a:solidFill>
              <a:srgbClr val="8DA0B8"/>
            </a:solidFill>
            <a:prstDash val="solid"/>
          </a:ln>
        </p:spPr>
        <p:txBody>
          <a:bodyPr/>
          <a:lstStyle/>
          <a:p>
            <a:endParaRPr lang="en-GB"/>
          </a:p>
        </p:txBody>
      </p:sp>
      <p:sp>
        <p:nvSpPr>
          <p:cNvPr id="9" name="Text 7"/>
          <p:cNvSpPr/>
          <p:nvPr/>
        </p:nvSpPr>
        <p:spPr>
          <a:xfrm>
            <a:off x="722376" y="2423160"/>
            <a:ext cx="1069848" cy="50292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manual</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features</a:t>
            </a:r>
            <a:endParaRPr lang="en-US" sz="700" dirty="0"/>
          </a:p>
        </p:txBody>
      </p:sp>
      <p:sp>
        <p:nvSpPr>
          <p:cNvPr id="10" name="Shape 8"/>
          <p:cNvSpPr/>
          <p:nvPr/>
        </p:nvSpPr>
        <p:spPr>
          <a:xfrm>
            <a:off x="1847088" y="2679192"/>
            <a:ext cx="256032" cy="0"/>
          </a:xfrm>
          <a:prstGeom prst="line">
            <a:avLst/>
          </a:prstGeom>
          <a:noFill/>
          <a:ln w="12700">
            <a:solidFill>
              <a:srgbClr val="8DA0B8"/>
            </a:solidFill>
            <a:prstDash val="solid"/>
            <a:headEnd type="none"/>
            <a:tailEnd type="triangle"/>
          </a:ln>
        </p:spPr>
        <p:txBody>
          <a:bodyPr/>
          <a:lstStyle/>
          <a:p>
            <a:endParaRPr lang="en-GB"/>
          </a:p>
        </p:txBody>
      </p:sp>
      <p:sp>
        <p:nvSpPr>
          <p:cNvPr id="11" name="Shape 9"/>
          <p:cNvSpPr/>
          <p:nvPr/>
        </p:nvSpPr>
        <p:spPr>
          <a:xfrm>
            <a:off x="2194560" y="2377440"/>
            <a:ext cx="1143000" cy="594360"/>
          </a:xfrm>
          <a:prstGeom prst="roundRect">
            <a:avLst>
              <a:gd name="adj" fmla="val 12308"/>
            </a:avLst>
          </a:prstGeom>
          <a:solidFill>
            <a:srgbClr val="FFE7B4"/>
          </a:solidFill>
          <a:ln w="13970">
            <a:solidFill>
              <a:srgbClr val="E5A100"/>
            </a:solidFill>
            <a:prstDash val="solid"/>
          </a:ln>
        </p:spPr>
        <p:txBody>
          <a:bodyPr/>
          <a:lstStyle/>
          <a:p>
            <a:endParaRPr lang="en-GB"/>
          </a:p>
        </p:txBody>
      </p:sp>
      <p:sp>
        <p:nvSpPr>
          <p:cNvPr id="12" name="Text 10"/>
          <p:cNvSpPr/>
          <p:nvPr/>
        </p:nvSpPr>
        <p:spPr>
          <a:xfrm>
            <a:off x="2231136" y="2423160"/>
            <a:ext cx="1069848" cy="50292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random / fixed</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temporal transforms</a:t>
            </a:r>
            <a:endParaRPr lang="en-US" sz="700" dirty="0"/>
          </a:p>
        </p:txBody>
      </p:sp>
      <p:sp>
        <p:nvSpPr>
          <p:cNvPr id="13" name="Shape 11"/>
          <p:cNvSpPr/>
          <p:nvPr/>
        </p:nvSpPr>
        <p:spPr>
          <a:xfrm>
            <a:off x="3355848" y="2679192"/>
            <a:ext cx="256032" cy="0"/>
          </a:xfrm>
          <a:prstGeom prst="line">
            <a:avLst/>
          </a:prstGeom>
          <a:noFill/>
          <a:ln w="12700">
            <a:solidFill>
              <a:srgbClr val="8DA0B8"/>
            </a:solidFill>
            <a:prstDash val="solid"/>
            <a:headEnd type="none"/>
            <a:tailEnd type="triangle"/>
          </a:ln>
        </p:spPr>
        <p:txBody>
          <a:bodyPr/>
          <a:lstStyle/>
          <a:p>
            <a:endParaRPr lang="en-GB"/>
          </a:p>
        </p:txBody>
      </p:sp>
      <p:sp>
        <p:nvSpPr>
          <p:cNvPr id="14" name="Shape 12"/>
          <p:cNvSpPr/>
          <p:nvPr/>
        </p:nvSpPr>
        <p:spPr>
          <a:xfrm>
            <a:off x="3703320" y="2377440"/>
            <a:ext cx="1143000" cy="594360"/>
          </a:xfrm>
          <a:prstGeom prst="roundRect">
            <a:avLst>
              <a:gd name="adj" fmla="val 12308"/>
            </a:avLst>
          </a:prstGeom>
          <a:solidFill>
            <a:srgbClr val="E9F6D7"/>
          </a:solidFill>
          <a:ln w="13970">
            <a:solidFill>
              <a:srgbClr val="86B817"/>
            </a:solidFill>
            <a:prstDash val="solid"/>
          </a:ln>
        </p:spPr>
        <p:txBody>
          <a:bodyPr/>
          <a:lstStyle/>
          <a:p>
            <a:endParaRPr lang="en-GB"/>
          </a:p>
        </p:txBody>
      </p:sp>
      <p:sp>
        <p:nvSpPr>
          <p:cNvPr id="15" name="Text 13"/>
          <p:cNvSpPr/>
          <p:nvPr/>
        </p:nvSpPr>
        <p:spPr>
          <a:xfrm>
            <a:off x="3739896" y="2423160"/>
            <a:ext cx="1069848" cy="50292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learned</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convolution</a:t>
            </a:r>
            <a:endParaRPr lang="en-US" sz="700" dirty="0"/>
          </a:p>
        </p:txBody>
      </p:sp>
      <p:sp>
        <p:nvSpPr>
          <p:cNvPr id="16" name="Shape 14"/>
          <p:cNvSpPr/>
          <p:nvPr/>
        </p:nvSpPr>
        <p:spPr>
          <a:xfrm>
            <a:off x="4864608" y="2679192"/>
            <a:ext cx="256032" cy="0"/>
          </a:xfrm>
          <a:prstGeom prst="line">
            <a:avLst/>
          </a:prstGeom>
          <a:noFill/>
          <a:ln w="12700">
            <a:solidFill>
              <a:srgbClr val="8DA0B8"/>
            </a:solidFill>
            <a:prstDash val="solid"/>
            <a:headEnd type="none"/>
            <a:tailEnd type="triangle"/>
          </a:ln>
        </p:spPr>
        <p:txBody>
          <a:bodyPr/>
          <a:lstStyle/>
          <a:p>
            <a:endParaRPr lang="en-GB"/>
          </a:p>
        </p:txBody>
      </p:sp>
      <p:sp>
        <p:nvSpPr>
          <p:cNvPr id="17" name="Shape 15"/>
          <p:cNvSpPr/>
          <p:nvPr/>
        </p:nvSpPr>
        <p:spPr>
          <a:xfrm>
            <a:off x="5212080" y="2377440"/>
            <a:ext cx="1143000" cy="594360"/>
          </a:xfrm>
          <a:prstGeom prst="roundRect">
            <a:avLst>
              <a:gd name="adj" fmla="val 12308"/>
            </a:avLst>
          </a:prstGeom>
          <a:solidFill>
            <a:srgbClr val="BFD7FF"/>
          </a:solidFill>
          <a:ln w="13970">
            <a:solidFill>
              <a:srgbClr val="3C7BE8"/>
            </a:solidFill>
            <a:prstDash val="solid"/>
          </a:ln>
        </p:spPr>
        <p:txBody>
          <a:bodyPr/>
          <a:lstStyle/>
          <a:p>
            <a:endParaRPr lang="en-GB"/>
          </a:p>
        </p:txBody>
      </p:sp>
      <p:sp>
        <p:nvSpPr>
          <p:cNvPr id="18" name="Text 16"/>
          <p:cNvSpPr/>
          <p:nvPr/>
        </p:nvSpPr>
        <p:spPr>
          <a:xfrm>
            <a:off x="5248656" y="2423160"/>
            <a:ext cx="1069848" cy="50292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recurrent</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state</a:t>
            </a:r>
            <a:endParaRPr lang="en-US" sz="700" dirty="0"/>
          </a:p>
        </p:txBody>
      </p:sp>
      <p:sp>
        <p:nvSpPr>
          <p:cNvPr id="19" name="Shape 17"/>
          <p:cNvSpPr/>
          <p:nvPr/>
        </p:nvSpPr>
        <p:spPr>
          <a:xfrm>
            <a:off x="6373368" y="2679192"/>
            <a:ext cx="256032" cy="0"/>
          </a:xfrm>
          <a:prstGeom prst="line">
            <a:avLst/>
          </a:prstGeom>
          <a:noFill/>
          <a:ln w="12700">
            <a:solidFill>
              <a:srgbClr val="8DA0B8"/>
            </a:solidFill>
            <a:prstDash val="solid"/>
            <a:headEnd type="none"/>
            <a:tailEnd type="triangle"/>
          </a:ln>
        </p:spPr>
        <p:txBody>
          <a:bodyPr/>
          <a:lstStyle/>
          <a:p>
            <a:endParaRPr lang="en-GB"/>
          </a:p>
        </p:txBody>
      </p:sp>
      <p:sp>
        <p:nvSpPr>
          <p:cNvPr id="20" name="Shape 18"/>
          <p:cNvSpPr/>
          <p:nvPr/>
        </p:nvSpPr>
        <p:spPr>
          <a:xfrm>
            <a:off x="6720840" y="2377440"/>
            <a:ext cx="1143000" cy="594360"/>
          </a:xfrm>
          <a:prstGeom prst="roundRect">
            <a:avLst>
              <a:gd name="adj" fmla="val 12308"/>
            </a:avLst>
          </a:prstGeom>
          <a:solidFill>
            <a:srgbClr val="E3D4FF"/>
          </a:solidFill>
          <a:ln w="13970">
            <a:solidFill>
              <a:srgbClr val="895DE8"/>
            </a:solidFill>
            <a:prstDash val="solid"/>
          </a:ln>
        </p:spPr>
        <p:txBody>
          <a:bodyPr/>
          <a:lstStyle/>
          <a:p>
            <a:endParaRPr lang="en-GB"/>
          </a:p>
        </p:txBody>
      </p:sp>
      <p:sp>
        <p:nvSpPr>
          <p:cNvPr id="21" name="Text 19"/>
          <p:cNvSpPr/>
          <p:nvPr/>
        </p:nvSpPr>
        <p:spPr>
          <a:xfrm>
            <a:off x="6757416" y="2423160"/>
            <a:ext cx="1069848" cy="50292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attention</a:t>
            </a:r>
            <a:endParaRPr lang="en-US" sz="700" dirty="0"/>
          </a:p>
        </p:txBody>
      </p:sp>
      <p:sp>
        <p:nvSpPr>
          <p:cNvPr id="22" name="Shape 20"/>
          <p:cNvSpPr/>
          <p:nvPr/>
        </p:nvSpPr>
        <p:spPr>
          <a:xfrm>
            <a:off x="7882128" y="2679192"/>
            <a:ext cx="256032" cy="0"/>
          </a:xfrm>
          <a:prstGeom prst="line">
            <a:avLst/>
          </a:prstGeom>
          <a:noFill/>
          <a:ln w="12700">
            <a:solidFill>
              <a:srgbClr val="8DA0B8"/>
            </a:solidFill>
            <a:prstDash val="solid"/>
            <a:headEnd type="none"/>
            <a:tailEnd type="triangle"/>
          </a:ln>
        </p:spPr>
        <p:txBody>
          <a:bodyPr/>
          <a:lstStyle/>
          <a:p>
            <a:endParaRPr lang="en-GB"/>
          </a:p>
        </p:txBody>
      </p:sp>
      <p:sp>
        <p:nvSpPr>
          <p:cNvPr id="23" name="Shape 21"/>
          <p:cNvSpPr/>
          <p:nvPr/>
        </p:nvSpPr>
        <p:spPr>
          <a:xfrm>
            <a:off x="8229600" y="2377440"/>
            <a:ext cx="1143000" cy="594360"/>
          </a:xfrm>
          <a:prstGeom prst="roundRect">
            <a:avLst>
              <a:gd name="adj" fmla="val 12308"/>
            </a:avLst>
          </a:prstGeom>
          <a:solidFill>
            <a:srgbClr val="FFD6E0"/>
          </a:solidFill>
          <a:ln w="13970">
            <a:solidFill>
              <a:srgbClr val="EE6A7C"/>
            </a:solidFill>
            <a:prstDash val="solid"/>
          </a:ln>
        </p:spPr>
        <p:txBody>
          <a:bodyPr/>
          <a:lstStyle/>
          <a:p>
            <a:endParaRPr lang="en-GB"/>
          </a:p>
        </p:txBody>
      </p:sp>
      <p:sp>
        <p:nvSpPr>
          <p:cNvPr id="24" name="Text 22"/>
          <p:cNvSpPr/>
          <p:nvPr/>
        </p:nvSpPr>
        <p:spPr>
          <a:xfrm>
            <a:off x="8266176" y="2423160"/>
            <a:ext cx="1069848" cy="502920"/>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large-scale</a:t>
            </a:r>
            <a:endParaRPr lang="en-US" sz="700" dirty="0"/>
          </a:p>
          <a:p>
            <a:pPr marL="0" indent="0" algn="ctr">
              <a:buNone/>
            </a:pPr>
            <a:r>
              <a:rPr lang="en-US" sz="700" b="1" dirty="0">
                <a:solidFill>
                  <a:srgbClr val="122033"/>
                </a:solidFill>
                <a:latin typeface="Aptos" pitchFamily="34" charset="0"/>
                <a:ea typeface="Aptos" pitchFamily="34" charset="-122"/>
                <a:cs typeface="Aptos" pitchFamily="34" charset="-120"/>
              </a:rPr>
              <a:t>pretraining</a:t>
            </a:r>
            <a:endParaRPr lang="en-US" sz="700" dirty="0"/>
          </a:p>
        </p:txBody>
      </p:sp>
      <p:sp>
        <p:nvSpPr>
          <p:cNvPr id="25" name="Text 23"/>
          <p:cNvSpPr/>
          <p:nvPr/>
        </p:nvSpPr>
        <p:spPr>
          <a:xfrm>
            <a:off x="548640" y="3246120"/>
            <a:ext cx="1417320" cy="384048"/>
          </a:xfrm>
          <a:prstGeom prst="rect">
            <a:avLst/>
          </a:prstGeom>
          <a:noFill/>
          <a:ln/>
        </p:spPr>
        <p:txBody>
          <a:bodyPr wrap="square" lIns="635" tIns="635" rIns="635" bIns="635" rtlCol="0" anchor="ctr">
            <a:normAutofit/>
          </a:bodyPr>
          <a:lstStyle/>
          <a:p>
            <a:pPr marL="0" indent="0" algn="ctr">
              <a:buNone/>
            </a:pPr>
            <a:r>
              <a:rPr lang="en-US" sz="670" dirty="0">
                <a:solidFill>
                  <a:srgbClr val="53627A"/>
                </a:solidFill>
                <a:latin typeface="Aptos" pitchFamily="34" charset="0"/>
                <a:ea typeface="Aptos" pitchFamily="34" charset="-122"/>
                <a:cs typeface="Aptos" pitchFamily="34" charset="-120"/>
              </a:rPr>
              <a:t>Feature ML</a:t>
            </a:r>
            <a:endParaRPr lang="en-US" sz="670" dirty="0"/>
          </a:p>
        </p:txBody>
      </p:sp>
      <p:sp>
        <p:nvSpPr>
          <p:cNvPr id="26" name="Text 24"/>
          <p:cNvSpPr/>
          <p:nvPr/>
        </p:nvSpPr>
        <p:spPr>
          <a:xfrm>
            <a:off x="2057400" y="3246120"/>
            <a:ext cx="1417320" cy="384048"/>
          </a:xfrm>
          <a:prstGeom prst="rect">
            <a:avLst/>
          </a:prstGeom>
          <a:noFill/>
          <a:ln/>
        </p:spPr>
        <p:txBody>
          <a:bodyPr wrap="square" lIns="635" tIns="635" rIns="635" bIns="635" rtlCol="0" anchor="ctr">
            <a:normAutofit/>
          </a:bodyPr>
          <a:lstStyle/>
          <a:p>
            <a:pPr marL="0" indent="0" algn="ctr">
              <a:buNone/>
            </a:pPr>
            <a:r>
              <a:rPr lang="en-US" sz="670" dirty="0">
                <a:solidFill>
                  <a:srgbClr val="53627A"/>
                </a:solidFill>
                <a:latin typeface="Aptos" pitchFamily="34" charset="0"/>
                <a:ea typeface="Aptos" pitchFamily="34" charset="-122"/>
                <a:cs typeface="Aptos" pitchFamily="34" charset="-120"/>
              </a:rPr>
              <a:t>MiniROCKET</a:t>
            </a:r>
            <a:endParaRPr lang="en-US" sz="670" dirty="0"/>
          </a:p>
        </p:txBody>
      </p:sp>
      <p:sp>
        <p:nvSpPr>
          <p:cNvPr id="27" name="Text 25"/>
          <p:cNvSpPr/>
          <p:nvPr/>
        </p:nvSpPr>
        <p:spPr>
          <a:xfrm>
            <a:off x="3566160" y="3246120"/>
            <a:ext cx="1417320" cy="384048"/>
          </a:xfrm>
          <a:prstGeom prst="rect">
            <a:avLst/>
          </a:prstGeom>
          <a:noFill/>
          <a:ln/>
        </p:spPr>
        <p:txBody>
          <a:bodyPr wrap="square" lIns="635" tIns="635" rIns="635" bIns="635" rtlCol="0" anchor="ctr">
            <a:normAutofit/>
          </a:bodyPr>
          <a:lstStyle/>
          <a:p>
            <a:pPr marL="0" indent="0" algn="ctr">
              <a:buNone/>
            </a:pPr>
            <a:r>
              <a:rPr lang="en-US" sz="670" dirty="0">
                <a:solidFill>
                  <a:srgbClr val="53627A"/>
                </a:solidFill>
                <a:latin typeface="Aptos" pitchFamily="34" charset="0"/>
                <a:ea typeface="Aptos" pitchFamily="34" charset="-122"/>
                <a:cs typeface="Aptos" pitchFamily="34" charset="-120"/>
              </a:rPr>
              <a:t>InceptionTime / TCN</a:t>
            </a:r>
            <a:endParaRPr lang="en-US" sz="670" dirty="0"/>
          </a:p>
        </p:txBody>
      </p:sp>
      <p:sp>
        <p:nvSpPr>
          <p:cNvPr id="28" name="Text 26"/>
          <p:cNvSpPr/>
          <p:nvPr/>
        </p:nvSpPr>
        <p:spPr>
          <a:xfrm>
            <a:off x="5074920" y="3246120"/>
            <a:ext cx="1417320" cy="384048"/>
          </a:xfrm>
          <a:prstGeom prst="rect">
            <a:avLst/>
          </a:prstGeom>
          <a:noFill/>
          <a:ln/>
        </p:spPr>
        <p:txBody>
          <a:bodyPr wrap="square" lIns="635" tIns="635" rIns="635" bIns="635" rtlCol="0" anchor="ctr">
            <a:normAutofit/>
          </a:bodyPr>
          <a:lstStyle/>
          <a:p>
            <a:pPr marL="0" indent="0" algn="ctr">
              <a:buNone/>
            </a:pPr>
            <a:r>
              <a:rPr lang="en-US" sz="670" dirty="0">
                <a:solidFill>
                  <a:srgbClr val="53627A"/>
                </a:solidFill>
                <a:latin typeface="Aptos" pitchFamily="34" charset="0"/>
                <a:ea typeface="Aptos" pitchFamily="34" charset="-122"/>
                <a:cs typeface="Aptos" pitchFamily="34" charset="-120"/>
              </a:rPr>
              <a:t>GRU / LSTM</a:t>
            </a:r>
            <a:endParaRPr lang="en-US" sz="670" dirty="0"/>
          </a:p>
        </p:txBody>
      </p:sp>
      <p:sp>
        <p:nvSpPr>
          <p:cNvPr id="29" name="Text 27"/>
          <p:cNvSpPr/>
          <p:nvPr/>
        </p:nvSpPr>
        <p:spPr>
          <a:xfrm>
            <a:off x="6583680" y="3246120"/>
            <a:ext cx="1417320" cy="384048"/>
          </a:xfrm>
          <a:prstGeom prst="rect">
            <a:avLst/>
          </a:prstGeom>
          <a:noFill/>
          <a:ln/>
        </p:spPr>
        <p:txBody>
          <a:bodyPr wrap="square" lIns="635" tIns="635" rIns="635" bIns="635" rtlCol="0" anchor="ctr">
            <a:normAutofit/>
          </a:bodyPr>
          <a:lstStyle/>
          <a:p>
            <a:pPr marL="0" indent="0" algn="ctr">
              <a:buNone/>
            </a:pPr>
            <a:r>
              <a:rPr lang="en-US" sz="670" dirty="0">
                <a:solidFill>
                  <a:srgbClr val="53627A"/>
                </a:solidFill>
                <a:latin typeface="Aptos" pitchFamily="34" charset="0"/>
                <a:ea typeface="Aptos" pitchFamily="34" charset="-122"/>
                <a:cs typeface="Aptos" pitchFamily="34" charset="-120"/>
              </a:rPr>
              <a:t>PatchTST</a:t>
            </a:r>
            <a:endParaRPr lang="en-US" sz="670" dirty="0"/>
          </a:p>
        </p:txBody>
      </p:sp>
      <p:sp>
        <p:nvSpPr>
          <p:cNvPr id="30" name="Text 28"/>
          <p:cNvSpPr/>
          <p:nvPr/>
        </p:nvSpPr>
        <p:spPr>
          <a:xfrm>
            <a:off x="8092440" y="3246120"/>
            <a:ext cx="1417320" cy="384048"/>
          </a:xfrm>
          <a:prstGeom prst="rect">
            <a:avLst/>
          </a:prstGeom>
          <a:noFill/>
          <a:ln/>
        </p:spPr>
        <p:txBody>
          <a:bodyPr wrap="square" lIns="635" tIns="635" rIns="635" bIns="635" rtlCol="0" anchor="ctr">
            <a:normAutofit/>
          </a:bodyPr>
          <a:lstStyle/>
          <a:p>
            <a:pPr marL="0" indent="0" algn="ctr">
              <a:buNone/>
            </a:pPr>
            <a:r>
              <a:rPr lang="en-US" sz="670" dirty="0">
                <a:solidFill>
                  <a:srgbClr val="53627A"/>
                </a:solidFill>
                <a:latin typeface="Aptos" pitchFamily="34" charset="0"/>
                <a:ea typeface="Aptos" pitchFamily="34" charset="-122"/>
                <a:cs typeface="Aptos" pitchFamily="34" charset="-120"/>
              </a:rPr>
              <a:t>Chronos / TimesFM / Moirai</a:t>
            </a:r>
            <a:endParaRPr lang="en-US" sz="670" dirty="0"/>
          </a:p>
        </p:txBody>
      </p:sp>
      <p:sp>
        <p:nvSpPr>
          <p:cNvPr id="31" name="Shape 29"/>
          <p:cNvSpPr/>
          <p:nvPr/>
        </p:nvSpPr>
        <p:spPr>
          <a:xfrm>
            <a:off x="2286000" y="4754880"/>
            <a:ext cx="5303520" cy="438912"/>
          </a:xfrm>
          <a:prstGeom prst="roundRect">
            <a:avLst>
              <a:gd name="adj" fmla="val 16667"/>
            </a:avLst>
          </a:prstGeom>
          <a:solidFill>
            <a:srgbClr val="E9F6D7"/>
          </a:solidFill>
          <a:ln w="13970">
            <a:solidFill>
              <a:srgbClr val="86B817"/>
            </a:solidFill>
            <a:prstDash val="solid"/>
          </a:ln>
        </p:spPr>
        <p:txBody>
          <a:bodyPr/>
          <a:lstStyle/>
          <a:p>
            <a:endParaRPr lang="en-GB"/>
          </a:p>
        </p:txBody>
      </p:sp>
      <p:sp>
        <p:nvSpPr>
          <p:cNvPr id="32" name="Text 30"/>
          <p:cNvSpPr/>
          <p:nvPr/>
        </p:nvSpPr>
        <p:spPr>
          <a:xfrm>
            <a:off x="2322576" y="4800600"/>
            <a:ext cx="5230368" cy="347472"/>
          </a:xfrm>
          <a:prstGeom prst="rect">
            <a:avLst/>
          </a:prstGeom>
          <a:noFill/>
          <a:ln/>
        </p:spPr>
        <p:txBody>
          <a:bodyPr wrap="square" lIns="0" tIns="0" rIns="0" bIns="0" rtlCol="0" anchor="ctr">
            <a:normAutofit/>
          </a:bodyPr>
          <a:lstStyle/>
          <a:p>
            <a:pPr marL="0" indent="0" algn="ctr">
              <a:buNone/>
            </a:pPr>
            <a:r>
              <a:rPr lang="en-US" sz="920" b="1" dirty="0">
                <a:solidFill>
                  <a:srgbClr val="122033"/>
                </a:solidFill>
                <a:latin typeface="Aptos" pitchFamily="34" charset="0"/>
                <a:ea typeface="Aptos" pitchFamily="34" charset="-122"/>
                <a:cs typeface="Aptos" pitchFamily="34" charset="-120"/>
              </a:rPr>
              <a:t>Not a ranking: each mechanism imposes a different inductive bias.</a:t>
            </a:r>
            <a:endParaRPr lang="en-US" sz="92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42E37-570F-80CE-5FB2-6A579AB88C3B}"/>
              </a:ext>
            </a:extLst>
          </p:cNvPr>
          <p:cNvSpPr>
            <a:spLocks noGrp="1"/>
          </p:cNvSpPr>
          <p:nvPr>
            <p:ph type="title"/>
          </p:nvPr>
        </p:nvSpPr>
        <p:spPr/>
        <p:txBody>
          <a:bodyPr/>
          <a:lstStyle/>
          <a:p>
            <a:r>
              <a:rPr lang="en-GB" dirty="0"/>
              <a:t>N-BEATS: forecasting without recurrence or attention</a:t>
            </a:r>
          </a:p>
        </p:txBody>
      </p:sp>
      <p:sp>
        <p:nvSpPr>
          <p:cNvPr id="3" name="Segnaposto contenuto 2">
            <a:extLst>
              <a:ext uri="{FF2B5EF4-FFF2-40B4-BE49-F238E27FC236}">
                <a16:creationId xmlns:a16="http://schemas.microsoft.com/office/drawing/2014/main" id="{AB698CE4-D5B3-1594-3DD6-776CA0EE355B}"/>
              </a:ext>
            </a:extLst>
          </p:cNvPr>
          <p:cNvSpPr>
            <a:spLocks noGrp="1"/>
          </p:cNvSpPr>
          <p:nvPr>
            <p:ph sz="half" idx="1"/>
          </p:nvPr>
        </p:nvSpPr>
        <p:spPr>
          <a:xfrm>
            <a:off x="677334" y="2160588"/>
            <a:ext cx="7133166" cy="4566573"/>
          </a:xfrm>
        </p:spPr>
        <p:txBody>
          <a:bodyPr>
            <a:normAutofit fontScale="85000" lnSpcReduction="20000"/>
          </a:bodyPr>
          <a:lstStyle/>
          <a:p>
            <a:r>
              <a:rPr lang="en-GB" dirty="0"/>
              <a:t>N-BEATS provides an important counterexample to the idea that sophisticated temporal forecasting necessarily requires: recurrence; convolution;  attention. </a:t>
            </a:r>
          </a:p>
          <a:p>
            <a:r>
              <a:rPr lang="en-GB" dirty="0"/>
              <a:t>Its core structure is based on stacks of feed-forward blocks.</a:t>
            </a:r>
          </a:p>
          <a:p>
            <a:r>
              <a:rPr lang="en-GB" dirty="0"/>
              <a:t>Conceptually:</a:t>
            </a:r>
          </a:p>
          <a:p>
            <a:pPr lvl="1"/>
            <a:r>
              <a:rPr lang="en-GB" dirty="0"/>
              <a:t>historical window</a:t>
            </a:r>
          </a:p>
          <a:p>
            <a:pPr lvl="1"/>
            <a:r>
              <a:rPr lang="en-GB" dirty="0"/>
              <a:t>      ↓</a:t>
            </a:r>
          </a:p>
          <a:p>
            <a:pPr lvl="1"/>
            <a:r>
              <a:rPr lang="en-GB" dirty="0"/>
              <a:t>feed-forward block</a:t>
            </a:r>
          </a:p>
          <a:p>
            <a:pPr lvl="1"/>
            <a:r>
              <a:rPr lang="en-GB" dirty="0"/>
              <a:t>      ↓</a:t>
            </a:r>
          </a:p>
          <a:p>
            <a:pPr lvl="1"/>
            <a:r>
              <a:rPr lang="en-GB" dirty="0"/>
              <a:t>intermediate representation</a:t>
            </a:r>
          </a:p>
          <a:p>
            <a:pPr lvl="1"/>
            <a:r>
              <a:rPr lang="en-GB" dirty="0"/>
              <a:t>      ↓</a:t>
            </a:r>
          </a:p>
          <a:p>
            <a:pPr lvl="1"/>
            <a:r>
              <a:rPr lang="en-GB" dirty="0"/>
              <a:t>feed-forward block</a:t>
            </a:r>
          </a:p>
          <a:p>
            <a:pPr lvl="1"/>
            <a:r>
              <a:rPr lang="en-GB" dirty="0"/>
              <a:t>      ↓</a:t>
            </a:r>
          </a:p>
          <a:p>
            <a:pPr lvl="1"/>
            <a:r>
              <a:rPr lang="en-GB" dirty="0"/>
              <a:t>...</a:t>
            </a:r>
          </a:p>
          <a:p>
            <a:pPr lvl="1"/>
            <a:r>
              <a:rPr lang="en-GB" dirty="0"/>
              <a:t>      ↓</a:t>
            </a:r>
          </a:p>
          <a:p>
            <a:pPr lvl="1"/>
            <a:r>
              <a:rPr lang="en-GB" dirty="0"/>
              <a:t>future forecast</a:t>
            </a:r>
          </a:p>
          <a:p>
            <a:endParaRPr lang="en-GB" dirty="0"/>
          </a:p>
        </p:txBody>
      </p:sp>
      <p:sp>
        <p:nvSpPr>
          <p:cNvPr id="4" name="Segnaposto contenuto 3">
            <a:extLst>
              <a:ext uri="{FF2B5EF4-FFF2-40B4-BE49-F238E27FC236}">
                <a16:creationId xmlns:a16="http://schemas.microsoft.com/office/drawing/2014/main" id="{4808DF1F-6D54-4969-8ACA-5988772F0310}"/>
              </a:ext>
            </a:extLst>
          </p:cNvPr>
          <p:cNvSpPr>
            <a:spLocks noGrp="1"/>
          </p:cNvSpPr>
          <p:nvPr>
            <p:ph sz="half" idx="2"/>
          </p:nvPr>
        </p:nvSpPr>
        <p:spPr>
          <a:xfrm>
            <a:off x="7490270" y="3475039"/>
            <a:ext cx="4184034" cy="2773361"/>
          </a:xfrm>
        </p:spPr>
        <p:txBody>
          <a:bodyPr>
            <a:normAutofit fontScale="85000" lnSpcReduction="20000"/>
          </a:bodyPr>
          <a:lstStyle/>
          <a:p>
            <a:r>
              <a:rPr lang="en-GB" b="1" dirty="0"/>
              <a:t>Main lesson</a:t>
            </a:r>
          </a:p>
          <a:p>
            <a:r>
              <a:rPr lang="en-GB" dirty="0"/>
              <a:t>A sufficiently expressive feed-forward model can learn mappings directly from:</a:t>
            </a:r>
          </a:p>
          <a:p>
            <a:r>
              <a:rPr lang="en-GB" dirty="0"/>
              <a:t>historical window → future horizon</a:t>
            </a:r>
          </a:p>
          <a:p>
            <a:endParaRPr lang="en-GB" dirty="0"/>
          </a:p>
          <a:p>
            <a:r>
              <a:rPr lang="en-GB" b="1" dirty="0"/>
              <a:t>Temporal modelling does not require an explicitly sequential architecture when the full historical window is already provided as input.</a:t>
            </a:r>
          </a:p>
          <a:p>
            <a:endParaRPr lang="en-GB" dirty="0"/>
          </a:p>
        </p:txBody>
      </p:sp>
    </p:spTree>
    <p:extLst>
      <p:ext uri="{BB962C8B-B14F-4D97-AF65-F5344CB8AC3E}">
        <p14:creationId xmlns:p14="http://schemas.microsoft.com/office/powerpoint/2010/main" val="357756109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33B98E-723A-5229-3B7E-02B4B07EC0DC}"/>
              </a:ext>
            </a:extLst>
          </p:cNvPr>
          <p:cNvSpPr>
            <a:spLocks noGrp="1"/>
          </p:cNvSpPr>
          <p:nvPr>
            <p:ph type="title"/>
          </p:nvPr>
        </p:nvSpPr>
        <p:spPr/>
        <p:txBody>
          <a:bodyPr/>
          <a:lstStyle/>
          <a:p>
            <a:r>
              <a:rPr lang="en-GB" dirty="0"/>
              <a:t>N-BEATS uses residual refinement</a:t>
            </a:r>
          </a:p>
        </p:txBody>
      </p:sp>
      <p:sp>
        <p:nvSpPr>
          <p:cNvPr id="3" name="Segnaposto contenuto 2">
            <a:extLst>
              <a:ext uri="{FF2B5EF4-FFF2-40B4-BE49-F238E27FC236}">
                <a16:creationId xmlns:a16="http://schemas.microsoft.com/office/drawing/2014/main" id="{711523BF-AA35-4BDE-ADF9-BF5931E1B96C}"/>
              </a:ext>
            </a:extLst>
          </p:cNvPr>
          <p:cNvSpPr>
            <a:spLocks noGrp="1"/>
          </p:cNvSpPr>
          <p:nvPr>
            <p:ph idx="1"/>
          </p:nvPr>
        </p:nvSpPr>
        <p:spPr/>
        <p:txBody>
          <a:bodyPr>
            <a:normAutofit fontScale="85000" lnSpcReduction="20000"/>
          </a:bodyPr>
          <a:lstStyle/>
          <a:p>
            <a:r>
              <a:rPr lang="en-GB" dirty="0"/>
              <a:t>A useful conceptual feature of N-BEATS is that successive blocks can progressively explain or refine the input/forecast.</a:t>
            </a:r>
          </a:p>
          <a:p>
            <a:r>
              <a:rPr lang="en-GB" dirty="0"/>
              <a:t>Each block explains part of the input history through its </a:t>
            </a:r>
            <a:r>
              <a:rPr lang="en-GB" dirty="0" err="1"/>
              <a:t>backcast</a:t>
            </a:r>
            <a:r>
              <a:rPr lang="en-GB" dirty="0"/>
              <a:t>, passes the unexplained residual to the next block, and adds its own contribution to the final forecast. </a:t>
            </a:r>
          </a:p>
          <a:p>
            <a:r>
              <a:rPr lang="en-GB" dirty="0"/>
              <a:t>Conceptually:</a:t>
            </a:r>
          </a:p>
          <a:p>
            <a:r>
              <a:rPr lang="en-GB" dirty="0"/>
              <a:t>input history</a:t>
            </a:r>
          </a:p>
          <a:p>
            <a:r>
              <a:rPr lang="en-GB" dirty="0"/>
              <a:t>     ↓</a:t>
            </a:r>
          </a:p>
          <a:p>
            <a:r>
              <a:rPr lang="en-GB" dirty="0"/>
              <a:t>Block 1 → forecast contribution 1</a:t>
            </a:r>
          </a:p>
          <a:p>
            <a:r>
              <a:rPr lang="en-GB" dirty="0"/>
              <a:t>     ↓ residual history</a:t>
            </a:r>
          </a:p>
          <a:p>
            <a:r>
              <a:rPr lang="en-GB" dirty="0"/>
              <a:t>Block 2 → forecast contribution 2</a:t>
            </a:r>
          </a:p>
          <a:p>
            <a:r>
              <a:rPr lang="en-GB" dirty="0"/>
              <a:t>     ↓</a:t>
            </a:r>
          </a:p>
          <a:p>
            <a:r>
              <a:rPr lang="en-GB" dirty="0"/>
              <a:t>...</a:t>
            </a:r>
          </a:p>
          <a:p>
            <a:r>
              <a:rPr lang="en-GB" dirty="0"/>
              <a:t>The final forecast combines contributions from several blocks.</a:t>
            </a:r>
          </a:p>
          <a:p>
            <a:endParaRPr lang="en-GB" dirty="0"/>
          </a:p>
        </p:txBody>
      </p:sp>
      <p:sp>
        <p:nvSpPr>
          <p:cNvPr id="5" name="CasellaDiTesto 4">
            <a:extLst>
              <a:ext uri="{FF2B5EF4-FFF2-40B4-BE49-F238E27FC236}">
                <a16:creationId xmlns:a16="http://schemas.microsoft.com/office/drawing/2014/main" id="{1544FE62-1761-6958-D490-1E3D6C3E18DF}"/>
              </a:ext>
            </a:extLst>
          </p:cNvPr>
          <p:cNvSpPr txBox="1"/>
          <p:nvPr/>
        </p:nvSpPr>
        <p:spPr>
          <a:xfrm>
            <a:off x="7543799" y="4286495"/>
            <a:ext cx="4357687" cy="923330"/>
          </a:xfrm>
          <a:prstGeom prst="rect">
            <a:avLst/>
          </a:prstGeom>
          <a:noFill/>
        </p:spPr>
        <p:txBody>
          <a:bodyPr wrap="square">
            <a:spAutoFit/>
          </a:bodyPr>
          <a:lstStyle/>
          <a:p>
            <a:r>
              <a:rPr lang="en-GB" sz="1800" dirty="0"/>
              <a:t>Residual decomposition can be used not only in CNNs for optimization, but also as a forecasting architecture.</a:t>
            </a:r>
          </a:p>
        </p:txBody>
      </p:sp>
    </p:spTree>
    <p:extLst>
      <p:ext uri="{BB962C8B-B14F-4D97-AF65-F5344CB8AC3E}">
        <p14:creationId xmlns:p14="http://schemas.microsoft.com/office/powerpoint/2010/main" val="256213586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75720" y="0"/>
            <a:ext cx="310896" cy="6858000"/>
          </a:xfrm>
          <a:prstGeom prst="rect">
            <a:avLst/>
          </a:prstGeom>
          <a:solidFill>
            <a:srgbClr val="93C83E">
              <a:alpha val="82000"/>
            </a:srgbClr>
          </a:solidFill>
          <a:ln w="12700">
            <a:solidFill>
              <a:srgbClr val="93C83E">
                <a:alpha val="0"/>
              </a:srgbClr>
            </a:solidFill>
            <a:prstDash val="solid"/>
          </a:ln>
        </p:spPr>
        <p:txBody>
          <a:bodyPr/>
          <a:lstStyle/>
          <a:p>
            <a:endParaRPr lang="en-GB"/>
          </a:p>
        </p:txBody>
      </p:sp>
      <p:sp>
        <p:nvSpPr>
          <p:cNvPr id="3" name="Shape 1"/>
          <p:cNvSpPr/>
          <p:nvPr/>
        </p:nvSpPr>
        <p:spPr>
          <a:xfrm>
            <a:off x="11841480" y="0"/>
            <a:ext cx="347472" cy="6858000"/>
          </a:xfrm>
          <a:prstGeom prst="rect">
            <a:avLst/>
          </a:prstGeom>
          <a:solidFill>
            <a:srgbClr val="74A92F">
              <a:alpha val="94000"/>
            </a:srgbClr>
          </a:solidFill>
          <a:ln w="12700">
            <a:solidFill>
              <a:srgbClr val="74A92F">
                <a:alpha val="0"/>
              </a:srgbClr>
            </a:solidFill>
            <a:prstDash val="solid"/>
          </a:ln>
        </p:spPr>
        <p:txBody>
          <a:bodyPr/>
          <a:lstStyle/>
          <a:p>
            <a:endParaRPr lang="en-GB"/>
          </a:p>
        </p:txBody>
      </p:sp>
      <p:sp>
        <p:nvSpPr>
          <p:cNvPr id="4" name="Shape 2"/>
          <p:cNvSpPr/>
          <p:nvPr/>
        </p:nvSpPr>
        <p:spPr>
          <a:xfrm>
            <a:off x="228600" y="6601968"/>
            <a:ext cx="10835640" cy="0"/>
          </a:xfrm>
          <a:prstGeom prst="line">
            <a:avLst/>
          </a:prstGeom>
          <a:noFill/>
          <a:ln w="12700">
            <a:solidFill>
              <a:srgbClr val="D0DAE7"/>
            </a:solidFill>
            <a:prstDash val="solid"/>
          </a:ln>
        </p:spPr>
        <p:txBody>
          <a:bodyPr/>
          <a:lstStyle/>
          <a:p>
            <a:endParaRPr lang="en-GB"/>
          </a:p>
        </p:txBody>
      </p:sp>
      <p:sp>
        <p:nvSpPr>
          <p:cNvPr id="5" name="Text 3"/>
          <p:cNvSpPr/>
          <p:nvPr/>
        </p:nvSpPr>
        <p:spPr>
          <a:xfrm>
            <a:off x="411480" y="365760"/>
            <a:ext cx="7498080" cy="310896"/>
          </a:xfrm>
          <a:prstGeom prst="rect">
            <a:avLst/>
          </a:prstGeom>
          <a:noFill/>
          <a:ln/>
        </p:spPr>
        <p:txBody>
          <a:bodyPr wrap="square" lIns="0" tIns="0" rIns="0" bIns="0" rtlCol="0" anchor="ctr"/>
          <a:lstStyle/>
          <a:p>
            <a:pPr marL="0" indent="0">
              <a:buNone/>
            </a:pPr>
            <a:r>
              <a:rPr lang="en-US" sz="2050" b="1" dirty="0">
                <a:solidFill>
                  <a:srgbClr val="111827"/>
                </a:solidFill>
                <a:latin typeface="Aptos Display" pitchFamily="34" charset="0"/>
                <a:ea typeface="Aptos Display" pitchFamily="34" charset="-122"/>
                <a:cs typeface="Aptos Display" pitchFamily="34" charset="-120"/>
              </a:rPr>
              <a:t>N-BEATS: residual refinement for forecasting</a:t>
            </a:r>
            <a:endParaRPr lang="en-US" sz="2050" dirty="0"/>
          </a:p>
        </p:txBody>
      </p:sp>
      <p:sp>
        <p:nvSpPr>
          <p:cNvPr id="6" name="Text 4"/>
          <p:cNvSpPr/>
          <p:nvPr/>
        </p:nvSpPr>
        <p:spPr>
          <a:xfrm>
            <a:off x="411480" y="804672"/>
            <a:ext cx="8686800" cy="228600"/>
          </a:xfrm>
          <a:prstGeom prst="rect">
            <a:avLst/>
          </a:prstGeom>
          <a:noFill/>
          <a:ln/>
        </p:spPr>
        <p:txBody>
          <a:bodyPr wrap="square" lIns="0" tIns="0" rIns="0" bIns="0" rtlCol="0" anchor="ctr"/>
          <a:lstStyle/>
          <a:p>
            <a:pPr marL="0" indent="0">
              <a:buNone/>
            </a:pPr>
            <a:r>
              <a:rPr lang="en-US" sz="1050" dirty="0">
                <a:solidFill>
                  <a:srgbClr val="50627A"/>
                </a:solidFill>
                <a:latin typeface="Aptos" pitchFamily="34" charset="0"/>
                <a:ea typeface="Aptos" pitchFamily="34" charset="-122"/>
                <a:cs typeface="Aptos" pitchFamily="34" charset="-120"/>
              </a:rPr>
              <a:t>Each block explains part of the history, passes the unexplained residual onward, and contributes to the forecast.</a:t>
            </a:r>
            <a:endParaRPr lang="en-US" sz="1050" dirty="0"/>
          </a:p>
        </p:txBody>
      </p:sp>
      <p:sp>
        <p:nvSpPr>
          <p:cNvPr id="7" name="Shape 5"/>
          <p:cNvSpPr/>
          <p:nvPr/>
        </p:nvSpPr>
        <p:spPr>
          <a:xfrm>
            <a:off x="1856232" y="1481328"/>
            <a:ext cx="1078992" cy="502920"/>
          </a:xfrm>
          <a:prstGeom prst="roundRect">
            <a:avLst>
              <a:gd name="adj" fmla="val 10909"/>
            </a:avLst>
          </a:prstGeom>
          <a:solidFill>
            <a:srgbClr val="E9F7D7"/>
          </a:solidFill>
          <a:ln w="17145">
            <a:solidFill>
              <a:srgbClr val="76B900"/>
            </a:solidFill>
            <a:prstDash val="solid"/>
          </a:ln>
          <a:effectLst>
            <a:outerShdw blurRad="19050" dist="12700" dir="2700000" algn="bl" rotWithShape="0">
              <a:srgbClr val="000000">
                <a:alpha val="10000"/>
              </a:srgbClr>
            </a:outerShdw>
          </a:effectLst>
        </p:spPr>
        <p:txBody>
          <a:bodyPr/>
          <a:lstStyle/>
          <a:p>
            <a:endParaRPr lang="en-GB"/>
          </a:p>
        </p:txBody>
      </p:sp>
      <p:sp>
        <p:nvSpPr>
          <p:cNvPr id="8" name="Text 6"/>
          <p:cNvSpPr/>
          <p:nvPr/>
        </p:nvSpPr>
        <p:spPr>
          <a:xfrm>
            <a:off x="1892808" y="1527048"/>
            <a:ext cx="1005840" cy="411480"/>
          </a:xfrm>
          <a:prstGeom prst="rect">
            <a:avLst/>
          </a:prstGeom>
          <a:noFill/>
          <a:ln/>
        </p:spPr>
        <p:txBody>
          <a:bodyPr wrap="square" lIns="0" tIns="0" rIns="0" bIns="0" rtlCol="0" anchor="ctr"/>
          <a:lstStyle/>
          <a:p>
            <a:pPr marL="0" indent="0" algn="ctr">
              <a:buNone/>
            </a:pPr>
            <a:r>
              <a:rPr lang="en-US" sz="750" b="1" dirty="0">
                <a:solidFill>
                  <a:srgbClr val="111827"/>
                </a:solidFill>
                <a:latin typeface="Aptos" pitchFamily="34" charset="0"/>
                <a:ea typeface="Aptos" pitchFamily="34" charset="-122"/>
                <a:cs typeface="Aptos" pitchFamily="34" charset="-120"/>
              </a:rPr>
              <a:t>forecast</a:t>
            </a:r>
            <a:endParaRPr lang="en-US" sz="750" dirty="0"/>
          </a:p>
          <a:p>
            <a:pPr marL="0" indent="0" algn="ctr">
              <a:buNone/>
            </a:pPr>
            <a:r>
              <a:rPr lang="en-US" sz="750" b="1" dirty="0">
                <a:solidFill>
                  <a:srgbClr val="111827"/>
                </a:solidFill>
                <a:latin typeface="Aptos" pitchFamily="34" charset="0"/>
                <a:ea typeface="Aptos" pitchFamily="34" charset="-122"/>
                <a:cs typeface="Aptos" pitchFamily="34" charset="-120"/>
              </a:rPr>
              <a:t>contrib. 1</a:t>
            </a:r>
            <a:endParaRPr lang="en-US" sz="750" dirty="0"/>
          </a:p>
          <a:p>
            <a:pPr marL="0" indent="0" algn="ctr">
              <a:buNone/>
            </a:pPr>
            <a:r>
              <a:rPr lang="en-US" sz="750" b="1" dirty="0">
                <a:solidFill>
                  <a:srgbClr val="111827"/>
                </a:solidFill>
                <a:latin typeface="Aptos" pitchFamily="34" charset="0"/>
                <a:ea typeface="Aptos" pitchFamily="34" charset="-122"/>
                <a:cs typeface="Aptos" pitchFamily="34" charset="-120"/>
              </a:rPr>
              <a:t>ƒ̂1</a:t>
            </a:r>
            <a:endParaRPr lang="en-US" sz="750" dirty="0"/>
          </a:p>
        </p:txBody>
      </p:sp>
      <p:sp>
        <p:nvSpPr>
          <p:cNvPr id="9" name="Text 7"/>
          <p:cNvSpPr/>
          <p:nvPr/>
        </p:nvSpPr>
        <p:spPr>
          <a:xfrm>
            <a:off x="2304288" y="2322576"/>
            <a:ext cx="128016" cy="164592"/>
          </a:xfrm>
          <a:prstGeom prst="rect">
            <a:avLst/>
          </a:prstGeom>
          <a:noFill/>
          <a:ln/>
        </p:spPr>
        <p:txBody>
          <a:bodyPr wrap="square" lIns="0" tIns="0" rIns="0" bIns="0" rtlCol="0" anchor="ctr"/>
          <a:lstStyle/>
          <a:p>
            <a:pPr marL="0" indent="0" algn="ctr">
              <a:buNone/>
            </a:pPr>
            <a:r>
              <a:rPr lang="en-US" sz="1300" b="1" dirty="0">
                <a:solidFill>
                  <a:srgbClr val="4F8F00"/>
                </a:solidFill>
                <a:latin typeface="Aptos" pitchFamily="34" charset="0"/>
                <a:ea typeface="Aptos" pitchFamily="34" charset="-122"/>
                <a:cs typeface="Aptos" pitchFamily="34" charset="-120"/>
              </a:rPr>
              <a:t>↑</a:t>
            </a:r>
            <a:endParaRPr lang="en-US" sz="1300" dirty="0"/>
          </a:p>
        </p:txBody>
      </p:sp>
      <p:sp>
        <p:nvSpPr>
          <p:cNvPr id="10" name="Shape 8"/>
          <p:cNvSpPr/>
          <p:nvPr/>
        </p:nvSpPr>
        <p:spPr>
          <a:xfrm>
            <a:off x="4325112" y="1481328"/>
            <a:ext cx="1078992" cy="502920"/>
          </a:xfrm>
          <a:prstGeom prst="roundRect">
            <a:avLst>
              <a:gd name="adj" fmla="val 10909"/>
            </a:avLst>
          </a:prstGeom>
          <a:solidFill>
            <a:srgbClr val="E9F7D7"/>
          </a:solidFill>
          <a:ln w="17145">
            <a:solidFill>
              <a:srgbClr val="76B900"/>
            </a:solidFill>
            <a:prstDash val="solid"/>
          </a:ln>
          <a:effectLst>
            <a:outerShdw blurRad="19050" dist="12700" dir="2700000" algn="bl" rotWithShape="0">
              <a:srgbClr val="000000">
                <a:alpha val="10000"/>
              </a:srgbClr>
            </a:outerShdw>
          </a:effectLst>
        </p:spPr>
        <p:txBody>
          <a:bodyPr/>
          <a:lstStyle/>
          <a:p>
            <a:endParaRPr lang="en-GB"/>
          </a:p>
        </p:txBody>
      </p:sp>
      <p:sp>
        <p:nvSpPr>
          <p:cNvPr id="11" name="Text 9"/>
          <p:cNvSpPr/>
          <p:nvPr/>
        </p:nvSpPr>
        <p:spPr>
          <a:xfrm>
            <a:off x="4361688" y="1527048"/>
            <a:ext cx="1005840" cy="411480"/>
          </a:xfrm>
          <a:prstGeom prst="rect">
            <a:avLst/>
          </a:prstGeom>
          <a:noFill/>
          <a:ln/>
        </p:spPr>
        <p:txBody>
          <a:bodyPr wrap="square" lIns="0" tIns="0" rIns="0" bIns="0" rtlCol="0" anchor="ctr"/>
          <a:lstStyle/>
          <a:p>
            <a:pPr marL="0" indent="0" algn="ctr">
              <a:buNone/>
            </a:pPr>
            <a:r>
              <a:rPr lang="en-US" sz="750" b="1" dirty="0">
                <a:solidFill>
                  <a:srgbClr val="111827"/>
                </a:solidFill>
                <a:latin typeface="Aptos" pitchFamily="34" charset="0"/>
                <a:ea typeface="Aptos" pitchFamily="34" charset="-122"/>
                <a:cs typeface="Aptos" pitchFamily="34" charset="-120"/>
              </a:rPr>
              <a:t>forecast</a:t>
            </a:r>
            <a:endParaRPr lang="en-US" sz="750" dirty="0"/>
          </a:p>
          <a:p>
            <a:pPr marL="0" indent="0" algn="ctr">
              <a:buNone/>
            </a:pPr>
            <a:r>
              <a:rPr lang="en-US" sz="750" b="1" dirty="0">
                <a:solidFill>
                  <a:srgbClr val="111827"/>
                </a:solidFill>
                <a:latin typeface="Aptos" pitchFamily="34" charset="0"/>
                <a:ea typeface="Aptos" pitchFamily="34" charset="-122"/>
                <a:cs typeface="Aptos" pitchFamily="34" charset="-120"/>
              </a:rPr>
              <a:t>contrib. 2</a:t>
            </a:r>
            <a:endParaRPr lang="en-US" sz="750" dirty="0"/>
          </a:p>
          <a:p>
            <a:pPr marL="0" indent="0" algn="ctr">
              <a:buNone/>
            </a:pPr>
            <a:r>
              <a:rPr lang="en-US" sz="750" b="1" dirty="0">
                <a:solidFill>
                  <a:srgbClr val="111827"/>
                </a:solidFill>
                <a:latin typeface="Aptos" pitchFamily="34" charset="0"/>
                <a:ea typeface="Aptos" pitchFamily="34" charset="-122"/>
                <a:cs typeface="Aptos" pitchFamily="34" charset="-120"/>
              </a:rPr>
              <a:t>ƒ̂2</a:t>
            </a:r>
            <a:endParaRPr lang="en-US" sz="750" dirty="0"/>
          </a:p>
        </p:txBody>
      </p:sp>
      <p:sp>
        <p:nvSpPr>
          <p:cNvPr id="12" name="Text 10"/>
          <p:cNvSpPr/>
          <p:nvPr/>
        </p:nvSpPr>
        <p:spPr>
          <a:xfrm>
            <a:off x="4773168" y="2322576"/>
            <a:ext cx="128016" cy="164592"/>
          </a:xfrm>
          <a:prstGeom prst="rect">
            <a:avLst/>
          </a:prstGeom>
          <a:noFill/>
          <a:ln/>
        </p:spPr>
        <p:txBody>
          <a:bodyPr wrap="square" lIns="0" tIns="0" rIns="0" bIns="0" rtlCol="0" anchor="ctr"/>
          <a:lstStyle/>
          <a:p>
            <a:pPr marL="0" indent="0" algn="ctr">
              <a:buNone/>
            </a:pPr>
            <a:r>
              <a:rPr lang="en-US" sz="1300" b="1" dirty="0">
                <a:solidFill>
                  <a:srgbClr val="4F8F00"/>
                </a:solidFill>
                <a:latin typeface="Aptos" pitchFamily="34" charset="0"/>
                <a:ea typeface="Aptos" pitchFamily="34" charset="-122"/>
                <a:cs typeface="Aptos" pitchFamily="34" charset="-120"/>
              </a:rPr>
              <a:t>↑</a:t>
            </a:r>
            <a:endParaRPr lang="en-US" sz="1300" dirty="0"/>
          </a:p>
        </p:txBody>
      </p:sp>
      <p:sp>
        <p:nvSpPr>
          <p:cNvPr id="13" name="Shape 11"/>
          <p:cNvSpPr/>
          <p:nvPr/>
        </p:nvSpPr>
        <p:spPr>
          <a:xfrm>
            <a:off x="6793992" y="1481328"/>
            <a:ext cx="1078992" cy="502920"/>
          </a:xfrm>
          <a:prstGeom prst="roundRect">
            <a:avLst>
              <a:gd name="adj" fmla="val 10909"/>
            </a:avLst>
          </a:prstGeom>
          <a:solidFill>
            <a:srgbClr val="E9F7D7"/>
          </a:solidFill>
          <a:ln w="17145">
            <a:solidFill>
              <a:srgbClr val="76B900"/>
            </a:solidFill>
            <a:prstDash val="solid"/>
          </a:ln>
          <a:effectLst>
            <a:outerShdw blurRad="19050" dist="12700" dir="2700000" algn="bl" rotWithShape="0">
              <a:srgbClr val="000000">
                <a:alpha val="10000"/>
              </a:srgbClr>
            </a:outerShdw>
          </a:effectLst>
        </p:spPr>
        <p:txBody>
          <a:bodyPr/>
          <a:lstStyle/>
          <a:p>
            <a:endParaRPr lang="en-GB"/>
          </a:p>
        </p:txBody>
      </p:sp>
      <p:sp>
        <p:nvSpPr>
          <p:cNvPr id="14" name="Text 12"/>
          <p:cNvSpPr/>
          <p:nvPr/>
        </p:nvSpPr>
        <p:spPr>
          <a:xfrm>
            <a:off x="6830568" y="1527048"/>
            <a:ext cx="1005840" cy="411480"/>
          </a:xfrm>
          <a:prstGeom prst="rect">
            <a:avLst/>
          </a:prstGeom>
          <a:noFill/>
          <a:ln/>
        </p:spPr>
        <p:txBody>
          <a:bodyPr wrap="square" lIns="0" tIns="0" rIns="0" bIns="0" rtlCol="0" anchor="ctr"/>
          <a:lstStyle/>
          <a:p>
            <a:pPr marL="0" indent="0" algn="ctr">
              <a:buNone/>
            </a:pPr>
            <a:r>
              <a:rPr lang="en-US" sz="750" b="1" dirty="0">
                <a:solidFill>
                  <a:srgbClr val="111827"/>
                </a:solidFill>
                <a:latin typeface="Aptos" pitchFamily="34" charset="0"/>
                <a:ea typeface="Aptos" pitchFamily="34" charset="-122"/>
                <a:cs typeface="Aptos" pitchFamily="34" charset="-120"/>
              </a:rPr>
              <a:t>forecast</a:t>
            </a:r>
            <a:endParaRPr lang="en-US" sz="750" dirty="0"/>
          </a:p>
          <a:p>
            <a:pPr marL="0" indent="0" algn="ctr">
              <a:buNone/>
            </a:pPr>
            <a:r>
              <a:rPr lang="en-US" sz="750" b="1" dirty="0">
                <a:solidFill>
                  <a:srgbClr val="111827"/>
                </a:solidFill>
                <a:latin typeface="Aptos" pitchFamily="34" charset="0"/>
                <a:ea typeface="Aptos" pitchFamily="34" charset="-122"/>
                <a:cs typeface="Aptos" pitchFamily="34" charset="-120"/>
              </a:rPr>
              <a:t>contrib. 3</a:t>
            </a:r>
            <a:endParaRPr lang="en-US" sz="750" dirty="0"/>
          </a:p>
          <a:p>
            <a:pPr marL="0" indent="0" algn="ctr">
              <a:buNone/>
            </a:pPr>
            <a:r>
              <a:rPr lang="en-US" sz="750" b="1" dirty="0">
                <a:solidFill>
                  <a:srgbClr val="111827"/>
                </a:solidFill>
                <a:latin typeface="Aptos" pitchFamily="34" charset="0"/>
                <a:ea typeface="Aptos" pitchFamily="34" charset="-122"/>
                <a:cs typeface="Aptos" pitchFamily="34" charset="-120"/>
              </a:rPr>
              <a:t>ƒ̂3</a:t>
            </a:r>
            <a:endParaRPr lang="en-US" sz="750" dirty="0"/>
          </a:p>
        </p:txBody>
      </p:sp>
      <p:sp>
        <p:nvSpPr>
          <p:cNvPr id="15" name="Text 13"/>
          <p:cNvSpPr/>
          <p:nvPr/>
        </p:nvSpPr>
        <p:spPr>
          <a:xfrm>
            <a:off x="7242048" y="2322576"/>
            <a:ext cx="128016" cy="164592"/>
          </a:xfrm>
          <a:prstGeom prst="rect">
            <a:avLst/>
          </a:prstGeom>
          <a:noFill/>
          <a:ln/>
        </p:spPr>
        <p:txBody>
          <a:bodyPr wrap="square" lIns="0" tIns="0" rIns="0" bIns="0" rtlCol="0" anchor="ctr"/>
          <a:lstStyle/>
          <a:p>
            <a:pPr marL="0" indent="0" algn="ctr">
              <a:buNone/>
            </a:pPr>
            <a:r>
              <a:rPr lang="en-US" sz="1300" b="1" dirty="0">
                <a:solidFill>
                  <a:srgbClr val="4F8F00"/>
                </a:solidFill>
                <a:latin typeface="Aptos" pitchFamily="34" charset="0"/>
                <a:ea typeface="Aptos" pitchFamily="34" charset="-122"/>
                <a:cs typeface="Aptos" pitchFamily="34" charset="-120"/>
              </a:rPr>
              <a:t>↑</a:t>
            </a:r>
            <a:endParaRPr lang="en-US" sz="1300" dirty="0"/>
          </a:p>
        </p:txBody>
      </p:sp>
      <p:sp>
        <p:nvSpPr>
          <p:cNvPr id="16" name="Text 14"/>
          <p:cNvSpPr/>
          <p:nvPr/>
        </p:nvSpPr>
        <p:spPr>
          <a:xfrm>
            <a:off x="8092440" y="1078992"/>
            <a:ext cx="2606040" cy="256032"/>
          </a:xfrm>
          <a:prstGeom prst="rect">
            <a:avLst/>
          </a:prstGeom>
          <a:noFill/>
          <a:ln/>
        </p:spPr>
        <p:txBody>
          <a:bodyPr wrap="square" lIns="0" tIns="0" rIns="0" bIns="0" rtlCol="0" anchor="ctr"/>
          <a:lstStyle/>
          <a:p>
            <a:pPr marL="0" indent="0" algn="ctr">
              <a:buNone/>
            </a:pPr>
            <a:r>
              <a:rPr lang="en-US" sz="1300" b="1" dirty="0">
                <a:solidFill>
                  <a:srgbClr val="7C3AED"/>
                </a:solidFill>
                <a:latin typeface="Aptos" pitchFamily="34" charset="0"/>
                <a:ea typeface="Aptos" pitchFamily="34" charset="-122"/>
                <a:cs typeface="Aptos" pitchFamily="34" charset="-120"/>
              </a:rPr>
              <a:t>ŷ = ƒ̂₁ + ƒ̂₂ + ƒ̂₃</a:t>
            </a:r>
            <a:endParaRPr lang="en-US" sz="1300" dirty="0"/>
          </a:p>
        </p:txBody>
      </p:sp>
      <p:sp>
        <p:nvSpPr>
          <p:cNvPr id="17" name="Shape 15"/>
          <p:cNvSpPr/>
          <p:nvPr/>
        </p:nvSpPr>
        <p:spPr>
          <a:xfrm>
            <a:off x="8796528" y="1536192"/>
            <a:ext cx="1078992" cy="530352"/>
          </a:xfrm>
          <a:prstGeom prst="roundRect">
            <a:avLst>
              <a:gd name="adj" fmla="val 10345"/>
            </a:avLst>
          </a:prstGeom>
          <a:solidFill>
            <a:srgbClr val="EFE7FF"/>
          </a:solidFill>
          <a:ln w="17145">
            <a:solidFill>
              <a:srgbClr val="7C3AED"/>
            </a:solidFill>
            <a:prstDash val="solid"/>
          </a:ln>
          <a:effectLst>
            <a:outerShdw blurRad="19050" dist="12700" dir="2700000" algn="bl" rotWithShape="0">
              <a:srgbClr val="000000">
                <a:alpha val="10000"/>
              </a:srgbClr>
            </a:outerShdw>
          </a:effectLst>
        </p:spPr>
        <p:txBody>
          <a:bodyPr/>
          <a:lstStyle/>
          <a:p>
            <a:endParaRPr lang="en-GB"/>
          </a:p>
        </p:txBody>
      </p:sp>
      <p:sp>
        <p:nvSpPr>
          <p:cNvPr id="18" name="Text 16"/>
          <p:cNvSpPr/>
          <p:nvPr/>
        </p:nvSpPr>
        <p:spPr>
          <a:xfrm>
            <a:off x="8833104" y="1581912"/>
            <a:ext cx="1005840" cy="438912"/>
          </a:xfrm>
          <a:prstGeom prst="rect">
            <a:avLst/>
          </a:prstGeom>
          <a:noFill/>
          <a:ln/>
        </p:spPr>
        <p:txBody>
          <a:bodyPr wrap="square" lIns="0" tIns="0" rIns="0" bIns="0" rtlCol="0" anchor="ctr"/>
          <a:lstStyle/>
          <a:p>
            <a:pPr marL="0" indent="0" algn="ctr">
              <a:buNone/>
            </a:pPr>
            <a:r>
              <a:rPr lang="en-US" sz="800" b="1" dirty="0">
                <a:solidFill>
                  <a:srgbClr val="111827"/>
                </a:solidFill>
                <a:latin typeface="Aptos" pitchFamily="34" charset="0"/>
                <a:ea typeface="Aptos" pitchFamily="34" charset="-122"/>
                <a:cs typeface="Aptos" pitchFamily="34" charset="-120"/>
              </a:rPr>
              <a:t>sum</a:t>
            </a:r>
            <a:endParaRPr lang="en-US" sz="800" dirty="0"/>
          </a:p>
          <a:p>
            <a:pPr marL="0" indent="0" algn="ctr">
              <a:buNone/>
            </a:pPr>
            <a:r>
              <a:rPr lang="en-US" sz="800" b="1" dirty="0">
                <a:solidFill>
                  <a:srgbClr val="111827"/>
                </a:solidFill>
                <a:latin typeface="Aptos" pitchFamily="34" charset="0"/>
                <a:ea typeface="Aptos" pitchFamily="34" charset="-122"/>
                <a:cs typeface="Aptos" pitchFamily="34" charset="-120"/>
              </a:rPr>
              <a:t>contributions</a:t>
            </a:r>
            <a:endParaRPr lang="en-US" sz="800" dirty="0"/>
          </a:p>
        </p:txBody>
      </p:sp>
      <p:sp>
        <p:nvSpPr>
          <p:cNvPr id="19" name="Text 17"/>
          <p:cNvSpPr/>
          <p:nvPr/>
        </p:nvSpPr>
        <p:spPr>
          <a:xfrm>
            <a:off x="10040112" y="1682496"/>
            <a:ext cx="128016" cy="164592"/>
          </a:xfrm>
          <a:prstGeom prst="rect">
            <a:avLst/>
          </a:prstGeom>
          <a:noFill/>
          <a:ln/>
        </p:spPr>
        <p:txBody>
          <a:bodyPr wrap="square" lIns="0" tIns="0" rIns="0" bIns="0" rtlCol="0" anchor="ctr"/>
          <a:lstStyle/>
          <a:p>
            <a:pPr marL="0" indent="0" algn="ctr">
              <a:buNone/>
            </a:pPr>
            <a:r>
              <a:rPr lang="en-US" sz="1300" b="1" dirty="0">
                <a:solidFill>
                  <a:srgbClr val="E53935"/>
                </a:solidFill>
                <a:latin typeface="Aptos" pitchFamily="34" charset="0"/>
                <a:ea typeface="Aptos" pitchFamily="34" charset="-122"/>
                <a:cs typeface="Aptos" pitchFamily="34" charset="-120"/>
              </a:rPr>
              <a:t>→</a:t>
            </a:r>
            <a:endParaRPr lang="en-US" sz="1300" dirty="0"/>
          </a:p>
        </p:txBody>
      </p:sp>
      <p:sp>
        <p:nvSpPr>
          <p:cNvPr id="20" name="Shape 18"/>
          <p:cNvSpPr/>
          <p:nvPr/>
        </p:nvSpPr>
        <p:spPr>
          <a:xfrm>
            <a:off x="10314432" y="1508760"/>
            <a:ext cx="786384" cy="585216"/>
          </a:xfrm>
          <a:prstGeom prst="roundRect">
            <a:avLst>
              <a:gd name="adj" fmla="val 9375"/>
            </a:avLst>
          </a:prstGeom>
          <a:solidFill>
            <a:srgbClr val="FFE3E3"/>
          </a:solidFill>
          <a:ln w="17145">
            <a:solidFill>
              <a:srgbClr val="E53935"/>
            </a:solidFill>
            <a:prstDash val="solid"/>
          </a:ln>
          <a:effectLst>
            <a:outerShdw blurRad="19050" dist="12700" dir="2700000" algn="bl" rotWithShape="0">
              <a:srgbClr val="000000">
                <a:alpha val="10000"/>
              </a:srgbClr>
            </a:outerShdw>
          </a:effectLst>
        </p:spPr>
        <p:txBody>
          <a:bodyPr/>
          <a:lstStyle/>
          <a:p>
            <a:endParaRPr lang="en-GB"/>
          </a:p>
        </p:txBody>
      </p:sp>
      <p:sp>
        <p:nvSpPr>
          <p:cNvPr id="21" name="Text 19"/>
          <p:cNvSpPr/>
          <p:nvPr/>
        </p:nvSpPr>
        <p:spPr>
          <a:xfrm>
            <a:off x="10351008" y="1554480"/>
            <a:ext cx="713232" cy="493776"/>
          </a:xfrm>
          <a:prstGeom prst="rect">
            <a:avLst/>
          </a:prstGeom>
          <a:noFill/>
          <a:ln/>
        </p:spPr>
        <p:txBody>
          <a:bodyPr wrap="square" lIns="0" tIns="0" rIns="0" bIns="0" rtlCol="0" anchor="ctr"/>
          <a:lstStyle/>
          <a:p>
            <a:pPr marL="0" indent="0" algn="ctr">
              <a:buNone/>
            </a:pPr>
            <a:r>
              <a:rPr lang="en-US" sz="810" b="1" dirty="0">
                <a:solidFill>
                  <a:srgbClr val="111827"/>
                </a:solidFill>
                <a:latin typeface="Aptos" pitchFamily="34" charset="0"/>
                <a:ea typeface="Aptos" pitchFamily="34" charset="-122"/>
                <a:cs typeface="Aptos" pitchFamily="34" charset="-120"/>
              </a:rPr>
              <a:t>final</a:t>
            </a:r>
            <a:endParaRPr lang="en-US" sz="810" dirty="0"/>
          </a:p>
          <a:p>
            <a:pPr marL="0" indent="0" algn="ctr">
              <a:buNone/>
            </a:pPr>
            <a:r>
              <a:rPr lang="en-US" sz="810" b="1" dirty="0">
                <a:solidFill>
                  <a:srgbClr val="111827"/>
                </a:solidFill>
                <a:latin typeface="Aptos" pitchFamily="34" charset="0"/>
                <a:ea typeface="Aptos" pitchFamily="34" charset="-122"/>
                <a:cs typeface="Aptos" pitchFamily="34" charset="-120"/>
              </a:rPr>
              <a:t>forecast</a:t>
            </a:r>
            <a:endParaRPr lang="en-US" sz="810" dirty="0"/>
          </a:p>
          <a:p>
            <a:pPr marL="0" indent="0" algn="ctr">
              <a:buNone/>
            </a:pPr>
            <a:r>
              <a:rPr lang="en-US" sz="810" b="1" dirty="0">
                <a:solidFill>
                  <a:srgbClr val="111827"/>
                </a:solidFill>
                <a:latin typeface="Aptos" pitchFamily="34" charset="0"/>
                <a:ea typeface="Aptos" pitchFamily="34" charset="-122"/>
                <a:cs typeface="Aptos" pitchFamily="34" charset="-120"/>
              </a:rPr>
              <a:t>ŷ</a:t>
            </a:r>
            <a:endParaRPr lang="en-US" sz="810" dirty="0"/>
          </a:p>
        </p:txBody>
      </p:sp>
      <p:sp>
        <p:nvSpPr>
          <p:cNvPr id="22" name="Shape 20"/>
          <p:cNvSpPr/>
          <p:nvPr/>
        </p:nvSpPr>
        <p:spPr>
          <a:xfrm>
            <a:off x="658368" y="2944368"/>
            <a:ext cx="868680" cy="621792"/>
          </a:xfrm>
          <a:prstGeom prst="roundRect">
            <a:avLst>
              <a:gd name="adj" fmla="val 8824"/>
            </a:avLst>
          </a:prstGeom>
          <a:solidFill>
            <a:srgbClr val="DCEBFF"/>
          </a:solidFill>
          <a:ln w="17145">
            <a:solidFill>
              <a:srgbClr val="2F6BE6"/>
            </a:solidFill>
            <a:prstDash val="solid"/>
          </a:ln>
          <a:effectLst>
            <a:outerShdw blurRad="19050" dist="12700" dir="2700000" algn="bl" rotWithShape="0">
              <a:srgbClr val="000000">
                <a:alpha val="10000"/>
              </a:srgbClr>
            </a:outerShdw>
          </a:effectLst>
        </p:spPr>
        <p:txBody>
          <a:bodyPr/>
          <a:lstStyle/>
          <a:p>
            <a:endParaRPr lang="en-GB"/>
          </a:p>
        </p:txBody>
      </p:sp>
      <p:sp>
        <p:nvSpPr>
          <p:cNvPr id="23" name="Text 21"/>
          <p:cNvSpPr/>
          <p:nvPr/>
        </p:nvSpPr>
        <p:spPr>
          <a:xfrm>
            <a:off x="694944" y="2990088"/>
            <a:ext cx="795528" cy="530352"/>
          </a:xfrm>
          <a:prstGeom prst="rect">
            <a:avLst/>
          </a:prstGeom>
          <a:noFill/>
          <a:ln/>
        </p:spPr>
        <p:txBody>
          <a:bodyPr wrap="square" lIns="0" tIns="0" rIns="0" bIns="0" rtlCol="0" anchor="ctr"/>
          <a:lstStyle/>
          <a:p>
            <a:pPr marL="0" indent="0" algn="ctr">
              <a:buNone/>
            </a:pPr>
            <a:r>
              <a:rPr lang="en-US" sz="820" b="1" dirty="0">
                <a:solidFill>
                  <a:srgbClr val="111827"/>
                </a:solidFill>
                <a:latin typeface="Aptos" pitchFamily="34" charset="0"/>
                <a:ea typeface="Aptos" pitchFamily="34" charset="-122"/>
                <a:cs typeface="Aptos" pitchFamily="34" charset="-120"/>
              </a:rPr>
              <a:t>input</a:t>
            </a:r>
            <a:endParaRPr lang="en-US" sz="820" dirty="0"/>
          </a:p>
          <a:p>
            <a:pPr marL="0" indent="0" algn="ctr">
              <a:buNone/>
            </a:pPr>
            <a:r>
              <a:rPr lang="en-US" sz="820" b="1" dirty="0">
                <a:solidFill>
                  <a:srgbClr val="111827"/>
                </a:solidFill>
                <a:latin typeface="Aptos" pitchFamily="34" charset="0"/>
                <a:ea typeface="Aptos" pitchFamily="34" charset="-122"/>
                <a:cs typeface="Aptos" pitchFamily="34" charset="-120"/>
              </a:rPr>
              <a:t>history</a:t>
            </a:r>
            <a:endParaRPr lang="en-US" sz="820" dirty="0"/>
          </a:p>
          <a:p>
            <a:pPr marL="0" indent="0" algn="ctr">
              <a:buNone/>
            </a:pPr>
            <a:r>
              <a:rPr lang="en-US" sz="820" b="1" dirty="0">
                <a:solidFill>
                  <a:srgbClr val="111827"/>
                </a:solidFill>
                <a:latin typeface="Aptos" pitchFamily="34" charset="0"/>
                <a:ea typeface="Aptos" pitchFamily="34" charset="-122"/>
                <a:cs typeface="Aptos" pitchFamily="34" charset="-120"/>
              </a:rPr>
              <a:t>r₀</a:t>
            </a:r>
            <a:endParaRPr lang="en-US" sz="820" dirty="0"/>
          </a:p>
        </p:txBody>
      </p:sp>
      <p:sp>
        <p:nvSpPr>
          <p:cNvPr id="24" name="Text 22"/>
          <p:cNvSpPr/>
          <p:nvPr/>
        </p:nvSpPr>
        <p:spPr>
          <a:xfrm>
            <a:off x="1719072" y="3154680"/>
            <a:ext cx="109728" cy="146304"/>
          </a:xfrm>
          <a:prstGeom prst="rect">
            <a:avLst/>
          </a:prstGeom>
          <a:noFill/>
          <a:ln/>
        </p:spPr>
        <p:txBody>
          <a:bodyPr wrap="square" lIns="0" tIns="0" rIns="0" bIns="0" rtlCol="0" anchor="ctr"/>
          <a:lstStyle/>
          <a:p>
            <a:pPr marL="0" indent="0" algn="ctr">
              <a:buNone/>
            </a:pPr>
            <a:r>
              <a:rPr lang="en-US" sz="1100" b="1" dirty="0">
                <a:solidFill>
                  <a:srgbClr val="64748B"/>
                </a:solidFill>
                <a:latin typeface="Aptos" pitchFamily="34" charset="0"/>
                <a:ea typeface="Aptos" pitchFamily="34" charset="-122"/>
                <a:cs typeface="Aptos" pitchFamily="34" charset="-120"/>
              </a:rPr>
              <a:t>→</a:t>
            </a:r>
            <a:endParaRPr lang="en-US" sz="1100" dirty="0"/>
          </a:p>
        </p:txBody>
      </p:sp>
      <p:sp>
        <p:nvSpPr>
          <p:cNvPr id="25" name="Shape 23"/>
          <p:cNvSpPr/>
          <p:nvPr/>
        </p:nvSpPr>
        <p:spPr>
          <a:xfrm>
            <a:off x="1965960" y="2944368"/>
            <a:ext cx="868680" cy="566928"/>
          </a:xfrm>
          <a:prstGeom prst="roundRect">
            <a:avLst>
              <a:gd name="adj" fmla="val 9677"/>
            </a:avLst>
          </a:prstGeom>
          <a:solidFill>
            <a:srgbClr val="FFF1D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26" name="Text 24"/>
          <p:cNvSpPr/>
          <p:nvPr/>
        </p:nvSpPr>
        <p:spPr>
          <a:xfrm>
            <a:off x="2002536" y="2990088"/>
            <a:ext cx="795528" cy="475488"/>
          </a:xfrm>
          <a:prstGeom prst="rect">
            <a:avLst/>
          </a:prstGeom>
          <a:noFill/>
          <a:ln/>
        </p:spPr>
        <p:txBody>
          <a:bodyPr wrap="square" lIns="0" tIns="0" rIns="0" bIns="0" rtlCol="0" anchor="ctr"/>
          <a:lstStyle/>
          <a:p>
            <a:pPr marL="0" indent="0" algn="ctr">
              <a:buNone/>
            </a:pPr>
            <a:r>
              <a:rPr lang="en-US" sz="950" b="1" dirty="0">
                <a:solidFill>
                  <a:srgbClr val="111827"/>
                </a:solidFill>
                <a:latin typeface="Aptos" pitchFamily="34" charset="0"/>
                <a:ea typeface="Aptos" pitchFamily="34" charset="-122"/>
                <a:cs typeface="Aptos" pitchFamily="34" charset="-120"/>
              </a:rPr>
              <a:t>Block 1</a:t>
            </a:r>
            <a:endParaRPr lang="en-US" sz="950" dirty="0"/>
          </a:p>
        </p:txBody>
      </p:sp>
      <p:sp>
        <p:nvSpPr>
          <p:cNvPr id="27" name="Text 25"/>
          <p:cNvSpPr/>
          <p:nvPr/>
        </p:nvSpPr>
        <p:spPr>
          <a:xfrm>
            <a:off x="3017520" y="3154680"/>
            <a:ext cx="109728" cy="146304"/>
          </a:xfrm>
          <a:prstGeom prst="rect">
            <a:avLst/>
          </a:prstGeom>
          <a:noFill/>
          <a:ln/>
        </p:spPr>
        <p:txBody>
          <a:bodyPr wrap="square" lIns="0" tIns="0" rIns="0" bIns="0" rtlCol="0" anchor="ctr"/>
          <a:lstStyle/>
          <a:p>
            <a:pPr marL="0" indent="0" algn="ctr">
              <a:buNone/>
            </a:pPr>
            <a:r>
              <a:rPr lang="en-US" sz="1100" b="1" dirty="0">
                <a:solidFill>
                  <a:srgbClr val="64748B"/>
                </a:solidFill>
                <a:latin typeface="Aptos" pitchFamily="34" charset="0"/>
                <a:ea typeface="Aptos" pitchFamily="34" charset="-122"/>
                <a:cs typeface="Aptos" pitchFamily="34" charset="-120"/>
              </a:rPr>
              <a:t>→</a:t>
            </a:r>
            <a:endParaRPr lang="en-US" sz="1100" dirty="0"/>
          </a:p>
        </p:txBody>
      </p:sp>
      <p:sp>
        <p:nvSpPr>
          <p:cNvPr id="28" name="Shape 26"/>
          <p:cNvSpPr/>
          <p:nvPr/>
        </p:nvSpPr>
        <p:spPr>
          <a:xfrm>
            <a:off x="3291840" y="3008376"/>
            <a:ext cx="713232" cy="438912"/>
          </a:xfrm>
          <a:prstGeom prst="roundRect">
            <a:avLst>
              <a:gd name="adj" fmla="val 12500"/>
            </a:avLst>
          </a:prstGeom>
          <a:solidFill>
            <a:srgbClr val="F8FAFC"/>
          </a:solidFill>
          <a:ln w="17145">
            <a:solidFill>
              <a:srgbClr val="94A3B8"/>
            </a:solidFill>
            <a:prstDash val="solid"/>
          </a:ln>
          <a:effectLst>
            <a:outerShdw blurRad="19050" dist="12700" dir="2700000" algn="bl" rotWithShape="0">
              <a:srgbClr val="000000">
                <a:alpha val="10000"/>
              </a:srgbClr>
            </a:outerShdw>
          </a:effectLst>
        </p:spPr>
        <p:txBody>
          <a:bodyPr/>
          <a:lstStyle/>
          <a:p>
            <a:endParaRPr lang="en-GB"/>
          </a:p>
        </p:txBody>
      </p:sp>
      <p:sp>
        <p:nvSpPr>
          <p:cNvPr id="29" name="Text 27"/>
          <p:cNvSpPr/>
          <p:nvPr/>
        </p:nvSpPr>
        <p:spPr>
          <a:xfrm>
            <a:off x="3328416" y="3054096"/>
            <a:ext cx="640080" cy="347472"/>
          </a:xfrm>
          <a:prstGeom prst="rect">
            <a:avLst/>
          </a:prstGeom>
          <a:noFill/>
          <a:ln/>
        </p:spPr>
        <p:txBody>
          <a:bodyPr wrap="square" lIns="0" tIns="0" rIns="0" bIns="0" rtlCol="0" anchor="ctr"/>
          <a:lstStyle/>
          <a:p>
            <a:pPr marL="0" indent="0" algn="ctr">
              <a:buNone/>
            </a:pPr>
            <a:r>
              <a:rPr lang="en-US" sz="760" b="1" dirty="0">
                <a:solidFill>
                  <a:srgbClr val="111827"/>
                </a:solidFill>
                <a:latin typeface="Aptos" pitchFamily="34" charset="0"/>
                <a:ea typeface="Aptos" pitchFamily="34" charset="-122"/>
                <a:cs typeface="Aptos" pitchFamily="34" charset="-120"/>
              </a:rPr>
              <a:t>residual</a:t>
            </a:r>
            <a:endParaRPr lang="en-US" sz="760" dirty="0"/>
          </a:p>
          <a:p>
            <a:pPr marL="0" indent="0" algn="ctr">
              <a:buNone/>
            </a:pPr>
            <a:r>
              <a:rPr lang="en-US" sz="760" b="1" dirty="0">
                <a:solidFill>
                  <a:srgbClr val="111827"/>
                </a:solidFill>
                <a:latin typeface="Aptos" pitchFamily="34" charset="0"/>
                <a:ea typeface="Aptos" pitchFamily="34" charset="-122"/>
                <a:cs typeface="Aptos" pitchFamily="34" charset="-120"/>
              </a:rPr>
              <a:t>r₁</a:t>
            </a:r>
            <a:endParaRPr lang="en-US" sz="760" dirty="0"/>
          </a:p>
        </p:txBody>
      </p:sp>
      <p:sp>
        <p:nvSpPr>
          <p:cNvPr id="30" name="Text 28"/>
          <p:cNvSpPr/>
          <p:nvPr/>
        </p:nvSpPr>
        <p:spPr>
          <a:xfrm>
            <a:off x="4187952" y="3154680"/>
            <a:ext cx="109728" cy="146304"/>
          </a:xfrm>
          <a:prstGeom prst="rect">
            <a:avLst/>
          </a:prstGeom>
          <a:noFill/>
          <a:ln/>
        </p:spPr>
        <p:txBody>
          <a:bodyPr wrap="square" lIns="0" tIns="0" rIns="0" bIns="0" rtlCol="0" anchor="ctr"/>
          <a:lstStyle/>
          <a:p>
            <a:pPr marL="0" indent="0" algn="ctr">
              <a:buNone/>
            </a:pPr>
            <a:r>
              <a:rPr lang="en-US" sz="1100" b="1" dirty="0">
                <a:solidFill>
                  <a:srgbClr val="64748B"/>
                </a:solidFill>
                <a:latin typeface="Aptos" pitchFamily="34" charset="0"/>
                <a:ea typeface="Aptos" pitchFamily="34" charset="-122"/>
                <a:cs typeface="Aptos" pitchFamily="34" charset="-120"/>
              </a:rPr>
              <a:t>→</a:t>
            </a:r>
            <a:endParaRPr lang="en-US" sz="1100" dirty="0"/>
          </a:p>
        </p:txBody>
      </p:sp>
      <p:sp>
        <p:nvSpPr>
          <p:cNvPr id="31" name="Shape 29"/>
          <p:cNvSpPr/>
          <p:nvPr/>
        </p:nvSpPr>
        <p:spPr>
          <a:xfrm>
            <a:off x="4434840" y="2944368"/>
            <a:ext cx="868680" cy="566928"/>
          </a:xfrm>
          <a:prstGeom prst="roundRect">
            <a:avLst>
              <a:gd name="adj" fmla="val 9677"/>
            </a:avLst>
          </a:prstGeom>
          <a:solidFill>
            <a:srgbClr val="FFF1D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32" name="Text 30"/>
          <p:cNvSpPr/>
          <p:nvPr/>
        </p:nvSpPr>
        <p:spPr>
          <a:xfrm>
            <a:off x="4471416" y="2990088"/>
            <a:ext cx="795528" cy="475488"/>
          </a:xfrm>
          <a:prstGeom prst="rect">
            <a:avLst/>
          </a:prstGeom>
          <a:noFill/>
          <a:ln/>
        </p:spPr>
        <p:txBody>
          <a:bodyPr wrap="square" lIns="0" tIns="0" rIns="0" bIns="0" rtlCol="0" anchor="ctr"/>
          <a:lstStyle/>
          <a:p>
            <a:pPr marL="0" indent="0" algn="ctr">
              <a:buNone/>
            </a:pPr>
            <a:r>
              <a:rPr lang="en-US" sz="950" b="1" dirty="0">
                <a:solidFill>
                  <a:srgbClr val="111827"/>
                </a:solidFill>
                <a:latin typeface="Aptos" pitchFamily="34" charset="0"/>
                <a:ea typeface="Aptos" pitchFamily="34" charset="-122"/>
                <a:cs typeface="Aptos" pitchFamily="34" charset="-120"/>
              </a:rPr>
              <a:t>Block 2</a:t>
            </a:r>
            <a:endParaRPr lang="en-US" sz="950" dirty="0"/>
          </a:p>
        </p:txBody>
      </p:sp>
      <p:sp>
        <p:nvSpPr>
          <p:cNvPr id="33" name="Text 31"/>
          <p:cNvSpPr/>
          <p:nvPr/>
        </p:nvSpPr>
        <p:spPr>
          <a:xfrm>
            <a:off x="5486400" y="3154680"/>
            <a:ext cx="109728" cy="146304"/>
          </a:xfrm>
          <a:prstGeom prst="rect">
            <a:avLst/>
          </a:prstGeom>
          <a:noFill/>
          <a:ln/>
        </p:spPr>
        <p:txBody>
          <a:bodyPr wrap="square" lIns="0" tIns="0" rIns="0" bIns="0" rtlCol="0" anchor="ctr"/>
          <a:lstStyle/>
          <a:p>
            <a:pPr marL="0" indent="0" algn="ctr">
              <a:buNone/>
            </a:pPr>
            <a:r>
              <a:rPr lang="en-US" sz="1100" b="1" dirty="0">
                <a:solidFill>
                  <a:srgbClr val="64748B"/>
                </a:solidFill>
                <a:latin typeface="Aptos" pitchFamily="34" charset="0"/>
                <a:ea typeface="Aptos" pitchFamily="34" charset="-122"/>
                <a:cs typeface="Aptos" pitchFamily="34" charset="-120"/>
              </a:rPr>
              <a:t>→</a:t>
            </a:r>
            <a:endParaRPr lang="en-US" sz="1100" dirty="0"/>
          </a:p>
        </p:txBody>
      </p:sp>
      <p:sp>
        <p:nvSpPr>
          <p:cNvPr id="34" name="Shape 32"/>
          <p:cNvSpPr/>
          <p:nvPr/>
        </p:nvSpPr>
        <p:spPr>
          <a:xfrm>
            <a:off x="5760720" y="3008376"/>
            <a:ext cx="713232" cy="438912"/>
          </a:xfrm>
          <a:prstGeom prst="roundRect">
            <a:avLst>
              <a:gd name="adj" fmla="val 12500"/>
            </a:avLst>
          </a:prstGeom>
          <a:solidFill>
            <a:srgbClr val="F8FAFC"/>
          </a:solidFill>
          <a:ln w="17145">
            <a:solidFill>
              <a:srgbClr val="94A3B8"/>
            </a:solidFill>
            <a:prstDash val="solid"/>
          </a:ln>
          <a:effectLst>
            <a:outerShdw blurRad="19050" dist="12700" dir="2700000" algn="bl" rotWithShape="0">
              <a:srgbClr val="000000">
                <a:alpha val="10000"/>
              </a:srgbClr>
            </a:outerShdw>
          </a:effectLst>
        </p:spPr>
        <p:txBody>
          <a:bodyPr/>
          <a:lstStyle/>
          <a:p>
            <a:endParaRPr lang="en-GB"/>
          </a:p>
        </p:txBody>
      </p:sp>
      <p:sp>
        <p:nvSpPr>
          <p:cNvPr id="35" name="Text 33"/>
          <p:cNvSpPr/>
          <p:nvPr/>
        </p:nvSpPr>
        <p:spPr>
          <a:xfrm>
            <a:off x="5797296" y="3054096"/>
            <a:ext cx="640080" cy="347472"/>
          </a:xfrm>
          <a:prstGeom prst="rect">
            <a:avLst/>
          </a:prstGeom>
          <a:noFill/>
          <a:ln/>
        </p:spPr>
        <p:txBody>
          <a:bodyPr wrap="square" lIns="0" tIns="0" rIns="0" bIns="0" rtlCol="0" anchor="ctr"/>
          <a:lstStyle/>
          <a:p>
            <a:pPr marL="0" indent="0" algn="ctr">
              <a:buNone/>
            </a:pPr>
            <a:r>
              <a:rPr lang="en-US" sz="760" b="1" dirty="0">
                <a:solidFill>
                  <a:srgbClr val="111827"/>
                </a:solidFill>
                <a:latin typeface="Aptos" pitchFamily="34" charset="0"/>
                <a:ea typeface="Aptos" pitchFamily="34" charset="-122"/>
                <a:cs typeface="Aptos" pitchFamily="34" charset="-120"/>
              </a:rPr>
              <a:t>residual</a:t>
            </a:r>
            <a:endParaRPr lang="en-US" sz="760" dirty="0"/>
          </a:p>
          <a:p>
            <a:pPr marL="0" indent="0" algn="ctr">
              <a:buNone/>
            </a:pPr>
            <a:r>
              <a:rPr lang="en-US" sz="760" b="1" dirty="0">
                <a:solidFill>
                  <a:srgbClr val="111827"/>
                </a:solidFill>
                <a:latin typeface="Aptos" pitchFamily="34" charset="0"/>
                <a:ea typeface="Aptos" pitchFamily="34" charset="-122"/>
                <a:cs typeface="Aptos" pitchFamily="34" charset="-120"/>
              </a:rPr>
              <a:t>r₂</a:t>
            </a:r>
            <a:endParaRPr lang="en-US" sz="760" dirty="0"/>
          </a:p>
        </p:txBody>
      </p:sp>
      <p:sp>
        <p:nvSpPr>
          <p:cNvPr id="36" name="Text 34"/>
          <p:cNvSpPr/>
          <p:nvPr/>
        </p:nvSpPr>
        <p:spPr>
          <a:xfrm>
            <a:off x="6656832" y="3154680"/>
            <a:ext cx="109728" cy="146304"/>
          </a:xfrm>
          <a:prstGeom prst="rect">
            <a:avLst/>
          </a:prstGeom>
          <a:noFill/>
          <a:ln/>
        </p:spPr>
        <p:txBody>
          <a:bodyPr wrap="square" lIns="0" tIns="0" rIns="0" bIns="0" rtlCol="0" anchor="ctr"/>
          <a:lstStyle/>
          <a:p>
            <a:pPr marL="0" indent="0" algn="ctr">
              <a:buNone/>
            </a:pPr>
            <a:r>
              <a:rPr lang="en-US" sz="1100" b="1" dirty="0">
                <a:solidFill>
                  <a:srgbClr val="64748B"/>
                </a:solidFill>
                <a:latin typeface="Aptos" pitchFamily="34" charset="0"/>
                <a:ea typeface="Aptos" pitchFamily="34" charset="-122"/>
                <a:cs typeface="Aptos" pitchFamily="34" charset="-120"/>
              </a:rPr>
              <a:t>→</a:t>
            </a:r>
            <a:endParaRPr lang="en-US" sz="1100" dirty="0"/>
          </a:p>
        </p:txBody>
      </p:sp>
      <p:sp>
        <p:nvSpPr>
          <p:cNvPr id="37" name="Shape 35"/>
          <p:cNvSpPr/>
          <p:nvPr/>
        </p:nvSpPr>
        <p:spPr>
          <a:xfrm>
            <a:off x="6903720" y="2944368"/>
            <a:ext cx="868680" cy="566928"/>
          </a:xfrm>
          <a:prstGeom prst="roundRect">
            <a:avLst>
              <a:gd name="adj" fmla="val 9677"/>
            </a:avLst>
          </a:prstGeom>
          <a:solidFill>
            <a:srgbClr val="FFF1D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38" name="Text 36"/>
          <p:cNvSpPr/>
          <p:nvPr/>
        </p:nvSpPr>
        <p:spPr>
          <a:xfrm>
            <a:off x="6940296" y="2990088"/>
            <a:ext cx="795528" cy="475488"/>
          </a:xfrm>
          <a:prstGeom prst="rect">
            <a:avLst/>
          </a:prstGeom>
          <a:noFill/>
          <a:ln/>
        </p:spPr>
        <p:txBody>
          <a:bodyPr wrap="square" lIns="0" tIns="0" rIns="0" bIns="0" rtlCol="0" anchor="ctr"/>
          <a:lstStyle/>
          <a:p>
            <a:pPr marL="0" indent="0" algn="ctr">
              <a:buNone/>
            </a:pPr>
            <a:r>
              <a:rPr lang="en-US" sz="950" b="1" dirty="0">
                <a:solidFill>
                  <a:srgbClr val="111827"/>
                </a:solidFill>
                <a:latin typeface="Aptos" pitchFamily="34" charset="0"/>
                <a:ea typeface="Aptos" pitchFamily="34" charset="-122"/>
                <a:cs typeface="Aptos" pitchFamily="34" charset="-120"/>
              </a:rPr>
              <a:t>Block 3</a:t>
            </a:r>
            <a:endParaRPr lang="en-US" sz="950" dirty="0"/>
          </a:p>
        </p:txBody>
      </p:sp>
      <p:sp>
        <p:nvSpPr>
          <p:cNvPr id="39" name="Text 37"/>
          <p:cNvSpPr/>
          <p:nvPr/>
        </p:nvSpPr>
        <p:spPr>
          <a:xfrm>
            <a:off x="7973568" y="3154680"/>
            <a:ext cx="109728" cy="146304"/>
          </a:xfrm>
          <a:prstGeom prst="rect">
            <a:avLst/>
          </a:prstGeom>
          <a:noFill/>
          <a:ln/>
        </p:spPr>
        <p:txBody>
          <a:bodyPr wrap="square" lIns="0" tIns="0" rIns="0" bIns="0" rtlCol="0" anchor="ctr"/>
          <a:lstStyle/>
          <a:p>
            <a:pPr marL="0" indent="0" algn="ctr">
              <a:buNone/>
            </a:pPr>
            <a:r>
              <a:rPr lang="en-US" sz="1100" b="1" dirty="0">
                <a:solidFill>
                  <a:srgbClr val="64748B"/>
                </a:solidFill>
                <a:latin typeface="Aptos" pitchFamily="34" charset="0"/>
                <a:ea typeface="Aptos" pitchFamily="34" charset="-122"/>
                <a:cs typeface="Aptos" pitchFamily="34" charset="-120"/>
              </a:rPr>
              <a:t>→</a:t>
            </a:r>
            <a:endParaRPr lang="en-US" sz="1100" dirty="0"/>
          </a:p>
        </p:txBody>
      </p:sp>
      <p:sp>
        <p:nvSpPr>
          <p:cNvPr id="40" name="Shape 38"/>
          <p:cNvSpPr/>
          <p:nvPr/>
        </p:nvSpPr>
        <p:spPr>
          <a:xfrm>
            <a:off x="8247888" y="2962656"/>
            <a:ext cx="841248" cy="530352"/>
          </a:xfrm>
          <a:prstGeom prst="roundRect">
            <a:avLst>
              <a:gd name="adj" fmla="val 10345"/>
            </a:avLst>
          </a:prstGeom>
          <a:solidFill>
            <a:srgbClr val="F8FAFC"/>
          </a:solidFill>
          <a:ln w="17145">
            <a:solidFill>
              <a:srgbClr val="94A3B8"/>
            </a:solidFill>
            <a:prstDash val="solid"/>
          </a:ln>
          <a:effectLst>
            <a:outerShdw blurRad="19050" dist="12700" dir="2700000" algn="bl" rotWithShape="0">
              <a:srgbClr val="000000">
                <a:alpha val="10000"/>
              </a:srgbClr>
            </a:outerShdw>
          </a:effectLst>
        </p:spPr>
        <p:txBody>
          <a:bodyPr/>
          <a:lstStyle/>
          <a:p>
            <a:endParaRPr lang="en-GB"/>
          </a:p>
        </p:txBody>
      </p:sp>
      <p:sp>
        <p:nvSpPr>
          <p:cNvPr id="41" name="Text 39"/>
          <p:cNvSpPr/>
          <p:nvPr/>
        </p:nvSpPr>
        <p:spPr>
          <a:xfrm>
            <a:off x="8284464" y="3008376"/>
            <a:ext cx="768096" cy="438912"/>
          </a:xfrm>
          <a:prstGeom prst="rect">
            <a:avLst/>
          </a:prstGeom>
          <a:noFill/>
          <a:ln/>
        </p:spPr>
        <p:txBody>
          <a:bodyPr wrap="square" lIns="0" tIns="0" rIns="0" bIns="0" rtlCol="0" anchor="ctr"/>
          <a:lstStyle/>
          <a:p>
            <a:pPr marL="0" indent="0" algn="ctr">
              <a:buNone/>
            </a:pPr>
            <a:r>
              <a:rPr lang="en-US" sz="720" b="1" dirty="0">
                <a:solidFill>
                  <a:srgbClr val="111827"/>
                </a:solidFill>
                <a:latin typeface="Aptos" pitchFamily="34" charset="0"/>
                <a:ea typeface="Aptos" pitchFamily="34" charset="-122"/>
                <a:cs typeface="Aptos" pitchFamily="34" charset="-120"/>
              </a:rPr>
              <a:t>remaining</a:t>
            </a:r>
            <a:endParaRPr lang="en-US" sz="720" dirty="0"/>
          </a:p>
          <a:p>
            <a:pPr marL="0" indent="0" algn="ctr">
              <a:buNone/>
            </a:pPr>
            <a:r>
              <a:rPr lang="en-US" sz="720" b="1" dirty="0">
                <a:solidFill>
                  <a:srgbClr val="111827"/>
                </a:solidFill>
                <a:latin typeface="Aptos" pitchFamily="34" charset="0"/>
                <a:ea typeface="Aptos" pitchFamily="34" charset="-122"/>
                <a:cs typeface="Aptos" pitchFamily="34" charset="-120"/>
              </a:rPr>
              <a:t>residual</a:t>
            </a:r>
            <a:endParaRPr lang="en-US" sz="720" dirty="0"/>
          </a:p>
          <a:p>
            <a:pPr marL="0" indent="0" algn="ctr">
              <a:buNone/>
            </a:pPr>
            <a:r>
              <a:rPr lang="en-US" sz="720" b="1" dirty="0">
                <a:solidFill>
                  <a:srgbClr val="111827"/>
                </a:solidFill>
                <a:latin typeface="Aptos" pitchFamily="34" charset="0"/>
                <a:ea typeface="Aptos" pitchFamily="34" charset="-122"/>
                <a:cs typeface="Aptos" pitchFamily="34" charset="-120"/>
              </a:rPr>
              <a:t>r₃</a:t>
            </a:r>
            <a:endParaRPr lang="en-US" sz="720" dirty="0"/>
          </a:p>
        </p:txBody>
      </p:sp>
      <p:sp>
        <p:nvSpPr>
          <p:cNvPr id="42" name="Text 40"/>
          <p:cNvSpPr/>
          <p:nvPr/>
        </p:nvSpPr>
        <p:spPr>
          <a:xfrm>
            <a:off x="2340864" y="3785616"/>
            <a:ext cx="128016" cy="164592"/>
          </a:xfrm>
          <a:prstGeom prst="rect">
            <a:avLst/>
          </a:prstGeom>
          <a:noFill/>
          <a:ln/>
        </p:spPr>
        <p:txBody>
          <a:bodyPr wrap="square" lIns="0" tIns="0" rIns="0" bIns="0" rtlCol="0" anchor="ctr"/>
          <a:lstStyle/>
          <a:p>
            <a:pPr marL="0" indent="0" algn="ctr">
              <a:buNone/>
            </a:pPr>
            <a:r>
              <a:rPr lang="en-US" sz="1300" b="1" dirty="0">
                <a:solidFill>
                  <a:srgbClr val="F59E0B"/>
                </a:solidFill>
                <a:latin typeface="Aptos" pitchFamily="34" charset="0"/>
                <a:ea typeface="Aptos" pitchFamily="34" charset="-122"/>
                <a:cs typeface="Aptos" pitchFamily="34" charset="-120"/>
              </a:rPr>
              <a:t>↓</a:t>
            </a:r>
            <a:endParaRPr lang="en-US" sz="1300" dirty="0"/>
          </a:p>
        </p:txBody>
      </p:sp>
      <p:sp>
        <p:nvSpPr>
          <p:cNvPr id="43" name="Shape 41"/>
          <p:cNvSpPr/>
          <p:nvPr/>
        </p:nvSpPr>
        <p:spPr>
          <a:xfrm>
            <a:off x="1965960" y="4315968"/>
            <a:ext cx="868680" cy="420624"/>
          </a:xfrm>
          <a:prstGeom prst="roundRect">
            <a:avLst>
              <a:gd name="adj" fmla="val 13043"/>
            </a:avLst>
          </a:prstGeom>
          <a:solidFill>
            <a:srgbClr val="FFF7E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44" name="Text 42"/>
          <p:cNvSpPr/>
          <p:nvPr/>
        </p:nvSpPr>
        <p:spPr>
          <a:xfrm>
            <a:off x="2002536" y="4361688"/>
            <a:ext cx="795528" cy="329184"/>
          </a:xfrm>
          <a:prstGeom prst="rect">
            <a:avLst/>
          </a:prstGeom>
          <a:noFill/>
          <a:ln/>
        </p:spPr>
        <p:txBody>
          <a:bodyPr wrap="square" lIns="0" tIns="0" rIns="0" bIns="0" rtlCol="0" anchor="ctr"/>
          <a:lstStyle/>
          <a:p>
            <a:pPr marL="0" indent="0" algn="ctr">
              <a:buNone/>
            </a:pPr>
            <a:r>
              <a:rPr lang="en-US" sz="780" b="1" dirty="0">
                <a:solidFill>
                  <a:srgbClr val="111827"/>
                </a:solidFill>
                <a:latin typeface="Aptos" pitchFamily="34" charset="0"/>
                <a:ea typeface="Aptos" pitchFamily="34" charset="-122"/>
                <a:cs typeface="Aptos" pitchFamily="34" charset="-120"/>
              </a:rPr>
              <a:t>backcast</a:t>
            </a:r>
            <a:endParaRPr lang="en-US" sz="780" dirty="0"/>
          </a:p>
          <a:p>
            <a:pPr marL="0" indent="0" algn="ctr">
              <a:buNone/>
            </a:pPr>
            <a:r>
              <a:rPr lang="en-US" sz="780" b="1" dirty="0">
                <a:solidFill>
                  <a:srgbClr val="111827"/>
                </a:solidFill>
                <a:latin typeface="Aptos" pitchFamily="34" charset="0"/>
                <a:ea typeface="Aptos" pitchFamily="34" charset="-122"/>
                <a:cs typeface="Aptos" pitchFamily="34" charset="-120"/>
              </a:rPr>
              <a:t>b̂1</a:t>
            </a:r>
            <a:endParaRPr lang="en-US" sz="780" dirty="0"/>
          </a:p>
        </p:txBody>
      </p:sp>
      <p:sp>
        <p:nvSpPr>
          <p:cNvPr id="45" name="Text 43"/>
          <p:cNvSpPr/>
          <p:nvPr/>
        </p:nvSpPr>
        <p:spPr>
          <a:xfrm>
            <a:off x="4809744" y="3785616"/>
            <a:ext cx="128016" cy="164592"/>
          </a:xfrm>
          <a:prstGeom prst="rect">
            <a:avLst/>
          </a:prstGeom>
          <a:noFill/>
          <a:ln/>
        </p:spPr>
        <p:txBody>
          <a:bodyPr wrap="square" lIns="0" tIns="0" rIns="0" bIns="0" rtlCol="0" anchor="ctr"/>
          <a:lstStyle/>
          <a:p>
            <a:pPr marL="0" indent="0" algn="ctr">
              <a:buNone/>
            </a:pPr>
            <a:r>
              <a:rPr lang="en-US" sz="1300" b="1" dirty="0">
                <a:solidFill>
                  <a:srgbClr val="F59E0B"/>
                </a:solidFill>
                <a:latin typeface="Aptos" pitchFamily="34" charset="0"/>
                <a:ea typeface="Aptos" pitchFamily="34" charset="-122"/>
                <a:cs typeface="Aptos" pitchFamily="34" charset="-120"/>
              </a:rPr>
              <a:t>↓</a:t>
            </a:r>
            <a:endParaRPr lang="en-US" sz="1300" dirty="0"/>
          </a:p>
        </p:txBody>
      </p:sp>
      <p:sp>
        <p:nvSpPr>
          <p:cNvPr id="46" name="Shape 44"/>
          <p:cNvSpPr/>
          <p:nvPr/>
        </p:nvSpPr>
        <p:spPr>
          <a:xfrm>
            <a:off x="4434840" y="4315968"/>
            <a:ext cx="868680" cy="420624"/>
          </a:xfrm>
          <a:prstGeom prst="roundRect">
            <a:avLst>
              <a:gd name="adj" fmla="val 13043"/>
            </a:avLst>
          </a:prstGeom>
          <a:solidFill>
            <a:srgbClr val="FFF7E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47" name="Text 45"/>
          <p:cNvSpPr/>
          <p:nvPr/>
        </p:nvSpPr>
        <p:spPr>
          <a:xfrm>
            <a:off x="4471416" y="4361688"/>
            <a:ext cx="795528" cy="329184"/>
          </a:xfrm>
          <a:prstGeom prst="rect">
            <a:avLst/>
          </a:prstGeom>
          <a:noFill/>
          <a:ln/>
        </p:spPr>
        <p:txBody>
          <a:bodyPr wrap="square" lIns="0" tIns="0" rIns="0" bIns="0" rtlCol="0" anchor="ctr"/>
          <a:lstStyle/>
          <a:p>
            <a:pPr marL="0" indent="0" algn="ctr">
              <a:buNone/>
            </a:pPr>
            <a:r>
              <a:rPr lang="en-US" sz="780" b="1" dirty="0">
                <a:solidFill>
                  <a:srgbClr val="111827"/>
                </a:solidFill>
                <a:latin typeface="Aptos" pitchFamily="34" charset="0"/>
                <a:ea typeface="Aptos" pitchFamily="34" charset="-122"/>
                <a:cs typeface="Aptos" pitchFamily="34" charset="-120"/>
              </a:rPr>
              <a:t>backcast</a:t>
            </a:r>
            <a:endParaRPr lang="en-US" sz="780" dirty="0"/>
          </a:p>
          <a:p>
            <a:pPr marL="0" indent="0" algn="ctr">
              <a:buNone/>
            </a:pPr>
            <a:r>
              <a:rPr lang="en-US" sz="780" b="1" dirty="0">
                <a:solidFill>
                  <a:srgbClr val="111827"/>
                </a:solidFill>
                <a:latin typeface="Aptos" pitchFamily="34" charset="0"/>
                <a:ea typeface="Aptos" pitchFamily="34" charset="-122"/>
                <a:cs typeface="Aptos" pitchFamily="34" charset="-120"/>
              </a:rPr>
              <a:t>b̂2</a:t>
            </a:r>
            <a:endParaRPr lang="en-US" sz="780" dirty="0"/>
          </a:p>
        </p:txBody>
      </p:sp>
      <p:sp>
        <p:nvSpPr>
          <p:cNvPr id="48" name="Text 46"/>
          <p:cNvSpPr/>
          <p:nvPr/>
        </p:nvSpPr>
        <p:spPr>
          <a:xfrm>
            <a:off x="7278624" y="3785616"/>
            <a:ext cx="128016" cy="164592"/>
          </a:xfrm>
          <a:prstGeom prst="rect">
            <a:avLst/>
          </a:prstGeom>
          <a:noFill/>
          <a:ln/>
        </p:spPr>
        <p:txBody>
          <a:bodyPr wrap="square" lIns="0" tIns="0" rIns="0" bIns="0" rtlCol="0" anchor="ctr"/>
          <a:lstStyle/>
          <a:p>
            <a:pPr marL="0" indent="0" algn="ctr">
              <a:buNone/>
            </a:pPr>
            <a:r>
              <a:rPr lang="en-US" sz="1300" b="1" dirty="0">
                <a:solidFill>
                  <a:srgbClr val="F59E0B"/>
                </a:solidFill>
                <a:latin typeface="Aptos" pitchFamily="34" charset="0"/>
                <a:ea typeface="Aptos" pitchFamily="34" charset="-122"/>
                <a:cs typeface="Aptos" pitchFamily="34" charset="-120"/>
              </a:rPr>
              <a:t>↓</a:t>
            </a:r>
            <a:endParaRPr lang="en-US" sz="1300" dirty="0"/>
          </a:p>
        </p:txBody>
      </p:sp>
      <p:sp>
        <p:nvSpPr>
          <p:cNvPr id="49" name="Shape 47"/>
          <p:cNvSpPr/>
          <p:nvPr/>
        </p:nvSpPr>
        <p:spPr>
          <a:xfrm>
            <a:off x="6903720" y="4315968"/>
            <a:ext cx="868680" cy="420624"/>
          </a:xfrm>
          <a:prstGeom prst="roundRect">
            <a:avLst>
              <a:gd name="adj" fmla="val 13043"/>
            </a:avLst>
          </a:prstGeom>
          <a:solidFill>
            <a:srgbClr val="FFF7E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50" name="Text 48"/>
          <p:cNvSpPr/>
          <p:nvPr/>
        </p:nvSpPr>
        <p:spPr>
          <a:xfrm>
            <a:off x="6940296" y="4361688"/>
            <a:ext cx="795528" cy="329184"/>
          </a:xfrm>
          <a:prstGeom prst="rect">
            <a:avLst/>
          </a:prstGeom>
          <a:noFill/>
          <a:ln/>
        </p:spPr>
        <p:txBody>
          <a:bodyPr wrap="square" lIns="0" tIns="0" rIns="0" bIns="0" rtlCol="0" anchor="ctr"/>
          <a:lstStyle/>
          <a:p>
            <a:pPr marL="0" indent="0" algn="ctr">
              <a:buNone/>
            </a:pPr>
            <a:r>
              <a:rPr lang="en-US" sz="780" b="1" dirty="0">
                <a:solidFill>
                  <a:srgbClr val="111827"/>
                </a:solidFill>
                <a:latin typeface="Aptos" pitchFamily="34" charset="0"/>
                <a:ea typeface="Aptos" pitchFamily="34" charset="-122"/>
                <a:cs typeface="Aptos" pitchFamily="34" charset="-120"/>
              </a:rPr>
              <a:t>backcast</a:t>
            </a:r>
            <a:endParaRPr lang="en-US" sz="780" dirty="0"/>
          </a:p>
          <a:p>
            <a:pPr marL="0" indent="0" algn="ctr">
              <a:buNone/>
            </a:pPr>
            <a:r>
              <a:rPr lang="en-US" sz="780" b="1" dirty="0">
                <a:solidFill>
                  <a:srgbClr val="111827"/>
                </a:solidFill>
                <a:latin typeface="Aptos" pitchFamily="34" charset="0"/>
                <a:ea typeface="Aptos" pitchFamily="34" charset="-122"/>
                <a:cs typeface="Aptos" pitchFamily="34" charset="-120"/>
              </a:rPr>
              <a:t>b̂3</a:t>
            </a:r>
            <a:endParaRPr lang="en-US" sz="780" dirty="0"/>
          </a:p>
        </p:txBody>
      </p:sp>
      <p:sp>
        <p:nvSpPr>
          <p:cNvPr id="51" name="Text 49"/>
          <p:cNvSpPr/>
          <p:nvPr/>
        </p:nvSpPr>
        <p:spPr>
          <a:xfrm>
            <a:off x="3218688" y="4370832"/>
            <a:ext cx="804672" cy="210312"/>
          </a:xfrm>
          <a:prstGeom prst="rect">
            <a:avLst/>
          </a:prstGeom>
          <a:noFill/>
          <a:ln/>
        </p:spPr>
        <p:txBody>
          <a:bodyPr wrap="square" lIns="0" tIns="0" rIns="0" bIns="0" rtlCol="0" anchor="ctr"/>
          <a:lstStyle/>
          <a:p>
            <a:pPr marL="0" indent="0" algn="ctr">
              <a:buNone/>
            </a:pPr>
            <a:r>
              <a:rPr lang="en-US" sz="820" dirty="0">
                <a:solidFill>
                  <a:srgbClr val="50627A"/>
                </a:solidFill>
                <a:latin typeface="Aptos" pitchFamily="34" charset="0"/>
                <a:ea typeface="Aptos" pitchFamily="34" charset="-122"/>
                <a:cs typeface="Aptos" pitchFamily="34" charset="-120"/>
              </a:rPr>
              <a:t>r₁ = r₀ − b̂₁</a:t>
            </a:r>
            <a:endParaRPr lang="en-US" sz="820" dirty="0"/>
          </a:p>
        </p:txBody>
      </p:sp>
      <p:sp>
        <p:nvSpPr>
          <p:cNvPr id="52" name="Text 50"/>
          <p:cNvSpPr/>
          <p:nvPr/>
        </p:nvSpPr>
        <p:spPr>
          <a:xfrm>
            <a:off x="5687568" y="4370832"/>
            <a:ext cx="804672" cy="210312"/>
          </a:xfrm>
          <a:prstGeom prst="rect">
            <a:avLst/>
          </a:prstGeom>
          <a:noFill/>
          <a:ln/>
        </p:spPr>
        <p:txBody>
          <a:bodyPr wrap="square" lIns="0" tIns="0" rIns="0" bIns="0" rtlCol="0" anchor="ctr"/>
          <a:lstStyle/>
          <a:p>
            <a:pPr marL="0" indent="0" algn="ctr">
              <a:buNone/>
            </a:pPr>
            <a:r>
              <a:rPr lang="en-US" sz="820" dirty="0">
                <a:solidFill>
                  <a:srgbClr val="50627A"/>
                </a:solidFill>
                <a:latin typeface="Aptos" pitchFamily="34" charset="0"/>
                <a:ea typeface="Aptos" pitchFamily="34" charset="-122"/>
                <a:cs typeface="Aptos" pitchFamily="34" charset="-120"/>
              </a:rPr>
              <a:t>r₂ = r₁ − b̂₂</a:t>
            </a:r>
            <a:endParaRPr lang="en-US" sz="820" dirty="0"/>
          </a:p>
        </p:txBody>
      </p:sp>
      <p:sp>
        <p:nvSpPr>
          <p:cNvPr id="53" name="Text 51"/>
          <p:cNvSpPr/>
          <p:nvPr/>
        </p:nvSpPr>
        <p:spPr>
          <a:xfrm>
            <a:off x="8183880" y="4370832"/>
            <a:ext cx="804672" cy="210312"/>
          </a:xfrm>
          <a:prstGeom prst="rect">
            <a:avLst/>
          </a:prstGeom>
          <a:noFill/>
          <a:ln/>
        </p:spPr>
        <p:txBody>
          <a:bodyPr wrap="square" lIns="0" tIns="0" rIns="0" bIns="0" rtlCol="0" anchor="ctr"/>
          <a:lstStyle/>
          <a:p>
            <a:pPr marL="0" indent="0" algn="ctr">
              <a:buNone/>
            </a:pPr>
            <a:r>
              <a:rPr lang="en-US" sz="820" dirty="0">
                <a:solidFill>
                  <a:srgbClr val="50627A"/>
                </a:solidFill>
                <a:latin typeface="Aptos" pitchFamily="34" charset="0"/>
                <a:ea typeface="Aptos" pitchFamily="34" charset="-122"/>
                <a:cs typeface="Aptos" pitchFamily="34" charset="-120"/>
              </a:rPr>
              <a:t>r₃ = r₂ − b̂₃</a:t>
            </a:r>
            <a:endParaRPr lang="en-US" sz="820" dirty="0"/>
          </a:p>
        </p:txBody>
      </p:sp>
      <p:sp>
        <p:nvSpPr>
          <p:cNvPr id="54" name="Shape 52"/>
          <p:cNvSpPr/>
          <p:nvPr/>
        </p:nvSpPr>
        <p:spPr>
          <a:xfrm>
            <a:off x="777240" y="5248656"/>
            <a:ext cx="3383280" cy="438912"/>
          </a:xfrm>
          <a:prstGeom prst="roundRect">
            <a:avLst>
              <a:gd name="adj" fmla="val 12500"/>
            </a:avLst>
          </a:prstGeom>
          <a:solidFill>
            <a:srgbClr val="FFF7E6"/>
          </a:solidFill>
          <a:ln w="17145">
            <a:solidFill>
              <a:srgbClr val="F59E0B"/>
            </a:solidFill>
            <a:prstDash val="solid"/>
          </a:ln>
          <a:effectLst>
            <a:outerShdw blurRad="19050" dist="12700" dir="2700000" algn="bl" rotWithShape="0">
              <a:srgbClr val="000000">
                <a:alpha val="10000"/>
              </a:srgbClr>
            </a:outerShdw>
          </a:effectLst>
        </p:spPr>
        <p:txBody>
          <a:bodyPr/>
          <a:lstStyle/>
          <a:p>
            <a:endParaRPr lang="en-GB"/>
          </a:p>
        </p:txBody>
      </p:sp>
      <p:sp>
        <p:nvSpPr>
          <p:cNvPr id="55" name="Text 53"/>
          <p:cNvSpPr/>
          <p:nvPr/>
        </p:nvSpPr>
        <p:spPr>
          <a:xfrm>
            <a:off x="813816" y="5294376"/>
            <a:ext cx="3310128" cy="347472"/>
          </a:xfrm>
          <a:prstGeom prst="rect">
            <a:avLst/>
          </a:prstGeom>
          <a:noFill/>
          <a:ln/>
        </p:spPr>
        <p:txBody>
          <a:bodyPr wrap="square" lIns="0" tIns="0" rIns="0" bIns="0" rtlCol="0" anchor="ctr"/>
          <a:lstStyle/>
          <a:p>
            <a:pPr marL="0" indent="0" algn="ctr">
              <a:buNone/>
            </a:pPr>
            <a:r>
              <a:rPr lang="en-US" sz="940" dirty="0">
                <a:solidFill>
                  <a:srgbClr val="111827"/>
                </a:solidFill>
                <a:latin typeface="Aptos" pitchFamily="34" charset="0"/>
                <a:ea typeface="Aptos" pitchFamily="34" charset="-122"/>
                <a:cs typeface="Aptos" pitchFamily="34" charset="-120"/>
              </a:rPr>
              <a:t>Backcast: the portion of the input history explained by a block.</a:t>
            </a:r>
            <a:endParaRPr lang="en-US" sz="940" dirty="0"/>
          </a:p>
        </p:txBody>
      </p:sp>
      <p:sp>
        <p:nvSpPr>
          <p:cNvPr id="56" name="Shape 54"/>
          <p:cNvSpPr/>
          <p:nvPr/>
        </p:nvSpPr>
        <p:spPr>
          <a:xfrm>
            <a:off x="4434840" y="5248656"/>
            <a:ext cx="3383280" cy="438912"/>
          </a:xfrm>
          <a:prstGeom prst="roundRect">
            <a:avLst>
              <a:gd name="adj" fmla="val 12500"/>
            </a:avLst>
          </a:prstGeom>
          <a:solidFill>
            <a:srgbClr val="E9F7D7"/>
          </a:solidFill>
          <a:ln w="17145">
            <a:solidFill>
              <a:srgbClr val="76B900"/>
            </a:solidFill>
            <a:prstDash val="solid"/>
          </a:ln>
          <a:effectLst>
            <a:outerShdw blurRad="19050" dist="12700" dir="2700000" algn="bl" rotWithShape="0">
              <a:srgbClr val="000000">
                <a:alpha val="10000"/>
              </a:srgbClr>
            </a:outerShdw>
          </a:effectLst>
        </p:spPr>
        <p:txBody>
          <a:bodyPr/>
          <a:lstStyle/>
          <a:p>
            <a:endParaRPr lang="en-GB"/>
          </a:p>
        </p:txBody>
      </p:sp>
      <p:sp>
        <p:nvSpPr>
          <p:cNvPr id="57" name="Text 55"/>
          <p:cNvSpPr/>
          <p:nvPr/>
        </p:nvSpPr>
        <p:spPr>
          <a:xfrm>
            <a:off x="4471416" y="5294376"/>
            <a:ext cx="3310128" cy="347472"/>
          </a:xfrm>
          <a:prstGeom prst="rect">
            <a:avLst/>
          </a:prstGeom>
          <a:noFill/>
          <a:ln/>
        </p:spPr>
        <p:txBody>
          <a:bodyPr wrap="square" lIns="0" tIns="0" rIns="0" bIns="0" rtlCol="0" anchor="ctr"/>
          <a:lstStyle/>
          <a:p>
            <a:pPr marL="0" indent="0" algn="ctr">
              <a:buNone/>
            </a:pPr>
            <a:r>
              <a:rPr lang="en-US" sz="940" dirty="0">
                <a:solidFill>
                  <a:srgbClr val="111827"/>
                </a:solidFill>
                <a:latin typeface="Aptos" pitchFamily="34" charset="0"/>
                <a:ea typeface="Aptos" pitchFamily="34" charset="-122"/>
                <a:cs typeface="Aptos" pitchFamily="34" charset="-120"/>
              </a:rPr>
              <a:t>Forecast contribution: the portion added to the final prediction.</a:t>
            </a:r>
            <a:endParaRPr lang="en-US" sz="940" dirty="0"/>
          </a:p>
        </p:txBody>
      </p:sp>
      <p:sp>
        <p:nvSpPr>
          <p:cNvPr id="58" name="Shape 56"/>
          <p:cNvSpPr/>
          <p:nvPr/>
        </p:nvSpPr>
        <p:spPr>
          <a:xfrm>
            <a:off x="1920240" y="5998464"/>
            <a:ext cx="6080760" cy="384048"/>
          </a:xfrm>
          <a:prstGeom prst="roundRect">
            <a:avLst>
              <a:gd name="adj" fmla="val 14286"/>
            </a:avLst>
          </a:prstGeom>
          <a:solidFill>
            <a:srgbClr val="F1F8E9"/>
          </a:solidFill>
          <a:ln w="17145">
            <a:solidFill>
              <a:srgbClr val="76B900"/>
            </a:solidFill>
            <a:prstDash val="solid"/>
          </a:ln>
          <a:effectLst>
            <a:outerShdw blurRad="19050" dist="12700" dir="2700000" algn="bl" rotWithShape="0">
              <a:srgbClr val="000000">
                <a:alpha val="10000"/>
              </a:srgbClr>
            </a:outerShdw>
          </a:effectLst>
        </p:spPr>
        <p:txBody>
          <a:bodyPr/>
          <a:lstStyle/>
          <a:p>
            <a:endParaRPr lang="en-GB"/>
          </a:p>
        </p:txBody>
      </p:sp>
      <p:sp>
        <p:nvSpPr>
          <p:cNvPr id="59" name="Text 57"/>
          <p:cNvSpPr/>
          <p:nvPr/>
        </p:nvSpPr>
        <p:spPr>
          <a:xfrm>
            <a:off x="1956816" y="6044184"/>
            <a:ext cx="6007608" cy="292608"/>
          </a:xfrm>
          <a:prstGeom prst="rect">
            <a:avLst/>
          </a:prstGeom>
          <a:noFill/>
          <a:ln/>
        </p:spPr>
        <p:txBody>
          <a:bodyPr wrap="square" lIns="0" tIns="0" rIns="0" bIns="0" rtlCol="0" anchor="ctr"/>
          <a:lstStyle/>
          <a:p>
            <a:pPr marL="0" indent="0" algn="ctr">
              <a:buNone/>
            </a:pPr>
            <a:r>
              <a:rPr lang="en-US" sz="950" b="1" dirty="0">
                <a:solidFill>
                  <a:srgbClr val="111827"/>
                </a:solidFill>
                <a:latin typeface="Aptos" pitchFamily="34" charset="0"/>
                <a:ea typeface="Aptos" pitchFamily="34" charset="-122"/>
                <a:cs typeface="Aptos" pitchFamily="34" charset="-120"/>
              </a:rPr>
              <a:t>Refinement is feed-forward: blocks operate on residual histories, not recurrent states.</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ED6814-A5A2-EDE0-704A-FF3E22341083}"/>
              </a:ext>
            </a:extLst>
          </p:cNvPr>
          <p:cNvSpPr>
            <a:spLocks noGrp="1"/>
          </p:cNvSpPr>
          <p:nvPr>
            <p:ph type="title"/>
          </p:nvPr>
        </p:nvSpPr>
        <p:spPr/>
        <p:txBody>
          <a:bodyPr/>
          <a:lstStyle/>
          <a:p>
            <a:r>
              <a:rPr lang="en-GB" dirty="0" err="1"/>
              <a:t>InceptionTime</a:t>
            </a:r>
            <a:r>
              <a:rPr lang="en-GB" dirty="0"/>
              <a:t>: multiscale learned convolution</a:t>
            </a:r>
          </a:p>
        </p:txBody>
      </p:sp>
      <p:sp>
        <p:nvSpPr>
          <p:cNvPr id="3" name="Segnaposto contenuto 2">
            <a:extLst>
              <a:ext uri="{FF2B5EF4-FFF2-40B4-BE49-F238E27FC236}">
                <a16:creationId xmlns:a16="http://schemas.microsoft.com/office/drawing/2014/main" id="{3E017725-31B5-CAD6-B7A3-0775A92B84A0}"/>
              </a:ext>
            </a:extLst>
          </p:cNvPr>
          <p:cNvSpPr>
            <a:spLocks noGrp="1"/>
          </p:cNvSpPr>
          <p:nvPr>
            <p:ph idx="1"/>
          </p:nvPr>
        </p:nvSpPr>
        <p:spPr/>
        <p:txBody>
          <a:bodyPr>
            <a:normAutofit fontScale="47500" lnSpcReduction="20000"/>
          </a:bodyPr>
          <a:lstStyle/>
          <a:p>
            <a:r>
              <a:rPr lang="en-GB" dirty="0" err="1"/>
              <a:t>InceptionTime</a:t>
            </a:r>
            <a:r>
              <a:rPr lang="en-GB" dirty="0"/>
              <a:t> represents the convolutional family.</a:t>
            </a:r>
          </a:p>
          <a:p>
            <a:r>
              <a:rPr lang="en-GB" dirty="0"/>
              <a:t>As introduced in Lecture 5, an Inception-style module applies several temporal transformations in parallel.</a:t>
            </a:r>
          </a:p>
          <a:p>
            <a:r>
              <a:rPr lang="en-GB" dirty="0"/>
              <a:t>             ┌→ short kernel ──┐</a:t>
            </a:r>
          </a:p>
          <a:p>
            <a:r>
              <a:rPr lang="en-GB" dirty="0"/>
              <a:t>input ──┼→ medium kernel ─┼→ combine</a:t>
            </a:r>
          </a:p>
          <a:p>
            <a:r>
              <a:rPr lang="en-GB" dirty="0"/>
              <a:t>             └→ long kernel ───┘</a:t>
            </a:r>
          </a:p>
          <a:p>
            <a:r>
              <a:rPr lang="en-GB" b="1" dirty="0"/>
              <a:t>Main idea</a:t>
            </a:r>
          </a:p>
          <a:p>
            <a:r>
              <a:rPr lang="en-GB" dirty="0"/>
              <a:t>Different kernel lengths learn temporal patterns at different scales.</a:t>
            </a:r>
          </a:p>
          <a:p>
            <a:r>
              <a:rPr lang="en-GB" b="1" dirty="0"/>
              <a:t>Particularly associated with</a:t>
            </a:r>
          </a:p>
          <a:p>
            <a:pPr lvl="0"/>
            <a:r>
              <a:rPr lang="en-GB" dirty="0"/>
              <a:t>time-series classification. </a:t>
            </a:r>
          </a:p>
          <a:p>
            <a:r>
              <a:rPr lang="en-GB" b="1" dirty="0"/>
              <a:t>Main lesson</a:t>
            </a:r>
          </a:p>
          <a:p>
            <a:r>
              <a:rPr lang="en-GB" dirty="0"/>
              <a:t>Multiscale temporal structure can be learned directly through parallel convolutional branches.</a:t>
            </a:r>
          </a:p>
          <a:p>
            <a:r>
              <a:rPr lang="en-GB" b="1" dirty="0"/>
              <a:t>Architectural bias</a:t>
            </a:r>
          </a:p>
          <a:p>
            <a:r>
              <a:rPr lang="en-GB" dirty="0"/>
              <a:t>Strong emphasis on:</a:t>
            </a:r>
          </a:p>
          <a:p>
            <a:pPr lvl="1"/>
            <a:r>
              <a:rPr lang="en-GB" dirty="0"/>
              <a:t>local patterns; </a:t>
            </a:r>
          </a:p>
          <a:p>
            <a:pPr lvl="1"/>
            <a:r>
              <a:rPr lang="en-GB" dirty="0"/>
              <a:t>multiscale motifs; </a:t>
            </a:r>
          </a:p>
          <a:p>
            <a:pPr lvl="1"/>
            <a:r>
              <a:rPr lang="en-GB" dirty="0"/>
              <a:t>translation of patterns across time.</a:t>
            </a:r>
          </a:p>
          <a:p>
            <a:endParaRPr lang="en-GB" dirty="0"/>
          </a:p>
        </p:txBody>
      </p:sp>
    </p:spTree>
    <p:extLst>
      <p:ext uri="{BB962C8B-B14F-4D97-AF65-F5344CB8AC3E}">
        <p14:creationId xmlns:p14="http://schemas.microsoft.com/office/powerpoint/2010/main" val="273515748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InceptionTime: multiscale learned convolution</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Parallel kernels extract patterns at several temporal scales.</a:t>
            </a:r>
            <a:endParaRPr lang="en-US" sz="850" dirty="0"/>
          </a:p>
        </p:txBody>
      </p:sp>
      <p:sp>
        <p:nvSpPr>
          <p:cNvPr id="8" name="Shape 6"/>
          <p:cNvSpPr/>
          <p:nvPr/>
        </p:nvSpPr>
        <p:spPr>
          <a:xfrm>
            <a:off x="868680" y="2743200"/>
            <a:ext cx="1051560" cy="548640"/>
          </a:xfrm>
          <a:prstGeom prst="roundRect">
            <a:avLst>
              <a:gd name="adj" fmla="val 13333"/>
            </a:avLst>
          </a:prstGeom>
          <a:solidFill>
            <a:srgbClr val="BFD7FF"/>
          </a:solidFill>
          <a:ln w="13970">
            <a:solidFill>
              <a:srgbClr val="3C7BE8"/>
            </a:solidFill>
            <a:prstDash val="solid"/>
          </a:ln>
        </p:spPr>
        <p:txBody>
          <a:bodyPr/>
          <a:lstStyle/>
          <a:p>
            <a:endParaRPr lang="en-GB"/>
          </a:p>
        </p:txBody>
      </p:sp>
      <p:sp>
        <p:nvSpPr>
          <p:cNvPr id="9" name="Text 7"/>
          <p:cNvSpPr/>
          <p:nvPr/>
        </p:nvSpPr>
        <p:spPr>
          <a:xfrm>
            <a:off x="905256" y="2788920"/>
            <a:ext cx="978408" cy="457200"/>
          </a:xfrm>
          <a:prstGeom prst="rect">
            <a:avLst/>
          </a:prstGeom>
          <a:noFill/>
          <a:ln/>
        </p:spPr>
        <p:txBody>
          <a:bodyPr wrap="square" lIns="0" tIns="0" rIns="0" bIns="0" rtlCol="0" anchor="ctr">
            <a:normAutofit/>
          </a:bodyPr>
          <a:lstStyle/>
          <a:p>
            <a:pPr marL="0" indent="0" algn="ctr">
              <a:buNone/>
            </a:pPr>
            <a:r>
              <a:rPr lang="en-US" sz="800" b="1" dirty="0">
                <a:solidFill>
                  <a:srgbClr val="122033"/>
                </a:solidFill>
                <a:latin typeface="Aptos" pitchFamily="34" charset="0"/>
                <a:ea typeface="Aptos" pitchFamily="34" charset="-122"/>
                <a:cs typeface="Aptos" pitchFamily="34" charset="-120"/>
              </a:rPr>
              <a:t>input</a:t>
            </a:r>
            <a:endParaRPr lang="en-US" sz="800" dirty="0"/>
          </a:p>
          <a:p>
            <a:pPr marL="0" indent="0" algn="ctr">
              <a:buNone/>
            </a:pPr>
            <a:r>
              <a:rPr lang="en-US" sz="800" b="1" dirty="0">
                <a:solidFill>
                  <a:srgbClr val="122033"/>
                </a:solidFill>
                <a:latin typeface="Aptos" pitchFamily="34" charset="0"/>
                <a:ea typeface="Aptos" pitchFamily="34" charset="-122"/>
                <a:cs typeface="Aptos" pitchFamily="34" charset="-120"/>
              </a:rPr>
              <a:t>sequence</a:t>
            </a:r>
            <a:endParaRPr lang="en-US" sz="800" dirty="0"/>
          </a:p>
        </p:txBody>
      </p:sp>
      <p:sp>
        <p:nvSpPr>
          <p:cNvPr id="10" name="Shape 8"/>
          <p:cNvSpPr/>
          <p:nvPr/>
        </p:nvSpPr>
        <p:spPr>
          <a:xfrm>
            <a:off x="1965960" y="3017520"/>
            <a:ext cx="731520" cy="0"/>
          </a:xfrm>
          <a:prstGeom prst="line">
            <a:avLst/>
          </a:prstGeom>
          <a:noFill/>
          <a:ln w="12700">
            <a:solidFill>
              <a:srgbClr val="86B817"/>
            </a:solidFill>
            <a:prstDash val="solid"/>
            <a:headEnd type="none"/>
            <a:tailEnd type="triangle"/>
          </a:ln>
        </p:spPr>
        <p:txBody>
          <a:bodyPr/>
          <a:lstStyle/>
          <a:p>
            <a:endParaRPr lang="en-GB"/>
          </a:p>
        </p:txBody>
      </p:sp>
      <p:sp>
        <p:nvSpPr>
          <p:cNvPr id="11" name="Shape 9"/>
          <p:cNvSpPr/>
          <p:nvPr/>
        </p:nvSpPr>
        <p:spPr>
          <a:xfrm>
            <a:off x="2743200" y="1691640"/>
            <a:ext cx="1371600" cy="548640"/>
          </a:xfrm>
          <a:prstGeom prst="roundRect">
            <a:avLst>
              <a:gd name="adj" fmla="val 13333"/>
            </a:avLst>
          </a:prstGeom>
          <a:solidFill>
            <a:srgbClr val="E9F6D7"/>
          </a:solidFill>
          <a:ln w="13970">
            <a:solidFill>
              <a:srgbClr val="86B817"/>
            </a:solidFill>
            <a:prstDash val="solid"/>
          </a:ln>
        </p:spPr>
        <p:txBody>
          <a:bodyPr/>
          <a:lstStyle/>
          <a:p>
            <a:endParaRPr lang="en-GB"/>
          </a:p>
        </p:txBody>
      </p:sp>
      <p:sp>
        <p:nvSpPr>
          <p:cNvPr id="12" name="Text 10"/>
          <p:cNvSpPr/>
          <p:nvPr/>
        </p:nvSpPr>
        <p:spPr>
          <a:xfrm>
            <a:off x="2779776" y="1737360"/>
            <a:ext cx="1298448" cy="457200"/>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short kernel</a:t>
            </a:r>
            <a:endParaRPr lang="en-US" sz="720" dirty="0"/>
          </a:p>
          <a:p>
            <a:pPr marL="0" indent="0" algn="ctr">
              <a:buNone/>
            </a:pPr>
            <a:r>
              <a:rPr lang="en-US" sz="720" b="1" dirty="0">
                <a:solidFill>
                  <a:srgbClr val="122033"/>
                </a:solidFill>
                <a:latin typeface="Aptos" pitchFamily="34" charset="0"/>
                <a:ea typeface="Aptos" pitchFamily="34" charset="-122"/>
                <a:cs typeface="Aptos" pitchFamily="34" charset="-120"/>
              </a:rPr>
              <a:t>K=3</a:t>
            </a:r>
            <a:endParaRPr lang="en-US" sz="720" dirty="0"/>
          </a:p>
        </p:txBody>
      </p:sp>
      <p:sp>
        <p:nvSpPr>
          <p:cNvPr id="13" name="Shape 11"/>
          <p:cNvSpPr/>
          <p:nvPr/>
        </p:nvSpPr>
        <p:spPr>
          <a:xfrm>
            <a:off x="4160520" y="1965960"/>
            <a:ext cx="1508760" cy="1051560"/>
          </a:xfrm>
          <a:prstGeom prst="line">
            <a:avLst/>
          </a:prstGeom>
          <a:noFill/>
          <a:ln w="12700">
            <a:solidFill>
              <a:srgbClr val="86B817"/>
            </a:solidFill>
            <a:prstDash val="solid"/>
            <a:headEnd type="none"/>
            <a:tailEnd type="triangle"/>
          </a:ln>
        </p:spPr>
        <p:txBody>
          <a:bodyPr/>
          <a:lstStyle/>
          <a:p>
            <a:endParaRPr lang="en-GB"/>
          </a:p>
        </p:txBody>
      </p:sp>
      <p:sp>
        <p:nvSpPr>
          <p:cNvPr id="14" name="Shape 12"/>
          <p:cNvSpPr/>
          <p:nvPr/>
        </p:nvSpPr>
        <p:spPr>
          <a:xfrm>
            <a:off x="1965960" y="3017520"/>
            <a:ext cx="731520" cy="0"/>
          </a:xfrm>
          <a:prstGeom prst="line">
            <a:avLst/>
          </a:prstGeom>
          <a:noFill/>
          <a:ln w="12700">
            <a:solidFill>
              <a:srgbClr val="E5A100"/>
            </a:solidFill>
            <a:prstDash val="solid"/>
            <a:headEnd type="none"/>
            <a:tailEnd type="triangle"/>
          </a:ln>
        </p:spPr>
        <p:txBody>
          <a:bodyPr/>
          <a:lstStyle/>
          <a:p>
            <a:endParaRPr lang="en-GB"/>
          </a:p>
        </p:txBody>
      </p:sp>
      <p:sp>
        <p:nvSpPr>
          <p:cNvPr id="15" name="Shape 13"/>
          <p:cNvSpPr/>
          <p:nvPr/>
        </p:nvSpPr>
        <p:spPr>
          <a:xfrm>
            <a:off x="2743200" y="2743200"/>
            <a:ext cx="1371600" cy="548640"/>
          </a:xfrm>
          <a:prstGeom prst="roundRect">
            <a:avLst>
              <a:gd name="adj" fmla="val 13333"/>
            </a:avLst>
          </a:prstGeom>
          <a:solidFill>
            <a:srgbClr val="FFE7B4"/>
          </a:solidFill>
          <a:ln w="13970">
            <a:solidFill>
              <a:srgbClr val="E5A100"/>
            </a:solidFill>
            <a:prstDash val="solid"/>
          </a:ln>
        </p:spPr>
        <p:txBody>
          <a:bodyPr/>
          <a:lstStyle/>
          <a:p>
            <a:endParaRPr lang="en-GB"/>
          </a:p>
        </p:txBody>
      </p:sp>
      <p:sp>
        <p:nvSpPr>
          <p:cNvPr id="16" name="Text 14"/>
          <p:cNvSpPr/>
          <p:nvPr/>
        </p:nvSpPr>
        <p:spPr>
          <a:xfrm>
            <a:off x="2779776" y="2788920"/>
            <a:ext cx="1298448" cy="457200"/>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medium kernel</a:t>
            </a:r>
            <a:endParaRPr lang="en-US" sz="720" dirty="0"/>
          </a:p>
          <a:p>
            <a:pPr marL="0" indent="0" algn="ctr">
              <a:buNone/>
            </a:pPr>
            <a:r>
              <a:rPr lang="en-US" sz="720" b="1" dirty="0">
                <a:solidFill>
                  <a:srgbClr val="122033"/>
                </a:solidFill>
                <a:latin typeface="Aptos" pitchFamily="34" charset="0"/>
                <a:ea typeface="Aptos" pitchFamily="34" charset="-122"/>
                <a:cs typeface="Aptos" pitchFamily="34" charset="-120"/>
              </a:rPr>
              <a:t>K=15</a:t>
            </a:r>
            <a:endParaRPr lang="en-US" sz="720" dirty="0"/>
          </a:p>
        </p:txBody>
      </p:sp>
      <p:sp>
        <p:nvSpPr>
          <p:cNvPr id="17" name="Shape 15"/>
          <p:cNvSpPr/>
          <p:nvPr/>
        </p:nvSpPr>
        <p:spPr>
          <a:xfrm>
            <a:off x="4160520" y="3017520"/>
            <a:ext cx="1508760" cy="0"/>
          </a:xfrm>
          <a:prstGeom prst="line">
            <a:avLst/>
          </a:prstGeom>
          <a:noFill/>
          <a:ln w="12700">
            <a:solidFill>
              <a:srgbClr val="E5A100"/>
            </a:solidFill>
            <a:prstDash val="solid"/>
            <a:headEnd type="none"/>
            <a:tailEnd type="triangle"/>
          </a:ln>
        </p:spPr>
        <p:txBody>
          <a:bodyPr/>
          <a:lstStyle/>
          <a:p>
            <a:endParaRPr lang="en-GB"/>
          </a:p>
        </p:txBody>
      </p:sp>
      <p:sp>
        <p:nvSpPr>
          <p:cNvPr id="18" name="Shape 16"/>
          <p:cNvSpPr/>
          <p:nvPr/>
        </p:nvSpPr>
        <p:spPr>
          <a:xfrm>
            <a:off x="1965960" y="3017520"/>
            <a:ext cx="731520" cy="1051560"/>
          </a:xfrm>
          <a:prstGeom prst="line">
            <a:avLst/>
          </a:prstGeom>
          <a:noFill/>
          <a:ln w="12700">
            <a:solidFill>
              <a:srgbClr val="895DE8"/>
            </a:solidFill>
            <a:prstDash val="solid"/>
            <a:headEnd type="none"/>
            <a:tailEnd type="triangle"/>
          </a:ln>
        </p:spPr>
        <p:txBody>
          <a:bodyPr/>
          <a:lstStyle/>
          <a:p>
            <a:endParaRPr lang="en-GB"/>
          </a:p>
        </p:txBody>
      </p:sp>
      <p:sp>
        <p:nvSpPr>
          <p:cNvPr id="19" name="Shape 17"/>
          <p:cNvSpPr/>
          <p:nvPr/>
        </p:nvSpPr>
        <p:spPr>
          <a:xfrm>
            <a:off x="2743200" y="3794760"/>
            <a:ext cx="1371600" cy="548640"/>
          </a:xfrm>
          <a:prstGeom prst="roundRect">
            <a:avLst>
              <a:gd name="adj" fmla="val 13333"/>
            </a:avLst>
          </a:prstGeom>
          <a:solidFill>
            <a:srgbClr val="E3D4FF"/>
          </a:solidFill>
          <a:ln w="13970">
            <a:solidFill>
              <a:srgbClr val="895DE8"/>
            </a:solidFill>
            <a:prstDash val="solid"/>
          </a:ln>
        </p:spPr>
        <p:txBody>
          <a:bodyPr/>
          <a:lstStyle/>
          <a:p>
            <a:endParaRPr lang="en-GB"/>
          </a:p>
        </p:txBody>
      </p:sp>
      <p:sp>
        <p:nvSpPr>
          <p:cNvPr id="20" name="Text 18"/>
          <p:cNvSpPr/>
          <p:nvPr/>
        </p:nvSpPr>
        <p:spPr>
          <a:xfrm>
            <a:off x="2779776" y="3840480"/>
            <a:ext cx="1298448" cy="457200"/>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long kernel</a:t>
            </a:r>
            <a:endParaRPr lang="en-US" sz="720" dirty="0"/>
          </a:p>
          <a:p>
            <a:pPr marL="0" indent="0" algn="ctr">
              <a:buNone/>
            </a:pPr>
            <a:r>
              <a:rPr lang="en-US" sz="720" b="1" dirty="0">
                <a:solidFill>
                  <a:srgbClr val="122033"/>
                </a:solidFill>
                <a:latin typeface="Aptos" pitchFamily="34" charset="0"/>
                <a:ea typeface="Aptos" pitchFamily="34" charset="-122"/>
                <a:cs typeface="Aptos" pitchFamily="34" charset="-120"/>
              </a:rPr>
              <a:t>K=39</a:t>
            </a:r>
            <a:endParaRPr lang="en-US" sz="720" dirty="0"/>
          </a:p>
        </p:txBody>
      </p:sp>
      <p:sp>
        <p:nvSpPr>
          <p:cNvPr id="21" name="Shape 19"/>
          <p:cNvSpPr/>
          <p:nvPr/>
        </p:nvSpPr>
        <p:spPr>
          <a:xfrm flipV="1">
            <a:off x="4160520" y="3063240"/>
            <a:ext cx="1490472" cy="1005840"/>
          </a:xfrm>
          <a:prstGeom prst="line">
            <a:avLst/>
          </a:prstGeom>
          <a:noFill/>
          <a:ln w="12700">
            <a:solidFill>
              <a:srgbClr val="895DE8"/>
            </a:solidFill>
            <a:prstDash val="solid"/>
            <a:headEnd type="none"/>
            <a:tailEnd type="triangle"/>
          </a:ln>
        </p:spPr>
        <p:txBody>
          <a:bodyPr/>
          <a:lstStyle/>
          <a:p>
            <a:endParaRPr lang="en-GB"/>
          </a:p>
        </p:txBody>
      </p:sp>
      <p:sp>
        <p:nvSpPr>
          <p:cNvPr id="22" name="Shape 20"/>
          <p:cNvSpPr/>
          <p:nvPr/>
        </p:nvSpPr>
        <p:spPr>
          <a:xfrm>
            <a:off x="5715000" y="2743200"/>
            <a:ext cx="1234440" cy="548640"/>
          </a:xfrm>
          <a:prstGeom prst="roundRect">
            <a:avLst>
              <a:gd name="adj" fmla="val 13333"/>
            </a:avLst>
          </a:prstGeom>
          <a:solidFill>
            <a:srgbClr val="F3F6F9"/>
          </a:solidFill>
          <a:ln w="13970">
            <a:solidFill>
              <a:srgbClr val="8DA0B8"/>
            </a:solidFill>
            <a:prstDash val="solid"/>
          </a:ln>
        </p:spPr>
        <p:txBody>
          <a:bodyPr/>
          <a:lstStyle/>
          <a:p>
            <a:endParaRPr lang="en-GB"/>
          </a:p>
        </p:txBody>
      </p:sp>
      <p:sp>
        <p:nvSpPr>
          <p:cNvPr id="23" name="Text 21"/>
          <p:cNvSpPr/>
          <p:nvPr/>
        </p:nvSpPr>
        <p:spPr>
          <a:xfrm>
            <a:off x="5751576" y="2788920"/>
            <a:ext cx="1161288" cy="457200"/>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concatenate</a:t>
            </a:r>
            <a:endParaRPr lang="en-US" sz="720" dirty="0"/>
          </a:p>
          <a:p>
            <a:pPr marL="0" indent="0" algn="ctr">
              <a:buNone/>
            </a:pPr>
            <a:r>
              <a:rPr lang="en-US" sz="720" b="1" dirty="0">
                <a:solidFill>
                  <a:srgbClr val="122033"/>
                </a:solidFill>
                <a:latin typeface="Aptos" pitchFamily="34" charset="0"/>
                <a:ea typeface="Aptos" pitchFamily="34" charset="-122"/>
                <a:cs typeface="Aptos" pitchFamily="34" charset="-120"/>
              </a:rPr>
              <a:t>channels</a:t>
            </a:r>
            <a:endParaRPr lang="en-US" sz="720" dirty="0"/>
          </a:p>
        </p:txBody>
      </p:sp>
      <p:sp>
        <p:nvSpPr>
          <p:cNvPr id="24" name="Shape 22"/>
          <p:cNvSpPr/>
          <p:nvPr/>
        </p:nvSpPr>
        <p:spPr>
          <a:xfrm>
            <a:off x="6995160" y="3017520"/>
            <a:ext cx="640080" cy="0"/>
          </a:xfrm>
          <a:prstGeom prst="line">
            <a:avLst/>
          </a:prstGeom>
          <a:noFill/>
          <a:ln w="13970">
            <a:solidFill>
              <a:srgbClr val="8DA0B8"/>
            </a:solidFill>
            <a:prstDash val="solid"/>
            <a:headEnd type="none"/>
            <a:tailEnd type="triangle"/>
          </a:ln>
        </p:spPr>
        <p:txBody>
          <a:bodyPr/>
          <a:lstStyle/>
          <a:p>
            <a:endParaRPr lang="en-GB"/>
          </a:p>
        </p:txBody>
      </p:sp>
      <p:sp>
        <p:nvSpPr>
          <p:cNvPr id="25" name="Shape 23"/>
          <p:cNvSpPr/>
          <p:nvPr/>
        </p:nvSpPr>
        <p:spPr>
          <a:xfrm>
            <a:off x="7680960" y="2743200"/>
            <a:ext cx="1097280" cy="548640"/>
          </a:xfrm>
          <a:prstGeom prst="roundRect">
            <a:avLst>
              <a:gd name="adj" fmla="val 13333"/>
            </a:avLst>
          </a:prstGeom>
          <a:solidFill>
            <a:srgbClr val="FFD6E0"/>
          </a:solidFill>
          <a:ln w="13970">
            <a:solidFill>
              <a:srgbClr val="EE6A7C"/>
            </a:solidFill>
            <a:prstDash val="solid"/>
          </a:ln>
        </p:spPr>
        <p:txBody>
          <a:bodyPr/>
          <a:lstStyle/>
          <a:p>
            <a:endParaRPr lang="en-GB"/>
          </a:p>
        </p:txBody>
      </p:sp>
      <p:sp>
        <p:nvSpPr>
          <p:cNvPr id="26" name="Text 24"/>
          <p:cNvSpPr/>
          <p:nvPr/>
        </p:nvSpPr>
        <p:spPr>
          <a:xfrm>
            <a:off x="7717536" y="2788920"/>
            <a:ext cx="1024128" cy="457200"/>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classifier /</a:t>
            </a:r>
            <a:endParaRPr lang="en-US" sz="720" dirty="0"/>
          </a:p>
          <a:p>
            <a:pPr marL="0" indent="0" algn="ctr">
              <a:buNone/>
            </a:pPr>
            <a:r>
              <a:rPr lang="en-US" sz="720" b="1" dirty="0">
                <a:solidFill>
                  <a:srgbClr val="122033"/>
                </a:solidFill>
                <a:latin typeface="Aptos" pitchFamily="34" charset="0"/>
                <a:ea typeface="Aptos" pitchFamily="34" charset="-122"/>
                <a:cs typeface="Aptos" pitchFamily="34" charset="-120"/>
              </a:rPr>
              <a:t>next block</a:t>
            </a:r>
            <a:endParaRPr lang="en-US" sz="720" dirty="0"/>
          </a:p>
        </p:txBody>
      </p:sp>
      <p:sp>
        <p:nvSpPr>
          <p:cNvPr id="27" name="Shape 25"/>
          <p:cNvSpPr/>
          <p:nvPr/>
        </p:nvSpPr>
        <p:spPr>
          <a:xfrm>
            <a:off x="2651760" y="4892040"/>
            <a:ext cx="4572000" cy="411480"/>
          </a:xfrm>
          <a:prstGeom prst="roundRect">
            <a:avLst>
              <a:gd name="adj" fmla="val 17778"/>
            </a:avLst>
          </a:prstGeom>
          <a:solidFill>
            <a:srgbClr val="E9F6D7"/>
          </a:solidFill>
          <a:ln w="13970">
            <a:solidFill>
              <a:srgbClr val="86B817"/>
            </a:solidFill>
            <a:prstDash val="solid"/>
          </a:ln>
        </p:spPr>
        <p:txBody>
          <a:bodyPr/>
          <a:lstStyle/>
          <a:p>
            <a:endParaRPr lang="en-GB"/>
          </a:p>
        </p:txBody>
      </p:sp>
      <p:sp>
        <p:nvSpPr>
          <p:cNvPr id="28" name="Text 26"/>
          <p:cNvSpPr/>
          <p:nvPr/>
        </p:nvSpPr>
        <p:spPr>
          <a:xfrm>
            <a:off x="2688336" y="4937760"/>
            <a:ext cx="4498848" cy="320040"/>
          </a:xfrm>
          <a:prstGeom prst="rect">
            <a:avLst/>
          </a:prstGeom>
          <a:noFill/>
          <a:ln/>
        </p:spPr>
        <p:txBody>
          <a:bodyPr wrap="square" lIns="0" tIns="0" rIns="0" bIns="0" rtlCol="0" anchor="ctr">
            <a:normAutofit/>
          </a:bodyPr>
          <a:lstStyle/>
          <a:p>
            <a:pPr marL="0" indent="0" algn="ctr">
              <a:buNone/>
            </a:pPr>
            <a:r>
              <a:rPr lang="en-US" sz="900" b="1" dirty="0">
                <a:solidFill>
                  <a:srgbClr val="122033"/>
                </a:solidFill>
                <a:latin typeface="Aptos" pitchFamily="34" charset="0"/>
                <a:ea typeface="Aptos" pitchFamily="34" charset="-122"/>
                <a:cs typeface="Aptos" pitchFamily="34" charset="-120"/>
              </a:rPr>
              <a:t>Different kernel lengths give different temporal scales.</a:t>
            </a:r>
            <a:endParaRPr lang="en-US" sz="900" dirty="0"/>
          </a:p>
        </p:txBody>
      </p:sp>
      <p:sp>
        <p:nvSpPr>
          <p:cNvPr id="30" name="Shape 11">
            <a:extLst>
              <a:ext uri="{FF2B5EF4-FFF2-40B4-BE49-F238E27FC236}">
                <a16:creationId xmlns:a16="http://schemas.microsoft.com/office/drawing/2014/main" id="{99F83A74-CE7A-0A17-17E7-751E6837C52F}"/>
              </a:ext>
            </a:extLst>
          </p:cNvPr>
          <p:cNvSpPr/>
          <p:nvPr/>
        </p:nvSpPr>
        <p:spPr>
          <a:xfrm flipV="1">
            <a:off x="1952244" y="1937385"/>
            <a:ext cx="754380" cy="1051560"/>
          </a:xfrm>
          <a:prstGeom prst="line">
            <a:avLst/>
          </a:prstGeom>
          <a:noFill/>
          <a:ln w="12700">
            <a:solidFill>
              <a:srgbClr val="86B817"/>
            </a:solidFill>
            <a:prstDash val="solid"/>
            <a:headEnd type="none"/>
            <a:tailEnd type="triangle"/>
          </a:ln>
        </p:spPr>
        <p:txBody>
          <a:bodyPr/>
          <a:lstStyle/>
          <a:p>
            <a:endParaRPr lang="en-GB"/>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7490D7-9490-8FB4-0E16-6B75D533BDFC}"/>
              </a:ext>
            </a:extLst>
          </p:cNvPr>
          <p:cNvSpPr>
            <a:spLocks noGrp="1"/>
          </p:cNvSpPr>
          <p:nvPr>
            <p:ph type="title"/>
          </p:nvPr>
        </p:nvSpPr>
        <p:spPr/>
        <p:txBody>
          <a:bodyPr/>
          <a:lstStyle/>
          <a:p>
            <a:r>
              <a:rPr lang="en-GB" dirty="0" err="1"/>
              <a:t>MiniROCKET</a:t>
            </a:r>
            <a:r>
              <a:rPr lang="en-GB" dirty="0"/>
              <a:t>: many convolutional features, simple classifier</a:t>
            </a:r>
          </a:p>
        </p:txBody>
      </p:sp>
      <p:sp>
        <p:nvSpPr>
          <p:cNvPr id="3" name="Segnaposto contenuto 2">
            <a:extLst>
              <a:ext uri="{FF2B5EF4-FFF2-40B4-BE49-F238E27FC236}">
                <a16:creationId xmlns:a16="http://schemas.microsoft.com/office/drawing/2014/main" id="{77612D45-C497-1C61-BA9F-89C4369C2B71}"/>
              </a:ext>
            </a:extLst>
          </p:cNvPr>
          <p:cNvSpPr>
            <a:spLocks noGrp="1"/>
          </p:cNvSpPr>
          <p:nvPr>
            <p:ph sz="half" idx="1"/>
          </p:nvPr>
        </p:nvSpPr>
        <p:spPr>
          <a:xfrm>
            <a:off x="677334" y="2160588"/>
            <a:ext cx="5199591" cy="4373561"/>
          </a:xfrm>
        </p:spPr>
        <p:txBody>
          <a:bodyPr>
            <a:normAutofit fontScale="92500" lnSpcReduction="10000"/>
          </a:bodyPr>
          <a:lstStyle/>
          <a:p>
            <a:r>
              <a:rPr lang="en-GB" dirty="0" err="1"/>
              <a:t>MiniROCKET</a:t>
            </a:r>
            <a:r>
              <a:rPr lang="en-GB" dirty="0"/>
              <a:t> occupies an interesting position between handcrafted features and end-to-end deep learning.</a:t>
            </a:r>
          </a:p>
          <a:p>
            <a:r>
              <a:rPr lang="en-GB" dirty="0"/>
              <a:t>Conceptually:</a:t>
            </a:r>
          </a:p>
          <a:p>
            <a:pPr lvl="1"/>
            <a:r>
              <a:rPr lang="en-GB" dirty="0"/>
              <a:t>input sequence</a:t>
            </a:r>
          </a:p>
          <a:p>
            <a:pPr lvl="1"/>
            <a:r>
              <a:rPr lang="en-GB" dirty="0"/>
              <a:t>      ↓</a:t>
            </a:r>
          </a:p>
          <a:p>
            <a:pPr lvl="1"/>
            <a:r>
              <a:rPr lang="en-GB" dirty="0"/>
              <a:t>many convolutional transformations</a:t>
            </a:r>
          </a:p>
          <a:p>
            <a:pPr lvl="1"/>
            <a:r>
              <a:rPr lang="en-GB" dirty="0"/>
              <a:t>      ↓</a:t>
            </a:r>
          </a:p>
          <a:p>
            <a:pPr lvl="1"/>
            <a:r>
              <a:rPr lang="en-GB" dirty="0"/>
              <a:t>large temporal feature vector</a:t>
            </a:r>
          </a:p>
          <a:p>
            <a:pPr lvl="1"/>
            <a:r>
              <a:rPr lang="en-GB" dirty="0"/>
              <a:t>      ↓</a:t>
            </a:r>
          </a:p>
          <a:p>
            <a:pPr lvl="1"/>
            <a:r>
              <a:rPr lang="en-GB" dirty="0"/>
              <a:t>linear classifier</a:t>
            </a:r>
          </a:p>
          <a:p>
            <a:endParaRPr lang="en-GB" dirty="0"/>
          </a:p>
        </p:txBody>
      </p:sp>
      <p:sp>
        <p:nvSpPr>
          <p:cNvPr id="4" name="Segnaposto contenuto 3">
            <a:extLst>
              <a:ext uri="{FF2B5EF4-FFF2-40B4-BE49-F238E27FC236}">
                <a16:creationId xmlns:a16="http://schemas.microsoft.com/office/drawing/2014/main" id="{EFFBEA82-8707-B15D-ED88-3CCD1ECB1F0D}"/>
              </a:ext>
            </a:extLst>
          </p:cNvPr>
          <p:cNvSpPr>
            <a:spLocks noGrp="1"/>
          </p:cNvSpPr>
          <p:nvPr>
            <p:ph sz="half" idx="2"/>
          </p:nvPr>
        </p:nvSpPr>
        <p:spPr>
          <a:xfrm>
            <a:off x="6747319" y="2055814"/>
            <a:ext cx="5282755" cy="4621211"/>
          </a:xfrm>
        </p:spPr>
        <p:txBody>
          <a:bodyPr>
            <a:normAutofit fontScale="92500" lnSpcReduction="10000"/>
          </a:bodyPr>
          <a:lstStyle/>
          <a:p>
            <a:r>
              <a:rPr lang="en-GB" b="1" dirty="0"/>
              <a:t>Key idea</a:t>
            </a:r>
          </a:p>
          <a:p>
            <a:r>
              <a:rPr lang="en-GB" dirty="0"/>
              <a:t>Instead of learning a deep network end-to-end, many convolution-based features are generated very efficiently.</a:t>
            </a:r>
          </a:p>
          <a:p>
            <a:r>
              <a:rPr lang="en-GB" dirty="0"/>
              <a:t>A simple linear classifier is then trained on those features.</a:t>
            </a:r>
          </a:p>
          <a:p>
            <a:r>
              <a:rPr lang="en-GB" b="1" dirty="0"/>
              <a:t>Important consequence</a:t>
            </a:r>
          </a:p>
          <a:p>
            <a:r>
              <a:rPr lang="en-GB" b="1" dirty="0"/>
              <a:t>Most of the representational machinery is not learned through deep backpropagation.</a:t>
            </a:r>
          </a:p>
          <a:p>
            <a:r>
              <a:rPr lang="en-GB" b="1" dirty="0"/>
              <a:t>Why is this interesting?</a:t>
            </a:r>
          </a:p>
          <a:p>
            <a:r>
              <a:rPr lang="en-GB" dirty="0"/>
              <a:t>It shows that:</a:t>
            </a:r>
          </a:p>
          <a:p>
            <a:pPr lvl="1"/>
            <a:r>
              <a:rPr lang="en-GB" dirty="0"/>
              <a:t>a rich temporal representation combined with a simple classifier can be extremely competitive.</a:t>
            </a:r>
          </a:p>
          <a:p>
            <a:pPr lvl="1"/>
            <a:r>
              <a:rPr lang="en-GB" dirty="0"/>
              <a:t>This reinforces the baseline philosophy from Lecture 3.</a:t>
            </a:r>
          </a:p>
        </p:txBody>
      </p:sp>
    </p:spTree>
    <p:extLst>
      <p:ext uri="{BB962C8B-B14F-4D97-AF65-F5344CB8AC3E}">
        <p14:creationId xmlns:p14="http://schemas.microsoft.com/office/powerpoint/2010/main" val="262391995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52FCA5-F427-C27E-B8C6-2804014096EE}"/>
              </a:ext>
            </a:extLst>
          </p:cNvPr>
          <p:cNvSpPr>
            <a:spLocks noGrp="1"/>
          </p:cNvSpPr>
          <p:nvPr>
            <p:ph type="title"/>
          </p:nvPr>
        </p:nvSpPr>
        <p:spPr/>
        <p:txBody>
          <a:bodyPr/>
          <a:lstStyle/>
          <a:p>
            <a:r>
              <a:rPr lang="en-GB" dirty="0"/>
              <a:t>Where </a:t>
            </a:r>
            <a:r>
              <a:rPr lang="en-GB" dirty="0" err="1"/>
              <a:t>MiniROCKET</a:t>
            </a:r>
            <a:r>
              <a:rPr lang="en-GB" dirty="0"/>
              <a:t> fits conceptually</a:t>
            </a:r>
          </a:p>
        </p:txBody>
      </p:sp>
      <p:sp>
        <p:nvSpPr>
          <p:cNvPr id="3" name="Segnaposto contenuto 2">
            <a:extLst>
              <a:ext uri="{FF2B5EF4-FFF2-40B4-BE49-F238E27FC236}">
                <a16:creationId xmlns:a16="http://schemas.microsoft.com/office/drawing/2014/main" id="{C6354A54-D859-C832-A150-2EF101FDDAA8}"/>
              </a:ext>
            </a:extLst>
          </p:cNvPr>
          <p:cNvSpPr>
            <a:spLocks noGrp="1"/>
          </p:cNvSpPr>
          <p:nvPr>
            <p:ph sz="half" idx="1"/>
          </p:nvPr>
        </p:nvSpPr>
        <p:spPr>
          <a:xfrm>
            <a:off x="677334" y="2160589"/>
            <a:ext cx="4589991" cy="4287836"/>
          </a:xfrm>
        </p:spPr>
        <p:txBody>
          <a:bodyPr>
            <a:normAutofit fontScale="77500" lnSpcReduction="20000"/>
          </a:bodyPr>
          <a:lstStyle/>
          <a:p>
            <a:r>
              <a:rPr lang="en-GB" dirty="0"/>
              <a:t>Compare three approaches.</a:t>
            </a:r>
          </a:p>
          <a:p>
            <a:endParaRPr lang="en-GB" b="1" dirty="0"/>
          </a:p>
          <a:p>
            <a:r>
              <a:rPr lang="en-GB" b="1" dirty="0"/>
              <a:t>Handcrafted feature model</a:t>
            </a:r>
          </a:p>
          <a:p>
            <a:pPr lvl="1"/>
            <a:r>
              <a:rPr lang="en-GB" dirty="0"/>
              <a:t>sequence</a:t>
            </a:r>
          </a:p>
          <a:p>
            <a:pPr lvl="1"/>
            <a:r>
              <a:rPr lang="en-GB" dirty="0"/>
              <a:t>  ↓</a:t>
            </a:r>
          </a:p>
          <a:p>
            <a:pPr lvl="1"/>
            <a:r>
              <a:rPr lang="en-GB" dirty="0"/>
              <a:t>human-designed statistics</a:t>
            </a:r>
          </a:p>
          <a:p>
            <a:pPr lvl="1"/>
            <a:r>
              <a:rPr lang="en-GB" dirty="0"/>
              <a:t>  ↓</a:t>
            </a:r>
          </a:p>
          <a:p>
            <a:pPr lvl="1"/>
            <a:r>
              <a:rPr lang="en-GB" dirty="0"/>
              <a:t>classifier</a:t>
            </a:r>
          </a:p>
          <a:p>
            <a:endParaRPr lang="en-GB" b="1" dirty="0"/>
          </a:p>
          <a:p>
            <a:r>
              <a:rPr lang="en-GB" b="1" dirty="0" err="1"/>
              <a:t>MiniROCKET</a:t>
            </a:r>
            <a:r>
              <a:rPr lang="en-GB" b="1" dirty="0"/>
              <a:t>-like approach</a:t>
            </a:r>
          </a:p>
          <a:p>
            <a:pPr lvl="1"/>
            <a:r>
              <a:rPr lang="en-GB" dirty="0"/>
              <a:t>sequence</a:t>
            </a:r>
          </a:p>
          <a:p>
            <a:pPr lvl="1"/>
            <a:r>
              <a:rPr lang="en-GB" dirty="0"/>
              <a:t>  ↓</a:t>
            </a:r>
          </a:p>
          <a:p>
            <a:pPr lvl="1"/>
            <a:r>
              <a:rPr lang="en-GB" dirty="0"/>
              <a:t>large collection of convolution-derived features</a:t>
            </a:r>
          </a:p>
          <a:p>
            <a:pPr lvl="1"/>
            <a:r>
              <a:rPr lang="en-GB" dirty="0"/>
              <a:t>  ↓</a:t>
            </a:r>
          </a:p>
          <a:p>
            <a:pPr lvl="1"/>
            <a:r>
              <a:rPr lang="en-GB" dirty="0"/>
              <a:t>linear classifier</a:t>
            </a:r>
          </a:p>
          <a:p>
            <a:endParaRPr lang="en-GB" dirty="0"/>
          </a:p>
        </p:txBody>
      </p:sp>
      <p:sp>
        <p:nvSpPr>
          <p:cNvPr id="4" name="Segnaposto contenuto 3">
            <a:extLst>
              <a:ext uri="{FF2B5EF4-FFF2-40B4-BE49-F238E27FC236}">
                <a16:creationId xmlns:a16="http://schemas.microsoft.com/office/drawing/2014/main" id="{BB4E76BC-97DB-F2B8-F56F-EAA33C840154}"/>
              </a:ext>
            </a:extLst>
          </p:cNvPr>
          <p:cNvSpPr>
            <a:spLocks noGrp="1"/>
          </p:cNvSpPr>
          <p:nvPr>
            <p:ph sz="half" idx="2"/>
          </p:nvPr>
        </p:nvSpPr>
        <p:spPr>
          <a:xfrm>
            <a:off x="5432869" y="2160589"/>
            <a:ext cx="6635306" cy="4651372"/>
          </a:xfrm>
        </p:spPr>
        <p:txBody>
          <a:bodyPr>
            <a:normAutofit fontScale="77500" lnSpcReduction="20000"/>
          </a:bodyPr>
          <a:lstStyle/>
          <a:p>
            <a:r>
              <a:rPr lang="en-GB" b="1" dirty="0"/>
              <a:t>Learned temporal CNN</a:t>
            </a:r>
          </a:p>
          <a:p>
            <a:pPr lvl="1"/>
            <a:r>
              <a:rPr lang="en-GB" dirty="0"/>
              <a:t>sequence</a:t>
            </a:r>
          </a:p>
          <a:p>
            <a:pPr lvl="1"/>
            <a:r>
              <a:rPr lang="en-GB" dirty="0"/>
              <a:t>  ↓</a:t>
            </a:r>
          </a:p>
          <a:p>
            <a:pPr lvl="1"/>
            <a:r>
              <a:rPr lang="en-GB" dirty="0"/>
              <a:t>convolution filters </a:t>
            </a:r>
            <a:r>
              <a:rPr lang="en-GB" b="1" dirty="0"/>
              <a:t>learned</a:t>
            </a:r>
            <a:r>
              <a:rPr lang="en-GB" dirty="0"/>
              <a:t> for the task</a:t>
            </a:r>
          </a:p>
          <a:p>
            <a:pPr lvl="1"/>
            <a:r>
              <a:rPr lang="en-GB" dirty="0"/>
              <a:t>  ↓</a:t>
            </a:r>
          </a:p>
          <a:p>
            <a:pPr lvl="1"/>
            <a:r>
              <a:rPr lang="en-GB" dirty="0"/>
              <a:t>deep representation</a:t>
            </a:r>
          </a:p>
          <a:p>
            <a:pPr lvl="1"/>
            <a:r>
              <a:rPr lang="en-GB" dirty="0"/>
              <a:t>  ↓</a:t>
            </a:r>
          </a:p>
          <a:p>
            <a:pPr lvl="1"/>
            <a:r>
              <a:rPr lang="en-GB" dirty="0"/>
              <a:t>classifier</a:t>
            </a:r>
          </a:p>
          <a:p>
            <a:endParaRPr lang="en-GB" b="1" dirty="0"/>
          </a:p>
          <a:p>
            <a:r>
              <a:rPr lang="en-GB" b="1" dirty="0"/>
              <a:t>Key distinction</a:t>
            </a:r>
          </a:p>
          <a:p>
            <a:r>
              <a:rPr lang="en-GB" dirty="0" err="1"/>
              <a:t>MiniROCKET</a:t>
            </a:r>
            <a:r>
              <a:rPr lang="en-GB" dirty="0"/>
              <a:t> reduces the need for manual temporal feature engineering while also avoiding much of the: expensive end-to-end deep feature learning. </a:t>
            </a:r>
          </a:p>
          <a:p>
            <a:r>
              <a:rPr lang="en-GB" b="1" dirty="0"/>
              <a:t>Engineering lesson</a:t>
            </a:r>
          </a:p>
          <a:p>
            <a:r>
              <a:rPr lang="en-GB" dirty="0"/>
              <a:t>Representation quality and model complexity are separate design dimensions.</a:t>
            </a:r>
          </a:p>
          <a:p>
            <a:endParaRPr lang="en-GB" dirty="0"/>
          </a:p>
        </p:txBody>
      </p:sp>
    </p:spTree>
    <p:extLst>
      <p:ext uri="{BB962C8B-B14F-4D97-AF65-F5344CB8AC3E}">
        <p14:creationId xmlns:p14="http://schemas.microsoft.com/office/powerpoint/2010/main" val="111623871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MiniROCKET: many convolutional features + simple classifier</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1000" b="1" dirty="0">
                <a:solidFill>
                  <a:srgbClr val="53627A"/>
                </a:solidFill>
              </a:rPr>
              <a:t>Rich temporal representation can be paired with a linear model.</a:t>
            </a:r>
            <a:endParaRPr lang="en-US" sz="1000" b="1" dirty="0"/>
          </a:p>
        </p:txBody>
      </p:sp>
      <p:sp>
        <p:nvSpPr>
          <p:cNvPr id="8" name="Shape 6"/>
          <p:cNvSpPr/>
          <p:nvPr/>
        </p:nvSpPr>
        <p:spPr>
          <a:xfrm>
            <a:off x="731520" y="2743200"/>
            <a:ext cx="1005840" cy="502920"/>
          </a:xfrm>
          <a:prstGeom prst="roundRect">
            <a:avLst>
              <a:gd name="adj" fmla="val 14545"/>
            </a:avLst>
          </a:prstGeom>
          <a:solidFill>
            <a:srgbClr val="BFD7FF"/>
          </a:solidFill>
          <a:ln w="13970">
            <a:solidFill>
              <a:srgbClr val="3C7BE8"/>
            </a:solidFill>
            <a:prstDash val="solid"/>
          </a:ln>
        </p:spPr>
        <p:txBody>
          <a:bodyPr/>
          <a:lstStyle/>
          <a:p>
            <a:endParaRPr lang="en-GB"/>
          </a:p>
        </p:txBody>
      </p:sp>
      <p:sp>
        <p:nvSpPr>
          <p:cNvPr id="9" name="Text 7"/>
          <p:cNvSpPr/>
          <p:nvPr/>
        </p:nvSpPr>
        <p:spPr>
          <a:xfrm>
            <a:off x="768096" y="2788920"/>
            <a:ext cx="932688" cy="411480"/>
          </a:xfrm>
          <a:prstGeom prst="rect">
            <a:avLst/>
          </a:prstGeom>
          <a:noFill/>
          <a:ln/>
        </p:spPr>
        <p:txBody>
          <a:bodyPr wrap="square" lIns="0" tIns="0" rIns="0" bIns="0" rtlCol="0" anchor="ctr">
            <a:normAutofit/>
          </a:bodyPr>
          <a:lstStyle/>
          <a:p>
            <a:pPr marL="0" indent="0" algn="ctr">
              <a:buNone/>
            </a:pPr>
            <a:r>
              <a:rPr lang="en-US" sz="780" b="1" dirty="0">
                <a:solidFill>
                  <a:srgbClr val="122033"/>
                </a:solidFill>
                <a:latin typeface="Aptos" pitchFamily="34" charset="0"/>
                <a:ea typeface="Aptos" pitchFamily="34" charset="-122"/>
                <a:cs typeface="Aptos" pitchFamily="34" charset="-120"/>
              </a:rPr>
              <a:t>input</a:t>
            </a:r>
            <a:endParaRPr lang="en-US" sz="780" dirty="0"/>
          </a:p>
          <a:p>
            <a:pPr marL="0" indent="0" algn="ctr">
              <a:buNone/>
            </a:pPr>
            <a:r>
              <a:rPr lang="en-US" sz="780" b="1" dirty="0">
                <a:solidFill>
                  <a:srgbClr val="122033"/>
                </a:solidFill>
                <a:latin typeface="Aptos" pitchFamily="34" charset="0"/>
                <a:ea typeface="Aptos" pitchFamily="34" charset="-122"/>
                <a:cs typeface="Aptos" pitchFamily="34" charset="-120"/>
              </a:rPr>
              <a:t>sequence</a:t>
            </a:r>
            <a:endParaRPr lang="en-US" sz="780" dirty="0"/>
          </a:p>
        </p:txBody>
      </p:sp>
      <p:sp>
        <p:nvSpPr>
          <p:cNvPr id="10" name="Shape 8"/>
          <p:cNvSpPr/>
          <p:nvPr/>
        </p:nvSpPr>
        <p:spPr>
          <a:xfrm>
            <a:off x="1783080" y="2999232"/>
            <a:ext cx="548640" cy="0"/>
          </a:xfrm>
          <a:prstGeom prst="line">
            <a:avLst/>
          </a:prstGeom>
          <a:noFill/>
          <a:ln w="13970">
            <a:solidFill>
              <a:srgbClr val="8DA0B8"/>
            </a:solidFill>
            <a:prstDash val="solid"/>
            <a:headEnd type="none"/>
            <a:tailEnd type="triangle"/>
          </a:ln>
        </p:spPr>
        <p:txBody>
          <a:bodyPr/>
          <a:lstStyle/>
          <a:p>
            <a:endParaRPr lang="en-GB"/>
          </a:p>
        </p:txBody>
      </p:sp>
      <p:sp>
        <p:nvSpPr>
          <p:cNvPr id="11" name="Shape 9"/>
          <p:cNvSpPr/>
          <p:nvPr/>
        </p:nvSpPr>
        <p:spPr>
          <a:xfrm>
            <a:off x="2423160" y="1234440"/>
            <a:ext cx="1005840" cy="411480"/>
          </a:xfrm>
          <a:prstGeom prst="roundRect">
            <a:avLst>
              <a:gd name="adj" fmla="val 17778"/>
            </a:avLst>
          </a:prstGeom>
          <a:solidFill>
            <a:srgbClr val="E9F6D7"/>
          </a:solidFill>
          <a:ln w="13970">
            <a:solidFill>
              <a:srgbClr val="86B817"/>
            </a:solidFill>
            <a:prstDash val="solid"/>
          </a:ln>
        </p:spPr>
        <p:txBody>
          <a:bodyPr/>
          <a:lstStyle/>
          <a:p>
            <a:endParaRPr lang="en-GB"/>
          </a:p>
        </p:txBody>
      </p:sp>
      <p:sp>
        <p:nvSpPr>
          <p:cNvPr id="12" name="Text 10"/>
          <p:cNvSpPr/>
          <p:nvPr/>
        </p:nvSpPr>
        <p:spPr>
          <a:xfrm>
            <a:off x="2459736" y="1280160"/>
            <a:ext cx="932688" cy="320040"/>
          </a:xfrm>
          <a:prstGeom prst="rect">
            <a:avLst/>
          </a:prstGeom>
          <a:noFill/>
          <a:ln/>
        </p:spPr>
        <p:txBody>
          <a:bodyPr wrap="square" lIns="0" tIns="0" rIns="0" bIns="0" rtlCol="0" anchor="ctr">
            <a:normAutofit/>
          </a:bodyPr>
          <a:lstStyle/>
          <a:p>
            <a:pPr marL="0" indent="0" algn="ctr">
              <a:buNone/>
            </a:pPr>
            <a:r>
              <a:rPr lang="en-US" sz="630" b="1" dirty="0">
                <a:solidFill>
                  <a:srgbClr val="122033"/>
                </a:solidFill>
                <a:latin typeface="Aptos" pitchFamily="34" charset="0"/>
                <a:ea typeface="Aptos" pitchFamily="34" charset="-122"/>
                <a:cs typeface="Aptos" pitchFamily="34" charset="-120"/>
              </a:rPr>
              <a:t>conv</a:t>
            </a:r>
            <a:endParaRPr lang="en-US" sz="630" dirty="0"/>
          </a:p>
          <a:p>
            <a:pPr marL="0" indent="0" algn="ctr">
              <a:buNone/>
            </a:pPr>
            <a:r>
              <a:rPr lang="en-US" sz="630" b="1" dirty="0">
                <a:solidFill>
                  <a:srgbClr val="122033"/>
                </a:solidFill>
                <a:latin typeface="Aptos" pitchFamily="34" charset="0"/>
                <a:ea typeface="Aptos" pitchFamily="34" charset="-122"/>
                <a:cs typeface="Aptos" pitchFamily="34" charset="-120"/>
              </a:rPr>
              <a:t>transform 1</a:t>
            </a:r>
            <a:endParaRPr lang="en-US" sz="630" dirty="0"/>
          </a:p>
        </p:txBody>
      </p:sp>
      <p:sp>
        <p:nvSpPr>
          <p:cNvPr id="13" name="Shape 11"/>
          <p:cNvSpPr/>
          <p:nvPr/>
        </p:nvSpPr>
        <p:spPr>
          <a:xfrm>
            <a:off x="2423160" y="1874520"/>
            <a:ext cx="1005840" cy="411480"/>
          </a:xfrm>
          <a:prstGeom prst="roundRect">
            <a:avLst>
              <a:gd name="adj" fmla="val 17778"/>
            </a:avLst>
          </a:prstGeom>
          <a:solidFill>
            <a:srgbClr val="FFE7B4"/>
          </a:solidFill>
          <a:ln w="13970">
            <a:solidFill>
              <a:srgbClr val="E5A100"/>
            </a:solidFill>
            <a:prstDash val="solid"/>
          </a:ln>
        </p:spPr>
        <p:txBody>
          <a:bodyPr/>
          <a:lstStyle/>
          <a:p>
            <a:endParaRPr lang="en-GB"/>
          </a:p>
        </p:txBody>
      </p:sp>
      <p:sp>
        <p:nvSpPr>
          <p:cNvPr id="14" name="Text 12"/>
          <p:cNvSpPr/>
          <p:nvPr/>
        </p:nvSpPr>
        <p:spPr>
          <a:xfrm>
            <a:off x="2459736" y="1920240"/>
            <a:ext cx="932688" cy="320040"/>
          </a:xfrm>
          <a:prstGeom prst="rect">
            <a:avLst/>
          </a:prstGeom>
          <a:noFill/>
          <a:ln/>
        </p:spPr>
        <p:txBody>
          <a:bodyPr wrap="square" lIns="0" tIns="0" rIns="0" bIns="0" rtlCol="0" anchor="ctr">
            <a:normAutofit/>
          </a:bodyPr>
          <a:lstStyle/>
          <a:p>
            <a:pPr marL="0" indent="0" algn="ctr">
              <a:buNone/>
            </a:pPr>
            <a:r>
              <a:rPr lang="en-US" sz="630" b="1" dirty="0">
                <a:solidFill>
                  <a:srgbClr val="122033"/>
                </a:solidFill>
                <a:latin typeface="Aptos" pitchFamily="34" charset="0"/>
                <a:ea typeface="Aptos" pitchFamily="34" charset="-122"/>
                <a:cs typeface="Aptos" pitchFamily="34" charset="-120"/>
              </a:rPr>
              <a:t>conv</a:t>
            </a:r>
            <a:endParaRPr lang="en-US" sz="630" dirty="0"/>
          </a:p>
          <a:p>
            <a:pPr marL="0" indent="0" algn="ctr">
              <a:buNone/>
            </a:pPr>
            <a:r>
              <a:rPr lang="en-US" sz="630" b="1" dirty="0">
                <a:solidFill>
                  <a:srgbClr val="122033"/>
                </a:solidFill>
                <a:latin typeface="Aptos" pitchFamily="34" charset="0"/>
                <a:ea typeface="Aptos" pitchFamily="34" charset="-122"/>
                <a:cs typeface="Aptos" pitchFamily="34" charset="-120"/>
              </a:rPr>
              <a:t>transform 2</a:t>
            </a:r>
            <a:endParaRPr lang="en-US" sz="630" dirty="0"/>
          </a:p>
        </p:txBody>
      </p:sp>
      <p:sp>
        <p:nvSpPr>
          <p:cNvPr id="15" name="Shape 13"/>
          <p:cNvSpPr/>
          <p:nvPr/>
        </p:nvSpPr>
        <p:spPr>
          <a:xfrm>
            <a:off x="2423160" y="2514600"/>
            <a:ext cx="1005840" cy="411480"/>
          </a:xfrm>
          <a:prstGeom prst="roundRect">
            <a:avLst>
              <a:gd name="adj" fmla="val 17778"/>
            </a:avLst>
          </a:prstGeom>
          <a:solidFill>
            <a:srgbClr val="E9F6D7"/>
          </a:solidFill>
          <a:ln w="13970">
            <a:solidFill>
              <a:srgbClr val="86B817"/>
            </a:solidFill>
            <a:prstDash val="solid"/>
          </a:ln>
        </p:spPr>
        <p:txBody>
          <a:bodyPr/>
          <a:lstStyle/>
          <a:p>
            <a:endParaRPr lang="en-GB"/>
          </a:p>
        </p:txBody>
      </p:sp>
      <p:sp>
        <p:nvSpPr>
          <p:cNvPr id="16" name="Text 14"/>
          <p:cNvSpPr/>
          <p:nvPr/>
        </p:nvSpPr>
        <p:spPr>
          <a:xfrm>
            <a:off x="2459736" y="2560320"/>
            <a:ext cx="932688" cy="320040"/>
          </a:xfrm>
          <a:prstGeom prst="rect">
            <a:avLst/>
          </a:prstGeom>
          <a:noFill/>
          <a:ln/>
        </p:spPr>
        <p:txBody>
          <a:bodyPr wrap="square" lIns="0" tIns="0" rIns="0" bIns="0" rtlCol="0" anchor="ctr">
            <a:normAutofit/>
          </a:bodyPr>
          <a:lstStyle/>
          <a:p>
            <a:pPr marL="0" indent="0" algn="ctr">
              <a:buNone/>
            </a:pPr>
            <a:r>
              <a:rPr lang="en-US" sz="630" b="1" dirty="0">
                <a:solidFill>
                  <a:srgbClr val="122033"/>
                </a:solidFill>
                <a:latin typeface="Aptos" pitchFamily="34" charset="0"/>
                <a:ea typeface="Aptos" pitchFamily="34" charset="-122"/>
                <a:cs typeface="Aptos" pitchFamily="34" charset="-120"/>
              </a:rPr>
              <a:t>conv</a:t>
            </a:r>
            <a:endParaRPr lang="en-US" sz="630" dirty="0"/>
          </a:p>
          <a:p>
            <a:pPr marL="0" indent="0" algn="ctr">
              <a:buNone/>
            </a:pPr>
            <a:r>
              <a:rPr lang="en-US" sz="630" b="1" dirty="0">
                <a:solidFill>
                  <a:srgbClr val="122033"/>
                </a:solidFill>
                <a:latin typeface="Aptos" pitchFamily="34" charset="0"/>
                <a:ea typeface="Aptos" pitchFamily="34" charset="-122"/>
                <a:cs typeface="Aptos" pitchFamily="34" charset="-120"/>
              </a:rPr>
              <a:t>transform 3</a:t>
            </a:r>
            <a:endParaRPr lang="en-US" sz="630" dirty="0"/>
          </a:p>
        </p:txBody>
      </p:sp>
      <p:sp>
        <p:nvSpPr>
          <p:cNvPr id="17" name="Shape 15"/>
          <p:cNvSpPr/>
          <p:nvPr/>
        </p:nvSpPr>
        <p:spPr>
          <a:xfrm>
            <a:off x="2423160" y="3154680"/>
            <a:ext cx="1005840" cy="411480"/>
          </a:xfrm>
          <a:prstGeom prst="roundRect">
            <a:avLst>
              <a:gd name="adj" fmla="val 17778"/>
            </a:avLst>
          </a:prstGeom>
          <a:solidFill>
            <a:srgbClr val="FFE7B4"/>
          </a:solidFill>
          <a:ln w="13970">
            <a:solidFill>
              <a:srgbClr val="E5A100"/>
            </a:solidFill>
            <a:prstDash val="solid"/>
          </a:ln>
        </p:spPr>
        <p:txBody>
          <a:bodyPr/>
          <a:lstStyle/>
          <a:p>
            <a:endParaRPr lang="en-GB"/>
          </a:p>
        </p:txBody>
      </p:sp>
      <p:sp>
        <p:nvSpPr>
          <p:cNvPr id="18" name="Text 16"/>
          <p:cNvSpPr/>
          <p:nvPr/>
        </p:nvSpPr>
        <p:spPr>
          <a:xfrm>
            <a:off x="2459736" y="3200400"/>
            <a:ext cx="932688" cy="320040"/>
          </a:xfrm>
          <a:prstGeom prst="rect">
            <a:avLst/>
          </a:prstGeom>
          <a:noFill/>
          <a:ln/>
        </p:spPr>
        <p:txBody>
          <a:bodyPr wrap="square" lIns="0" tIns="0" rIns="0" bIns="0" rtlCol="0" anchor="ctr">
            <a:normAutofit/>
          </a:bodyPr>
          <a:lstStyle/>
          <a:p>
            <a:pPr marL="0" indent="0" algn="ctr">
              <a:buNone/>
            </a:pPr>
            <a:r>
              <a:rPr lang="en-US" sz="630" b="1" dirty="0">
                <a:solidFill>
                  <a:srgbClr val="122033"/>
                </a:solidFill>
                <a:latin typeface="Aptos" pitchFamily="34" charset="0"/>
                <a:ea typeface="Aptos" pitchFamily="34" charset="-122"/>
                <a:cs typeface="Aptos" pitchFamily="34" charset="-120"/>
              </a:rPr>
              <a:t>conv</a:t>
            </a:r>
            <a:endParaRPr lang="en-US" sz="630" dirty="0"/>
          </a:p>
          <a:p>
            <a:pPr marL="0" indent="0" algn="ctr">
              <a:buNone/>
            </a:pPr>
            <a:r>
              <a:rPr lang="en-US" sz="630" b="1" dirty="0">
                <a:solidFill>
                  <a:srgbClr val="122033"/>
                </a:solidFill>
                <a:latin typeface="Aptos" pitchFamily="34" charset="0"/>
                <a:ea typeface="Aptos" pitchFamily="34" charset="-122"/>
                <a:cs typeface="Aptos" pitchFamily="34" charset="-120"/>
              </a:rPr>
              <a:t>transform 4</a:t>
            </a:r>
            <a:endParaRPr lang="en-US" sz="630" dirty="0"/>
          </a:p>
        </p:txBody>
      </p:sp>
      <p:sp>
        <p:nvSpPr>
          <p:cNvPr id="19" name="Shape 17"/>
          <p:cNvSpPr/>
          <p:nvPr/>
        </p:nvSpPr>
        <p:spPr>
          <a:xfrm>
            <a:off x="2423160" y="3794760"/>
            <a:ext cx="1005840" cy="411480"/>
          </a:xfrm>
          <a:prstGeom prst="roundRect">
            <a:avLst>
              <a:gd name="adj" fmla="val 17778"/>
            </a:avLst>
          </a:prstGeom>
          <a:solidFill>
            <a:srgbClr val="E9F6D7"/>
          </a:solidFill>
          <a:ln w="13970">
            <a:solidFill>
              <a:srgbClr val="86B817"/>
            </a:solidFill>
            <a:prstDash val="solid"/>
          </a:ln>
        </p:spPr>
        <p:txBody>
          <a:bodyPr/>
          <a:lstStyle/>
          <a:p>
            <a:endParaRPr lang="en-GB"/>
          </a:p>
        </p:txBody>
      </p:sp>
      <p:sp>
        <p:nvSpPr>
          <p:cNvPr id="20" name="Text 18"/>
          <p:cNvSpPr/>
          <p:nvPr/>
        </p:nvSpPr>
        <p:spPr>
          <a:xfrm>
            <a:off x="2459736" y="3840480"/>
            <a:ext cx="932688" cy="320040"/>
          </a:xfrm>
          <a:prstGeom prst="rect">
            <a:avLst/>
          </a:prstGeom>
          <a:noFill/>
          <a:ln/>
        </p:spPr>
        <p:txBody>
          <a:bodyPr wrap="square" lIns="0" tIns="0" rIns="0" bIns="0" rtlCol="0" anchor="ctr">
            <a:normAutofit/>
          </a:bodyPr>
          <a:lstStyle/>
          <a:p>
            <a:pPr marL="0" indent="0" algn="ctr">
              <a:buNone/>
            </a:pPr>
            <a:r>
              <a:rPr lang="en-US" sz="630" b="1" dirty="0">
                <a:solidFill>
                  <a:srgbClr val="122033"/>
                </a:solidFill>
                <a:latin typeface="Aptos" pitchFamily="34" charset="0"/>
                <a:ea typeface="Aptos" pitchFamily="34" charset="-122"/>
                <a:cs typeface="Aptos" pitchFamily="34" charset="-120"/>
              </a:rPr>
              <a:t>conv</a:t>
            </a:r>
            <a:endParaRPr lang="en-US" sz="630" dirty="0"/>
          </a:p>
          <a:p>
            <a:pPr marL="0" indent="0" algn="ctr">
              <a:buNone/>
            </a:pPr>
            <a:r>
              <a:rPr lang="en-US" sz="630" b="1" dirty="0">
                <a:solidFill>
                  <a:srgbClr val="122033"/>
                </a:solidFill>
                <a:latin typeface="Aptos" pitchFamily="34" charset="0"/>
                <a:ea typeface="Aptos" pitchFamily="34" charset="-122"/>
                <a:cs typeface="Aptos" pitchFamily="34" charset="-120"/>
              </a:rPr>
              <a:t>transform 5</a:t>
            </a:r>
            <a:endParaRPr lang="en-US" sz="630" dirty="0"/>
          </a:p>
        </p:txBody>
      </p:sp>
      <p:sp>
        <p:nvSpPr>
          <p:cNvPr id="21" name="Shape 19"/>
          <p:cNvSpPr/>
          <p:nvPr/>
        </p:nvSpPr>
        <p:spPr>
          <a:xfrm>
            <a:off x="3474720" y="2999232"/>
            <a:ext cx="685800" cy="0"/>
          </a:xfrm>
          <a:prstGeom prst="line">
            <a:avLst/>
          </a:prstGeom>
          <a:noFill/>
          <a:ln w="13970">
            <a:solidFill>
              <a:srgbClr val="8DA0B8"/>
            </a:solidFill>
            <a:prstDash val="solid"/>
            <a:headEnd type="none"/>
            <a:tailEnd type="triangle"/>
          </a:ln>
        </p:spPr>
        <p:txBody>
          <a:bodyPr/>
          <a:lstStyle/>
          <a:p>
            <a:endParaRPr lang="en-GB"/>
          </a:p>
        </p:txBody>
      </p:sp>
      <p:sp>
        <p:nvSpPr>
          <p:cNvPr id="22" name="Shape 20"/>
          <p:cNvSpPr/>
          <p:nvPr/>
        </p:nvSpPr>
        <p:spPr>
          <a:xfrm>
            <a:off x="4206240" y="2697480"/>
            <a:ext cx="1325880" cy="594360"/>
          </a:xfrm>
          <a:prstGeom prst="roundRect">
            <a:avLst>
              <a:gd name="adj" fmla="val 12308"/>
            </a:avLst>
          </a:prstGeom>
          <a:solidFill>
            <a:srgbClr val="E3D4FF"/>
          </a:solidFill>
          <a:ln w="13970">
            <a:solidFill>
              <a:srgbClr val="895DE8"/>
            </a:solidFill>
            <a:prstDash val="solid"/>
          </a:ln>
        </p:spPr>
        <p:txBody>
          <a:bodyPr/>
          <a:lstStyle/>
          <a:p>
            <a:endParaRPr lang="en-GB"/>
          </a:p>
        </p:txBody>
      </p:sp>
      <p:sp>
        <p:nvSpPr>
          <p:cNvPr id="23" name="Text 21"/>
          <p:cNvSpPr/>
          <p:nvPr/>
        </p:nvSpPr>
        <p:spPr>
          <a:xfrm>
            <a:off x="4242816" y="2743200"/>
            <a:ext cx="1252728" cy="502920"/>
          </a:xfrm>
          <a:prstGeom prst="rect">
            <a:avLst/>
          </a:prstGeom>
          <a:noFill/>
          <a:ln/>
        </p:spPr>
        <p:txBody>
          <a:bodyPr wrap="square" lIns="0" tIns="0" rIns="0" bIns="0" rtlCol="0" anchor="ctr">
            <a:normAutofit/>
          </a:bodyPr>
          <a:lstStyle/>
          <a:p>
            <a:pPr marL="0" indent="0" algn="ctr">
              <a:buNone/>
            </a:pPr>
            <a:r>
              <a:rPr lang="en-US" sz="720" b="1" dirty="0">
                <a:solidFill>
                  <a:srgbClr val="122033"/>
                </a:solidFill>
                <a:latin typeface="Aptos" pitchFamily="34" charset="0"/>
                <a:ea typeface="Aptos" pitchFamily="34" charset="-122"/>
                <a:cs typeface="Aptos" pitchFamily="34" charset="-120"/>
              </a:rPr>
              <a:t>large temporal</a:t>
            </a:r>
            <a:endParaRPr lang="en-US" sz="720" dirty="0"/>
          </a:p>
          <a:p>
            <a:pPr marL="0" indent="0" algn="ctr">
              <a:buNone/>
            </a:pPr>
            <a:r>
              <a:rPr lang="en-US" sz="720" b="1" dirty="0">
                <a:solidFill>
                  <a:srgbClr val="122033"/>
                </a:solidFill>
                <a:latin typeface="Aptos" pitchFamily="34" charset="0"/>
                <a:ea typeface="Aptos" pitchFamily="34" charset="-122"/>
                <a:cs typeface="Aptos" pitchFamily="34" charset="-120"/>
              </a:rPr>
              <a:t>feature vector</a:t>
            </a:r>
            <a:endParaRPr lang="en-US" sz="720" dirty="0"/>
          </a:p>
        </p:txBody>
      </p:sp>
      <p:sp>
        <p:nvSpPr>
          <p:cNvPr id="24" name="Shape 22"/>
          <p:cNvSpPr/>
          <p:nvPr/>
        </p:nvSpPr>
        <p:spPr>
          <a:xfrm>
            <a:off x="5577840" y="2999232"/>
            <a:ext cx="640080" cy="0"/>
          </a:xfrm>
          <a:prstGeom prst="line">
            <a:avLst/>
          </a:prstGeom>
          <a:noFill/>
          <a:ln w="13970">
            <a:solidFill>
              <a:srgbClr val="8DA0B8"/>
            </a:solidFill>
            <a:prstDash val="solid"/>
            <a:headEnd type="none"/>
            <a:tailEnd type="triangle"/>
          </a:ln>
        </p:spPr>
        <p:txBody>
          <a:bodyPr/>
          <a:lstStyle/>
          <a:p>
            <a:endParaRPr lang="en-GB"/>
          </a:p>
        </p:txBody>
      </p:sp>
      <p:sp>
        <p:nvSpPr>
          <p:cNvPr id="25" name="Shape 23"/>
          <p:cNvSpPr/>
          <p:nvPr/>
        </p:nvSpPr>
        <p:spPr>
          <a:xfrm>
            <a:off x="6263640" y="2697480"/>
            <a:ext cx="1005840" cy="594360"/>
          </a:xfrm>
          <a:prstGeom prst="roundRect">
            <a:avLst>
              <a:gd name="adj" fmla="val 12308"/>
            </a:avLst>
          </a:prstGeom>
          <a:solidFill>
            <a:srgbClr val="F3F6F9"/>
          </a:solidFill>
          <a:ln w="13970">
            <a:solidFill>
              <a:srgbClr val="8DA0B8"/>
            </a:solidFill>
            <a:prstDash val="solid"/>
          </a:ln>
        </p:spPr>
        <p:txBody>
          <a:bodyPr/>
          <a:lstStyle/>
          <a:p>
            <a:endParaRPr lang="en-GB"/>
          </a:p>
        </p:txBody>
      </p:sp>
      <p:sp>
        <p:nvSpPr>
          <p:cNvPr id="26" name="Text 24"/>
          <p:cNvSpPr/>
          <p:nvPr/>
        </p:nvSpPr>
        <p:spPr>
          <a:xfrm>
            <a:off x="6300216" y="2743200"/>
            <a:ext cx="932688" cy="502920"/>
          </a:xfrm>
          <a:prstGeom prst="rect">
            <a:avLst/>
          </a:prstGeom>
          <a:noFill/>
          <a:ln/>
        </p:spPr>
        <p:txBody>
          <a:bodyPr wrap="square" lIns="0" tIns="0" rIns="0" bIns="0" rtlCol="0" anchor="ctr">
            <a:normAutofit/>
          </a:bodyPr>
          <a:lstStyle/>
          <a:p>
            <a:pPr marL="0" indent="0" algn="ctr">
              <a:buNone/>
            </a:pPr>
            <a:r>
              <a:rPr lang="en-US" sz="730" b="1" dirty="0">
                <a:solidFill>
                  <a:srgbClr val="122033"/>
                </a:solidFill>
                <a:latin typeface="Aptos" pitchFamily="34" charset="0"/>
                <a:ea typeface="Aptos" pitchFamily="34" charset="-122"/>
                <a:cs typeface="Aptos" pitchFamily="34" charset="-120"/>
              </a:rPr>
              <a:t>linear</a:t>
            </a:r>
            <a:endParaRPr lang="en-US" sz="730" dirty="0"/>
          </a:p>
          <a:p>
            <a:pPr marL="0" indent="0" algn="ctr">
              <a:buNone/>
            </a:pPr>
            <a:r>
              <a:rPr lang="en-US" sz="730" b="1" dirty="0">
                <a:solidFill>
                  <a:srgbClr val="122033"/>
                </a:solidFill>
                <a:latin typeface="Aptos" pitchFamily="34" charset="0"/>
                <a:ea typeface="Aptos" pitchFamily="34" charset="-122"/>
                <a:cs typeface="Aptos" pitchFamily="34" charset="-120"/>
              </a:rPr>
              <a:t>classifier</a:t>
            </a:r>
            <a:endParaRPr lang="en-US" sz="730" dirty="0"/>
          </a:p>
        </p:txBody>
      </p:sp>
      <p:sp>
        <p:nvSpPr>
          <p:cNvPr id="27" name="Shape 25"/>
          <p:cNvSpPr/>
          <p:nvPr/>
        </p:nvSpPr>
        <p:spPr>
          <a:xfrm>
            <a:off x="7315200" y="2999232"/>
            <a:ext cx="594360" cy="0"/>
          </a:xfrm>
          <a:prstGeom prst="line">
            <a:avLst/>
          </a:prstGeom>
          <a:noFill/>
          <a:ln w="13970">
            <a:solidFill>
              <a:srgbClr val="8DA0B8"/>
            </a:solidFill>
            <a:prstDash val="solid"/>
            <a:headEnd type="none"/>
            <a:tailEnd type="triangle"/>
          </a:ln>
        </p:spPr>
        <p:txBody>
          <a:bodyPr/>
          <a:lstStyle/>
          <a:p>
            <a:endParaRPr lang="en-GB"/>
          </a:p>
        </p:txBody>
      </p:sp>
      <p:sp>
        <p:nvSpPr>
          <p:cNvPr id="28" name="Shape 26"/>
          <p:cNvSpPr/>
          <p:nvPr/>
        </p:nvSpPr>
        <p:spPr>
          <a:xfrm>
            <a:off x="7955280" y="2697480"/>
            <a:ext cx="1051560" cy="594360"/>
          </a:xfrm>
          <a:prstGeom prst="roundRect">
            <a:avLst>
              <a:gd name="adj" fmla="val 12308"/>
            </a:avLst>
          </a:prstGeom>
          <a:solidFill>
            <a:srgbClr val="FFD6E0"/>
          </a:solidFill>
          <a:ln w="13970">
            <a:solidFill>
              <a:srgbClr val="EE6A7C"/>
            </a:solidFill>
            <a:prstDash val="solid"/>
          </a:ln>
        </p:spPr>
        <p:txBody>
          <a:bodyPr/>
          <a:lstStyle/>
          <a:p>
            <a:endParaRPr lang="en-GB"/>
          </a:p>
        </p:txBody>
      </p:sp>
      <p:sp>
        <p:nvSpPr>
          <p:cNvPr id="29" name="Text 27"/>
          <p:cNvSpPr/>
          <p:nvPr/>
        </p:nvSpPr>
        <p:spPr>
          <a:xfrm>
            <a:off x="7991856" y="2743200"/>
            <a:ext cx="978408" cy="502920"/>
          </a:xfrm>
          <a:prstGeom prst="rect">
            <a:avLst/>
          </a:prstGeom>
          <a:noFill/>
          <a:ln/>
        </p:spPr>
        <p:txBody>
          <a:bodyPr wrap="square" lIns="0" tIns="0" rIns="0" bIns="0" rtlCol="0" anchor="ctr">
            <a:normAutofit/>
          </a:bodyPr>
          <a:lstStyle/>
          <a:p>
            <a:pPr marL="0" indent="0" algn="ctr">
              <a:buNone/>
            </a:pPr>
            <a:r>
              <a:rPr lang="en-US" sz="730" b="1" dirty="0">
                <a:solidFill>
                  <a:srgbClr val="122033"/>
                </a:solidFill>
                <a:latin typeface="Aptos" pitchFamily="34" charset="0"/>
                <a:ea typeface="Aptos" pitchFamily="34" charset="-122"/>
                <a:cs typeface="Aptos" pitchFamily="34" charset="-120"/>
              </a:rPr>
              <a:t>class</a:t>
            </a:r>
            <a:endParaRPr lang="en-US" sz="730" dirty="0"/>
          </a:p>
          <a:p>
            <a:pPr marL="0" indent="0" algn="ctr">
              <a:buNone/>
            </a:pPr>
            <a:r>
              <a:rPr lang="en-US" sz="730" b="1" dirty="0">
                <a:solidFill>
                  <a:srgbClr val="122033"/>
                </a:solidFill>
                <a:latin typeface="Aptos" pitchFamily="34" charset="0"/>
                <a:ea typeface="Aptos" pitchFamily="34" charset="-122"/>
                <a:cs typeface="Aptos" pitchFamily="34" charset="-120"/>
              </a:rPr>
              <a:t>prediction</a:t>
            </a:r>
            <a:endParaRPr lang="en-US" sz="730" dirty="0"/>
          </a:p>
        </p:txBody>
      </p:sp>
      <p:sp>
        <p:nvSpPr>
          <p:cNvPr id="30" name="Shape 28"/>
          <p:cNvSpPr/>
          <p:nvPr/>
        </p:nvSpPr>
        <p:spPr>
          <a:xfrm>
            <a:off x="2286000" y="4983480"/>
            <a:ext cx="4846320" cy="420624"/>
          </a:xfrm>
          <a:prstGeom prst="roundRect">
            <a:avLst>
              <a:gd name="adj" fmla="val 17391"/>
            </a:avLst>
          </a:prstGeom>
          <a:solidFill>
            <a:srgbClr val="E9F6D7"/>
          </a:solidFill>
          <a:ln w="13970">
            <a:solidFill>
              <a:srgbClr val="86B817"/>
            </a:solidFill>
            <a:prstDash val="solid"/>
          </a:ln>
        </p:spPr>
        <p:txBody>
          <a:bodyPr/>
          <a:lstStyle/>
          <a:p>
            <a:endParaRPr lang="en-GB"/>
          </a:p>
        </p:txBody>
      </p:sp>
      <p:sp>
        <p:nvSpPr>
          <p:cNvPr id="31" name="Text 29"/>
          <p:cNvSpPr/>
          <p:nvPr/>
        </p:nvSpPr>
        <p:spPr>
          <a:xfrm>
            <a:off x="2322576" y="5029200"/>
            <a:ext cx="4773168" cy="329184"/>
          </a:xfrm>
          <a:prstGeom prst="rect">
            <a:avLst/>
          </a:prstGeom>
          <a:noFill/>
          <a:ln/>
        </p:spPr>
        <p:txBody>
          <a:bodyPr wrap="square" lIns="0" tIns="0" rIns="0" bIns="0" rtlCol="0" anchor="ctr">
            <a:normAutofit/>
          </a:bodyPr>
          <a:lstStyle/>
          <a:p>
            <a:pPr marL="0" indent="0" algn="ctr">
              <a:buNone/>
            </a:pPr>
            <a:r>
              <a:rPr lang="en-US" sz="900" b="1" dirty="0">
                <a:solidFill>
                  <a:srgbClr val="122033"/>
                </a:solidFill>
                <a:latin typeface="Aptos" pitchFamily="34" charset="0"/>
                <a:ea typeface="Aptos" pitchFamily="34" charset="-122"/>
                <a:cs typeface="Aptos" pitchFamily="34" charset="-120"/>
              </a:rPr>
              <a:t>Between handcrafted features and end-to-end deep CNNs</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7F9AA38-4BAD-9849-C5D7-57E1358108A6}"/>
              </a:ext>
            </a:extLst>
          </p:cNvPr>
          <p:cNvSpPr>
            <a:spLocks noGrp="1"/>
          </p:cNvSpPr>
          <p:nvPr>
            <p:ph type="title"/>
          </p:nvPr>
        </p:nvSpPr>
        <p:spPr/>
        <p:txBody>
          <a:bodyPr/>
          <a:lstStyle/>
          <a:p>
            <a:r>
              <a:rPr lang="en-GB" dirty="0" err="1"/>
              <a:t>PatchTST</a:t>
            </a:r>
            <a:r>
              <a:rPr lang="en-GB" dirty="0"/>
              <a:t>: patch-based attention</a:t>
            </a:r>
          </a:p>
        </p:txBody>
      </p:sp>
      <p:sp>
        <p:nvSpPr>
          <p:cNvPr id="3" name="Segnaposto contenuto 2">
            <a:extLst>
              <a:ext uri="{FF2B5EF4-FFF2-40B4-BE49-F238E27FC236}">
                <a16:creationId xmlns:a16="http://schemas.microsoft.com/office/drawing/2014/main" id="{0D32286B-9CA6-C647-292F-A2402A8384F1}"/>
              </a:ext>
            </a:extLst>
          </p:cNvPr>
          <p:cNvSpPr>
            <a:spLocks noGrp="1"/>
          </p:cNvSpPr>
          <p:nvPr>
            <p:ph sz="half" idx="1"/>
          </p:nvPr>
        </p:nvSpPr>
        <p:spPr/>
        <p:txBody>
          <a:bodyPr>
            <a:normAutofit fontScale="92500" lnSpcReduction="20000"/>
          </a:bodyPr>
          <a:lstStyle/>
          <a:p>
            <a:r>
              <a:rPr lang="en-GB" dirty="0" err="1"/>
              <a:t>PatchTST</a:t>
            </a:r>
            <a:r>
              <a:rPr lang="en-GB" dirty="0"/>
              <a:t> represents the Transformer family.</a:t>
            </a:r>
          </a:p>
          <a:p>
            <a:r>
              <a:rPr lang="en-GB" dirty="0"/>
              <a:t>Its central pathway is:</a:t>
            </a:r>
          </a:p>
          <a:p>
            <a:pPr lvl="1"/>
            <a:r>
              <a:rPr lang="en-GB" dirty="0"/>
              <a:t>historical sequence</a:t>
            </a:r>
          </a:p>
          <a:p>
            <a:pPr lvl="1"/>
            <a:r>
              <a:rPr lang="en-GB" dirty="0"/>
              <a:t>      ↓</a:t>
            </a:r>
          </a:p>
          <a:p>
            <a:pPr lvl="1"/>
            <a:r>
              <a:rPr lang="en-GB" dirty="0"/>
              <a:t>patches</a:t>
            </a:r>
          </a:p>
          <a:p>
            <a:pPr lvl="1"/>
            <a:r>
              <a:rPr lang="en-GB" dirty="0"/>
              <a:t>      ↓</a:t>
            </a:r>
          </a:p>
          <a:p>
            <a:pPr lvl="1"/>
            <a:r>
              <a:rPr lang="en-GB" dirty="0"/>
              <a:t>patch embeddings</a:t>
            </a:r>
          </a:p>
          <a:p>
            <a:pPr lvl="1"/>
            <a:r>
              <a:rPr lang="en-GB" dirty="0"/>
              <a:t>      ↓</a:t>
            </a:r>
          </a:p>
          <a:p>
            <a:pPr lvl="1"/>
            <a:r>
              <a:rPr lang="en-GB" dirty="0"/>
              <a:t>self-attention</a:t>
            </a:r>
          </a:p>
          <a:p>
            <a:pPr lvl="1"/>
            <a:r>
              <a:rPr lang="en-GB" dirty="0"/>
              <a:t>      ↓</a:t>
            </a:r>
          </a:p>
          <a:p>
            <a:pPr lvl="1"/>
            <a:r>
              <a:rPr lang="en-GB" dirty="0"/>
              <a:t>forecast</a:t>
            </a:r>
          </a:p>
          <a:p>
            <a:endParaRPr lang="en-GB" dirty="0"/>
          </a:p>
        </p:txBody>
      </p:sp>
      <p:sp>
        <p:nvSpPr>
          <p:cNvPr id="4" name="Segnaposto contenuto 3">
            <a:extLst>
              <a:ext uri="{FF2B5EF4-FFF2-40B4-BE49-F238E27FC236}">
                <a16:creationId xmlns:a16="http://schemas.microsoft.com/office/drawing/2014/main" id="{D1156AA1-C98F-04BF-85BD-3C77913514AF}"/>
              </a:ext>
            </a:extLst>
          </p:cNvPr>
          <p:cNvSpPr>
            <a:spLocks noGrp="1"/>
          </p:cNvSpPr>
          <p:nvPr>
            <p:ph sz="half" idx="2"/>
          </p:nvPr>
        </p:nvSpPr>
        <p:spPr>
          <a:xfrm>
            <a:off x="5785294" y="2160589"/>
            <a:ext cx="6167521" cy="4632322"/>
          </a:xfrm>
        </p:spPr>
        <p:txBody>
          <a:bodyPr>
            <a:normAutofit fontScale="92500" lnSpcReduction="20000"/>
          </a:bodyPr>
          <a:lstStyle/>
          <a:p>
            <a:r>
              <a:rPr lang="en-GB" b="1" dirty="0"/>
              <a:t>Main modelling assumptions</a:t>
            </a:r>
          </a:p>
          <a:p>
            <a:pPr lvl="1"/>
            <a:r>
              <a:rPr lang="en-GB" dirty="0"/>
              <a:t>local temporal samples can be grouped into patches; </a:t>
            </a:r>
          </a:p>
          <a:p>
            <a:pPr lvl="1"/>
            <a:r>
              <a:rPr lang="en-GB" dirty="0"/>
              <a:t>long-range relationships can be learned between patches; </a:t>
            </a:r>
          </a:p>
          <a:p>
            <a:pPr lvl="1"/>
            <a:r>
              <a:rPr lang="en-GB" dirty="0"/>
              <a:t>attention can select context dynamically. </a:t>
            </a:r>
          </a:p>
          <a:p>
            <a:r>
              <a:rPr lang="en-GB" b="1" dirty="0"/>
              <a:t>Main limitation compared with CNNs</a:t>
            </a:r>
          </a:p>
          <a:p>
            <a:pPr lvl="1"/>
            <a:r>
              <a:rPr lang="en-GB" dirty="0"/>
              <a:t>Attention may require greater computational resources, especially as the token sequence grows.</a:t>
            </a:r>
          </a:p>
          <a:p>
            <a:r>
              <a:rPr lang="en-GB" b="1" dirty="0"/>
              <a:t>Main lesson</a:t>
            </a:r>
          </a:p>
          <a:p>
            <a:pPr lvl="1"/>
            <a:r>
              <a:rPr lang="en-GB" dirty="0"/>
              <a:t>Transformer adaptation to time series depends strongly on temporal tokenization.</a:t>
            </a:r>
          </a:p>
          <a:p>
            <a:endParaRPr lang="en-GB" dirty="0"/>
          </a:p>
        </p:txBody>
      </p:sp>
    </p:spTree>
    <p:extLst>
      <p:ext uri="{BB962C8B-B14F-4D97-AF65-F5344CB8AC3E}">
        <p14:creationId xmlns:p14="http://schemas.microsoft.com/office/powerpoint/2010/main" val="164908406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5FC78-323F-64ED-5D36-2B87329AE71A}"/>
              </a:ext>
            </a:extLst>
          </p:cNvPr>
          <p:cNvSpPr>
            <a:spLocks noGrp="1"/>
          </p:cNvSpPr>
          <p:nvPr>
            <p:ph type="title"/>
          </p:nvPr>
        </p:nvSpPr>
        <p:spPr/>
        <p:txBody>
          <a:bodyPr/>
          <a:lstStyle/>
          <a:p>
            <a:r>
              <a:rPr lang="en-GB" dirty="0"/>
              <a:t>Different architectures impose different temporal biases</a:t>
            </a:r>
          </a:p>
        </p:txBody>
      </p:sp>
      <p:sp>
        <p:nvSpPr>
          <p:cNvPr id="3" name="Segnaposto contenuto 2">
            <a:extLst>
              <a:ext uri="{FF2B5EF4-FFF2-40B4-BE49-F238E27FC236}">
                <a16:creationId xmlns:a16="http://schemas.microsoft.com/office/drawing/2014/main" id="{F7EFD6FF-0DA8-A8FB-0C04-FF55D938841C}"/>
              </a:ext>
            </a:extLst>
          </p:cNvPr>
          <p:cNvSpPr>
            <a:spLocks noGrp="1"/>
          </p:cNvSpPr>
          <p:nvPr>
            <p:ph sz="half" idx="1"/>
          </p:nvPr>
        </p:nvSpPr>
        <p:spPr>
          <a:xfrm>
            <a:off x="677334" y="2160588"/>
            <a:ext cx="5571066" cy="4506911"/>
          </a:xfrm>
        </p:spPr>
        <p:txBody>
          <a:bodyPr>
            <a:normAutofit/>
          </a:bodyPr>
          <a:lstStyle/>
          <a:p>
            <a:r>
              <a:rPr lang="en-GB" b="1" dirty="0"/>
              <a:t>N-BEATS</a:t>
            </a:r>
          </a:p>
          <a:p>
            <a:r>
              <a:rPr lang="en-GB" dirty="0"/>
              <a:t>Bias toward:</a:t>
            </a:r>
          </a:p>
          <a:p>
            <a:pPr lvl="1"/>
            <a:r>
              <a:rPr lang="en-GB" dirty="0"/>
              <a:t>direct mapping from historical window to forecast; </a:t>
            </a:r>
          </a:p>
          <a:p>
            <a:pPr lvl="1"/>
            <a:r>
              <a:rPr lang="en-GB" dirty="0"/>
              <a:t>hierarchical residual refinement. </a:t>
            </a:r>
          </a:p>
          <a:p>
            <a:r>
              <a:rPr lang="en-GB" b="1" dirty="0" err="1"/>
              <a:t>InceptionTime</a:t>
            </a:r>
            <a:endParaRPr lang="en-GB" b="1" dirty="0"/>
          </a:p>
          <a:p>
            <a:r>
              <a:rPr lang="en-GB" dirty="0"/>
              <a:t>Bias toward:</a:t>
            </a:r>
          </a:p>
          <a:p>
            <a:pPr lvl="1"/>
            <a:r>
              <a:rPr lang="en-GB" dirty="0"/>
              <a:t>multiscale local temporal patterns. </a:t>
            </a:r>
          </a:p>
          <a:p>
            <a:r>
              <a:rPr lang="en-GB" b="1" dirty="0" err="1"/>
              <a:t>MiniROCKET</a:t>
            </a:r>
            <a:endParaRPr lang="en-GB" b="1" dirty="0"/>
          </a:p>
          <a:p>
            <a:r>
              <a:rPr lang="en-GB" dirty="0"/>
              <a:t>Bias toward:</a:t>
            </a:r>
          </a:p>
          <a:p>
            <a:pPr lvl="1"/>
            <a:r>
              <a:rPr lang="en-GB" dirty="0"/>
              <a:t>many convolution-derived temporal features; </a:t>
            </a:r>
          </a:p>
          <a:p>
            <a:pPr lvl="1"/>
            <a:r>
              <a:rPr lang="en-GB" dirty="0"/>
              <a:t>simple linear decision boundary afterwards. </a:t>
            </a:r>
          </a:p>
          <a:p>
            <a:endParaRPr lang="en-GB" dirty="0"/>
          </a:p>
        </p:txBody>
      </p:sp>
      <p:sp>
        <p:nvSpPr>
          <p:cNvPr id="4" name="Segnaposto contenuto 3">
            <a:extLst>
              <a:ext uri="{FF2B5EF4-FFF2-40B4-BE49-F238E27FC236}">
                <a16:creationId xmlns:a16="http://schemas.microsoft.com/office/drawing/2014/main" id="{B7A07B19-B497-EEA1-EE72-CB1CCCF34691}"/>
              </a:ext>
            </a:extLst>
          </p:cNvPr>
          <p:cNvSpPr>
            <a:spLocks noGrp="1"/>
          </p:cNvSpPr>
          <p:nvPr>
            <p:ph sz="half" idx="2"/>
          </p:nvPr>
        </p:nvSpPr>
        <p:spPr>
          <a:xfrm>
            <a:off x="6096000" y="2160589"/>
            <a:ext cx="5873305" cy="4421186"/>
          </a:xfrm>
        </p:spPr>
        <p:txBody>
          <a:bodyPr>
            <a:normAutofit/>
          </a:bodyPr>
          <a:lstStyle/>
          <a:p>
            <a:r>
              <a:rPr lang="en-GB" b="1" dirty="0" err="1"/>
              <a:t>PatchTST</a:t>
            </a:r>
            <a:endParaRPr lang="en-GB" b="1" dirty="0"/>
          </a:p>
          <a:p>
            <a:r>
              <a:rPr lang="en-GB" dirty="0"/>
              <a:t>Bias toward:</a:t>
            </a:r>
          </a:p>
          <a:p>
            <a:pPr lvl="1"/>
            <a:r>
              <a:rPr lang="en-GB" dirty="0"/>
              <a:t>patch-level local representation; </a:t>
            </a:r>
          </a:p>
          <a:p>
            <a:pPr lvl="1"/>
            <a:r>
              <a:rPr lang="en-GB" dirty="0"/>
              <a:t>flexible long-range interaction through attention. </a:t>
            </a:r>
          </a:p>
          <a:p>
            <a:endParaRPr lang="en-GB" b="1" dirty="0"/>
          </a:p>
          <a:p>
            <a:r>
              <a:rPr lang="en-GB" b="1" dirty="0"/>
              <a:t>Important point</a:t>
            </a:r>
          </a:p>
          <a:p>
            <a:r>
              <a:rPr lang="en-GB" dirty="0"/>
              <a:t>These biases can be beneficial.</a:t>
            </a:r>
          </a:p>
          <a:p>
            <a:r>
              <a:rPr lang="en-GB" dirty="0"/>
              <a:t>A model with less architectural freedom can outperform a more flexible model when its assumptions fit the problem well.</a:t>
            </a:r>
          </a:p>
          <a:p>
            <a:endParaRPr lang="en-GB" dirty="0"/>
          </a:p>
        </p:txBody>
      </p:sp>
    </p:spTree>
    <p:extLst>
      <p:ext uri="{BB962C8B-B14F-4D97-AF65-F5344CB8AC3E}">
        <p14:creationId xmlns:p14="http://schemas.microsoft.com/office/powerpoint/2010/main" val="18163822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411480"/>
            <a:ext cx="7498080" cy="41148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Benchmark models should match the target task</a:t>
            </a:r>
            <a:endParaRPr lang="en-US" sz="2400" dirty="0"/>
          </a:p>
        </p:txBody>
      </p:sp>
      <p:sp>
        <p:nvSpPr>
          <p:cNvPr id="3" name="Text 1"/>
          <p:cNvSpPr/>
          <p:nvPr/>
        </p:nvSpPr>
        <p:spPr>
          <a:xfrm>
            <a:off x="521208" y="896112"/>
            <a:ext cx="9052560" cy="274320"/>
          </a:xfrm>
          <a:prstGeom prst="rect">
            <a:avLst/>
          </a:prstGeom>
          <a:noFill/>
          <a:ln/>
        </p:spPr>
        <p:txBody>
          <a:bodyPr wrap="square" lIns="0" tIns="0" rIns="0" bIns="0" rtlCol="0" anchor="ctr"/>
          <a:lstStyle/>
          <a:p>
            <a:pPr marL="0" indent="0">
              <a:buNone/>
            </a:pPr>
            <a:r>
              <a:rPr lang="en-US" sz="1150" dirty="0">
                <a:solidFill>
                  <a:srgbClr val="475569"/>
                </a:solidFill>
                <a:latin typeface="Aptos" pitchFamily="34" charset="0"/>
                <a:ea typeface="Aptos" pitchFamily="34" charset="-122"/>
                <a:cs typeface="Aptos" pitchFamily="34" charset="-120"/>
              </a:rPr>
              <a:t>The distinction is about natural baselines and output structure, not mutually exclusive architecture families.</a:t>
            </a:r>
            <a:endParaRPr lang="en-US" sz="1150" dirty="0"/>
          </a:p>
        </p:txBody>
      </p:sp>
      <p:sp>
        <p:nvSpPr>
          <p:cNvPr id="4" name="Text 2"/>
          <p:cNvSpPr/>
          <p:nvPr/>
        </p:nvSpPr>
        <p:spPr>
          <a:xfrm>
            <a:off x="640080" y="1508760"/>
            <a:ext cx="3977640" cy="475488"/>
          </a:xfrm>
          <a:prstGeom prst="rect">
            <a:avLst/>
          </a:prstGeom>
          <a:solidFill>
            <a:srgbClr val="DBEAFE"/>
          </a:solidFill>
          <a:ln w="15240">
            <a:solidFill>
              <a:srgbClr val="2563EB"/>
            </a:solidFill>
          </a:ln>
        </p:spPr>
        <p:txBody>
          <a:bodyPr wrap="square" lIns="762" tIns="762" rIns="762" bIns="762" rtlCol="0" anchor="ctr"/>
          <a:lstStyle/>
          <a:p>
            <a:pPr marL="0" indent="0" algn="ctr">
              <a:buNone/>
            </a:pPr>
            <a:r>
              <a:rPr lang="en-US" sz="1500" b="1" dirty="0">
                <a:solidFill>
                  <a:srgbClr val="0F172A"/>
                </a:solidFill>
                <a:latin typeface="Aptos" pitchFamily="34" charset="0"/>
                <a:ea typeface="Aptos" pitchFamily="34" charset="-122"/>
                <a:cs typeface="Aptos" pitchFamily="34" charset="-120"/>
              </a:rPr>
              <a:t>Industrial sequence classification</a:t>
            </a:r>
            <a:endParaRPr lang="en-US" sz="1500" dirty="0"/>
          </a:p>
        </p:txBody>
      </p:sp>
      <p:sp>
        <p:nvSpPr>
          <p:cNvPr id="5" name="Text 3"/>
          <p:cNvSpPr/>
          <p:nvPr/>
        </p:nvSpPr>
        <p:spPr>
          <a:xfrm>
            <a:off x="822960" y="2048256"/>
            <a:ext cx="3611880" cy="256032"/>
          </a:xfrm>
          <a:prstGeom prst="rect">
            <a:avLst/>
          </a:prstGeom>
          <a:noFill/>
          <a:ln/>
        </p:spPr>
        <p:txBody>
          <a:bodyPr wrap="square" lIns="0" tIns="0" rIns="0" bIns="0" rtlCol="0" anchor="ctr"/>
          <a:lstStyle/>
          <a:p>
            <a:pPr marL="0" indent="0" algn="ctr">
              <a:buNone/>
            </a:pPr>
            <a:r>
              <a:rPr lang="en-US" sz="1180" i="1" dirty="0">
                <a:solidFill>
                  <a:srgbClr val="475569"/>
                </a:solidFill>
                <a:latin typeface="Aptos" pitchFamily="34" charset="0"/>
                <a:ea typeface="Aptos" pitchFamily="34" charset="-122"/>
                <a:cs typeface="Aptos" pitchFamily="34" charset="-120"/>
              </a:rPr>
              <a:t>sequence / window  →  class label</a:t>
            </a:r>
            <a:endParaRPr lang="en-US" sz="1180" dirty="0"/>
          </a:p>
        </p:txBody>
      </p:sp>
      <p:sp>
        <p:nvSpPr>
          <p:cNvPr id="6" name="Text 4"/>
          <p:cNvSpPr/>
          <p:nvPr/>
        </p:nvSpPr>
        <p:spPr>
          <a:xfrm>
            <a:off x="7543800" y="1508760"/>
            <a:ext cx="3977640" cy="475488"/>
          </a:xfrm>
          <a:prstGeom prst="rect">
            <a:avLst/>
          </a:prstGeom>
          <a:solidFill>
            <a:srgbClr val="FEF3C7"/>
          </a:solidFill>
          <a:ln w="15240">
            <a:solidFill>
              <a:srgbClr val="F59E0B"/>
            </a:solidFill>
          </a:ln>
        </p:spPr>
        <p:txBody>
          <a:bodyPr wrap="square" lIns="762" tIns="762" rIns="762" bIns="762" rtlCol="0" anchor="ctr"/>
          <a:lstStyle/>
          <a:p>
            <a:pPr marL="0" indent="0" algn="ctr">
              <a:buNone/>
            </a:pPr>
            <a:r>
              <a:rPr lang="en-US" sz="1500" b="1" dirty="0">
                <a:solidFill>
                  <a:srgbClr val="0F172A"/>
                </a:solidFill>
                <a:latin typeface="Aptos" pitchFamily="34" charset="0"/>
                <a:ea typeface="Aptos" pitchFamily="34" charset="-122"/>
                <a:cs typeface="Aptos" pitchFamily="34" charset="-120"/>
              </a:rPr>
              <a:t>Long-horizon forecasting</a:t>
            </a:r>
            <a:endParaRPr lang="en-US" sz="1500" dirty="0"/>
          </a:p>
        </p:txBody>
      </p:sp>
      <p:sp>
        <p:nvSpPr>
          <p:cNvPr id="7" name="Text 5"/>
          <p:cNvSpPr/>
          <p:nvPr/>
        </p:nvSpPr>
        <p:spPr>
          <a:xfrm>
            <a:off x="7726680" y="2048256"/>
            <a:ext cx="3611880" cy="256032"/>
          </a:xfrm>
          <a:prstGeom prst="rect">
            <a:avLst/>
          </a:prstGeom>
          <a:noFill/>
          <a:ln/>
        </p:spPr>
        <p:txBody>
          <a:bodyPr wrap="square" lIns="0" tIns="0" rIns="0" bIns="0" rtlCol="0" anchor="ctr"/>
          <a:lstStyle/>
          <a:p>
            <a:pPr marL="0" indent="0" algn="ctr">
              <a:buNone/>
            </a:pPr>
            <a:r>
              <a:rPr lang="en-US" sz="1180" i="1" dirty="0">
                <a:solidFill>
                  <a:srgbClr val="475569"/>
                </a:solidFill>
                <a:latin typeface="Aptos" pitchFamily="34" charset="0"/>
                <a:ea typeface="Aptos" pitchFamily="34" charset="-122"/>
                <a:cs typeface="Aptos" pitchFamily="34" charset="-120"/>
              </a:rPr>
              <a:t>history window  →  future trajectory</a:t>
            </a:r>
            <a:endParaRPr lang="en-US" sz="1180" dirty="0"/>
          </a:p>
        </p:txBody>
      </p:sp>
      <p:sp>
        <p:nvSpPr>
          <p:cNvPr id="8" name="Shape 6"/>
          <p:cNvSpPr/>
          <p:nvPr/>
        </p:nvSpPr>
        <p:spPr>
          <a:xfrm>
            <a:off x="5212080" y="1746504"/>
            <a:ext cx="1709928" cy="0"/>
          </a:xfrm>
          <a:prstGeom prst="line">
            <a:avLst/>
          </a:prstGeom>
          <a:noFill/>
          <a:ln w="15240">
            <a:solidFill>
              <a:srgbClr val="E2E8F0"/>
            </a:solidFill>
            <a:prstDash val="solid"/>
            <a:headEnd type="none"/>
            <a:tailEnd type="triangle"/>
          </a:ln>
        </p:spPr>
        <p:txBody>
          <a:bodyPr/>
          <a:lstStyle/>
          <a:p>
            <a:endParaRPr lang="en-GB"/>
          </a:p>
        </p:txBody>
      </p:sp>
      <p:sp>
        <p:nvSpPr>
          <p:cNvPr id="9" name="Text 7"/>
          <p:cNvSpPr/>
          <p:nvPr/>
        </p:nvSpPr>
        <p:spPr>
          <a:xfrm>
            <a:off x="5212080" y="1417320"/>
            <a:ext cx="16916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Aptos" pitchFamily="34" charset="0"/>
                <a:ea typeface="Aptos" pitchFamily="34" charset="-122"/>
                <a:cs typeface="Aptos" pitchFamily="34" charset="-120"/>
              </a:rPr>
              <a:t>choose baselines by task</a:t>
            </a:r>
            <a:endParaRPr lang="en-US" sz="1000" dirty="0"/>
          </a:p>
        </p:txBody>
      </p:sp>
      <p:sp>
        <p:nvSpPr>
          <p:cNvPr id="10" name="Text 8"/>
          <p:cNvSpPr/>
          <p:nvPr/>
        </p:nvSpPr>
        <p:spPr>
          <a:xfrm>
            <a:off x="640080" y="2697480"/>
            <a:ext cx="3977640" cy="329184"/>
          </a:xfrm>
          <a:prstGeom prst="rect">
            <a:avLst/>
          </a:prstGeom>
          <a:noFill/>
          <a:ln/>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Natural simple baselines</a:t>
            </a:r>
            <a:endParaRPr lang="en-US" sz="1250" dirty="0"/>
          </a:p>
        </p:txBody>
      </p:sp>
      <p:sp>
        <p:nvSpPr>
          <p:cNvPr id="11" name="Text 9"/>
          <p:cNvSpPr/>
          <p:nvPr/>
        </p:nvSpPr>
        <p:spPr>
          <a:xfrm>
            <a:off x="640080" y="3081528"/>
            <a:ext cx="3977640" cy="1170432"/>
          </a:xfrm>
          <a:prstGeom prst="rect">
            <a:avLst/>
          </a:prstGeom>
          <a:solidFill>
            <a:srgbClr val="F8FAFC"/>
          </a:solidFill>
          <a:ln w="12700">
            <a:solidFill>
              <a:srgbClr val="E2E8F0"/>
            </a:solidFill>
          </a:ln>
        </p:spPr>
        <p:txBody>
          <a:bodyPr wrap="square" lIns="1270" tIns="1270" rIns="1270" bIns="1270" rtlCol="0" anchor="t">
            <a:normAutofit/>
          </a:bodyPr>
          <a:lstStyle/>
          <a:p>
            <a:pPr marL="0" indent="0">
              <a:buNone/>
            </a:pPr>
            <a:r>
              <a:rPr lang="en-US" sz="1120" dirty="0">
                <a:solidFill>
                  <a:srgbClr val="0F172A"/>
                </a:solidFill>
                <a:latin typeface="Aptos" pitchFamily="34" charset="0"/>
                <a:ea typeface="Aptos" pitchFamily="34" charset="-122"/>
                <a:cs typeface="Aptos" pitchFamily="34" charset="-120"/>
              </a:rPr>
              <a:t>• majority / stratified class baseline</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engineered features + logistic regression</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engineered features + boosting</a:t>
            </a:r>
            <a:endParaRPr lang="en-US" sz="1120" dirty="0"/>
          </a:p>
        </p:txBody>
      </p:sp>
      <p:sp>
        <p:nvSpPr>
          <p:cNvPr id="12" name="Text 10"/>
          <p:cNvSpPr/>
          <p:nvPr/>
        </p:nvSpPr>
        <p:spPr>
          <a:xfrm>
            <a:off x="640080" y="4325112"/>
            <a:ext cx="3977640" cy="329184"/>
          </a:xfrm>
          <a:prstGeom prst="rect">
            <a:avLst/>
          </a:prstGeom>
          <a:noFill/>
          <a:ln/>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Task-native sequence classifiers</a:t>
            </a:r>
            <a:endParaRPr lang="en-US" sz="1250" dirty="0"/>
          </a:p>
        </p:txBody>
      </p:sp>
      <p:sp>
        <p:nvSpPr>
          <p:cNvPr id="13" name="Text 11"/>
          <p:cNvSpPr/>
          <p:nvPr/>
        </p:nvSpPr>
        <p:spPr>
          <a:xfrm>
            <a:off x="640080" y="4709160"/>
            <a:ext cx="3977640" cy="1170432"/>
          </a:xfrm>
          <a:prstGeom prst="rect">
            <a:avLst/>
          </a:prstGeom>
          <a:solidFill>
            <a:srgbClr val="DBEAFE"/>
          </a:solidFill>
          <a:ln w="12700">
            <a:solidFill>
              <a:srgbClr val="2563EB"/>
            </a:solidFill>
          </a:ln>
        </p:spPr>
        <p:txBody>
          <a:bodyPr wrap="square" lIns="1270" tIns="1270" rIns="1270" bIns="1270" rtlCol="0" anchor="t">
            <a:normAutofit/>
          </a:bodyPr>
          <a:lstStyle/>
          <a:p>
            <a:pPr marL="0" indent="0">
              <a:buNone/>
            </a:pPr>
            <a:r>
              <a:rPr lang="en-US" sz="1120" dirty="0">
                <a:solidFill>
                  <a:srgbClr val="0F172A"/>
                </a:solidFill>
                <a:latin typeface="Aptos" pitchFamily="34" charset="0"/>
                <a:ea typeface="Aptos" pitchFamily="34" charset="-122"/>
                <a:cs typeface="Aptos" pitchFamily="34" charset="-120"/>
              </a:rPr>
              <a:t>• MiniROCKET / ROCKET-style transforms</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InceptionTime</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temporal CNN or GRU configured for classes</a:t>
            </a:r>
            <a:endParaRPr lang="en-US" sz="1120" dirty="0"/>
          </a:p>
        </p:txBody>
      </p:sp>
      <p:sp>
        <p:nvSpPr>
          <p:cNvPr id="14" name="Text 12"/>
          <p:cNvSpPr/>
          <p:nvPr/>
        </p:nvSpPr>
        <p:spPr>
          <a:xfrm>
            <a:off x="7543800" y="2697480"/>
            <a:ext cx="3977640" cy="329184"/>
          </a:xfrm>
          <a:prstGeom prst="rect">
            <a:avLst/>
          </a:prstGeom>
          <a:noFill/>
          <a:ln/>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Natural forecasting baselines</a:t>
            </a:r>
            <a:endParaRPr lang="en-US" sz="1250" dirty="0"/>
          </a:p>
        </p:txBody>
      </p:sp>
      <p:sp>
        <p:nvSpPr>
          <p:cNvPr id="15" name="Text 13"/>
          <p:cNvSpPr/>
          <p:nvPr/>
        </p:nvSpPr>
        <p:spPr>
          <a:xfrm>
            <a:off x="7543800" y="3081528"/>
            <a:ext cx="3977640" cy="1170432"/>
          </a:xfrm>
          <a:prstGeom prst="rect">
            <a:avLst/>
          </a:prstGeom>
          <a:solidFill>
            <a:srgbClr val="F8FAFC"/>
          </a:solidFill>
          <a:ln w="12700">
            <a:solidFill>
              <a:srgbClr val="E2E8F0"/>
            </a:solidFill>
          </a:ln>
        </p:spPr>
        <p:txBody>
          <a:bodyPr wrap="square" lIns="1270" tIns="1270" rIns="1270" bIns="1270" rtlCol="0" anchor="t">
            <a:normAutofit/>
          </a:bodyPr>
          <a:lstStyle/>
          <a:p>
            <a:pPr marL="0" indent="0">
              <a:buNone/>
            </a:pPr>
            <a:r>
              <a:rPr lang="en-US" sz="1120" dirty="0">
                <a:solidFill>
                  <a:srgbClr val="0F172A"/>
                </a:solidFill>
                <a:latin typeface="Aptos" pitchFamily="34" charset="0"/>
                <a:ea typeface="Aptos" pitchFamily="34" charset="-122"/>
                <a:cs typeface="Aptos" pitchFamily="34" charset="-120"/>
              </a:rPr>
              <a:t>• naïve / seasonal naïve</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linear lag or autoregressive model</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simple direct multi-horizon model</a:t>
            </a:r>
            <a:endParaRPr lang="en-US" sz="1120" dirty="0"/>
          </a:p>
        </p:txBody>
      </p:sp>
      <p:sp>
        <p:nvSpPr>
          <p:cNvPr id="16" name="Text 14"/>
          <p:cNvSpPr/>
          <p:nvPr/>
        </p:nvSpPr>
        <p:spPr>
          <a:xfrm>
            <a:off x="7543800" y="4325112"/>
            <a:ext cx="3977640" cy="329184"/>
          </a:xfrm>
          <a:prstGeom prst="rect">
            <a:avLst/>
          </a:prstGeom>
          <a:noFill/>
          <a:ln/>
        </p:spPr>
        <p:txBody>
          <a:bodyPr wrap="square" lIns="0" tIns="0" rIns="0" bIns="0" rtlCol="0" anchor="ctr"/>
          <a:lstStyle/>
          <a:p>
            <a:pPr marL="0" indent="0">
              <a:buNone/>
            </a:pPr>
            <a:r>
              <a:rPr lang="en-US" sz="1250" b="1" dirty="0">
                <a:solidFill>
                  <a:srgbClr val="0F172A"/>
                </a:solidFill>
                <a:latin typeface="Aptos" pitchFamily="34" charset="0"/>
                <a:ea typeface="Aptos" pitchFamily="34" charset="-122"/>
                <a:cs typeface="Aptos" pitchFamily="34" charset="-120"/>
              </a:rPr>
              <a:t>Task-native forecasting models</a:t>
            </a:r>
            <a:endParaRPr lang="en-US" sz="1250" dirty="0"/>
          </a:p>
        </p:txBody>
      </p:sp>
      <p:sp>
        <p:nvSpPr>
          <p:cNvPr id="17" name="Text 15"/>
          <p:cNvSpPr/>
          <p:nvPr/>
        </p:nvSpPr>
        <p:spPr>
          <a:xfrm>
            <a:off x="7543800" y="4709160"/>
            <a:ext cx="3977640" cy="1170432"/>
          </a:xfrm>
          <a:prstGeom prst="rect">
            <a:avLst/>
          </a:prstGeom>
          <a:solidFill>
            <a:srgbClr val="FEF3C7"/>
          </a:solidFill>
          <a:ln w="12700">
            <a:solidFill>
              <a:srgbClr val="F59E0B"/>
            </a:solidFill>
          </a:ln>
        </p:spPr>
        <p:txBody>
          <a:bodyPr wrap="square" lIns="1270" tIns="1270" rIns="1270" bIns="1270" rtlCol="0" anchor="t">
            <a:normAutofit/>
          </a:bodyPr>
          <a:lstStyle/>
          <a:p>
            <a:pPr marL="0" indent="0">
              <a:buNone/>
            </a:pPr>
            <a:r>
              <a:rPr lang="en-US" sz="1120" dirty="0">
                <a:solidFill>
                  <a:srgbClr val="0F172A"/>
                </a:solidFill>
                <a:latin typeface="Aptos" pitchFamily="34" charset="0"/>
                <a:ea typeface="Aptos" pitchFamily="34" charset="-122"/>
                <a:cs typeface="Aptos" pitchFamily="34" charset="-120"/>
              </a:rPr>
              <a:t>• N-BEATS / N-HiTS-style feed-forward models</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TCN or GRU configured for horizons</a:t>
            </a:r>
            <a:endParaRPr lang="en-US" sz="1120" dirty="0"/>
          </a:p>
          <a:p>
            <a:pPr marL="0" indent="0">
              <a:buNone/>
            </a:pPr>
            <a:r>
              <a:rPr lang="en-US" sz="1120" dirty="0">
                <a:solidFill>
                  <a:srgbClr val="0F172A"/>
                </a:solidFill>
                <a:latin typeface="Aptos" pitchFamily="34" charset="0"/>
                <a:ea typeface="Aptos" pitchFamily="34" charset="-122"/>
                <a:cs typeface="Aptos" pitchFamily="34" charset="-120"/>
              </a:rPr>
              <a:t>• PatchTST / forecasting foundation model</a:t>
            </a:r>
            <a:endParaRPr lang="en-US" sz="1120" dirty="0"/>
          </a:p>
        </p:txBody>
      </p:sp>
      <p:sp>
        <p:nvSpPr>
          <p:cNvPr id="18" name="Text 16"/>
          <p:cNvSpPr/>
          <p:nvPr/>
        </p:nvSpPr>
        <p:spPr>
          <a:xfrm>
            <a:off x="4736592" y="2761488"/>
            <a:ext cx="2633472" cy="384048"/>
          </a:xfrm>
          <a:prstGeom prst="rect">
            <a:avLst/>
          </a:prstGeom>
          <a:solidFill>
            <a:srgbClr val="EDE9FE"/>
          </a:solidFill>
          <a:ln w="12700">
            <a:solidFill>
              <a:srgbClr val="7C3AED"/>
            </a:solidFill>
          </a:ln>
        </p:spPr>
        <p:txBody>
          <a:bodyPr wrap="square" lIns="762" tIns="762" rIns="762" bIns="762" rtlCol="0" anchor="ctr"/>
          <a:lstStyle/>
          <a:p>
            <a:pPr marL="0" indent="0" algn="ctr">
              <a:buNone/>
            </a:pPr>
            <a:r>
              <a:rPr lang="en-US" sz="1220" b="1" dirty="0">
                <a:solidFill>
                  <a:srgbClr val="0F172A"/>
                </a:solidFill>
                <a:latin typeface="Aptos" pitchFamily="34" charset="0"/>
                <a:ea typeface="Aptos" pitchFamily="34" charset="-122"/>
                <a:cs typeface="Aptos" pitchFamily="34" charset="-120"/>
              </a:rPr>
              <a:t>Adaptable to both</a:t>
            </a:r>
            <a:endParaRPr lang="en-US" sz="1220" dirty="0"/>
          </a:p>
        </p:txBody>
      </p:sp>
      <p:sp>
        <p:nvSpPr>
          <p:cNvPr id="19" name="Text 17"/>
          <p:cNvSpPr/>
          <p:nvPr/>
        </p:nvSpPr>
        <p:spPr>
          <a:xfrm>
            <a:off x="4864608" y="3401568"/>
            <a:ext cx="2377440" cy="914400"/>
          </a:xfrm>
          <a:prstGeom prst="rect">
            <a:avLst/>
          </a:prstGeom>
          <a:solidFill>
            <a:srgbClr val="FFFFFF"/>
          </a:solidFill>
          <a:ln w="12700">
            <a:solidFill>
              <a:srgbClr val="7C3AED"/>
            </a:solidFill>
          </a:ln>
        </p:spPr>
        <p:txBody>
          <a:bodyPr wrap="square" lIns="1016" tIns="1016" rIns="1016" bIns="1016" rtlCol="0" anchor="ctr">
            <a:normAutofit/>
          </a:bodyPr>
          <a:lstStyle/>
          <a:p>
            <a:pPr marL="0" indent="0" algn="ctr">
              <a:buNone/>
            </a:pPr>
            <a:r>
              <a:rPr lang="en-US" sz="1180" b="1" dirty="0">
                <a:solidFill>
                  <a:srgbClr val="0F172A"/>
                </a:solidFill>
                <a:latin typeface="Aptos" pitchFamily="34" charset="0"/>
                <a:ea typeface="Aptos" pitchFamily="34" charset="-122"/>
                <a:cs typeface="Aptos" pitchFamily="34" charset="-120"/>
              </a:rPr>
              <a:t>GRU / LSTM</a:t>
            </a:r>
            <a:endParaRPr lang="en-US" sz="1180" dirty="0"/>
          </a:p>
          <a:p>
            <a:pPr marL="0" indent="0" algn="ctr">
              <a:buNone/>
            </a:pPr>
            <a:r>
              <a:rPr lang="en-US" sz="1180" b="1" dirty="0">
                <a:solidFill>
                  <a:srgbClr val="0F172A"/>
                </a:solidFill>
                <a:latin typeface="Aptos" pitchFamily="34" charset="0"/>
                <a:ea typeface="Aptos" pitchFamily="34" charset="-122"/>
                <a:cs typeface="Aptos" pitchFamily="34" charset="-120"/>
              </a:rPr>
              <a:t>TCN / temporal CNN</a:t>
            </a:r>
            <a:endParaRPr lang="en-US" sz="1180" dirty="0"/>
          </a:p>
          <a:p>
            <a:pPr marL="0" indent="0" algn="ctr">
              <a:buNone/>
            </a:pPr>
            <a:r>
              <a:rPr lang="en-US" sz="1180" b="1" dirty="0">
                <a:solidFill>
                  <a:srgbClr val="0F172A"/>
                </a:solidFill>
                <a:latin typeface="Aptos" pitchFamily="34" charset="0"/>
                <a:ea typeface="Aptos" pitchFamily="34" charset="-122"/>
                <a:cs typeface="Aptos" pitchFamily="34" charset="-120"/>
              </a:rPr>
              <a:t>boosting + temporal features</a:t>
            </a:r>
            <a:endParaRPr lang="en-US" sz="1180" dirty="0"/>
          </a:p>
        </p:txBody>
      </p:sp>
      <p:sp>
        <p:nvSpPr>
          <p:cNvPr id="20" name="Text 18"/>
          <p:cNvSpPr/>
          <p:nvPr/>
        </p:nvSpPr>
        <p:spPr>
          <a:xfrm>
            <a:off x="822960" y="6016752"/>
            <a:ext cx="10332720" cy="411480"/>
          </a:xfrm>
          <a:prstGeom prst="rect">
            <a:avLst/>
          </a:prstGeom>
          <a:solidFill>
            <a:srgbClr val="ECFCCB"/>
          </a:solidFill>
          <a:ln w="12700">
            <a:solidFill>
              <a:srgbClr val="65A30D"/>
            </a:solidFill>
          </a:ln>
        </p:spPr>
        <p:txBody>
          <a:bodyPr wrap="square" lIns="1016" tIns="1016" rIns="1016" bIns="1016" rtlCol="0" anchor="ctr">
            <a:normAutofit/>
          </a:bodyPr>
          <a:lstStyle/>
          <a:p>
            <a:pPr marL="0" indent="0">
              <a:buNone/>
            </a:pPr>
            <a:r>
              <a:rPr lang="en-US" sz="1260" b="1" dirty="0">
                <a:solidFill>
                  <a:srgbClr val="0F172A"/>
                </a:solidFill>
                <a:latin typeface="Aptos" pitchFamily="34" charset="0"/>
                <a:ea typeface="Aptos" pitchFamily="34" charset="-122"/>
                <a:cs typeface="Aptos" pitchFamily="34" charset="-120"/>
              </a:rPr>
              <a:t>Some architectures can serve both tasks. A fair comparison should reflect the target variable, prediction horizon, information availability, and established baselines for that problem.</a:t>
            </a:r>
            <a:endParaRPr lang="en-US" sz="126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688960-63EB-2DC2-DCBC-E6B6E23F3158}"/>
              </a:ext>
            </a:extLst>
          </p:cNvPr>
          <p:cNvSpPr>
            <a:spLocks noGrp="1"/>
          </p:cNvSpPr>
          <p:nvPr>
            <p:ph type="title"/>
          </p:nvPr>
        </p:nvSpPr>
        <p:spPr/>
        <p:txBody>
          <a:bodyPr/>
          <a:lstStyle/>
          <a:p>
            <a:r>
              <a:rPr lang="en-GB" dirty="0"/>
              <a:t>Pretrained forecasting models: a new dimension</a:t>
            </a:r>
          </a:p>
        </p:txBody>
      </p:sp>
      <p:sp>
        <p:nvSpPr>
          <p:cNvPr id="3" name="Segnaposto contenuto 2">
            <a:extLst>
              <a:ext uri="{FF2B5EF4-FFF2-40B4-BE49-F238E27FC236}">
                <a16:creationId xmlns:a16="http://schemas.microsoft.com/office/drawing/2014/main" id="{4ADA9A48-8E10-9FCE-FA67-1EA970D35A0B}"/>
              </a:ext>
            </a:extLst>
          </p:cNvPr>
          <p:cNvSpPr>
            <a:spLocks noGrp="1"/>
          </p:cNvSpPr>
          <p:nvPr>
            <p:ph sz="half" idx="1"/>
          </p:nvPr>
        </p:nvSpPr>
        <p:spPr>
          <a:xfrm>
            <a:off x="677334" y="2160589"/>
            <a:ext cx="5418666" cy="4535486"/>
          </a:xfrm>
        </p:spPr>
        <p:txBody>
          <a:bodyPr>
            <a:normAutofit lnSpcReduction="10000"/>
          </a:bodyPr>
          <a:lstStyle/>
          <a:p>
            <a:r>
              <a:rPr lang="en-GB" dirty="0"/>
              <a:t>Another direction is to train large temporal models on many different time series before applying them to a new forecasting task.</a:t>
            </a:r>
          </a:p>
          <a:p>
            <a:r>
              <a:rPr lang="en-GB" dirty="0"/>
              <a:t>Conceptually:</a:t>
            </a:r>
          </a:p>
          <a:p>
            <a:pPr lvl="1"/>
            <a:r>
              <a:rPr lang="en-GB" dirty="0"/>
              <a:t>many heterogeneous time series</a:t>
            </a:r>
          </a:p>
          <a:p>
            <a:pPr lvl="1"/>
            <a:r>
              <a:rPr lang="en-GB" dirty="0"/>
              <a:t>          ↓</a:t>
            </a:r>
          </a:p>
          <a:p>
            <a:pPr lvl="1"/>
            <a:r>
              <a:rPr lang="en-GB" dirty="0"/>
              <a:t>large-scale pretraining</a:t>
            </a:r>
          </a:p>
          <a:p>
            <a:pPr lvl="1"/>
            <a:r>
              <a:rPr lang="en-GB" dirty="0"/>
              <a:t>          ↓</a:t>
            </a:r>
          </a:p>
          <a:p>
            <a:pPr lvl="1"/>
            <a:r>
              <a:rPr lang="en-GB" dirty="0"/>
              <a:t>general forecasting model</a:t>
            </a:r>
          </a:p>
          <a:p>
            <a:pPr lvl="1"/>
            <a:r>
              <a:rPr lang="en-GB" dirty="0"/>
              <a:t>          ↓</a:t>
            </a:r>
          </a:p>
          <a:p>
            <a:pPr lvl="1"/>
            <a:r>
              <a:rPr lang="en-GB" dirty="0"/>
              <a:t>new time series</a:t>
            </a:r>
          </a:p>
          <a:p>
            <a:pPr lvl="1"/>
            <a:r>
              <a:rPr lang="en-GB" dirty="0"/>
              <a:t>          ↓</a:t>
            </a:r>
          </a:p>
          <a:p>
            <a:pPr lvl="1"/>
            <a:r>
              <a:rPr lang="en-GB" dirty="0"/>
              <a:t>forecast</a:t>
            </a:r>
          </a:p>
          <a:p>
            <a:endParaRPr lang="en-GB" dirty="0"/>
          </a:p>
        </p:txBody>
      </p:sp>
      <p:sp>
        <p:nvSpPr>
          <p:cNvPr id="4" name="Segnaposto contenuto 3">
            <a:extLst>
              <a:ext uri="{FF2B5EF4-FFF2-40B4-BE49-F238E27FC236}">
                <a16:creationId xmlns:a16="http://schemas.microsoft.com/office/drawing/2014/main" id="{E389447F-4868-6589-225C-B32CCBE2F0C6}"/>
              </a:ext>
            </a:extLst>
          </p:cNvPr>
          <p:cNvSpPr>
            <a:spLocks noGrp="1"/>
          </p:cNvSpPr>
          <p:nvPr>
            <p:ph sz="half" idx="2"/>
          </p:nvPr>
        </p:nvSpPr>
        <p:spPr>
          <a:xfrm>
            <a:off x="6096000" y="2139953"/>
            <a:ext cx="5844730" cy="4402136"/>
          </a:xfrm>
        </p:spPr>
        <p:txBody>
          <a:bodyPr>
            <a:normAutofit lnSpcReduction="10000"/>
          </a:bodyPr>
          <a:lstStyle/>
          <a:p>
            <a:r>
              <a:rPr lang="en-GB" b="1" dirty="0"/>
              <a:t>Representative model families include:</a:t>
            </a:r>
          </a:p>
          <a:p>
            <a:pPr lvl="1"/>
            <a:r>
              <a:rPr lang="en-GB" dirty="0"/>
              <a:t>Chronos; </a:t>
            </a:r>
          </a:p>
          <a:p>
            <a:pPr lvl="1"/>
            <a:r>
              <a:rPr lang="en-GB" dirty="0" err="1"/>
              <a:t>TimesFM</a:t>
            </a:r>
            <a:r>
              <a:rPr lang="en-GB" dirty="0"/>
              <a:t>; </a:t>
            </a:r>
          </a:p>
          <a:p>
            <a:pPr lvl="1"/>
            <a:r>
              <a:rPr lang="en-GB" dirty="0"/>
              <a:t>Moirai. </a:t>
            </a:r>
          </a:p>
          <a:p>
            <a:r>
              <a:rPr lang="en-GB" b="1" dirty="0"/>
              <a:t>Important difference</a:t>
            </a:r>
          </a:p>
          <a:p>
            <a:r>
              <a:rPr lang="en-GB" dirty="0"/>
              <a:t>The key innovation is not only architecture.</a:t>
            </a:r>
          </a:p>
          <a:p>
            <a:r>
              <a:rPr lang="en-GB" dirty="0"/>
              <a:t>It is also the </a:t>
            </a:r>
            <a:r>
              <a:rPr lang="en-GB" b="1" dirty="0"/>
              <a:t>training regime</a:t>
            </a:r>
            <a:r>
              <a:rPr lang="en-GB" dirty="0"/>
              <a:t>:</a:t>
            </a:r>
          </a:p>
          <a:p>
            <a:pPr lvl="1"/>
            <a:r>
              <a:rPr lang="en-GB" dirty="0"/>
              <a:t>temporal knowledge is learned across many datasets before the target task is encountered.</a:t>
            </a:r>
          </a:p>
          <a:p>
            <a:r>
              <a:rPr lang="en-GB" dirty="0"/>
              <a:t>This motivates the next block on pretraining.</a:t>
            </a:r>
          </a:p>
          <a:p>
            <a:endParaRPr lang="en-GB" dirty="0"/>
          </a:p>
        </p:txBody>
      </p:sp>
    </p:spTree>
    <p:extLst>
      <p:ext uri="{BB962C8B-B14F-4D97-AF65-F5344CB8AC3E}">
        <p14:creationId xmlns:p14="http://schemas.microsoft.com/office/powerpoint/2010/main" val="25807802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BB1692-5672-5339-1AE8-DB58AD67386E}"/>
              </a:ext>
            </a:extLst>
          </p:cNvPr>
          <p:cNvSpPr>
            <a:spLocks noGrp="1"/>
          </p:cNvSpPr>
          <p:nvPr>
            <p:ph type="title"/>
          </p:nvPr>
        </p:nvSpPr>
        <p:spPr/>
        <p:txBody>
          <a:bodyPr/>
          <a:lstStyle/>
          <a:p>
            <a:r>
              <a:rPr lang="en-GB" dirty="0"/>
              <a:t>Architecture and training regime are different axes</a:t>
            </a:r>
          </a:p>
        </p:txBody>
      </p:sp>
      <p:sp>
        <p:nvSpPr>
          <p:cNvPr id="3" name="Segnaposto contenuto 2">
            <a:extLst>
              <a:ext uri="{FF2B5EF4-FFF2-40B4-BE49-F238E27FC236}">
                <a16:creationId xmlns:a16="http://schemas.microsoft.com/office/drawing/2014/main" id="{6B2B4FBB-3CDC-DECA-C8F3-E97D5B6984E9}"/>
              </a:ext>
            </a:extLst>
          </p:cNvPr>
          <p:cNvSpPr>
            <a:spLocks noGrp="1"/>
          </p:cNvSpPr>
          <p:nvPr>
            <p:ph sz="half" idx="1"/>
          </p:nvPr>
        </p:nvSpPr>
        <p:spPr>
          <a:xfrm>
            <a:off x="677334" y="2160589"/>
            <a:ext cx="5561541" cy="4402136"/>
          </a:xfrm>
        </p:spPr>
        <p:txBody>
          <a:bodyPr>
            <a:normAutofit fontScale="92500" lnSpcReduction="20000"/>
          </a:bodyPr>
          <a:lstStyle/>
          <a:p>
            <a:r>
              <a:rPr lang="en-GB" dirty="0"/>
              <a:t>Two models can use a similar Transformer backbone but differ greatly in how they are trained.</a:t>
            </a:r>
          </a:p>
          <a:p>
            <a:r>
              <a:rPr lang="en-GB" b="1" dirty="0"/>
              <a:t>Task-specific model</a:t>
            </a:r>
          </a:p>
          <a:p>
            <a:pPr lvl="1"/>
            <a:r>
              <a:rPr lang="en-GB" dirty="0"/>
              <a:t>target dataset</a:t>
            </a:r>
          </a:p>
          <a:p>
            <a:pPr lvl="1"/>
            <a:r>
              <a:rPr lang="en-GB" dirty="0"/>
              <a:t>    ↓</a:t>
            </a:r>
          </a:p>
          <a:p>
            <a:pPr lvl="1"/>
            <a:r>
              <a:rPr lang="en-GB" dirty="0"/>
              <a:t>train</a:t>
            </a:r>
          </a:p>
          <a:p>
            <a:pPr lvl="1"/>
            <a:r>
              <a:rPr lang="en-GB" dirty="0"/>
              <a:t>    ↓</a:t>
            </a:r>
          </a:p>
          <a:p>
            <a:pPr lvl="1"/>
            <a:r>
              <a:rPr lang="en-GB" dirty="0"/>
              <a:t>deploy</a:t>
            </a:r>
          </a:p>
          <a:p>
            <a:r>
              <a:rPr lang="en-GB" b="1" dirty="0"/>
              <a:t>Pretrained model</a:t>
            </a:r>
          </a:p>
          <a:p>
            <a:pPr lvl="1"/>
            <a:r>
              <a:rPr lang="en-GB" dirty="0"/>
              <a:t>large external temporal corpus</a:t>
            </a:r>
          </a:p>
          <a:p>
            <a:pPr lvl="1"/>
            <a:r>
              <a:rPr lang="en-GB" dirty="0"/>
              <a:t>       ↓</a:t>
            </a:r>
          </a:p>
          <a:p>
            <a:pPr lvl="1"/>
            <a:r>
              <a:rPr lang="en-GB" dirty="0"/>
              <a:t>pretrain</a:t>
            </a:r>
          </a:p>
          <a:p>
            <a:pPr lvl="1"/>
            <a:r>
              <a:rPr lang="en-GB" dirty="0"/>
              <a:t>       ↓</a:t>
            </a:r>
          </a:p>
          <a:p>
            <a:pPr lvl="1"/>
            <a:r>
              <a:rPr lang="en-GB" dirty="0"/>
              <a:t>apply / adapt to target dataset</a:t>
            </a:r>
          </a:p>
          <a:p>
            <a:endParaRPr lang="en-GB" dirty="0"/>
          </a:p>
        </p:txBody>
      </p:sp>
      <p:sp>
        <p:nvSpPr>
          <p:cNvPr id="4" name="Segnaposto contenuto 3">
            <a:extLst>
              <a:ext uri="{FF2B5EF4-FFF2-40B4-BE49-F238E27FC236}">
                <a16:creationId xmlns:a16="http://schemas.microsoft.com/office/drawing/2014/main" id="{FF16FFA4-8125-70DD-9228-C0FF483CA883}"/>
              </a:ext>
            </a:extLst>
          </p:cNvPr>
          <p:cNvSpPr>
            <a:spLocks noGrp="1"/>
          </p:cNvSpPr>
          <p:nvPr>
            <p:ph sz="half" idx="2"/>
          </p:nvPr>
        </p:nvSpPr>
        <p:spPr>
          <a:xfrm>
            <a:off x="6096000" y="2160589"/>
            <a:ext cx="5825680" cy="4583111"/>
          </a:xfrm>
        </p:spPr>
        <p:txBody>
          <a:bodyPr>
            <a:normAutofit fontScale="92500" lnSpcReduction="20000"/>
          </a:bodyPr>
          <a:lstStyle/>
          <a:p>
            <a:r>
              <a:rPr lang="en-GB" dirty="0"/>
              <a:t>Therefore, when comparing models, distinguish:</a:t>
            </a:r>
            <a:endParaRPr lang="en-GB" b="1" dirty="0"/>
          </a:p>
          <a:p>
            <a:r>
              <a:rPr lang="en-GB" b="1" dirty="0"/>
              <a:t>Architecture</a:t>
            </a:r>
          </a:p>
          <a:p>
            <a:r>
              <a:rPr lang="en-GB" dirty="0"/>
              <a:t>How does the model process temporal information?</a:t>
            </a:r>
          </a:p>
          <a:p>
            <a:pPr lvl="1"/>
            <a:r>
              <a:rPr lang="en-GB" dirty="0"/>
              <a:t>recurrence; </a:t>
            </a:r>
          </a:p>
          <a:p>
            <a:pPr lvl="1"/>
            <a:r>
              <a:rPr lang="en-GB" dirty="0"/>
              <a:t>convolution; </a:t>
            </a:r>
          </a:p>
          <a:p>
            <a:pPr lvl="1"/>
            <a:r>
              <a:rPr lang="en-GB" dirty="0"/>
              <a:t>attention; </a:t>
            </a:r>
          </a:p>
          <a:p>
            <a:pPr lvl="1"/>
            <a:r>
              <a:rPr lang="en-GB" dirty="0"/>
              <a:t>feed-forward blocks. </a:t>
            </a:r>
          </a:p>
          <a:p>
            <a:r>
              <a:rPr lang="en-GB" b="1" dirty="0"/>
              <a:t>Training regime</a:t>
            </a:r>
          </a:p>
          <a:p>
            <a:r>
              <a:rPr lang="en-GB" dirty="0"/>
              <a:t>Where does the model learn its parameters?</a:t>
            </a:r>
          </a:p>
          <a:p>
            <a:pPr lvl="1"/>
            <a:r>
              <a:rPr lang="en-GB" dirty="0"/>
              <a:t>target dataset only; </a:t>
            </a:r>
          </a:p>
          <a:p>
            <a:pPr lvl="1"/>
            <a:r>
              <a:rPr lang="en-GB" dirty="0"/>
              <a:t>transfer learning; </a:t>
            </a:r>
          </a:p>
          <a:p>
            <a:pPr lvl="1"/>
            <a:r>
              <a:rPr lang="en-GB" dirty="0"/>
              <a:t>large-scale pretraining. </a:t>
            </a:r>
          </a:p>
          <a:p>
            <a:endParaRPr lang="en-GB" dirty="0"/>
          </a:p>
          <a:p>
            <a:r>
              <a:rPr lang="en-GB" b="1" dirty="0"/>
              <a:t>“Transformer” and “foundation model” are not synonyms.</a:t>
            </a:r>
          </a:p>
          <a:p>
            <a:endParaRPr lang="en-GB" dirty="0"/>
          </a:p>
        </p:txBody>
      </p:sp>
    </p:spTree>
    <p:extLst>
      <p:ext uri="{BB962C8B-B14F-4D97-AF65-F5344CB8AC3E}">
        <p14:creationId xmlns:p14="http://schemas.microsoft.com/office/powerpoint/2010/main" val="121633723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84864" y="0"/>
            <a:ext cx="109728" cy="6858000"/>
          </a:xfrm>
          <a:prstGeom prst="rect">
            <a:avLst/>
          </a:prstGeom>
          <a:solidFill>
            <a:srgbClr val="86B817"/>
          </a:solidFill>
          <a:ln w="12700">
            <a:solidFill>
              <a:srgbClr val="86B817"/>
            </a:solidFill>
            <a:prstDash val="solid"/>
          </a:ln>
        </p:spPr>
        <p:txBody>
          <a:bodyPr/>
          <a:lstStyle/>
          <a:p>
            <a:endParaRPr lang="en-GB"/>
          </a:p>
        </p:txBody>
      </p:sp>
      <p:sp>
        <p:nvSpPr>
          <p:cNvPr id="3" name="Shape 1"/>
          <p:cNvSpPr/>
          <p:nvPr/>
        </p:nvSpPr>
        <p:spPr>
          <a:xfrm>
            <a:off x="11329416" y="0"/>
            <a:ext cx="54864" cy="6858000"/>
          </a:xfrm>
          <a:prstGeom prst="rect">
            <a:avLst/>
          </a:prstGeom>
          <a:solidFill>
            <a:srgbClr val="E9F6D7"/>
          </a:solidFill>
          <a:ln w="12700">
            <a:solidFill>
              <a:srgbClr val="E9F6D7"/>
            </a:solidFill>
            <a:prstDash val="solid"/>
          </a:ln>
        </p:spPr>
        <p:txBody>
          <a:bodyPr/>
          <a:lstStyle/>
          <a:p>
            <a:endParaRPr lang="en-GB"/>
          </a:p>
        </p:txBody>
      </p:sp>
      <p:sp>
        <p:nvSpPr>
          <p:cNvPr id="4" name="Shape 2"/>
          <p:cNvSpPr/>
          <p:nvPr/>
        </p:nvSpPr>
        <p:spPr>
          <a:xfrm>
            <a:off x="228600" y="6601968"/>
            <a:ext cx="10241280" cy="0"/>
          </a:xfrm>
          <a:prstGeom prst="line">
            <a:avLst/>
          </a:prstGeom>
          <a:noFill/>
          <a:ln w="12700">
            <a:solidFill>
              <a:srgbClr val="D9DEE8"/>
            </a:solidFill>
            <a:prstDash val="solid"/>
          </a:ln>
        </p:spPr>
        <p:txBody>
          <a:bodyPr/>
          <a:lstStyle/>
          <a:p>
            <a:endParaRPr lang="en-GB"/>
          </a:p>
        </p:txBody>
      </p:sp>
      <p:sp>
        <p:nvSpPr>
          <p:cNvPr id="5" name="Text 3"/>
          <p:cNvSpPr/>
          <p:nvPr/>
        </p:nvSpPr>
        <p:spPr>
          <a:xfrm>
            <a:off x="411480" y="256032"/>
            <a:ext cx="9692640" cy="411480"/>
          </a:xfrm>
          <a:prstGeom prst="rect">
            <a:avLst/>
          </a:prstGeom>
          <a:noFill/>
          <a:ln/>
        </p:spPr>
        <p:txBody>
          <a:bodyPr wrap="square" lIns="0" tIns="0" rIns="0" bIns="0" rtlCol="0" anchor="ctr"/>
          <a:lstStyle/>
          <a:p>
            <a:pPr marL="0" indent="0">
              <a:buNone/>
            </a:pPr>
            <a:r>
              <a:rPr lang="en-US" sz="1800" b="1" dirty="0">
                <a:solidFill>
                  <a:srgbClr val="122033"/>
                </a:solidFill>
                <a:latin typeface="Aptos Display" pitchFamily="34" charset="0"/>
                <a:ea typeface="Aptos Display" pitchFamily="34" charset="-122"/>
                <a:cs typeface="Aptos Display" pitchFamily="34" charset="-120"/>
              </a:rPr>
              <a:t>Architecture and training regime are different axes</a:t>
            </a:r>
            <a:endParaRPr lang="en-US" sz="1800" dirty="0"/>
          </a:p>
        </p:txBody>
      </p:sp>
      <p:sp>
        <p:nvSpPr>
          <p:cNvPr id="6" name="Text 4"/>
          <p:cNvSpPr/>
          <p:nvPr/>
        </p:nvSpPr>
        <p:spPr>
          <a:xfrm>
            <a:off x="411480" y="749808"/>
            <a:ext cx="9692640" cy="256032"/>
          </a:xfrm>
          <a:prstGeom prst="rect">
            <a:avLst/>
          </a:prstGeom>
          <a:noFill/>
          <a:ln/>
        </p:spPr>
        <p:txBody>
          <a:bodyPr wrap="square" lIns="0" tIns="0" rIns="0" bIns="0" rtlCol="0" anchor="ctr"/>
          <a:lstStyle/>
          <a:p>
            <a:pPr marL="0" indent="0">
              <a:buNone/>
            </a:pPr>
            <a:r>
              <a:rPr lang="en-US" sz="850" dirty="0">
                <a:solidFill>
                  <a:srgbClr val="53627A"/>
                </a:solidFill>
              </a:rPr>
              <a:t>“Transformer” and “foundation model” are not synonyms.</a:t>
            </a:r>
            <a:endParaRPr lang="en-US" sz="850" dirty="0"/>
          </a:p>
        </p:txBody>
      </p:sp>
      <p:sp>
        <p:nvSpPr>
          <p:cNvPr id="7" name="Text 5"/>
          <p:cNvSpPr/>
          <p:nvPr/>
        </p:nvSpPr>
        <p:spPr>
          <a:xfrm>
            <a:off x="411480" y="6629400"/>
            <a:ext cx="8961120" cy="137160"/>
          </a:xfrm>
          <a:prstGeom prst="rect">
            <a:avLst/>
          </a:prstGeom>
          <a:noFill/>
          <a:ln/>
        </p:spPr>
        <p:txBody>
          <a:bodyPr wrap="square" lIns="0" tIns="0" rIns="0" bIns="0" rtlCol="0" anchor="ctr"/>
          <a:lstStyle/>
          <a:p>
            <a:pPr marL="0" indent="0">
              <a:buNone/>
            </a:pPr>
            <a:r>
              <a:rPr lang="en-US" sz="520" dirty="0">
                <a:solidFill>
                  <a:srgbClr val="A6AFBF"/>
                </a:solidFill>
              </a:rPr>
              <a:t>Lecture 6 — Attention and Modern Time-Series Models</a:t>
            </a:r>
            <a:endParaRPr lang="en-US" sz="520" dirty="0"/>
          </a:p>
        </p:txBody>
      </p:sp>
      <p:sp>
        <p:nvSpPr>
          <p:cNvPr id="8" name="Shape 6"/>
          <p:cNvSpPr/>
          <p:nvPr/>
        </p:nvSpPr>
        <p:spPr>
          <a:xfrm>
            <a:off x="1143000" y="5166360"/>
            <a:ext cx="7269480" cy="0"/>
          </a:xfrm>
          <a:prstGeom prst="line">
            <a:avLst/>
          </a:prstGeom>
          <a:noFill/>
          <a:ln w="15240">
            <a:solidFill>
              <a:srgbClr val="8DA0B8"/>
            </a:solidFill>
            <a:prstDash val="solid"/>
          </a:ln>
        </p:spPr>
        <p:txBody>
          <a:bodyPr/>
          <a:lstStyle/>
          <a:p>
            <a:endParaRPr lang="en-GB"/>
          </a:p>
        </p:txBody>
      </p:sp>
      <p:sp>
        <p:nvSpPr>
          <p:cNvPr id="9" name="Shape 7"/>
          <p:cNvSpPr/>
          <p:nvPr/>
        </p:nvSpPr>
        <p:spPr>
          <a:xfrm>
            <a:off x="1143000" y="5166360"/>
            <a:ext cx="7269480" cy="0"/>
          </a:xfrm>
          <a:prstGeom prst="line">
            <a:avLst/>
          </a:prstGeom>
          <a:noFill/>
          <a:ln w="15240">
            <a:solidFill>
              <a:srgbClr val="8DA0B8"/>
            </a:solidFill>
            <a:prstDash val="solid"/>
            <a:headEnd type="none"/>
            <a:tailEnd type="triangle"/>
          </a:ln>
        </p:spPr>
        <p:txBody>
          <a:bodyPr/>
          <a:lstStyle/>
          <a:p>
            <a:endParaRPr lang="en-GB"/>
          </a:p>
        </p:txBody>
      </p:sp>
      <p:sp>
        <p:nvSpPr>
          <p:cNvPr id="10" name="Shape 8"/>
          <p:cNvSpPr/>
          <p:nvPr/>
        </p:nvSpPr>
        <p:spPr>
          <a:xfrm>
            <a:off x="1143000" y="5166360"/>
            <a:ext cx="0" cy="0"/>
          </a:xfrm>
          <a:prstGeom prst="line">
            <a:avLst/>
          </a:prstGeom>
          <a:noFill/>
          <a:ln w="15240">
            <a:solidFill>
              <a:srgbClr val="8DA0B8"/>
            </a:solidFill>
            <a:prstDash val="solid"/>
          </a:ln>
        </p:spPr>
        <p:txBody>
          <a:bodyPr/>
          <a:lstStyle/>
          <a:p>
            <a:endParaRPr lang="en-GB"/>
          </a:p>
        </p:txBody>
      </p:sp>
      <p:sp>
        <p:nvSpPr>
          <p:cNvPr id="11" name="Shape 9"/>
          <p:cNvSpPr/>
          <p:nvPr/>
        </p:nvSpPr>
        <p:spPr>
          <a:xfrm flipV="1">
            <a:off x="1143000" y="1088136"/>
            <a:ext cx="0" cy="4078224"/>
          </a:xfrm>
          <a:prstGeom prst="line">
            <a:avLst/>
          </a:prstGeom>
          <a:noFill/>
          <a:ln w="15240">
            <a:solidFill>
              <a:srgbClr val="8DA0B8"/>
            </a:solidFill>
            <a:prstDash val="solid"/>
            <a:headEnd type="none"/>
            <a:tailEnd type="triangle"/>
          </a:ln>
        </p:spPr>
        <p:txBody>
          <a:bodyPr/>
          <a:lstStyle/>
          <a:p>
            <a:endParaRPr lang="en-GB"/>
          </a:p>
        </p:txBody>
      </p:sp>
      <p:sp>
        <p:nvSpPr>
          <p:cNvPr id="12" name="Text 10"/>
          <p:cNvSpPr/>
          <p:nvPr/>
        </p:nvSpPr>
        <p:spPr>
          <a:xfrm rot="16200000">
            <a:off x="320040" y="2743200"/>
            <a:ext cx="731520" cy="365760"/>
          </a:xfrm>
          <a:prstGeom prst="rect">
            <a:avLst/>
          </a:prstGeom>
          <a:noFill/>
          <a:ln/>
        </p:spPr>
        <p:txBody>
          <a:bodyPr wrap="square" lIns="635" tIns="635" rIns="635" bIns="635" rtlCol="0" anchor="ctr">
            <a:normAutofit/>
          </a:bodyPr>
          <a:lstStyle/>
          <a:p>
            <a:pPr marL="0" indent="0" algn="ctr">
              <a:buNone/>
            </a:pPr>
            <a:r>
              <a:rPr lang="en-US" sz="800" dirty="0">
                <a:solidFill>
                  <a:srgbClr val="53627A"/>
                </a:solidFill>
                <a:latin typeface="Aptos" pitchFamily="34" charset="0"/>
                <a:ea typeface="Aptos" pitchFamily="34" charset="-122"/>
                <a:cs typeface="Aptos" pitchFamily="34" charset="-120"/>
              </a:rPr>
              <a:t>training regime</a:t>
            </a:r>
            <a:endParaRPr lang="en-US" sz="800" dirty="0"/>
          </a:p>
        </p:txBody>
      </p:sp>
      <p:sp>
        <p:nvSpPr>
          <p:cNvPr id="13" name="Text 11"/>
          <p:cNvSpPr/>
          <p:nvPr/>
        </p:nvSpPr>
        <p:spPr>
          <a:xfrm>
            <a:off x="685800" y="5440680"/>
            <a:ext cx="1097280" cy="182880"/>
          </a:xfrm>
          <a:prstGeom prst="rect">
            <a:avLst/>
          </a:prstGeom>
          <a:noFill/>
          <a:ln/>
        </p:spPr>
        <p:txBody>
          <a:bodyPr wrap="square" lIns="635" tIns="635" rIns="635" bIns="635" rtlCol="0" anchor="ctr">
            <a:normAutofit/>
          </a:bodyPr>
          <a:lstStyle/>
          <a:p>
            <a:pPr marL="0" indent="0" algn="ctr">
              <a:buNone/>
            </a:pPr>
            <a:r>
              <a:rPr lang="en-US" sz="600" dirty="0">
                <a:solidFill>
                  <a:srgbClr val="53627A"/>
                </a:solidFill>
                <a:latin typeface="Aptos" pitchFamily="34" charset="0"/>
                <a:ea typeface="Aptos" pitchFamily="34" charset="-122"/>
                <a:cs typeface="Aptos" pitchFamily="34" charset="-120"/>
              </a:rPr>
              <a:t>task-specific</a:t>
            </a:r>
            <a:endParaRPr lang="en-US" sz="600" dirty="0"/>
          </a:p>
        </p:txBody>
      </p:sp>
      <p:sp>
        <p:nvSpPr>
          <p:cNvPr id="14" name="Text 12"/>
          <p:cNvSpPr/>
          <p:nvPr/>
        </p:nvSpPr>
        <p:spPr>
          <a:xfrm>
            <a:off x="777240" y="1143000"/>
            <a:ext cx="1463040" cy="182880"/>
          </a:xfrm>
          <a:prstGeom prst="rect">
            <a:avLst/>
          </a:prstGeom>
          <a:noFill/>
          <a:ln/>
        </p:spPr>
        <p:txBody>
          <a:bodyPr wrap="square" lIns="635" tIns="635" rIns="635" bIns="635" rtlCol="0" anchor="ctr">
            <a:normAutofit/>
          </a:bodyPr>
          <a:lstStyle/>
          <a:p>
            <a:pPr marL="0" indent="0" algn="ctr">
              <a:buNone/>
            </a:pPr>
            <a:r>
              <a:rPr lang="en-US" sz="620" dirty="0">
                <a:solidFill>
                  <a:srgbClr val="53627A"/>
                </a:solidFill>
                <a:latin typeface="Aptos" pitchFamily="34" charset="0"/>
                <a:ea typeface="Aptos" pitchFamily="34" charset="-122"/>
                <a:cs typeface="Aptos" pitchFamily="34" charset="-120"/>
              </a:rPr>
              <a:t>large-scale pretraining</a:t>
            </a:r>
            <a:endParaRPr lang="en-US" sz="620" dirty="0"/>
          </a:p>
        </p:txBody>
      </p:sp>
      <p:sp>
        <p:nvSpPr>
          <p:cNvPr id="15" name="Text 13"/>
          <p:cNvSpPr/>
          <p:nvPr/>
        </p:nvSpPr>
        <p:spPr>
          <a:xfrm>
            <a:off x="1600200" y="5650992"/>
            <a:ext cx="914400" cy="182880"/>
          </a:xfrm>
          <a:prstGeom prst="rect">
            <a:avLst/>
          </a:prstGeom>
          <a:noFill/>
          <a:ln/>
        </p:spPr>
        <p:txBody>
          <a:bodyPr wrap="square" lIns="635" tIns="635" rIns="635" bIns="635" rtlCol="0" anchor="ctr">
            <a:normAutofit/>
          </a:bodyPr>
          <a:lstStyle/>
          <a:p>
            <a:pPr marL="0" indent="0">
              <a:buNone/>
            </a:pPr>
            <a:r>
              <a:rPr lang="en-US" sz="580" dirty="0">
                <a:solidFill>
                  <a:srgbClr val="53627A"/>
                </a:solidFill>
                <a:latin typeface="Aptos" pitchFamily="34" charset="0"/>
                <a:ea typeface="Aptos" pitchFamily="34" charset="-122"/>
                <a:cs typeface="Aptos" pitchFamily="34" charset="-120"/>
              </a:rPr>
              <a:t>feed-forward</a:t>
            </a:r>
            <a:endParaRPr lang="en-US" sz="580" dirty="0"/>
          </a:p>
        </p:txBody>
      </p:sp>
      <p:sp>
        <p:nvSpPr>
          <p:cNvPr id="16" name="Text 14"/>
          <p:cNvSpPr/>
          <p:nvPr/>
        </p:nvSpPr>
        <p:spPr>
          <a:xfrm>
            <a:off x="3246120" y="5650992"/>
            <a:ext cx="914400" cy="182880"/>
          </a:xfrm>
          <a:prstGeom prst="rect">
            <a:avLst/>
          </a:prstGeom>
          <a:noFill/>
          <a:ln/>
        </p:spPr>
        <p:txBody>
          <a:bodyPr wrap="square" lIns="635" tIns="635" rIns="635" bIns="635" rtlCol="0" anchor="ctr">
            <a:normAutofit/>
          </a:bodyPr>
          <a:lstStyle/>
          <a:p>
            <a:pPr marL="0" indent="0">
              <a:buNone/>
            </a:pPr>
            <a:r>
              <a:rPr lang="en-US" sz="580" dirty="0">
                <a:solidFill>
                  <a:srgbClr val="53627A"/>
                </a:solidFill>
                <a:latin typeface="Aptos" pitchFamily="34" charset="0"/>
                <a:ea typeface="Aptos" pitchFamily="34" charset="-122"/>
                <a:cs typeface="Aptos" pitchFamily="34" charset="-120"/>
              </a:rPr>
              <a:t>convolution</a:t>
            </a:r>
            <a:endParaRPr lang="en-US" sz="580" dirty="0"/>
          </a:p>
        </p:txBody>
      </p:sp>
      <p:sp>
        <p:nvSpPr>
          <p:cNvPr id="17" name="Text 15"/>
          <p:cNvSpPr/>
          <p:nvPr/>
        </p:nvSpPr>
        <p:spPr>
          <a:xfrm>
            <a:off x="5486400" y="5650992"/>
            <a:ext cx="914400" cy="182880"/>
          </a:xfrm>
          <a:prstGeom prst="rect">
            <a:avLst/>
          </a:prstGeom>
          <a:noFill/>
          <a:ln/>
        </p:spPr>
        <p:txBody>
          <a:bodyPr wrap="square" lIns="635" tIns="635" rIns="635" bIns="635" rtlCol="0" anchor="ctr">
            <a:normAutofit/>
          </a:bodyPr>
          <a:lstStyle/>
          <a:p>
            <a:pPr marL="0" indent="0">
              <a:buNone/>
            </a:pPr>
            <a:r>
              <a:rPr lang="en-US" sz="580" dirty="0">
                <a:solidFill>
                  <a:srgbClr val="53627A"/>
                </a:solidFill>
                <a:latin typeface="Aptos" pitchFamily="34" charset="0"/>
                <a:ea typeface="Aptos" pitchFamily="34" charset="-122"/>
                <a:cs typeface="Aptos" pitchFamily="34" charset="-120"/>
              </a:rPr>
              <a:t>attention</a:t>
            </a:r>
            <a:endParaRPr lang="en-US" sz="580" dirty="0"/>
          </a:p>
        </p:txBody>
      </p:sp>
      <p:sp>
        <p:nvSpPr>
          <p:cNvPr id="18" name="Shape 16"/>
          <p:cNvSpPr/>
          <p:nvPr/>
        </p:nvSpPr>
        <p:spPr>
          <a:xfrm>
            <a:off x="1600200" y="4297680"/>
            <a:ext cx="1005840" cy="384048"/>
          </a:xfrm>
          <a:prstGeom prst="roundRect">
            <a:avLst>
              <a:gd name="adj" fmla="val 19048"/>
            </a:avLst>
          </a:prstGeom>
          <a:solidFill>
            <a:srgbClr val="FFE7B4"/>
          </a:solidFill>
          <a:ln w="13970">
            <a:solidFill>
              <a:srgbClr val="E5A100"/>
            </a:solidFill>
            <a:prstDash val="solid"/>
          </a:ln>
        </p:spPr>
        <p:txBody>
          <a:bodyPr/>
          <a:lstStyle/>
          <a:p>
            <a:endParaRPr lang="en-GB"/>
          </a:p>
        </p:txBody>
      </p:sp>
      <p:sp>
        <p:nvSpPr>
          <p:cNvPr id="19" name="Text 17"/>
          <p:cNvSpPr/>
          <p:nvPr/>
        </p:nvSpPr>
        <p:spPr>
          <a:xfrm>
            <a:off x="1636776" y="4343400"/>
            <a:ext cx="932688" cy="292608"/>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N-BEATS</a:t>
            </a:r>
            <a:endParaRPr lang="en-US" sz="700" dirty="0"/>
          </a:p>
        </p:txBody>
      </p:sp>
      <p:sp>
        <p:nvSpPr>
          <p:cNvPr id="20" name="Shape 18"/>
          <p:cNvSpPr/>
          <p:nvPr/>
        </p:nvSpPr>
        <p:spPr>
          <a:xfrm>
            <a:off x="3383280" y="3840480"/>
            <a:ext cx="1143000" cy="502920"/>
          </a:xfrm>
          <a:prstGeom prst="roundRect">
            <a:avLst>
              <a:gd name="adj" fmla="val 14545"/>
            </a:avLst>
          </a:prstGeom>
          <a:solidFill>
            <a:srgbClr val="E9F6D7"/>
          </a:solidFill>
          <a:ln w="13970">
            <a:solidFill>
              <a:srgbClr val="86B817"/>
            </a:solidFill>
            <a:prstDash val="solid"/>
          </a:ln>
        </p:spPr>
        <p:txBody>
          <a:bodyPr/>
          <a:lstStyle/>
          <a:p>
            <a:endParaRPr lang="en-GB"/>
          </a:p>
        </p:txBody>
      </p:sp>
      <p:sp>
        <p:nvSpPr>
          <p:cNvPr id="21" name="Text 19"/>
          <p:cNvSpPr/>
          <p:nvPr/>
        </p:nvSpPr>
        <p:spPr>
          <a:xfrm>
            <a:off x="3419856" y="3886200"/>
            <a:ext cx="1069848" cy="411480"/>
          </a:xfrm>
          <a:prstGeom prst="rect">
            <a:avLst/>
          </a:prstGeom>
          <a:noFill/>
          <a:ln/>
        </p:spPr>
        <p:txBody>
          <a:bodyPr wrap="square" lIns="0" tIns="0" rIns="0" bIns="0" rtlCol="0" anchor="ctr">
            <a:normAutofit/>
          </a:bodyPr>
          <a:lstStyle/>
          <a:p>
            <a:pPr marL="0" indent="0" algn="ctr">
              <a:buNone/>
            </a:pPr>
            <a:r>
              <a:rPr lang="en-US" sz="630" b="1" dirty="0">
                <a:solidFill>
                  <a:srgbClr val="122033"/>
                </a:solidFill>
                <a:latin typeface="Aptos" pitchFamily="34" charset="0"/>
                <a:ea typeface="Aptos" pitchFamily="34" charset="-122"/>
                <a:cs typeface="Aptos" pitchFamily="34" charset="-120"/>
              </a:rPr>
              <a:t>InceptionTime</a:t>
            </a:r>
            <a:endParaRPr lang="en-US" sz="630" dirty="0"/>
          </a:p>
          <a:p>
            <a:pPr marL="0" indent="0" algn="ctr">
              <a:buNone/>
            </a:pPr>
            <a:r>
              <a:rPr lang="en-US" sz="630" b="1" dirty="0">
                <a:solidFill>
                  <a:srgbClr val="122033"/>
                </a:solidFill>
                <a:latin typeface="Aptos" pitchFamily="34" charset="0"/>
                <a:ea typeface="Aptos" pitchFamily="34" charset="-122"/>
                <a:cs typeface="Aptos" pitchFamily="34" charset="-120"/>
              </a:rPr>
              <a:t>TCN</a:t>
            </a:r>
            <a:endParaRPr lang="en-US" sz="630" dirty="0"/>
          </a:p>
        </p:txBody>
      </p:sp>
      <p:sp>
        <p:nvSpPr>
          <p:cNvPr id="22" name="Shape 20"/>
          <p:cNvSpPr/>
          <p:nvPr/>
        </p:nvSpPr>
        <p:spPr>
          <a:xfrm>
            <a:off x="5577840" y="3611880"/>
            <a:ext cx="1051560" cy="384048"/>
          </a:xfrm>
          <a:prstGeom prst="roundRect">
            <a:avLst>
              <a:gd name="adj" fmla="val 19048"/>
            </a:avLst>
          </a:prstGeom>
          <a:solidFill>
            <a:srgbClr val="E3D4FF"/>
          </a:solidFill>
          <a:ln w="13970">
            <a:solidFill>
              <a:srgbClr val="895DE8"/>
            </a:solidFill>
            <a:prstDash val="solid"/>
          </a:ln>
        </p:spPr>
        <p:txBody>
          <a:bodyPr/>
          <a:lstStyle/>
          <a:p>
            <a:endParaRPr lang="en-GB"/>
          </a:p>
        </p:txBody>
      </p:sp>
      <p:sp>
        <p:nvSpPr>
          <p:cNvPr id="23" name="Text 21"/>
          <p:cNvSpPr/>
          <p:nvPr/>
        </p:nvSpPr>
        <p:spPr>
          <a:xfrm>
            <a:off x="5614416" y="3657600"/>
            <a:ext cx="978408" cy="292608"/>
          </a:xfrm>
          <a:prstGeom prst="rect">
            <a:avLst/>
          </a:prstGeom>
          <a:noFill/>
          <a:ln/>
        </p:spPr>
        <p:txBody>
          <a:bodyPr wrap="square" lIns="0" tIns="0" rIns="0" bIns="0" rtlCol="0" anchor="ctr">
            <a:normAutofit/>
          </a:bodyPr>
          <a:lstStyle/>
          <a:p>
            <a:pPr marL="0" indent="0" algn="ctr">
              <a:buNone/>
            </a:pPr>
            <a:r>
              <a:rPr lang="en-US" sz="700" b="1" dirty="0">
                <a:solidFill>
                  <a:srgbClr val="122033"/>
                </a:solidFill>
                <a:latin typeface="Aptos" pitchFamily="34" charset="0"/>
                <a:ea typeface="Aptos" pitchFamily="34" charset="-122"/>
                <a:cs typeface="Aptos" pitchFamily="34" charset="-120"/>
              </a:rPr>
              <a:t>PatchTST</a:t>
            </a:r>
            <a:endParaRPr lang="en-US" sz="700" dirty="0"/>
          </a:p>
        </p:txBody>
      </p:sp>
      <p:sp>
        <p:nvSpPr>
          <p:cNvPr id="24" name="Shape 22"/>
          <p:cNvSpPr/>
          <p:nvPr/>
        </p:nvSpPr>
        <p:spPr>
          <a:xfrm>
            <a:off x="5806440" y="1508760"/>
            <a:ext cx="1051560" cy="685800"/>
          </a:xfrm>
          <a:prstGeom prst="roundRect">
            <a:avLst>
              <a:gd name="adj" fmla="val 10667"/>
            </a:avLst>
          </a:prstGeom>
          <a:solidFill>
            <a:srgbClr val="FFD6E0"/>
          </a:solidFill>
          <a:ln w="13970">
            <a:solidFill>
              <a:srgbClr val="EE6A7C"/>
            </a:solidFill>
            <a:prstDash val="solid"/>
          </a:ln>
        </p:spPr>
        <p:txBody>
          <a:bodyPr/>
          <a:lstStyle/>
          <a:p>
            <a:endParaRPr lang="en-GB"/>
          </a:p>
        </p:txBody>
      </p:sp>
      <p:sp>
        <p:nvSpPr>
          <p:cNvPr id="25" name="Text 23"/>
          <p:cNvSpPr/>
          <p:nvPr/>
        </p:nvSpPr>
        <p:spPr>
          <a:xfrm>
            <a:off x="5843016" y="1554480"/>
            <a:ext cx="978408" cy="594360"/>
          </a:xfrm>
          <a:prstGeom prst="rect">
            <a:avLst/>
          </a:prstGeom>
          <a:noFill/>
          <a:ln/>
        </p:spPr>
        <p:txBody>
          <a:bodyPr wrap="square" lIns="0" tIns="0" rIns="0" bIns="0" rtlCol="0" anchor="ctr">
            <a:normAutofit/>
          </a:bodyPr>
          <a:lstStyle/>
          <a:p>
            <a:pPr marL="0" indent="0" algn="ctr">
              <a:buNone/>
            </a:pPr>
            <a:r>
              <a:rPr lang="en-US" sz="620" b="1" dirty="0">
                <a:solidFill>
                  <a:srgbClr val="122033"/>
                </a:solidFill>
                <a:latin typeface="Aptos" pitchFamily="34" charset="0"/>
                <a:ea typeface="Aptos" pitchFamily="34" charset="-122"/>
                <a:cs typeface="Aptos" pitchFamily="34" charset="-120"/>
              </a:rPr>
              <a:t>TimesFM</a:t>
            </a:r>
            <a:endParaRPr lang="en-US" sz="620" dirty="0"/>
          </a:p>
          <a:p>
            <a:pPr marL="0" indent="0" algn="ctr">
              <a:buNone/>
            </a:pPr>
            <a:r>
              <a:rPr lang="en-US" sz="620" b="1" dirty="0">
                <a:solidFill>
                  <a:srgbClr val="122033"/>
                </a:solidFill>
                <a:latin typeface="Aptos" pitchFamily="34" charset="0"/>
                <a:ea typeface="Aptos" pitchFamily="34" charset="-122"/>
                <a:cs typeface="Aptos" pitchFamily="34" charset="-120"/>
              </a:rPr>
              <a:t>Chronos</a:t>
            </a:r>
            <a:endParaRPr lang="en-US" sz="620" dirty="0"/>
          </a:p>
          <a:p>
            <a:pPr marL="0" indent="0" algn="ctr">
              <a:buNone/>
            </a:pPr>
            <a:r>
              <a:rPr lang="en-US" sz="620" b="1" dirty="0">
                <a:solidFill>
                  <a:srgbClr val="122033"/>
                </a:solidFill>
                <a:latin typeface="Aptos" pitchFamily="34" charset="0"/>
                <a:ea typeface="Aptos" pitchFamily="34" charset="-122"/>
                <a:cs typeface="Aptos" pitchFamily="34" charset="-120"/>
              </a:rPr>
              <a:t>Moirai</a:t>
            </a:r>
            <a:endParaRPr lang="en-US" sz="62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a:extLst>
              <a:ext uri="{FF2B5EF4-FFF2-40B4-BE49-F238E27FC236}">
                <a16:creationId xmlns:a16="http://schemas.microsoft.com/office/drawing/2014/main" id="{188B0F48-E618-F2AA-66F3-F761B4F5B175}"/>
              </a:ext>
            </a:extLst>
          </p:cNvPr>
          <p:cNvPicPr>
            <a:picLocks noGrp="1" noChangeAspect="1"/>
          </p:cNvPicPr>
          <p:nvPr>
            <p:ph idx="1"/>
          </p:nvPr>
        </p:nvPicPr>
        <p:blipFill>
          <a:blip r:embed="rId2"/>
          <a:stretch>
            <a:fillRect/>
          </a:stretch>
        </p:blipFill>
        <p:spPr>
          <a:xfrm>
            <a:off x="2447925" y="1352088"/>
            <a:ext cx="6241860" cy="5280488"/>
          </a:xfrm>
          <a:prstGeom prst="rect">
            <a:avLst/>
          </a:prstGeom>
        </p:spPr>
      </p:pic>
      <p:sp>
        <p:nvSpPr>
          <p:cNvPr id="2" name="Titolo 1">
            <a:extLst>
              <a:ext uri="{FF2B5EF4-FFF2-40B4-BE49-F238E27FC236}">
                <a16:creationId xmlns:a16="http://schemas.microsoft.com/office/drawing/2014/main" id="{DBED6D5A-A7D4-3EF7-6BFA-94D8E8C53D12}"/>
              </a:ext>
            </a:extLst>
          </p:cNvPr>
          <p:cNvSpPr>
            <a:spLocks noGrp="1"/>
          </p:cNvSpPr>
          <p:nvPr>
            <p:ph type="title"/>
          </p:nvPr>
        </p:nvSpPr>
        <p:spPr/>
        <p:txBody>
          <a:bodyPr/>
          <a:lstStyle/>
          <a:p>
            <a:r>
              <a:rPr lang="en-GB" dirty="0"/>
              <a:t>A compact map of representative approaches</a:t>
            </a:r>
          </a:p>
        </p:txBody>
      </p:sp>
      <p:sp>
        <p:nvSpPr>
          <p:cNvPr id="6" name="CasellaDiTesto 5">
            <a:extLst>
              <a:ext uri="{FF2B5EF4-FFF2-40B4-BE49-F238E27FC236}">
                <a16:creationId xmlns:a16="http://schemas.microsoft.com/office/drawing/2014/main" id="{20F4FD5C-8831-F750-61FC-72B53C64F023}"/>
              </a:ext>
            </a:extLst>
          </p:cNvPr>
          <p:cNvSpPr txBox="1"/>
          <p:nvPr/>
        </p:nvSpPr>
        <p:spPr>
          <a:xfrm>
            <a:off x="9562088" y="6353175"/>
            <a:ext cx="2390775" cy="369332"/>
          </a:xfrm>
          <a:prstGeom prst="rect">
            <a:avLst/>
          </a:prstGeom>
          <a:noFill/>
        </p:spPr>
        <p:txBody>
          <a:bodyPr wrap="square" rtlCol="0">
            <a:spAutoFit/>
          </a:bodyPr>
          <a:lstStyle/>
          <a:p>
            <a:r>
              <a:rPr lang="it-IT" b="1" dirty="0"/>
              <a:t>No </a:t>
            </a:r>
            <a:r>
              <a:rPr lang="it-IT" b="1" dirty="0" err="1"/>
              <a:t>universal</a:t>
            </a:r>
            <a:r>
              <a:rPr lang="it-IT" b="1" dirty="0"/>
              <a:t> winner</a:t>
            </a:r>
            <a:endParaRPr lang="en-GB" b="1" dirty="0"/>
          </a:p>
        </p:txBody>
      </p:sp>
    </p:spTree>
    <p:extLst>
      <p:ext uri="{BB962C8B-B14F-4D97-AF65-F5344CB8AC3E}">
        <p14:creationId xmlns:p14="http://schemas.microsoft.com/office/powerpoint/2010/main" val="37432150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D083D81-83A0-5DE4-D6ED-FAABFD8ABE63}"/>
              </a:ext>
            </a:extLst>
          </p:cNvPr>
          <p:cNvSpPr>
            <a:spLocks noGrp="1"/>
          </p:cNvSpPr>
          <p:nvPr>
            <p:ph type="title"/>
          </p:nvPr>
        </p:nvSpPr>
        <p:spPr/>
        <p:txBody>
          <a:bodyPr/>
          <a:lstStyle/>
          <a:p>
            <a:r>
              <a:rPr lang="en-GB" dirty="0"/>
              <a:t>There is no universal progression from old to new</a:t>
            </a:r>
          </a:p>
        </p:txBody>
      </p:sp>
      <p:sp>
        <p:nvSpPr>
          <p:cNvPr id="3" name="Segnaposto contenuto 2">
            <a:extLst>
              <a:ext uri="{FF2B5EF4-FFF2-40B4-BE49-F238E27FC236}">
                <a16:creationId xmlns:a16="http://schemas.microsoft.com/office/drawing/2014/main" id="{BC51C862-9998-3B95-3D09-943EB8770036}"/>
              </a:ext>
            </a:extLst>
          </p:cNvPr>
          <p:cNvSpPr>
            <a:spLocks noGrp="1"/>
          </p:cNvSpPr>
          <p:nvPr>
            <p:ph sz="half" idx="1"/>
          </p:nvPr>
        </p:nvSpPr>
        <p:spPr/>
        <p:txBody>
          <a:bodyPr>
            <a:normAutofit fontScale="77500" lnSpcReduction="20000"/>
          </a:bodyPr>
          <a:lstStyle/>
          <a:p>
            <a:r>
              <a:rPr lang="en-GB" dirty="0"/>
              <a:t>It is tempting to think:</a:t>
            </a:r>
          </a:p>
          <a:p>
            <a:pPr lvl="1"/>
            <a:r>
              <a:rPr lang="en-GB" dirty="0"/>
              <a:t>linear</a:t>
            </a:r>
          </a:p>
          <a:p>
            <a:pPr lvl="1"/>
            <a:r>
              <a:rPr lang="en-GB" dirty="0"/>
              <a:t>  ↓</a:t>
            </a:r>
          </a:p>
          <a:p>
            <a:pPr lvl="1"/>
            <a:r>
              <a:rPr lang="en-GB" dirty="0"/>
              <a:t>RNN</a:t>
            </a:r>
          </a:p>
          <a:p>
            <a:pPr lvl="1"/>
            <a:r>
              <a:rPr lang="en-GB" dirty="0"/>
              <a:t>  ↓</a:t>
            </a:r>
          </a:p>
          <a:p>
            <a:pPr lvl="1"/>
            <a:r>
              <a:rPr lang="en-GB" dirty="0"/>
              <a:t>CNN</a:t>
            </a:r>
          </a:p>
          <a:p>
            <a:pPr lvl="1"/>
            <a:r>
              <a:rPr lang="en-GB" dirty="0"/>
              <a:t>  ↓</a:t>
            </a:r>
          </a:p>
          <a:p>
            <a:pPr lvl="1"/>
            <a:r>
              <a:rPr lang="en-GB" dirty="0"/>
              <a:t>Transformer</a:t>
            </a:r>
          </a:p>
          <a:p>
            <a:pPr lvl="1"/>
            <a:r>
              <a:rPr lang="en-GB" dirty="0"/>
              <a:t>  ↓</a:t>
            </a:r>
          </a:p>
          <a:p>
            <a:pPr lvl="1"/>
            <a:r>
              <a:rPr lang="en-GB" dirty="0"/>
              <a:t>foundation model</a:t>
            </a:r>
          </a:p>
          <a:p>
            <a:r>
              <a:rPr lang="en-GB" dirty="0"/>
              <a:t>as if every newer architecture automatically superseded the previous one.</a:t>
            </a:r>
          </a:p>
          <a:p>
            <a:r>
              <a:rPr lang="en-GB" b="1" dirty="0"/>
              <a:t>This is incorrect.</a:t>
            </a:r>
          </a:p>
          <a:p>
            <a:endParaRPr lang="en-GB" dirty="0"/>
          </a:p>
        </p:txBody>
      </p:sp>
      <p:sp>
        <p:nvSpPr>
          <p:cNvPr id="4" name="Segnaposto contenuto 3">
            <a:extLst>
              <a:ext uri="{FF2B5EF4-FFF2-40B4-BE49-F238E27FC236}">
                <a16:creationId xmlns:a16="http://schemas.microsoft.com/office/drawing/2014/main" id="{4B42E20D-7D2A-3059-EA67-C477B8C31CB0}"/>
              </a:ext>
            </a:extLst>
          </p:cNvPr>
          <p:cNvSpPr>
            <a:spLocks noGrp="1"/>
          </p:cNvSpPr>
          <p:nvPr>
            <p:ph sz="half" idx="2"/>
          </p:nvPr>
        </p:nvSpPr>
        <p:spPr/>
        <p:txBody>
          <a:bodyPr>
            <a:normAutofit fontScale="77500" lnSpcReduction="20000"/>
          </a:bodyPr>
          <a:lstStyle/>
          <a:p>
            <a:r>
              <a:rPr lang="en-GB" dirty="0"/>
              <a:t>A simpler model may still be preferable because of:</a:t>
            </a:r>
          </a:p>
          <a:p>
            <a:pPr lvl="1"/>
            <a:r>
              <a:rPr lang="en-GB" dirty="0"/>
              <a:t>better accuracy on the specific dataset; </a:t>
            </a:r>
          </a:p>
          <a:p>
            <a:pPr lvl="1"/>
            <a:r>
              <a:rPr lang="en-GB" dirty="0"/>
              <a:t>limited training data; </a:t>
            </a:r>
          </a:p>
          <a:p>
            <a:pPr lvl="1"/>
            <a:r>
              <a:rPr lang="en-GB" dirty="0"/>
              <a:t>lower latency; </a:t>
            </a:r>
          </a:p>
          <a:p>
            <a:pPr lvl="1"/>
            <a:r>
              <a:rPr lang="en-GB" dirty="0"/>
              <a:t>lower energy use; </a:t>
            </a:r>
          </a:p>
          <a:p>
            <a:pPr lvl="1"/>
            <a:r>
              <a:rPr lang="en-GB" dirty="0"/>
              <a:t>easier validation; </a:t>
            </a:r>
          </a:p>
          <a:p>
            <a:pPr lvl="1"/>
            <a:r>
              <a:rPr lang="en-GB" dirty="0"/>
              <a:t>easier deployment; </a:t>
            </a:r>
          </a:p>
          <a:p>
            <a:pPr lvl="1"/>
            <a:r>
              <a:rPr lang="en-GB" dirty="0"/>
              <a:t>greater interpretability. </a:t>
            </a:r>
          </a:p>
          <a:p>
            <a:endParaRPr lang="en-GB" dirty="0"/>
          </a:p>
          <a:p>
            <a:r>
              <a:rPr lang="en-GB" b="1" dirty="0"/>
              <a:t>Modern architectures enlarge the design space; they do not invalidate strong simpler methods.</a:t>
            </a:r>
          </a:p>
          <a:p>
            <a:endParaRPr lang="en-GB" dirty="0"/>
          </a:p>
        </p:txBody>
      </p:sp>
    </p:spTree>
    <p:extLst>
      <p:ext uri="{BB962C8B-B14F-4D97-AF65-F5344CB8AC3E}">
        <p14:creationId xmlns:p14="http://schemas.microsoft.com/office/powerpoint/2010/main" val="23290892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59833D-E26D-CB17-DE3C-3BBF1AF38CEE}"/>
              </a:ext>
            </a:extLst>
          </p:cNvPr>
          <p:cNvSpPr>
            <a:spLocks noGrp="1"/>
          </p:cNvSpPr>
          <p:nvPr>
            <p:ph type="title"/>
          </p:nvPr>
        </p:nvSpPr>
        <p:spPr/>
        <p:txBody>
          <a:bodyPr/>
          <a:lstStyle/>
          <a:p>
            <a:r>
              <a:rPr lang="en-GB" dirty="0"/>
              <a:t>What should be retained from modern model names?</a:t>
            </a:r>
          </a:p>
        </p:txBody>
      </p:sp>
      <p:sp>
        <p:nvSpPr>
          <p:cNvPr id="3" name="Segnaposto contenuto 2">
            <a:extLst>
              <a:ext uri="{FF2B5EF4-FFF2-40B4-BE49-F238E27FC236}">
                <a16:creationId xmlns:a16="http://schemas.microsoft.com/office/drawing/2014/main" id="{19E2F87E-FF7E-1011-D119-8280DA4752B9}"/>
              </a:ext>
            </a:extLst>
          </p:cNvPr>
          <p:cNvSpPr>
            <a:spLocks noGrp="1"/>
          </p:cNvSpPr>
          <p:nvPr>
            <p:ph idx="1"/>
          </p:nvPr>
        </p:nvSpPr>
        <p:spPr/>
        <p:txBody>
          <a:bodyPr>
            <a:normAutofit fontScale="77500" lnSpcReduction="20000"/>
          </a:bodyPr>
          <a:lstStyle/>
          <a:p>
            <a:r>
              <a:rPr lang="en-GB" dirty="0"/>
              <a:t>For any new temporal model ask:</a:t>
            </a:r>
          </a:p>
          <a:p>
            <a:pPr lvl="0"/>
            <a:r>
              <a:rPr lang="en-GB" b="1" dirty="0"/>
              <a:t>What is the input unit?</a:t>
            </a:r>
            <a:r>
              <a:rPr lang="en-GB" dirty="0"/>
              <a:t> </a:t>
            </a:r>
          </a:p>
          <a:p>
            <a:pPr lvl="1"/>
            <a:r>
              <a:rPr lang="en-GB" dirty="0"/>
              <a:t>Sample (frame), patch, feature vector? </a:t>
            </a:r>
          </a:p>
          <a:p>
            <a:pPr lvl="0"/>
            <a:r>
              <a:rPr lang="en-GB" b="1" dirty="0"/>
              <a:t>How is temporal information represented?</a:t>
            </a:r>
            <a:r>
              <a:rPr lang="en-GB" dirty="0"/>
              <a:t> </a:t>
            </a:r>
          </a:p>
          <a:p>
            <a:pPr lvl="1"/>
            <a:r>
              <a:rPr lang="en-GB" dirty="0"/>
              <a:t>state, convolution, attention, direct mapping? </a:t>
            </a:r>
          </a:p>
          <a:p>
            <a:pPr lvl="0"/>
            <a:r>
              <a:rPr lang="en-GB" b="1" dirty="0"/>
              <a:t>How is long context obtained?</a:t>
            </a:r>
            <a:r>
              <a:rPr lang="en-GB" dirty="0"/>
              <a:t> </a:t>
            </a:r>
          </a:p>
          <a:p>
            <a:pPr lvl="1"/>
            <a:r>
              <a:rPr lang="en-GB" dirty="0"/>
              <a:t>recurrence, receptive field, patching, global attention? </a:t>
            </a:r>
          </a:p>
          <a:p>
            <a:pPr lvl="0"/>
            <a:r>
              <a:rPr lang="en-GB" b="1" dirty="0"/>
              <a:t>Is the model causal?</a:t>
            </a:r>
            <a:r>
              <a:rPr lang="en-GB" dirty="0"/>
              <a:t> </a:t>
            </a:r>
          </a:p>
          <a:p>
            <a:pPr lvl="0"/>
            <a:r>
              <a:rPr lang="en-GB" b="1" dirty="0"/>
              <a:t>What task does it target?</a:t>
            </a:r>
            <a:r>
              <a:rPr lang="en-GB" dirty="0"/>
              <a:t> </a:t>
            </a:r>
          </a:p>
          <a:p>
            <a:pPr lvl="1"/>
            <a:r>
              <a:rPr lang="en-GB" dirty="0"/>
              <a:t>forecasting, classification, labelling? </a:t>
            </a:r>
          </a:p>
          <a:p>
            <a:pPr lvl="0"/>
            <a:r>
              <a:rPr lang="en-GB" b="1" dirty="0"/>
              <a:t>What training regime is used?</a:t>
            </a:r>
            <a:r>
              <a:rPr lang="en-GB" dirty="0"/>
              <a:t> </a:t>
            </a:r>
          </a:p>
          <a:p>
            <a:pPr lvl="1"/>
            <a:r>
              <a:rPr lang="en-GB" dirty="0"/>
              <a:t>task-specific or pretrained? </a:t>
            </a:r>
          </a:p>
          <a:p>
            <a:pPr lvl="0"/>
            <a:r>
              <a:rPr lang="en-GB" b="1" dirty="0"/>
              <a:t>What baseline should it outperform?</a:t>
            </a:r>
            <a:endParaRPr lang="en-GB" dirty="0"/>
          </a:p>
          <a:p>
            <a:endParaRPr lang="en-GB" dirty="0"/>
          </a:p>
        </p:txBody>
      </p:sp>
    </p:spTree>
    <p:extLst>
      <p:ext uri="{BB962C8B-B14F-4D97-AF65-F5344CB8AC3E}">
        <p14:creationId xmlns:p14="http://schemas.microsoft.com/office/powerpoint/2010/main" val="202629299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D2AF71-B199-00CB-0EE8-3B0AB69F02AE}"/>
              </a:ext>
            </a:extLst>
          </p:cNvPr>
          <p:cNvSpPr>
            <a:spLocks noGrp="1"/>
          </p:cNvSpPr>
          <p:nvPr>
            <p:ph type="title"/>
          </p:nvPr>
        </p:nvSpPr>
        <p:spPr/>
        <p:txBody>
          <a:bodyPr/>
          <a:lstStyle/>
          <a:p>
            <a:r>
              <a:rPr lang="it-IT" dirty="0" err="1"/>
              <a:t>Transition</a:t>
            </a:r>
            <a:endParaRPr lang="en-GB" dirty="0"/>
          </a:p>
        </p:txBody>
      </p:sp>
      <p:sp>
        <p:nvSpPr>
          <p:cNvPr id="3" name="Segnaposto contenuto 2">
            <a:extLst>
              <a:ext uri="{FF2B5EF4-FFF2-40B4-BE49-F238E27FC236}">
                <a16:creationId xmlns:a16="http://schemas.microsoft.com/office/drawing/2014/main" id="{D2BA4D42-FCA8-D8FE-3318-92BFBF3FCD71}"/>
              </a:ext>
            </a:extLst>
          </p:cNvPr>
          <p:cNvSpPr>
            <a:spLocks noGrp="1"/>
          </p:cNvSpPr>
          <p:nvPr>
            <p:ph idx="1"/>
          </p:nvPr>
        </p:nvSpPr>
        <p:spPr/>
        <p:txBody>
          <a:bodyPr/>
          <a:lstStyle/>
          <a:p>
            <a:r>
              <a:rPr lang="en-GB" dirty="0"/>
              <a:t>The next question is therefore not simply:</a:t>
            </a:r>
          </a:p>
          <a:p>
            <a:r>
              <a:rPr lang="en-GB" dirty="0"/>
              <a:t>Which new architecture is best?</a:t>
            </a:r>
          </a:p>
          <a:p>
            <a:r>
              <a:rPr lang="en-GB" dirty="0"/>
              <a:t>but:</a:t>
            </a:r>
          </a:p>
          <a:p>
            <a:r>
              <a:rPr lang="en-GB" dirty="0"/>
              <a:t>What changes when temporal models are pretrained on large collections of time series?</a:t>
            </a:r>
          </a:p>
          <a:p>
            <a:endParaRPr lang="en-GB" dirty="0"/>
          </a:p>
        </p:txBody>
      </p:sp>
    </p:spTree>
    <p:extLst>
      <p:ext uri="{BB962C8B-B14F-4D97-AF65-F5344CB8AC3E}">
        <p14:creationId xmlns:p14="http://schemas.microsoft.com/office/powerpoint/2010/main" val="772351032"/>
      </p:ext>
    </p:extLst>
  </p:cSld>
  <p:clrMapOvr>
    <a:masterClrMapping/>
  </p:clrMapOvr>
</p:sld>
</file>

<file path=ppt/theme/theme1.xml><?xml version="1.0" encoding="utf-8"?>
<a:theme xmlns:a="http://schemas.openxmlformats.org/drawingml/2006/main" name="Sfaccettatura">
  <a:themeElements>
    <a:clrScheme name="Sfaccettatur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Sfaccettatur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faccettatur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Sfaccettatura</Template>
  <TotalTime>3038</TotalTime>
  <Words>16274</Words>
  <Application>Microsoft Office PowerPoint</Application>
  <PresentationFormat>Widescreen</PresentationFormat>
  <Paragraphs>3356</Paragraphs>
  <Slides>190</Slides>
  <Notes>64</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190</vt:i4>
      </vt:variant>
    </vt:vector>
  </HeadingPairs>
  <TitlesOfParts>
    <vt:vector size="199" baseType="lpstr">
      <vt:lpstr>Aptos</vt:lpstr>
      <vt:lpstr>Aptos Display</vt:lpstr>
      <vt:lpstr>Arial</vt:lpstr>
      <vt:lpstr>Symbol</vt:lpstr>
      <vt:lpstr>Times New Roman</vt:lpstr>
      <vt:lpstr>Trebuchet MS</vt:lpstr>
      <vt:lpstr>Wingdings</vt:lpstr>
      <vt:lpstr>Wingdings 3</vt:lpstr>
      <vt:lpstr>Sfaccettatura</vt:lpstr>
      <vt:lpstr>06 - Attention</vt:lpstr>
      <vt:lpstr>Final architecture comparison</vt:lpstr>
      <vt:lpstr>Outline of the lecture</vt:lpstr>
      <vt:lpstr>Block 6.A — From Fixed Temporal Mechanisms to Attention</vt:lpstr>
      <vt:lpstr>Three different ways to model temporal dependencies</vt:lpstr>
      <vt:lpstr>Three different ways to model temporal dependencies</vt:lpstr>
      <vt:lpstr>Presentazione standard di PowerPoint</vt:lpstr>
      <vt:lpstr>Long-range interaction in RNNs and CNNs</vt:lpstr>
      <vt:lpstr>Long-range interaction in RNNs and CNNs</vt:lpstr>
      <vt:lpstr>Presentazione standard di PowerPoint</vt:lpstr>
      <vt:lpstr>Relevance can depend on the current sequence</vt:lpstr>
      <vt:lpstr>Presentazione standard di PowerPoint</vt:lpstr>
      <vt:lpstr>Attention as adaptive information selection</vt:lpstr>
      <vt:lpstr>Attention as adaptive information selection</vt:lpstr>
      <vt:lpstr>Presentazione standard di PowerPoint</vt:lpstr>
      <vt:lpstr>Transition </vt:lpstr>
      <vt:lpstr>Block 6.B — Attention from First Principles</vt:lpstr>
      <vt:lpstr>Attention separates relevance from information content</vt:lpstr>
      <vt:lpstr>Attention separates relevance from information content</vt:lpstr>
      <vt:lpstr>Presentazione standard di PowerPoint</vt:lpstr>
      <vt:lpstr>Query, key and value are learned representations</vt:lpstr>
      <vt:lpstr>Presentazione standard di PowerPoint</vt:lpstr>
      <vt:lpstr>Query–key similarity produces an attention score</vt:lpstr>
      <vt:lpstr>Presentazione standard di PowerPoint</vt:lpstr>
      <vt:lpstr>Scores become attention weights</vt:lpstr>
      <vt:lpstr>Presentazione standard di PowerPoint</vt:lpstr>
      <vt:lpstr>Values contain the information that is retrieved</vt:lpstr>
      <vt:lpstr>Values contain the information that is retrieved</vt:lpstr>
      <vt:lpstr>Presentazione standard di PowerPoint</vt:lpstr>
      <vt:lpstr>The complete attention mechanism</vt:lpstr>
      <vt:lpstr>The complete attention mechanism</vt:lpstr>
      <vt:lpstr>Presentazione standard di PowerPoint</vt:lpstr>
      <vt:lpstr>Why use separate keys and values?</vt:lpstr>
      <vt:lpstr>Why use separate keys and values?</vt:lpstr>
      <vt:lpstr>Attention is differentiable and learned end-to-end</vt:lpstr>
      <vt:lpstr>Scaled dot-product attention</vt:lpstr>
      <vt:lpstr>Attention versus convolution</vt:lpstr>
      <vt:lpstr>Attention versus convolution</vt:lpstr>
      <vt:lpstr>Presentazione standard di PowerPoint</vt:lpstr>
      <vt:lpstr>Attention does not yet know temporal order</vt:lpstr>
      <vt:lpstr>Presentazione standard di PowerPoint</vt:lpstr>
      <vt:lpstr>Block 6.C — Self-Attention in a Temporal Sequence</vt:lpstr>
      <vt:lpstr>Self-attention: queries, keys and values come from the same sequence</vt:lpstr>
      <vt:lpstr>Self-attention: queries, keys and values come from the same sequence</vt:lpstr>
      <vt:lpstr>Presentazione standard di PowerPoint</vt:lpstr>
      <vt:lpstr>Every position obtains its own context-dependent representation</vt:lpstr>
      <vt:lpstr>Presentazione standard di PowerPoint</vt:lpstr>
      <vt:lpstr>The attention matrix</vt:lpstr>
      <vt:lpstr>The attention matrix</vt:lpstr>
      <vt:lpstr>Presentazione standard di PowerPoint</vt:lpstr>
      <vt:lpstr>Self-attention can connect distant temporal positions directly</vt:lpstr>
      <vt:lpstr>Presentazione standard di PowerPoint</vt:lpstr>
      <vt:lpstr>Attention weights are input-dependent</vt:lpstr>
      <vt:lpstr>Presentazione standard di PowerPoint</vt:lpstr>
      <vt:lpstr>Self-attention mixes information, but does not by itself encode order</vt:lpstr>
      <vt:lpstr>Self-attention mixes information, but does not by itself encode order</vt:lpstr>
      <vt:lpstr>Presentazione standard di PowerPoint</vt:lpstr>
      <vt:lpstr>Permutation equivariance</vt:lpstr>
      <vt:lpstr>Block 6.D — Causal and Non-Causal Attention</vt:lpstr>
      <vt:lpstr>Standard self-attention may use the future</vt:lpstr>
      <vt:lpstr>Non-causal self-attention</vt:lpstr>
      <vt:lpstr>Non-causal self-attention</vt:lpstr>
      <vt:lpstr>Presentazione standard di PowerPoint</vt:lpstr>
      <vt:lpstr>Causal self-attention</vt:lpstr>
      <vt:lpstr>Presentazione standard di PowerPoint</vt:lpstr>
      <vt:lpstr>Causal masking</vt:lpstr>
      <vt:lpstr>Presentazione standard di PowerPoint</vt:lpstr>
      <vt:lpstr>Causal attention for forecasting</vt:lpstr>
      <vt:lpstr>Presentazione standard di PowerPoint</vt:lpstr>
      <vt:lpstr>Online and offline sequence labelling</vt:lpstr>
      <vt:lpstr>Presentazione standard di PowerPoint</vt:lpstr>
      <vt:lpstr>Causal attention and causal convolution are conceptually similar</vt:lpstr>
      <vt:lpstr>Presentazione standard di PowerPoint</vt:lpstr>
      <vt:lpstr>Causality and context length are separate questions</vt:lpstr>
      <vt:lpstr>Presentazione standard di PowerPoint</vt:lpstr>
      <vt:lpstr>Attention mask depends on the task</vt:lpstr>
      <vt:lpstr>Presentazione standard di PowerPoint</vt:lpstr>
      <vt:lpstr>Transition </vt:lpstr>
      <vt:lpstr>Block 6.E — Why Temporal Position Must Be Represented</vt:lpstr>
      <vt:lpstr>Self-attention does not inherently encode sequence order</vt:lpstr>
      <vt:lpstr>Presentazione standard di PowerPoint</vt:lpstr>
      <vt:lpstr>Content and position provide different information</vt:lpstr>
      <vt:lpstr>Positional encoding</vt:lpstr>
      <vt:lpstr>Presentazione standard di PowerPoint</vt:lpstr>
      <vt:lpstr>Absolute positional information</vt:lpstr>
      <vt:lpstr>Presentazione standard di PowerPoint</vt:lpstr>
      <vt:lpstr>Relative positional information</vt:lpstr>
      <vt:lpstr>Presentazione standard di PowerPoint</vt:lpstr>
      <vt:lpstr>Relative position implementation</vt:lpstr>
      <vt:lpstr>Positional information is not the same as calendar information</vt:lpstr>
      <vt:lpstr>Presentazione standard di PowerPoint</vt:lpstr>
      <vt:lpstr>Positional information enables temporal attention</vt:lpstr>
      <vt:lpstr>Presentazione standard di PowerPoint</vt:lpstr>
      <vt:lpstr>Transition</vt:lpstr>
      <vt:lpstr>Block 6.F — Multi-Head Attention and the Transformer Block</vt:lpstr>
      <vt:lpstr>One attention mechanism may capture only one interaction pattern</vt:lpstr>
      <vt:lpstr>Multi-head attention </vt:lpstr>
      <vt:lpstr>Presentazione standard di PowerPoint</vt:lpstr>
      <vt:lpstr>What can different heads represent?</vt:lpstr>
      <vt:lpstr>Multi-head attention output  </vt:lpstr>
      <vt:lpstr>Attention mixes information across positions</vt:lpstr>
      <vt:lpstr>Position-wise feed-forward network</vt:lpstr>
      <vt:lpstr>Presentazione standard di PowerPoint</vt:lpstr>
      <vt:lpstr>Residual connections in the Transformer</vt:lpstr>
      <vt:lpstr>Presentazione standard di PowerPoint</vt:lpstr>
      <vt:lpstr>Normalization in a Transformer block</vt:lpstr>
      <vt:lpstr>Presentazione standard di PowerPoint</vt:lpstr>
      <vt:lpstr>Basic Transformer block</vt:lpstr>
      <vt:lpstr>Stacking Transformer blocks</vt:lpstr>
      <vt:lpstr>Presentazione standard di PowerPoint</vt:lpstr>
      <vt:lpstr>Transformer processing is highly parallel</vt:lpstr>
      <vt:lpstr>Transformer representation for temporal tasks</vt:lpstr>
      <vt:lpstr>RNN, CNN and Transformer: three temporal mechanisms</vt:lpstr>
      <vt:lpstr>Presentazione standard di PowerPoint</vt:lpstr>
      <vt:lpstr>Next question </vt:lpstr>
      <vt:lpstr>Block 6.G — Computational Cost of Self-Attention</vt:lpstr>
      <vt:lpstr>Self-attention compares many pairs of positions</vt:lpstr>
      <vt:lpstr>Presentazione standard di PowerPoint</vt:lpstr>
      <vt:lpstr>Why attention cost grows rapidly with sequence length</vt:lpstr>
      <vt:lpstr>Why attention cost grows rapidly with sequence length</vt:lpstr>
      <vt:lpstr>Presentazione standard di PowerPoint</vt:lpstr>
      <vt:lpstr>Why this is particularly relevant for time series</vt:lpstr>
      <vt:lpstr>Presentazione standard di PowerPoint</vt:lpstr>
      <vt:lpstr>Attention cost is not only the attention matrix</vt:lpstr>
      <vt:lpstr>RNN, CNN and attention scale differently with temporal length</vt:lpstr>
      <vt:lpstr>How can long sequences be handled?</vt:lpstr>
      <vt:lpstr>Presentazione standard di PowerPoint</vt:lpstr>
      <vt:lpstr>Block 6.H — Patching Time Series</vt:lpstr>
      <vt:lpstr>One raw observation does not need to be one token</vt:lpstr>
      <vt:lpstr>Presentazione standard di PowerPoint</vt:lpstr>
      <vt:lpstr>A patch contains local temporal structure</vt:lpstr>
      <vt:lpstr>From patch to embedding</vt:lpstr>
      <vt:lpstr>Presentazione standard di PowerPoint</vt:lpstr>
      <vt:lpstr>Patching greatly reduces attention sequence length</vt:lpstr>
      <vt:lpstr>Presentazione standard di PowerPoint</vt:lpstr>
      <vt:lpstr>Patching trades temporal resolution for efficiency</vt:lpstr>
      <vt:lpstr>Presentazione standard di PowerPoint</vt:lpstr>
      <vt:lpstr>Patch size is a temporal design parameter</vt:lpstr>
      <vt:lpstr>Patches can overlap</vt:lpstr>
      <vt:lpstr>Presentazione standard di PowerPoint</vt:lpstr>
      <vt:lpstr>Patching (token) versus windowing (sample)</vt:lpstr>
      <vt:lpstr>Presentazione standard di PowerPoint</vt:lpstr>
      <vt:lpstr>Patching and convolution are related but not identical</vt:lpstr>
      <vt:lpstr>Presentazione standard di PowerPoint</vt:lpstr>
      <vt:lpstr>With patching, longer physical context becomes easier to model</vt:lpstr>
      <vt:lpstr>Presentazione standard di PowerPoint</vt:lpstr>
      <vt:lpstr>Patching introduces another representation trade-off</vt:lpstr>
      <vt:lpstr>Patching prepares time series for Transformer processing</vt:lpstr>
      <vt:lpstr>Presentazione standard di PowerPoint</vt:lpstr>
      <vt:lpstr>Transition </vt:lpstr>
      <vt:lpstr>Block 6.I — PatchTST as a Representative Temporal Transformer</vt:lpstr>
      <vt:lpstr>PatchTST: adapting the Transformer to time series</vt:lpstr>
      <vt:lpstr>Presentazione standard di PowerPoint</vt:lpstr>
      <vt:lpstr>From an input window to patches</vt:lpstr>
      <vt:lpstr>Presentazione standard di PowerPoint</vt:lpstr>
      <vt:lpstr>Each patch becomes a Transformer token</vt:lpstr>
      <vt:lpstr>Presentazione standard di PowerPoint</vt:lpstr>
      <vt:lpstr>Local representation plus global interaction</vt:lpstr>
      <vt:lpstr>Presentazione standard di PowerPoint</vt:lpstr>
      <vt:lpstr>Channel-independent processing</vt:lpstr>
      <vt:lpstr>Presentazione standard di PowerPoint</vt:lpstr>
      <vt:lpstr>Why channel independence can be useful</vt:lpstr>
      <vt:lpstr>PatchTST forecasting structure</vt:lpstr>
      <vt:lpstr>Presentazione standard di PowerPoint</vt:lpstr>
      <vt:lpstr>Why patching helps with long input windows</vt:lpstr>
      <vt:lpstr>PatchTST is not simply “a Transformer on time series”</vt:lpstr>
      <vt:lpstr>What PatchTST teaches us</vt:lpstr>
      <vt:lpstr>What PatchTST teaches us</vt:lpstr>
      <vt:lpstr>Presentazione standard di PowerPoint</vt:lpstr>
      <vt:lpstr>Block 6.J — A Map of Selected Modern Temporal Architectures</vt:lpstr>
      <vt:lpstr>Modern time-series modelling is not one architectural family</vt:lpstr>
      <vt:lpstr>Presentazione standard di PowerPoint</vt:lpstr>
      <vt:lpstr>N-BEATS: forecasting without recurrence or attention</vt:lpstr>
      <vt:lpstr>N-BEATS uses residual refinement</vt:lpstr>
      <vt:lpstr>Presentazione standard di PowerPoint</vt:lpstr>
      <vt:lpstr>InceptionTime: multiscale learned convolution</vt:lpstr>
      <vt:lpstr>Presentazione standard di PowerPoint</vt:lpstr>
      <vt:lpstr>MiniROCKET: many convolutional features, simple classifier</vt:lpstr>
      <vt:lpstr>Where MiniROCKET fits conceptually</vt:lpstr>
      <vt:lpstr>Presentazione standard di PowerPoint</vt:lpstr>
      <vt:lpstr>PatchTST: patch-based attention</vt:lpstr>
      <vt:lpstr>Different architectures impose different temporal biases</vt:lpstr>
      <vt:lpstr>Presentazione standard di PowerPoint</vt:lpstr>
      <vt:lpstr>Pretrained forecasting models: a new dimension</vt:lpstr>
      <vt:lpstr>Architecture and training regime are different axes</vt:lpstr>
      <vt:lpstr>Presentazione standard di PowerPoint</vt:lpstr>
      <vt:lpstr>A compact map of representative approaches</vt:lpstr>
      <vt:lpstr>There is no universal progression from old to new</vt:lpstr>
      <vt:lpstr>What should be retained from modern model names?</vt:lpstr>
      <vt:lpstr>Transition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Francesco Bellotti</dc:creator>
  <cp:lastModifiedBy>Francesco Bellotti</cp:lastModifiedBy>
  <cp:revision>1</cp:revision>
  <dcterms:created xsi:type="dcterms:W3CDTF">2026-08-25T07:26:21Z</dcterms:created>
  <dcterms:modified xsi:type="dcterms:W3CDTF">2026-08-27T10:05:11Z</dcterms:modified>
</cp:coreProperties>
</file>