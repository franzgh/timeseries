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0"/>
  </p:notesMasterIdLst>
  <p:sldIdLst>
    <p:sldId id="256" r:id="rId2"/>
    <p:sldId id="257" r:id="rId3"/>
    <p:sldId id="270" r:id="rId4"/>
    <p:sldId id="258" r:id="rId5"/>
    <p:sldId id="271" r:id="rId6"/>
    <p:sldId id="275" r:id="rId7"/>
    <p:sldId id="272" r:id="rId8"/>
    <p:sldId id="259" r:id="rId9"/>
    <p:sldId id="276" r:id="rId10"/>
    <p:sldId id="273" r:id="rId11"/>
    <p:sldId id="260" r:id="rId12"/>
    <p:sldId id="274" r:id="rId13"/>
    <p:sldId id="277" r:id="rId14"/>
    <p:sldId id="261" r:id="rId15"/>
    <p:sldId id="278" r:id="rId16"/>
    <p:sldId id="287" r:id="rId17"/>
    <p:sldId id="262" r:id="rId18"/>
    <p:sldId id="279" r:id="rId19"/>
    <p:sldId id="288" r:id="rId20"/>
    <p:sldId id="263" r:id="rId21"/>
    <p:sldId id="280" r:id="rId22"/>
    <p:sldId id="264" r:id="rId23"/>
    <p:sldId id="281" r:id="rId24"/>
    <p:sldId id="265" r:id="rId25"/>
    <p:sldId id="282" r:id="rId26"/>
    <p:sldId id="283" r:id="rId27"/>
    <p:sldId id="408" r:id="rId28"/>
    <p:sldId id="266" r:id="rId29"/>
    <p:sldId id="284" r:id="rId30"/>
    <p:sldId id="267" r:id="rId31"/>
    <p:sldId id="285" r:id="rId32"/>
    <p:sldId id="306" r:id="rId33"/>
    <p:sldId id="268" r:id="rId34"/>
    <p:sldId id="286" r:id="rId35"/>
    <p:sldId id="307" r:id="rId36"/>
    <p:sldId id="269" r:id="rId37"/>
    <p:sldId id="308" r:id="rId38"/>
    <p:sldId id="309" r:id="rId39"/>
    <p:sldId id="310" r:id="rId40"/>
    <p:sldId id="289" r:id="rId41"/>
    <p:sldId id="311" r:id="rId42"/>
    <p:sldId id="312" r:id="rId43"/>
    <p:sldId id="290" r:id="rId44"/>
    <p:sldId id="313" r:id="rId45"/>
    <p:sldId id="314" r:id="rId46"/>
    <p:sldId id="291" r:id="rId47"/>
    <p:sldId id="315" r:id="rId48"/>
    <p:sldId id="316" r:id="rId49"/>
    <p:sldId id="292" r:id="rId50"/>
    <p:sldId id="317" r:id="rId51"/>
    <p:sldId id="318" r:id="rId52"/>
    <p:sldId id="293" r:id="rId53"/>
    <p:sldId id="319" r:id="rId54"/>
    <p:sldId id="320" r:id="rId55"/>
    <p:sldId id="294" r:id="rId56"/>
    <p:sldId id="321" r:id="rId57"/>
    <p:sldId id="322" r:id="rId58"/>
    <p:sldId id="295" r:id="rId59"/>
    <p:sldId id="323" r:id="rId60"/>
    <p:sldId id="324" r:id="rId61"/>
    <p:sldId id="296" r:id="rId62"/>
    <p:sldId id="325" r:id="rId63"/>
    <p:sldId id="326" r:id="rId64"/>
    <p:sldId id="297" r:id="rId65"/>
    <p:sldId id="327" r:id="rId66"/>
    <p:sldId id="328" r:id="rId67"/>
    <p:sldId id="298" r:id="rId68"/>
    <p:sldId id="329" r:id="rId69"/>
    <p:sldId id="330" r:id="rId70"/>
    <p:sldId id="331" r:id="rId71"/>
    <p:sldId id="332" r:id="rId72"/>
    <p:sldId id="299" r:id="rId73"/>
    <p:sldId id="333" r:id="rId74"/>
    <p:sldId id="300" r:id="rId75"/>
    <p:sldId id="334" r:id="rId76"/>
    <p:sldId id="409" r:id="rId77"/>
    <p:sldId id="335" r:id="rId78"/>
    <p:sldId id="301" r:id="rId79"/>
    <p:sldId id="336" r:id="rId80"/>
    <p:sldId id="337" r:id="rId81"/>
    <p:sldId id="302" r:id="rId82"/>
    <p:sldId id="338" r:id="rId83"/>
    <p:sldId id="339" r:id="rId84"/>
    <p:sldId id="303" r:id="rId85"/>
    <p:sldId id="340" r:id="rId86"/>
    <p:sldId id="410" r:id="rId87"/>
    <p:sldId id="304" r:id="rId88"/>
    <p:sldId id="341" r:id="rId89"/>
    <p:sldId id="411" r:id="rId90"/>
    <p:sldId id="412" r:id="rId91"/>
    <p:sldId id="305" r:id="rId92"/>
    <p:sldId id="342" r:id="rId93"/>
    <p:sldId id="343" r:id="rId94"/>
    <p:sldId id="346" r:id="rId95"/>
    <p:sldId id="413" r:id="rId96"/>
    <p:sldId id="347" r:id="rId97"/>
    <p:sldId id="348" r:id="rId98"/>
    <p:sldId id="351" r:id="rId99"/>
    <p:sldId id="352" r:id="rId100"/>
    <p:sldId id="349" r:id="rId101"/>
    <p:sldId id="350" r:id="rId102"/>
    <p:sldId id="353" r:id="rId103"/>
    <p:sldId id="364" r:id="rId104"/>
    <p:sldId id="365" r:id="rId105"/>
    <p:sldId id="354" r:id="rId106"/>
    <p:sldId id="366" r:id="rId107"/>
    <p:sldId id="367" r:id="rId108"/>
    <p:sldId id="355" r:id="rId109"/>
    <p:sldId id="368" r:id="rId110"/>
    <p:sldId id="414" r:id="rId111"/>
    <p:sldId id="356" r:id="rId112"/>
    <p:sldId id="369" r:id="rId113"/>
    <p:sldId id="415" r:id="rId114"/>
    <p:sldId id="370" r:id="rId115"/>
    <p:sldId id="371" r:id="rId116"/>
    <p:sldId id="416" r:id="rId117"/>
    <p:sldId id="357" r:id="rId118"/>
    <p:sldId id="372" r:id="rId119"/>
    <p:sldId id="373" r:id="rId120"/>
    <p:sldId id="358" r:id="rId121"/>
    <p:sldId id="375" r:id="rId122"/>
    <p:sldId id="376" r:id="rId123"/>
    <p:sldId id="377" r:id="rId124"/>
    <p:sldId id="378" r:id="rId125"/>
    <p:sldId id="379" r:id="rId126"/>
    <p:sldId id="381" r:id="rId127"/>
    <p:sldId id="418" r:id="rId128"/>
    <p:sldId id="359" r:id="rId129"/>
    <p:sldId id="382" r:id="rId130"/>
    <p:sldId id="419" r:id="rId131"/>
    <p:sldId id="383" r:id="rId132"/>
    <p:sldId id="360" r:id="rId133"/>
    <p:sldId id="384" r:id="rId134"/>
    <p:sldId id="420" r:id="rId135"/>
    <p:sldId id="361" r:id="rId136"/>
    <p:sldId id="385" r:id="rId137"/>
    <p:sldId id="421" r:id="rId138"/>
    <p:sldId id="422" r:id="rId139"/>
    <p:sldId id="386" r:id="rId140"/>
    <p:sldId id="417" r:id="rId141"/>
    <p:sldId id="362" r:id="rId142"/>
    <p:sldId id="387" r:id="rId143"/>
    <p:sldId id="423" r:id="rId144"/>
    <p:sldId id="388" r:id="rId145"/>
    <p:sldId id="424" r:id="rId146"/>
    <p:sldId id="363" r:id="rId147"/>
    <p:sldId id="389" r:id="rId148"/>
    <p:sldId id="390" r:id="rId149"/>
    <p:sldId id="391" r:id="rId150"/>
    <p:sldId id="400" r:id="rId151"/>
    <p:sldId id="392" r:id="rId152"/>
    <p:sldId id="425" r:id="rId153"/>
    <p:sldId id="401" r:id="rId154"/>
    <p:sldId id="393" r:id="rId155"/>
    <p:sldId id="402" r:id="rId156"/>
    <p:sldId id="394" r:id="rId157"/>
    <p:sldId id="395" r:id="rId158"/>
    <p:sldId id="403" r:id="rId159"/>
    <p:sldId id="396" r:id="rId160"/>
    <p:sldId id="397" r:id="rId161"/>
    <p:sldId id="404" r:id="rId162"/>
    <p:sldId id="398" r:id="rId163"/>
    <p:sldId id="426" r:id="rId164"/>
    <p:sldId id="405" r:id="rId165"/>
    <p:sldId id="407" r:id="rId166"/>
    <p:sldId id="399" r:id="rId167"/>
    <p:sldId id="427" r:id="rId168"/>
    <p:sldId id="406" r:id="rId1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1" autoAdjust="0"/>
    <p:restoredTop sz="94660"/>
  </p:normalViewPr>
  <p:slideViewPr>
    <p:cSldViewPr snapToGrid="0">
      <p:cViewPr>
        <p:scale>
          <a:sx n="75" d="100"/>
          <a:sy n="75" d="100"/>
        </p:scale>
        <p:origin x="5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microsoft.com/office/2016/11/relationships/changesInfo" Target="changesInfos/changesInfo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Bellotti" userId="f453232b-f87d-4756-9d8b-c09bc835cc42" providerId="ADAL" clId="{C7FEA3FA-4936-41E1-B7FA-CA082069F7F7}"/>
    <pc:docChg chg="undo redo custSel addSld delSld modSld sldOrd">
      <pc:chgData name="Francesco Bellotti" userId="f453232b-f87d-4756-9d8b-c09bc835cc42" providerId="ADAL" clId="{C7FEA3FA-4936-41E1-B7FA-CA082069F7F7}" dt="2026-10-22T09:12:34.941" v="4000" actId="13926"/>
      <pc:docMkLst>
        <pc:docMk/>
      </pc:docMkLst>
      <pc:sldChg chg="modSp add mod ord setBg">
        <pc:chgData name="Francesco Bellotti" userId="f453232b-f87d-4756-9d8b-c09bc835cc42" providerId="ADAL" clId="{C7FEA3FA-4936-41E1-B7FA-CA082069F7F7}" dt="2026-10-22T07:17:24.762" v="3811"/>
        <pc:sldMkLst>
          <pc:docMk/>
          <pc:sldMk cId="0" sldId="259"/>
        </pc:sldMkLst>
      </pc:sldChg>
      <pc:sldChg chg="modSp mod ord">
        <pc:chgData name="Francesco Bellotti" userId="f453232b-f87d-4756-9d8b-c09bc835cc42" providerId="ADAL" clId="{C7FEA3FA-4936-41E1-B7FA-CA082069F7F7}" dt="2026-10-22T08:35:36.074" v="3816" actId="15"/>
        <pc:sldMkLst>
          <pc:docMk/>
          <pc:sldMk cId="2232993523" sldId="283"/>
        </pc:sldMkLst>
        <pc:spChg chg="mod">
          <ac:chgData name="Francesco Bellotti" userId="f453232b-f87d-4756-9d8b-c09bc835cc42" providerId="ADAL" clId="{C7FEA3FA-4936-41E1-B7FA-CA082069F7F7}" dt="2026-10-22T08:35:36.074" v="3816" actId="15"/>
          <ac:spMkLst>
            <pc:docMk/>
            <pc:sldMk cId="2232993523" sldId="283"/>
            <ac:spMk id="3" creationId="{3EBFEAA5-8C35-AA35-C894-22D2B5DF49FE}"/>
          </ac:spMkLst>
        </pc:spChg>
      </pc:sldChg>
      <pc:sldChg chg="modSp mod">
        <pc:chgData name="Francesco Bellotti" userId="f453232b-f87d-4756-9d8b-c09bc835cc42" providerId="ADAL" clId="{C7FEA3FA-4936-41E1-B7FA-CA082069F7F7}" dt="2026-10-22T08:36:45.153" v="3821" actId="14100"/>
        <pc:sldMkLst>
          <pc:docMk/>
          <pc:sldMk cId="3842276535" sldId="284"/>
        </pc:sldMkLst>
        <pc:spChg chg="mod">
          <ac:chgData name="Francesco Bellotti" userId="f453232b-f87d-4756-9d8b-c09bc835cc42" providerId="ADAL" clId="{C7FEA3FA-4936-41E1-B7FA-CA082069F7F7}" dt="2026-10-22T08:36:45.153" v="3821" actId="14100"/>
          <ac:spMkLst>
            <pc:docMk/>
            <pc:sldMk cId="3842276535" sldId="284"/>
            <ac:spMk id="5" creationId="{2847FA6B-D1AF-DC5F-136D-1AE0A1B285BC}"/>
          </ac:spMkLst>
        </pc:spChg>
      </pc:sldChg>
      <pc:sldChg chg="modSp mod">
        <pc:chgData name="Francesco Bellotti" userId="f453232b-f87d-4756-9d8b-c09bc835cc42" providerId="ADAL" clId="{C7FEA3FA-4936-41E1-B7FA-CA082069F7F7}" dt="2026-10-22T08:38:18.955" v="3823" actId="15"/>
        <pc:sldMkLst>
          <pc:docMk/>
          <pc:sldMk cId="1445487491" sldId="285"/>
        </pc:sldMkLst>
        <pc:spChg chg="mod">
          <ac:chgData name="Francesco Bellotti" userId="f453232b-f87d-4756-9d8b-c09bc835cc42" providerId="ADAL" clId="{C7FEA3FA-4936-41E1-B7FA-CA082069F7F7}" dt="2026-10-22T08:38:18.955" v="3823" actId="15"/>
          <ac:spMkLst>
            <pc:docMk/>
            <pc:sldMk cId="1445487491" sldId="285"/>
            <ac:spMk id="3" creationId="{D490FAE1-9029-E35C-1D7F-C6839C65CDC1}"/>
          </ac:spMkLst>
        </pc:spChg>
      </pc:sldChg>
      <pc:sldChg chg="modSp mod">
        <pc:chgData name="Francesco Bellotti" userId="f453232b-f87d-4756-9d8b-c09bc835cc42" providerId="ADAL" clId="{C7FEA3FA-4936-41E1-B7FA-CA082069F7F7}" dt="2026-10-22T08:40:08.399" v="3851" actId="113"/>
        <pc:sldMkLst>
          <pc:docMk/>
          <pc:sldMk cId="759720381" sldId="286"/>
        </pc:sldMkLst>
        <pc:spChg chg="mod">
          <ac:chgData name="Francesco Bellotti" userId="f453232b-f87d-4756-9d8b-c09bc835cc42" providerId="ADAL" clId="{C7FEA3FA-4936-41E1-B7FA-CA082069F7F7}" dt="2026-10-22T08:40:08.399" v="3851" actId="113"/>
          <ac:spMkLst>
            <pc:docMk/>
            <pc:sldMk cId="759720381" sldId="286"/>
            <ac:spMk id="3" creationId="{5BAB79EE-F626-50ED-A415-028785E5115A}"/>
          </ac:spMkLst>
        </pc:spChg>
      </pc:sldChg>
      <pc:sldChg chg="modSp mod">
        <pc:chgData name="Francesco Bellotti" userId="f453232b-f87d-4756-9d8b-c09bc835cc42" providerId="ADAL" clId="{C7FEA3FA-4936-41E1-B7FA-CA082069F7F7}" dt="2026-10-22T09:03:04.942" v="3942" actId="13926"/>
        <pc:sldMkLst>
          <pc:docMk/>
          <pc:sldMk cId="0" sldId="299"/>
        </pc:sldMkLst>
        <pc:spChg chg="mod">
          <ac:chgData name="Francesco Bellotti" userId="f453232b-f87d-4756-9d8b-c09bc835cc42" providerId="ADAL" clId="{C7FEA3FA-4936-41E1-B7FA-CA082069F7F7}" dt="2026-10-22T09:03:04.942" v="3942" actId="13926"/>
          <ac:spMkLst>
            <pc:docMk/>
            <pc:sldMk cId="0" sldId="299"/>
            <ac:spMk id="13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22T09:02:40.542" v="3935" actId="13926"/>
          <ac:spMkLst>
            <pc:docMk/>
            <pc:sldMk cId="0" sldId="299"/>
            <ac:spMk id="13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22T09:02:52.170" v="3941" actId="20577"/>
          <ac:spMkLst>
            <pc:docMk/>
            <pc:sldMk cId="0" sldId="299"/>
            <ac:spMk id="141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22T08:38:47.862" v="3845" actId="20577"/>
        <pc:sldMkLst>
          <pc:docMk/>
          <pc:sldMk cId="2215970103" sldId="306"/>
        </pc:sldMkLst>
        <pc:spChg chg="mod">
          <ac:chgData name="Francesco Bellotti" userId="f453232b-f87d-4756-9d8b-c09bc835cc42" providerId="ADAL" clId="{C7FEA3FA-4936-41E1-B7FA-CA082069F7F7}" dt="2026-10-22T08:38:47.862" v="3845" actId="20577"/>
          <ac:spMkLst>
            <pc:docMk/>
            <pc:sldMk cId="2215970103" sldId="306"/>
            <ac:spMk id="2" creationId="{667BBDF5-75B1-EA71-ACA1-6F1C3FD7A591}"/>
          </ac:spMkLst>
        </pc:spChg>
        <pc:spChg chg="mod">
          <ac:chgData name="Francesco Bellotti" userId="f453232b-f87d-4756-9d8b-c09bc835cc42" providerId="ADAL" clId="{C7FEA3FA-4936-41E1-B7FA-CA082069F7F7}" dt="2026-10-22T08:38:29.265" v="3824" actId="20577"/>
          <ac:spMkLst>
            <pc:docMk/>
            <pc:sldMk cId="2215970103" sldId="306"/>
            <ac:spMk id="3" creationId="{84FE2F03-BD82-22E9-4E2F-F108F2920063}"/>
          </ac:spMkLst>
        </pc:spChg>
      </pc:sldChg>
      <pc:sldChg chg="modSp mod">
        <pc:chgData name="Francesco Bellotti" userId="f453232b-f87d-4756-9d8b-c09bc835cc42" providerId="ADAL" clId="{C7FEA3FA-4936-41E1-B7FA-CA082069F7F7}" dt="2026-10-22T08:41:49.056" v="3875" actId="20577"/>
        <pc:sldMkLst>
          <pc:docMk/>
          <pc:sldMk cId="2971392674" sldId="309"/>
        </pc:sldMkLst>
        <pc:spChg chg="mod">
          <ac:chgData name="Francesco Bellotti" userId="f453232b-f87d-4756-9d8b-c09bc835cc42" providerId="ADAL" clId="{C7FEA3FA-4936-41E1-B7FA-CA082069F7F7}" dt="2026-10-22T08:41:49.056" v="3875" actId="20577"/>
          <ac:spMkLst>
            <pc:docMk/>
            <pc:sldMk cId="2971392674" sldId="309"/>
            <ac:spMk id="2" creationId="{4B3FE98C-F3B1-B921-C5D9-39993D078C38}"/>
          </ac:spMkLst>
        </pc:spChg>
      </pc:sldChg>
      <pc:sldChg chg="modSp mod">
        <pc:chgData name="Francesco Bellotti" userId="f453232b-f87d-4756-9d8b-c09bc835cc42" providerId="ADAL" clId="{C7FEA3FA-4936-41E1-B7FA-CA082069F7F7}" dt="2026-10-22T08:41:19.569" v="3852" actId="113"/>
        <pc:sldMkLst>
          <pc:docMk/>
          <pc:sldMk cId="2039218689" sldId="310"/>
        </pc:sldMkLst>
        <pc:spChg chg="mod">
          <ac:chgData name="Francesco Bellotti" userId="f453232b-f87d-4756-9d8b-c09bc835cc42" providerId="ADAL" clId="{C7FEA3FA-4936-41E1-B7FA-CA082069F7F7}" dt="2026-10-22T08:41:19.569" v="3852" actId="113"/>
          <ac:spMkLst>
            <pc:docMk/>
            <pc:sldMk cId="2039218689" sldId="310"/>
            <ac:spMk id="3" creationId="{366A1EBC-13BF-6634-24C7-0EC3A4BCB683}"/>
          </ac:spMkLst>
        </pc:spChg>
      </pc:sldChg>
      <pc:sldChg chg="modSp mod">
        <pc:chgData name="Francesco Bellotti" userId="f453232b-f87d-4756-9d8b-c09bc835cc42" providerId="ADAL" clId="{C7FEA3FA-4936-41E1-B7FA-CA082069F7F7}" dt="2026-10-22T08:42:46.537" v="3883" actId="20577"/>
        <pc:sldMkLst>
          <pc:docMk/>
          <pc:sldMk cId="2629288720" sldId="311"/>
        </pc:sldMkLst>
        <pc:spChg chg="mod">
          <ac:chgData name="Francesco Bellotti" userId="f453232b-f87d-4756-9d8b-c09bc835cc42" providerId="ADAL" clId="{C7FEA3FA-4936-41E1-B7FA-CA082069F7F7}" dt="2026-10-22T08:42:46.537" v="3883" actId="20577"/>
          <ac:spMkLst>
            <pc:docMk/>
            <pc:sldMk cId="2629288720" sldId="311"/>
            <ac:spMk id="3" creationId="{3C56AC1C-B034-2B93-33A4-B7E856E9B171}"/>
          </ac:spMkLst>
        </pc:spChg>
      </pc:sldChg>
      <pc:sldChg chg="modSp mod">
        <pc:chgData name="Francesco Bellotti" userId="f453232b-f87d-4756-9d8b-c09bc835cc42" providerId="ADAL" clId="{C7FEA3FA-4936-41E1-B7FA-CA082069F7F7}" dt="2026-10-22T08:44:29.679" v="3884" actId="113"/>
        <pc:sldMkLst>
          <pc:docMk/>
          <pc:sldMk cId="2908189218" sldId="313"/>
        </pc:sldMkLst>
        <pc:spChg chg="mod">
          <ac:chgData name="Francesco Bellotti" userId="f453232b-f87d-4756-9d8b-c09bc835cc42" providerId="ADAL" clId="{C7FEA3FA-4936-41E1-B7FA-CA082069F7F7}" dt="2026-10-22T08:44:29.679" v="3884" actId="113"/>
          <ac:spMkLst>
            <pc:docMk/>
            <pc:sldMk cId="2908189218" sldId="313"/>
            <ac:spMk id="3" creationId="{98DB480C-6FF3-4502-0232-BE96A1D1B3C7}"/>
          </ac:spMkLst>
        </pc:spChg>
      </pc:sldChg>
      <pc:sldChg chg="modSp mod">
        <pc:chgData name="Francesco Bellotti" userId="f453232b-f87d-4756-9d8b-c09bc835cc42" providerId="ADAL" clId="{C7FEA3FA-4936-41E1-B7FA-CA082069F7F7}" dt="2026-10-22T08:46:01.642" v="3887" actId="113"/>
        <pc:sldMkLst>
          <pc:docMk/>
          <pc:sldMk cId="3437560174" sldId="316"/>
        </pc:sldMkLst>
        <pc:spChg chg="mod">
          <ac:chgData name="Francesco Bellotti" userId="f453232b-f87d-4756-9d8b-c09bc835cc42" providerId="ADAL" clId="{C7FEA3FA-4936-41E1-B7FA-CA082069F7F7}" dt="2026-10-22T08:46:01.642" v="3887" actId="113"/>
          <ac:spMkLst>
            <pc:docMk/>
            <pc:sldMk cId="3437560174" sldId="316"/>
            <ac:spMk id="3" creationId="{40A930FC-DB6D-B02E-A3EA-FA7BABE8FCE4}"/>
          </ac:spMkLst>
        </pc:spChg>
      </pc:sldChg>
      <pc:sldChg chg="modSp mod">
        <pc:chgData name="Francesco Bellotti" userId="f453232b-f87d-4756-9d8b-c09bc835cc42" providerId="ADAL" clId="{C7FEA3FA-4936-41E1-B7FA-CA082069F7F7}" dt="2026-10-22T08:46:35.750" v="3888" actId="13926"/>
        <pc:sldMkLst>
          <pc:docMk/>
          <pc:sldMk cId="1137682400" sldId="317"/>
        </pc:sldMkLst>
        <pc:spChg chg="mod">
          <ac:chgData name="Francesco Bellotti" userId="f453232b-f87d-4756-9d8b-c09bc835cc42" providerId="ADAL" clId="{C7FEA3FA-4936-41E1-B7FA-CA082069F7F7}" dt="2026-10-22T08:46:35.750" v="3888" actId="13926"/>
          <ac:spMkLst>
            <pc:docMk/>
            <pc:sldMk cId="1137682400" sldId="317"/>
            <ac:spMk id="6" creationId="{014B3EC1-044F-094D-AE1E-AEC385BCECA9}"/>
          </ac:spMkLst>
        </pc:spChg>
      </pc:sldChg>
      <pc:sldChg chg="modSp mod">
        <pc:chgData name="Francesco Bellotti" userId="f453232b-f87d-4756-9d8b-c09bc835cc42" providerId="ADAL" clId="{C7FEA3FA-4936-41E1-B7FA-CA082069F7F7}" dt="2026-10-22T08:53:04.453" v="3890" actId="1076"/>
        <pc:sldMkLst>
          <pc:docMk/>
          <pc:sldMk cId="4229712589" sldId="319"/>
        </pc:sldMkLst>
        <pc:spChg chg="mod">
          <ac:chgData name="Francesco Bellotti" userId="f453232b-f87d-4756-9d8b-c09bc835cc42" providerId="ADAL" clId="{C7FEA3FA-4936-41E1-B7FA-CA082069F7F7}" dt="2026-10-22T08:52:36.344" v="3889" actId="113"/>
          <ac:spMkLst>
            <pc:docMk/>
            <pc:sldMk cId="4229712589" sldId="319"/>
            <ac:spMk id="3" creationId="{A6EA8D82-0E62-F106-3299-AB260C36E78D}"/>
          </ac:spMkLst>
        </pc:spChg>
        <pc:spChg chg="mod">
          <ac:chgData name="Francesco Bellotti" userId="f453232b-f87d-4756-9d8b-c09bc835cc42" providerId="ADAL" clId="{C7FEA3FA-4936-41E1-B7FA-CA082069F7F7}" dt="2026-10-22T08:53:04.453" v="3890" actId="1076"/>
          <ac:spMkLst>
            <pc:docMk/>
            <pc:sldMk cId="4229712589" sldId="319"/>
            <ac:spMk id="5" creationId="{8E574141-4456-2004-08DD-13F88C9126E5}"/>
          </ac:spMkLst>
        </pc:spChg>
      </pc:sldChg>
      <pc:sldChg chg="modSp mod ord">
        <pc:chgData name="Francesco Bellotti" userId="f453232b-f87d-4756-9d8b-c09bc835cc42" providerId="ADAL" clId="{C7FEA3FA-4936-41E1-B7FA-CA082069F7F7}" dt="2026-10-22T08:58:13.016" v="3904" actId="13926"/>
        <pc:sldMkLst>
          <pc:docMk/>
          <pc:sldMk cId="990285026" sldId="320"/>
        </pc:sldMkLst>
        <pc:spChg chg="mod">
          <ac:chgData name="Francesco Bellotti" userId="f453232b-f87d-4756-9d8b-c09bc835cc42" providerId="ADAL" clId="{C7FEA3FA-4936-41E1-B7FA-CA082069F7F7}" dt="2026-10-22T08:58:13.016" v="3904" actId="13926"/>
          <ac:spMkLst>
            <pc:docMk/>
            <pc:sldMk cId="990285026" sldId="320"/>
            <ac:spMk id="2" creationId="{8BA9404E-19B1-B60A-881A-43EDE0360AD2}"/>
          </ac:spMkLst>
        </pc:spChg>
        <pc:spChg chg="mod">
          <ac:chgData name="Francesco Bellotti" userId="f453232b-f87d-4756-9d8b-c09bc835cc42" providerId="ADAL" clId="{C7FEA3FA-4936-41E1-B7FA-CA082069F7F7}" dt="2026-10-22T08:57:23.288" v="3899" actId="20577"/>
          <ac:spMkLst>
            <pc:docMk/>
            <pc:sldMk cId="990285026" sldId="320"/>
            <ac:spMk id="3" creationId="{20FCEBCD-86AC-8FF8-6BF7-59474344CEC7}"/>
          </ac:spMkLst>
        </pc:spChg>
      </pc:sldChg>
      <pc:sldChg chg="modSp mod">
        <pc:chgData name="Francesco Bellotti" userId="f453232b-f87d-4756-9d8b-c09bc835cc42" providerId="ADAL" clId="{C7FEA3FA-4936-41E1-B7FA-CA082069F7F7}" dt="2026-10-22T08:59:05.339" v="3924" actId="20577"/>
        <pc:sldMkLst>
          <pc:docMk/>
          <pc:sldMk cId="885368968" sldId="322"/>
        </pc:sldMkLst>
        <pc:spChg chg="mod">
          <ac:chgData name="Francesco Bellotti" userId="f453232b-f87d-4756-9d8b-c09bc835cc42" providerId="ADAL" clId="{C7FEA3FA-4936-41E1-B7FA-CA082069F7F7}" dt="2026-10-22T08:59:05.339" v="3924" actId="20577"/>
          <ac:spMkLst>
            <pc:docMk/>
            <pc:sldMk cId="885368968" sldId="322"/>
            <ac:spMk id="3" creationId="{372AE1A4-4299-4B46-0761-2D46C2A48974}"/>
          </ac:spMkLst>
        </pc:spChg>
      </pc:sldChg>
      <pc:sldChg chg="modSp mod">
        <pc:chgData name="Francesco Bellotti" userId="f453232b-f87d-4756-9d8b-c09bc835cc42" providerId="ADAL" clId="{C7FEA3FA-4936-41E1-B7FA-CA082069F7F7}" dt="2026-10-22T09:01:16.233" v="3929" actId="113"/>
        <pc:sldMkLst>
          <pc:docMk/>
          <pc:sldMk cId="800969377" sldId="329"/>
        </pc:sldMkLst>
        <pc:spChg chg="mod">
          <ac:chgData name="Francesco Bellotti" userId="f453232b-f87d-4756-9d8b-c09bc835cc42" providerId="ADAL" clId="{C7FEA3FA-4936-41E1-B7FA-CA082069F7F7}" dt="2026-10-22T09:01:16.233" v="3929" actId="113"/>
          <ac:spMkLst>
            <pc:docMk/>
            <pc:sldMk cId="800969377" sldId="329"/>
            <ac:spMk id="3" creationId="{E9942573-86F5-FEE3-413D-E591619E53AE}"/>
          </ac:spMkLst>
        </pc:spChg>
      </pc:sldChg>
      <pc:sldChg chg="modSp mod">
        <pc:chgData name="Francesco Bellotti" userId="f453232b-f87d-4756-9d8b-c09bc835cc42" providerId="ADAL" clId="{C7FEA3FA-4936-41E1-B7FA-CA082069F7F7}" dt="2026-10-22T09:02:00.071" v="3933" actId="13926"/>
        <pc:sldMkLst>
          <pc:docMk/>
          <pc:sldMk cId="4073078837" sldId="331"/>
        </pc:sldMkLst>
        <pc:spChg chg="mod">
          <ac:chgData name="Francesco Bellotti" userId="f453232b-f87d-4756-9d8b-c09bc835cc42" providerId="ADAL" clId="{C7FEA3FA-4936-41E1-B7FA-CA082069F7F7}" dt="2026-10-22T09:02:00.071" v="3933" actId="13926"/>
          <ac:spMkLst>
            <pc:docMk/>
            <pc:sldMk cId="4073078837" sldId="331"/>
            <ac:spMk id="3" creationId="{7497299E-A39A-653F-58C1-034C02C0CC53}"/>
          </ac:spMkLst>
        </pc:spChg>
      </pc:sldChg>
      <pc:sldChg chg="modSp mod">
        <pc:chgData name="Francesco Bellotti" userId="f453232b-f87d-4756-9d8b-c09bc835cc42" providerId="ADAL" clId="{C7FEA3FA-4936-41E1-B7FA-CA082069F7F7}" dt="2026-10-22T09:03:32.472" v="3943" actId="113"/>
        <pc:sldMkLst>
          <pc:docMk/>
          <pc:sldMk cId="220773435" sldId="333"/>
        </pc:sldMkLst>
        <pc:spChg chg="mod">
          <ac:chgData name="Francesco Bellotti" userId="f453232b-f87d-4756-9d8b-c09bc835cc42" providerId="ADAL" clId="{C7FEA3FA-4936-41E1-B7FA-CA082069F7F7}" dt="2026-10-22T09:03:32.472" v="3943" actId="113"/>
          <ac:spMkLst>
            <pc:docMk/>
            <pc:sldMk cId="220773435" sldId="333"/>
            <ac:spMk id="3" creationId="{DA66464C-1C93-2CFA-7DB3-48A4ADE5017E}"/>
          </ac:spMkLst>
        </pc:spChg>
      </pc:sldChg>
      <pc:sldChg chg="modSp mod">
        <pc:chgData name="Francesco Bellotti" userId="f453232b-f87d-4756-9d8b-c09bc835cc42" providerId="ADAL" clId="{C7FEA3FA-4936-41E1-B7FA-CA082069F7F7}" dt="2026-10-22T09:05:53.103" v="3948" actId="13926"/>
        <pc:sldMkLst>
          <pc:docMk/>
          <pc:sldMk cId="3200545565" sldId="334"/>
        </pc:sldMkLst>
        <pc:spChg chg="mod">
          <ac:chgData name="Francesco Bellotti" userId="f453232b-f87d-4756-9d8b-c09bc835cc42" providerId="ADAL" clId="{C7FEA3FA-4936-41E1-B7FA-CA082069F7F7}" dt="2026-10-22T09:05:53.103" v="3948" actId="13926"/>
          <ac:spMkLst>
            <pc:docMk/>
            <pc:sldMk cId="3200545565" sldId="334"/>
            <ac:spMk id="3" creationId="{2448233D-68A5-9578-DDF2-183792B1D7A7}"/>
          </ac:spMkLst>
        </pc:spChg>
      </pc:sldChg>
      <pc:sldChg chg="addSp modSp mod">
        <pc:chgData name="Francesco Bellotti" userId="f453232b-f87d-4756-9d8b-c09bc835cc42" providerId="ADAL" clId="{C7FEA3FA-4936-41E1-B7FA-CA082069F7F7}" dt="2026-10-22T09:12:34.941" v="4000" actId="13926"/>
        <pc:sldMkLst>
          <pc:docMk/>
          <pc:sldMk cId="602664338" sldId="335"/>
        </pc:sldMkLst>
        <pc:spChg chg="mod">
          <ac:chgData name="Francesco Bellotti" userId="f453232b-f87d-4756-9d8b-c09bc835cc42" providerId="ADAL" clId="{C7FEA3FA-4936-41E1-B7FA-CA082069F7F7}" dt="2026-10-22T09:07:11.551" v="3952" actId="13926"/>
          <ac:spMkLst>
            <pc:docMk/>
            <pc:sldMk cId="602664338" sldId="335"/>
            <ac:spMk id="3" creationId="{2D6C6B14-6525-01C5-9F6F-A679CA396BFC}"/>
          </ac:spMkLst>
        </pc:spChg>
        <pc:spChg chg="mod">
          <ac:chgData name="Francesco Bellotti" userId="f453232b-f87d-4756-9d8b-c09bc835cc42" providerId="ADAL" clId="{C7FEA3FA-4936-41E1-B7FA-CA082069F7F7}" dt="2026-10-22T09:08:23.736" v="3955" actId="13926"/>
          <ac:spMkLst>
            <pc:docMk/>
            <pc:sldMk cId="602664338" sldId="335"/>
            <ac:spMk id="4" creationId="{191C3475-6E47-7391-20A3-FA0940C3BCF3}"/>
          </ac:spMkLst>
        </pc:spChg>
        <pc:spChg chg="add mod">
          <ac:chgData name="Francesco Bellotti" userId="f453232b-f87d-4756-9d8b-c09bc835cc42" providerId="ADAL" clId="{C7FEA3FA-4936-41E1-B7FA-CA082069F7F7}" dt="2026-10-22T09:12:34.941" v="4000" actId="13926"/>
          <ac:spMkLst>
            <pc:docMk/>
            <pc:sldMk cId="602664338" sldId="335"/>
            <ac:spMk id="6" creationId="{CD572914-239C-087E-AA8F-CE8FC46CA827}"/>
          </ac:spMkLst>
        </pc:spChg>
      </pc:sldChg>
      <pc:sldChg chg="modSp mod">
        <pc:chgData name="Francesco Bellotti" userId="f453232b-f87d-4756-9d8b-c09bc835cc42" providerId="ADAL" clId="{C7FEA3FA-4936-41E1-B7FA-CA082069F7F7}" dt="2026-10-22T09:08:51.264" v="3957" actId="13926"/>
        <pc:sldMkLst>
          <pc:docMk/>
          <pc:sldMk cId="909401259" sldId="336"/>
        </pc:sldMkLst>
        <pc:spChg chg="mod">
          <ac:chgData name="Francesco Bellotti" userId="f453232b-f87d-4756-9d8b-c09bc835cc42" providerId="ADAL" clId="{C7FEA3FA-4936-41E1-B7FA-CA082069F7F7}" dt="2026-10-22T09:08:51.264" v="3957" actId="13926"/>
          <ac:spMkLst>
            <pc:docMk/>
            <pc:sldMk cId="909401259" sldId="336"/>
            <ac:spMk id="3" creationId="{80CCD3CC-84AA-8698-C3BD-EEB1949D5415}"/>
          </ac:spMkLst>
        </pc:spChg>
      </pc:sldChg>
      <pc:sldChg chg="modSp mod">
        <pc:chgData name="Francesco Bellotti" userId="f453232b-f87d-4756-9d8b-c09bc835cc42" providerId="ADAL" clId="{C7FEA3FA-4936-41E1-B7FA-CA082069F7F7}" dt="2026-10-22T09:09:34.191" v="3981" actId="113"/>
        <pc:sldMkLst>
          <pc:docMk/>
          <pc:sldMk cId="3107679341" sldId="338"/>
        </pc:sldMkLst>
        <pc:spChg chg="mod">
          <ac:chgData name="Francesco Bellotti" userId="f453232b-f87d-4756-9d8b-c09bc835cc42" providerId="ADAL" clId="{C7FEA3FA-4936-41E1-B7FA-CA082069F7F7}" dt="2026-10-22T09:09:22.736" v="3980" actId="20577"/>
          <ac:spMkLst>
            <pc:docMk/>
            <pc:sldMk cId="3107679341" sldId="338"/>
            <ac:spMk id="2" creationId="{2D471A36-0B64-31C2-1C56-50AF063344AE}"/>
          </ac:spMkLst>
        </pc:spChg>
        <pc:spChg chg="mod">
          <ac:chgData name="Francesco Bellotti" userId="f453232b-f87d-4756-9d8b-c09bc835cc42" providerId="ADAL" clId="{C7FEA3FA-4936-41E1-B7FA-CA082069F7F7}" dt="2026-10-22T09:09:34.191" v="3981" actId="113"/>
          <ac:spMkLst>
            <pc:docMk/>
            <pc:sldMk cId="3107679341" sldId="338"/>
            <ac:spMk id="3" creationId="{EB4D6166-37E8-BEA4-CD2B-EA37F11157E2}"/>
          </ac:spMkLst>
        </pc:spChg>
      </pc:sldChg>
      <pc:sldChg chg="modSp mod">
        <pc:chgData name="Francesco Bellotti" userId="f453232b-f87d-4756-9d8b-c09bc835cc42" providerId="ADAL" clId="{C7FEA3FA-4936-41E1-B7FA-CA082069F7F7}" dt="2026-10-22T09:10:01.744" v="3996" actId="20577"/>
        <pc:sldMkLst>
          <pc:docMk/>
          <pc:sldMk cId="2122199372" sldId="339"/>
        </pc:sldMkLst>
        <pc:spChg chg="mod">
          <ac:chgData name="Francesco Bellotti" userId="f453232b-f87d-4756-9d8b-c09bc835cc42" providerId="ADAL" clId="{C7FEA3FA-4936-41E1-B7FA-CA082069F7F7}" dt="2026-10-22T09:10:01.744" v="3996" actId="20577"/>
          <ac:spMkLst>
            <pc:docMk/>
            <pc:sldMk cId="2122199372" sldId="339"/>
            <ac:spMk id="5" creationId="{526CE8EC-42F7-EA1E-6654-16726357E730}"/>
          </ac:spMkLst>
        </pc:spChg>
        <pc:spChg chg="mod">
          <ac:chgData name="Francesco Bellotti" userId="f453232b-f87d-4756-9d8b-c09bc835cc42" providerId="ADAL" clId="{C7FEA3FA-4936-41E1-B7FA-CA082069F7F7}" dt="2026-10-22T09:09:52.700" v="3982" actId="15"/>
          <ac:spMkLst>
            <pc:docMk/>
            <pc:sldMk cId="2122199372" sldId="339"/>
            <ac:spMk id="6" creationId="{B308EC09-E0B5-4FB7-7992-1BB44F964FBA}"/>
          </ac:spMkLst>
        </pc:spChg>
      </pc:sldChg>
      <pc:sldChg chg="modSp mod ord">
        <pc:chgData name="Francesco Bellotti" userId="f453232b-f87d-4756-9d8b-c09bc835cc42" providerId="ADAL" clId="{C7FEA3FA-4936-41E1-B7FA-CA082069F7F7}" dt="2026-10-22T08:36:21.429" v="3820" actId="15"/>
        <pc:sldMkLst>
          <pc:docMk/>
          <pc:sldMk cId="3875789571" sldId="408"/>
        </pc:sldMkLst>
        <pc:spChg chg="mod">
          <ac:chgData name="Francesco Bellotti" userId="f453232b-f87d-4756-9d8b-c09bc835cc42" providerId="ADAL" clId="{C7FEA3FA-4936-41E1-B7FA-CA082069F7F7}" dt="2026-10-22T08:36:21.429" v="3820" actId="15"/>
          <ac:spMkLst>
            <pc:docMk/>
            <pc:sldMk cId="3875789571" sldId="408"/>
            <ac:spMk id="3" creationId="{1130D13D-946F-9FA0-F8D0-9FAC78AA11C0}"/>
          </ac:spMkLst>
        </pc:spChg>
      </pc:sldChg>
      <pc:sldChg chg="modSp mod">
        <pc:chgData name="Francesco Bellotti" userId="f453232b-f87d-4756-9d8b-c09bc835cc42" providerId="ADAL" clId="{C7FEA3FA-4936-41E1-B7FA-CA082069F7F7}" dt="2026-10-22T09:06:13.013" v="3949" actId="13926"/>
        <pc:sldMkLst>
          <pc:docMk/>
          <pc:sldMk cId="116180096" sldId="409"/>
        </pc:sldMkLst>
        <pc:spChg chg="mod">
          <ac:chgData name="Francesco Bellotti" userId="f453232b-f87d-4756-9d8b-c09bc835cc42" providerId="ADAL" clId="{C7FEA3FA-4936-41E1-B7FA-CA082069F7F7}" dt="2026-10-22T09:06:13.013" v="3949" actId="13926"/>
          <ac:spMkLst>
            <pc:docMk/>
            <pc:sldMk cId="116180096" sldId="409"/>
            <ac:spMk id="3" creationId="{48F7683D-7818-2FFA-DA34-47D66F4A31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7EA19-BA1C-40A6-985D-EEBFA38DD7DA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88B47-3FD4-41E9-AA5E-18B4486A171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432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visuals are schematic, created for teaching. No external visual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visuals are schematic, created for teaching. No external visual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visuals are schematic, created for teaching. No external visual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visuals are schematic, created for teaching. No external visual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visuals are schematic, created for teaching. No external visual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335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02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1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571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47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44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904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334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94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9254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946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9869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265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386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467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035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8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96837-F3D7-4D0B-8F7A-919039358FE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030C074-AA92-46D4-A428-4AAF7F5374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12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8C6372-C508-AC9D-A4FF-8F56EA471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Lecture 3 — Traditional Baselines and Feature-Based Machine Learning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AF76BD8-58E5-D209-01F6-C81825BBB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375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59D864-5330-7A1C-8D31-FE1A8137D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Outline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98D26D-8D40-7D8E-B97C-B40EC5A57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3.A Why baselines</a:t>
            </a:r>
          </a:p>
          <a:p>
            <a:r>
              <a:rPr lang="en-GB" dirty="0"/>
              <a:t>3.B Forecasting baselines</a:t>
            </a:r>
          </a:p>
          <a:p>
            <a:r>
              <a:rPr lang="en-GB" dirty="0"/>
              <a:t>3.C Temporal feature engineering</a:t>
            </a:r>
          </a:p>
          <a:p>
            <a:r>
              <a:rPr lang="en-GB" dirty="0"/>
              <a:t>3.D Frequency-domain features</a:t>
            </a:r>
          </a:p>
          <a:p>
            <a:r>
              <a:rPr lang="en-GB" dirty="0"/>
              <a:t>3.E Conventional supervised models</a:t>
            </a:r>
          </a:p>
          <a:p>
            <a:r>
              <a:rPr lang="en-GB" dirty="0"/>
              <a:t>3.F DTW / sequence similarity</a:t>
            </a:r>
          </a:p>
          <a:p>
            <a:r>
              <a:rPr lang="en-GB" dirty="0"/>
              <a:t>3.G Fair baseline comparison</a:t>
            </a:r>
          </a:p>
        </p:txBody>
      </p:sp>
    </p:spTree>
    <p:extLst>
      <p:ext uri="{BB962C8B-B14F-4D97-AF65-F5344CB8AC3E}">
        <p14:creationId xmlns:p14="http://schemas.microsoft.com/office/powerpoint/2010/main" val="342279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1C17D1-FCEC-DF2B-E658-72C5DDA5C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performance number needs a reference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4EE7AB-7D41-C598-3CC9-2737BAD0C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 model performance value has little meaning in isolation.</a:t>
            </a:r>
          </a:p>
          <a:p>
            <a:r>
              <a:rPr lang="en-GB" dirty="0"/>
              <a:t>For example: RMSE = 3.2 does not tell us whether the model is useful unless we also know:</a:t>
            </a:r>
          </a:p>
          <a:p>
            <a:pPr lvl="1"/>
            <a:r>
              <a:rPr lang="en-GB" dirty="0"/>
              <a:t>the natural variability of the target;</a:t>
            </a:r>
          </a:p>
          <a:p>
            <a:pPr lvl="1"/>
            <a:r>
              <a:rPr lang="en-GB" dirty="0"/>
              <a:t>the scale of the prediction problem;</a:t>
            </a:r>
          </a:p>
          <a:p>
            <a:pPr lvl="1"/>
            <a:r>
              <a:rPr lang="en-GB" dirty="0"/>
              <a:t>the performance of a simple predictor;</a:t>
            </a:r>
          </a:p>
          <a:p>
            <a:pPr lvl="1"/>
            <a:r>
              <a:rPr lang="en-GB" dirty="0"/>
              <a:t>the performance of a conventional linear or statistical model.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Suppose a model predicts hourly energy demand. Model RMSE = 3.2 MW. This may appear good.</a:t>
            </a:r>
          </a:p>
          <a:p>
            <a:r>
              <a:rPr lang="en-GB" dirty="0"/>
              <a:t>But suppose: Last-value forecast RMSE = 2.8 MW. Then the supposedly advanced model is worse than simply assuming that demand will remain constant.</a:t>
            </a:r>
          </a:p>
          <a:p>
            <a:r>
              <a:rPr lang="en-GB" b="1" dirty="0"/>
              <a:t>Therefore</a:t>
            </a:r>
          </a:p>
          <a:p>
            <a:pPr lvl="1"/>
            <a:r>
              <a:rPr lang="en-GB" dirty="0"/>
              <a:t>Performance should normally be reported </a:t>
            </a:r>
            <a:r>
              <a:rPr lang="en-GB" b="1" dirty="0"/>
              <a:t>relative to one or more meaningful baselines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A model should not be considered successful only because its absolute error appears small.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143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3.A.1 — Performance needs a reference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error is interpretable only through comparison with meaningful baselines.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0" y="5486400"/>
            <a:ext cx="61264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14400" y="1417320"/>
            <a:ext cx="0" cy="40690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675120" y="55961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model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594360" y="13441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RMSE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37360" y="3182112"/>
            <a:ext cx="777240" cy="2304288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691640" y="29260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13D"/>
                </a:solidFill>
              </a:rPr>
              <a:t>2.8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13D"/>
                </a:solidFill>
              </a:rPr>
              <a:t>Naïve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3429000"/>
            <a:ext cx="777240" cy="20574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13D"/>
                </a:solidFill>
              </a:rPr>
              <a:t>2.5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56509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13D"/>
                </a:solidFill>
              </a:rPr>
              <a:t>Linear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2852928"/>
            <a:ext cx="777240" cy="263347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83480" y="259689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13D"/>
                </a:solidFill>
              </a:rPr>
              <a:t>3.2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56509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13D"/>
                </a:solidFill>
              </a:rPr>
              <a:t>Advanced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41732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7FBF2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571232" y="1627632"/>
            <a:ext cx="26974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advanced model is not automatically the best model.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274320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FF3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571232" y="2926080"/>
            <a:ext cx="26974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A4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compare against the strongest credible simple method.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30936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</a:rPr>
              <a:t>Use the same split, horizon and metric for all methods.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00B307-9B84-62A2-862D-EE645714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baseline?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2B04F5-D9FC-2D42-3A01-21CC1A43A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baseline is a reference method used to determine whether a more sophisticated model provides additional value.</a:t>
            </a:r>
          </a:p>
          <a:p>
            <a:r>
              <a:rPr lang="en-GB" dirty="0"/>
              <a:t>Baselines can have different purposes.</a:t>
            </a:r>
          </a:p>
          <a:p>
            <a:endParaRPr lang="en-GB" b="1" dirty="0"/>
          </a:p>
          <a:p>
            <a:r>
              <a:rPr lang="en-GB" b="1" dirty="0"/>
              <a:t>Sanity-check baseline</a:t>
            </a:r>
          </a:p>
          <a:p>
            <a:pPr lvl="1"/>
            <a:r>
              <a:rPr lang="en-GB" dirty="0"/>
              <a:t>A simple predictor used to detect obvious modelling problems.</a:t>
            </a:r>
          </a:p>
          <a:p>
            <a:pPr lvl="1"/>
            <a:r>
              <a:rPr lang="en-GB" dirty="0"/>
              <a:t>Examples:</a:t>
            </a:r>
          </a:p>
          <a:p>
            <a:pPr lvl="2"/>
            <a:r>
              <a:rPr lang="en-GB" dirty="0"/>
              <a:t>predict the training-set mean;</a:t>
            </a:r>
          </a:p>
          <a:p>
            <a:pPr lvl="2"/>
            <a:r>
              <a:rPr lang="en-GB" dirty="0"/>
              <a:t>predict the training-set median;</a:t>
            </a:r>
          </a:p>
          <a:p>
            <a:pPr lvl="2"/>
            <a:r>
              <a:rPr lang="en-GB" dirty="0"/>
              <a:t>predict the majority class;</a:t>
            </a:r>
          </a:p>
          <a:p>
            <a:pPr lvl="2"/>
            <a:r>
              <a:rPr lang="en-GB" dirty="0"/>
              <a:t>predict zero change.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Their purpose is to verify that the task is not trivially solved—or that the pipeline is not fundamentally wrong.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2169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B9C37F-0854-BBD6-71B3-7029B975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baseline?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86110F-F714-6626-2277-60615C4D2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b="1" dirty="0"/>
              <a:t>Temporal baseline</a:t>
            </a:r>
          </a:p>
          <a:p>
            <a:r>
              <a:rPr lang="en-GB" dirty="0"/>
              <a:t>A simple model that exploits basic temporal structure.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last observed value;</a:t>
            </a:r>
          </a:p>
          <a:p>
            <a:pPr lvl="1"/>
            <a:r>
              <a:rPr lang="en-GB" dirty="0"/>
              <a:t>seasonal repetition;</a:t>
            </a:r>
          </a:p>
          <a:p>
            <a:pPr lvl="1"/>
            <a:r>
              <a:rPr lang="en-GB" dirty="0"/>
              <a:t>moving average;</a:t>
            </a:r>
          </a:p>
          <a:p>
            <a:pPr lvl="1"/>
            <a:r>
              <a:rPr lang="en-GB" dirty="0"/>
              <a:t>linear model over recent lags.</a:t>
            </a:r>
          </a:p>
          <a:p>
            <a:r>
              <a:rPr lang="en-GB" dirty="0"/>
              <a:t>These are much stronger references for time-series problems.</a:t>
            </a:r>
          </a:p>
          <a:p>
            <a:endParaRPr lang="en-GB" b="1" dirty="0"/>
          </a:p>
          <a:p>
            <a:r>
              <a:rPr lang="en-GB" b="1" dirty="0"/>
              <a:t>Competitive baseline</a:t>
            </a:r>
          </a:p>
          <a:p>
            <a:r>
              <a:rPr lang="en-GB" dirty="0"/>
              <a:t>A relatively simple model that is difficult to outperform.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regularized regression over lagged values;</a:t>
            </a:r>
          </a:p>
          <a:p>
            <a:pPr lvl="1"/>
            <a:r>
              <a:rPr lang="en-GB" dirty="0"/>
              <a:t>gradient boosting over temporal features;</a:t>
            </a:r>
          </a:p>
          <a:p>
            <a:pPr lvl="1"/>
            <a:r>
              <a:rPr lang="en-GB" dirty="0"/>
              <a:t>strong seasonal forecasting models.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“Baseline” does not mean “weak model.”</a:t>
            </a:r>
          </a:p>
          <a:p>
            <a:r>
              <a:rPr lang="en-GB" dirty="0"/>
              <a:t>A good baseline should reflect the structure that is already obvious from the problem.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6046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A88B36-136D-7135-EB12-DA3AEA03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hierarchy of model complexity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C87AF9-6A39-AAB8-E69E-1181BAE03B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 useful modelling strategy is to increase complexity progressively.</a:t>
            </a:r>
          </a:p>
          <a:p>
            <a:pPr lvl="1"/>
            <a:r>
              <a:rPr lang="en-GB" dirty="0"/>
              <a:t>constant prediction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temporal naïve model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linear model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feature-based nonlinear model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deep temporal model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A678499-4FE2-461A-C9DB-EA680EE06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452864" cy="3880773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Level 1 — Constant predictor (e.g., y</a:t>
            </a:r>
            <a:r>
              <a:rPr lang="en-GB" dirty="0"/>
              <a:t>^​=yˉ​train​</a:t>
            </a:r>
            <a:r>
              <a:rPr lang="en-GB" b="1" dirty="0"/>
              <a:t>)</a:t>
            </a:r>
          </a:p>
          <a:p>
            <a:pPr lvl="1"/>
            <a:r>
              <a:rPr lang="en-GB" dirty="0"/>
              <a:t>Tests whether the problem contains any useful structure beyond the target distribution.</a:t>
            </a:r>
          </a:p>
          <a:p>
            <a:r>
              <a:rPr lang="en-GB" b="1" dirty="0"/>
              <a:t>Level 2 — Temporal naïve model</a:t>
            </a:r>
          </a:p>
          <a:p>
            <a:pPr lvl="1"/>
            <a:r>
              <a:rPr lang="en-GB" dirty="0"/>
              <a:t>Tests whether persistence or seasonality already explains much of the target.</a:t>
            </a:r>
          </a:p>
          <a:p>
            <a:r>
              <a:rPr lang="en-GB" b="1" dirty="0"/>
              <a:t>Level 3 — Linear model</a:t>
            </a:r>
          </a:p>
          <a:p>
            <a:pPr lvl="1"/>
            <a:r>
              <a:rPr lang="en-GB" dirty="0"/>
              <a:t>Tests whether a weighted combination of recent observations is sufficient.</a:t>
            </a:r>
          </a:p>
          <a:p>
            <a:r>
              <a:rPr lang="en-GB" b="1" dirty="0"/>
              <a:t>Level 4 — Feature-based nonlinear model</a:t>
            </a:r>
          </a:p>
          <a:p>
            <a:pPr lvl="1"/>
            <a:r>
              <a:rPr lang="en-GB" dirty="0"/>
              <a:t>Tests whether nonlinear combinations of manually designed temporal features improve performance.</a:t>
            </a:r>
          </a:p>
          <a:p>
            <a:r>
              <a:rPr lang="en-GB" b="1" dirty="0"/>
              <a:t>Level 5 — Deep temporal model</a:t>
            </a:r>
          </a:p>
          <a:p>
            <a:pPr lvl="1"/>
            <a:r>
              <a:rPr lang="en-GB" dirty="0"/>
              <a:t>Attempts to learn temporal representations automatically.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936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3.A.2 — Hierarchy of model complexity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simple, then add complexity only when it produces reliable value.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E8ECEF"/>
          </a:solidFill>
          <a:ln w="12700">
            <a:solidFill>
              <a:srgbClr val="2431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50392" y="2057400"/>
            <a:ext cx="17282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06624" y="2331720"/>
            <a:ext cx="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0" y="1874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EAF4E3"/>
          </a:solidFill>
          <a:ln w="12700">
            <a:solidFill>
              <a:srgbClr val="2F6F1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816352" y="2057400"/>
            <a:ext cx="17282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naïve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/ seasonal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72584" y="2331720"/>
            <a:ext cx="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709160" y="1874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782312" y="2057400"/>
            <a:ext cx="17282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 lags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38544" y="2331720"/>
            <a:ext cx="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675120" y="1874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2700">
            <a:solidFill>
              <a:srgbClr val="A05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748272" y="2057400"/>
            <a:ext cx="17282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Feature-based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0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04504" y="2331720"/>
            <a:ext cx="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641080" y="1874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714232" y="2057400"/>
            <a:ext cx="17282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temporal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" y="3794760"/>
            <a:ext cx="8933688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580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cost • transparent • diagnostic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capacity • higher cost • harder to debug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480060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7FBF2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520440" y="5001768"/>
            <a:ext cx="3931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should be earned by measurable improvement.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616B7B-57E2-B0C9-2D6D-3384C8FB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Why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hierarchy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2FB57E-845B-372D-743B-B0099B112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Why follow this hierarchy?</a:t>
            </a:r>
          </a:p>
          <a:p>
            <a:r>
              <a:rPr lang="en-GB" dirty="0"/>
              <a:t>If a simple model performs almost as well as a complex one, it may be preferable because it is:</a:t>
            </a:r>
          </a:p>
          <a:p>
            <a:pPr lvl="1"/>
            <a:r>
              <a:rPr lang="en-GB" dirty="0"/>
              <a:t>easier to train;</a:t>
            </a:r>
          </a:p>
          <a:p>
            <a:pPr lvl="1"/>
            <a:r>
              <a:rPr lang="en-GB" dirty="0"/>
              <a:t>easier to debug;</a:t>
            </a:r>
          </a:p>
          <a:p>
            <a:pPr lvl="1"/>
            <a:r>
              <a:rPr lang="en-GB" dirty="0"/>
              <a:t>cheaper to deploy;</a:t>
            </a:r>
          </a:p>
          <a:p>
            <a:pPr lvl="1"/>
            <a:r>
              <a:rPr lang="en-GB" dirty="0"/>
              <a:t>more interpretable;</a:t>
            </a:r>
          </a:p>
          <a:p>
            <a:pPr lvl="1"/>
            <a:r>
              <a:rPr lang="en-GB" dirty="0"/>
              <a:t>easier to maintain.</a:t>
            </a:r>
          </a:p>
          <a:p>
            <a:endParaRPr lang="en-GB" dirty="0"/>
          </a:p>
          <a:p>
            <a:r>
              <a:rPr lang="en-GB" dirty="0"/>
              <a:t>Complexity should be earned by measurable improvement.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8951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5E2F7B-8641-A9B1-CDBD-ED151BAB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Baselines are also diagnostic tools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21497C-A8C7-3047-51B1-D249E8409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881730"/>
            <a:ext cx="5023075" cy="436667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Baselines help us understand what makes the problem difficult.</a:t>
            </a:r>
          </a:p>
          <a:p>
            <a:r>
              <a:rPr lang="en-GB" b="1" dirty="0"/>
              <a:t>If a constant predictor performs well</a:t>
            </a:r>
          </a:p>
          <a:p>
            <a:pPr lvl="1"/>
            <a:r>
              <a:rPr lang="en-GB" dirty="0"/>
              <a:t>The target may have:</a:t>
            </a:r>
          </a:p>
          <a:p>
            <a:pPr lvl="2"/>
            <a:r>
              <a:rPr lang="en-GB" dirty="0"/>
              <a:t>low variability;</a:t>
            </a:r>
          </a:p>
          <a:p>
            <a:pPr lvl="2"/>
            <a:r>
              <a:rPr lang="en-GB" dirty="0"/>
              <a:t>strong class imbalance;</a:t>
            </a:r>
          </a:p>
          <a:p>
            <a:pPr lvl="2"/>
            <a:r>
              <a:rPr lang="en-GB" dirty="0"/>
              <a:t>little useful temporal structure.</a:t>
            </a:r>
          </a:p>
          <a:p>
            <a:r>
              <a:rPr lang="en-GB" b="1" dirty="0"/>
              <a:t>If the last-value forecast performs well</a:t>
            </a:r>
          </a:p>
          <a:p>
            <a:pPr lvl="1"/>
            <a:r>
              <a:rPr lang="en-GB" dirty="0"/>
              <a:t>The process may have strong persistence.</a:t>
            </a:r>
          </a:p>
          <a:p>
            <a:r>
              <a:rPr lang="en-GB" b="1" dirty="0"/>
              <a:t>If the seasonal-naïve forecast performs well</a:t>
            </a:r>
          </a:p>
          <a:p>
            <a:pPr lvl="1"/>
            <a:r>
              <a:rPr lang="en-GB" dirty="0"/>
              <a:t>The process may be dominated by recurring seasonal structure.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8872B6F-9F4A-1643-66B5-2ED362E80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881729"/>
            <a:ext cx="5367264" cy="4366671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If a linear lag model performs well</a:t>
            </a:r>
          </a:p>
          <a:p>
            <a:pPr lvl="1"/>
            <a:r>
              <a:rPr lang="en-GB" dirty="0"/>
              <a:t>The relevant temporal relationships may be mostly linear.</a:t>
            </a:r>
          </a:p>
          <a:p>
            <a:r>
              <a:rPr lang="en-GB" b="1" dirty="0"/>
              <a:t>If tree-based models outperform linear models</a:t>
            </a:r>
          </a:p>
          <a:p>
            <a:pPr lvl="1"/>
            <a:r>
              <a:rPr lang="en-GB" dirty="0"/>
              <a:t>Useful nonlinear relationships or feature interactions may be present.</a:t>
            </a:r>
          </a:p>
          <a:p>
            <a:r>
              <a:rPr lang="en-GB" b="1" dirty="0"/>
              <a:t>If a deep model improves substantially</a:t>
            </a:r>
          </a:p>
          <a:p>
            <a:pPr lvl="1"/>
            <a:r>
              <a:rPr lang="en-GB" dirty="0"/>
              <a:t>The task may require more complex temporal representation or long-range interaction.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FEFCF7A-61FD-E3C7-52D8-32881309B581}"/>
              </a:ext>
            </a:extLst>
          </p:cNvPr>
          <p:cNvSpPr txBox="1"/>
          <p:nvPr/>
        </p:nvSpPr>
        <p:spPr>
          <a:xfrm>
            <a:off x="6731960" y="5451795"/>
            <a:ext cx="53672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2000" b="1" dirty="0">
                <a:highlight>
                  <a:srgbClr val="FFFF00"/>
                </a:highlight>
              </a:rPr>
              <a:t>A baseline is not only a benchmark.</a:t>
            </a:r>
          </a:p>
          <a:p>
            <a:pPr lvl="1"/>
            <a:r>
              <a:rPr lang="en-GB" sz="2000" b="1" dirty="0"/>
              <a:t>It is also an experiment about the structure of the data.</a:t>
            </a:r>
          </a:p>
        </p:txBody>
      </p:sp>
    </p:spTree>
    <p:extLst>
      <p:ext uri="{BB962C8B-B14F-4D97-AF65-F5344CB8AC3E}">
        <p14:creationId xmlns:p14="http://schemas.microsoft.com/office/powerpoint/2010/main" val="1286159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3.A.3 — Baselines as diagnostic tools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 that performs well tells you something about the temporal structure.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8ECEF"/>
          </a:solidFill>
          <a:ln w="12700">
            <a:solidFill>
              <a:srgbClr val="B6C2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0120" y="1490472"/>
            <a:ext cx="2331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works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856232"/>
            <a:ext cx="23317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variability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imbalance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77640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AF4E3"/>
          </a:solidFill>
          <a:ln w="12700">
            <a:solidFill>
              <a:srgbClr val="B6C2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14800" y="1490472"/>
            <a:ext cx="2331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value works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1856232"/>
            <a:ext cx="23317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 autocorrelation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0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8F1FB"/>
          </a:solidFill>
          <a:ln w="12700">
            <a:solidFill>
              <a:srgbClr val="B6C2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269480" y="1490472"/>
            <a:ext cx="2331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69480" y="1856232"/>
            <a:ext cx="23317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repeating calendar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physical cycles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337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4E5"/>
          </a:solidFill>
          <a:ln w="12700">
            <a:solidFill>
              <a:srgbClr val="B6C2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60120" y="3502152"/>
            <a:ext cx="2331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lags 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23317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mostly linear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delayed effects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3337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EAFE"/>
          </a:solidFill>
          <a:ln w="12700">
            <a:solidFill>
              <a:srgbClr val="B6C2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114800" y="3502152"/>
            <a:ext cx="2331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Trees improve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3867912"/>
            <a:ext cx="23317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interactions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0" y="3337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BE9E9"/>
          </a:solidFill>
          <a:ln w="12700">
            <a:solidFill>
              <a:srgbClr val="B6C2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269480" y="3502152"/>
            <a:ext cx="2331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improves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3867912"/>
            <a:ext cx="23317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temporal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needed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30936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</a:rPr>
              <a:t>A baseline is not only a benchmark; it is a probe of the problem structure.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20C0ED-3FF1-83F7-2BAC-E26D4FF9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3.B — Forecasting Baselines</a:t>
            </a:r>
            <a:br>
              <a:rPr lang="en-GB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438F60-330C-828F-379F-3081571A1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413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F85216-6F43-9F24-6FF1-0FE98255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Constant baselines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AF92EE-7BD9-1CCF-5138-81CE43BCB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The simplest forecasting baseline predicts the same value independently of the recent history.</a:t>
            </a:r>
          </a:p>
          <a:p>
            <a:r>
              <a:rPr lang="en-GB" b="1" dirty="0"/>
              <a:t>Mean predictor</a:t>
            </a:r>
          </a:p>
          <a:p>
            <a:pPr lvl="1"/>
            <a:r>
              <a:rPr lang="en-GB" dirty="0"/>
              <a:t>prediction = mean target value in the training set</a:t>
            </a:r>
          </a:p>
          <a:p>
            <a:r>
              <a:rPr lang="en-GB" b="1" dirty="0"/>
              <a:t>Median predictor</a:t>
            </a:r>
          </a:p>
          <a:p>
            <a:pPr lvl="1"/>
            <a:r>
              <a:rPr lang="en-GB" dirty="0"/>
              <a:t>prediction = median target value in the training set</a:t>
            </a:r>
          </a:p>
          <a:p>
            <a:pPr lvl="1"/>
            <a:r>
              <a:rPr lang="en-GB" dirty="0"/>
              <a:t>The median can be more robust to extreme values.</a:t>
            </a:r>
          </a:p>
          <a:p>
            <a:r>
              <a:rPr lang="en-GB" b="1" dirty="0"/>
              <a:t>What does this test?</a:t>
            </a:r>
          </a:p>
          <a:p>
            <a:pPr lvl="1"/>
            <a:r>
              <a:rPr lang="en-GB" dirty="0"/>
              <a:t>A constant baseline asks: Can the forecasting model exploit useful information beyond the overall target distribution?</a:t>
            </a:r>
          </a:p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A constant predictor ignores:</a:t>
            </a:r>
          </a:p>
          <a:p>
            <a:pPr lvl="2"/>
            <a:r>
              <a:rPr lang="en-GB" dirty="0"/>
              <a:t>temporal order;</a:t>
            </a:r>
          </a:p>
          <a:p>
            <a:pPr lvl="2"/>
            <a:r>
              <a:rPr lang="en-GB" dirty="0"/>
              <a:t>recent observations;</a:t>
            </a:r>
          </a:p>
          <a:p>
            <a:pPr lvl="2"/>
            <a:r>
              <a:rPr lang="en-GB" dirty="0"/>
              <a:t>trend;</a:t>
            </a:r>
          </a:p>
          <a:p>
            <a:pPr lvl="2"/>
            <a:r>
              <a:rPr lang="en-GB" dirty="0"/>
              <a:t>seasonality;</a:t>
            </a:r>
          </a:p>
          <a:p>
            <a:pPr lvl="2"/>
            <a:r>
              <a:rPr lang="en-GB" dirty="0"/>
              <a:t>external variables.</a:t>
            </a:r>
          </a:p>
          <a:p>
            <a:r>
              <a:rPr lang="en-GB" dirty="0"/>
              <a:t>It should therefore be considered mainly a sanity check.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2D8F45C-B4BC-DE12-13B6-62ECD5DBF8B9}"/>
              </a:ext>
            </a:extLst>
          </p:cNvPr>
          <p:cNvSpPr txBox="1"/>
          <p:nvPr/>
        </p:nvSpPr>
        <p:spPr>
          <a:xfrm>
            <a:off x="5170251" y="5139242"/>
            <a:ext cx="6853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1600" dirty="0"/>
              <a:t>The mean or median must be estimated from the </a:t>
            </a:r>
            <a:r>
              <a:rPr lang="en-GB" sz="1600" b="1" dirty="0"/>
              <a:t>training set only</a:t>
            </a:r>
            <a:r>
              <a:rPr lang="en-GB" sz="1600" dirty="0"/>
              <a:t>.</a:t>
            </a:r>
          </a:p>
          <a:p>
            <a:pPr lvl="1"/>
            <a:r>
              <a:rPr lang="en-GB" sz="1600" dirty="0"/>
              <a:t>Using the complete dataset would transfer information from validation or test into the baseline.</a:t>
            </a:r>
          </a:p>
        </p:txBody>
      </p:sp>
    </p:spTree>
    <p:extLst>
      <p:ext uri="{BB962C8B-B14F-4D97-AF65-F5344CB8AC3E}">
        <p14:creationId xmlns:p14="http://schemas.microsoft.com/office/powerpoint/2010/main" val="3370029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3.B.1 — Constant baselines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constant predictor ignores history and uses a training-set summary.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4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77240" y="5166360"/>
            <a:ext cx="667512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0" cy="393192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086600" y="5276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time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457200" y="11612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target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 flipV="1">
            <a:off x="1097279" y="3497579"/>
            <a:ext cx="519097" cy="560071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561514" y="3529584"/>
            <a:ext cx="464234" cy="704088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 flipV="1">
            <a:off x="2025747" y="3209544"/>
            <a:ext cx="487091" cy="1024128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489982" y="3177540"/>
            <a:ext cx="464234" cy="52806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 flipV="1">
            <a:off x="2954215" y="2825496"/>
            <a:ext cx="438913" cy="88011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418449" y="2825496"/>
            <a:ext cx="464234" cy="52806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882683" y="3353562"/>
            <a:ext cx="464234" cy="52806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 flipV="1">
            <a:off x="4346917" y="3008376"/>
            <a:ext cx="470916" cy="87325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 flipV="1">
            <a:off x="4811150" y="2512315"/>
            <a:ext cx="484277" cy="489203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275385" y="2473452"/>
            <a:ext cx="464234" cy="704088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739618" y="3177540"/>
            <a:ext cx="46423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203852" y="2649474"/>
            <a:ext cx="464234" cy="3520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 flipV="1">
            <a:off x="6668086" y="2308860"/>
            <a:ext cx="470916" cy="692658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65276" y="4025646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529510" y="3497580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993744" y="4201668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2457978" y="3145536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922211" y="3673602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386445" y="2793492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850679" y="3321558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314913" y="3849624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779147" y="2969514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5243381" y="2441448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5707614" y="3145536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171848" y="2617470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636082" y="2969514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100316" y="2265426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68680" y="3177540"/>
            <a:ext cx="6492240" cy="0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68680" y="3089529"/>
            <a:ext cx="64922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8138160" y="164592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7FBF2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8321040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Sanity check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48472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model exploit any information beyond the overall target distribution?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02920" y="630936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</a:rPr>
              <a:t>Fit the mean or median on the training set only.</a:t>
            </a:r>
            <a:endParaRPr lang="en-US" sz="950" dirty="0"/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75CEA7E6-4C4F-6B22-6560-3FB05C3A4FA0}"/>
              </a:ext>
            </a:extLst>
          </p:cNvPr>
          <p:cNvSpPr/>
          <p:nvPr/>
        </p:nvSpPr>
        <p:spPr>
          <a:xfrm flipV="1">
            <a:off x="5751578" y="2656331"/>
            <a:ext cx="484277" cy="489203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780E09-CCA6-B6EC-B967-F02AABCE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Persistence or last-value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1FB90F-600C-FD65-374F-9D4EC5C0E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One of the most important time-series baselines is the persistence model.</a:t>
            </a:r>
          </a:p>
          <a:p>
            <a:r>
              <a:rPr lang="en-GB" dirty="0"/>
              <a:t>For a prediction produced at time t: prediction at </a:t>
            </a:r>
            <a:r>
              <a:rPr lang="en-GB" dirty="0" err="1"/>
              <a:t>t+h</a:t>
            </a:r>
            <a:r>
              <a:rPr lang="en-GB" dirty="0"/>
              <a:t> = value observed at t</a:t>
            </a:r>
          </a:p>
          <a:p>
            <a:r>
              <a:rPr lang="en-GB" dirty="0"/>
              <a:t>For one-step forecasting:</a:t>
            </a:r>
          </a:p>
          <a:p>
            <a:pPr lvl="1"/>
            <a:r>
              <a:rPr lang="en-GB" dirty="0" err="1"/>
              <a:t>y_hat</a:t>
            </a:r>
            <a:r>
              <a:rPr lang="en-GB" dirty="0"/>
              <a:t>[t+1] = y[t]</a:t>
            </a:r>
          </a:p>
          <a:p>
            <a:r>
              <a:rPr lang="en-GB" dirty="0"/>
              <a:t>For multi-step forecasting:</a:t>
            </a:r>
          </a:p>
          <a:p>
            <a:pPr lvl="1"/>
            <a:r>
              <a:rPr lang="en-GB" dirty="0" err="1"/>
              <a:t>y_hat</a:t>
            </a:r>
            <a:r>
              <a:rPr lang="en-GB" dirty="0"/>
              <a:t>[t+1] = y[t]</a:t>
            </a:r>
          </a:p>
          <a:p>
            <a:pPr lvl="1"/>
            <a:r>
              <a:rPr lang="en-GB" dirty="0" err="1"/>
              <a:t>y_hat</a:t>
            </a:r>
            <a:r>
              <a:rPr lang="en-GB" dirty="0"/>
              <a:t>[t+2] = y[t]</a:t>
            </a:r>
          </a:p>
          <a:p>
            <a:pPr lvl="1"/>
            <a:r>
              <a:rPr lang="en-GB" dirty="0"/>
              <a:t>...</a:t>
            </a:r>
          </a:p>
          <a:p>
            <a:pPr lvl="1"/>
            <a:r>
              <a:rPr lang="en-GB" dirty="0" err="1"/>
              <a:t>y_hat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 = y[t]</a:t>
            </a:r>
          </a:p>
          <a:p>
            <a:endParaRPr lang="en-GB" dirty="0"/>
          </a:p>
          <a:p>
            <a:r>
              <a:rPr lang="en-GB" dirty="0"/>
              <a:t>The process changes slowly enough that the current value is informative about the near future.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707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134B86-5C41-33B9-0A11-4E4FF3AC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776DFC-F566-3100-380D-A66BA060F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021143" cy="3880773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/>
              <a:t>Suitable examples</a:t>
            </a:r>
          </a:p>
          <a:p>
            <a:pPr lvl="1"/>
            <a:r>
              <a:rPr lang="en-GB" dirty="0"/>
              <a:t>temperature;</a:t>
            </a:r>
          </a:p>
          <a:p>
            <a:pPr lvl="1"/>
            <a:r>
              <a:rPr lang="en-GB" dirty="0"/>
              <a:t>energy consumption;</a:t>
            </a:r>
          </a:p>
          <a:p>
            <a:pPr lvl="1"/>
            <a:r>
              <a:rPr lang="en-GB" dirty="0"/>
              <a:t>slowly varying physical quantities;</a:t>
            </a:r>
          </a:p>
          <a:p>
            <a:pPr lvl="1"/>
            <a:r>
              <a:rPr lang="en-GB" dirty="0"/>
              <a:t>inventory levels;</a:t>
            </a:r>
          </a:p>
          <a:p>
            <a:pPr lvl="1"/>
            <a:r>
              <a:rPr lang="en-GB" dirty="0"/>
              <a:t>short-horizon demand.</a:t>
            </a:r>
          </a:p>
          <a:p>
            <a:r>
              <a:rPr lang="en-GB" b="1" dirty="0"/>
              <a:t>Why it can be difficult to beat</a:t>
            </a:r>
          </a:p>
          <a:p>
            <a:pPr lvl="1"/>
            <a:r>
              <a:rPr lang="en-GB" dirty="0"/>
              <a:t>Many real processes exhibit strong short-term autocorrelation.</a:t>
            </a:r>
          </a:p>
          <a:p>
            <a:pPr lvl="1"/>
            <a:r>
              <a:rPr lang="en-GB" dirty="0"/>
              <a:t>If: y[t] ≈ y[t−1]</a:t>
            </a:r>
          </a:p>
          <a:p>
            <a:pPr lvl="1"/>
            <a:r>
              <a:rPr lang="en-GB" dirty="0"/>
              <a:t>then persistence is already exploiting a strong temporal regularity.</a:t>
            </a:r>
          </a:p>
          <a:p>
            <a:endParaRPr lang="en-GB" dirty="0"/>
          </a:p>
          <a:p>
            <a:r>
              <a:rPr lang="en-GB" dirty="0"/>
              <a:t>A model that cannot outperform persistence is not learning enough useful temporal information.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4879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3.B.2 — Persistence / last-value forecasting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values are assumed equal to the latest observation.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5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73152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22960" y="1188720"/>
            <a:ext cx="0" cy="393192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0" y="52303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time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502920" y="11155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 flipV="1">
            <a:off x="1143000" y="3429000"/>
            <a:ext cx="463726" cy="470263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626326" y="3402874"/>
            <a:ext cx="483326" cy="24819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 flipV="1">
            <a:off x="2109651" y="3062587"/>
            <a:ext cx="451321" cy="588482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 flipV="1">
            <a:off x="2592977" y="2782389"/>
            <a:ext cx="470258" cy="24819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 flipV="1">
            <a:off x="3076303" y="2566198"/>
            <a:ext cx="470252" cy="216191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 flipV="1">
            <a:off x="3559628" y="2285999"/>
            <a:ext cx="515317" cy="248195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 flipV="1">
            <a:off x="4042953" y="2176272"/>
            <a:ext cx="515311" cy="109728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110996" y="3867259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594322" y="3370870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077647" y="3619065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560973" y="2998579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044299" y="2750385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527625" y="2502190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010950" y="2253996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494276" y="2129899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526280" y="1371600"/>
            <a:ext cx="0" cy="374904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206240" y="5276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0"/>
                </a:solidFill>
              </a:rPr>
              <a:t>prediction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470"/>
                </a:solidFill>
              </a:rPr>
              <a:t>time 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97196" y="2129899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029200" y="2161903"/>
            <a:ext cx="502920" cy="0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500116" y="2129899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532120" y="2161903"/>
            <a:ext cx="502920" cy="0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003036" y="2129899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035040" y="2161903"/>
            <a:ext cx="502920" cy="0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505956" y="2129899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537960" y="2161903"/>
            <a:ext cx="502920" cy="0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008876" y="2129899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212080" y="1704703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4545"/>
                </a:solidFill>
              </a:rPr>
              <a:t>same value for all horizons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12480" y="1554480"/>
            <a:ext cx="2240280" cy="2377440"/>
          </a:xfrm>
          <a:prstGeom prst="roundRect">
            <a:avLst>
              <a:gd name="adj" fmla="val 3265"/>
            </a:avLst>
          </a:prstGeom>
          <a:solidFill>
            <a:srgbClr val="FBE9E9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8595360" y="1764792"/>
            <a:ext cx="1874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549640" y="2240280"/>
            <a:ext cx="19659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changes slowly, so the latest value is highly informative for the near future.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E7E849-B95C-1369-04FA-13F4CE8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Drift baseline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AE900B-1AF9-02E9-6F22-9DB4C97B7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Persistence assumes no change.</a:t>
            </a:r>
          </a:p>
          <a:p>
            <a:r>
              <a:rPr lang="en-GB" dirty="0"/>
              <a:t>A slightly more informative baseline assumes that the recent trend continues.</a:t>
            </a:r>
          </a:p>
          <a:p>
            <a:r>
              <a:rPr lang="en-GB" dirty="0"/>
              <a:t>Suppose the two latest observations are: y[t−1] y[t]</a:t>
            </a:r>
          </a:p>
          <a:p>
            <a:r>
              <a:rPr lang="en-GB" dirty="0"/>
              <a:t>The most recent change is: recent change = y[t] − y[t−1]</a:t>
            </a:r>
          </a:p>
          <a:p>
            <a:r>
              <a:rPr lang="en-GB" dirty="0"/>
              <a:t>A simple one-step drift forecast is: </a:t>
            </a:r>
            <a:r>
              <a:rPr lang="en-GB" dirty="0" err="1"/>
              <a:t>y_hat</a:t>
            </a:r>
            <a:r>
              <a:rPr lang="en-GB" dirty="0"/>
              <a:t>[t+1] = y[t] + recent change</a:t>
            </a:r>
          </a:p>
          <a:p>
            <a:r>
              <a:rPr lang="en-GB" dirty="0"/>
              <a:t>For several future steps: </a:t>
            </a:r>
            <a:r>
              <a:rPr lang="en-GB" dirty="0" err="1"/>
              <a:t>y_hat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 = y[t] + h × recent change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The model extrapolates the most recent local slope.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7079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F4770D-BE31-BB48-AA78-44C683A4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Drift baseline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C42C79-8A40-B665-3AED-400A17AA6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b="1" dirty="0"/>
              <a:t>Potential advantage</a:t>
            </a:r>
          </a:p>
          <a:p>
            <a:r>
              <a:rPr lang="en-GB" dirty="0"/>
              <a:t>Useful when the signal shows short-term trend rather than simple persistence.</a:t>
            </a:r>
          </a:p>
          <a:p>
            <a:r>
              <a:rPr lang="en-GB" b="1" dirty="0"/>
              <a:t>Main limitation</a:t>
            </a:r>
          </a:p>
          <a:p>
            <a:r>
              <a:rPr lang="en-GB" dirty="0"/>
              <a:t>Noise in the most recent observations may produce an unstable slope.</a:t>
            </a:r>
          </a:p>
          <a:p>
            <a:endParaRPr lang="en-GB" b="1" dirty="0"/>
          </a:p>
          <a:p>
            <a:r>
              <a:rPr lang="en-GB" b="1" dirty="0"/>
              <a:t>Example</a:t>
            </a:r>
          </a:p>
          <a:p>
            <a:pPr lvl="1"/>
            <a:r>
              <a:rPr lang="en-GB" dirty="0"/>
              <a:t>observations: 10, 12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persistence prediction: 12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drift prediction:</a:t>
            </a:r>
          </a:p>
          <a:p>
            <a:pPr lvl="1"/>
            <a:r>
              <a:rPr lang="en-GB" dirty="0"/>
              <a:t>next step = 14</a:t>
            </a:r>
          </a:p>
          <a:p>
            <a:pPr lvl="1"/>
            <a:r>
              <a:rPr lang="en-GB" dirty="0"/>
              <a:t>two steps ahead = 16</a:t>
            </a:r>
          </a:p>
          <a:p>
            <a:endParaRPr lang="en-GB" dirty="0"/>
          </a:p>
          <a:p>
            <a:r>
              <a:rPr lang="en-GB" dirty="0"/>
              <a:t>Persistence and drift make different assumptions:</a:t>
            </a:r>
          </a:p>
          <a:p>
            <a:pPr lvl="1"/>
            <a:r>
              <a:rPr lang="en-GB" dirty="0"/>
              <a:t>persistence: level remains constant;</a:t>
            </a:r>
          </a:p>
          <a:p>
            <a:pPr lvl="1"/>
            <a:r>
              <a:rPr lang="en-GB" dirty="0"/>
              <a:t>drift: recent rate of change remains constant.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8951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3.B.3 — Drift baseline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recent slope is extrapolated into the future.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73152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22960" y="1188720"/>
            <a:ext cx="0" cy="393192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0" y="52303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time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502920" y="11155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 flipV="1">
            <a:off x="1234440" y="4074459"/>
            <a:ext cx="658367" cy="204395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 flipV="1">
            <a:off x="1911096" y="3799870"/>
            <a:ext cx="626362" cy="274589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 flipV="1">
            <a:off x="2587752" y="3493277"/>
            <a:ext cx="626363" cy="274589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 flipV="1">
            <a:off x="3264407" y="3150377"/>
            <a:ext cx="690365" cy="310896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 flipV="1">
            <a:off x="3941064" y="2573498"/>
            <a:ext cx="644651" cy="581182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202436" y="4246850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879092" y="4042455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555748" y="3735862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32404" y="3429269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909060" y="3122676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85716" y="2509490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 flipV="1">
            <a:off x="3968496" y="2569194"/>
            <a:ext cx="681225" cy="58117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986784" y="2715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recent change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V="1">
            <a:off x="4617719" y="2061165"/>
            <a:ext cx="534905" cy="480329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088636" y="2053744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 flipV="1">
            <a:off x="5120639" y="1630002"/>
            <a:ext cx="534911" cy="455746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591556" y="1597998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 flipV="1">
            <a:off x="5623560" y="1174255"/>
            <a:ext cx="502905" cy="455747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094476" y="1142251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 flipV="1">
            <a:off x="6126480" y="749786"/>
            <a:ext cx="470916" cy="424469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597396" y="686505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490958" y="17941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4545"/>
                </a:solidFill>
              </a:rPr>
              <a:t>extrapolated drift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0" y="1645920"/>
            <a:ext cx="2240280" cy="2194560"/>
          </a:xfrm>
          <a:prstGeom prst="roundRect">
            <a:avLst>
              <a:gd name="adj" fmla="val 3333"/>
            </a:avLst>
          </a:prstGeom>
          <a:solidFill>
            <a:srgbClr val="FFF4E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8595360" y="1828800"/>
            <a:ext cx="1874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0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49640" y="2304288"/>
            <a:ext cx="1965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recent rate of change continues for the next steps.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549640" y="3461273"/>
            <a:ext cx="19659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noisy last observations create unstable slopes.</a:t>
            </a:r>
            <a:endParaRPr lang="en-US" sz="1050" dirty="0"/>
          </a:p>
        </p:txBody>
      </p:sp>
      <p:pic>
        <p:nvPicPr>
          <p:cNvPr id="40" name="Elemento grafico 39">
            <a:extLst>
              <a:ext uri="{FF2B5EF4-FFF2-40B4-BE49-F238E27FC236}">
                <a16:creationId xmlns:a16="http://schemas.microsoft.com/office/drawing/2014/main" id="{DDE8DCA1-15D2-86D4-ACCB-1DA560252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9632" y="2674944"/>
            <a:ext cx="2085975" cy="609600"/>
          </a:xfrm>
          <a:prstGeom prst="rect">
            <a:avLst/>
          </a:prstGeom>
        </p:spPr>
      </p:pic>
      <p:pic>
        <p:nvPicPr>
          <p:cNvPr id="42" name="Elemento grafico 41">
            <a:extLst>
              <a:ext uri="{FF2B5EF4-FFF2-40B4-BE49-F238E27FC236}">
                <a16:creationId xmlns:a16="http://schemas.microsoft.com/office/drawing/2014/main" id="{DD0685D1-36B5-09F7-5802-F324A14A4D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4518" y="2796306"/>
            <a:ext cx="18002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2F4E7F-C8DC-232A-2E61-EDA7DFF1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Seasonal naïve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DCE0C6-757A-AF53-283A-27931EEF9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GB" dirty="0"/>
              <a:t>Many time series contain patterns that repeat after a known seasonal period.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hourly demand with daily periodicity;</a:t>
            </a:r>
          </a:p>
          <a:p>
            <a:pPr lvl="1"/>
            <a:r>
              <a:rPr lang="en-GB" dirty="0"/>
              <a:t>daily demand with weekly periodicity;</a:t>
            </a:r>
          </a:p>
          <a:p>
            <a:pPr lvl="1"/>
            <a:r>
              <a:rPr lang="en-GB" dirty="0"/>
              <a:t>monthly sales with yearly periodicity.</a:t>
            </a:r>
          </a:p>
          <a:p>
            <a:r>
              <a:rPr lang="en-GB" dirty="0"/>
              <a:t>Let m denote the seasonal period.</a:t>
            </a:r>
          </a:p>
          <a:p>
            <a:r>
              <a:rPr lang="en-GB" dirty="0"/>
              <a:t>The seasonal-naïve forecast uses the value observed one seasonal cycle earlier.</a:t>
            </a:r>
          </a:p>
          <a:p>
            <a:r>
              <a:rPr lang="en-GB" dirty="0"/>
              <a:t>prediction at </a:t>
            </a:r>
            <a:r>
              <a:rPr lang="en-GB" dirty="0" err="1"/>
              <a:t>t+h</a:t>
            </a:r>
            <a:r>
              <a:rPr lang="en-GB" dirty="0"/>
              <a:t> = value observed at the corresponding time in the previous season</a:t>
            </a:r>
          </a:p>
          <a:p>
            <a:r>
              <a:rPr lang="en-GB" b="1" dirty="0"/>
              <a:t>Examples</a:t>
            </a:r>
          </a:p>
          <a:p>
            <a:r>
              <a:rPr lang="en-GB" dirty="0"/>
              <a:t>For hourly data with daily seasonality: prediction for Tuesday 14:00 = value observed Monday 14:00</a:t>
            </a:r>
          </a:p>
          <a:p>
            <a:r>
              <a:rPr lang="en-GB" dirty="0"/>
              <a:t>For daily data with weekly seasonality: prediction for next Monday = value observed this Monday</a:t>
            </a:r>
          </a:p>
          <a:p>
            <a:r>
              <a:rPr lang="en-GB" dirty="0"/>
              <a:t>For monthly data with yearly seasonality: prediction for next July = value observed this July</a:t>
            </a:r>
          </a:p>
          <a:p>
            <a:r>
              <a:rPr lang="en-GB" b="1" dirty="0"/>
              <a:t>Why this baseline matters</a:t>
            </a:r>
          </a:p>
          <a:p>
            <a:r>
              <a:rPr lang="en-GB" dirty="0"/>
              <a:t>A sophisticated model should not receive credit merely for rediscovering an obvious seasonal pattern.</a:t>
            </a:r>
          </a:p>
          <a:p>
            <a:r>
              <a:rPr lang="en-GB" b="1" dirty="0"/>
              <a:t>Possible extension</a:t>
            </a:r>
          </a:p>
          <a:p>
            <a:r>
              <a:rPr lang="en-GB" dirty="0"/>
              <a:t>When multiple </a:t>
            </a:r>
            <a:r>
              <a:rPr lang="en-GB" dirty="0" err="1"/>
              <a:t>seasonalities</a:t>
            </a:r>
            <a:r>
              <a:rPr lang="en-GB" dirty="0"/>
              <a:t> exist, several naïve baselines may be appropriate.</a:t>
            </a:r>
          </a:p>
          <a:p>
            <a:pPr lvl="1"/>
            <a:r>
              <a:rPr lang="en-GB" dirty="0"/>
              <a:t>previous hour;</a:t>
            </a:r>
          </a:p>
          <a:p>
            <a:pPr lvl="1"/>
            <a:r>
              <a:rPr lang="en-GB" dirty="0"/>
              <a:t>previous day;</a:t>
            </a:r>
          </a:p>
          <a:p>
            <a:pPr lvl="1"/>
            <a:r>
              <a:rPr lang="en-GB" dirty="0"/>
              <a:t>previous week.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222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3.B.4 — Seasonal naïve forecasting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a future position from the corresponding position in the previous season.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7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77240" y="5102352"/>
            <a:ext cx="74066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77240" y="1261872"/>
            <a:ext cx="0" cy="38404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8181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time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457200" y="11887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97280" y="2618232"/>
            <a:ext cx="741680" cy="45110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 flipV="1">
            <a:off x="1838960" y="2424684"/>
            <a:ext cx="723391" cy="644652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580640" y="2392680"/>
            <a:ext cx="741680" cy="112776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 flipV="1">
            <a:off x="3322320" y="2167128"/>
            <a:ext cx="709675" cy="338328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064000" y="2167128"/>
            <a:ext cx="741680" cy="1804416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805680" y="3971544"/>
            <a:ext cx="741680" cy="225552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 flipV="1">
            <a:off x="5547360" y="2392680"/>
            <a:ext cx="723392" cy="1804416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289040" y="2392680"/>
            <a:ext cx="741680" cy="45110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 flipV="1">
            <a:off x="7030720" y="2311908"/>
            <a:ext cx="727964" cy="531876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65276" y="2586228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806956" y="3037332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548636" y="2360676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290316" y="2473452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031996" y="2135124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773676" y="3939540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515356" y="4165092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257036" y="2360676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998716" y="2811780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740396" y="2247900"/>
            <a:ext cx="64008" cy="640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32688" y="5230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470"/>
                </a:solidFill>
              </a:rPr>
              <a:t>Mon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416048" y="5230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470"/>
                </a:solidFill>
              </a:rPr>
              <a:t>Wed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3899408" y="5230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470"/>
                </a:solidFill>
              </a:rPr>
              <a:t>Fri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5382768" y="5230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470"/>
                </a:solidFill>
              </a:rPr>
              <a:t>Sun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6866128" y="5230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470"/>
                </a:solidFill>
              </a:rPr>
              <a:t>Tue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1129284" y="2628478"/>
            <a:ext cx="5191760" cy="0"/>
          </a:xfrm>
          <a:prstGeom prst="line">
            <a:avLst/>
          </a:prstGeom>
          <a:noFill/>
          <a:ln w="22860">
            <a:solidFill>
              <a:srgbClr val="4B8E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3190240" y="19781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8E1F"/>
                </a:solidFill>
              </a:rPr>
              <a:t>same weekday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71180" y="3069336"/>
            <a:ext cx="519176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366760" y="141732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F7FBF2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854964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522208" y="2084832"/>
            <a:ext cx="205740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data: value 24 hours earlier</a:t>
            </a:r>
            <a:endParaRPr lang="en-US" sz="1080" dirty="0"/>
          </a:p>
          <a:p>
            <a:pPr marL="0" indent="0" algn="ctr">
              <a:buNone/>
            </a:pP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data: value 7 days earlier</a:t>
            </a:r>
            <a:endParaRPr lang="en-US" sz="1080" dirty="0"/>
          </a:p>
          <a:p>
            <a:pPr marL="0" indent="0" algn="ctr">
              <a:buNone/>
            </a:pP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data: value 12 months earlier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1988E0-BD1E-38D3-41CA-92959323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Persistence and seasonal naïve answer different questions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6265AC-8765-D2E4-EC5A-7AEBDEA8F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Consider hourly electricity demand.</a:t>
            </a:r>
          </a:p>
          <a:p>
            <a:r>
              <a:rPr lang="en-GB" b="1" dirty="0"/>
              <a:t>Persistence</a:t>
            </a:r>
          </a:p>
          <a:p>
            <a:pPr lvl="1"/>
            <a:r>
              <a:rPr lang="en-GB" dirty="0"/>
              <a:t>tomorrow at 14:00 ≈ current value</a:t>
            </a:r>
          </a:p>
          <a:p>
            <a:pPr lvl="1"/>
            <a:r>
              <a:rPr lang="en-GB" dirty="0"/>
              <a:t>This exploits short-term continuity.</a:t>
            </a:r>
          </a:p>
          <a:p>
            <a:r>
              <a:rPr lang="en-GB" b="1" dirty="0"/>
              <a:t>Daily seasonal naïve</a:t>
            </a:r>
          </a:p>
          <a:p>
            <a:pPr lvl="1"/>
            <a:r>
              <a:rPr lang="en-GB" dirty="0"/>
              <a:t>tomorrow at 14:00 ≈ today at 14:00</a:t>
            </a:r>
          </a:p>
          <a:p>
            <a:pPr lvl="1"/>
            <a:r>
              <a:rPr lang="en-GB" dirty="0"/>
              <a:t>This exploits daily repetition.</a:t>
            </a:r>
          </a:p>
          <a:p>
            <a:r>
              <a:rPr lang="en-GB" b="1" dirty="0"/>
              <a:t>Weekly seasonal naïve</a:t>
            </a:r>
          </a:p>
          <a:p>
            <a:pPr lvl="1"/>
            <a:r>
              <a:rPr lang="en-GB" dirty="0"/>
              <a:t>next Monday at 14:00 ≈ this Monday at 14:00</a:t>
            </a:r>
          </a:p>
          <a:p>
            <a:pPr lvl="1"/>
            <a:r>
              <a:rPr lang="en-GB" dirty="0"/>
              <a:t>This exploits weekly repetition.</a:t>
            </a:r>
          </a:p>
          <a:p>
            <a:r>
              <a:rPr lang="en-GB" b="1" dirty="0"/>
              <a:t>Which baseline is strongest? </a:t>
            </a:r>
            <a:r>
              <a:rPr lang="en-GB" dirty="0"/>
              <a:t>That depends on the process.</a:t>
            </a:r>
          </a:p>
          <a:p>
            <a:r>
              <a:rPr lang="en-GB" dirty="0"/>
              <a:t>A useful baseline set should reflect the temporal structure expected in the data.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2351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3.B.5 — Compare against the strongest credible baseline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gain over the best simple method is what matters.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8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0" y="5532120"/>
            <a:ext cx="64008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14400" y="1325880"/>
            <a:ext cx="0" cy="42062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949440" y="5641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method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594360" y="12527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RMSE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17320" y="2543556"/>
            <a:ext cx="685800" cy="2988564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71600" y="22966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13D"/>
                </a:solidFill>
              </a:rPr>
              <a:t>5.3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567842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Persistence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34640" y="3445764"/>
            <a:ext cx="685800" cy="208635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88920" y="31988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13D"/>
                </a:solidFill>
              </a:rPr>
              <a:t>3.7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567842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Daily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seasonal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51960" y="3784092"/>
            <a:ext cx="685800" cy="17480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206240" y="35372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13D"/>
                </a:solidFill>
              </a:rPr>
              <a:t>3.1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567842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Weekly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seasonal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0" y="3840480"/>
            <a:ext cx="685800" cy="16916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623560" y="35935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13D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0680" y="567842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Advanced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680960" y="14173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BE9E9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86384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model wins, but only by 0.1 RMSE over the weekly seasonal baseline.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80960" y="29260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7FBF2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863840" y="3218688"/>
            <a:ext cx="23774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whether the additional complexity is operationally meaningful.</a:t>
            </a:r>
            <a:endParaRPr lang="en-US" sz="1200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7464BC6-C11E-BDED-7838-ECC5F40C4A5C}"/>
              </a:ext>
            </a:extLst>
          </p:cNvPr>
          <p:cNvSpPr txBox="1"/>
          <p:nvPr/>
        </p:nvSpPr>
        <p:spPr>
          <a:xfrm>
            <a:off x="4829175" y="1517904"/>
            <a:ext cx="1754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dirty="0" err="1"/>
              <a:t>comparison</a:t>
            </a:r>
            <a:endParaRPr lang="en-GB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A9E560-CAD8-5348-9137-C2602A6F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Moving-average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5B0D70-18F7-92F6-D389-5DBD1D448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066241" cy="4335461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moving average predicts from several recent observations rather than only the last one.</a:t>
            </a:r>
          </a:p>
          <a:p>
            <a:r>
              <a:rPr lang="en-GB" dirty="0"/>
              <a:t>For a window of L observations:</a:t>
            </a:r>
          </a:p>
          <a:p>
            <a:r>
              <a:rPr lang="en-GB" dirty="0"/>
              <a:t>prediction = average of the last L observed values</a:t>
            </a:r>
          </a:p>
          <a:p>
            <a:r>
              <a:rPr lang="en-GB" dirty="0"/>
              <a:t>Example with L = 4:</a:t>
            </a:r>
          </a:p>
          <a:p>
            <a:r>
              <a:rPr lang="en-GB" dirty="0"/>
              <a:t>observations: 10, 13, 11, 14</a:t>
            </a:r>
          </a:p>
          <a:p>
            <a:r>
              <a:rPr lang="en-GB" dirty="0"/>
              <a:t>moving-average prediction: (10 + 13 + 11 + 14) / 4 = 12</a:t>
            </a:r>
          </a:p>
          <a:p>
            <a:endParaRPr lang="en-GB" b="1" dirty="0"/>
          </a:p>
          <a:p>
            <a:r>
              <a:rPr lang="en-GB" b="1" dirty="0"/>
              <a:t>Short averaging window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responds quickly to changes;</a:t>
            </a:r>
          </a:p>
          <a:p>
            <a:pPr lvl="1"/>
            <a:r>
              <a:rPr lang="en-GB" dirty="0"/>
              <a:t>reflects recent behaviour.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more sensitive to noise.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733F2CA-9684-FAEB-707D-4F0A7B0AD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5344" y="2160589"/>
            <a:ext cx="5568505" cy="4497386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/>
              <a:t>Long averaging window</a:t>
            </a:r>
          </a:p>
          <a:p>
            <a:pPr lvl="1"/>
            <a:r>
              <a:rPr lang="en-GB" dirty="0"/>
              <a:t>Advantages:</a:t>
            </a:r>
          </a:p>
          <a:p>
            <a:pPr lvl="2"/>
            <a:r>
              <a:rPr lang="en-GB" dirty="0"/>
              <a:t>smoother;</a:t>
            </a:r>
          </a:p>
          <a:p>
            <a:pPr lvl="2"/>
            <a:r>
              <a:rPr lang="en-GB" dirty="0"/>
              <a:t>more resistant to short-term noise.</a:t>
            </a:r>
          </a:p>
          <a:p>
            <a:pPr lvl="1"/>
            <a:r>
              <a:rPr lang="en-GB" dirty="0"/>
              <a:t>Limitations:</a:t>
            </a:r>
          </a:p>
          <a:p>
            <a:pPr lvl="2"/>
            <a:r>
              <a:rPr lang="en-GB" dirty="0"/>
              <a:t>slower to react;</a:t>
            </a:r>
          </a:p>
          <a:p>
            <a:pPr lvl="2"/>
            <a:r>
              <a:rPr lang="en-GB" dirty="0"/>
              <a:t>may suppress relevant changes.</a:t>
            </a:r>
            <a:endParaRPr lang="en-GB" b="1" dirty="0"/>
          </a:p>
          <a:p>
            <a:r>
              <a:rPr lang="en-GB" b="1" dirty="0"/>
              <a:t>Important modelling choice</a:t>
            </a:r>
          </a:p>
          <a:p>
            <a:pPr lvl="1"/>
            <a:r>
              <a:rPr lang="en-GB" dirty="0"/>
              <a:t>The averaging-window length is a hyperparameter.</a:t>
            </a:r>
          </a:p>
          <a:p>
            <a:pPr lvl="1"/>
            <a:r>
              <a:rPr lang="en-GB" dirty="0"/>
              <a:t>It must therefore be selected using:</a:t>
            </a:r>
          </a:p>
          <a:p>
            <a:pPr lvl="2"/>
            <a:r>
              <a:rPr lang="en-GB" dirty="0"/>
              <a:t>domain knowledge;</a:t>
            </a:r>
          </a:p>
          <a:p>
            <a:pPr lvl="2"/>
            <a:r>
              <a:rPr lang="en-GB" dirty="0"/>
              <a:t>training data;</a:t>
            </a:r>
          </a:p>
          <a:p>
            <a:pPr lvl="2"/>
            <a:r>
              <a:rPr lang="en-GB" dirty="0"/>
              <a:t>validation data.</a:t>
            </a:r>
          </a:p>
          <a:p>
            <a:pPr lvl="2"/>
            <a:r>
              <a:rPr lang="en-GB" dirty="0"/>
              <a:t>Not using the test set.</a:t>
            </a:r>
          </a:p>
          <a:p>
            <a:endParaRPr lang="en-GB" b="1" dirty="0"/>
          </a:p>
          <a:p>
            <a:r>
              <a:rPr lang="en-GB" b="1" dirty="0"/>
              <a:t>Main limitation</a:t>
            </a:r>
          </a:p>
          <a:p>
            <a:pPr lvl="1"/>
            <a:r>
              <a:rPr lang="en-GB" dirty="0"/>
              <a:t>A simple moving average assigns the same weight to every observation in the window.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66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5C829A-F78D-4E85-1352-E7ADA909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Exponential smoothing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BFEAA5-8C35-AA35-C894-22D2B5DF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Exponential smoothing gives more importance to recent observations.</a:t>
            </a:r>
          </a:p>
          <a:p>
            <a:r>
              <a:rPr lang="en-GB" dirty="0"/>
              <a:t>Conceptually: </a:t>
            </a:r>
            <a:r>
              <a:rPr lang="en-GB" dirty="0">
                <a:highlight>
                  <a:srgbClr val="FFFF00"/>
                </a:highlight>
              </a:rPr>
              <a:t>new smoothed level = weight × current observation + (1 − weight) × previous smoothed level</a:t>
            </a:r>
          </a:p>
          <a:p>
            <a:r>
              <a:rPr lang="en-GB" dirty="0"/>
              <a:t>Let the smoothing coefficient be alpha, with: 0 &lt; alpha ≤ 1</a:t>
            </a:r>
          </a:p>
          <a:p>
            <a:r>
              <a:rPr lang="en-GB" b="1" dirty="0"/>
              <a:t>Large alpha</a:t>
            </a:r>
          </a:p>
          <a:p>
            <a:pPr lvl="1"/>
            <a:r>
              <a:rPr lang="en-GB" dirty="0"/>
              <a:t>The estimate responds quickly to recent observations.</a:t>
            </a:r>
          </a:p>
          <a:p>
            <a:pPr lvl="2"/>
            <a:r>
              <a:rPr lang="en-GB" dirty="0"/>
              <a:t>more responsive</a:t>
            </a:r>
          </a:p>
          <a:p>
            <a:pPr lvl="2"/>
            <a:r>
              <a:rPr lang="en-GB" dirty="0"/>
              <a:t>less smooth</a:t>
            </a:r>
          </a:p>
          <a:p>
            <a:r>
              <a:rPr lang="en-GB" b="1" dirty="0"/>
              <a:t>Small alpha</a:t>
            </a:r>
          </a:p>
          <a:p>
            <a:pPr lvl="1"/>
            <a:r>
              <a:rPr lang="en-GB" dirty="0"/>
              <a:t>Older observations remain influential for longer.</a:t>
            </a:r>
          </a:p>
          <a:p>
            <a:pPr lvl="2"/>
            <a:r>
              <a:rPr lang="en-GB" dirty="0"/>
              <a:t>smoother</a:t>
            </a:r>
          </a:p>
          <a:p>
            <a:pPr lvl="2"/>
            <a:r>
              <a:rPr lang="en-GB" dirty="0"/>
              <a:t>slower response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2993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76A54A-1A5D-E1CE-9B8E-91064120A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is this useful?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30D13D-946F-9FA0-F8D0-9FAC78AA1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Unlike a fixed moving average, exponential smoothing </a:t>
            </a:r>
            <a:r>
              <a:rPr lang="en-GB" b="1" dirty="0"/>
              <a:t>does not require storing a fixed recent window.</a:t>
            </a:r>
          </a:p>
          <a:p>
            <a:r>
              <a:rPr lang="en-GB" dirty="0"/>
              <a:t>Past observations receive progressively smaller weights.</a:t>
            </a:r>
          </a:p>
          <a:p>
            <a:r>
              <a:rPr lang="en-GB" b="1" dirty="0"/>
              <a:t>Extensions</a:t>
            </a:r>
          </a:p>
          <a:p>
            <a:pPr lvl="1"/>
            <a:r>
              <a:rPr lang="en-GB" dirty="0"/>
              <a:t>More advanced exponential-smoothing models can explicitly represent: level; trend; seasonality.</a:t>
            </a:r>
          </a:p>
          <a:p>
            <a:endParaRPr lang="en-GB" dirty="0"/>
          </a:p>
          <a:p>
            <a:r>
              <a:rPr lang="en-GB" dirty="0"/>
              <a:t>For this course, the important point is conceptual: Classical forecasting models can explicitly encode temporal structure before any neural architecture is considered.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5789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3.B.6 — Moving average and exponential smoothing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use recent history, but they weight the past differently.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1440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8E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average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51560" y="2194560"/>
            <a:ext cx="228600" cy="7315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380744" y="2194560"/>
            <a:ext cx="228600" cy="7315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709928" y="2194560"/>
            <a:ext cx="228600" cy="7315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039112" y="2194560"/>
            <a:ext cx="228600" cy="7315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368296" y="2926080"/>
            <a:ext cx="228600" cy="45720"/>
          </a:xfrm>
          <a:prstGeom prst="rect">
            <a:avLst/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697480" y="2926080"/>
            <a:ext cx="228600" cy="45720"/>
          </a:xfrm>
          <a:prstGeom prst="rect">
            <a:avLst/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026664" y="2926080"/>
            <a:ext cx="228600" cy="45720"/>
          </a:xfrm>
          <a:prstGeom prst="rect">
            <a:avLst/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355848" y="2926080"/>
            <a:ext cx="228600" cy="45720"/>
          </a:xfrm>
          <a:prstGeom prst="rect">
            <a:avLst/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296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313D"/>
                </a:solidFill>
              </a:rPr>
              <a:t>last L values receive equal weight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3566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0"/>
                </a:solidFill>
              </a:rPr>
              <a:t>older than L: ignored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8E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Exponential smoothing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89320" y="2103120"/>
            <a:ext cx="2286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318504" y="2331720"/>
            <a:ext cx="2286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647688" y="2505456"/>
            <a:ext cx="22860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976872" y="2633472"/>
            <a:ext cx="228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306056" y="2724912"/>
            <a:ext cx="2286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635240" y="2779776"/>
            <a:ext cx="22860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964424" y="2825496"/>
            <a:ext cx="228600" cy="100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293608" y="2852928"/>
            <a:ext cx="228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486400" y="3246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313D"/>
                </a:solidFill>
              </a:rPr>
              <a:t>recent values receive larger weight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0" y="3566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0"/>
                </a:solidFill>
              </a:rPr>
              <a:t>weights gradually decay into the past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1143000"/>
            <a:ext cx="0" cy="36118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108960" y="480060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7FBF2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291840" y="5001768"/>
            <a:ext cx="42062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length and smoothing coefficient are model-selection choices.</a:t>
            </a:r>
            <a:endParaRPr lang="en-US" sz="1250" dirty="0"/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56379556-5509-364B-33BE-6487616CC222}"/>
              </a:ext>
            </a:extLst>
          </p:cNvPr>
          <p:cNvCxnSpPr>
            <a:cxnSpLocks/>
          </p:cNvCxnSpPr>
          <p:nvPr/>
        </p:nvCxnSpPr>
        <p:spPr>
          <a:xfrm flipH="1">
            <a:off x="838962" y="3057144"/>
            <a:ext cx="2670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F59220C-9AB0-D89C-A72E-F621C1FA2EA0}"/>
              </a:ext>
            </a:extLst>
          </p:cNvPr>
          <p:cNvSpPr txBox="1"/>
          <p:nvPr/>
        </p:nvSpPr>
        <p:spPr>
          <a:xfrm>
            <a:off x="944118" y="3057144"/>
            <a:ext cx="886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/>
              <a:t>time</a:t>
            </a:r>
            <a:endParaRPr lang="en-GB" sz="800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ED6F6A2F-60B9-5F84-C8F3-8D89F87C0250}"/>
              </a:ext>
            </a:extLst>
          </p:cNvPr>
          <p:cNvCxnSpPr>
            <a:cxnSpLocks/>
          </p:cNvCxnSpPr>
          <p:nvPr/>
        </p:nvCxnSpPr>
        <p:spPr>
          <a:xfrm flipH="1">
            <a:off x="5824728" y="3062097"/>
            <a:ext cx="2670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018775D4-71B1-7A5B-E378-D03E1782CC9E}"/>
              </a:ext>
            </a:extLst>
          </p:cNvPr>
          <p:cNvSpPr txBox="1"/>
          <p:nvPr/>
        </p:nvSpPr>
        <p:spPr>
          <a:xfrm>
            <a:off x="5929884" y="3062097"/>
            <a:ext cx="886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/>
              <a:t>time</a:t>
            </a:r>
            <a:endParaRPr lang="en-GB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5FF9E4-7A92-570F-5BD1-2B5136A8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autoregressive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02EDF3-C9D4-A2E5-D21A-8E4F47363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70114"/>
            <a:ext cx="6762750" cy="3880773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A more flexible baseline</a:t>
            </a:r>
            <a:r>
              <a:rPr lang="en-GB" dirty="0"/>
              <a:t> learns a weighted combination of lagged observations.</a:t>
            </a:r>
          </a:p>
          <a:p>
            <a:r>
              <a:rPr lang="en-GB" dirty="0"/>
              <a:t>Suppose we use the previous four observations.</a:t>
            </a:r>
          </a:p>
          <a:p>
            <a:r>
              <a:rPr lang="en-GB" b="1" dirty="0"/>
              <a:t>Input: </a:t>
            </a:r>
            <a:r>
              <a:rPr lang="en-GB" dirty="0"/>
              <a:t>y[t], y[t−1], y[t−2], y[t−3]</a:t>
            </a:r>
          </a:p>
          <a:p>
            <a:r>
              <a:rPr lang="en-GB" b="1" dirty="0"/>
              <a:t>Prediction: </a:t>
            </a:r>
            <a:r>
              <a:rPr lang="en-GB" dirty="0" err="1"/>
              <a:t>y_hat</a:t>
            </a:r>
            <a:r>
              <a:rPr lang="en-GB" dirty="0"/>
              <a:t>[t+1] = b + w0 × y[t] + w1 × y[t−1] + w2 × y[t−2] + w3 × y[t−3]</a:t>
            </a:r>
          </a:p>
          <a:p>
            <a:pPr lvl="1"/>
            <a:r>
              <a:rPr lang="en-GB" dirty="0"/>
              <a:t>where: b is an intercept; w0, ..., w3 are learned coefficients.</a:t>
            </a:r>
          </a:p>
          <a:p>
            <a:r>
              <a:rPr lang="en-GB" b="1" dirty="0"/>
              <a:t>Interpretation</a:t>
            </a:r>
          </a:p>
          <a:p>
            <a:r>
              <a:rPr lang="en-GB" dirty="0"/>
              <a:t>The model learns:</a:t>
            </a:r>
          </a:p>
          <a:p>
            <a:pPr lvl="1"/>
            <a:r>
              <a:rPr lang="en-GB" dirty="0"/>
              <a:t>which delays are useful;</a:t>
            </a:r>
          </a:p>
          <a:p>
            <a:pPr lvl="1"/>
            <a:r>
              <a:rPr lang="en-GB" dirty="0"/>
              <a:t>whether recent values matter more than older values;</a:t>
            </a:r>
          </a:p>
          <a:p>
            <a:pPr lvl="1"/>
            <a:r>
              <a:rPr lang="en-GB" dirty="0"/>
              <a:t>whether some lags contribute positively or negatively.</a:t>
            </a:r>
          </a:p>
          <a:p>
            <a:r>
              <a:rPr lang="en-GB" b="1" dirty="0"/>
              <a:t>Relation with supervised learning</a:t>
            </a:r>
          </a:p>
          <a:p>
            <a:r>
              <a:rPr lang="en-GB" dirty="0"/>
              <a:t>Once the lagged values are represented as separate input features, forecasting becomes an ordinary regression problem.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847FA6B-D1AF-DC5F-136D-1AE0A1B285BC}"/>
              </a:ext>
            </a:extLst>
          </p:cNvPr>
          <p:cNvSpPr txBox="1"/>
          <p:nvPr/>
        </p:nvSpPr>
        <p:spPr>
          <a:xfrm>
            <a:off x="6634163" y="3496440"/>
            <a:ext cx="55578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Example:</a:t>
            </a:r>
          </a:p>
          <a:p>
            <a:r>
              <a:rPr lang="en-GB" sz="1800" dirty="0"/>
              <a:t>Sample 1:</a:t>
            </a:r>
          </a:p>
          <a:p>
            <a:r>
              <a:rPr lang="en-GB" sz="1800" dirty="0"/>
              <a:t>Input  = [y[4], y[3], y[2], y[1]]</a:t>
            </a:r>
          </a:p>
          <a:p>
            <a:r>
              <a:rPr lang="en-GB" sz="1800" dirty="0"/>
              <a:t>Target = y[5]</a:t>
            </a:r>
          </a:p>
          <a:p>
            <a:endParaRPr lang="en-GB" sz="1800" dirty="0"/>
          </a:p>
          <a:p>
            <a:r>
              <a:rPr lang="en-GB" sz="1800" dirty="0"/>
              <a:t>Sample 2:</a:t>
            </a:r>
          </a:p>
          <a:p>
            <a:r>
              <a:rPr lang="en-GB" sz="1800" dirty="0"/>
              <a:t>Input  = [y[5], y[4], y[3], y[2]]</a:t>
            </a:r>
          </a:p>
          <a:p>
            <a:r>
              <a:rPr lang="en-GB" sz="1800" dirty="0"/>
              <a:t>Target = y[6]</a:t>
            </a:r>
          </a:p>
          <a:p>
            <a:endParaRPr lang="en-GB" sz="1800" dirty="0"/>
          </a:p>
          <a:p>
            <a:r>
              <a:rPr lang="en-GB" sz="1800" b="1" dirty="0"/>
              <a:t>This is the bridge between time-series forecasting and conventional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3842276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3.B.7 — Linear autoregression as supervised learning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Lagged observations become columns of a regression table.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82880" cy="1828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76072" y="1508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</a:rPr>
              <a:t>y[1]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0" y="1234440"/>
            <a:ext cx="182880" cy="1828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70432" y="1508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</a:rPr>
              <a:t>y[2]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65960" y="1234440"/>
            <a:ext cx="182880" cy="1828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764792" y="1508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</a:rPr>
              <a:t>y[3]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0" y="1234440"/>
            <a:ext cx="182880" cy="1828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359152" y="1508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</a:rPr>
              <a:t>y[4]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154680" y="1234440"/>
            <a:ext cx="182880" cy="1828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953512" y="1508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</a:rPr>
              <a:t>y[5]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49040" y="1234440"/>
            <a:ext cx="182880" cy="1828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547872" y="1508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</a:rPr>
              <a:t>y[6]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343400" y="1234440"/>
            <a:ext cx="182880" cy="1828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142232" y="1508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</a:rPr>
              <a:t>y[7]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37760" y="1234440"/>
            <a:ext cx="182880" cy="1828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736592" y="1508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</a:rPr>
              <a:t>y[8]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85800" y="205740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E8F1FB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22960" y="2231136"/>
            <a:ext cx="3291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= [y[4], y[3], y[2], y[1]]    Target = y[5]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278892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E8F1FB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22960" y="2962656"/>
            <a:ext cx="3291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= [y[5], y[4], y[3], y[2]]    Target = y[6]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2395728"/>
            <a:ext cx="100584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486400" y="1508760"/>
            <a:ext cx="868680" cy="411480"/>
          </a:xfrm>
          <a:prstGeom prst="rect">
            <a:avLst/>
          </a:prstGeom>
          <a:solidFill>
            <a:srgbClr val="4B8E1F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486400" y="160934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lag 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55080" y="1508760"/>
            <a:ext cx="868680" cy="411480"/>
          </a:xfrm>
          <a:prstGeom prst="rect">
            <a:avLst/>
          </a:prstGeom>
          <a:solidFill>
            <a:srgbClr val="4B8E1F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355080" y="160934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lag 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23760" y="1508760"/>
            <a:ext cx="868680" cy="411480"/>
          </a:xfrm>
          <a:prstGeom prst="rect">
            <a:avLst/>
          </a:prstGeom>
          <a:solidFill>
            <a:srgbClr val="4B8E1F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223760" y="160934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lag 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92440" y="1508760"/>
            <a:ext cx="868680" cy="411480"/>
          </a:xfrm>
          <a:prstGeom prst="rect">
            <a:avLst/>
          </a:prstGeom>
          <a:solidFill>
            <a:srgbClr val="4B8E1F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8092440" y="160934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lag 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961120" y="1508760"/>
            <a:ext cx="868680" cy="411480"/>
          </a:xfrm>
          <a:prstGeom prst="rect">
            <a:avLst/>
          </a:prstGeom>
          <a:solidFill>
            <a:srgbClr val="4B8E1F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961120" y="160934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target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0" y="192024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486400" y="202082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y[4]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55080" y="192024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355080" y="202082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y[3]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23760" y="192024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223760" y="202082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y[2]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92440" y="192024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8092440" y="202082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y[1]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961120" y="192024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8961120" y="202082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y[5]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0" y="233172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5486400" y="243230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y[5]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55080" y="233172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6355080" y="243230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y[4]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223760" y="233172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7223760" y="243230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y[3]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092440" y="233172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8092440" y="243230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y[2]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961120" y="233172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8961120" y="243230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y[6]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0" y="274320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5486400" y="284378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y[6]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355080" y="274320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6355080" y="284378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y[5]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223760" y="274320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7223760" y="284378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y[4]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092440" y="274320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8092440" y="284378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y[3]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961120" y="2743200"/>
            <a:ext cx="868680" cy="411480"/>
          </a:xfrm>
          <a:prstGeom prst="rect">
            <a:avLst/>
          </a:prstGeom>
          <a:solidFill>
            <a:srgbClr val="F7FBF2"/>
          </a:solidFill>
          <a:ln w="12700">
            <a:solidFill>
              <a:srgbClr val="CBD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8961120" y="284378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13D"/>
                </a:solidFill>
              </a:rPr>
              <a:t>y[7]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623560" y="406908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5806440" y="4334256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0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y_hat[t+1] = b + w0 y[t] + w1 y[t−1] + ...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DB5B0E-F77F-3646-BC5D-75F016F7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linear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90FAE1-9029-E35C-1D7F-C6839C65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Lagged regression </a:t>
            </a:r>
            <a:r>
              <a:rPr lang="en-GB" dirty="0"/>
              <a:t>can also use multiple input variables.</a:t>
            </a:r>
          </a:p>
          <a:p>
            <a:r>
              <a:rPr lang="en-GB" dirty="0"/>
              <a:t>Suppose we want to predict future energy consumption.</a:t>
            </a:r>
          </a:p>
          <a:p>
            <a:r>
              <a:rPr lang="en-GB" dirty="0"/>
              <a:t>Available variables include: previous consumption; temperature; production volume.</a:t>
            </a:r>
          </a:p>
          <a:p>
            <a:r>
              <a:rPr lang="en-GB" b="1" dirty="0"/>
              <a:t>A possible feature vector is:</a:t>
            </a:r>
          </a:p>
          <a:p>
            <a:pPr lvl="1"/>
            <a:r>
              <a:rPr lang="en-GB" dirty="0"/>
              <a:t>consumption[t], consumption[t−1], consumption[t−2]</a:t>
            </a:r>
          </a:p>
          <a:p>
            <a:pPr lvl="1"/>
            <a:r>
              <a:rPr lang="en-GB" dirty="0"/>
              <a:t>temperature[t], temperature[t−1]</a:t>
            </a:r>
          </a:p>
          <a:p>
            <a:pPr lvl="1"/>
            <a:r>
              <a:rPr lang="en-GB" dirty="0"/>
              <a:t>production[t], production[t−1]</a:t>
            </a:r>
          </a:p>
          <a:p>
            <a:r>
              <a:rPr lang="en-GB" dirty="0"/>
              <a:t>The model may learn:</a:t>
            </a:r>
          </a:p>
          <a:p>
            <a:pPr lvl="1"/>
            <a:r>
              <a:rPr lang="en-GB" dirty="0"/>
              <a:t>future consumption = weighted combination of all selected lagged variables</a:t>
            </a:r>
          </a:p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simple; interpretable; fast; supports multivariate inputs; often a strong benchmark.</a:t>
            </a:r>
          </a:p>
          <a:p>
            <a:r>
              <a:rPr lang="en-GB" b="1" dirty="0"/>
              <a:t>Limitations</a:t>
            </a:r>
          </a:p>
          <a:p>
            <a:r>
              <a:rPr lang="en-GB" dirty="0"/>
              <a:t>The modeller must choose:</a:t>
            </a:r>
          </a:p>
          <a:p>
            <a:pPr lvl="1"/>
            <a:r>
              <a:rPr lang="en-GB" dirty="0"/>
              <a:t>which variables;</a:t>
            </a:r>
          </a:p>
          <a:p>
            <a:pPr lvl="1"/>
            <a:r>
              <a:rPr lang="en-GB" dirty="0"/>
              <a:t>which lag positions;</a:t>
            </a:r>
          </a:p>
          <a:p>
            <a:pPr lvl="1"/>
            <a:r>
              <a:rPr lang="en-GB" dirty="0"/>
              <a:t>how far into the past to look.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487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7BBDF5-75B1-EA71-ACA1-6F1C3FD7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linear forecasting – still only linear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FE2F03-BD82-22E9-4E2F-F108F2920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relationship between features and output is still linear.</a:t>
            </a:r>
          </a:p>
          <a:p>
            <a:endParaRPr lang="en-GB" b="1" dirty="0"/>
          </a:p>
          <a:p>
            <a:r>
              <a:rPr lang="en-GB" b="1" dirty="0"/>
              <a:t>This motivates the next block</a:t>
            </a:r>
          </a:p>
          <a:p>
            <a:r>
              <a:rPr lang="en-GB" dirty="0"/>
              <a:t>Instead of using only raw lag values, we can construct temporal features describing:</a:t>
            </a:r>
          </a:p>
          <a:p>
            <a:pPr lvl="1"/>
            <a:r>
              <a:rPr lang="en-GB" dirty="0"/>
              <a:t>level;</a:t>
            </a:r>
          </a:p>
          <a:p>
            <a:pPr lvl="1"/>
            <a:r>
              <a:rPr lang="en-GB" dirty="0"/>
              <a:t>variability;</a:t>
            </a:r>
          </a:p>
          <a:p>
            <a:pPr lvl="1"/>
            <a:r>
              <a:rPr lang="en-GB" dirty="0"/>
              <a:t>trend;</a:t>
            </a:r>
          </a:p>
          <a:p>
            <a:pPr lvl="1"/>
            <a:r>
              <a:rPr lang="en-GB" dirty="0"/>
              <a:t>periodicity;</a:t>
            </a:r>
          </a:p>
          <a:p>
            <a:pPr lvl="1"/>
            <a:r>
              <a:rPr lang="en-GB" dirty="0"/>
              <a:t>local dynamics.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5970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3.B.8 — Multivariate lagged feature vector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variables and multiple lags are combined into one tabular input.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11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4313D"/>
                </a:solidFill>
              </a:rPr>
              <a:t>consumption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463040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E8F1FB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331720" y="1572768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</a:rPr>
              <a:t>C[t]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E8F1FB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91840" y="1572768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</a:rPr>
              <a:t>C[t−1]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51960" y="1463040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E8F1FB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51960" y="1572768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</a:rPr>
              <a:t>C[t−2]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21122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4313D"/>
                </a:solidFill>
              </a:rPr>
              <a:t>temperature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1993392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FFF4E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331720" y="21031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T[t]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1993392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FFF4E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291840" y="21031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T[t−1]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51960" y="1993392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FFF4E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251960" y="21031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T[t−2]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2642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4313D"/>
                </a:solidFill>
              </a:rPr>
              <a:t>production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31720" y="2523744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EAF4E3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331720" y="26334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B8E1F"/>
                </a:solidFill>
              </a:rPr>
              <a:t>P[t]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2523744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EAF4E3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291840" y="26334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B8E1F"/>
                </a:solidFill>
              </a:rPr>
              <a:t>P[t−1]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51960" y="2523744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EAF4E3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251960" y="26334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B8E1F"/>
                </a:solidFill>
              </a:rPr>
              <a:t>P[t−2]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74920" y="2103120"/>
            <a:ext cx="114300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355080" y="1325880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F7FBF2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537960" y="1572768"/>
            <a:ext cx="26060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vector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28816" y="1965960"/>
            <a:ext cx="2615184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consumption[t], consumption[t−1], ...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temperature[t], temperature[t−1], ...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production[t], production[t−1], ... 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26080" y="45720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7FBF2"/>
          </a:solidFill>
          <a:ln w="12700">
            <a:solidFill>
              <a:srgbClr val="4B8E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154680" y="4672584"/>
            <a:ext cx="4572000" cy="5852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/>
            <a:r>
              <a:rPr lang="en-GB" sz="1000" dirty="0">
                <a:solidFill>
                  <a:schemeClr val="accent1">
                    <a:lumMod val="75000"/>
                  </a:schemeClr>
                </a:solidFill>
              </a:rPr>
              <a:t>Tree-based and linear models treat inputs as ordinary tabular features. Temporal order must therefore be represented explicitly through lags, differences, rolling statistics, or other time-aware features.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5C5BAF31-4557-9517-35CB-CF19638A70F8}"/>
              </a:ext>
            </a:extLst>
          </p:cNvPr>
          <p:cNvSpPr txBox="1"/>
          <p:nvPr/>
        </p:nvSpPr>
        <p:spPr>
          <a:xfrm>
            <a:off x="7853935" y="5596128"/>
            <a:ext cx="43380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Lag features encode temporal order by placing past observations at specific delays into separate input columns.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B7F5CC-9029-0FA7-0304-7273F577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Positioning AR, ARIMA and related models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AB79EE-F626-50ED-A415-028785E51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Classical statistical forecasting contains a large family of models designed specifically for temporal data.</a:t>
            </a:r>
          </a:p>
          <a:p>
            <a:r>
              <a:rPr lang="en-GB" b="1" dirty="0"/>
              <a:t>Autoregressive models</a:t>
            </a:r>
          </a:p>
          <a:p>
            <a:pPr lvl="1"/>
            <a:r>
              <a:rPr lang="en-GB" dirty="0"/>
              <a:t>Future values are expressed using previous observations.</a:t>
            </a:r>
          </a:p>
          <a:p>
            <a:r>
              <a:rPr lang="en-GB" dirty="0"/>
              <a:t>Conceptually:</a:t>
            </a:r>
          </a:p>
          <a:p>
            <a:pPr lvl="1"/>
            <a:r>
              <a:rPr lang="en-GB" dirty="0"/>
              <a:t>future value = weighted combination of past values</a:t>
            </a:r>
          </a:p>
          <a:p>
            <a:r>
              <a:rPr lang="en-GB" b="1" dirty="0"/>
              <a:t>Moving-average error models</a:t>
            </a:r>
          </a:p>
          <a:p>
            <a:pPr lvl="1"/>
            <a:r>
              <a:rPr lang="en-GB" dirty="0"/>
              <a:t>Current values can also depend on previous forecast errors.</a:t>
            </a:r>
          </a:p>
          <a:p>
            <a:endParaRPr lang="en-GB" b="1" dirty="0"/>
          </a:p>
          <a:p>
            <a:r>
              <a:rPr lang="en-GB" b="1" dirty="0"/>
              <a:t>Differencing</a:t>
            </a:r>
          </a:p>
          <a:p>
            <a:r>
              <a:rPr lang="en-GB" dirty="0"/>
              <a:t>Instead of modelling the original series, the model may operate on changes: difference[t] = y[t] − y[t−1]</a:t>
            </a:r>
          </a:p>
          <a:p>
            <a:r>
              <a:rPr lang="en-GB" dirty="0"/>
              <a:t>This can help when </a:t>
            </a:r>
            <a:r>
              <a:rPr lang="en-GB" b="1" dirty="0"/>
              <a:t>the original series contains a trend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9720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409254-2270-4BFA-C2F2-B6949FF57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ARIMA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D9C70A-2042-80A6-98BA-00D52EE22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Combines:</a:t>
            </a:r>
          </a:p>
          <a:p>
            <a:pPr lvl="1"/>
            <a:r>
              <a:rPr lang="en-GB" dirty="0"/>
              <a:t>autoregressive terms;</a:t>
            </a:r>
          </a:p>
          <a:p>
            <a:pPr lvl="1"/>
            <a:r>
              <a:rPr lang="en-GB" dirty="0"/>
              <a:t>differencing;</a:t>
            </a:r>
          </a:p>
          <a:p>
            <a:pPr lvl="1"/>
            <a:r>
              <a:rPr lang="en-GB" dirty="0"/>
              <a:t>moving-average error terms.</a:t>
            </a:r>
          </a:p>
          <a:p>
            <a:r>
              <a:rPr lang="en-GB" b="1" dirty="0"/>
              <a:t>Seasonal extensions</a:t>
            </a:r>
          </a:p>
          <a:p>
            <a:r>
              <a:rPr lang="en-GB" dirty="0"/>
              <a:t>Seasonal ARIMA models explicitly represent repeating seasonal patterns.</a:t>
            </a:r>
          </a:p>
          <a:p>
            <a:r>
              <a:rPr lang="en-GB" b="1" dirty="0"/>
              <a:t>Scope in this course</a:t>
            </a:r>
          </a:p>
          <a:p>
            <a:r>
              <a:rPr lang="en-GB" dirty="0"/>
              <a:t>We do not develop the full statistical theory of ARIMA estimation.</a:t>
            </a:r>
          </a:p>
          <a:p>
            <a:r>
              <a:rPr lang="en-GB" dirty="0"/>
              <a:t>The important learning objectives are:</a:t>
            </a:r>
          </a:p>
          <a:p>
            <a:pPr lvl="1"/>
            <a:r>
              <a:rPr lang="en-GB" dirty="0"/>
              <a:t>recognize these models as strong classical baselines;</a:t>
            </a:r>
          </a:p>
          <a:p>
            <a:pPr lvl="1"/>
            <a:r>
              <a:rPr lang="en-GB" dirty="0"/>
              <a:t>understand what types of temporal structure they represent;</a:t>
            </a:r>
          </a:p>
          <a:p>
            <a:pPr lvl="1"/>
            <a:r>
              <a:rPr lang="en-GB" dirty="0"/>
              <a:t>compare them fairly with machine-learning and deep-learning approaches.</a:t>
            </a:r>
          </a:p>
          <a:p>
            <a:endParaRPr lang="en-GB" dirty="0"/>
          </a:p>
          <a:p>
            <a:r>
              <a:rPr lang="en-GB" b="1" dirty="0"/>
              <a:t>Neural models are alternatives to (not replacements for) </a:t>
            </a:r>
            <a:r>
              <a:rPr lang="en-GB" dirty="0"/>
              <a:t>well-established statistical forecasting methods.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8645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5B82A"/>
          </a:solidFill>
          <a:ln w="12700">
            <a:solidFill>
              <a:srgbClr val="75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1508760" cy="6858000"/>
          </a:xfrm>
          <a:prstGeom prst="chevron">
            <a:avLst/>
          </a:prstGeom>
          <a:solidFill>
            <a:srgbClr val="75B82A">
              <a:alpha val="68000"/>
            </a:srgbClr>
          </a:solidFill>
          <a:ln w="12700">
            <a:solidFill>
              <a:srgbClr val="75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00" y="0"/>
            <a:ext cx="1097280" cy="6858000"/>
          </a:xfrm>
          <a:prstGeom prst="chevron">
            <a:avLst/>
          </a:prstGeom>
          <a:solidFill>
            <a:srgbClr val="2F6F13">
              <a:alpha val="65000"/>
            </a:srgbClr>
          </a:solidFill>
          <a:ln w="12700">
            <a:solidFill>
              <a:srgbClr val="2F6F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11712" y="0"/>
            <a:ext cx="640080" cy="6858000"/>
          </a:xfrm>
          <a:prstGeom prst="chevron">
            <a:avLst/>
          </a:prstGeom>
          <a:solidFill>
            <a:srgbClr val="4B8E1F">
              <a:alpha val="80000"/>
            </a:srgbClr>
          </a:solidFill>
          <a:ln w="12700">
            <a:solidFill>
              <a:srgbClr val="4B8E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B8E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3.B.9 — Positioning classical forecasting baselines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3192" y="704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classical baselines encode different assumptions about temporal structure.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53796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12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0" y="12344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8ECEF"/>
          </a:solidFill>
          <a:ln w="12700">
            <a:solidFill>
              <a:srgbClr val="2431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60704" y="1353312"/>
            <a:ext cx="12618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87168" y="1380744"/>
            <a:ext cx="170078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distribution only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303520" y="12344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AF4E3"/>
          </a:solidFill>
          <a:ln w="12700">
            <a:solidFill>
              <a:srgbClr val="2F6F1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49824" y="1353312"/>
            <a:ext cx="12618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76288" y="1380744"/>
            <a:ext cx="170078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 continuity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14400" y="25603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8F1FB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60704" y="2679192"/>
            <a:ext cx="12618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naïve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87168" y="2706624"/>
            <a:ext cx="170078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repeating cycle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303520" y="25603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12700">
            <a:solidFill>
              <a:srgbClr val="A05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449824" y="2679192"/>
            <a:ext cx="12618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0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average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76288" y="2706624"/>
            <a:ext cx="170078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level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914400" y="38862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2EA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60704" y="4005072"/>
            <a:ext cx="12618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Exponential smoothing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87168" y="4032504"/>
            <a:ext cx="170078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/ trend / seasonality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5303520" y="38862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BE9E9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449824" y="4005072"/>
            <a:ext cx="12618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/ ARIMA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76288" y="4032504"/>
            <a:ext cx="170078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lags + differencing + errors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502920" y="630936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0"/>
                </a:solidFill>
              </a:rPr>
              <a:t>These methods are not obsolete; they are necessary references for fair comparison.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C0AE04-5DF7-C714-2E21-AE28BA8F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3.C — Temporal Feature Engineering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BED6AD-6865-2F41-A70A-758327C5D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0804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3FE98C-F3B1-B921-C5D9-39993D07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a temporal window to a feature vector – feature engineering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D13AB4-4137-DF31-9B1D-F26CC783C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A temporal window may contain many ordered observations.</a:t>
            </a:r>
          </a:p>
          <a:p>
            <a:r>
              <a:rPr lang="en-GB" dirty="0"/>
              <a:t>For one multivariate sample:</a:t>
            </a:r>
          </a:p>
          <a:p>
            <a:r>
              <a:rPr lang="en-GB" dirty="0"/>
              <a:t>input shape = [L, d]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L = number of time steps; </a:t>
            </a:r>
          </a:p>
          <a:p>
            <a:pPr lvl="1"/>
            <a:r>
              <a:rPr lang="en-GB" dirty="0"/>
              <a:t>d = number of variables or channels. </a:t>
            </a:r>
          </a:p>
          <a:p>
            <a:r>
              <a:rPr lang="en-GB" dirty="0"/>
              <a:t>A traditional machine-learning model often expects one fixed-size vector instead: feature vector shape = [p]</a:t>
            </a:r>
          </a:p>
          <a:p>
            <a:endParaRPr lang="en-GB" dirty="0"/>
          </a:p>
          <a:p>
            <a:r>
              <a:rPr lang="en-GB" dirty="0"/>
              <a:t>Feature engineering performs the transformation:</a:t>
            </a:r>
          </a:p>
          <a:p>
            <a:r>
              <a:rPr lang="en-GB" dirty="0"/>
              <a:t>temporal window [L, d]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temporal feature extraction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fixed-size feature vector [p]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regression or classification model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1392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598F6D-F194-71FD-8014-0BA987AB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6A1EBC-13BF-6634-24C7-0EC3A4BCB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Suppose a vibration window contains: 500 time steps;  3 sensor channels. </a:t>
            </a:r>
          </a:p>
          <a:p>
            <a:r>
              <a:rPr lang="en-GB" dirty="0"/>
              <a:t>Raw input: [500, 3]</a:t>
            </a:r>
          </a:p>
          <a:p>
            <a:r>
              <a:rPr lang="en-GB" b="1" dirty="0"/>
              <a:t>Instead of using all 1,500 values directly, we may compute for each channel:</a:t>
            </a:r>
          </a:p>
          <a:p>
            <a:pPr lvl="1"/>
            <a:r>
              <a:rPr lang="en-GB" dirty="0"/>
              <a:t>mean; </a:t>
            </a:r>
          </a:p>
          <a:p>
            <a:pPr lvl="1"/>
            <a:r>
              <a:rPr lang="en-GB" dirty="0"/>
              <a:t>standard deviation; </a:t>
            </a:r>
          </a:p>
          <a:p>
            <a:pPr lvl="1"/>
            <a:r>
              <a:rPr lang="en-GB" dirty="0"/>
              <a:t>RMS; </a:t>
            </a:r>
          </a:p>
          <a:p>
            <a:pPr lvl="1"/>
            <a:r>
              <a:rPr lang="en-GB" dirty="0"/>
              <a:t>maximum; </a:t>
            </a:r>
          </a:p>
          <a:p>
            <a:pPr lvl="1"/>
            <a:r>
              <a:rPr lang="en-GB" dirty="0"/>
              <a:t>trend; </a:t>
            </a:r>
          </a:p>
          <a:p>
            <a:pPr lvl="1"/>
            <a:r>
              <a:rPr lang="en-GB" dirty="0"/>
              <a:t>dominant frequency. </a:t>
            </a:r>
          </a:p>
          <a:p>
            <a:r>
              <a:rPr lang="en-GB" dirty="0"/>
              <a:t>The result is a much smaller feature vector.</a:t>
            </a:r>
          </a:p>
          <a:p>
            <a:r>
              <a:rPr lang="en-GB" b="1" dirty="0"/>
              <a:t>Main trade-off</a:t>
            </a:r>
          </a:p>
          <a:p>
            <a:pPr lvl="1"/>
            <a:r>
              <a:rPr lang="en-GB" dirty="0"/>
              <a:t>Feature engineering: reduces dimensionality;  incorporates domain knowledge;  may improve robustness with limited data; </a:t>
            </a:r>
          </a:p>
          <a:p>
            <a:pPr lvl="1"/>
            <a:r>
              <a:rPr lang="en-GB" dirty="0"/>
              <a:t>but also requires us to decide in advance which temporal information is relevant.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Feature engineering replaces a temporal sequence with a compact, manually designed representation.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9218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3.C.1 -- From temporal window to feature vector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Feature extraction transforms an ordered window into a fixed-size input for conventional models.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777240" y="18745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50392" y="1929384"/>
            <a:ext cx="177393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Temporal window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shape = [L, d]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0" y="1828800"/>
            <a:ext cx="1828800" cy="1005840"/>
          </a:xfrm>
          <a:prstGeom prst="roundRect">
            <a:avLst>
              <a:gd name="adj" fmla="val 4545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730752" y="1883664"/>
            <a:ext cx="168249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extraction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46520" y="18745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519672" y="1929384"/>
            <a:ext cx="177393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Feature vector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shape = [p]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235440" y="1828800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9308592" y="1883664"/>
            <a:ext cx="17739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Regression 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classification model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88920" y="2331720"/>
            <a:ext cx="731520" cy="0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5577840" y="2331720"/>
            <a:ext cx="731520" cy="0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8458200" y="2331720"/>
            <a:ext cx="640080" cy="0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1005840" y="3657600"/>
            <a:ext cx="105156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 w="76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005840" y="3657600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1005840" y="3822192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1005840" y="3986784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1005840" y="4151376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1005840" y="3657600"/>
            <a:ext cx="0" cy="68580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1353312" y="3657600"/>
            <a:ext cx="0" cy="68580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1700784" y="3657600"/>
            <a:ext cx="0" cy="68580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1143000" y="3547872"/>
            <a:ext cx="105156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 w="76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1143000" y="3547872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1143000" y="3712464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1143000" y="3877056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1143000" y="4041648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1143000" y="3547872"/>
            <a:ext cx="0" cy="68580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1490472" y="3547872"/>
            <a:ext cx="0" cy="68580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1837944" y="3547872"/>
            <a:ext cx="0" cy="68580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1280160" y="3438144"/>
            <a:ext cx="105156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 w="76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1280160" y="3438144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1280160" y="3602736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1280160" y="3767328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1280160" y="3931920"/>
            <a:ext cx="1051560" cy="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1280160" y="3438144"/>
            <a:ext cx="0" cy="68580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1627632" y="3438144"/>
            <a:ext cx="0" cy="68580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1975104" y="3438144"/>
            <a:ext cx="0" cy="685800"/>
          </a:xfrm>
          <a:prstGeom prst="line">
            <a:avLst/>
          </a:prstGeom>
          <a:noFill/>
          <a:ln w="3810">
            <a:solidFill>
              <a:srgbClr val="D3E6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85800" y="4480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2F73B8"/>
                </a:solidFill>
              </a:rPr>
              <a:t>one L x d matrix per sample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6400800" y="37033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6473952" y="3758184"/>
            <a:ext cx="274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mean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6876288" y="37033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6949440" y="3758184"/>
            <a:ext cx="274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std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7351776" y="37033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7424928" y="3758184"/>
            <a:ext cx="274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RMS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7827264" y="37033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7900416" y="3758184"/>
            <a:ext cx="274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slope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8302752" y="37033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8375904" y="3758184"/>
            <a:ext cx="274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freq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626364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39C12"/>
                </a:solidFill>
              </a:rPr>
              <a:t>compact representation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66666"/>
                </a:solidFill>
              </a:rPr>
              <a:t>Manual features reduce dimensionality but encode assumptions about which temporal information matters.</a:t>
            </a:r>
            <a:endParaRPr lang="en-US" sz="6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E34DC6-2443-5131-140B-E1C55254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main strategies: preserve positions or summarize the window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56AC1C-B034-2B93-33A4-B7E856E9B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There are two conceptually different ways to process a temporal window.</a:t>
            </a:r>
          </a:p>
          <a:p>
            <a:endParaRPr lang="en-GB" b="1" dirty="0"/>
          </a:p>
          <a:p>
            <a:r>
              <a:rPr lang="en-GB" b="1" dirty="0"/>
              <a:t>Strategy 1 — Preserve temporal positions</a:t>
            </a:r>
          </a:p>
          <a:p>
            <a:r>
              <a:rPr lang="en-GB" dirty="0"/>
              <a:t>Use individual lagged observations as separate features.</a:t>
            </a:r>
          </a:p>
          <a:p>
            <a:r>
              <a:rPr lang="en-GB" dirty="0"/>
              <a:t>Example: x[t], x[t−1], x[t−2], x[t−3]</a:t>
            </a:r>
          </a:p>
          <a:p>
            <a:r>
              <a:rPr lang="en-GB" dirty="0"/>
              <a:t>This preserves information about </a:t>
            </a:r>
            <a:r>
              <a:rPr lang="en-GB" b="1" dirty="0"/>
              <a:t>when</a:t>
            </a:r>
            <a:r>
              <a:rPr lang="en-GB" dirty="0"/>
              <a:t> each value occurred.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9288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069BAC-31DF-01FE-8C83-952F0255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Strategy 2 — Summarize an interval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C2B398-B526-6B60-EE07-EB7225367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Compute statistics over a complete window.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Mean, standard deviation, Minimum, maximum, Slope, energy</a:t>
            </a:r>
          </a:p>
          <a:p>
            <a:r>
              <a:rPr lang="en-GB" dirty="0"/>
              <a:t>This reduces sensitivity to the exact position of individual observations.</a:t>
            </a:r>
          </a:p>
          <a:p>
            <a:r>
              <a:rPr lang="en-GB" b="1" dirty="0"/>
              <a:t>Example</a:t>
            </a:r>
          </a:p>
          <a:p>
            <a:pPr lvl="1"/>
            <a:r>
              <a:rPr lang="en-GB" dirty="0"/>
              <a:t>Consider two windows containing the same values in different orders.</a:t>
            </a:r>
          </a:p>
          <a:p>
            <a:pPr lvl="1"/>
            <a:r>
              <a:rPr lang="en-GB" dirty="0"/>
              <a:t>They may have the same: mean;  variance;  minimum;  maximum; </a:t>
            </a:r>
          </a:p>
          <a:p>
            <a:pPr lvl="1"/>
            <a:r>
              <a:rPr lang="en-GB" dirty="0"/>
              <a:t>but very different temporal evolution.</a:t>
            </a:r>
          </a:p>
          <a:p>
            <a:r>
              <a:rPr lang="en-GB" dirty="0"/>
              <a:t>Therefore: Summary features may lose temporal-order information.</a:t>
            </a:r>
          </a:p>
          <a:p>
            <a:endParaRPr lang="en-GB" b="1" dirty="0"/>
          </a:p>
          <a:p>
            <a:r>
              <a:rPr lang="en-GB" b="1" dirty="0"/>
              <a:t>Practical approach</a:t>
            </a:r>
          </a:p>
          <a:p>
            <a:r>
              <a:rPr lang="en-GB" dirty="0"/>
              <a:t>Feature-based models often combine:</a:t>
            </a:r>
          </a:p>
          <a:p>
            <a:pPr lvl="0"/>
            <a:r>
              <a:rPr lang="en-GB" dirty="0"/>
              <a:t>raw lags; </a:t>
            </a:r>
          </a:p>
          <a:p>
            <a:pPr lvl="0"/>
            <a:r>
              <a:rPr lang="en-GB" dirty="0"/>
              <a:t>rolling statistics;  trend features;  spectral features; </a:t>
            </a:r>
          </a:p>
          <a:p>
            <a:pPr lvl="0"/>
            <a:r>
              <a:rPr lang="en-GB" dirty="0"/>
              <a:t>static/contextual variables.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92024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3.C.2 -- Preserve positions or summarize the window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Lag features preserve temporal positions; summary statistics describe the window as an interval.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73B8"/>
                </a:solidFill>
              </a:rPr>
              <a:t>Strategy 1: preserve positions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" y="3383280"/>
            <a:ext cx="38404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77240" y="1554480"/>
            <a:ext cx="0" cy="18288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389120" y="34747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640080" y="138988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x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 flipV="1">
            <a:off x="868680" y="2863515"/>
            <a:ext cx="546027" cy="291165"/>
          </a:xfrm>
          <a:prstGeom prst="line">
            <a:avLst/>
          </a:prstGeom>
          <a:noFill/>
          <a:ln w="203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378131" y="2846672"/>
            <a:ext cx="509451" cy="154004"/>
          </a:xfrm>
          <a:prstGeom prst="line">
            <a:avLst/>
          </a:prstGeom>
          <a:noFill/>
          <a:ln w="203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 flipV="1">
            <a:off x="1887584" y="2401502"/>
            <a:ext cx="509450" cy="599174"/>
          </a:xfrm>
          <a:prstGeom prst="line">
            <a:avLst/>
          </a:prstGeom>
          <a:noFill/>
          <a:ln w="203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 flipV="1">
            <a:off x="2397035" y="2074725"/>
            <a:ext cx="509450" cy="309934"/>
          </a:xfrm>
          <a:prstGeom prst="line">
            <a:avLst/>
          </a:prstGeom>
          <a:noFill/>
          <a:ln w="203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2906486" y="2076651"/>
            <a:ext cx="509451" cy="231006"/>
          </a:xfrm>
          <a:prstGeom prst="line">
            <a:avLst/>
          </a:prstGeom>
          <a:noFill/>
          <a:ln w="203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 flipV="1">
            <a:off x="3415937" y="1819656"/>
            <a:ext cx="564310" cy="488001"/>
          </a:xfrm>
          <a:prstGeom prst="line">
            <a:avLst/>
          </a:prstGeom>
          <a:noFill/>
          <a:ln w="203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 flipV="1">
            <a:off x="3925390" y="1691640"/>
            <a:ext cx="509450" cy="154004"/>
          </a:xfrm>
          <a:prstGeom prst="line">
            <a:avLst/>
          </a:prstGeom>
          <a:noFill/>
          <a:ln w="203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832104" y="311810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1341555" y="2810096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1851007" y="2964100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2360458" y="2348083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2869910" y="2040075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3379361" y="2271081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3888813" y="1809068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4398264" y="165506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2778470" y="1948635"/>
            <a:ext cx="256032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705318" y="1674315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20" dirty="0">
                <a:solidFill>
                  <a:srgbClr val="F39C12"/>
                </a:solidFill>
              </a:rPr>
              <a:t>lag 3</a:t>
            </a:r>
            <a:endParaRPr lang="en-US" sz="520" dirty="0"/>
          </a:p>
        </p:txBody>
      </p:sp>
      <p:sp>
        <p:nvSpPr>
          <p:cNvPr id="27" name="Shape 24"/>
          <p:cNvSpPr/>
          <p:nvPr/>
        </p:nvSpPr>
        <p:spPr>
          <a:xfrm>
            <a:off x="3287921" y="2179641"/>
            <a:ext cx="256032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3214769" y="1905321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20" dirty="0">
                <a:solidFill>
                  <a:srgbClr val="F39C12"/>
                </a:solidFill>
              </a:rPr>
              <a:t>lag 2</a:t>
            </a:r>
            <a:endParaRPr lang="en-US" sz="520" dirty="0"/>
          </a:p>
        </p:txBody>
      </p:sp>
      <p:sp>
        <p:nvSpPr>
          <p:cNvPr id="29" name="Shape 26"/>
          <p:cNvSpPr/>
          <p:nvPr/>
        </p:nvSpPr>
        <p:spPr>
          <a:xfrm>
            <a:off x="3797373" y="1717628"/>
            <a:ext cx="256032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3724221" y="144330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20" dirty="0">
                <a:solidFill>
                  <a:srgbClr val="F39C12"/>
                </a:solidFill>
              </a:rPr>
              <a:t>lag 1</a:t>
            </a:r>
            <a:endParaRPr lang="en-US" sz="520" dirty="0"/>
          </a:p>
        </p:txBody>
      </p:sp>
      <p:sp>
        <p:nvSpPr>
          <p:cNvPr id="31" name="Shape 28"/>
          <p:cNvSpPr/>
          <p:nvPr/>
        </p:nvSpPr>
        <p:spPr>
          <a:xfrm>
            <a:off x="4306824" y="1563624"/>
            <a:ext cx="256032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4233672" y="1289304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20" dirty="0">
                <a:solidFill>
                  <a:srgbClr val="F39C12"/>
                </a:solidFill>
              </a:rPr>
              <a:t>lag 0</a:t>
            </a:r>
            <a:endParaRPr lang="en-US" sz="520" dirty="0"/>
          </a:p>
        </p:txBody>
      </p:sp>
      <p:sp>
        <p:nvSpPr>
          <p:cNvPr id="33" name="Shape 30"/>
          <p:cNvSpPr/>
          <p:nvPr/>
        </p:nvSpPr>
        <p:spPr>
          <a:xfrm>
            <a:off x="1051560" y="3931920"/>
            <a:ext cx="3200400" cy="594360"/>
          </a:xfrm>
          <a:prstGeom prst="roundRect">
            <a:avLst>
              <a:gd name="adj" fmla="val 7692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1124712" y="3986784"/>
            <a:ext cx="30540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Feature vector: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x[t], x[t-1], x[t-2], ...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715000" y="1097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A2A"/>
                </a:solidFill>
              </a:rPr>
              <a:t>Strategy 2: summarize interval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715000" y="3383280"/>
            <a:ext cx="38404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5715000" y="1554480"/>
            <a:ext cx="0" cy="18288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9326880" y="34747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5577840" y="138988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x</a:t>
            </a:r>
            <a:endParaRPr lang="en-US" sz="550" dirty="0"/>
          </a:p>
        </p:txBody>
      </p:sp>
      <p:sp>
        <p:nvSpPr>
          <p:cNvPr id="40" name="Shape 37"/>
          <p:cNvSpPr/>
          <p:nvPr/>
        </p:nvSpPr>
        <p:spPr>
          <a:xfrm flipV="1">
            <a:off x="5806441" y="2883248"/>
            <a:ext cx="472874" cy="271432"/>
          </a:xfrm>
          <a:prstGeom prst="line">
            <a:avLst/>
          </a:prstGeom>
          <a:noFill/>
          <a:ln w="2032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6315891" y="2846672"/>
            <a:ext cx="509451" cy="154004"/>
          </a:xfrm>
          <a:prstGeom prst="line">
            <a:avLst/>
          </a:prstGeom>
          <a:noFill/>
          <a:ln w="2032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 flipV="1">
            <a:off x="6825344" y="2377440"/>
            <a:ext cx="472870" cy="623236"/>
          </a:xfrm>
          <a:prstGeom prst="line">
            <a:avLst/>
          </a:prstGeom>
          <a:noFill/>
          <a:ln w="2032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 flipV="1">
            <a:off x="7334795" y="2074725"/>
            <a:ext cx="472876" cy="309934"/>
          </a:xfrm>
          <a:prstGeom prst="line">
            <a:avLst/>
          </a:prstGeom>
          <a:noFill/>
          <a:ln w="2032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7844246" y="2076651"/>
            <a:ext cx="509451" cy="231006"/>
          </a:xfrm>
          <a:prstGeom prst="line">
            <a:avLst/>
          </a:prstGeom>
          <a:noFill/>
          <a:ln w="2032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 flipV="1">
            <a:off x="8353698" y="1905321"/>
            <a:ext cx="472874" cy="402336"/>
          </a:xfrm>
          <a:prstGeom prst="line">
            <a:avLst/>
          </a:prstGeom>
          <a:noFill/>
          <a:ln w="2032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 flipV="1">
            <a:off x="8863150" y="1691640"/>
            <a:ext cx="472874" cy="154004"/>
          </a:xfrm>
          <a:prstGeom prst="line">
            <a:avLst/>
          </a:prstGeom>
          <a:noFill/>
          <a:ln w="2032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5769864" y="3118104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6279315" y="2810096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6788767" y="2964100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7298218" y="2348083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7807670" y="2040075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8317121" y="2271081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8826573" y="1809068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9336024" y="1655064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7622177" y="1474109"/>
            <a:ext cx="2172788" cy="1086212"/>
          </a:xfrm>
          <a:prstGeom prst="rect">
            <a:avLst/>
          </a:prstGeom>
          <a:solidFill>
            <a:srgbClr val="EAF5E5">
              <a:alpha val="45000"/>
            </a:srgbClr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6172200" y="39319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6245352" y="3986784"/>
            <a:ext cx="31455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Features: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mean, std, min, max, slope, energy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66666"/>
                </a:solidFill>
              </a:rPr>
              <a:t>Summaries are compact, but may lose the order of events inside the window.</a:t>
            </a:r>
            <a:endParaRPr lang="en-US" sz="6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C9C3A9-6F67-8F47-6B60-CEB74F077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Lag features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DB480C-6FF3-4502-0232-BE96A1D1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Lag features explicitly represent past observations.</a:t>
            </a:r>
          </a:p>
          <a:p>
            <a:r>
              <a:rPr lang="en-GB" dirty="0"/>
              <a:t>For prediction at time t, possible input features are: x[t] x[t−1] x[t−2] ... x[t−L+1]</a:t>
            </a:r>
          </a:p>
          <a:p>
            <a:r>
              <a:rPr lang="en-GB" dirty="0"/>
              <a:t>For several input variables:</a:t>
            </a:r>
          </a:p>
          <a:p>
            <a:pPr lvl="1"/>
            <a:r>
              <a:rPr lang="en-GB" dirty="0"/>
              <a:t>temperature[t] temperature[t−1] temperature[t−2]</a:t>
            </a:r>
          </a:p>
          <a:p>
            <a:pPr lvl="1"/>
            <a:r>
              <a:rPr lang="en-GB" dirty="0"/>
              <a:t>pressure[t] pressure[t−1] pressure[t−2]</a:t>
            </a:r>
          </a:p>
          <a:p>
            <a:pPr lvl="1"/>
            <a:r>
              <a:rPr lang="en-GB" dirty="0"/>
              <a:t>flow[t] flow[t−1] flow[t−2]</a:t>
            </a:r>
          </a:p>
          <a:p>
            <a:endParaRPr lang="en-GB" b="1" dirty="0"/>
          </a:p>
          <a:p>
            <a:r>
              <a:rPr lang="en-GB" b="1" dirty="0"/>
              <a:t>What can a lag representation capture?</a:t>
            </a:r>
          </a:p>
          <a:p>
            <a:pPr lvl="1"/>
            <a:r>
              <a:rPr lang="en-GB" dirty="0"/>
              <a:t>persistence; </a:t>
            </a:r>
          </a:p>
          <a:p>
            <a:pPr lvl="1"/>
            <a:r>
              <a:rPr lang="en-GB" dirty="0"/>
              <a:t>delayed effects; </a:t>
            </a:r>
          </a:p>
          <a:p>
            <a:pPr lvl="1"/>
            <a:r>
              <a:rPr lang="en-GB" dirty="0"/>
              <a:t>local trends; </a:t>
            </a:r>
          </a:p>
          <a:p>
            <a:pPr lvl="1"/>
            <a:r>
              <a:rPr lang="en-GB" b="1" dirty="0"/>
              <a:t>periodic relationships, if the relevant lag is included.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81892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95EC9F-CCF7-062C-2D89-C1E91B7A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Lag features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4BF0BD-B66D-1757-DB9E-0D9C1AE54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Example: weekly demand</a:t>
            </a:r>
          </a:p>
          <a:p>
            <a:r>
              <a:rPr lang="en-GB" dirty="0"/>
              <a:t>For daily observations, useful features may include:</a:t>
            </a:r>
          </a:p>
          <a:p>
            <a:pPr lvl="1"/>
            <a:r>
              <a:rPr lang="en-GB" dirty="0"/>
              <a:t>demand[t] demand[t−1] demand[t−7] demand[t−14]</a:t>
            </a:r>
          </a:p>
          <a:p>
            <a:r>
              <a:rPr lang="en-GB" dirty="0"/>
              <a:t>The model can compare:</a:t>
            </a:r>
          </a:p>
          <a:p>
            <a:pPr lvl="1"/>
            <a:r>
              <a:rPr lang="en-GB" dirty="0"/>
              <a:t>yesterday;  one week ago; two weeks ago. </a:t>
            </a:r>
          </a:p>
          <a:p>
            <a:r>
              <a:rPr lang="en-GB" b="1" dirty="0"/>
              <a:t>Main design problem</a:t>
            </a:r>
          </a:p>
          <a:p>
            <a:r>
              <a:rPr lang="en-GB" dirty="0"/>
              <a:t>Which lags should be included?</a:t>
            </a:r>
          </a:p>
          <a:p>
            <a:r>
              <a:rPr lang="en-GB" dirty="0"/>
              <a:t>Possible criteria: physical knowledge; seasonal periods; correlation analysis; validation performance. </a:t>
            </a:r>
          </a:p>
          <a:p>
            <a:r>
              <a:rPr lang="en-GB" b="1" dirty="0"/>
              <a:t>Limitation</a:t>
            </a:r>
          </a:p>
          <a:p>
            <a:r>
              <a:rPr lang="en-GB" dirty="0"/>
              <a:t>A large lag set can create:</a:t>
            </a:r>
          </a:p>
          <a:p>
            <a:pPr lvl="1"/>
            <a:r>
              <a:rPr lang="en-GB" dirty="0"/>
              <a:t>many correlated features; </a:t>
            </a:r>
          </a:p>
          <a:p>
            <a:pPr lvl="1"/>
            <a:r>
              <a:rPr lang="en-GB" dirty="0"/>
              <a:t>high dimensionality; </a:t>
            </a:r>
          </a:p>
          <a:p>
            <a:pPr lvl="1"/>
            <a:r>
              <a:rPr lang="en-GB" dirty="0"/>
              <a:t>more parameters; </a:t>
            </a:r>
          </a:p>
          <a:p>
            <a:pPr lvl="1"/>
            <a:r>
              <a:rPr lang="en-GB" dirty="0"/>
              <a:t>increased overfitting risk. </a:t>
            </a:r>
          </a:p>
          <a:p>
            <a:r>
              <a:rPr lang="en-GB" dirty="0"/>
              <a:t>Regularization may therefore become important.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37640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3.C.3 -- Lag features as a supervised-learning table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Forecasting becomes ordinary regression after past values are arranged as columns.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81228" y="1046988"/>
            <a:ext cx="100584" cy="100584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66928" y="1280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y[1]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1229868" y="1046988"/>
            <a:ext cx="100584" cy="100584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15568" y="1280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y[2]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1778508" y="1046988"/>
            <a:ext cx="100584" cy="100584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664208" y="1280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y[3]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2327148" y="1046988"/>
            <a:ext cx="100584" cy="100584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212848" y="1280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y[4]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2875788" y="1046988"/>
            <a:ext cx="100584" cy="100584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761488" y="1280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y[5]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3424428" y="1046988"/>
            <a:ext cx="100584" cy="100584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310128" y="1280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y[6]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3973068" y="1046988"/>
            <a:ext cx="100584" cy="100584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3858768" y="1280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y[7]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4521708" y="1046988"/>
            <a:ext cx="100584" cy="100584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407408" y="1280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y[8]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5070348" y="1046988"/>
            <a:ext cx="100584" cy="100584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956048" y="1280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y[9]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731520" y="1097280"/>
            <a:ext cx="4389120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731520" y="2011680"/>
            <a:ext cx="3108960" cy="658368"/>
          </a:xfrm>
          <a:prstGeom prst="roundRect">
            <a:avLst>
              <a:gd name="adj" fmla="val 6944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804672" y="2066544"/>
            <a:ext cx="29626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Input: [y[4], y[3], y[2], y[1]]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Target: y[5]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31520" y="2788920"/>
            <a:ext cx="3108960" cy="658368"/>
          </a:xfrm>
          <a:prstGeom prst="roundRect">
            <a:avLst>
              <a:gd name="adj" fmla="val 6944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04672" y="2843784"/>
            <a:ext cx="29626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Input: [y[5], y[4], y[3], y[2]]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Target: y[6]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31520" y="3566160"/>
            <a:ext cx="3108960" cy="658368"/>
          </a:xfrm>
          <a:prstGeom prst="roundRect">
            <a:avLst>
              <a:gd name="adj" fmla="val 6944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804672" y="3621024"/>
            <a:ext cx="29626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Input: [y[6], y[5], y[4], y[3]]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Target: y[7]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14800" y="2971800"/>
            <a:ext cx="777240" cy="0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5074920" y="164592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5148072" y="170078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lag 0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5852160" y="164592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5925312" y="170078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lag 1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6629400" y="164592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6702552" y="170078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lag 2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7406640" y="164592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479792" y="170078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lag 3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8183880" y="164592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8257032" y="170078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target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074920" y="205740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5148072" y="211226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y[4]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5852160" y="205740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5925312" y="211226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y[3]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6629400" y="205740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6702552" y="211226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y[2]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7406640" y="205740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7479792" y="211226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y[1]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8183880" y="205740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8257032" y="211226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y[5]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5074920" y="246888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5148072" y="252374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y[5]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5852160" y="246888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5925312" y="252374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y[4]</a:t>
            </a:r>
            <a:endParaRPr lang="en-US" sz="650" dirty="0"/>
          </a:p>
        </p:txBody>
      </p:sp>
      <p:sp>
        <p:nvSpPr>
          <p:cNvPr id="55" name="Shape 52"/>
          <p:cNvSpPr/>
          <p:nvPr/>
        </p:nvSpPr>
        <p:spPr>
          <a:xfrm>
            <a:off x="6629400" y="246888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3"/>
          <p:cNvSpPr/>
          <p:nvPr/>
        </p:nvSpPr>
        <p:spPr>
          <a:xfrm>
            <a:off x="6702552" y="252374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y[3]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7406640" y="246888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7479792" y="252374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y[2]</a:t>
            </a:r>
            <a:endParaRPr lang="en-US" sz="650" dirty="0"/>
          </a:p>
        </p:txBody>
      </p:sp>
      <p:sp>
        <p:nvSpPr>
          <p:cNvPr id="59" name="Shape 56"/>
          <p:cNvSpPr/>
          <p:nvPr/>
        </p:nvSpPr>
        <p:spPr>
          <a:xfrm>
            <a:off x="8183880" y="246888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8257032" y="252374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y[6]</a:t>
            </a:r>
            <a:endParaRPr lang="en-US" sz="650" dirty="0"/>
          </a:p>
        </p:txBody>
      </p:sp>
      <p:sp>
        <p:nvSpPr>
          <p:cNvPr id="61" name="Shape 58"/>
          <p:cNvSpPr/>
          <p:nvPr/>
        </p:nvSpPr>
        <p:spPr>
          <a:xfrm>
            <a:off x="5074920" y="288036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5148072" y="293522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y[6]</a:t>
            </a:r>
            <a:endParaRPr lang="en-US" sz="650" dirty="0"/>
          </a:p>
        </p:txBody>
      </p:sp>
      <p:sp>
        <p:nvSpPr>
          <p:cNvPr id="63" name="Shape 60"/>
          <p:cNvSpPr/>
          <p:nvPr/>
        </p:nvSpPr>
        <p:spPr>
          <a:xfrm>
            <a:off x="5852160" y="288036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5925312" y="293522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y[5]</a:t>
            </a:r>
            <a:endParaRPr lang="en-US" sz="650" dirty="0"/>
          </a:p>
        </p:txBody>
      </p:sp>
      <p:sp>
        <p:nvSpPr>
          <p:cNvPr id="65" name="Shape 62"/>
          <p:cNvSpPr/>
          <p:nvPr/>
        </p:nvSpPr>
        <p:spPr>
          <a:xfrm>
            <a:off x="6629400" y="288036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6702552" y="293522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y[4]</a:t>
            </a:r>
            <a:endParaRPr lang="en-US" sz="650" dirty="0"/>
          </a:p>
        </p:txBody>
      </p:sp>
      <p:sp>
        <p:nvSpPr>
          <p:cNvPr id="67" name="Shape 64"/>
          <p:cNvSpPr/>
          <p:nvPr/>
        </p:nvSpPr>
        <p:spPr>
          <a:xfrm>
            <a:off x="7406640" y="288036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7479792" y="293522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y[3]</a:t>
            </a:r>
            <a:endParaRPr lang="en-US" sz="650" dirty="0"/>
          </a:p>
        </p:txBody>
      </p:sp>
      <p:sp>
        <p:nvSpPr>
          <p:cNvPr id="69" name="Shape 66"/>
          <p:cNvSpPr/>
          <p:nvPr/>
        </p:nvSpPr>
        <p:spPr>
          <a:xfrm>
            <a:off x="8183880" y="288036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/>
          <p:nvPr/>
        </p:nvSpPr>
        <p:spPr>
          <a:xfrm>
            <a:off x="8257032" y="2935224"/>
            <a:ext cx="630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y[7]</a:t>
            </a:r>
            <a:endParaRPr lang="en-US" sz="650" dirty="0"/>
          </a:p>
        </p:txBody>
      </p:sp>
      <p:sp>
        <p:nvSpPr>
          <p:cNvPr id="71" name="Shape 68"/>
          <p:cNvSpPr/>
          <p:nvPr/>
        </p:nvSpPr>
        <p:spPr>
          <a:xfrm>
            <a:off x="5303520" y="3840480"/>
            <a:ext cx="3840480" cy="685800"/>
          </a:xfrm>
          <a:prstGeom prst="roundRect">
            <a:avLst>
              <a:gd name="adj" fmla="val 6667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/>
          <p:nvPr/>
        </p:nvSpPr>
        <p:spPr>
          <a:xfrm>
            <a:off x="5376672" y="3895344"/>
            <a:ext cx="36941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Tabular models can now be used: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linear regression, ridge, trees, boosting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66666"/>
                </a:solidFill>
              </a:rPr>
              <a:t>The design decision is which lags to include and how many of them.</a:t>
            </a:r>
            <a:endParaRPr lang="en-US" sz="6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EDDECF-E041-9F6F-308E-7D7D25E71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Differences and rates of change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DC17C1-7964-1D28-A4F0-A11D48A9D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Absolute values are not always the most informative representation.</a:t>
            </a:r>
          </a:p>
          <a:p>
            <a:r>
              <a:rPr lang="en-GB" dirty="0"/>
              <a:t>A first difference is: difference[t] = x[t] − x[t−1]</a:t>
            </a:r>
          </a:p>
          <a:p>
            <a:r>
              <a:rPr lang="en-GB" dirty="0"/>
              <a:t>It represents the most recent change.</a:t>
            </a:r>
          </a:p>
          <a:p>
            <a:r>
              <a:rPr lang="en-GB" b="1" dirty="0"/>
              <a:t>Possible features</a:t>
            </a:r>
          </a:p>
          <a:p>
            <a:pPr lvl="1"/>
            <a:r>
              <a:rPr lang="en-GB" dirty="0"/>
              <a:t>first difference; </a:t>
            </a:r>
          </a:p>
          <a:p>
            <a:pPr lvl="1"/>
            <a:r>
              <a:rPr lang="en-GB" dirty="0"/>
              <a:t>percentage change; </a:t>
            </a:r>
          </a:p>
          <a:p>
            <a:pPr lvl="1"/>
            <a:r>
              <a:rPr lang="en-GB" dirty="0"/>
              <a:t>difference over several time steps; </a:t>
            </a:r>
          </a:p>
          <a:p>
            <a:pPr lvl="1"/>
            <a:r>
              <a:rPr lang="en-GB" dirty="0"/>
              <a:t>recent slope; </a:t>
            </a:r>
          </a:p>
          <a:p>
            <a:pPr lvl="1"/>
            <a:r>
              <a:rPr lang="en-GB" dirty="0"/>
              <a:t>acceleration of change. </a:t>
            </a:r>
          </a:p>
          <a:p>
            <a:r>
              <a:rPr lang="en-GB" b="1" dirty="0"/>
              <a:t>Examples</a:t>
            </a:r>
          </a:p>
          <a:p>
            <a:pPr lvl="1"/>
            <a:r>
              <a:rPr lang="en-GB" dirty="0"/>
              <a:t>short change = x[t] − x[t−1]</a:t>
            </a:r>
          </a:p>
          <a:p>
            <a:pPr lvl="1"/>
            <a:r>
              <a:rPr lang="en-GB" dirty="0"/>
              <a:t>longer change = x[t] − x[t−10]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03550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09139B-4760-CE0D-C400-7CEB7637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A930FC-DB6D-B02E-A3EA-FA7BABE8F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Why can differences help?</a:t>
            </a:r>
          </a:p>
          <a:p>
            <a:r>
              <a:rPr lang="en-GB" dirty="0">
                <a:highlight>
                  <a:srgbClr val="FFFF00"/>
                </a:highlight>
              </a:rPr>
              <a:t>They may emphasize:</a:t>
            </a:r>
          </a:p>
          <a:p>
            <a:pPr lvl="1"/>
            <a:r>
              <a:rPr lang="en-GB" dirty="0"/>
              <a:t>transients; </a:t>
            </a:r>
          </a:p>
          <a:p>
            <a:pPr lvl="1"/>
            <a:r>
              <a:rPr lang="en-GB" dirty="0"/>
              <a:t>trends; </a:t>
            </a:r>
          </a:p>
          <a:p>
            <a:pPr lvl="1"/>
            <a:r>
              <a:rPr lang="en-GB" dirty="0"/>
              <a:t>sudden changes; </a:t>
            </a:r>
          </a:p>
          <a:p>
            <a:pPr lvl="1"/>
            <a:r>
              <a:rPr lang="en-GB" dirty="0"/>
              <a:t>deviations from a slowly varying baseline. </a:t>
            </a:r>
          </a:p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/>
              <a:t>Two machines may operate at different baseline temperatures:</a:t>
            </a:r>
          </a:p>
          <a:p>
            <a:pPr lvl="1"/>
            <a:r>
              <a:rPr lang="en-GB" dirty="0"/>
              <a:t>Machine A: 50 → 55 °C</a:t>
            </a:r>
          </a:p>
          <a:p>
            <a:pPr lvl="1"/>
            <a:r>
              <a:rPr lang="en-GB" dirty="0"/>
              <a:t>Machine B: 70 → 75 °C</a:t>
            </a:r>
          </a:p>
          <a:p>
            <a:r>
              <a:rPr lang="en-GB" dirty="0"/>
              <a:t>Their absolute values differ, but both show:</a:t>
            </a:r>
          </a:p>
          <a:p>
            <a:pPr lvl="1"/>
            <a:r>
              <a:rPr lang="en-GB" dirty="0"/>
              <a:t>+5 °C change</a:t>
            </a:r>
          </a:p>
          <a:p>
            <a:r>
              <a:rPr lang="en-GB" b="1" dirty="0"/>
              <a:t>A change feature may therefore transfer better across machines.</a:t>
            </a:r>
          </a:p>
          <a:p>
            <a:endParaRPr lang="en-GB" b="1" dirty="0"/>
          </a:p>
          <a:p>
            <a:r>
              <a:rPr lang="en-GB" b="1" dirty="0"/>
              <a:t>Caveat</a:t>
            </a:r>
          </a:p>
          <a:p>
            <a:r>
              <a:rPr lang="en-GB" dirty="0"/>
              <a:t>Differencing may amplify measurement noise.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75601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3.C.4 -- Differences and rates of change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Change features can transfer better than absolute levels when baselines differ.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731520" y="3429000"/>
            <a:ext cx="438912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731520" y="1143000"/>
            <a:ext cx="0" cy="22860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892040" y="3520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594360" y="97840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temperature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 flipV="1">
            <a:off x="841249" y="2758461"/>
            <a:ext cx="1060700" cy="423655"/>
          </a:xfrm>
          <a:prstGeom prst="line">
            <a:avLst/>
          </a:prstGeom>
          <a:noFill/>
          <a:ln w="2159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 flipV="1">
            <a:off x="1901949" y="2450599"/>
            <a:ext cx="1042424" cy="329197"/>
          </a:xfrm>
          <a:prstGeom prst="line">
            <a:avLst/>
          </a:prstGeom>
          <a:noFill/>
          <a:ln w="2159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 flipV="1">
            <a:off x="2944373" y="2103129"/>
            <a:ext cx="813812" cy="347471"/>
          </a:xfrm>
          <a:prstGeom prst="line">
            <a:avLst/>
          </a:prstGeom>
          <a:noFill/>
          <a:ln w="2159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 flipV="1">
            <a:off x="3767329" y="1348724"/>
            <a:ext cx="891533" cy="754405"/>
          </a:xfrm>
          <a:prstGeom prst="line">
            <a:avLst/>
          </a:prstGeom>
          <a:noFill/>
          <a:ln w="2159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832104" y="311810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792224" y="275234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2752344" y="238658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712464" y="202082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672584" y="128930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 flipV="1">
            <a:off x="827534" y="1860789"/>
            <a:ext cx="923541" cy="347472"/>
          </a:xfrm>
          <a:prstGeom prst="line">
            <a:avLst/>
          </a:prstGeom>
          <a:noFill/>
          <a:ln w="2159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 flipV="1">
            <a:off x="1787654" y="1476741"/>
            <a:ext cx="923542" cy="365760"/>
          </a:xfrm>
          <a:prstGeom prst="line">
            <a:avLst/>
          </a:prstGeom>
          <a:noFill/>
          <a:ln w="2159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 flipV="1">
            <a:off x="2747773" y="1120125"/>
            <a:ext cx="960121" cy="356616"/>
          </a:xfrm>
          <a:prstGeom prst="line">
            <a:avLst/>
          </a:prstGeom>
          <a:noFill/>
          <a:ln w="2159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 flipV="1">
            <a:off x="3707893" y="388605"/>
            <a:ext cx="996693" cy="722376"/>
          </a:xfrm>
          <a:prstGeom prst="line">
            <a:avLst/>
          </a:prstGeom>
          <a:noFill/>
          <a:ln w="2159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777240" y="2171685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1737360" y="1805925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2697480" y="1440165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3657600" y="1074405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4617720" y="342885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590289" y="149963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73B8"/>
                </a:solidFill>
              </a:rPr>
              <a:t>Machine A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6574" y="470901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4444"/>
                </a:solidFill>
              </a:rPr>
              <a:t>Machine B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822960" y="4160520"/>
            <a:ext cx="2834640" cy="594360"/>
          </a:xfrm>
          <a:prstGeom prst="roundRect">
            <a:avLst>
              <a:gd name="adj" fmla="val 7692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896112" y="4215384"/>
            <a:ext cx="26883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Absolute levels differ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but change is similar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852160" y="1508760"/>
            <a:ext cx="2926080" cy="1371600"/>
          </a:xfrm>
          <a:prstGeom prst="roundRect">
            <a:avLst>
              <a:gd name="adj" fmla="val 3333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5925312" y="1563624"/>
            <a:ext cx="277977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Change 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x[t] - x[t-1]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Longer change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x[t] - x[t-10]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852160" y="324612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016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5925312" y="3300984"/>
            <a:ext cx="27797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Useful for transients, trends, deviations from baseline.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Caution: differencing may amplify noise.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66666"/>
                </a:solidFill>
              </a:rPr>
              <a:t>Differences emphasize dynamics rather than absolute operating levels.</a:t>
            </a:r>
            <a:endParaRPr lang="en-US" sz="62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B5A96F-B8F7-E0DF-C14F-4B0DC2B1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Statistical features over a window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B4F94F-9940-D581-B99A-4430B5E27A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Location</a:t>
            </a:r>
          </a:p>
          <a:p>
            <a:pPr lvl="1"/>
            <a:r>
              <a:rPr lang="en-GB" dirty="0"/>
              <a:t>mean; </a:t>
            </a:r>
          </a:p>
          <a:p>
            <a:pPr lvl="1"/>
            <a:r>
              <a:rPr lang="en-GB" dirty="0"/>
              <a:t>median; </a:t>
            </a:r>
          </a:p>
          <a:p>
            <a:pPr lvl="1"/>
            <a:r>
              <a:rPr lang="en-GB" dirty="0"/>
              <a:t>quantiles. </a:t>
            </a:r>
          </a:p>
          <a:p>
            <a:r>
              <a:rPr lang="en-GB" b="1" dirty="0"/>
              <a:t>Dispersion</a:t>
            </a:r>
          </a:p>
          <a:p>
            <a:pPr lvl="1"/>
            <a:r>
              <a:rPr lang="en-GB" dirty="0"/>
              <a:t>variance; </a:t>
            </a:r>
          </a:p>
          <a:p>
            <a:pPr lvl="1"/>
            <a:r>
              <a:rPr lang="en-GB" dirty="0"/>
              <a:t>standard deviation; </a:t>
            </a:r>
          </a:p>
          <a:p>
            <a:pPr lvl="1"/>
            <a:r>
              <a:rPr lang="en-GB" dirty="0"/>
              <a:t>interquartile range; </a:t>
            </a:r>
          </a:p>
          <a:p>
            <a:pPr lvl="1"/>
            <a:r>
              <a:rPr lang="en-GB" dirty="0"/>
              <a:t>range.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1EE9AE-CE1A-15F7-2876-0FD1E9B165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Extremes</a:t>
            </a:r>
          </a:p>
          <a:p>
            <a:pPr lvl="1"/>
            <a:r>
              <a:rPr lang="en-GB" dirty="0"/>
              <a:t>minimum; </a:t>
            </a:r>
          </a:p>
          <a:p>
            <a:pPr lvl="1"/>
            <a:r>
              <a:rPr lang="en-GB" dirty="0"/>
              <a:t>maximum; </a:t>
            </a:r>
          </a:p>
          <a:p>
            <a:pPr lvl="1"/>
            <a:r>
              <a:rPr lang="en-GB" dirty="0"/>
              <a:t>peak-to-peak amplitude. </a:t>
            </a:r>
          </a:p>
          <a:p>
            <a:r>
              <a:rPr lang="en-GB" b="1" dirty="0"/>
              <a:t>Magnitude</a:t>
            </a:r>
          </a:p>
          <a:p>
            <a:pPr lvl="1"/>
            <a:r>
              <a:rPr lang="en-GB" dirty="0"/>
              <a:t>mean absolute value; </a:t>
            </a:r>
          </a:p>
          <a:p>
            <a:pPr lvl="1"/>
            <a:r>
              <a:rPr lang="en-GB" dirty="0"/>
              <a:t>RMS; </a:t>
            </a:r>
          </a:p>
          <a:p>
            <a:pPr lvl="1"/>
            <a:r>
              <a:rPr lang="en-GB" dirty="0"/>
              <a:t>total energy. 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4B3EC1-044F-094D-AE1E-AEC385BCECA9}"/>
              </a:ext>
            </a:extLst>
          </p:cNvPr>
          <p:cNvSpPr txBox="1"/>
          <p:nvPr/>
        </p:nvSpPr>
        <p:spPr>
          <a:xfrm>
            <a:off x="1364962" y="1402498"/>
            <a:ext cx="7221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 temporal window can be summarized using </a:t>
            </a:r>
            <a:r>
              <a:rPr lang="en-GB" sz="1800" dirty="0">
                <a:highlight>
                  <a:srgbClr val="FFFF00"/>
                </a:highlight>
              </a:rPr>
              <a:t>descriptive statistics</a:t>
            </a:r>
            <a:r>
              <a:rPr lang="en-GB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76824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C65407-1412-4A23-912A-0B4AFC2F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Statistical features over a window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29FB0E-3069-2EE6-EA92-96E970304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2534" y="2160590"/>
            <a:ext cx="4184035" cy="3880772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Distribution shape</a:t>
            </a:r>
          </a:p>
          <a:p>
            <a:pPr lvl="1"/>
            <a:r>
              <a:rPr lang="en-GB" dirty="0"/>
              <a:t>If relevant:</a:t>
            </a:r>
          </a:p>
          <a:p>
            <a:pPr lvl="2"/>
            <a:r>
              <a:rPr lang="en-GB" dirty="0"/>
              <a:t>skewness; </a:t>
            </a:r>
          </a:p>
          <a:p>
            <a:pPr lvl="2"/>
            <a:r>
              <a:rPr lang="en-GB" dirty="0"/>
              <a:t>kurtosis. </a:t>
            </a:r>
          </a:p>
          <a:p>
            <a:r>
              <a:rPr lang="en-GB" b="1" dirty="0"/>
              <a:t>Event-related counts</a:t>
            </a:r>
          </a:p>
          <a:p>
            <a:pPr lvl="1"/>
            <a:r>
              <a:rPr lang="en-GB" b="1" dirty="0"/>
              <a:t>threshold crossings</a:t>
            </a:r>
            <a:r>
              <a:rPr lang="en-GB" dirty="0"/>
              <a:t>; </a:t>
            </a:r>
          </a:p>
          <a:p>
            <a:pPr lvl="1"/>
            <a:r>
              <a:rPr lang="en-GB" b="1" dirty="0"/>
              <a:t>number of peaks; </a:t>
            </a:r>
          </a:p>
          <a:p>
            <a:pPr lvl="1"/>
            <a:r>
              <a:rPr lang="en-GB" dirty="0"/>
              <a:t>fraction of time above a threshold; </a:t>
            </a:r>
          </a:p>
          <a:p>
            <a:pPr lvl="1"/>
            <a:r>
              <a:rPr lang="en-GB" dirty="0"/>
              <a:t>duration in a specified range.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C3338D0-C849-9EB1-A643-85ABB84E8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5668" y="2160589"/>
            <a:ext cx="4184034" cy="3880773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For a vibration signal, two useful features may be:</a:t>
            </a:r>
          </a:p>
          <a:p>
            <a:pPr lvl="1"/>
            <a:r>
              <a:rPr lang="en-GB" dirty="0"/>
              <a:t>RMS vibration</a:t>
            </a:r>
          </a:p>
          <a:p>
            <a:pPr lvl="1"/>
            <a:r>
              <a:rPr lang="en-GB" dirty="0"/>
              <a:t>maximum vibration</a:t>
            </a:r>
          </a:p>
          <a:p>
            <a:r>
              <a:rPr lang="en-GB" dirty="0"/>
              <a:t>For a production process:</a:t>
            </a:r>
          </a:p>
          <a:p>
            <a:pPr lvl="1"/>
            <a:r>
              <a:rPr lang="en-GB" dirty="0"/>
              <a:t>mean pressure</a:t>
            </a:r>
          </a:p>
          <a:p>
            <a:pPr lvl="1"/>
            <a:r>
              <a:rPr lang="en-GB" dirty="0"/>
              <a:t>pressure variability</a:t>
            </a:r>
          </a:p>
          <a:p>
            <a:pPr lvl="1"/>
            <a:r>
              <a:rPr lang="en-GB" dirty="0"/>
              <a:t>time above critical pressure</a:t>
            </a:r>
          </a:p>
          <a:p>
            <a:r>
              <a:rPr lang="en-GB" b="1" dirty="0"/>
              <a:t>Main benefit</a:t>
            </a:r>
          </a:p>
          <a:p>
            <a:r>
              <a:rPr lang="en-GB" dirty="0"/>
              <a:t>A fixed number of features can summarize windows of substantial length.</a:t>
            </a:r>
          </a:p>
          <a:p>
            <a:r>
              <a:rPr lang="en-GB" b="1" dirty="0"/>
              <a:t>Main limitation</a:t>
            </a:r>
          </a:p>
          <a:p>
            <a:r>
              <a:rPr lang="en-GB" dirty="0"/>
              <a:t>Temporal ordering inside the window is largely discarded.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41556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3.C.5 -- Statistical features over a window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Descriptive features summarize level, dispersion, extremes, magnitude and event counts.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85800" y="12344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58952" y="1289304"/>
            <a:ext cx="14538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Location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1600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58952" y="1837944"/>
            <a:ext cx="14538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mean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median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quantiles</a:t>
            </a:r>
            <a:endParaRPr lang="en-US" sz="720" dirty="0"/>
          </a:p>
        </p:txBody>
      </p:sp>
      <p:sp>
        <p:nvSpPr>
          <p:cNvPr id="9" name="Shape 6"/>
          <p:cNvSpPr/>
          <p:nvPr/>
        </p:nvSpPr>
        <p:spPr>
          <a:xfrm>
            <a:off x="2651760" y="12344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724912" y="1289304"/>
            <a:ext cx="14538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Dispersion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651760" y="1783080"/>
            <a:ext cx="1600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724912" y="1837944"/>
            <a:ext cx="14538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std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IQR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range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4617720" y="12344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690872" y="1289304"/>
            <a:ext cx="14538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Extremes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17720" y="1783080"/>
            <a:ext cx="1600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690872" y="1837944"/>
            <a:ext cx="14538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min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max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peak-to-peak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6583680" y="12344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F0E9FF"/>
          </a:solidFill>
          <a:ln w="10160">
            <a:solidFill>
              <a:srgbClr val="8658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656832" y="1289304"/>
            <a:ext cx="14538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Magnitude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583680" y="1783080"/>
            <a:ext cx="1600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8658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656832" y="1837944"/>
            <a:ext cx="14538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RMS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energy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abs value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8549640" y="123444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016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622792" y="1289304"/>
            <a:ext cx="14538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Events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549640" y="1783080"/>
            <a:ext cx="16002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8622792" y="1837944"/>
            <a:ext cx="14538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threshold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crossings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</a:rPr>
              <a:t>time above limit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914400" y="4983480"/>
            <a:ext cx="713232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914400" y="3657600"/>
            <a:ext cx="0" cy="13258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7818120" y="50749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777240" y="349300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x</a:t>
            </a:r>
            <a:endParaRPr lang="en-US" sz="550" dirty="0"/>
          </a:p>
        </p:txBody>
      </p:sp>
      <p:sp>
        <p:nvSpPr>
          <p:cNvPr id="29" name="Shape 26"/>
          <p:cNvSpPr/>
          <p:nvPr/>
        </p:nvSpPr>
        <p:spPr>
          <a:xfrm flipV="1">
            <a:off x="1051560" y="4693485"/>
            <a:ext cx="615141" cy="107115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1666702" y="4656909"/>
            <a:ext cx="615142" cy="95794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 flipV="1">
            <a:off x="2281843" y="4572001"/>
            <a:ext cx="651715" cy="180702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2896985" y="4561114"/>
            <a:ext cx="615142" cy="47897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 flipV="1">
            <a:off x="3512127" y="3794760"/>
            <a:ext cx="627362" cy="814251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4127269" y="3794760"/>
            <a:ext cx="615142" cy="718457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4742411" y="4513217"/>
            <a:ext cx="615142" cy="143691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 flipV="1">
            <a:off x="5357553" y="4597690"/>
            <a:ext cx="615142" cy="59219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5972695" y="4561114"/>
            <a:ext cx="615142" cy="143691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 flipV="1">
            <a:off x="6587836" y="4197095"/>
            <a:ext cx="590790" cy="507711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7202978" y="4177937"/>
            <a:ext cx="615142" cy="431074"/>
          </a:xfrm>
          <a:prstGeom prst="line">
            <a:avLst/>
          </a:prstGeom>
          <a:noFill/>
          <a:ln w="1905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1014984" y="476402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1630126" y="4620333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2245268" y="4716127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2860409" y="4524538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3475551" y="4572435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4090693" y="375818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4705835" y="4476641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5320977" y="4620333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5936119" y="4524538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6551260" y="4668230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7166402" y="4141361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7781544" y="4572435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1051560" y="4069080"/>
            <a:ext cx="6766560" cy="0"/>
          </a:xfrm>
          <a:prstGeom prst="line">
            <a:avLst/>
          </a:prstGeom>
          <a:noFill/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7909560" y="397764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39C12"/>
                </a:solidFill>
              </a:rPr>
              <a:t>threshold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2194560" y="539496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2"/>
          <p:cNvSpPr/>
          <p:nvPr/>
        </p:nvSpPr>
        <p:spPr>
          <a:xfrm>
            <a:off x="2267712" y="5449824"/>
            <a:ext cx="52486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Feature vector = [mean, std, max, RMS, crossings, ...]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Statistical summaries are compact, but they discard much of the within-window order</a:t>
            </a:r>
            <a:r>
              <a:rPr lang="en-US" sz="620" dirty="0">
                <a:solidFill>
                  <a:srgbClr val="666666"/>
                </a:solidFill>
              </a:rPr>
              <a:t>.</a:t>
            </a:r>
            <a:endParaRPr lang="en-US" sz="62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ACBE07-FB03-EB2E-7624-95E868F2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Trend features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EA8D82-0E62-F106-3299-AB260C36E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A window may contain a systematic increase or decrease.</a:t>
            </a:r>
          </a:p>
          <a:p>
            <a:r>
              <a:rPr lang="en-GB" dirty="0"/>
              <a:t>Useful trend descriptors include:</a:t>
            </a:r>
          </a:p>
          <a:p>
            <a:pPr lvl="1"/>
            <a:r>
              <a:rPr lang="en-GB" dirty="0"/>
              <a:t>difference between first and last value; </a:t>
            </a:r>
          </a:p>
          <a:p>
            <a:pPr lvl="1"/>
            <a:r>
              <a:rPr lang="en-GB" dirty="0"/>
              <a:t>average derivative; </a:t>
            </a:r>
          </a:p>
          <a:p>
            <a:pPr lvl="1"/>
            <a:r>
              <a:rPr lang="en-GB" dirty="0"/>
              <a:t>slope of a fitted straight line; </a:t>
            </a:r>
          </a:p>
          <a:p>
            <a:pPr lvl="1"/>
            <a:r>
              <a:rPr lang="en-GB" dirty="0"/>
              <a:t>ratio between recent and earlier averages. </a:t>
            </a:r>
          </a:p>
          <a:p>
            <a:r>
              <a:rPr lang="en-GB" b="1" dirty="0"/>
              <a:t>Simple endpoint change</a:t>
            </a:r>
          </a:p>
          <a:p>
            <a:r>
              <a:rPr lang="en-GB" dirty="0"/>
              <a:t>trend feature = last value − first value</a:t>
            </a:r>
          </a:p>
          <a:p>
            <a:r>
              <a:rPr lang="en-GB" b="1" dirty="0"/>
              <a:t>Linear trend</a:t>
            </a:r>
          </a:p>
          <a:p>
            <a:pPr lvl="1"/>
            <a:r>
              <a:rPr lang="en-GB" dirty="0"/>
              <a:t>Fit a straight line across the window: value ≈ intercept + slope × time</a:t>
            </a:r>
          </a:p>
          <a:p>
            <a:pPr lvl="1"/>
            <a:r>
              <a:rPr lang="en-GB" dirty="0"/>
              <a:t>The estimated slope becomes a feature.</a:t>
            </a:r>
          </a:p>
          <a:p>
            <a:r>
              <a:rPr lang="en-GB" b="1" dirty="0"/>
              <a:t>Interpretation</a:t>
            </a:r>
          </a:p>
          <a:p>
            <a:pPr lvl="1"/>
            <a:r>
              <a:rPr lang="en-GB" dirty="0"/>
              <a:t>slope &gt; 0  → increasing trend</a:t>
            </a:r>
          </a:p>
          <a:p>
            <a:pPr lvl="1"/>
            <a:r>
              <a:rPr lang="en-GB" dirty="0"/>
              <a:t>slope ≈ 0  → approximately stable</a:t>
            </a:r>
          </a:p>
          <a:p>
            <a:pPr lvl="1"/>
            <a:r>
              <a:rPr lang="en-GB" dirty="0"/>
              <a:t>slope &lt; 0  → decreasing trend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E574141-4456-2004-08DD-13F88C9126E5}"/>
              </a:ext>
            </a:extLst>
          </p:cNvPr>
          <p:cNvSpPr txBox="1"/>
          <p:nvPr/>
        </p:nvSpPr>
        <p:spPr>
          <a:xfrm>
            <a:off x="5413586" y="5449821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Example</a:t>
            </a:r>
          </a:p>
          <a:p>
            <a:r>
              <a:rPr lang="en-GB" sz="1800" dirty="0"/>
              <a:t>In predictive maintenance, a slowly increasing trend may be more informative than the absolute signal level.</a:t>
            </a:r>
          </a:p>
        </p:txBody>
      </p:sp>
    </p:spTree>
    <p:extLst>
      <p:ext uri="{BB962C8B-B14F-4D97-AF65-F5344CB8AC3E}">
        <p14:creationId xmlns:p14="http://schemas.microsoft.com/office/powerpoint/2010/main" val="42297125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A9404E-19B1-B60A-881A-43EDE036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highlight>
                  <a:srgbClr val="FFFF00"/>
                </a:highlight>
              </a:rPr>
              <a:t>Multi-scale</a:t>
            </a:r>
            <a:r>
              <a:rPr lang="en-GB" b="1" dirty="0"/>
              <a:t> trend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FCEBCD-86AC-8FF8-6BF7-59474344C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Different window sizes may describe:</a:t>
            </a:r>
          </a:p>
          <a:p>
            <a:pPr lvl="1"/>
            <a:r>
              <a:rPr lang="en-GB" dirty="0"/>
              <a:t>very recent evolution; </a:t>
            </a:r>
          </a:p>
          <a:p>
            <a:pPr lvl="1"/>
            <a:r>
              <a:rPr lang="en-GB" dirty="0"/>
              <a:t>medium-term evolution; </a:t>
            </a:r>
          </a:p>
          <a:p>
            <a:pPr lvl="1"/>
            <a:r>
              <a:rPr lang="en-GB" dirty="0"/>
              <a:t>long-term evolution. </a:t>
            </a:r>
          </a:p>
          <a:p>
            <a:r>
              <a:rPr lang="en-GB" dirty="0"/>
              <a:t>This motivates rolling features computed at several temporal scales.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02850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3.C.6 -- Trend features and slope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A trend feature describes systematic increase or decrease across the window.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868680" y="3977640"/>
            <a:ext cx="530352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868680" y="1143000"/>
            <a:ext cx="0" cy="28346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5943600" y="40690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731520" y="97840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value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 flipV="1">
            <a:off x="1005840" y="3566160"/>
            <a:ext cx="692329" cy="91440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 flipV="1">
            <a:off x="1698172" y="3097530"/>
            <a:ext cx="655756" cy="420053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 flipV="1">
            <a:off x="2390504" y="3024378"/>
            <a:ext cx="692330" cy="73152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 flipV="1">
            <a:off x="3082835" y="2537460"/>
            <a:ext cx="692330" cy="490061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 flipV="1">
            <a:off x="3775167" y="2115121"/>
            <a:ext cx="692330" cy="422339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 flipV="1">
            <a:off x="4467498" y="1859089"/>
            <a:ext cx="692330" cy="258319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 flipV="1">
            <a:off x="5159830" y="1453896"/>
            <a:ext cx="692330" cy="383477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969264" y="362102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661595" y="3481007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2353927" y="306095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3046258" y="2990945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738590" y="250088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4430921" y="2080831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5123253" y="1800797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5815584" y="138074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 flipV="1">
            <a:off x="1042416" y="1575053"/>
            <a:ext cx="4846305" cy="2146553"/>
          </a:xfrm>
          <a:prstGeom prst="line">
            <a:avLst/>
          </a:prstGeom>
          <a:noFill/>
          <a:ln w="2032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227820" y="1974533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94444"/>
                </a:solidFill>
              </a:rPr>
              <a:t>fitted slope &gt; 0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812280" y="1234440"/>
            <a:ext cx="2651760" cy="731520"/>
          </a:xfrm>
          <a:prstGeom prst="roundRect">
            <a:avLst>
              <a:gd name="adj" fmla="val 6250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885432" y="1289304"/>
            <a:ext cx="25054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Endpoint change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last value - first value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812280" y="2148840"/>
            <a:ext cx="2651760" cy="731520"/>
          </a:xfrm>
          <a:prstGeom prst="roundRect">
            <a:avLst>
              <a:gd name="adj" fmla="val 6250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885432" y="2203704"/>
            <a:ext cx="25054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Linear trend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value = intercept + slope x time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812280" y="3063240"/>
            <a:ext cx="2651760" cy="731520"/>
          </a:xfrm>
          <a:prstGeom prst="roundRect">
            <a:avLst>
              <a:gd name="adj" fmla="val 6250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6885432" y="3118104"/>
            <a:ext cx="25054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Multi-scale trend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recent / medium / long windows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In predictive maintenance, a slow trend can be more informative than the absolute signal level.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245248-259B-9B50-8A66-237AEA81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Rolling features and multiple temporal scales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6A6A08-100A-85A1-C027-98878D52E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At prediction time t, features may be computed over different recent intervals.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mean over last 5 values</a:t>
            </a:r>
          </a:p>
          <a:p>
            <a:pPr lvl="1"/>
            <a:r>
              <a:rPr lang="en-GB" dirty="0"/>
              <a:t>mean over last 20 values</a:t>
            </a:r>
          </a:p>
          <a:p>
            <a:pPr lvl="1"/>
            <a:r>
              <a:rPr lang="en-GB" dirty="0"/>
              <a:t>mean over last 100 values</a:t>
            </a:r>
          </a:p>
          <a:p>
            <a:r>
              <a:rPr lang="en-GB" dirty="0"/>
              <a:t>Similarly:</a:t>
            </a:r>
          </a:p>
          <a:p>
            <a:pPr lvl="1"/>
            <a:r>
              <a:rPr lang="en-GB" dirty="0"/>
              <a:t>std over last 10 values</a:t>
            </a:r>
          </a:p>
          <a:p>
            <a:pPr lvl="1"/>
            <a:r>
              <a:rPr lang="en-GB" dirty="0"/>
              <a:t>maximum over last 50 values</a:t>
            </a:r>
          </a:p>
          <a:p>
            <a:pPr lvl="1"/>
            <a:r>
              <a:rPr lang="en-GB" dirty="0"/>
              <a:t>slope over last 30 values</a:t>
            </a:r>
          </a:p>
          <a:p>
            <a:r>
              <a:rPr lang="en-GB" b="1" dirty="0"/>
              <a:t>Why use multiple scales? </a:t>
            </a:r>
            <a:r>
              <a:rPr lang="en-GB" dirty="0"/>
              <a:t>Different phenomena operate over different durations.</a:t>
            </a:r>
          </a:p>
          <a:p>
            <a:r>
              <a:rPr lang="en-GB" dirty="0"/>
              <a:t>For example:</a:t>
            </a:r>
          </a:p>
          <a:p>
            <a:pPr lvl="1"/>
            <a:r>
              <a:rPr lang="en-GB" dirty="0"/>
              <a:t>short window → transient behaviour; </a:t>
            </a:r>
          </a:p>
          <a:p>
            <a:pPr lvl="1"/>
            <a:r>
              <a:rPr lang="en-GB" dirty="0"/>
              <a:t>medium window → local operating regime; </a:t>
            </a:r>
          </a:p>
          <a:p>
            <a:pPr lvl="1"/>
            <a:r>
              <a:rPr lang="en-GB" dirty="0"/>
              <a:t>long window → slow trend.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0448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D1FDD8-1338-0228-27C0-6B903CF74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2AE1A4-4299-4B46-0761-2D46C2A48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Useful derived feature</a:t>
            </a:r>
          </a:p>
          <a:p>
            <a:r>
              <a:rPr lang="en-GB" dirty="0"/>
              <a:t>Difference between short- and long-term averages: recent mean − long-term mean</a:t>
            </a:r>
          </a:p>
          <a:p>
            <a:r>
              <a:rPr lang="en-GB" dirty="0"/>
              <a:t>This can detect:</a:t>
            </a:r>
          </a:p>
          <a:p>
            <a:pPr lvl="1"/>
            <a:r>
              <a:rPr lang="en-GB" dirty="0"/>
              <a:t>acceleration; </a:t>
            </a:r>
          </a:p>
          <a:p>
            <a:pPr lvl="1"/>
            <a:r>
              <a:rPr lang="en-GB" dirty="0"/>
              <a:t>trend shifts; </a:t>
            </a:r>
          </a:p>
          <a:p>
            <a:pPr lvl="1"/>
            <a:r>
              <a:rPr lang="en-GB" dirty="0"/>
              <a:t>departures from baseline. </a:t>
            </a:r>
          </a:p>
          <a:p>
            <a:endParaRPr lang="en-GB" b="1" dirty="0"/>
          </a:p>
          <a:p>
            <a:r>
              <a:rPr lang="en-GB" b="1" dirty="0"/>
              <a:t>Causality constraint (as the usual)</a:t>
            </a:r>
          </a:p>
          <a:p>
            <a:pPr lvl="1"/>
            <a:r>
              <a:rPr lang="en-GB" b="1" dirty="0"/>
              <a:t>For online prediction</a:t>
            </a:r>
            <a:r>
              <a:rPr lang="en-GB" dirty="0"/>
              <a:t>, every rolling feature at time t must use only observations available at or before t.</a:t>
            </a:r>
          </a:p>
          <a:p>
            <a:pPr lvl="1"/>
            <a:r>
              <a:rPr lang="en-GB" dirty="0"/>
              <a:t>Valid: x[t−L+1], ..., x[t]</a:t>
            </a:r>
          </a:p>
          <a:p>
            <a:pPr lvl="1"/>
            <a:r>
              <a:rPr lang="en-GB" dirty="0"/>
              <a:t>Invalid: values before and after t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53689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3.C.7 -- Rolling features at multiple temporal scales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Different window lengths capture transient, local-regime and long-term behaviour.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85800" y="3520440"/>
            <a:ext cx="859536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85800" y="960120"/>
            <a:ext cx="0" cy="256032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9052560" y="36118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548640" y="79552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x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 flipV="1">
            <a:off x="822960" y="2971800"/>
            <a:ext cx="428323" cy="274320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251284" y="2983230"/>
            <a:ext cx="428324" cy="262890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 flipV="1">
            <a:off x="1679608" y="3035808"/>
            <a:ext cx="464900" cy="210312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 flipV="1">
            <a:off x="2107933" y="2838641"/>
            <a:ext cx="391746" cy="210312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 flipV="1">
            <a:off x="2536257" y="2451735"/>
            <a:ext cx="428323" cy="400050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 flipV="1">
            <a:off x="2964581" y="1925954"/>
            <a:ext cx="391743" cy="531496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 flipV="1">
            <a:off x="3392905" y="1407032"/>
            <a:ext cx="428320" cy="524638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821229" y="1405890"/>
            <a:ext cx="428324" cy="394335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249554" y="1800225"/>
            <a:ext cx="428324" cy="394335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677878" y="2194560"/>
            <a:ext cx="428324" cy="262890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106202" y="2457450"/>
            <a:ext cx="428324" cy="131445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534526" y="2588895"/>
            <a:ext cx="428324" cy="65723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962851" y="2654618"/>
            <a:ext cx="428324" cy="65722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 flipV="1">
            <a:off x="6391175" y="2683764"/>
            <a:ext cx="428323" cy="36576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 flipV="1">
            <a:off x="6819499" y="2566036"/>
            <a:ext cx="428322" cy="128015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 flipV="1">
            <a:off x="7247823" y="2362581"/>
            <a:ext cx="391742" cy="226314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 flipV="1">
            <a:off x="7676147" y="1695069"/>
            <a:ext cx="428320" cy="630936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 flipV="1">
            <a:off x="8104472" y="1301877"/>
            <a:ext cx="391734" cy="366903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 flipV="1">
            <a:off x="8532796" y="1192149"/>
            <a:ext cx="391746" cy="82296"/>
          </a:xfrm>
          <a:prstGeom prst="line">
            <a:avLst/>
          </a:prstGeom>
          <a:noFill/>
          <a:ln w="1651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786384" y="320954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1214708" y="294665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1643032" y="320954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2071357" y="3012377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2499681" y="2815209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2928005" y="242087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3356329" y="189509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3784653" y="136931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4212978" y="1763649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4641302" y="215798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5069626" y="242087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5497950" y="2552319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5926275" y="2618042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6354599" y="268376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6782923" y="2657475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7211247" y="2552319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7639571" y="2289429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8067896" y="163220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8496220" y="1237869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8924544" y="110642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7955280" y="4206240"/>
            <a:ext cx="1005840" cy="228600"/>
          </a:xfrm>
          <a:prstGeom prst="rect">
            <a:avLst/>
          </a:prstGeom>
          <a:solidFill>
            <a:srgbClr val="F39C12">
              <a:alpha val="80000"/>
            </a:srgbClr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9070848" y="4224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39C12"/>
                </a:solidFill>
              </a:rPr>
              <a:t>last 5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6903720" y="4617720"/>
            <a:ext cx="2057400" cy="228600"/>
          </a:xfrm>
          <a:prstGeom prst="rect">
            <a:avLst/>
          </a:prstGeom>
          <a:solidFill>
            <a:srgbClr val="4F8A2A">
              <a:alpha val="80000"/>
            </a:srgbClr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9070848" y="46360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4F8A2A"/>
                </a:solidFill>
              </a:rPr>
              <a:t>last 20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5074920" y="5029200"/>
            <a:ext cx="3886200" cy="228600"/>
          </a:xfrm>
          <a:prstGeom prst="rect">
            <a:avLst/>
          </a:prstGeom>
          <a:solidFill>
            <a:srgbClr val="8658D6">
              <a:alpha val="80000"/>
            </a:srgbClr>
          </a:solidFill>
          <a:ln w="10160">
            <a:solidFill>
              <a:srgbClr val="8658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9070848" y="50474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658D6"/>
                </a:solidFill>
              </a:rPr>
              <a:t>last 100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868680" y="5257800"/>
            <a:ext cx="2926080" cy="594360"/>
          </a:xfrm>
          <a:prstGeom prst="roundRect">
            <a:avLst>
              <a:gd name="adj" fmla="val 7692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2"/>
          <p:cNvSpPr/>
          <p:nvPr/>
        </p:nvSpPr>
        <p:spPr>
          <a:xfrm>
            <a:off x="941832" y="5312664"/>
            <a:ext cx="27797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Example feature: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short-term mean - long-term mean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251960" y="5257800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4325112" y="5312664"/>
            <a:ext cx="35112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Causal support: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use only values at or before prediction time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8961120" y="868680"/>
            <a:ext cx="0" cy="4023360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6"/>
          <p:cNvSpPr/>
          <p:nvPr/>
        </p:nvSpPr>
        <p:spPr>
          <a:xfrm>
            <a:off x="9006840" y="777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D94444"/>
                </a:solidFill>
              </a:rPr>
              <a:t>prediction</a:t>
            </a:r>
            <a:endParaRPr lang="en-US" sz="650" dirty="0"/>
          </a:p>
          <a:p>
            <a:pPr marL="0" indent="0" algn="l">
              <a:buNone/>
            </a:pPr>
            <a:r>
              <a:rPr lang="en-US" sz="650" b="1" dirty="0">
                <a:solidFill>
                  <a:srgbClr val="D94444"/>
                </a:solidFill>
              </a:rPr>
              <a:t>time</a:t>
            </a:r>
            <a:endParaRPr lang="en-US" sz="650" dirty="0"/>
          </a:p>
        </p:txBody>
      </p:sp>
      <p:sp>
        <p:nvSpPr>
          <p:cNvPr id="60" name="Text 57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 rolling feature is defined by both the statistic and its temporal support.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FD53EF-E2EF-2A18-E412-E00F0C8D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Autocorrelation: repeated patterns within one signal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C0248D-183E-46EE-40B8-012FD000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Autocorrelation measures how similar a time series is to a delayed version of itself.</a:t>
            </a:r>
          </a:p>
          <a:p>
            <a:r>
              <a:rPr lang="en-GB" dirty="0"/>
              <a:t>Conceptually, compare: x[t] with: x[t−k] where k is the lag.</a:t>
            </a:r>
          </a:p>
          <a:p>
            <a:r>
              <a:rPr lang="en-GB" b="1" dirty="0"/>
              <a:t>High positive autocorrelation at lag k</a:t>
            </a:r>
          </a:p>
          <a:p>
            <a:r>
              <a:rPr lang="en-GB" dirty="0"/>
              <a:t>Means: values separated by k time steps tend to be similar.</a:t>
            </a:r>
          </a:p>
          <a:p>
            <a:r>
              <a:rPr lang="en-GB" b="1" dirty="0"/>
              <a:t>Why is this useful?</a:t>
            </a:r>
          </a:p>
          <a:p>
            <a:r>
              <a:rPr lang="en-GB" dirty="0"/>
              <a:t>Autocorrelation can reveal:</a:t>
            </a:r>
          </a:p>
          <a:p>
            <a:pPr lvl="1"/>
            <a:r>
              <a:rPr lang="en-GB" dirty="0"/>
              <a:t>persistence; </a:t>
            </a:r>
          </a:p>
          <a:p>
            <a:pPr lvl="1"/>
            <a:r>
              <a:rPr lang="en-GB" dirty="0"/>
              <a:t>periodicity; </a:t>
            </a:r>
          </a:p>
          <a:p>
            <a:pPr lvl="1"/>
            <a:r>
              <a:rPr lang="en-GB" dirty="0"/>
              <a:t>repeated cycles; </a:t>
            </a:r>
          </a:p>
          <a:p>
            <a:pPr lvl="1"/>
            <a:r>
              <a:rPr lang="en-GB" dirty="0"/>
              <a:t>characteristic temporal scales.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9314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B4ED8B-8422-166C-D147-6F9C27CE5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Autocorrelation: repeated patterns within one signal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C51B77-751F-40FF-A96D-B9D82B1BA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Daily observations with weekly repetition may show strong autocorrelation around: lag = 7</a:t>
            </a:r>
          </a:p>
          <a:p>
            <a:r>
              <a:rPr lang="en-GB" dirty="0"/>
              <a:t>Hourly observations with daily repetition may show strong autocorrelation around: lag = 24</a:t>
            </a:r>
          </a:p>
          <a:p>
            <a:r>
              <a:rPr lang="en-GB" b="1" dirty="0"/>
              <a:t>Possible use as features</a:t>
            </a:r>
          </a:p>
          <a:p>
            <a:pPr lvl="1"/>
            <a:r>
              <a:rPr lang="en-GB" dirty="0"/>
              <a:t>autocorrelation at selected lags; </a:t>
            </a:r>
          </a:p>
          <a:p>
            <a:pPr lvl="1"/>
            <a:r>
              <a:rPr lang="en-GB" dirty="0"/>
              <a:t>lag of strongest autocorrelation; </a:t>
            </a:r>
          </a:p>
          <a:p>
            <a:pPr lvl="1"/>
            <a:r>
              <a:rPr lang="en-GB" dirty="0"/>
              <a:t>average autocorrelation over a lag range. </a:t>
            </a:r>
          </a:p>
          <a:p>
            <a:endParaRPr lang="en-GB" dirty="0"/>
          </a:p>
          <a:p>
            <a:r>
              <a:rPr lang="en-GB" b="1" dirty="0"/>
              <a:t>Caution. </a:t>
            </a:r>
            <a:r>
              <a:rPr lang="en-GB" dirty="0"/>
              <a:t>Autocorrelation is descriptive. A peak does not necessarily imply a causal relationship.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48718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576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3.C.8 -- Autocorrelation reveals repeated patterns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Similarity between a signal and delayed versions of itself can reveal periodicity.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85800" y="2971800"/>
            <a:ext cx="457200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85800" y="960120"/>
            <a:ext cx="0" cy="20116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5029200" y="30632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548640" y="79552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x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 flipV="1">
            <a:off x="822960" y="1368689"/>
            <a:ext cx="102871" cy="574411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929640" y="1350402"/>
            <a:ext cx="106680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036320" y="1326973"/>
            <a:ext cx="106680" cy="11541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143000" y="1442388"/>
            <a:ext cx="106680" cy="40872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249680" y="1851113"/>
            <a:ext cx="106680" cy="68468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356360" y="2535798"/>
            <a:ext cx="106680" cy="11541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 flipV="1">
            <a:off x="1463040" y="2389895"/>
            <a:ext cx="106680" cy="261318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 flipV="1">
            <a:off x="1569720" y="2090507"/>
            <a:ext cx="106680" cy="261318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 flipV="1">
            <a:off x="1676400" y="1442388"/>
            <a:ext cx="121920" cy="654497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 flipV="1">
            <a:off x="1783080" y="1167521"/>
            <a:ext cx="114300" cy="274867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1889760" y="1143000"/>
            <a:ext cx="106680" cy="39137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1996440" y="1534375"/>
            <a:ext cx="106680" cy="40872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2103120" y="1943100"/>
            <a:ext cx="106680" cy="40872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2209800" y="2351825"/>
            <a:ext cx="106680" cy="39137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 flipV="1">
            <a:off x="2316480" y="2487168"/>
            <a:ext cx="118110" cy="25603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 flipV="1">
            <a:off x="2423160" y="1851113"/>
            <a:ext cx="137160" cy="592699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 flipV="1">
            <a:off x="2529840" y="1534375"/>
            <a:ext cx="91440" cy="316738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 flipV="1">
            <a:off x="2636520" y="1259508"/>
            <a:ext cx="83820" cy="274867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2743200" y="1234987"/>
            <a:ext cx="106680" cy="11541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2849880" y="1350402"/>
            <a:ext cx="106680" cy="68468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2956560" y="2035087"/>
            <a:ext cx="106680" cy="40872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3063240" y="2443812"/>
            <a:ext cx="106680" cy="11541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3169920" y="2559227"/>
            <a:ext cx="106680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 flipV="1">
            <a:off x="3276600" y="1970374"/>
            <a:ext cx="121920" cy="56542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 flipV="1">
            <a:off x="3383279" y="1943100"/>
            <a:ext cx="106681" cy="5070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 flipV="1">
            <a:off x="3474720" y="1350401"/>
            <a:ext cx="121920" cy="619973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3596640" y="1326973"/>
            <a:ext cx="106680" cy="11541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3703320" y="1442388"/>
            <a:ext cx="106680" cy="40872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3810000" y="1851113"/>
            <a:ext cx="106680" cy="68468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3916680" y="2535798"/>
            <a:ext cx="106680" cy="11541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 flipV="1">
            <a:off x="4023360" y="2351825"/>
            <a:ext cx="118110" cy="299388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 flipV="1">
            <a:off x="4130040" y="2035087"/>
            <a:ext cx="106680" cy="316738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 flipV="1">
            <a:off x="4236719" y="1442388"/>
            <a:ext cx="140969" cy="592699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 flipV="1">
            <a:off x="4343400" y="1234987"/>
            <a:ext cx="106679" cy="207401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4450080" y="1143000"/>
            <a:ext cx="106680" cy="39137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4556760" y="1534375"/>
            <a:ext cx="106680" cy="40872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4663440" y="1943100"/>
            <a:ext cx="106680" cy="40872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4770120" y="2351825"/>
            <a:ext cx="106680" cy="391375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4876800" y="2743200"/>
            <a:ext cx="106680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2286000" y="3063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73B8"/>
                </a:solidFill>
              </a:rPr>
              <a:t>periodic signal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5806440" y="2971800"/>
            <a:ext cx="420624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5806440" y="960120"/>
            <a:ext cx="0" cy="20116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9784080" y="30632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lag</a:t>
            </a:r>
            <a:endParaRPr lang="en-US" sz="550" dirty="0"/>
          </a:p>
        </p:txBody>
      </p:sp>
      <p:sp>
        <p:nvSpPr>
          <p:cNvPr id="52" name="Text 49"/>
          <p:cNvSpPr/>
          <p:nvPr/>
        </p:nvSpPr>
        <p:spPr>
          <a:xfrm>
            <a:off x="5669280" y="79552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corr</a:t>
            </a:r>
            <a:endParaRPr lang="en-US" sz="550" dirty="0"/>
          </a:p>
        </p:txBody>
      </p:sp>
      <p:sp>
        <p:nvSpPr>
          <p:cNvPr id="53" name="Shape 50"/>
          <p:cNvSpPr/>
          <p:nvPr/>
        </p:nvSpPr>
        <p:spPr>
          <a:xfrm>
            <a:off x="5943600" y="1143000"/>
            <a:ext cx="161925" cy="283009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6105525" y="1426009"/>
            <a:ext cx="161925" cy="589628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6267450" y="2015637"/>
            <a:ext cx="161925" cy="538389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6429375" y="2554026"/>
            <a:ext cx="161925" cy="189174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6591300" y="2743200"/>
            <a:ext cx="16192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 flipV="1">
            <a:off x="6736081" y="2507239"/>
            <a:ext cx="179069" cy="263383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 flipV="1">
            <a:off x="6915150" y="2015636"/>
            <a:ext cx="161926" cy="491601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 flipV="1">
            <a:off x="7056122" y="1480693"/>
            <a:ext cx="161924" cy="589629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7239000" y="1409029"/>
            <a:ext cx="161925" cy="196732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7400925" y="1605761"/>
            <a:ext cx="161925" cy="409876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7562850" y="2015637"/>
            <a:ext cx="161925" cy="374258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7724775" y="2389895"/>
            <a:ext cx="161925" cy="131503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 flipV="1">
            <a:off x="7886701" y="2351825"/>
            <a:ext cx="161924" cy="169573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3"/>
          <p:cNvSpPr/>
          <p:nvPr/>
        </p:nvSpPr>
        <p:spPr>
          <a:xfrm flipV="1">
            <a:off x="8048626" y="1993802"/>
            <a:ext cx="161924" cy="36357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 flipV="1">
            <a:off x="8210551" y="1737769"/>
            <a:ext cx="161915" cy="277867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 flipV="1">
            <a:off x="8372476" y="1632998"/>
            <a:ext cx="161914" cy="7060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8534400" y="1593957"/>
            <a:ext cx="161925" cy="136757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8696325" y="1730714"/>
            <a:ext cx="161925" cy="284923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8"/>
          <p:cNvSpPr/>
          <p:nvPr/>
        </p:nvSpPr>
        <p:spPr>
          <a:xfrm>
            <a:off x="8858250" y="2015637"/>
            <a:ext cx="161925" cy="260163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69"/>
          <p:cNvSpPr/>
          <p:nvPr/>
        </p:nvSpPr>
        <p:spPr>
          <a:xfrm>
            <a:off x="9020175" y="2275800"/>
            <a:ext cx="161925" cy="91414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 flipV="1">
            <a:off x="9182100" y="2253192"/>
            <a:ext cx="175259" cy="114022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 flipV="1">
            <a:off x="9344025" y="2035087"/>
            <a:ext cx="175259" cy="21810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 flipV="1">
            <a:off x="9505950" y="1797532"/>
            <a:ext cx="175259" cy="21810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 flipV="1">
            <a:off x="9667876" y="1593957"/>
            <a:ext cx="116204" cy="204768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>
            <a:off x="7239000" y="960120"/>
            <a:ext cx="0" cy="2011680"/>
          </a:xfrm>
          <a:prstGeom prst="line">
            <a:avLst/>
          </a:prstGeom>
          <a:noFill/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5"/>
          <p:cNvSpPr/>
          <p:nvPr/>
        </p:nvSpPr>
        <p:spPr>
          <a:xfrm>
            <a:off x="7010400" y="306324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F39C12"/>
                </a:solidFill>
              </a:rPr>
              <a:t>lag 8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534400" y="960120"/>
            <a:ext cx="0" cy="2011680"/>
          </a:xfrm>
          <a:prstGeom prst="line">
            <a:avLst/>
          </a:prstGeom>
          <a:noFill/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/>
          <p:nvPr/>
        </p:nvSpPr>
        <p:spPr>
          <a:xfrm>
            <a:off x="8305800" y="306324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F39C12"/>
                </a:solidFill>
              </a:rPr>
              <a:t>lag 16</a:t>
            </a:r>
            <a:endParaRPr lang="en-US" sz="570" dirty="0"/>
          </a:p>
        </p:txBody>
      </p:sp>
      <p:sp>
        <p:nvSpPr>
          <p:cNvPr id="81" name="Shape 78"/>
          <p:cNvSpPr/>
          <p:nvPr/>
        </p:nvSpPr>
        <p:spPr>
          <a:xfrm>
            <a:off x="9829800" y="960120"/>
            <a:ext cx="0" cy="2011680"/>
          </a:xfrm>
          <a:prstGeom prst="line">
            <a:avLst/>
          </a:prstGeom>
          <a:noFill/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9"/>
          <p:cNvSpPr/>
          <p:nvPr/>
        </p:nvSpPr>
        <p:spPr>
          <a:xfrm>
            <a:off x="9601200" y="306324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F39C12"/>
                </a:solidFill>
              </a:rPr>
              <a:t>lag 24</a:t>
            </a:r>
            <a:endParaRPr lang="en-US" sz="570" dirty="0"/>
          </a:p>
        </p:txBody>
      </p:sp>
      <p:sp>
        <p:nvSpPr>
          <p:cNvPr id="83" name="Shape 80"/>
          <p:cNvSpPr/>
          <p:nvPr/>
        </p:nvSpPr>
        <p:spPr>
          <a:xfrm>
            <a:off x="2926080" y="4572000"/>
            <a:ext cx="4297680" cy="502920"/>
          </a:xfrm>
          <a:prstGeom prst="roundRect">
            <a:avLst>
              <a:gd name="adj" fmla="val 9091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/>
          <p:nvPr/>
        </p:nvSpPr>
        <p:spPr>
          <a:xfrm>
            <a:off x="2999232" y="4626864"/>
            <a:ext cx="41513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Peaks at repeated lags indicate a characteristic temporal cycle.</a:t>
            </a:r>
            <a:endParaRPr lang="en-US" sz="850" dirty="0"/>
          </a:p>
        </p:txBody>
      </p:sp>
      <p:sp>
        <p:nvSpPr>
          <p:cNvPr id="85" name="Text 82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Autocorrelation is descriptive: it does not establish causality.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20F22D-01E5-4880-C8A9-4307A6F1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Cross-correlation: delayed relationships between variables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A3791D-B20F-CFB7-2ED4-DCA51D926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With multivariate series, one variable may anticipate another.</a:t>
            </a:r>
          </a:p>
          <a:p>
            <a:r>
              <a:rPr lang="en-GB" dirty="0"/>
              <a:t>Suppose we observe:</a:t>
            </a:r>
          </a:p>
          <a:p>
            <a:pPr lvl="1"/>
            <a:r>
              <a:rPr lang="en-GB" dirty="0"/>
              <a:t>motor current; </a:t>
            </a:r>
          </a:p>
          <a:p>
            <a:pPr lvl="1"/>
            <a:r>
              <a:rPr lang="en-GB" dirty="0"/>
              <a:t>temperature. </a:t>
            </a:r>
          </a:p>
          <a:p>
            <a:r>
              <a:rPr lang="en-GB" dirty="0"/>
              <a:t>A current increase may be followed several seconds later by a temperature increase.</a:t>
            </a:r>
          </a:p>
          <a:p>
            <a:r>
              <a:rPr lang="en-GB" b="1" dirty="0"/>
              <a:t>Cross-correlation asks</a:t>
            </a:r>
          </a:p>
          <a:p>
            <a:r>
              <a:rPr lang="en-GB" dirty="0"/>
              <a:t>How similar are two variables when one is shifted relative to the other?</a:t>
            </a:r>
          </a:p>
          <a:p>
            <a:r>
              <a:rPr lang="en-GB" dirty="0"/>
              <a:t>Conceptually compare:</a:t>
            </a:r>
          </a:p>
          <a:p>
            <a:pPr lvl="1"/>
            <a:r>
              <a:rPr lang="en-GB" dirty="0"/>
              <a:t>current[t]</a:t>
            </a:r>
          </a:p>
          <a:p>
            <a:pPr lvl="1"/>
            <a:r>
              <a:rPr lang="en-GB" dirty="0"/>
              <a:t>with:</a:t>
            </a:r>
          </a:p>
          <a:p>
            <a:pPr lvl="1"/>
            <a:r>
              <a:rPr lang="en-GB" dirty="0"/>
              <a:t>temperature[</a:t>
            </a:r>
            <a:r>
              <a:rPr lang="en-GB" dirty="0" err="1"/>
              <a:t>t+k</a:t>
            </a:r>
            <a:r>
              <a:rPr lang="en-GB" dirty="0"/>
              <a:t>]</a:t>
            </a:r>
          </a:p>
          <a:p>
            <a:pPr lvl="1"/>
            <a:r>
              <a:rPr lang="en-GB" dirty="0"/>
              <a:t>for several values of k.</a:t>
            </a:r>
          </a:p>
          <a:p>
            <a:r>
              <a:rPr lang="en-GB" b="1" dirty="0"/>
              <a:t>Possible interpretation</a:t>
            </a:r>
          </a:p>
          <a:p>
            <a:r>
              <a:rPr lang="en-GB" dirty="0"/>
              <a:t>If the strongest relationship occurs for: k = 20 then changes in one variable may systematically precede changes in the other by approximately 20 samples.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91255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1CE9BF-2390-E480-4DA8-F8C8890E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Cross-correlation: delayed relationships between variables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8170B9-7A9A-C263-B47F-3B1BD2053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Possible features</a:t>
            </a:r>
          </a:p>
          <a:p>
            <a:pPr lvl="1"/>
            <a:r>
              <a:rPr lang="en-GB" dirty="0"/>
              <a:t>maximum cross-correlation; </a:t>
            </a:r>
          </a:p>
          <a:p>
            <a:pPr lvl="1"/>
            <a:r>
              <a:rPr lang="en-GB" dirty="0"/>
              <a:t>lag at maximum correlation; </a:t>
            </a:r>
          </a:p>
          <a:p>
            <a:pPr lvl="1"/>
            <a:r>
              <a:rPr lang="en-GB" dirty="0"/>
              <a:t>correlation over selected physically meaningful delays. </a:t>
            </a:r>
          </a:p>
          <a:p>
            <a:r>
              <a:rPr lang="en-GB" b="1" dirty="0"/>
              <a:t>Useful applications</a:t>
            </a:r>
          </a:p>
          <a:p>
            <a:pPr lvl="1"/>
            <a:r>
              <a:rPr lang="en-GB" dirty="0"/>
              <a:t>thermal response; </a:t>
            </a:r>
          </a:p>
          <a:p>
            <a:pPr lvl="1"/>
            <a:r>
              <a:rPr lang="en-GB" dirty="0"/>
              <a:t>process control; </a:t>
            </a:r>
          </a:p>
          <a:p>
            <a:pPr lvl="1"/>
            <a:r>
              <a:rPr lang="en-GB" dirty="0"/>
              <a:t>cause-effect delays; </a:t>
            </a:r>
          </a:p>
          <a:p>
            <a:pPr lvl="1"/>
            <a:r>
              <a:rPr lang="en-GB" dirty="0"/>
              <a:t>marketing action versus later response; </a:t>
            </a:r>
          </a:p>
          <a:p>
            <a:pPr lvl="1"/>
            <a:r>
              <a:rPr lang="en-GB" dirty="0"/>
              <a:t>load versus later deformation. </a:t>
            </a:r>
          </a:p>
          <a:p>
            <a:r>
              <a:rPr lang="en-GB" b="1" dirty="0"/>
              <a:t>Caution. </a:t>
            </a:r>
            <a:r>
              <a:rPr lang="en-GB" dirty="0"/>
              <a:t>Correlation does not establish causality. Common drivers may influence both signals.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28567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3.C.9 -- Cross-correlation and delayed relationships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A change in one variable may systematically precede a change in another variable.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731520" y="3474720"/>
            <a:ext cx="603504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731520" y="1005840"/>
            <a:ext cx="0" cy="24688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537960" y="35661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594360" y="8412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signal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868680" y="3154680"/>
            <a:ext cx="429065" cy="0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297745" y="3154680"/>
            <a:ext cx="429065" cy="0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 flipV="1">
            <a:off x="1726809" y="2733574"/>
            <a:ext cx="465637" cy="218975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 flipV="1">
            <a:off x="2155875" y="2360596"/>
            <a:ext cx="429060" cy="389823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 flipV="1">
            <a:off x="2584939" y="1672871"/>
            <a:ext cx="418514" cy="673287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 flipV="1">
            <a:off x="3014003" y="1247434"/>
            <a:ext cx="433755" cy="391267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443068" y="1234440"/>
            <a:ext cx="429065" cy="303196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872132" y="1537636"/>
            <a:ext cx="429065" cy="505326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301197" y="2042962"/>
            <a:ext cx="429065" cy="404261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730262" y="2447223"/>
            <a:ext cx="429065" cy="303196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159326" y="2750419"/>
            <a:ext cx="429065" cy="202131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588391" y="2952549"/>
            <a:ext cx="429065" cy="101065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017455" y="3053615"/>
            <a:ext cx="429065" cy="101065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832104" y="311810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1261169" y="311810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1690233" y="2915973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2119298" y="2713843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2548362" y="2309582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2977427" y="1602125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3406492" y="119786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3835556" y="1501060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4264621" y="2006386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4693686" y="2410647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5122750" y="2713843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5551815" y="2915973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5980879" y="3017039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6409944" y="3118104"/>
            <a:ext cx="73152" cy="73152"/>
          </a:xfrm>
          <a:prstGeom prst="ellipse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868680" y="3154680"/>
            <a:ext cx="429065" cy="0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1297745" y="3154680"/>
            <a:ext cx="429065" cy="0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 flipV="1">
            <a:off x="1726810" y="3053614"/>
            <a:ext cx="429064" cy="101066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 flipV="1">
            <a:off x="2155874" y="2989124"/>
            <a:ext cx="465638" cy="64491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 flipV="1">
            <a:off x="2584939" y="2745125"/>
            <a:ext cx="403040" cy="207424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 flipV="1">
            <a:off x="3014004" y="2363002"/>
            <a:ext cx="429064" cy="387417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 flipV="1">
            <a:off x="3443068" y="1627632"/>
            <a:ext cx="439611" cy="718526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 flipV="1">
            <a:off x="3872133" y="1271016"/>
            <a:ext cx="399406" cy="367685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4301197" y="1234440"/>
            <a:ext cx="429065" cy="303196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4730262" y="1537636"/>
            <a:ext cx="429065" cy="505326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5159326" y="2042962"/>
            <a:ext cx="429065" cy="404261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5588391" y="2447223"/>
            <a:ext cx="429065" cy="303196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6017455" y="2750419"/>
            <a:ext cx="429065" cy="202131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832104" y="3118104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1261169" y="3118104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1690233" y="3118104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2119298" y="3017039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2548362" y="2915973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2977427" y="2713843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3406492" y="2309582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3835556" y="1602125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4264621" y="1197864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4693686" y="1501060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5122750" y="2006386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5551815" y="2410647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5980879" y="2713843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6409944" y="2915973"/>
            <a:ext cx="73152" cy="73152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0"/>
          <p:cNvSpPr/>
          <p:nvPr/>
        </p:nvSpPr>
        <p:spPr>
          <a:xfrm>
            <a:off x="5715000" y="17373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73B8"/>
                </a:solidFill>
              </a:rPr>
              <a:t>current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5715000" y="2240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4444"/>
                </a:solidFill>
              </a:rPr>
              <a:t>temperature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1840" y="1508760"/>
            <a:ext cx="1051560" cy="0"/>
          </a:xfrm>
          <a:prstGeom prst="line">
            <a:avLst/>
          </a:prstGeom>
          <a:noFill/>
          <a:ln w="17780">
            <a:solidFill>
              <a:srgbClr val="F39C1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3657600" y="12344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39C12"/>
                </a:solidFill>
              </a:rPr>
              <a:t>delay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7315200" y="3291840"/>
            <a:ext cx="24688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7315200" y="1097280"/>
            <a:ext cx="0" cy="219456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6"/>
          <p:cNvSpPr/>
          <p:nvPr/>
        </p:nvSpPr>
        <p:spPr>
          <a:xfrm>
            <a:off x="9555480" y="33832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lag</a:t>
            </a:r>
            <a:endParaRPr lang="en-US" sz="550" dirty="0"/>
          </a:p>
        </p:txBody>
      </p:sp>
      <p:sp>
        <p:nvSpPr>
          <p:cNvPr id="70" name="Text 67"/>
          <p:cNvSpPr/>
          <p:nvPr/>
        </p:nvSpPr>
        <p:spPr>
          <a:xfrm>
            <a:off x="7178040" y="93268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corr</a:t>
            </a:r>
            <a:endParaRPr lang="en-US" sz="550" dirty="0"/>
          </a:p>
        </p:txBody>
      </p:sp>
      <p:sp>
        <p:nvSpPr>
          <p:cNvPr id="71" name="Shape 68"/>
          <p:cNvSpPr/>
          <p:nvPr/>
        </p:nvSpPr>
        <p:spPr>
          <a:xfrm flipV="1">
            <a:off x="7452360" y="2679192"/>
            <a:ext cx="328480" cy="292608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69"/>
          <p:cNvSpPr/>
          <p:nvPr/>
        </p:nvSpPr>
        <p:spPr>
          <a:xfrm flipV="1">
            <a:off x="7810500" y="2130552"/>
            <a:ext cx="297177" cy="512064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 flipV="1">
            <a:off x="8168640" y="1399032"/>
            <a:ext cx="351450" cy="694944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>
            <a:off x="8526780" y="1325880"/>
            <a:ext cx="358140" cy="658368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8884920" y="1984248"/>
            <a:ext cx="358140" cy="504749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>
            <a:off x="9243060" y="2488997"/>
            <a:ext cx="358140" cy="373075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>
            <a:off x="7415784" y="2935224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5"/>
          <p:cNvSpPr/>
          <p:nvPr/>
        </p:nvSpPr>
        <p:spPr>
          <a:xfrm>
            <a:off x="7773924" y="2606040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8132064" y="2057400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7"/>
          <p:cNvSpPr/>
          <p:nvPr/>
        </p:nvSpPr>
        <p:spPr>
          <a:xfrm>
            <a:off x="8490204" y="1289304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8848344" y="1947672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9206484" y="2452421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9564624" y="2825496"/>
            <a:ext cx="73152" cy="73152"/>
          </a:xfrm>
          <a:prstGeom prst="ellipse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1"/>
          <p:cNvSpPr/>
          <p:nvPr/>
        </p:nvSpPr>
        <p:spPr>
          <a:xfrm>
            <a:off x="8526780" y="1097280"/>
            <a:ext cx="0" cy="2194560"/>
          </a:xfrm>
          <a:prstGeom prst="line">
            <a:avLst/>
          </a:prstGeom>
          <a:noFill/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2"/>
          <p:cNvSpPr/>
          <p:nvPr/>
        </p:nvSpPr>
        <p:spPr>
          <a:xfrm>
            <a:off x="8092440" y="34747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39C12"/>
                </a:solidFill>
              </a:rPr>
              <a:t>max at lag k</a:t>
            </a:r>
            <a:endParaRPr lang="en-US" sz="650" dirty="0"/>
          </a:p>
        </p:txBody>
      </p:sp>
      <p:sp>
        <p:nvSpPr>
          <p:cNvPr id="86" name="Shape 83"/>
          <p:cNvSpPr/>
          <p:nvPr/>
        </p:nvSpPr>
        <p:spPr>
          <a:xfrm>
            <a:off x="2651760" y="4754880"/>
            <a:ext cx="3931920" cy="685800"/>
          </a:xfrm>
          <a:prstGeom prst="roundRect">
            <a:avLst>
              <a:gd name="adj" fmla="val 6667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84"/>
          <p:cNvSpPr/>
          <p:nvPr/>
        </p:nvSpPr>
        <p:spPr>
          <a:xfrm>
            <a:off x="2724912" y="4809744"/>
            <a:ext cx="37856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Features: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max cross-correlation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lag at maximum correlation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66666"/>
                </a:solidFill>
              </a:rPr>
              <a:t>Cross-correlation can suggest delays, but common drivers may influence both signals.</a:t>
            </a:r>
            <a:endParaRPr lang="en-US" sz="62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E6A55D-BFAB-0561-3D42-70CB2B1F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and contextual features can complement temporal features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31A8A1-D73A-1F3F-8E34-FAEE6FDD9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temporal model may benefit from variables that are not extracted from the signal itself.</a:t>
            </a:r>
          </a:p>
          <a:p>
            <a:r>
              <a:rPr lang="en-GB" b="1" dirty="0"/>
              <a:t>Static entity features</a:t>
            </a:r>
          </a:p>
          <a:p>
            <a:pPr lvl="1"/>
            <a:r>
              <a:rPr lang="en-GB" dirty="0"/>
              <a:t>Examples: machine type; product category; site; rated power; customer segment. </a:t>
            </a:r>
          </a:p>
          <a:p>
            <a:r>
              <a:rPr lang="en-GB" b="1" dirty="0"/>
              <a:t>Calendar features</a:t>
            </a:r>
          </a:p>
          <a:p>
            <a:pPr lvl="1"/>
            <a:r>
              <a:rPr lang="en-GB" dirty="0"/>
              <a:t>Examples: hour of day; day of week; month; holiday indicator. </a:t>
            </a:r>
          </a:p>
          <a:p>
            <a:r>
              <a:rPr lang="en-GB" b="1" dirty="0"/>
              <a:t>Operational context</a:t>
            </a:r>
          </a:p>
          <a:p>
            <a:pPr lvl="1"/>
            <a:r>
              <a:rPr lang="en-GB" dirty="0"/>
              <a:t>Examples: operating mode; planned production; campaign type; environmental conditions available at prediction time.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18926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7FCC52-D6B1-D7D7-1586-0E6331FA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and contextual features can complement temporal features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F0EA99-36AD-F510-FB47-74F81FB87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Combined tabular representation</a:t>
            </a:r>
          </a:p>
          <a:p>
            <a:r>
              <a:rPr lang="en-GB" dirty="0"/>
              <a:t>A final feature vector may contain:</a:t>
            </a:r>
          </a:p>
          <a:p>
            <a:pPr lvl="1"/>
            <a:r>
              <a:rPr lang="en-GB" dirty="0"/>
              <a:t>lag features + rolling statistics + trend features + spectral features + static/contextual features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Demand prediction:</a:t>
            </a:r>
          </a:p>
          <a:p>
            <a:pPr lvl="1"/>
            <a:r>
              <a:rPr lang="en-GB" dirty="0"/>
              <a:t>last demand values</a:t>
            </a:r>
          </a:p>
          <a:p>
            <a:pPr lvl="1"/>
            <a:r>
              <a:rPr lang="en-GB" dirty="0"/>
              <a:t>weekly rolling mean</a:t>
            </a:r>
          </a:p>
          <a:p>
            <a:pPr lvl="1"/>
            <a:r>
              <a:rPr lang="en-GB" dirty="0"/>
              <a:t>recent trend</a:t>
            </a:r>
          </a:p>
          <a:p>
            <a:pPr lvl="1"/>
            <a:r>
              <a:rPr lang="en-GB" dirty="0"/>
              <a:t>day of week</a:t>
            </a:r>
          </a:p>
          <a:p>
            <a:pPr lvl="1"/>
            <a:r>
              <a:rPr lang="en-GB" dirty="0"/>
              <a:t>holiday flag</a:t>
            </a:r>
          </a:p>
          <a:p>
            <a:pPr lvl="1"/>
            <a:r>
              <a:rPr lang="en-GB" dirty="0"/>
              <a:t>planned promotion</a:t>
            </a:r>
          </a:p>
          <a:p>
            <a:endParaRPr lang="en-GB" b="1" dirty="0"/>
          </a:p>
          <a:p>
            <a:r>
              <a:rPr lang="en-GB" b="1" dirty="0"/>
              <a:t>Traditional machine learning is not restricted to signal-derived features.</a:t>
            </a:r>
          </a:p>
          <a:p>
            <a:r>
              <a:rPr lang="en-GB" b="1" dirty="0"/>
              <a:t>It can combine temporal and non-temporal information naturally.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95690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3.C.10 -- Combining temporal and contextual features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A conventional model can combine signal-derived features with static and calendar information.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21792" y="1197864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</a:rPr>
              <a:t>Lag features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27632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21792" y="1682496"/>
            <a:ext cx="13624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y[t]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y[t-1]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y[t-7]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1298448" y="2697480"/>
            <a:ext cx="4096512" cy="1051560"/>
          </a:xfrm>
          <a:prstGeom prst="line">
            <a:avLst/>
          </a:prstGeom>
          <a:noFill/>
          <a:ln w="17780">
            <a:solidFill>
              <a:srgbClr val="2F73B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423160" y="1143000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496312" y="1197864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</a:rPr>
              <a:t>Rolling statistics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423160" y="1627632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496312" y="1682496"/>
            <a:ext cx="13624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mean 24h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std 24h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trend 7d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3172968" y="2697480"/>
            <a:ext cx="2221992" cy="1051560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897880" y="1137289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F0E9FF"/>
          </a:solidFill>
          <a:ln w="10160">
            <a:solidFill>
              <a:srgbClr val="8658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971032" y="1192153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</a:rPr>
              <a:t>Spectral features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897880" y="1621921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8658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971032" y="1676785"/>
            <a:ext cx="13624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band power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dominant freq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 flipH="1">
            <a:off x="5394960" y="2697480"/>
            <a:ext cx="1216152" cy="1051560"/>
          </a:xfrm>
          <a:prstGeom prst="line">
            <a:avLst/>
          </a:prstGeom>
          <a:noFill/>
          <a:ln w="17780">
            <a:solidFill>
              <a:srgbClr val="8658D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7772400" y="1137289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845552" y="1192153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</a:rPr>
              <a:t>Static/context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772400" y="1621921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845552" y="1676785"/>
            <a:ext cx="13624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machine type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site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product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 flipH="1">
            <a:off x="5413248" y="2697480"/>
            <a:ext cx="3072384" cy="1051559"/>
          </a:xfrm>
          <a:prstGeom prst="line">
            <a:avLst/>
          </a:prstGeom>
          <a:noFill/>
          <a:ln w="17780">
            <a:solidFill>
              <a:srgbClr val="F39C1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9646920" y="1137289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016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9720072" y="1192153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</a:rPr>
              <a:t>Calendar/plan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646920" y="1621921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9720072" y="1676785"/>
            <a:ext cx="13624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weekday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holiday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333333"/>
                </a:solidFill>
              </a:rPr>
              <a:t>promotion</a:t>
            </a:r>
            <a:endParaRPr lang="en-US" sz="680" dirty="0"/>
          </a:p>
        </p:txBody>
      </p:sp>
      <p:sp>
        <p:nvSpPr>
          <p:cNvPr id="29" name="Shape 26"/>
          <p:cNvSpPr/>
          <p:nvPr/>
        </p:nvSpPr>
        <p:spPr>
          <a:xfrm flipH="1">
            <a:off x="5537200" y="2697480"/>
            <a:ext cx="4787900" cy="996688"/>
          </a:xfrm>
          <a:prstGeom prst="line">
            <a:avLst/>
          </a:prstGeom>
          <a:noFill/>
          <a:ln w="17780">
            <a:solidFill>
              <a:srgbClr val="D9444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4389120" y="370332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4462272" y="3758184"/>
            <a:ext cx="18653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Final feature vector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[p columns]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537960" y="4041648"/>
            <a:ext cx="914400" cy="0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7589520" y="370332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662672" y="3758184"/>
            <a:ext cx="20482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Regression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classification model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Traditional ML can mix temporal summaries and non-temporal variables naturally.</a:t>
            </a:r>
            <a:endParaRPr lang="en-US" sz="1100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9D068FD3-6E58-E0B6-BBEC-1352E63A3DE4}"/>
              </a:ext>
            </a:extLst>
          </p:cNvPr>
          <p:cNvSpPr/>
          <p:nvPr/>
        </p:nvSpPr>
        <p:spPr>
          <a:xfrm>
            <a:off x="4160520" y="1143000"/>
            <a:ext cx="1508760" cy="411480"/>
          </a:xfrm>
          <a:prstGeom prst="roundRect">
            <a:avLst>
              <a:gd name="adj" fmla="val 11111"/>
            </a:avLst>
          </a:prstGeom>
          <a:solidFill>
            <a:schemeClr val="accent3">
              <a:lumMod val="60000"/>
              <a:lumOff val="40000"/>
            </a:schemeClr>
          </a:solidFill>
          <a:ln w="10160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40F804AA-1E8E-CEFA-BEBA-AA4DA897CD3C}"/>
              </a:ext>
            </a:extLst>
          </p:cNvPr>
          <p:cNvSpPr/>
          <p:nvPr/>
        </p:nvSpPr>
        <p:spPr>
          <a:xfrm>
            <a:off x="4233672" y="1197864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</a:rPr>
              <a:t>Correlation features</a:t>
            </a:r>
            <a:endParaRPr lang="en-US" sz="75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C2B51829-FE82-6A57-A8F8-DF1964496F3F}"/>
              </a:ext>
            </a:extLst>
          </p:cNvPr>
          <p:cNvSpPr/>
          <p:nvPr/>
        </p:nvSpPr>
        <p:spPr>
          <a:xfrm>
            <a:off x="4160520" y="1627632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55D2810A-71D4-1125-7B9A-FDE5BCDD7056}"/>
              </a:ext>
            </a:extLst>
          </p:cNvPr>
          <p:cNvSpPr/>
          <p:nvPr/>
        </p:nvSpPr>
        <p:spPr>
          <a:xfrm>
            <a:off x="4233672" y="1682496"/>
            <a:ext cx="13624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lvl="0" algn="ctr"/>
            <a:r>
              <a:rPr lang="en-GB" sz="700" dirty="0"/>
              <a:t>Auto-correlation </a:t>
            </a:r>
          </a:p>
          <a:p>
            <a:pPr lvl="0" algn="ctr"/>
            <a:r>
              <a:rPr lang="en-GB" sz="700" dirty="0"/>
              <a:t>Cross-correlation </a:t>
            </a:r>
          </a:p>
          <a:p>
            <a:pPr lvl="0" algn="ctr"/>
            <a:r>
              <a:rPr lang="en-GB" sz="700" dirty="0"/>
              <a:t>correlation at lag k </a:t>
            </a:r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EEA22765-0032-12EB-92BC-697AA6198F2B}"/>
              </a:ext>
            </a:extLst>
          </p:cNvPr>
          <p:cNvSpPr/>
          <p:nvPr/>
        </p:nvSpPr>
        <p:spPr>
          <a:xfrm>
            <a:off x="5034534" y="2697481"/>
            <a:ext cx="241554" cy="1033272"/>
          </a:xfrm>
          <a:prstGeom prst="line">
            <a:avLst/>
          </a:prstGeom>
          <a:noFill/>
          <a:ln w="17780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96FEE7-102F-F31D-11BC-7E7F6D5A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engineering introduces design choices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942573-86F5-FEE3-413D-E591619E5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A feature-based pipeline requires decisions about:</a:t>
            </a:r>
          </a:p>
          <a:p>
            <a:pPr lvl="1"/>
            <a:r>
              <a:rPr lang="en-GB" dirty="0"/>
              <a:t>which channels to use;  how many lags;  which window lengths;  </a:t>
            </a:r>
          </a:p>
          <a:p>
            <a:pPr lvl="1"/>
            <a:r>
              <a:rPr lang="en-GB" dirty="0"/>
              <a:t>which statistics; which frequency bands;  </a:t>
            </a:r>
          </a:p>
          <a:p>
            <a:pPr lvl="1"/>
            <a:r>
              <a:rPr lang="en-GB" dirty="0"/>
              <a:t>which interactions;  which normalization;  which features to remove. </a:t>
            </a:r>
          </a:p>
          <a:p>
            <a:endParaRPr lang="en-GB" b="1" dirty="0"/>
          </a:p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interpretable representation;  can exploit domain knowledge;  </a:t>
            </a:r>
          </a:p>
          <a:p>
            <a:pPr lvl="1"/>
            <a:r>
              <a:rPr lang="en-GB" dirty="0"/>
              <a:t>works well with conventional models; often computationally inexpensive. </a:t>
            </a:r>
          </a:p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requires manual design; useful information may be discarded;  features tuned to one domain may transfer poorly; </a:t>
            </a:r>
          </a:p>
          <a:p>
            <a:pPr lvl="1"/>
            <a:r>
              <a:rPr lang="en-GB" dirty="0"/>
              <a:t>relevant time scales may not be known in advance; feature set may become very large. </a:t>
            </a:r>
          </a:p>
          <a:p>
            <a:endParaRPr lang="en-GB" b="1" dirty="0"/>
          </a:p>
          <a:p>
            <a:r>
              <a:rPr lang="en-GB" b="1" dirty="0"/>
              <a:t>Transition</a:t>
            </a:r>
          </a:p>
          <a:p>
            <a:pPr lvl="1"/>
            <a:r>
              <a:rPr lang="en-GB" dirty="0"/>
              <a:t>One important class of features describes not only </a:t>
            </a:r>
            <a:r>
              <a:rPr lang="en-GB" b="1" dirty="0"/>
              <a:t>how large a signal </a:t>
            </a:r>
            <a:r>
              <a:rPr lang="en-GB" dirty="0"/>
              <a:t>is, but </a:t>
            </a:r>
            <a:r>
              <a:rPr lang="en-GB" b="1" dirty="0"/>
              <a:t>how its energy is distributed across frequencies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This motivates the </a:t>
            </a:r>
            <a:r>
              <a:rPr lang="en-GB" b="1" dirty="0"/>
              <a:t>frequency-domain representation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09693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660DA8-DCE3-21A8-0EF9-7FE87F7A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3.D — Frequency-Domain Features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C3494A-4781-9AF5-0EBD-1D4BD1A1F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1751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352FB3-B216-0794-CA4D-C2946517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move from time to frequency?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97299E-A39A-653F-58C1-034C02C0C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Time-domain features describe quantities such as:</a:t>
            </a:r>
          </a:p>
          <a:p>
            <a:pPr lvl="1"/>
            <a:r>
              <a:rPr lang="en-GB" dirty="0"/>
              <a:t>mean;  variability;  peaks;  trend. </a:t>
            </a:r>
          </a:p>
          <a:p>
            <a:r>
              <a:rPr lang="en-GB" dirty="0"/>
              <a:t>However, </a:t>
            </a:r>
            <a:r>
              <a:rPr lang="en-GB" dirty="0">
                <a:highlight>
                  <a:srgbClr val="FFFF00"/>
                </a:highlight>
              </a:rPr>
              <a:t>some important patterns are fundamentally oscillatory</a:t>
            </a:r>
            <a:r>
              <a:rPr lang="en-GB" dirty="0"/>
              <a:t>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Two signals may have:</a:t>
            </a:r>
          </a:p>
          <a:p>
            <a:pPr lvl="1"/>
            <a:r>
              <a:rPr lang="en-GB" dirty="0"/>
              <a:t>similar mean; </a:t>
            </a:r>
          </a:p>
          <a:p>
            <a:pPr lvl="1"/>
            <a:r>
              <a:rPr lang="en-GB" dirty="0"/>
              <a:t>similar standard deviation; </a:t>
            </a:r>
          </a:p>
          <a:p>
            <a:pPr lvl="1"/>
            <a:r>
              <a:rPr lang="en-GB" dirty="0"/>
              <a:t>similar maximum amplitude; </a:t>
            </a:r>
          </a:p>
          <a:p>
            <a:r>
              <a:rPr lang="en-GB" dirty="0"/>
              <a:t>but different </a:t>
            </a:r>
            <a:r>
              <a:rPr lang="en-GB" dirty="0">
                <a:highlight>
                  <a:srgbClr val="FFFF00"/>
                </a:highlight>
              </a:rPr>
              <a:t>temporal behaviour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Signal A: </a:t>
            </a:r>
            <a:r>
              <a:rPr lang="en-GB" b="1" dirty="0"/>
              <a:t>slow oscillation</a:t>
            </a:r>
          </a:p>
          <a:p>
            <a:pPr lvl="1"/>
            <a:r>
              <a:rPr lang="en-GB" dirty="0"/>
              <a:t>Signal B: </a:t>
            </a:r>
            <a:r>
              <a:rPr lang="en-GB" b="1" dirty="0"/>
              <a:t>rapid oscillation</a:t>
            </a:r>
          </a:p>
          <a:p>
            <a:r>
              <a:rPr lang="en-GB" dirty="0"/>
              <a:t>A frequency-domain representation makes this difference explicit.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30788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8C22D4-9CBF-2EDE-411F-DABEFDF1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Applications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BD6EE6-160F-8DB1-67D4-B778E8369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Especially relevant for:</a:t>
            </a:r>
          </a:p>
          <a:p>
            <a:pPr lvl="1"/>
            <a:r>
              <a:rPr lang="en-GB" dirty="0"/>
              <a:t>vibration monitoring; </a:t>
            </a:r>
          </a:p>
          <a:p>
            <a:pPr lvl="1"/>
            <a:r>
              <a:rPr lang="en-GB" dirty="0"/>
              <a:t>rotating machinery; </a:t>
            </a:r>
          </a:p>
          <a:p>
            <a:pPr lvl="1"/>
            <a:r>
              <a:rPr lang="en-GB" dirty="0"/>
              <a:t>acoustics; </a:t>
            </a:r>
          </a:p>
          <a:p>
            <a:pPr lvl="1"/>
            <a:r>
              <a:rPr lang="en-GB" dirty="0"/>
              <a:t>electrical signals; </a:t>
            </a:r>
          </a:p>
          <a:p>
            <a:pPr lvl="1"/>
            <a:r>
              <a:rPr lang="en-GB" dirty="0"/>
              <a:t>physiological signals; </a:t>
            </a:r>
          </a:p>
          <a:p>
            <a:pPr lvl="1"/>
            <a:r>
              <a:rPr lang="en-GB" dirty="0"/>
              <a:t>periodic demand patterns. </a:t>
            </a:r>
          </a:p>
          <a:p>
            <a:endParaRPr lang="en-GB" dirty="0"/>
          </a:p>
          <a:p>
            <a:r>
              <a:rPr lang="en-GB" b="1" dirty="0"/>
              <a:t>The frequency domain describes how strongly different oscillation rates are represented in the signal.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8558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3.D.1 -- Time-domain versus frequency-domain view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Signals with similar amplitude can differ mainly in oscillation rate.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85800" y="2926080"/>
            <a:ext cx="420624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85800" y="1005840"/>
            <a:ext cx="0" cy="19202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663440" y="30175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548640" y="8412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x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822960" y="1965960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888053" y="1864090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953146" y="176420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018239" y="166824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083332" y="1578077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148424" y="1495461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1213517" y="142200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1278610" y="135913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343703" y="130807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1408796" y="1269819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1473889" y="1245114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1538982" y="1234440"/>
            <a:ext cx="65093" cy="3564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1604075" y="1238004"/>
            <a:ext cx="65093" cy="17733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1669167" y="1255737"/>
            <a:ext cx="65093" cy="31556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1734260" y="1287293"/>
            <a:ext cx="65093" cy="44766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1799353" y="1332059"/>
            <a:ext cx="65093" cy="57104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1864446" y="1389163"/>
            <a:ext cx="65093" cy="68331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1929539" y="1457494"/>
            <a:ext cx="65093" cy="78227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1994632" y="1535721"/>
            <a:ext cx="65093" cy="86602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2059725" y="1622323"/>
            <a:ext cx="65093" cy="9329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2124818" y="1715613"/>
            <a:ext cx="65093" cy="98163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2189911" y="1813776"/>
            <a:ext cx="65093" cy="101125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2255003" y="1914901"/>
            <a:ext cx="65093" cy="102119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2320096" y="2017019"/>
            <a:ext cx="65093" cy="101125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2385189" y="2118144"/>
            <a:ext cx="65093" cy="98163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2450282" y="2216307"/>
            <a:ext cx="65093" cy="9329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2515375" y="2309597"/>
            <a:ext cx="65093" cy="86602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2580468" y="2396199"/>
            <a:ext cx="65093" cy="78227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2645561" y="2474426"/>
            <a:ext cx="65093" cy="68331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2710654" y="2542757"/>
            <a:ext cx="65093" cy="57104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2775746" y="2599861"/>
            <a:ext cx="65093" cy="44766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2840839" y="2644627"/>
            <a:ext cx="65093" cy="31556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2905932" y="2676183"/>
            <a:ext cx="65093" cy="17733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2971025" y="2693916"/>
            <a:ext cx="65093" cy="3564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3036118" y="2697480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3101211" y="2686806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3166304" y="2662101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3231397" y="2623847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3296489" y="2572787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361582" y="2509917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3426675" y="2436459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3491768" y="235384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3556861" y="2263677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3621954" y="2167717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3687047" y="2067830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3752140" y="1965960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3817233" y="1864090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3882325" y="176420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3947418" y="166824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4012511" y="1578077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4077604" y="1495461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4142697" y="142200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4207790" y="135913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4272883" y="1308073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4337976" y="1269819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4403068" y="1245114"/>
            <a:ext cx="65093" cy="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4468161" y="1234440"/>
            <a:ext cx="65093" cy="3564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3"/>
          <p:cNvSpPr/>
          <p:nvPr/>
        </p:nvSpPr>
        <p:spPr>
          <a:xfrm>
            <a:off x="4533254" y="1238004"/>
            <a:ext cx="65093" cy="17733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4598347" y="1255737"/>
            <a:ext cx="65093" cy="31556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822960" y="196596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 flipV="1">
            <a:off x="888053" y="1287293"/>
            <a:ext cx="72067" cy="201201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953146" y="1234440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8"/>
          <p:cNvSpPr/>
          <p:nvPr/>
        </p:nvSpPr>
        <p:spPr>
          <a:xfrm>
            <a:off x="1018239" y="1322672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69"/>
          <p:cNvSpPr/>
          <p:nvPr/>
        </p:nvSpPr>
        <p:spPr>
          <a:xfrm>
            <a:off x="1083332" y="1711906"/>
            <a:ext cx="65093" cy="508108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>
            <a:off x="1148424" y="2220014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>
            <a:off x="1213517" y="2609248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1278610" y="269748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 flipH="1">
            <a:off x="1343703" y="2455580"/>
            <a:ext cx="65091" cy="238335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 flipH="1">
            <a:off x="1408795" y="1965959"/>
            <a:ext cx="2" cy="514325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5"/>
          <p:cNvSpPr/>
          <p:nvPr/>
        </p:nvSpPr>
        <p:spPr>
          <a:xfrm flipH="1">
            <a:off x="1415770" y="1488493"/>
            <a:ext cx="58119" cy="564557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1538982" y="1234440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7"/>
          <p:cNvSpPr/>
          <p:nvPr/>
        </p:nvSpPr>
        <p:spPr>
          <a:xfrm>
            <a:off x="1604075" y="1322672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1669167" y="1711906"/>
            <a:ext cx="65093" cy="508108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1734260" y="2220014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1799353" y="2609248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1"/>
          <p:cNvSpPr/>
          <p:nvPr/>
        </p:nvSpPr>
        <p:spPr>
          <a:xfrm>
            <a:off x="1864446" y="269748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1929539" y="2443426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1994632" y="196596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2059725" y="1488494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5"/>
          <p:cNvSpPr/>
          <p:nvPr/>
        </p:nvSpPr>
        <p:spPr>
          <a:xfrm>
            <a:off x="2124818" y="1234440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2189911" y="1322672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7"/>
          <p:cNvSpPr/>
          <p:nvPr/>
        </p:nvSpPr>
        <p:spPr>
          <a:xfrm>
            <a:off x="2255003" y="1711906"/>
            <a:ext cx="65093" cy="508108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8"/>
          <p:cNvSpPr/>
          <p:nvPr/>
        </p:nvSpPr>
        <p:spPr>
          <a:xfrm>
            <a:off x="2320096" y="2220014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89"/>
          <p:cNvSpPr/>
          <p:nvPr/>
        </p:nvSpPr>
        <p:spPr>
          <a:xfrm>
            <a:off x="2385189" y="2609248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2450282" y="269748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1"/>
          <p:cNvSpPr/>
          <p:nvPr/>
        </p:nvSpPr>
        <p:spPr>
          <a:xfrm>
            <a:off x="2515375" y="2443426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2"/>
          <p:cNvSpPr/>
          <p:nvPr/>
        </p:nvSpPr>
        <p:spPr>
          <a:xfrm>
            <a:off x="2580468" y="196596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3"/>
          <p:cNvSpPr/>
          <p:nvPr/>
        </p:nvSpPr>
        <p:spPr>
          <a:xfrm>
            <a:off x="2645561" y="1488494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2710654" y="1234440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5"/>
          <p:cNvSpPr/>
          <p:nvPr/>
        </p:nvSpPr>
        <p:spPr>
          <a:xfrm>
            <a:off x="2775746" y="1322672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6"/>
          <p:cNvSpPr/>
          <p:nvPr/>
        </p:nvSpPr>
        <p:spPr>
          <a:xfrm>
            <a:off x="2840839" y="1711906"/>
            <a:ext cx="65093" cy="508108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7"/>
          <p:cNvSpPr/>
          <p:nvPr/>
        </p:nvSpPr>
        <p:spPr>
          <a:xfrm>
            <a:off x="2905932" y="2220014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2971025" y="2609248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Shape 99"/>
          <p:cNvSpPr/>
          <p:nvPr/>
        </p:nvSpPr>
        <p:spPr>
          <a:xfrm>
            <a:off x="3036118" y="269748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0"/>
          <p:cNvSpPr/>
          <p:nvPr/>
        </p:nvSpPr>
        <p:spPr>
          <a:xfrm>
            <a:off x="3101211" y="2443426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1"/>
          <p:cNvSpPr/>
          <p:nvPr/>
        </p:nvSpPr>
        <p:spPr>
          <a:xfrm>
            <a:off x="3166304" y="196596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3231397" y="1488494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3"/>
          <p:cNvSpPr/>
          <p:nvPr/>
        </p:nvSpPr>
        <p:spPr>
          <a:xfrm>
            <a:off x="3296489" y="1234440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3361582" y="1322672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5"/>
          <p:cNvSpPr/>
          <p:nvPr/>
        </p:nvSpPr>
        <p:spPr>
          <a:xfrm>
            <a:off x="3426675" y="1711906"/>
            <a:ext cx="65093" cy="508108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6"/>
          <p:cNvSpPr/>
          <p:nvPr/>
        </p:nvSpPr>
        <p:spPr>
          <a:xfrm>
            <a:off x="3491768" y="2220014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7"/>
          <p:cNvSpPr/>
          <p:nvPr/>
        </p:nvSpPr>
        <p:spPr>
          <a:xfrm>
            <a:off x="3556861" y="2609248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3621954" y="269748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09"/>
          <p:cNvSpPr/>
          <p:nvPr/>
        </p:nvSpPr>
        <p:spPr>
          <a:xfrm>
            <a:off x="3687047" y="2443426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0"/>
          <p:cNvSpPr/>
          <p:nvPr/>
        </p:nvSpPr>
        <p:spPr>
          <a:xfrm>
            <a:off x="3752140" y="196596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1"/>
          <p:cNvSpPr/>
          <p:nvPr/>
        </p:nvSpPr>
        <p:spPr>
          <a:xfrm>
            <a:off x="3817233" y="1488494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2"/>
          <p:cNvSpPr/>
          <p:nvPr/>
        </p:nvSpPr>
        <p:spPr>
          <a:xfrm>
            <a:off x="3882325" y="1234440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3"/>
          <p:cNvSpPr/>
          <p:nvPr/>
        </p:nvSpPr>
        <p:spPr>
          <a:xfrm>
            <a:off x="3947418" y="1322672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4"/>
          <p:cNvSpPr/>
          <p:nvPr/>
        </p:nvSpPr>
        <p:spPr>
          <a:xfrm>
            <a:off x="4012511" y="1711906"/>
            <a:ext cx="65093" cy="508108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5"/>
          <p:cNvSpPr/>
          <p:nvPr/>
        </p:nvSpPr>
        <p:spPr>
          <a:xfrm>
            <a:off x="4077604" y="2220014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6"/>
          <p:cNvSpPr/>
          <p:nvPr/>
        </p:nvSpPr>
        <p:spPr>
          <a:xfrm>
            <a:off x="4142697" y="2609248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7"/>
          <p:cNvSpPr/>
          <p:nvPr/>
        </p:nvSpPr>
        <p:spPr>
          <a:xfrm>
            <a:off x="4207790" y="269748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8"/>
          <p:cNvSpPr/>
          <p:nvPr/>
        </p:nvSpPr>
        <p:spPr>
          <a:xfrm>
            <a:off x="4272883" y="2443426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19"/>
          <p:cNvSpPr/>
          <p:nvPr/>
        </p:nvSpPr>
        <p:spPr>
          <a:xfrm>
            <a:off x="4337976" y="1965960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0"/>
          <p:cNvSpPr/>
          <p:nvPr/>
        </p:nvSpPr>
        <p:spPr>
          <a:xfrm>
            <a:off x="4403068" y="1488494"/>
            <a:ext cx="65093" cy="0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21"/>
          <p:cNvSpPr/>
          <p:nvPr/>
        </p:nvSpPr>
        <p:spPr>
          <a:xfrm>
            <a:off x="4468161" y="1234440"/>
            <a:ext cx="65093" cy="88232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Shape 122"/>
          <p:cNvSpPr/>
          <p:nvPr/>
        </p:nvSpPr>
        <p:spPr>
          <a:xfrm>
            <a:off x="4533254" y="1322672"/>
            <a:ext cx="65093" cy="38923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123"/>
          <p:cNvSpPr/>
          <p:nvPr/>
        </p:nvSpPr>
        <p:spPr>
          <a:xfrm>
            <a:off x="4598347" y="1711906"/>
            <a:ext cx="65093" cy="508108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Text 124"/>
          <p:cNvSpPr/>
          <p:nvPr/>
        </p:nvSpPr>
        <p:spPr>
          <a:xfrm>
            <a:off x="2834640" y="12344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2F73B8"/>
                </a:solidFill>
              </a:rPr>
              <a:t>slow oscillation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2834640" y="1463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D94444"/>
                </a:solidFill>
              </a:rPr>
              <a:t>rapid oscillation</a:t>
            </a:r>
            <a:endParaRPr lang="en-US" sz="650" dirty="0"/>
          </a:p>
        </p:txBody>
      </p:sp>
      <p:sp>
        <p:nvSpPr>
          <p:cNvPr id="129" name="Shape 126"/>
          <p:cNvSpPr/>
          <p:nvPr/>
        </p:nvSpPr>
        <p:spPr>
          <a:xfrm>
            <a:off x="5806440" y="2926080"/>
            <a:ext cx="420624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7"/>
          <p:cNvSpPr/>
          <p:nvPr/>
        </p:nvSpPr>
        <p:spPr>
          <a:xfrm>
            <a:off x="5806440" y="1005840"/>
            <a:ext cx="0" cy="19202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Text 128"/>
          <p:cNvSpPr/>
          <p:nvPr/>
        </p:nvSpPr>
        <p:spPr>
          <a:xfrm>
            <a:off x="9784080" y="30175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frequency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5669280" y="8412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power</a:t>
            </a:r>
            <a:endParaRPr lang="en-US" sz="550" dirty="0"/>
          </a:p>
        </p:txBody>
      </p:sp>
      <p:sp>
        <p:nvSpPr>
          <p:cNvPr id="133" name="Shape 130"/>
          <p:cNvSpPr/>
          <p:nvPr/>
        </p:nvSpPr>
        <p:spPr>
          <a:xfrm>
            <a:off x="6583680" y="2103120"/>
            <a:ext cx="228600" cy="594360"/>
          </a:xfrm>
          <a:prstGeom prst="rect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4" name="Text 131"/>
          <p:cNvSpPr/>
          <p:nvPr/>
        </p:nvSpPr>
        <p:spPr>
          <a:xfrm>
            <a:off x="6537960" y="27614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slow</a:t>
            </a:r>
            <a:endParaRPr lang="en-US" sz="550" dirty="0"/>
          </a:p>
        </p:txBody>
      </p:sp>
      <p:sp>
        <p:nvSpPr>
          <p:cNvPr id="135" name="Shape 132"/>
          <p:cNvSpPr/>
          <p:nvPr/>
        </p:nvSpPr>
        <p:spPr>
          <a:xfrm>
            <a:off x="8961120" y="1417320"/>
            <a:ext cx="228600" cy="1280160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Text 133"/>
          <p:cNvSpPr/>
          <p:nvPr/>
        </p:nvSpPr>
        <p:spPr>
          <a:xfrm>
            <a:off x="8915400" y="27614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rapid</a:t>
            </a:r>
            <a:endParaRPr lang="en-US" sz="550" dirty="0"/>
          </a:p>
        </p:txBody>
      </p:sp>
      <p:sp>
        <p:nvSpPr>
          <p:cNvPr id="137" name="Text 134"/>
          <p:cNvSpPr/>
          <p:nvPr/>
        </p:nvSpPr>
        <p:spPr>
          <a:xfrm>
            <a:off x="681228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F8A2A"/>
                </a:solidFill>
              </a:rPr>
              <a:t>spectrum separates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4F8A2A"/>
                </a:solidFill>
              </a:rPr>
              <a:t>oscillation rates</a:t>
            </a:r>
            <a:endParaRPr lang="en-US" sz="700" dirty="0"/>
          </a:p>
        </p:txBody>
      </p:sp>
      <p:sp>
        <p:nvSpPr>
          <p:cNvPr id="138" name="Shape 135"/>
          <p:cNvSpPr/>
          <p:nvPr/>
        </p:nvSpPr>
        <p:spPr>
          <a:xfrm>
            <a:off x="1371600" y="406908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Text 136"/>
          <p:cNvSpPr/>
          <p:nvPr/>
        </p:nvSpPr>
        <p:spPr>
          <a:xfrm>
            <a:off x="1444752" y="4123944"/>
            <a:ext cx="24140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highlight>
                  <a:srgbClr val="FFFF00"/>
                </a:highlight>
              </a:rPr>
              <a:t>Time domain: amplitude vs time</a:t>
            </a:r>
            <a:endParaRPr lang="en-US" sz="800" dirty="0">
              <a:highlight>
                <a:srgbClr val="FFFF00"/>
              </a:highlight>
            </a:endParaRPr>
          </a:p>
        </p:txBody>
      </p:sp>
      <p:sp>
        <p:nvSpPr>
          <p:cNvPr id="140" name="Shape 137"/>
          <p:cNvSpPr/>
          <p:nvPr/>
        </p:nvSpPr>
        <p:spPr>
          <a:xfrm>
            <a:off x="6400800" y="406908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Text 138"/>
          <p:cNvSpPr/>
          <p:nvPr/>
        </p:nvSpPr>
        <p:spPr>
          <a:xfrm>
            <a:off x="6473952" y="4123944"/>
            <a:ext cx="26883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highlight>
                  <a:srgbClr val="FFFF00"/>
                </a:highlight>
              </a:rPr>
              <a:t>Frequency domain: power vs frequency</a:t>
            </a:r>
            <a:endParaRPr lang="en-US" sz="800" dirty="0">
              <a:highlight>
                <a:srgbClr val="FFFF00"/>
              </a:highlight>
            </a:endParaRPr>
          </a:p>
        </p:txBody>
      </p:sp>
      <p:sp>
        <p:nvSpPr>
          <p:cNvPr id="142" name="Text 139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Frequency-domain features can distinguish patterns that simple time-domain statistics miss.</a:t>
            </a:r>
            <a:endParaRPr lang="en-US" sz="1050" dirty="0"/>
          </a:p>
        </p:txBody>
      </p:sp>
      <p:sp>
        <p:nvSpPr>
          <p:cNvPr id="144" name="Shape 66">
            <a:extLst>
              <a:ext uri="{FF2B5EF4-FFF2-40B4-BE49-F238E27FC236}">
                <a16:creationId xmlns:a16="http://schemas.microsoft.com/office/drawing/2014/main" id="{4F512C74-18DE-54A0-0DC3-942A3EC3526C}"/>
              </a:ext>
            </a:extLst>
          </p:cNvPr>
          <p:cNvSpPr/>
          <p:nvPr/>
        </p:nvSpPr>
        <p:spPr>
          <a:xfrm flipV="1">
            <a:off x="1490420" y="1269819"/>
            <a:ext cx="65093" cy="239274"/>
          </a:xfrm>
          <a:prstGeom prst="line">
            <a:avLst/>
          </a:prstGeom>
          <a:noFill/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10A1CF-4544-4597-7167-5B578344F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signal can be represented as a combination of frequencies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66464C-1C93-2CFA-7DB3-48A4ADE50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 periodic or approximately periodic signal may contain multiple oscillatory components.</a:t>
            </a:r>
          </a:p>
          <a:p>
            <a:r>
              <a:rPr lang="en-GB" dirty="0"/>
              <a:t>Example: observed signal  = slow oscillation + faster oscillation +noise</a:t>
            </a:r>
          </a:p>
          <a:p>
            <a:r>
              <a:rPr lang="en-GB" dirty="0"/>
              <a:t>Frequency analysis separates these components.</a:t>
            </a:r>
          </a:p>
          <a:p>
            <a:endParaRPr lang="en-GB" dirty="0"/>
          </a:p>
          <a:p>
            <a:r>
              <a:rPr lang="en-GB" b="1" dirty="0"/>
              <a:t>Time-domain representation</a:t>
            </a:r>
          </a:p>
          <a:p>
            <a:r>
              <a:rPr lang="en-GB" dirty="0"/>
              <a:t>Shows: signal amplitude versus time</a:t>
            </a:r>
          </a:p>
          <a:p>
            <a:r>
              <a:rPr lang="en-GB" b="1" dirty="0"/>
              <a:t>Frequency-domain representation</a:t>
            </a:r>
          </a:p>
          <a:p>
            <a:r>
              <a:rPr lang="en-GB" dirty="0"/>
              <a:t>Shows: strength of each frequency versus frequency The resulting representation is called a </a:t>
            </a:r>
            <a:r>
              <a:rPr lang="en-GB" b="1" dirty="0"/>
              <a:t>spectrum</a:t>
            </a:r>
            <a:r>
              <a:rPr lang="en-GB" dirty="0"/>
              <a:t>.</a:t>
            </a:r>
          </a:p>
          <a:p>
            <a:r>
              <a:rPr lang="en-GB" b="1" dirty="0"/>
              <a:t>Main concepts</a:t>
            </a:r>
          </a:p>
          <a:p>
            <a:pPr lvl="1"/>
            <a:r>
              <a:rPr lang="en-GB" dirty="0"/>
              <a:t>frequency: oscillations per unit time; </a:t>
            </a:r>
          </a:p>
          <a:p>
            <a:pPr lvl="1"/>
            <a:r>
              <a:rPr lang="en-GB" dirty="0"/>
              <a:t>amplitude: strength of a sinusoidal component; </a:t>
            </a:r>
          </a:p>
          <a:p>
            <a:pPr lvl="1"/>
            <a:r>
              <a:rPr lang="en-GB" dirty="0"/>
              <a:t>power: energy associated with that frequency; </a:t>
            </a:r>
          </a:p>
          <a:p>
            <a:pPr lvl="1"/>
            <a:r>
              <a:rPr lang="en-GB" dirty="0"/>
              <a:t>dominant frequency: frequency with the strongest contribution. </a:t>
            </a:r>
          </a:p>
          <a:p>
            <a:pPr marL="400050" lvl="1" indent="0">
              <a:buNone/>
            </a:pPr>
            <a:endParaRPr lang="en-GB" b="1" dirty="0"/>
          </a:p>
          <a:p>
            <a:r>
              <a:rPr lang="en-GB" b="1" dirty="0"/>
              <a:t>A peak in the spectrum indicates a repeated oscillatory component.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7734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3.D.2 -- Signal components become spectral peaks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Frequency analysis separates slow and fast oscillatory components.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85800" y="2743200"/>
            <a:ext cx="457200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85800" y="914400"/>
            <a:ext cx="0" cy="18288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5029200" y="2834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548640" y="74980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ampl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822960" y="1828800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875625" y="1575931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928290" y="1402573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980954" y="1352214"/>
            <a:ext cx="52665" cy="6089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033619" y="1413109"/>
            <a:ext cx="52665" cy="11174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086284" y="1524854"/>
            <a:ext cx="52665" cy="82761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1138949" y="1607616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1191614" y="1600323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244278" y="1489926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1296943" y="1317996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1349608" y="1161588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1402273" y="1097280"/>
            <a:ext cx="52665" cy="67967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1454938" y="1165247"/>
            <a:ext cx="52665" cy="184903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1507603" y="1350149"/>
            <a:ext cx="52665" cy="23766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1560267" y="1587814"/>
            <a:ext cx="52665" cy="206768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1612932" y="1794583"/>
            <a:ext cx="52665" cy="111034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1665597" y="1905617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1718262" y="1904269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1770927" y="1828800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1823591" y="1753331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1876256" y="1751983"/>
            <a:ext cx="52665" cy="111034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1928921" y="1863017"/>
            <a:ext cx="52665" cy="206768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1981586" y="2069786"/>
            <a:ext cx="52665" cy="23766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2034251" y="2307451"/>
            <a:ext cx="52665" cy="184903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2086915" y="2492353"/>
            <a:ext cx="52665" cy="67967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2139580" y="2560320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2192245" y="2496012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2244910" y="2339604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2297575" y="2167674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2350239" y="2057277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2402904" y="2049984"/>
            <a:ext cx="52665" cy="82761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2455569" y="2132746"/>
            <a:ext cx="52665" cy="11174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2508234" y="2244491"/>
            <a:ext cx="52665" cy="6089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2560899" y="2305386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2613564" y="2255027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2666228" y="2081669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2718893" y="1828800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2771558" y="1575931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2824223" y="1402573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2876888" y="1352214"/>
            <a:ext cx="52665" cy="6089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2929552" y="1413109"/>
            <a:ext cx="52665" cy="11174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2982217" y="1524854"/>
            <a:ext cx="52665" cy="82761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3034882" y="1607616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3087547" y="1600323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3140212" y="1489926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3192876" y="1317996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3245541" y="1161588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3298206" y="1097280"/>
            <a:ext cx="52665" cy="67967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3350871" y="1165247"/>
            <a:ext cx="52665" cy="184903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3403536" y="1350149"/>
            <a:ext cx="52665" cy="23766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3456201" y="1587814"/>
            <a:ext cx="52665" cy="206768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3508865" y="1794583"/>
            <a:ext cx="52665" cy="111034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3561530" y="1905617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3614195" y="1904269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3666860" y="1828800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3719525" y="1753331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3772189" y="1751983"/>
            <a:ext cx="52665" cy="111034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3"/>
          <p:cNvSpPr/>
          <p:nvPr/>
        </p:nvSpPr>
        <p:spPr>
          <a:xfrm>
            <a:off x="3824854" y="1863017"/>
            <a:ext cx="52665" cy="206768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3877519" y="2069786"/>
            <a:ext cx="52665" cy="23766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3930184" y="2307451"/>
            <a:ext cx="52665" cy="184903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3982849" y="2492353"/>
            <a:ext cx="52665" cy="67967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4035513" y="2560320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8"/>
          <p:cNvSpPr/>
          <p:nvPr/>
        </p:nvSpPr>
        <p:spPr>
          <a:xfrm>
            <a:off x="4088178" y="2496012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69"/>
          <p:cNvSpPr/>
          <p:nvPr/>
        </p:nvSpPr>
        <p:spPr>
          <a:xfrm>
            <a:off x="4140843" y="2339604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>
            <a:off x="4193508" y="2167674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>
            <a:off x="4246173" y="2057277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4298837" y="2049984"/>
            <a:ext cx="52665" cy="82761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>
            <a:off x="4351502" y="2132746"/>
            <a:ext cx="52665" cy="11174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>
            <a:off x="4404167" y="2244491"/>
            <a:ext cx="52665" cy="6089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5"/>
          <p:cNvSpPr/>
          <p:nvPr/>
        </p:nvSpPr>
        <p:spPr>
          <a:xfrm>
            <a:off x="4456832" y="2305386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4509497" y="2255027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7"/>
          <p:cNvSpPr/>
          <p:nvPr/>
        </p:nvSpPr>
        <p:spPr>
          <a:xfrm>
            <a:off x="4562162" y="2081669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4614826" y="1828800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4667491" y="1575931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4720156" y="1402573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1"/>
          <p:cNvSpPr/>
          <p:nvPr/>
        </p:nvSpPr>
        <p:spPr>
          <a:xfrm>
            <a:off x="4772821" y="1352214"/>
            <a:ext cx="52665" cy="6089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4825486" y="1413109"/>
            <a:ext cx="52665" cy="111745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4878150" y="1524854"/>
            <a:ext cx="52665" cy="82761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4930815" y="1607616"/>
            <a:ext cx="52665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/>
          <p:nvPr/>
        </p:nvSpPr>
        <p:spPr>
          <a:xfrm>
            <a:off x="1554480" y="28803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F8A2A"/>
                </a:solidFill>
              </a:rPr>
              <a:t>observed signal = slow + fast + noise</a:t>
            </a:r>
            <a:endParaRPr lang="en-US" sz="700" dirty="0"/>
          </a:p>
        </p:txBody>
      </p:sp>
      <p:sp>
        <p:nvSpPr>
          <p:cNvPr id="89" name="Shape 86"/>
          <p:cNvSpPr/>
          <p:nvPr/>
        </p:nvSpPr>
        <p:spPr>
          <a:xfrm>
            <a:off x="5440680" y="1828800"/>
            <a:ext cx="731520" cy="0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7"/>
          <p:cNvSpPr/>
          <p:nvPr/>
        </p:nvSpPr>
        <p:spPr>
          <a:xfrm>
            <a:off x="6263640" y="1444752"/>
            <a:ext cx="1234440" cy="731520"/>
          </a:xfrm>
          <a:prstGeom prst="roundRect">
            <a:avLst>
              <a:gd name="adj" fmla="val 6250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8"/>
          <p:cNvSpPr/>
          <p:nvPr/>
        </p:nvSpPr>
        <p:spPr>
          <a:xfrm>
            <a:off x="6336792" y="1499616"/>
            <a:ext cx="108813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Fourier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</a:rPr>
              <a:t>transform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635240" y="1828800"/>
            <a:ext cx="548640" cy="0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8275320" y="2743200"/>
            <a:ext cx="20116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1"/>
          <p:cNvSpPr/>
          <p:nvPr/>
        </p:nvSpPr>
        <p:spPr>
          <a:xfrm>
            <a:off x="8275320" y="914400"/>
            <a:ext cx="0" cy="18288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92"/>
          <p:cNvSpPr/>
          <p:nvPr/>
        </p:nvSpPr>
        <p:spPr>
          <a:xfrm>
            <a:off x="10058400" y="2834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freq</a:t>
            </a:r>
            <a:endParaRPr lang="en-US" sz="550" dirty="0"/>
          </a:p>
        </p:txBody>
      </p:sp>
      <p:sp>
        <p:nvSpPr>
          <p:cNvPr id="96" name="Text 93"/>
          <p:cNvSpPr/>
          <p:nvPr/>
        </p:nvSpPr>
        <p:spPr>
          <a:xfrm>
            <a:off x="8138160" y="74980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power</a:t>
            </a:r>
            <a:endParaRPr lang="en-US" sz="550" dirty="0"/>
          </a:p>
        </p:txBody>
      </p:sp>
      <p:sp>
        <p:nvSpPr>
          <p:cNvPr id="97" name="Shape 94"/>
          <p:cNvSpPr/>
          <p:nvPr/>
        </p:nvSpPr>
        <p:spPr>
          <a:xfrm>
            <a:off x="8641080" y="2057400"/>
            <a:ext cx="164592" cy="502920"/>
          </a:xfrm>
          <a:prstGeom prst="rect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/>
          <p:nvPr/>
        </p:nvSpPr>
        <p:spPr>
          <a:xfrm>
            <a:off x="8595360" y="2624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f1</a:t>
            </a:r>
            <a:endParaRPr lang="en-US" sz="550" dirty="0"/>
          </a:p>
        </p:txBody>
      </p:sp>
      <p:sp>
        <p:nvSpPr>
          <p:cNvPr id="99" name="Shape 96"/>
          <p:cNvSpPr/>
          <p:nvPr/>
        </p:nvSpPr>
        <p:spPr>
          <a:xfrm>
            <a:off x="9646920" y="1463040"/>
            <a:ext cx="164592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97"/>
          <p:cNvSpPr/>
          <p:nvPr/>
        </p:nvSpPr>
        <p:spPr>
          <a:xfrm>
            <a:off x="9601200" y="2624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f2</a:t>
            </a:r>
            <a:endParaRPr lang="en-US" sz="550" dirty="0"/>
          </a:p>
        </p:txBody>
      </p:sp>
      <p:sp>
        <p:nvSpPr>
          <p:cNvPr id="101" name="Shape 98"/>
          <p:cNvSpPr/>
          <p:nvPr/>
        </p:nvSpPr>
        <p:spPr>
          <a:xfrm>
            <a:off x="2743200" y="4434840"/>
            <a:ext cx="4846320" cy="502920"/>
          </a:xfrm>
          <a:prstGeom prst="roundRect">
            <a:avLst>
              <a:gd name="adj" fmla="val 9091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/>
          <p:nvPr/>
        </p:nvSpPr>
        <p:spPr>
          <a:xfrm>
            <a:off x="2816352" y="4489704"/>
            <a:ext cx="47000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Spectrum shows where oscillatory energy is concentrated.</a:t>
            </a:r>
            <a:endParaRPr lang="en-US" sz="850" dirty="0"/>
          </a:p>
        </p:txBody>
      </p:sp>
      <p:sp>
        <p:nvSpPr>
          <p:cNvPr id="103" name="Text 100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 spectrum can be summarized by peak frequencies and band powers.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CA5D13-BC39-4B5A-6425-3CCBD2C4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transform: conceptual role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48233D-68A5-9578-DDF2-183792B1D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The Fourier transform converts a time-domain signal into a frequency-domain representation.</a:t>
            </a:r>
          </a:p>
          <a:p>
            <a:r>
              <a:rPr lang="en-GB" dirty="0"/>
              <a:t>Conceptually:</a:t>
            </a:r>
          </a:p>
          <a:p>
            <a:pPr lvl="1"/>
            <a:r>
              <a:rPr lang="en-GB" dirty="0"/>
              <a:t>time-domain samples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Fourier transform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frequency components</a:t>
            </a:r>
          </a:p>
          <a:p>
            <a:r>
              <a:rPr lang="en-GB" dirty="0"/>
              <a:t>For a sampled window containing L observations, the discrete Fourier transform produces a finite set of frequency components.</a:t>
            </a:r>
          </a:p>
          <a:p>
            <a:endParaRPr lang="en-GB" dirty="0"/>
          </a:p>
          <a:p>
            <a:r>
              <a:rPr lang="en-GB" dirty="0"/>
              <a:t>The important ideas are:</a:t>
            </a:r>
          </a:p>
          <a:p>
            <a:pPr lvl="1"/>
            <a:r>
              <a:rPr lang="en-GB" dirty="0"/>
              <a:t>each frequency component has a magnitude; </a:t>
            </a:r>
          </a:p>
          <a:p>
            <a:pPr lvl="1"/>
            <a:r>
              <a:rPr lang="en-GB" dirty="0"/>
              <a:t>frequency components correspond to oscillations at different rates; </a:t>
            </a:r>
          </a:p>
          <a:p>
            <a:pPr lvl="1"/>
            <a:r>
              <a:rPr lang="en-GB" dirty="0"/>
              <a:t>the spectrum can be summarized into features; </a:t>
            </a:r>
          </a:p>
          <a:p>
            <a:pPr lvl="1"/>
            <a:r>
              <a:rPr lang="en-GB" b="1" dirty="0">
                <a:highlight>
                  <a:srgbClr val="FFFF00"/>
                </a:highlight>
              </a:rPr>
              <a:t>sampling frequency determines the physical meaning of the frequency axis</a:t>
            </a:r>
            <a:r>
              <a:rPr lang="en-GB" b="1" dirty="0"/>
              <a:t>. </a:t>
            </a:r>
          </a:p>
          <a:p>
            <a:pPr lvl="2"/>
            <a:r>
              <a:rPr lang="en-GB" b="1" dirty="0"/>
              <a:t>Frequency has physical meaning only after the sampling interval is known. FFT indices describe cycles per sample; the sampling frequency converts them into cycles per second (Hz).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05455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6D5F47-7853-E5A9-BF28-9F12BA9D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Typical workflow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F7683D-7818-2FFA-DA34-47D66F4A3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temporal window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remove mean / optional detrending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Fourier transform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magnitude or power spectrum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extract spectral features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Practical note</a:t>
            </a:r>
          </a:p>
          <a:p>
            <a:r>
              <a:rPr lang="en-GB" dirty="0"/>
              <a:t>Spectral analysis is usually applied to finite windows, so window length influences:</a:t>
            </a:r>
          </a:p>
          <a:p>
            <a:pPr lvl="1"/>
            <a:r>
              <a:rPr lang="en-GB" dirty="0"/>
              <a:t>frequency resolution; </a:t>
            </a:r>
          </a:p>
          <a:p>
            <a:pPr lvl="1"/>
            <a:r>
              <a:rPr lang="en-GB" dirty="0"/>
              <a:t>temporal localization.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1800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5D0B91-9B12-E5AC-9D1E-D13329A5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Sampling frequency gives physical meaning to the spectrum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6C6B14-6525-01C5-9F6F-A679CA396B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Suppose the </a:t>
            </a:r>
            <a:r>
              <a:rPr lang="en-GB" dirty="0">
                <a:highlight>
                  <a:srgbClr val="FFFF00"/>
                </a:highlight>
              </a:rPr>
              <a:t>sampling frequency </a:t>
            </a:r>
            <a:r>
              <a:rPr lang="en-GB" dirty="0"/>
              <a:t>is: Fs = 100 Hz</a:t>
            </a:r>
          </a:p>
          <a:p>
            <a:r>
              <a:rPr lang="en-GB" dirty="0"/>
              <a:t>This means: 100 samples per second</a:t>
            </a:r>
          </a:p>
          <a:p>
            <a:r>
              <a:rPr lang="en-GB" dirty="0"/>
              <a:t>The sampling interval is:</a:t>
            </a:r>
          </a:p>
          <a:p>
            <a:r>
              <a:rPr lang="en-GB" dirty="0"/>
              <a:t>1 / 100 = 0.01 seconds</a:t>
            </a:r>
          </a:p>
          <a:p>
            <a:r>
              <a:rPr lang="en-GB" b="1" dirty="0"/>
              <a:t>Examples</a:t>
            </a:r>
          </a:p>
          <a:p>
            <a:r>
              <a:rPr lang="en-GB" dirty="0">
                <a:highlight>
                  <a:srgbClr val="FFFF00"/>
                </a:highlight>
              </a:rPr>
              <a:t>A temporal period of 20 samples </a:t>
            </a:r>
            <a:r>
              <a:rPr lang="en-GB" dirty="0"/>
              <a:t>corresponds to:</a:t>
            </a:r>
          </a:p>
          <a:p>
            <a:pPr lvl="1"/>
            <a:r>
              <a:rPr lang="en-GB" dirty="0"/>
              <a:t>20 / 100 = 0.2 seconds</a:t>
            </a:r>
          </a:p>
          <a:p>
            <a:r>
              <a:rPr lang="en-GB" dirty="0"/>
              <a:t>and therefore to:</a:t>
            </a:r>
          </a:p>
          <a:p>
            <a:pPr lvl="1"/>
            <a:r>
              <a:rPr lang="en-GB" dirty="0"/>
              <a:t>5 oscillations per second = 5 Hz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91C3475-6E47-7391-20A3-FA0940C3BC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Nyquist frequency</a:t>
            </a:r>
          </a:p>
          <a:p>
            <a:r>
              <a:rPr lang="en-GB" dirty="0"/>
              <a:t>With a sampling rate Fs, </a:t>
            </a:r>
            <a:r>
              <a:rPr lang="en-GB" dirty="0">
                <a:highlight>
                  <a:srgbClr val="FFFF00"/>
                </a:highlight>
              </a:rPr>
              <a:t>frequencies above: Fs / </a:t>
            </a:r>
            <a:r>
              <a:rPr lang="en-GB" dirty="0"/>
              <a:t>2</a:t>
            </a:r>
          </a:p>
          <a:p>
            <a:r>
              <a:rPr lang="en-GB" dirty="0">
                <a:highlight>
                  <a:srgbClr val="FFFF00"/>
                </a:highlight>
              </a:rPr>
              <a:t>cannot be uniquely represented by the sampled signal.</a:t>
            </a:r>
          </a:p>
          <a:p>
            <a:r>
              <a:rPr lang="en-GB" dirty="0"/>
              <a:t>For: Fs = 100 Hz</a:t>
            </a:r>
          </a:p>
          <a:p>
            <a:r>
              <a:rPr lang="en-GB" dirty="0"/>
              <a:t>the highest uniquely representable frequency is: 50 Hz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D572914-239C-087E-AA8F-CE8FC46CA827}"/>
              </a:ext>
            </a:extLst>
          </p:cNvPr>
          <p:cNvSpPr txBox="1"/>
          <p:nvPr/>
        </p:nvSpPr>
        <p:spPr>
          <a:xfrm>
            <a:off x="5695950" y="4927601"/>
            <a:ext cx="61087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Nyquist frequency</a:t>
            </a:r>
            <a:br>
              <a:rPr lang="en-GB" dirty="0"/>
            </a:br>
            <a:r>
              <a:rPr lang="en-GB" dirty="0"/>
              <a:t>With sampling rate Fs, frequencies above Fs/2 cannot be uniquely represented and are aliased into lower frequencies.</a:t>
            </a:r>
            <a:br>
              <a:rPr lang="en-GB" dirty="0"/>
            </a:br>
            <a:r>
              <a:rPr lang="en-GB" dirty="0"/>
              <a:t>For Fs = 100 Hz, the highest uniquely representable frequency is 50 Hz.</a:t>
            </a:r>
          </a:p>
        </p:txBody>
      </p:sp>
    </p:spTree>
    <p:extLst>
      <p:ext uri="{BB962C8B-B14F-4D97-AF65-F5344CB8AC3E}">
        <p14:creationId xmlns:p14="http://schemas.microsoft.com/office/powerpoint/2010/main" val="6026643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3.D.4 -- Sampling frequency and the Nyquist limit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The physical meaning of frequency bins depends on the sampling rate.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822960" y="118872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96112" y="1243584"/>
            <a:ext cx="223113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Sampling frequency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Fs = 100 Hz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100 samples / second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" y="2377440"/>
            <a:ext cx="2377440" cy="685800"/>
          </a:xfrm>
          <a:prstGeom prst="roundRect">
            <a:avLst>
              <a:gd name="adj" fmla="val 6667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96112" y="2432304"/>
            <a:ext cx="22311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Sampling interval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1 / Fs = 0.01 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2377440" cy="685800"/>
          </a:xfrm>
          <a:prstGeom prst="roundRect">
            <a:avLst>
              <a:gd name="adj" fmla="val 6667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96112" y="3392424"/>
            <a:ext cx="22311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Nyquist frequency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Fs / 2 = 50 Hz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023360" y="2971800"/>
            <a:ext cx="530352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023360" y="1417320"/>
            <a:ext cx="0" cy="15544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098280" y="30632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frequency (Hz)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3886200" y="125272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4206240" y="2331720"/>
            <a:ext cx="4937760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206240" y="2240280"/>
            <a:ext cx="0" cy="18288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069080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</a:rPr>
              <a:t>0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5193792" y="2240280"/>
            <a:ext cx="0" cy="18288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056632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</a:rPr>
              <a:t>10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6181344" y="2240280"/>
            <a:ext cx="0" cy="18288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044184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</a:rPr>
              <a:t>20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7168896" y="2240280"/>
            <a:ext cx="0" cy="18288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031736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</a:rPr>
              <a:t>30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8156448" y="2240280"/>
            <a:ext cx="0" cy="18288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8019288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</a:rPr>
              <a:t>40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9144000" y="2240280"/>
            <a:ext cx="0" cy="18288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9006840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</a:rPr>
              <a:t>50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9144000" y="1508760"/>
            <a:ext cx="0" cy="1234440"/>
          </a:xfrm>
          <a:prstGeom prst="line">
            <a:avLst/>
          </a:prstGeom>
          <a:noFill/>
          <a:ln w="2032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882396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4444"/>
                </a:solidFill>
              </a:rPr>
              <a:t>Nyquist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D94444"/>
                </a:solidFill>
              </a:rPr>
              <a:t>50 Hz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937760" y="3977640"/>
            <a:ext cx="3749040" cy="54864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1016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010912" y="4032504"/>
            <a:ext cx="3602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Frequencies above Fs/2 cannot be uniquely represented by samples.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Time-step indices are not physical time unless the sampling frequency is known.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AEBEAB-454D-C7C9-1623-8959423F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Frequency resolution depends on window duration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CCD3CC-84AA-8698-C3BD-EEB1949D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Suppose a signal is sampled at frequency Fs. A window contains L samples.</a:t>
            </a:r>
          </a:p>
          <a:p>
            <a:r>
              <a:rPr lang="en-GB" dirty="0"/>
              <a:t>Window duration: duration = L / Fs</a:t>
            </a:r>
          </a:p>
          <a:p>
            <a:r>
              <a:rPr lang="en-GB" dirty="0"/>
              <a:t>The </a:t>
            </a:r>
            <a:r>
              <a:rPr lang="en-GB" dirty="0">
                <a:highlight>
                  <a:srgbClr val="FFFF00"/>
                </a:highlight>
              </a:rPr>
              <a:t>approximate spacing between frequency bins </a:t>
            </a:r>
            <a:r>
              <a:rPr lang="en-GB" dirty="0"/>
              <a:t>is: </a:t>
            </a:r>
            <a:r>
              <a:rPr lang="en-GB" dirty="0">
                <a:highlight>
                  <a:srgbClr val="FFFF00"/>
                </a:highlight>
              </a:rPr>
              <a:t>frequency resolution = Fs / L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Sampling: Fs = 100 Hz</a:t>
            </a:r>
          </a:p>
          <a:p>
            <a:r>
              <a:rPr lang="en-GB" dirty="0"/>
              <a:t>Window 1: L = 100 =&gt; Duration: 1 second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Frequency resolution: 1 Hz</a:t>
            </a:r>
          </a:p>
          <a:p>
            <a:r>
              <a:rPr lang="en-GB" dirty="0"/>
              <a:t>Window 2: L = 1000 =&gt; Duration: 10 seconds</a:t>
            </a:r>
          </a:p>
          <a:p>
            <a:pPr lvl="1"/>
            <a:r>
              <a:rPr lang="en-GB" dirty="0"/>
              <a:t>Frequency resolution: 0.1 Hz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94012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AA8540-2F60-19C7-4921-7AF2E237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Frequency resolution depends on window duration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795659-4091-E604-098E-F47D348A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Trade-off</a:t>
            </a:r>
          </a:p>
          <a:p>
            <a:r>
              <a:rPr lang="en-GB" dirty="0"/>
              <a:t>Long windows:</a:t>
            </a:r>
          </a:p>
          <a:p>
            <a:pPr lvl="1"/>
            <a:r>
              <a:rPr lang="en-GB" dirty="0"/>
              <a:t>distinguish nearby frequencies better; </a:t>
            </a:r>
          </a:p>
          <a:p>
            <a:pPr lvl="1"/>
            <a:r>
              <a:rPr lang="en-GB" dirty="0"/>
              <a:t>provide poorer temporal localization. </a:t>
            </a:r>
          </a:p>
          <a:p>
            <a:r>
              <a:rPr lang="en-GB" dirty="0"/>
              <a:t>Short windows:</a:t>
            </a:r>
          </a:p>
          <a:p>
            <a:pPr lvl="1"/>
            <a:r>
              <a:rPr lang="en-GB" dirty="0"/>
              <a:t>localize changes better in time; </a:t>
            </a:r>
          </a:p>
          <a:p>
            <a:pPr lvl="1"/>
            <a:r>
              <a:rPr lang="en-GB" dirty="0"/>
              <a:t>provide coarser frequency resolution. </a:t>
            </a:r>
          </a:p>
          <a:p>
            <a:r>
              <a:rPr lang="en-GB" b="1" dirty="0"/>
              <a:t>This is another window-length trade-off</a:t>
            </a:r>
          </a:p>
          <a:p>
            <a:r>
              <a:rPr lang="en-GB" dirty="0"/>
              <a:t>The same design parameter affects both:</a:t>
            </a:r>
          </a:p>
          <a:p>
            <a:pPr lvl="1"/>
            <a:r>
              <a:rPr lang="en-GB" dirty="0"/>
              <a:t>temporal context; </a:t>
            </a:r>
          </a:p>
          <a:p>
            <a:pPr lvl="1"/>
            <a:r>
              <a:rPr lang="en-GB" dirty="0"/>
              <a:t>spectral resolution.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76016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3.D.5 -- Window duration controls frequency resolution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Longer windows distinguish nearby frequencies better but localize changes less precisely in time.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22960" y="114300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96112" y="1197864"/>
            <a:ext cx="213969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Fs = 100 Hz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L = 100 samples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Duration = 1 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Resolution = 1 Hz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22960" y="283464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EAF5E5"/>
          </a:solidFill>
          <a:ln w="1016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96112" y="2889504"/>
            <a:ext cx="213969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Fs = 100 Hz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L = 1000 samples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Duration = 10 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Resolution = 0.1 Hz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31920" y="2423160"/>
            <a:ext cx="56692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931920" y="1051560"/>
            <a:ext cx="0" cy="13716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9372600" y="25146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frequency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3794760" y="88696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power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5212080" y="1737360"/>
            <a:ext cx="228600" cy="685800"/>
          </a:xfrm>
          <a:prstGeom prst="rect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166360" y="24871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f1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5577840" y="1783080"/>
            <a:ext cx="228600" cy="640080"/>
          </a:xfrm>
          <a:prstGeom prst="rect">
            <a:avLst/>
          </a:prstGeom>
          <a:solidFill>
            <a:srgbClr val="2F73B8"/>
          </a:solidFill>
          <a:ln w="1270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532120" y="24871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f2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658368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73B8"/>
                </a:solidFill>
              </a:rPr>
              <a:t>short window: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2F73B8"/>
                </a:solidFill>
              </a:rPr>
              <a:t>peaks may be hard to separate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931920" y="4709160"/>
            <a:ext cx="56692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3931920" y="3337560"/>
            <a:ext cx="0" cy="13716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9372600" y="48006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frequency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3794760" y="317296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power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5212080" y="3931920"/>
            <a:ext cx="128016" cy="685800"/>
          </a:xfrm>
          <a:prstGeom prst="rect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5166360" y="468172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f1</a:t>
            </a:r>
            <a:endParaRPr lang="en-US" sz="550" dirty="0"/>
          </a:p>
        </p:txBody>
      </p:sp>
      <p:sp>
        <p:nvSpPr>
          <p:cNvPr id="24" name="Shape 21"/>
          <p:cNvSpPr/>
          <p:nvPr/>
        </p:nvSpPr>
        <p:spPr>
          <a:xfrm>
            <a:off x="5577840" y="3931920"/>
            <a:ext cx="128016" cy="685800"/>
          </a:xfrm>
          <a:prstGeom prst="rect">
            <a:avLst/>
          </a:prstGeom>
          <a:solidFill>
            <a:srgbClr val="4F8A2A"/>
          </a:solidFill>
          <a:ln w="1270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532120" y="468172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</a:rPr>
              <a:t>f2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58368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F8A2A"/>
                </a:solidFill>
              </a:rPr>
              <a:t>long window: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4F8A2A"/>
                </a:solidFill>
              </a:rPr>
              <a:t>finer frequency resolution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3474720" y="548640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3547872" y="5541264"/>
            <a:ext cx="48828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Window length affects both temporal context and spectral resolution.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471A36-0B64-31C2-1C56-50AF0633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Spectral features – feature engineering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4D6166-37E8-BEA4-CD2B-EA37F1115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Instead of using the complete spectrum, we can derive a compact feature vector.</a:t>
            </a:r>
          </a:p>
          <a:p>
            <a:endParaRPr lang="en-GB" b="1" dirty="0"/>
          </a:p>
          <a:p>
            <a:r>
              <a:rPr lang="en-GB" b="1" dirty="0"/>
              <a:t>Dominant frequency</a:t>
            </a:r>
          </a:p>
          <a:p>
            <a:pPr lvl="1"/>
            <a:r>
              <a:rPr lang="en-GB" dirty="0"/>
              <a:t>Frequency containing the maximum spectral power.</a:t>
            </a:r>
          </a:p>
          <a:p>
            <a:pPr lvl="1"/>
            <a:r>
              <a:rPr lang="en-GB" dirty="0"/>
              <a:t>Example:</a:t>
            </a:r>
          </a:p>
          <a:p>
            <a:pPr lvl="1"/>
            <a:r>
              <a:rPr lang="en-GB" dirty="0"/>
              <a:t>dominant frequency = 18 Hz</a:t>
            </a:r>
          </a:p>
          <a:p>
            <a:pPr lvl="1"/>
            <a:r>
              <a:rPr lang="en-GB" dirty="0"/>
              <a:t>Useful when a physical oscillation is associated with:</a:t>
            </a:r>
          </a:p>
          <a:p>
            <a:pPr lvl="2"/>
            <a:r>
              <a:rPr lang="en-GB" dirty="0"/>
              <a:t>rotational speed; </a:t>
            </a:r>
          </a:p>
          <a:p>
            <a:pPr lvl="2"/>
            <a:r>
              <a:rPr lang="en-GB" dirty="0"/>
              <a:t>resonance; </a:t>
            </a:r>
          </a:p>
          <a:p>
            <a:pPr lvl="2"/>
            <a:r>
              <a:rPr lang="en-GB" dirty="0"/>
              <a:t>periodic motion. </a:t>
            </a:r>
          </a:p>
          <a:p>
            <a:r>
              <a:rPr lang="en-GB" b="1" dirty="0"/>
              <a:t>Total spectral energy</a:t>
            </a:r>
          </a:p>
          <a:p>
            <a:pPr lvl="1"/>
            <a:r>
              <a:rPr lang="en-GB" dirty="0"/>
              <a:t>Sum of power over all frequencies.</a:t>
            </a:r>
          </a:p>
          <a:p>
            <a:pPr lvl="1"/>
            <a:r>
              <a:rPr lang="en-GB" dirty="0"/>
              <a:t>Represents </a:t>
            </a:r>
            <a:r>
              <a:rPr lang="en-GB" b="1" dirty="0"/>
              <a:t>overall oscillatory activity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767934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BEB61C-5C3D-BCCA-3B85-5932F784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Spectral features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4D3434-D1D9-A646-49DE-24C03D70E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742516" cy="3880772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Band power</a:t>
            </a:r>
          </a:p>
          <a:p>
            <a:r>
              <a:rPr lang="en-GB" dirty="0"/>
              <a:t>Power contained within a predefined frequency interval.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low-frequency energy:  0–10 Hz</a:t>
            </a:r>
          </a:p>
          <a:p>
            <a:pPr lvl="1"/>
            <a:r>
              <a:rPr lang="en-GB" dirty="0"/>
              <a:t>mid-frequency energy: 10–30 Hz</a:t>
            </a:r>
          </a:p>
          <a:p>
            <a:pPr lvl="1"/>
            <a:r>
              <a:rPr lang="en-GB" dirty="0"/>
              <a:t>high-frequency energy: 30–50 Hz</a:t>
            </a:r>
          </a:p>
          <a:p>
            <a:endParaRPr lang="en-GB" b="1" dirty="0"/>
          </a:p>
          <a:p>
            <a:r>
              <a:rPr lang="en-GB" b="1" dirty="0"/>
              <a:t>Relative band power</a:t>
            </a:r>
          </a:p>
          <a:p>
            <a:r>
              <a:rPr lang="en-GB" dirty="0"/>
              <a:t>power in selected band / total power</a:t>
            </a:r>
          </a:p>
          <a:p>
            <a:r>
              <a:rPr lang="en-GB" dirty="0"/>
              <a:t>This makes features less dependent on overall amplitude.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08EC09-E0B5-4FB7-7992-1BB44F964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9492" y="1998664"/>
            <a:ext cx="4184034" cy="3880773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Other possible features</a:t>
            </a:r>
          </a:p>
          <a:p>
            <a:pPr lvl="1"/>
            <a:r>
              <a:rPr lang="en-GB" dirty="0"/>
              <a:t>frequency of spectral peak; </a:t>
            </a:r>
          </a:p>
          <a:p>
            <a:pPr lvl="1"/>
            <a:r>
              <a:rPr lang="en-GB" dirty="0"/>
              <a:t>number of strong peaks; </a:t>
            </a:r>
          </a:p>
          <a:p>
            <a:pPr lvl="1"/>
            <a:r>
              <a:rPr lang="en-GB" dirty="0"/>
              <a:t>spectral centroid; </a:t>
            </a:r>
          </a:p>
          <a:p>
            <a:pPr lvl="1"/>
            <a:r>
              <a:rPr lang="en-GB" dirty="0"/>
              <a:t>spectral spread. 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6CE8EC-42F7-EA1E-6654-16726357E730}"/>
              </a:ext>
            </a:extLst>
          </p:cNvPr>
          <p:cNvSpPr txBox="1"/>
          <p:nvPr/>
        </p:nvSpPr>
        <p:spPr>
          <a:xfrm>
            <a:off x="4975668" y="6248400"/>
            <a:ext cx="6892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Only features relevant to the application need to be considered.</a:t>
            </a:r>
          </a:p>
        </p:txBody>
      </p:sp>
    </p:spTree>
    <p:extLst>
      <p:ext uri="{BB962C8B-B14F-4D97-AF65-F5344CB8AC3E}">
        <p14:creationId xmlns:p14="http://schemas.microsoft.com/office/powerpoint/2010/main" val="21221993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3.D.6 -- Spectral features: peaks and band powers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The full spectrum can be summarized into a compact set of physical features.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822960" y="3886200"/>
            <a:ext cx="758952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822960" y="960120"/>
            <a:ext cx="0" cy="29260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183880" y="3977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frequency (Hz)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685800" y="79552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power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 flipV="1">
            <a:off x="960120" y="3566158"/>
            <a:ext cx="475482" cy="91442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 flipV="1">
            <a:off x="1435608" y="3410712"/>
            <a:ext cx="475487" cy="164592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 flipV="1">
            <a:off x="1911095" y="3246120"/>
            <a:ext cx="493769" cy="164592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 flipV="1">
            <a:off x="2386583" y="2889504"/>
            <a:ext cx="493771" cy="356616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 flipV="1">
            <a:off x="2862071" y="1207007"/>
            <a:ext cx="506573" cy="1709929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337560" y="1188720"/>
            <a:ext cx="475488" cy="1645920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813048" y="2834640"/>
            <a:ext cx="475488" cy="329184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288536" y="3163824"/>
            <a:ext cx="475488" cy="164592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 flipV="1">
            <a:off x="4764024" y="2990088"/>
            <a:ext cx="475488" cy="338328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 flipV="1">
            <a:off x="5239512" y="2011680"/>
            <a:ext cx="475476" cy="987552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715000" y="2011680"/>
            <a:ext cx="475488" cy="658368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6190488" y="2670048"/>
            <a:ext cx="475488" cy="658368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665976" y="3328416"/>
            <a:ext cx="475488" cy="82296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7141464" y="3410712"/>
            <a:ext cx="475488" cy="82296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7616952" y="3493008"/>
            <a:ext cx="475488" cy="164592"/>
          </a:xfrm>
          <a:prstGeom prst="line">
            <a:avLst/>
          </a:prstGeom>
          <a:noFill/>
          <a:ln w="1524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893369" y="1197864"/>
            <a:ext cx="2286000" cy="2468880"/>
          </a:xfrm>
          <a:prstGeom prst="rect">
            <a:avLst/>
          </a:prstGeom>
          <a:solidFill>
            <a:srgbClr val="EAF5E5">
              <a:alpha val="45000"/>
            </a:srgbClr>
          </a:solidFill>
          <a:ln w="635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3222340" y="1207007"/>
            <a:ext cx="2377440" cy="2468880"/>
          </a:xfrm>
          <a:prstGeom prst="rect">
            <a:avLst/>
          </a:prstGeom>
          <a:solidFill>
            <a:srgbClr val="FFF3DE">
              <a:alpha val="45000"/>
            </a:srgbClr>
          </a:solidFill>
          <a:ln w="63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5623560" y="1188720"/>
            <a:ext cx="2468880" cy="2468880"/>
          </a:xfrm>
          <a:prstGeom prst="rect">
            <a:avLst/>
          </a:prstGeom>
          <a:solidFill>
            <a:srgbClr val="FDECEC">
              <a:alpha val="45000"/>
            </a:srgbClr>
          </a:solidFill>
          <a:ln w="635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16002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F8A2A"/>
                </a:solidFill>
              </a:rPr>
              <a:t>low band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9776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39C12"/>
                </a:solidFill>
              </a:rPr>
              <a:t>mid band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635508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4444"/>
                </a:solidFill>
              </a:rPr>
              <a:t>high band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3273552" y="1124712"/>
            <a:ext cx="128016" cy="128016"/>
          </a:xfrm>
          <a:prstGeom prst="ellipse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2880360" y="685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4444"/>
                </a:solidFill>
              </a:rPr>
              <a:t>dominant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94444"/>
                </a:solidFill>
              </a:rPr>
              <a:t>frequency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8732520" y="1280160"/>
            <a:ext cx="2148840" cy="1828800"/>
          </a:xfrm>
          <a:prstGeom prst="roundRect">
            <a:avLst>
              <a:gd name="adj" fmla="val 2500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8805672" y="1335024"/>
            <a:ext cx="2002536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Example features: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dominant frequency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total energy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low/mid/high band power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relative band power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Band definitions should reflect physical knowledge or validation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186F3-63B6-F506-D755-E7493DEAC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vibration-based condition monitoring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E73968-AC7E-F63A-C617-EDB59C4E9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Suppose a machine vibration signal contains information about component condition.</a:t>
            </a:r>
          </a:p>
          <a:p>
            <a:r>
              <a:rPr lang="en-GB" b="1" dirty="0"/>
              <a:t>Normal condition</a:t>
            </a:r>
          </a:p>
          <a:p>
            <a:r>
              <a:rPr lang="en-GB" dirty="0"/>
              <a:t>Spectrum may contain:</a:t>
            </a:r>
          </a:p>
          <a:p>
            <a:pPr lvl="1"/>
            <a:r>
              <a:rPr lang="en-GB" dirty="0"/>
              <a:t>rotational-frequency component; </a:t>
            </a:r>
          </a:p>
          <a:p>
            <a:pPr lvl="1"/>
            <a:r>
              <a:rPr lang="en-GB" dirty="0"/>
              <a:t>low background energy. </a:t>
            </a:r>
          </a:p>
          <a:p>
            <a:r>
              <a:rPr lang="en-GB" b="1" dirty="0"/>
              <a:t>Fault condition</a:t>
            </a:r>
          </a:p>
          <a:p>
            <a:r>
              <a:rPr lang="en-GB" dirty="0"/>
              <a:t>The spectrum may show:</a:t>
            </a:r>
          </a:p>
          <a:p>
            <a:pPr lvl="1"/>
            <a:r>
              <a:rPr lang="en-GB" dirty="0"/>
              <a:t>stronger harmonics; </a:t>
            </a:r>
          </a:p>
          <a:p>
            <a:pPr lvl="1"/>
            <a:r>
              <a:rPr lang="en-GB" dirty="0"/>
              <a:t>new frequency peaks; </a:t>
            </a:r>
          </a:p>
          <a:p>
            <a:pPr lvl="1"/>
            <a:r>
              <a:rPr lang="en-GB" dirty="0"/>
              <a:t>increased energy in specific bands. </a:t>
            </a:r>
          </a:p>
          <a:p>
            <a:endParaRPr lang="en-GB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7792784-4C61-FB0E-4AFF-108658941E7C}"/>
              </a:ext>
            </a:extLst>
          </p:cNvPr>
          <p:cNvSpPr txBox="1"/>
          <p:nvPr/>
        </p:nvSpPr>
        <p:spPr>
          <a:xfrm>
            <a:off x="5614988" y="4927601"/>
            <a:ext cx="610552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/>
              <a:t>Stronger harmonics</a:t>
            </a:r>
            <a:r>
              <a:rPr lang="en-GB" sz="1400" dirty="0"/>
              <a:t> means that the signal contains more energy at frequencies that are integer multiples of a fundamental frequency.</a:t>
            </a:r>
          </a:p>
          <a:p>
            <a:pPr>
              <a:buNone/>
            </a:pPr>
            <a:endParaRPr lang="en-GB" sz="1400" dirty="0"/>
          </a:p>
          <a:p>
            <a:pPr>
              <a:buNone/>
            </a:pPr>
            <a:r>
              <a:rPr lang="en-GB" sz="1400" dirty="0"/>
              <a:t>For example, if the main frequency is f</a:t>
            </a:r>
            <a:r>
              <a:rPr lang="en-GB" sz="1400" baseline="-25000" dirty="0"/>
              <a:t>0</a:t>
            </a:r>
            <a:r>
              <a:rPr lang="en-GB" sz="1400" dirty="0"/>
              <a:t>​=10 Hz, </a:t>
            </a:r>
          </a:p>
          <a:p>
            <a:pPr>
              <a:buNone/>
            </a:pPr>
            <a:r>
              <a:rPr lang="en-GB" sz="1400" dirty="0"/>
              <a:t>then its harmonics are 2 f</a:t>
            </a:r>
            <a:r>
              <a:rPr lang="en-GB" sz="1400" baseline="-25000" dirty="0"/>
              <a:t>0 </a:t>
            </a:r>
            <a:r>
              <a:rPr lang="en-GB" sz="1400" dirty="0"/>
              <a:t>=20 Hz,3 f</a:t>
            </a:r>
            <a:r>
              <a:rPr lang="en-GB" sz="1400" baseline="-25000" dirty="0"/>
              <a:t>0 </a:t>
            </a:r>
            <a:r>
              <a:rPr lang="en-GB" sz="1400" dirty="0"/>
              <a:t>​=30 Hz,4 f</a:t>
            </a:r>
            <a:r>
              <a:rPr lang="en-GB" sz="1400" baseline="-25000" dirty="0"/>
              <a:t>0 </a:t>
            </a:r>
            <a:r>
              <a:rPr lang="en-GB" sz="1400" dirty="0"/>
              <a:t>​=40 Hz,… </a:t>
            </a:r>
          </a:p>
          <a:p>
            <a:pPr>
              <a:buNone/>
            </a:pPr>
            <a:r>
              <a:rPr lang="en-GB" sz="1400" dirty="0"/>
              <a:t>If those harmonic peaks become </a:t>
            </a:r>
            <a:r>
              <a:rPr lang="en-GB" sz="1400" b="1" dirty="0"/>
              <a:t>stronger</a:t>
            </a:r>
            <a:r>
              <a:rPr lang="en-GB" sz="1400" dirty="0"/>
              <a:t>, their amplitudes in the spectrum increase.</a:t>
            </a:r>
          </a:p>
        </p:txBody>
      </p:sp>
    </p:spTree>
    <p:extLst>
      <p:ext uri="{BB962C8B-B14F-4D97-AF65-F5344CB8AC3E}">
        <p14:creationId xmlns:p14="http://schemas.microsoft.com/office/powerpoint/2010/main" val="217374022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C06213-B60C-ED9B-E6B7-3215A96E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vibration-based condition monitoring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BE62E1-9012-50FA-F273-2DF41A97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Possible feature vector</a:t>
            </a:r>
          </a:p>
          <a:p>
            <a:pPr lvl="1"/>
            <a:r>
              <a:rPr lang="en-GB" dirty="0"/>
              <a:t>RMS vibration</a:t>
            </a:r>
          </a:p>
          <a:p>
            <a:pPr lvl="1"/>
            <a:r>
              <a:rPr lang="en-GB" dirty="0"/>
              <a:t>maximum vibration</a:t>
            </a:r>
          </a:p>
          <a:p>
            <a:pPr lvl="1"/>
            <a:r>
              <a:rPr lang="en-GB" dirty="0"/>
              <a:t>dominant frequency</a:t>
            </a:r>
          </a:p>
          <a:p>
            <a:pPr lvl="1"/>
            <a:r>
              <a:rPr lang="en-GB" dirty="0"/>
              <a:t>power around rotation frequency</a:t>
            </a:r>
          </a:p>
          <a:p>
            <a:pPr lvl="1"/>
            <a:r>
              <a:rPr lang="en-GB" dirty="0"/>
              <a:t>power in high-frequency band</a:t>
            </a:r>
          </a:p>
          <a:p>
            <a:pPr lvl="1"/>
            <a:r>
              <a:rPr lang="en-GB" dirty="0"/>
              <a:t>spectral energy ratio</a:t>
            </a:r>
          </a:p>
          <a:p>
            <a:r>
              <a:rPr lang="en-GB" dirty="0"/>
              <a:t>A conventional classifier can then use these features to predict:</a:t>
            </a:r>
          </a:p>
          <a:p>
            <a:pPr lvl="1"/>
            <a:r>
              <a:rPr lang="en-GB" dirty="0"/>
              <a:t>normal</a:t>
            </a:r>
          </a:p>
          <a:p>
            <a:pPr lvl="1"/>
            <a:r>
              <a:rPr lang="en-GB" dirty="0"/>
              <a:t>imbalance</a:t>
            </a:r>
          </a:p>
          <a:p>
            <a:pPr lvl="1"/>
            <a:r>
              <a:rPr lang="en-GB" dirty="0"/>
              <a:t>misalignment</a:t>
            </a:r>
          </a:p>
          <a:p>
            <a:pPr lvl="1"/>
            <a:r>
              <a:rPr lang="en-GB" dirty="0"/>
              <a:t>bearing fault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11C78B4-E36B-98FB-3A3E-4C0B6040007A}"/>
              </a:ext>
            </a:extLst>
          </p:cNvPr>
          <p:cNvSpPr txBox="1"/>
          <p:nvPr/>
        </p:nvSpPr>
        <p:spPr>
          <a:xfrm>
            <a:off x="5167313" y="5579697"/>
            <a:ext cx="6105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classifier does not receive the raw waveform.</a:t>
            </a:r>
          </a:p>
          <a:p>
            <a:r>
              <a:rPr lang="en-GB" sz="1800" b="1" dirty="0"/>
              <a:t>It receives a manually constructed representation of the waveform.</a:t>
            </a:r>
          </a:p>
        </p:txBody>
      </p:sp>
    </p:spTree>
    <p:extLst>
      <p:ext uri="{BB962C8B-B14F-4D97-AF65-F5344CB8AC3E}">
        <p14:creationId xmlns:p14="http://schemas.microsoft.com/office/powerpoint/2010/main" val="16620826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3.D.7 -- Vibration-based condition monitoring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20040" y="530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Faults may change harmonic peaks and frequency-band energy.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A2A"/>
                </a:solidFill>
              </a:rPr>
              <a:t>Normal spectrum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1520" y="3337560"/>
            <a:ext cx="402336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31520" y="1325880"/>
            <a:ext cx="0" cy="20116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26280" y="34290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frequency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594360" y="116128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power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 flipV="1">
            <a:off x="868680" y="2948443"/>
            <a:ext cx="380998" cy="81998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 flipV="1">
            <a:off x="1270000" y="1545336"/>
            <a:ext cx="401307" cy="1403107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671320" y="1554480"/>
            <a:ext cx="401320" cy="1279166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072640" y="2833646"/>
            <a:ext cx="401320" cy="65598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2473960" y="2899244"/>
            <a:ext cx="401320" cy="49199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2875280" y="2948443"/>
            <a:ext cx="401320" cy="49199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276600" y="2997642"/>
            <a:ext cx="401320" cy="32799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3677920" y="3030441"/>
            <a:ext cx="401320" cy="32799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079240" y="3063240"/>
            <a:ext cx="401320" cy="0"/>
          </a:xfrm>
          <a:prstGeom prst="line">
            <a:avLst/>
          </a:prstGeom>
          <a:noFill/>
          <a:ln w="15240">
            <a:solidFill>
              <a:srgbClr val="4F8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669280" y="914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4444"/>
                </a:solidFill>
              </a:rPr>
              <a:t>Fault spectrum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03520" y="3337560"/>
            <a:ext cx="402336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303520" y="1325880"/>
            <a:ext cx="0" cy="20116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9098280" y="34290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frequency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166360" y="116128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power</a:t>
            </a:r>
            <a:endParaRPr lang="en-US" sz="550" dirty="0"/>
          </a:p>
        </p:txBody>
      </p:sp>
      <p:sp>
        <p:nvSpPr>
          <p:cNvPr id="24" name="Shape 21"/>
          <p:cNvSpPr/>
          <p:nvPr/>
        </p:nvSpPr>
        <p:spPr>
          <a:xfrm flipV="1">
            <a:off x="5440679" y="2899244"/>
            <a:ext cx="411473" cy="163996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 flipV="1">
            <a:off x="5842000" y="1545336"/>
            <a:ext cx="411472" cy="1372481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243320" y="1554480"/>
            <a:ext cx="401320" cy="908892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 flipV="1">
            <a:off x="6644640" y="1658699"/>
            <a:ext cx="401320" cy="804673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7045960" y="1645369"/>
            <a:ext cx="401320" cy="508979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 flipV="1">
            <a:off x="7447280" y="1827146"/>
            <a:ext cx="401320" cy="327202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7848600" y="1827147"/>
            <a:ext cx="401320" cy="727113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 flipV="1">
            <a:off x="8249920" y="2281593"/>
            <a:ext cx="411472" cy="272668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8651240" y="2281593"/>
            <a:ext cx="401320" cy="454446"/>
          </a:xfrm>
          <a:prstGeom prst="line">
            <a:avLst/>
          </a:prstGeom>
          <a:noFill/>
          <a:ln w="15240">
            <a:solidFill>
              <a:srgbClr val="D9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1143000" y="4343400"/>
            <a:ext cx="3657600" cy="1234440"/>
          </a:xfrm>
          <a:prstGeom prst="roundRect">
            <a:avLst>
              <a:gd name="adj" fmla="val 3704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1216152" y="4398264"/>
            <a:ext cx="351129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Possible feature vector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RMS vibration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maximum vibration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dominant frequency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power near rotation frequency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high-band energy ratio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5669280" y="4343400"/>
            <a:ext cx="3108960" cy="1234440"/>
          </a:xfrm>
          <a:prstGeom prst="roundRect">
            <a:avLst>
              <a:gd name="adj" fmla="val 3704"/>
            </a:avLst>
          </a:prstGeom>
          <a:solidFill>
            <a:srgbClr val="EAF3FC"/>
          </a:solidFill>
          <a:ln w="1016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5742432" y="4398264"/>
            <a:ext cx="296265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Classifier output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normal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bearing fault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imbalance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33333"/>
                </a:solidFill>
              </a:rPr>
              <a:t>misalignment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The classifier uses engineered features, not the raw waveform.</a:t>
            </a:r>
            <a:endParaRPr lang="en-US" sz="10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D2CF1B-18B3-AB99-74A7-100AFBE57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Spectral features require careful preprocessing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83734A-68A6-B189-D401-B129930FD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Frequency-domain features are not automatically robust. Several design choices matter.</a:t>
            </a:r>
          </a:p>
          <a:p>
            <a:endParaRPr lang="en-GB" b="1" dirty="0"/>
          </a:p>
          <a:p>
            <a:r>
              <a:rPr lang="en-GB" b="1" dirty="0"/>
              <a:t>Remove the mean</a:t>
            </a:r>
          </a:p>
          <a:p>
            <a:r>
              <a:rPr lang="en-GB" dirty="0"/>
              <a:t>A non-zero mean creates a strong zero-frequency component.</a:t>
            </a:r>
          </a:p>
          <a:p>
            <a:endParaRPr lang="en-GB" b="1" dirty="0"/>
          </a:p>
          <a:p>
            <a:r>
              <a:rPr lang="en-GB" b="1" dirty="0"/>
              <a:t>Detrending</a:t>
            </a:r>
          </a:p>
          <a:p>
            <a:r>
              <a:rPr lang="en-GB" dirty="0"/>
              <a:t>A slow trend may dominate the lowest frequencies.</a:t>
            </a:r>
          </a:p>
          <a:p>
            <a:endParaRPr lang="en-GB" b="1" dirty="0"/>
          </a:p>
          <a:p>
            <a:r>
              <a:rPr lang="en-GB" b="1" dirty="0"/>
              <a:t>Finite-window effects</a:t>
            </a:r>
          </a:p>
          <a:p>
            <a:r>
              <a:rPr lang="en-GB" dirty="0"/>
              <a:t>The analysed signal is always limited to a finite interval.</a:t>
            </a:r>
          </a:p>
          <a:p>
            <a:r>
              <a:rPr lang="en-GB" dirty="0"/>
              <a:t>If an oscillation does not fit exactly inside the window, energy may spread across nearby frequencies.</a:t>
            </a:r>
          </a:p>
          <a:p>
            <a:r>
              <a:rPr lang="en-GB" dirty="0"/>
              <a:t>This is known as </a:t>
            </a:r>
            <a:r>
              <a:rPr lang="en-GB" b="1" dirty="0"/>
              <a:t>spectral leakage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1753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90C931-8563-D87D-01D4-37224D6F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Spectral features require careful preprocessing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462C3C-3AD0-8334-8590-84A06DC19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Window functions</a:t>
            </a:r>
          </a:p>
          <a:p>
            <a:r>
              <a:rPr lang="en-GB" dirty="0"/>
              <a:t>A weighting function may be applied before the Fourier transform to reduce boundary discontinuities.</a:t>
            </a:r>
          </a:p>
          <a:p>
            <a:r>
              <a:rPr lang="en-GB" dirty="0"/>
              <a:t>Examples include:</a:t>
            </a:r>
          </a:p>
          <a:p>
            <a:pPr lvl="1"/>
            <a:r>
              <a:rPr lang="en-GB" dirty="0"/>
              <a:t>Hann window; </a:t>
            </a:r>
          </a:p>
          <a:p>
            <a:pPr lvl="1"/>
            <a:r>
              <a:rPr lang="en-GB" dirty="0"/>
              <a:t>Hamming window. </a:t>
            </a:r>
          </a:p>
          <a:p>
            <a:pPr lvl="1"/>
            <a:r>
              <a:rPr lang="en-GB" dirty="0"/>
              <a:t>No derivation is needed here.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100498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8C3E31-CC66-010D-6D34-7725D684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Hann / Hamming window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F7C11F-FD21-7BE5-8358-F495B3C0F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Applying a </a:t>
            </a:r>
            <a:r>
              <a:rPr lang="en-GB" b="1" dirty="0"/>
              <a:t>Hann or Hamming window</a:t>
            </a:r>
            <a:r>
              <a:rPr lang="en-GB" dirty="0"/>
              <a:t> smooths the beginning and end of the signal segment before computing the FFT. This reduces the artificial discontinuity at the boundaries.</a:t>
            </a:r>
          </a:p>
          <a:p>
            <a:r>
              <a:rPr lang="en-GB" dirty="0"/>
              <a:t>As a result, a frequency component produces </a:t>
            </a:r>
            <a:r>
              <a:rPr lang="en-GB" b="1" dirty="0"/>
              <a:t>less energy spread into distant </a:t>
            </a:r>
            <a:r>
              <a:rPr lang="en-GB" b="1" dirty="0" err="1"/>
              <a:t>neighboring</a:t>
            </a:r>
            <a:r>
              <a:rPr lang="en-GB" b="1" dirty="0"/>
              <a:t> frequencies</a:t>
            </a:r>
            <a:r>
              <a:rPr lang="en-GB" dirty="0"/>
              <a:t>. In other words, the unwanted sidelobes become smaller.</a:t>
            </a:r>
          </a:p>
          <a:p>
            <a:r>
              <a:rPr lang="en-GB" dirty="0"/>
              <a:t>The trade-off is that the energy around the true frequency becomes concentrated in a </a:t>
            </a:r>
            <a:r>
              <a:rPr lang="en-GB" b="1" dirty="0"/>
              <a:t>broader central peak</a:t>
            </a:r>
            <a:r>
              <a:rPr lang="en-GB" dirty="0"/>
              <a:t> rather than a very narrow one. Therefore, two frequencies that are very close together may become harder to distinguish.</a:t>
            </a:r>
          </a:p>
          <a:p>
            <a:r>
              <a:rPr lang="en-GB" dirty="0"/>
              <a:t>So:</a:t>
            </a:r>
          </a:p>
          <a:p>
            <a:pPr lvl="0"/>
            <a:r>
              <a:rPr lang="en-GB" b="1" dirty="0"/>
              <a:t>less leakage</a:t>
            </a:r>
            <a:r>
              <a:rPr lang="en-GB" dirty="0"/>
              <a:t> → cleaner spectrum away from the main frequency; </a:t>
            </a:r>
          </a:p>
          <a:p>
            <a:pPr lvl="0"/>
            <a:r>
              <a:rPr lang="en-GB" b="1" dirty="0"/>
              <a:t>wider main peak</a:t>
            </a:r>
            <a:r>
              <a:rPr lang="en-GB" dirty="0"/>
              <a:t> → slightly poorer ability to separate nearby frequencies. </a:t>
            </a:r>
          </a:p>
          <a:p>
            <a:endParaRPr lang="en-GB" b="1" dirty="0"/>
          </a:p>
          <a:p>
            <a:r>
              <a:rPr lang="en-GB" b="1" dirty="0"/>
              <a:t>Hann and Hamming windows reduce unwanted spectral leakage by suppressing sidelobes, but they broaden the main peak, making very closely spaced frequencies slightly harder to distinguish.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16708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011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3.D.8 -- Spectral leakage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3017520"/>
            <a:ext cx="438912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822960" y="1005840"/>
            <a:ext cx="0" cy="20116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983480" y="31089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time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685800" y="8412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x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960120" y="196596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022271" y="1620056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084421" y="1342662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146572" y="118872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208723" y="1188720"/>
            <a:ext cx="62151" cy="15394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270873" y="1342662"/>
            <a:ext cx="62151" cy="27739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1333024" y="1620056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1395174" y="1965960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457325" y="2311864"/>
            <a:ext cx="62151" cy="27739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1519476" y="2589258"/>
            <a:ext cx="62151" cy="15394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1581626" y="274320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1643777" y="274320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1705928" y="2589258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1768078" y="2311864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1830229" y="196596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1892379" y="1620056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1954530" y="1342662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2016681" y="118872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2078831" y="1188720"/>
            <a:ext cx="62151" cy="15394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2140982" y="1342662"/>
            <a:ext cx="62151" cy="27739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2203133" y="1620056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2265283" y="1965960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2327434" y="2311864"/>
            <a:ext cx="62151" cy="27739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2389584" y="2589258"/>
            <a:ext cx="62151" cy="15394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2451735" y="274320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2513886" y="274320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2576036" y="2589258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2638187" y="2311864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2700338" y="196596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2762488" y="1620056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2824639" y="1342662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2886789" y="118872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2948940" y="1188720"/>
            <a:ext cx="62151" cy="15394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3011091" y="1342662"/>
            <a:ext cx="62151" cy="27739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3073241" y="1620056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3135392" y="1965960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3197543" y="2311864"/>
            <a:ext cx="62151" cy="27739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3259693" y="2589258"/>
            <a:ext cx="62151" cy="15394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3321844" y="274320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383994" y="274320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3446145" y="2589258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3508296" y="2311864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3570446" y="196596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3632597" y="1620056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3694747" y="1342662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3756898" y="118872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3819049" y="1188720"/>
            <a:ext cx="62151" cy="15394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3881199" y="1342662"/>
            <a:ext cx="62151" cy="27739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3943350" y="1620056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4005501" y="1965960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4067651" y="2311864"/>
            <a:ext cx="62151" cy="27739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4129802" y="2589258"/>
            <a:ext cx="62151" cy="15394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4191952" y="274320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4254103" y="274320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4316254" y="2589258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4378404" y="2311864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4440555" y="196596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3"/>
          <p:cNvSpPr/>
          <p:nvPr/>
        </p:nvSpPr>
        <p:spPr>
          <a:xfrm>
            <a:off x="4502706" y="1620056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4564856" y="1342662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4627007" y="1188720"/>
            <a:ext cx="62151" cy="0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4689158" y="1188720"/>
            <a:ext cx="62151" cy="153942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4751308" y="1342662"/>
            <a:ext cx="62151" cy="27739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8"/>
          <p:cNvSpPr/>
          <p:nvPr/>
        </p:nvSpPr>
        <p:spPr>
          <a:xfrm>
            <a:off x="4813459" y="1620056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69"/>
          <p:cNvSpPr/>
          <p:nvPr/>
        </p:nvSpPr>
        <p:spPr>
          <a:xfrm>
            <a:off x="4875609" y="1965960"/>
            <a:ext cx="62151" cy="345904"/>
          </a:xfrm>
          <a:prstGeom prst="line">
            <a:avLst/>
          </a:prstGeom>
          <a:noFill/>
          <a:ln w="1397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>
            <a:off x="960120" y="1024128"/>
            <a:ext cx="3977640" cy="1874520"/>
          </a:xfrm>
          <a:prstGeom prst="rect">
            <a:avLst/>
          </a:prstGeom>
          <a:solidFill>
            <a:srgbClr val="EAF3FC">
              <a:alpha val="30000"/>
            </a:srgbClr>
          </a:solidFill>
          <a:ln w="7620">
            <a:solidFill>
              <a:srgbClr val="2F7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1"/>
          <p:cNvSpPr/>
          <p:nvPr/>
        </p:nvSpPr>
        <p:spPr>
          <a:xfrm>
            <a:off x="2286000" y="3063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F73B8"/>
                </a:solidFill>
              </a:rPr>
              <a:t>finite analysis window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5532120" y="2011680"/>
            <a:ext cx="594360" cy="0"/>
          </a:xfrm>
          <a:prstGeom prst="line">
            <a:avLst/>
          </a:prstGeom>
          <a:noFill/>
          <a:ln w="17780">
            <a:solidFill>
              <a:srgbClr val="4F8A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>
            <a:off x="6355080" y="3017520"/>
            <a:ext cx="329184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>
            <a:off x="6355080" y="1005840"/>
            <a:ext cx="0" cy="201168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5"/>
          <p:cNvSpPr/>
          <p:nvPr/>
        </p:nvSpPr>
        <p:spPr>
          <a:xfrm>
            <a:off x="9418320" y="31089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frequency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6217920" y="8412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</a:rPr>
              <a:t>power</a:t>
            </a:r>
            <a:endParaRPr lang="en-US" sz="550" dirty="0"/>
          </a:p>
        </p:txBody>
      </p:sp>
      <p:sp>
        <p:nvSpPr>
          <p:cNvPr id="80" name="Shape 77"/>
          <p:cNvSpPr/>
          <p:nvPr/>
        </p:nvSpPr>
        <p:spPr>
          <a:xfrm flipV="1">
            <a:off x="6492239" y="2589258"/>
            <a:ext cx="384787" cy="153942"/>
          </a:xfrm>
          <a:prstGeom prst="line">
            <a:avLst/>
          </a:prstGeom>
          <a:noFill/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 flipV="1">
            <a:off x="6857999" y="2011680"/>
            <a:ext cx="411457" cy="563880"/>
          </a:xfrm>
          <a:prstGeom prst="line">
            <a:avLst/>
          </a:prstGeom>
          <a:noFill/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 flipV="1">
            <a:off x="7223760" y="1257303"/>
            <a:ext cx="320033" cy="815337"/>
          </a:xfrm>
          <a:prstGeom prst="line">
            <a:avLst/>
          </a:prstGeom>
          <a:noFill/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7589520" y="1234440"/>
            <a:ext cx="365760" cy="586740"/>
          </a:xfrm>
          <a:prstGeom prst="line">
            <a:avLst/>
          </a:prstGeom>
          <a:noFill/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1"/>
          <p:cNvSpPr/>
          <p:nvPr/>
        </p:nvSpPr>
        <p:spPr>
          <a:xfrm>
            <a:off x="7955280" y="1821180"/>
            <a:ext cx="365760" cy="385572"/>
          </a:xfrm>
          <a:prstGeom prst="line">
            <a:avLst/>
          </a:prstGeom>
          <a:noFill/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8321040" y="2206752"/>
            <a:ext cx="365760" cy="284988"/>
          </a:xfrm>
          <a:prstGeom prst="line">
            <a:avLst/>
          </a:prstGeom>
          <a:noFill/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8686800" y="2491740"/>
            <a:ext cx="365760" cy="150876"/>
          </a:xfrm>
          <a:prstGeom prst="line">
            <a:avLst/>
          </a:prstGeom>
          <a:noFill/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9052560" y="2642616"/>
            <a:ext cx="365760" cy="100584"/>
          </a:xfrm>
          <a:prstGeom prst="line">
            <a:avLst/>
          </a:prstGeom>
          <a:noFill/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/>
          <p:nvPr/>
        </p:nvSpPr>
        <p:spPr>
          <a:xfrm>
            <a:off x="7315200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39C12"/>
                </a:solidFill>
              </a:rPr>
              <a:t>energy spread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39C12"/>
                </a:solidFill>
              </a:rPr>
              <a:t>across nearby bins</a:t>
            </a:r>
            <a:endParaRPr lang="en-US" sz="700" dirty="0"/>
          </a:p>
        </p:txBody>
      </p:sp>
      <p:sp>
        <p:nvSpPr>
          <p:cNvPr id="89" name="Shape 86"/>
          <p:cNvSpPr/>
          <p:nvPr/>
        </p:nvSpPr>
        <p:spPr>
          <a:xfrm>
            <a:off x="1097280" y="4754880"/>
            <a:ext cx="3657600" cy="685800"/>
          </a:xfrm>
          <a:prstGeom prst="roundRect">
            <a:avLst>
              <a:gd name="adj" fmla="val 6667"/>
            </a:avLst>
          </a:prstGeom>
          <a:solidFill>
            <a:srgbClr val="FFF3DE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/>
          <p:nvPr/>
        </p:nvSpPr>
        <p:spPr>
          <a:xfrm>
            <a:off x="1170432" y="4809744"/>
            <a:ext cx="35112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Spectral leakage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signal-processing effect caused by finite windows</a:t>
            </a:r>
            <a:endParaRPr lang="en-US" sz="850" dirty="0"/>
          </a:p>
        </p:txBody>
      </p:sp>
      <p:sp>
        <p:nvSpPr>
          <p:cNvPr id="93" name="Text 90"/>
          <p:cNvSpPr/>
          <p:nvPr/>
        </p:nvSpPr>
        <p:spPr>
          <a:xfrm>
            <a:off x="320040" y="64922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66666"/>
                </a:solidFill>
              </a:rPr>
              <a:t>Window functions such as Hann or Hamming can reduce boundary-related spectral leakage.</a:t>
            </a:r>
            <a:endParaRPr lang="en-US" sz="62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292EA-41D0-7BAB-15F5-A6B75CB2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Time-domain and frequency-domain features are complementary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21C339-BA72-DC60-7E7B-9BB5ACA84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Neither representation is universally superior.</a:t>
            </a:r>
          </a:p>
          <a:p>
            <a:r>
              <a:rPr lang="en-GB" b="1" dirty="0"/>
              <a:t>Time-domain features may capture</a:t>
            </a:r>
          </a:p>
          <a:p>
            <a:pPr lvl="1"/>
            <a:r>
              <a:rPr lang="en-GB" dirty="0"/>
              <a:t>level; </a:t>
            </a:r>
          </a:p>
          <a:p>
            <a:pPr lvl="1"/>
            <a:r>
              <a:rPr lang="en-GB" dirty="0"/>
              <a:t>trend; </a:t>
            </a:r>
          </a:p>
          <a:p>
            <a:pPr lvl="1"/>
            <a:r>
              <a:rPr lang="en-GB" dirty="0"/>
              <a:t>peaks; </a:t>
            </a:r>
          </a:p>
          <a:p>
            <a:pPr lvl="1"/>
            <a:r>
              <a:rPr lang="en-GB" dirty="0"/>
              <a:t>variability; </a:t>
            </a:r>
          </a:p>
          <a:p>
            <a:pPr lvl="1"/>
            <a:r>
              <a:rPr lang="en-GB" dirty="0"/>
              <a:t>duration; </a:t>
            </a:r>
          </a:p>
          <a:p>
            <a:pPr lvl="1"/>
            <a:r>
              <a:rPr lang="en-GB" dirty="0"/>
              <a:t>threshold events. </a:t>
            </a:r>
          </a:p>
          <a:p>
            <a:r>
              <a:rPr lang="en-GB" b="1" dirty="0"/>
              <a:t>Frequency-domain features may capture</a:t>
            </a:r>
          </a:p>
          <a:p>
            <a:pPr lvl="1"/>
            <a:r>
              <a:rPr lang="en-GB" dirty="0"/>
              <a:t>oscillation rate; </a:t>
            </a:r>
          </a:p>
          <a:p>
            <a:pPr lvl="1"/>
            <a:r>
              <a:rPr lang="en-GB" dirty="0"/>
              <a:t>periodicity; </a:t>
            </a:r>
          </a:p>
          <a:p>
            <a:pPr lvl="1"/>
            <a:r>
              <a:rPr lang="en-GB" dirty="0"/>
              <a:t>harmonics; </a:t>
            </a:r>
          </a:p>
          <a:p>
            <a:pPr lvl="1"/>
            <a:r>
              <a:rPr lang="en-GB" dirty="0"/>
              <a:t>frequency-band energy; </a:t>
            </a:r>
          </a:p>
          <a:p>
            <a:pPr lvl="1"/>
            <a:r>
              <a:rPr lang="en-GB" dirty="0"/>
              <a:t>resonance-related behaviour.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43082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665F44-F756-4E4B-E05A-7195E0B3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Time-domain and frequency-domain features are complementary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9B8CF3-0238-2037-40AC-A23A7BF4B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Combined representation</a:t>
            </a:r>
          </a:p>
          <a:p>
            <a:r>
              <a:rPr lang="en-GB" dirty="0"/>
              <a:t>A feature vector can contain both.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Mean, std, RMS, maximum, slope</a:t>
            </a:r>
          </a:p>
          <a:p>
            <a:pPr lvl="1"/>
            <a:r>
              <a:rPr lang="en-GB" dirty="0"/>
              <a:t>dominant frequency, low-band power, high-band power</a:t>
            </a:r>
          </a:p>
          <a:p>
            <a:r>
              <a:rPr lang="en-GB" b="1" dirty="0"/>
              <a:t>Multivariate extension</a:t>
            </a:r>
          </a:p>
          <a:p>
            <a:r>
              <a:rPr lang="en-GB" dirty="0"/>
              <a:t>Features may be calculated:</a:t>
            </a:r>
          </a:p>
          <a:p>
            <a:pPr lvl="1"/>
            <a:r>
              <a:rPr lang="en-GB" dirty="0"/>
              <a:t>independently for each channel; </a:t>
            </a:r>
          </a:p>
          <a:p>
            <a:pPr lvl="1"/>
            <a:r>
              <a:rPr lang="en-GB" dirty="0"/>
              <a:t>between channels; </a:t>
            </a:r>
          </a:p>
          <a:p>
            <a:pPr lvl="1"/>
            <a:r>
              <a:rPr lang="en-GB" dirty="0"/>
              <a:t>at several temporal scales. 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The number of features can grow quickly.</a:t>
            </a:r>
          </a:p>
          <a:p>
            <a:r>
              <a:rPr lang="en-GB" dirty="0"/>
              <a:t>Feature selection and regularization may therefore become important.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72870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E53524-5E4E-F6EF-4024-43B6E75A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Limits of manual temporal representations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C377AD-12A8-B615-57C0-A1C08F085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Feature engineering can be powerful, particularly when:</a:t>
            </a:r>
          </a:p>
          <a:p>
            <a:pPr lvl="1"/>
            <a:r>
              <a:rPr lang="en-GB" dirty="0"/>
              <a:t>data are limited; </a:t>
            </a:r>
          </a:p>
          <a:p>
            <a:pPr lvl="1"/>
            <a:r>
              <a:rPr lang="en-GB" dirty="0"/>
              <a:t>domain knowledge is strong; </a:t>
            </a:r>
          </a:p>
          <a:p>
            <a:pPr lvl="1"/>
            <a:r>
              <a:rPr lang="en-GB" dirty="0"/>
              <a:t>interpretability matters; </a:t>
            </a:r>
          </a:p>
          <a:p>
            <a:pPr lvl="1"/>
            <a:r>
              <a:rPr lang="en-GB" dirty="0"/>
              <a:t>computational resources are constrained. </a:t>
            </a:r>
          </a:p>
          <a:p>
            <a:endParaRPr lang="en-GB" dirty="0"/>
          </a:p>
          <a:p>
            <a:r>
              <a:rPr lang="en-GB" dirty="0"/>
              <a:t>However, manually designed features impose assumptions.</a:t>
            </a:r>
          </a:p>
          <a:p>
            <a:r>
              <a:rPr lang="en-GB" dirty="0"/>
              <a:t>We must choose:</a:t>
            </a:r>
          </a:p>
          <a:p>
            <a:pPr lvl="1"/>
            <a:r>
              <a:rPr lang="en-GB" dirty="0"/>
              <a:t>which lags matter; which statistics matter;  which window lengths matter; which frequency bands matter; which relationships between variables matter.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11470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1DC46A-005F-60BC-7445-F95D86791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Limits of manual temporal representations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9C836E-722F-2F49-DE85-1CCE42A3D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If a discriminative pattern consists of:</a:t>
            </a:r>
          </a:p>
          <a:p>
            <a:pPr lvl="1"/>
            <a:r>
              <a:rPr lang="en-GB" dirty="0"/>
              <a:t>small peak</a:t>
            </a:r>
          </a:p>
          <a:p>
            <a:pPr lvl="1"/>
            <a:r>
              <a:rPr lang="en-GB" dirty="0"/>
              <a:t>→ short delay</a:t>
            </a:r>
          </a:p>
          <a:p>
            <a:pPr lvl="1"/>
            <a:r>
              <a:rPr lang="en-GB" dirty="0"/>
              <a:t>→ second peak</a:t>
            </a:r>
          </a:p>
          <a:p>
            <a:pPr lvl="1"/>
            <a:r>
              <a:rPr lang="en-GB" dirty="0"/>
              <a:t>→ slow decay</a:t>
            </a:r>
          </a:p>
          <a:p>
            <a:r>
              <a:rPr lang="en-GB" dirty="0"/>
              <a:t>simple statistics may fail to preserve this sequence structure.</a:t>
            </a:r>
          </a:p>
          <a:p>
            <a:endParaRPr lang="en-GB" b="1" dirty="0"/>
          </a:p>
          <a:p>
            <a:r>
              <a:rPr lang="en-GB" b="1" dirty="0"/>
              <a:t>This motivates </a:t>
            </a:r>
            <a:r>
              <a:rPr lang="en-GB" b="1" dirty="0">
                <a:highlight>
                  <a:srgbClr val="FFFF00"/>
                </a:highlight>
              </a:rPr>
              <a:t>representation learning</a:t>
            </a:r>
          </a:p>
          <a:p>
            <a:r>
              <a:rPr lang="en-GB" dirty="0"/>
              <a:t>Instead of defining all useful temporal patterns manually, later models will attempt to learn them directly from the raw or minimally processed sequence.</a:t>
            </a:r>
          </a:p>
          <a:p>
            <a:r>
              <a:rPr lang="en-GB" b="1" dirty="0"/>
              <a:t>Before that</a:t>
            </a:r>
            <a:r>
              <a:rPr lang="en-GB" dirty="0"/>
              <a:t>, however, we need to determine which </a:t>
            </a:r>
            <a:r>
              <a:rPr lang="en-GB" b="1" dirty="0"/>
              <a:t>conventional supervised-learning models can exploit the engineered features effectively.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Next block: conventional regression and classification models over temporal features.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11937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1ADBA8-E01F-D6DF-0D6C-C3D71C428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3.E — Conventional Supervised Models over Temporal Features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1FCD81-8907-0072-D8C1-06888E830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33752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90896E-F203-8D4C-E9BF-691619C4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After feature extraction, the problem becomes tabular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606814-2684-669A-FDF3-957019565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438091" cy="388077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Once a temporal window has been transformed into a fixed-size feature vector, [L, d] → [p] the temporal problem can be handled using standard supervised-learning algorithms.</a:t>
            </a:r>
          </a:p>
          <a:p>
            <a:endParaRPr lang="en-GB" b="1" dirty="0"/>
          </a:p>
          <a:p>
            <a:r>
              <a:rPr lang="en-GB" b="1" dirty="0"/>
              <a:t>For regression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future demand; remaining useful life; future temperature; process quality; continuous condition indicators. </a:t>
            </a:r>
          </a:p>
          <a:p>
            <a:endParaRPr lang="en-GB" b="1" dirty="0"/>
          </a:p>
          <a:p>
            <a:r>
              <a:rPr lang="en-GB" b="1" dirty="0"/>
              <a:t>For classification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normal vs faulty; activity class; product quality class; operating regime; customer behaviour class.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75770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00F8AA-A4A7-7F0B-911C-88B2D9409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After feature extraction, the problem becomes tabular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8BE360-EBF9-CA51-95F2-A4F773C36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b="1" dirty="0"/>
              <a:t>General pipeline</a:t>
            </a:r>
          </a:p>
          <a:p>
            <a:r>
              <a:rPr lang="en-GB" dirty="0"/>
              <a:t>temporal recording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window extraction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temporal feature extraction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feature vector [p]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standard supervised-learning model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prediction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At this stage, the predictive model does not directly process temporal order.</a:t>
            </a:r>
          </a:p>
          <a:p>
            <a:r>
              <a:rPr lang="en-GB" dirty="0"/>
              <a:t>Temporal information is represented through the features we designed.</a:t>
            </a:r>
          </a:p>
          <a:p>
            <a:r>
              <a:rPr lang="en-GB" dirty="0"/>
              <a:t>The model sees a table; the feature-engineering stage carries the temporal knowledge.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27162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temporal windows to tabular features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 converts a sequence into a fixed-size vector for conventional supervised learning.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78308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[L, d]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70048" y="2404872"/>
            <a:ext cx="301752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063240" y="1874520"/>
            <a:ext cx="1783080" cy="10515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56048" y="2404872"/>
            <a:ext cx="301752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349240" y="1874520"/>
            <a:ext cx="1783080" cy="10515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42048" y="2404872"/>
            <a:ext cx="301752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635240" y="1874520"/>
            <a:ext cx="1783080" cy="105156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528048" y="2404872"/>
            <a:ext cx="301752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921240" y="1874520"/>
            <a:ext cx="1783080" cy="10515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1248" y="361188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60120" y="3749040"/>
            <a:ext cx="0" cy="11430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307592" y="3749040"/>
            <a:ext cx="0" cy="11430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655064" y="3749040"/>
            <a:ext cx="0" cy="11430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002536" y="3749040"/>
            <a:ext cx="0" cy="11430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350008" y="3749040"/>
            <a:ext cx="0" cy="11430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96112" y="3794760"/>
            <a:ext cx="189280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96112" y="4078224"/>
            <a:ext cx="189280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96112" y="4361688"/>
            <a:ext cx="189280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96112" y="4645152"/>
            <a:ext cx="189280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68680" y="5010912"/>
            <a:ext cx="20116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steps × channels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720" y="3794760"/>
            <a:ext cx="868680" cy="292608"/>
          </a:xfrm>
          <a:prstGeom prst="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3794760"/>
            <a:ext cx="868680" cy="292608"/>
          </a:xfrm>
          <a:prstGeom prst="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20840" y="3794760"/>
            <a:ext cx="868680" cy="292608"/>
          </a:xfrm>
          <a:prstGeom prst="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slope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7720" y="4270248"/>
            <a:ext cx="868680" cy="292608"/>
          </a:xfrm>
          <a:prstGeom prst="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0" y="4270248"/>
            <a:ext cx="868680" cy="292608"/>
          </a:xfrm>
          <a:prstGeom prst="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 power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20840" y="4270248"/>
            <a:ext cx="868680" cy="292608"/>
          </a:xfrm>
          <a:prstGeom prst="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71800" y="4343400"/>
            <a:ext cx="1463040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sees a table; the feature-engineering stage carries the temporal knowledge.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1924B7-E2FD-D7D4-05DA-A862FBDB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 as a strong baseline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21AD2A-22A3-F948-1ABE-918EA74DB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a continuous target, the simplest supervised model is often linear regression.</a:t>
            </a:r>
          </a:p>
          <a:p>
            <a:r>
              <a:rPr lang="en-GB" dirty="0"/>
              <a:t>Given features:</a:t>
            </a:r>
          </a:p>
          <a:p>
            <a:r>
              <a:rPr lang="en-GB" dirty="0"/>
              <a:t>z[1], z[2], ..., z[p]</a:t>
            </a:r>
          </a:p>
          <a:p>
            <a:r>
              <a:rPr lang="en-GB" dirty="0"/>
              <a:t>the prediction has the form:</a:t>
            </a:r>
          </a:p>
          <a:p>
            <a:r>
              <a:rPr lang="en-GB" dirty="0" err="1"/>
              <a:t>y_hat</a:t>
            </a:r>
            <a:r>
              <a:rPr lang="en-GB" dirty="0"/>
              <a:t> = b + w[1] × z[1] + w[2] × z[2] + ... + w[p] × z[p]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b is an intercept; </a:t>
            </a:r>
          </a:p>
          <a:p>
            <a:pPr lvl="1"/>
            <a:r>
              <a:rPr lang="en-GB" dirty="0"/>
              <a:t>w[j] is the learned coefficient associated with feature j.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647199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CBF71E-E82D-C3F4-967B-74533234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 as a strong baseline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7F82F4-23A0-4359-1D01-E6183C93D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Possible temporal features</a:t>
            </a:r>
          </a:p>
          <a:p>
            <a:r>
              <a:rPr lang="en-GB" dirty="0"/>
              <a:t>For demand forecasting: demand[t] demand[t−1] demand[t−24] rolling mean over 24 h recent slope temperature[t] day of week</a:t>
            </a:r>
          </a:p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fast training; </a:t>
            </a:r>
          </a:p>
          <a:p>
            <a:pPr lvl="1"/>
            <a:r>
              <a:rPr lang="en-GB" dirty="0"/>
              <a:t>low computational cost; </a:t>
            </a:r>
          </a:p>
          <a:p>
            <a:pPr lvl="1"/>
            <a:r>
              <a:rPr lang="en-GB" dirty="0"/>
              <a:t>easy to reproduce; </a:t>
            </a:r>
          </a:p>
          <a:p>
            <a:pPr lvl="1"/>
            <a:r>
              <a:rPr lang="en-GB" dirty="0"/>
              <a:t>coefficients can be inspected; </a:t>
            </a:r>
          </a:p>
          <a:p>
            <a:pPr lvl="1"/>
            <a:r>
              <a:rPr lang="en-GB" dirty="0"/>
              <a:t>useful diagnostic baseline. </a:t>
            </a:r>
          </a:p>
          <a:p>
            <a:r>
              <a:rPr lang="en-GB" b="1" dirty="0"/>
              <a:t>Limitation</a:t>
            </a:r>
          </a:p>
          <a:p>
            <a:r>
              <a:rPr lang="en-GB" dirty="0"/>
              <a:t>The model assumes that the target depends approximately linearly on the selected features.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A simple linear model over well-designed temporal features can be surprisingly competitive.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905181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 over temporal features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weighted sum of lagged values, rolling statistics and context can be a strong baseline.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2473" y="1645920"/>
            <a:ext cx="2377440" cy="2926080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1920240" cy="25603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demand[t]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1920240" cy="25603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demand[t−1]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1920240" cy="25603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demand[t−24]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3246120"/>
            <a:ext cx="1920240" cy="25603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mean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611880"/>
            <a:ext cx="1920240" cy="25603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slope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3977640"/>
            <a:ext cx="1920240" cy="25603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of week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9040" y="17373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2221992"/>
            <a:ext cx="457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2953512"/>
            <a:ext cx="457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3319272"/>
            <a:ext cx="457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3685032"/>
            <a:ext cx="457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4050792"/>
            <a:ext cx="457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2286000"/>
            <a:ext cx="9144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063240" y="2651760"/>
            <a:ext cx="9144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063240" y="3017520"/>
            <a:ext cx="9144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063240" y="3383280"/>
            <a:ext cx="9144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063240" y="3749040"/>
            <a:ext cx="9144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063240" y="4114800"/>
            <a:ext cx="9144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01675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2148840"/>
            <a:ext cx="1371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83880" y="2423160"/>
            <a:ext cx="1143000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509760" y="2011680"/>
            <a:ext cx="114300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ŷ[t+1]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160520" y="4892040"/>
            <a:ext cx="5394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b + w1·z1 + w2·z2 + … + wp·zp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temporal features can make a simple linear model surprisingly competitive.</a:t>
            </a:r>
            <a:endParaRPr lang="en-US" sz="1200"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4E3414DD-5994-5DC1-E873-63D77DD43DC0}"/>
              </a:ext>
            </a:extLst>
          </p:cNvPr>
          <p:cNvSpPr txBox="1"/>
          <p:nvPr/>
        </p:nvSpPr>
        <p:spPr>
          <a:xfrm>
            <a:off x="4321493" y="1590940"/>
            <a:ext cx="20793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weights</a:t>
            </a:r>
            <a:endParaRPr lang="en-US" sz="1500" dirty="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A2B4A071-316D-02CB-C4EE-F3930ADDB3FB}"/>
              </a:ext>
            </a:extLst>
          </p:cNvPr>
          <p:cNvSpPr txBox="1"/>
          <p:nvPr/>
        </p:nvSpPr>
        <p:spPr>
          <a:xfrm>
            <a:off x="2282668" y="1566557"/>
            <a:ext cx="11763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z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0D7499-E085-8823-0F52-5C42E2AC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regularization is useful with temporal features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FA7B6B-5885-9712-95AE-5BEDB669E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Temporal feature sets often contain strongly correlated variables.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demand[t] demand[t−1] demand[t−2] demand[t−3] rolling mean over last 4 values</a:t>
            </a:r>
          </a:p>
          <a:p>
            <a:r>
              <a:rPr lang="en-GB" dirty="0"/>
              <a:t>These features contain partially redundant information.</a:t>
            </a:r>
          </a:p>
          <a:p>
            <a:r>
              <a:rPr lang="en-GB" b="1" dirty="0"/>
              <a:t>Consequences</a:t>
            </a:r>
          </a:p>
          <a:p>
            <a:r>
              <a:rPr lang="en-GB" dirty="0"/>
              <a:t>Without regularization:</a:t>
            </a:r>
          </a:p>
          <a:p>
            <a:pPr lvl="1"/>
            <a:r>
              <a:rPr lang="en-GB" dirty="0"/>
              <a:t>coefficients may become unstable; </a:t>
            </a:r>
          </a:p>
          <a:p>
            <a:pPr lvl="1"/>
            <a:r>
              <a:rPr lang="en-GB" dirty="0"/>
              <a:t>small changes in the data may produce large coefficient changes; </a:t>
            </a:r>
          </a:p>
          <a:p>
            <a:pPr lvl="1"/>
            <a:r>
              <a:rPr lang="en-GB" dirty="0"/>
              <a:t>overfitting becomes more likely when many features are used.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651067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D5B7D9-ECDE-785C-29CB-077BA79C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good baseline: </a:t>
            </a:r>
            <a:r>
              <a:rPr lang="it-IT" dirty="0" err="1"/>
              <a:t>regularized</a:t>
            </a:r>
            <a:r>
              <a:rPr lang="it-IT" dirty="0"/>
              <a:t> linear </a:t>
            </a:r>
            <a:r>
              <a:rPr lang="it-IT" dirty="0" err="1"/>
              <a:t>regression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626071-9246-64F4-DD4A-075109AD7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Ridge regression</a:t>
            </a:r>
          </a:p>
          <a:p>
            <a:r>
              <a:rPr lang="en-GB" dirty="0"/>
              <a:t>Ridge regression discourages very large coefficients.</a:t>
            </a:r>
          </a:p>
          <a:p>
            <a:pPr lvl="1"/>
            <a:r>
              <a:rPr lang="en-GB" dirty="0"/>
              <a:t>fit prediction error</a:t>
            </a:r>
          </a:p>
          <a:p>
            <a:pPr lvl="1"/>
            <a:r>
              <a:rPr lang="en-GB" dirty="0"/>
              <a:t>+</a:t>
            </a:r>
          </a:p>
          <a:p>
            <a:pPr lvl="1"/>
            <a:r>
              <a:rPr lang="en-GB" dirty="0"/>
              <a:t>penalty for large coefficients</a:t>
            </a:r>
          </a:p>
          <a:p>
            <a:r>
              <a:rPr lang="en-GB" b="1" dirty="0"/>
              <a:t>Why useful for time-series features?</a:t>
            </a:r>
          </a:p>
          <a:p>
            <a:pPr lvl="1"/>
            <a:r>
              <a:rPr lang="en-GB" dirty="0"/>
              <a:t>Lagged observations are often highly correlated because nearby time steps are similar.</a:t>
            </a:r>
          </a:p>
          <a:p>
            <a:pPr lvl="1"/>
            <a:r>
              <a:rPr lang="en-GB" dirty="0"/>
              <a:t>Ridge regression can therefore provide a stronger baseline than unregularized linear regression.</a:t>
            </a:r>
          </a:p>
          <a:p>
            <a:r>
              <a:rPr lang="en-GB" b="1" dirty="0"/>
              <a:t>Lasso</a:t>
            </a:r>
          </a:p>
          <a:p>
            <a:r>
              <a:rPr lang="en-GB" dirty="0"/>
              <a:t>Lasso also penalizes coefficients but can drive some coefficients exactly to zero.</a:t>
            </a:r>
          </a:p>
          <a:p>
            <a:r>
              <a:rPr lang="en-GB" dirty="0"/>
              <a:t>It may therefore perform implicit feature selection.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For a baseline comparison, consider at least:</a:t>
            </a:r>
          </a:p>
          <a:p>
            <a:pPr lvl="1"/>
            <a:r>
              <a:rPr lang="en-GB" dirty="0"/>
              <a:t>linear regression; </a:t>
            </a:r>
          </a:p>
          <a:p>
            <a:pPr lvl="1"/>
            <a:r>
              <a:rPr lang="en-GB" dirty="0"/>
              <a:t>regularized linear regression. </a:t>
            </a:r>
          </a:p>
          <a:p>
            <a:pPr lvl="1"/>
            <a:r>
              <a:rPr lang="en-GB" dirty="0"/>
              <a:t>Hyperparameters must be selected using validation data.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412454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Regularization helps with correlated temporal features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Neighbouring lags and rolling statistics often contain redundant information.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Highly correlated lag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658368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y[t]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920240"/>
            <a:ext cx="658368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y[t−1]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658368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y[t−2]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1920240"/>
            <a:ext cx="658368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y[t−3]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920240"/>
            <a:ext cx="658368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mean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60704" y="269748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837944" y="269748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615184" y="269748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392424" y="269748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values are similar → coefficients may become unstable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regression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1874520"/>
            <a:ext cx="37947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prediction error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69280" y="3017520"/>
            <a:ext cx="3794760" cy="658368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penalty for large coefficients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62088" y="3886200"/>
            <a:ext cx="0" cy="73152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263640" y="4800600"/>
            <a:ext cx="2606040" cy="585216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stable baseline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Lagged features are often collinear; regularization is part of a fair baseline design.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678F0B-F2BD-A00C-E58D-2E806D7E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Logistic regression for temporal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19D49E-7449-F8C0-B119-11749ED5C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For binary classification, logistic regression is a natural baseline.</a:t>
            </a:r>
          </a:p>
          <a:p>
            <a:r>
              <a:rPr lang="en-GB" dirty="0"/>
              <a:t>Input: feature vector z</a:t>
            </a:r>
          </a:p>
          <a:p>
            <a:r>
              <a:rPr lang="en-GB" dirty="0"/>
              <a:t>Output: P(class = 1 | z)</a:t>
            </a:r>
          </a:p>
          <a:p>
            <a:r>
              <a:rPr lang="en-GB" dirty="0"/>
              <a:t>Example: P(fault | current window) = 0.82</a:t>
            </a:r>
          </a:p>
          <a:p>
            <a:r>
              <a:rPr lang="en-GB" dirty="0"/>
              <a:t>A threshold converts the probability into a class decision.</a:t>
            </a:r>
          </a:p>
          <a:p>
            <a:r>
              <a:rPr lang="en-GB" dirty="0"/>
              <a:t>if P(fault) ≥ threshold:</a:t>
            </a:r>
          </a:p>
          <a:p>
            <a:r>
              <a:rPr lang="en-GB" dirty="0"/>
              <a:t>    predict fault</a:t>
            </a:r>
          </a:p>
          <a:p>
            <a:r>
              <a:rPr lang="en-GB" dirty="0"/>
              <a:t>else:</a:t>
            </a:r>
          </a:p>
          <a:p>
            <a:r>
              <a:rPr lang="en-GB" dirty="0"/>
              <a:t>    predict normal</a:t>
            </a:r>
          </a:p>
          <a:p>
            <a:endParaRPr lang="en-GB" b="1" dirty="0"/>
          </a:p>
          <a:p>
            <a:r>
              <a:rPr lang="en-GB" b="1" dirty="0"/>
              <a:t>Possible temporal features</a:t>
            </a:r>
          </a:p>
          <a:p>
            <a:pPr lvl="0"/>
            <a:r>
              <a:rPr lang="en-GB" dirty="0"/>
              <a:t>RMS vibration;  maximum temperature; recent slope; band energy;  </a:t>
            </a:r>
            <a:r>
              <a:rPr lang="en-GB" b="1" dirty="0"/>
              <a:t>number of threshold crossings</a:t>
            </a:r>
            <a:r>
              <a:rPr lang="en-GB" dirty="0"/>
              <a:t>; machine type.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542037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E3138A-9CD4-E206-7D92-ABC581059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Logistic regression for temporal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11C59B-BADE-B09A-7286-B64B8C325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simple; </a:t>
            </a:r>
          </a:p>
          <a:p>
            <a:pPr lvl="1"/>
            <a:r>
              <a:rPr lang="en-GB" dirty="0"/>
              <a:t>fast; </a:t>
            </a:r>
          </a:p>
          <a:p>
            <a:pPr lvl="1"/>
            <a:r>
              <a:rPr lang="en-GB" dirty="0"/>
              <a:t>probabilistic output; </a:t>
            </a:r>
          </a:p>
          <a:p>
            <a:pPr lvl="1"/>
            <a:r>
              <a:rPr lang="en-GB" dirty="0"/>
              <a:t>interpretable coefficients; </a:t>
            </a:r>
          </a:p>
          <a:p>
            <a:pPr lvl="1"/>
            <a:r>
              <a:rPr lang="en-GB" dirty="0"/>
              <a:t>supports regularization. </a:t>
            </a:r>
          </a:p>
          <a:p>
            <a:pPr lvl="1"/>
            <a:r>
              <a:rPr lang="en-GB" b="1" dirty="0"/>
              <a:t>Multiclass problems</a:t>
            </a:r>
          </a:p>
          <a:p>
            <a:r>
              <a:rPr lang="en-GB" dirty="0"/>
              <a:t>The same general idea can be extended to multiple classes.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P(normal)</a:t>
            </a:r>
          </a:p>
          <a:p>
            <a:pPr lvl="1"/>
            <a:r>
              <a:rPr lang="en-GB" dirty="0"/>
              <a:t>P(imbalance)</a:t>
            </a:r>
          </a:p>
          <a:p>
            <a:pPr lvl="1"/>
            <a:r>
              <a:rPr lang="en-GB" dirty="0"/>
              <a:t>P(misalignment)</a:t>
            </a:r>
          </a:p>
          <a:p>
            <a:pPr lvl="1"/>
            <a:r>
              <a:rPr lang="en-GB" dirty="0"/>
              <a:t>P(bearing fault)</a:t>
            </a:r>
          </a:p>
          <a:p>
            <a:endParaRPr lang="en-GB" dirty="0"/>
          </a:p>
          <a:p>
            <a:r>
              <a:rPr lang="en-GB" dirty="0"/>
              <a:t>Logistic regression is an important baseline even when the original input is a complex time series.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79089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 produces scores; thresholds create decisions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choice is part of model selection and must be fixed before testing.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5303520" cy="0"/>
          </a:xfrm>
          <a:prstGeom prst="line">
            <a:avLst/>
          </a:prstGeom>
          <a:noFill/>
          <a:ln w="1016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5303520" cy="0"/>
          </a:xfrm>
          <a:prstGeom prst="line">
            <a:avLst/>
          </a:prstGeom>
          <a:noFill/>
          <a:ln w="101600">
            <a:solidFill>
              <a:srgbClr val="6EA5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0" cy="64008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P(fault) = 0.63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77640" y="2423160"/>
            <a:ext cx="777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1874520" cy="12344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931920"/>
            <a:ext cx="1600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detected events
• more false alarms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4680" y="3200400"/>
            <a:ext cx="187452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3931920"/>
            <a:ext cx="1600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balanced recall
• balanced alarms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3200400"/>
            <a:ext cx="187452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931920"/>
            <a:ext cx="1600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fewer alarms
• more missed events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18120" y="1828800"/>
            <a:ext cx="2148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rule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P(fault) ≥ 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fault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normal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threshold is a hyperparameter; choose it using validation data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B8C0F8-2917-0EE1-8029-9649FCB1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 capture nonlinear rules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1BB6F2-1A0B-C475-8301-875A0622B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 decision tree predicts by applying successive feature-based conditions.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Is RMS vibration &gt; 4.2?</a:t>
            </a:r>
          </a:p>
          <a:p>
            <a:pPr lvl="1"/>
            <a:r>
              <a:rPr lang="en-GB" dirty="0"/>
              <a:t>       ↓</a:t>
            </a:r>
          </a:p>
          <a:p>
            <a:pPr lvl="1"/>
            <a:r>
              <a:rPr lang="en-GB" dirty="0"/>
              <a:t>      yes</a:t>
            </a:r>
          </a:p>
          <a:p>
            <a:pPr lvl="1"/>
            <a:r>
              <a:rPr lang="en-GB" dirty="0"/>
              <a:t>       ↓</a:t>
            </a:r>
          </a:p>
          <a:p>
            <a:pPr lvl="1"/>
            <a:r>
              <a:rPr lang="en-GB" dirty="0"/>
              <a:t>Is high-frequency energy &gt; 0.35?</a:t>
            </a:r>
          </a:p>
          <a:p>
            <a:pPr lvl="1"/>
            <a:r>
              <a:rPr lang="en-GB" dirty="0"/>
              <a:t>       ↓</a:t>
            </a:r>
          </a:p>
          <a:p>
            <a:pPr lvl="1"/>
            <a:r>
              <a:rPr lang="en-GB" dirty="0"/>
              <a:t>      yes</a:t>
            </a:r>
          </a:p>
          <a:p>
            <a:pPr lvl="1"/>
            <a:r>
              <a:rPr lang="en-GB" dirty="0"/>
              <a:t>       ↓</a:t>
            </a:r>
          </a:p>
          <a:p>
            <a:pPr lvl="1"/>
            <a:r>
              <a:rPr lang="en-GB" dirty="0"/>
              <a:t>predict fault</a:t>
            </a:r>
          </a:p>
          <a:p>
            <a:r>
              <a:rPr lang="en-GB" b="1" dirty="0"/>
              <a:t>Trees useful as t</a:t>
            </a:r>
            <a:r>
              <a:rPr lang="en-GB" dirty="0"/>
              <a:t>hey can naturally represent:</a:t>
            </a:r>
          </a:p>
          <a:p>
            <a:pPr lvl="1"/>
            <a:r>
              <a:rPr lang="en-GB" dirty="0"/>
              <a:t>thresholds; </a:t>
            </a:r>
          </a:p>
          <a:p>
            <a:pPr lvl="1"/>
            <a:r>
              <a:rPr lang="en-GB" dirty="0"/>
              <a:t>nonlinear effects; </a:t>
            </a:r>
          </a:p>
          <a:p>
            <a:pPr lvl="1"/>
            <a:r>
              <a:rPr lang="en-GB" dirty="0"/>
              <a:t>interactions among variables.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189107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222C37-C205-B550-81C7-DFAF1279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 capture nonlinear rules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D63EF7-E1FC-2190-6A44-ABD9E6A91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A fault may occur only when:</a:t>
            </a:r>
          </a:p>
          <a:p>
            <a:pPr lvl="1"/>
            <a:r>
              <a:rPr lang="en-GB" dirty="0"/>
              <a:t>vibration is high; </a:t>
            </a:r>
          </a:p>
          <a:p>
            <a:pPr lvl="1"/>
            <a:r>
              <a:rPr lang="en-GB" dirty="0"/>
              <a:t>temperature is increasing; </a:t>
            </a:r>
          </a:p>
          <a:p>
            <a:pPr lvl="1"/>
            <a:r>
              <a:rPr lang="en-GB" dirty="0"/>
              <a:t>machine load is above a certain level. </a:t>
            </a:r>
          </a:p>
          <a:p>
            <a:r>
              <a:rPr lang="en-GB" dirty="0"/>
              <a:t>A linear model may struggle to represent such a rule directly.</a:t>
            </a:r>
          </a:p>
          <a:p>
            <a:endParaRPr lang="en-GB" b="1" dirty="0"/>
          </a:p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intuitive decision structure; </a:t>
            </a:r>
          </a:p>
          <a:p>
            <a:pPr lvl="1"/>
            <a:r>
              <a:rPr lang="en-GB" dirty="0"/>
              <a:t>nonlinear; </a:t>
            </a:r>
          </a:p>
          <a:p>
            <a:pPr lvl="1"/>
            <a:r>
              <a:rPr lang="en-GB" dirty="0"/>
              <a:t>no requirement for linear feature relationships. </a:t>
            </a:r>
            <a:endParaRPr lang="en-GB" b="1" dirty="0"/>
          </a:p>
          <a:p>
            <a:r>
              <a:rPr lang="en-GB" b="1" dirty="0"/>
              <a:t>Limitations</a:t>
            </a:r>
          </a:p>
          <a:p>
            <a:r>
              <a:rPr lang="en-GB" dirty="0"/>
              <a:t>A single tree may:</a:t>
            </a:r>
          </a:p>
          <a:p>
            <a:pPr lvl="1"/>
            <a:r>
              <a:rPr lang="en-GB" dirty="0"/>
              <a:t>overfit; </a:t>
            </a:r>
          </a:p>
          <a:p>
            <a:pPr lvl="1"/>
            <a:r>
              <a:rPr lang="en-GB" dirty="0"/>
              <a:t>be unstable; </a:t>
            </a:r>
          </a:p>
          <a:p>
            <a:pPr lvl="1"/>
            <a:r>
              <a:rPr lang="en-GB" dirty="0"/>
              <a:t>produce abrupt decision boundaries. </a:t>
            </a:r>
          </a:p>
          <a:p>
            <a:r>
              <a:rPr lang="en-GB" dirty="0"/>
              <a:t>This motivates ensembles of trees.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668471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trees capture nonlinear feature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models combine thresholds and feature interactions learned from temporal features.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77640" y="1417320"/>
            <a:ext cx="28346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 vibration &gt; 4.2?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flipH="1">
            <a:off x="3142593" y="1920240"/>
            <a:ext cx="1475127" cy="594360"/>
          </a:xfrm>
          <a:prstGeom prst="line">
            <a:avLst/>
          </a:prstGeom>
          <a:noFill/>
          <a:ln w="20320">
            <a:solidFill>
              <a:srgbClr val="4E5B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1691640" cy="777240"/>
          </a:xfrm>
          <a:prstGeom prst="line">
            <a:avLst/>
          </a:prstGeom>
          <a:noFill/>
          <a:ln w="20320">
            <a:solidFill>
              <a:srgbClr val="4E5B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743200" y="2487168"/>
            <a:ext cx="502920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4E5B7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26680" y="2487168"/>
            <a:ext cx="502920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4E5B7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54480" y="2743200"/>
            <a:ext cx="274320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normal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3063240" cy="59436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High-frequency energy &gt; 0.35?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flipH="1">
            <a:off x="6080760" y="3337560"/>
            <a:ext cx="1280160" cy="685800"/>
          </a:xfrm>
          <a:prstGeom prst="line">
            <a:avLst/>
          </a:prstGeom>
          <a:noFill/>
          <a:ln w="20320">
            <a:solidFill>
              <a:srgbClr val="4E5B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823960" y="3337560"/>
            <a:ext cx="1280160" cy="868680"/>
          </a:xfrm>
          <a:prstGeom prst="line">
            <a:avLst/>
          </a:prstGeom>
          <a:noFill/>
          <a:ln w="20320">
            <a:solidFill>
              <a:srgbClr val="4E5B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623560" y="4005072"/>
            <a:ext cx="502920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4E5B7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921240" y="4005072"/>
            <a:ext cx="502920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4E5B7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4251960"/>
            <a:ext cx="214884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overload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0" y="4251960"/>
            <a:ext cx="169164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fault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tree does not know time by itself; temporal meaning comes from the feature definitions.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062A2D-D003-571A-7D19-A5A5DF8A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A47A8D-EC25-B795-FE51-3F631B10EF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random forest combines predictions from many decision trees.</a:t>
            </a:r>
          </a:p>
          <a:p>
            <a:r>
              <a:rPr lang="en-GB" dirty="0"/>
              <a:t>Each tree is trained using:</a:t>
            </a:r>
          </a:p>
          <a:p>
            <a:pPr lvl="1"/>
            <a:r>
              <a:rPr lang="en-GB" dirty="0"/>
              <a:t>a different subset of training samples; </a:t>
            </a:r>
          </a:p>
          <a:p>
            <a:pPr lvl="1"/>
            <a:r>
              <a:rPr lang="en-GB" dirty="0"/>
              <a:t>a different subset of features. </a:t>
            </a:r>
          </a:p>
          <a:p>
            <a:r>
              <a:rPr lang="en-GB" dirty="0"/>
              <a:t>Predictions are then combined.</a:t>
            </a:r>
          </a:p>
          <a:p>
            <a:pPr lvl="1"/>
            <a:r>
              <a:rPr lang="en-GB" b="1" dirty="0"/>
              <a:t>Classification</a:t>
            </a:r>
          </a:p>
          <a:p>
            <a:pPr lvl="2"/>
            <a:r>
              <a:rPr lang="en-GB" dirty="0"/>
              <a:t>Trees vote for the predicted class.</a:t>
            </a:r>
          </a:p>
          <a:p>
            <a:pPr lvl="1"/>
            <a:r>
              <a:rPr lang="en-GB" b="1" dirty="0"/>
              <a:t>Regression</a:t>
            </a:r>
          </a:p>
          <a:p>
            <a:pPr lvl="2"/>
            <a:r>
              <a:rPr lang="en-GB" dirty="0"/>
              <a:t>Tree predictions are averaged.</a:t>
            </a:r>
          </a:p>
          <a:p>
            <a:pPr marL="0" indent="0">
              <a:buNone/>
            </a:pPr>
            <a:endParaRPr lang="en-GB" b="1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A473797-A53C-C473-5729-7D519A8AC6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Why can this help?</a:t>
            </a:r>
          </a:p>
          <a:p>
            <a:pPr lvl="1"/>
            <a:r>
              <a:rPr lang="en-GB" dirty="0"/>
              <a:t>Combining many different trees reduces the instability of an individual tree.</a:t>
            </a:r>
          </a:p>
          <a:p>
            <a:r>
              <a:rPr lang="en-GB" b="1" dirty="0"/>
              <a:t>Useful properties</a:t>
            </a:r>
          </a:p>
          <a:p>
            <a:pPr lvl="1"/>
            <a:r>
              <a:rPr lang="en-GB" dirty="0"/>
              <a:t>captures nonlinear relationships; </a:t>
            </a:r>
          </a:p>
          <a:p>
            <a:pPr lvl="1"/>
            <a:r>
              <a:rPr lang="en-GB" dirty="0"/>
              <a:t>captures feature interactions; </a:t>
            </a:r>
          </a:p>
          <a:p>
            <a:pPr lvl="1"/>
            <a:r>
              <a:rPr lang="en-GB" dirty="0"/>
              <a:t>relatively robust; </a:t>
            </a:r>
          </a:p>
          <a:p>
            <a:pPr lvl="1"/>
            <a:r>
              <a:rPr lang="en-GB" dirty="0"/>
              <a:t>often works well without extensive tuning; </a:t>
            </a:r>
          </a:p>
          <a:p>
            <a:pPr lvl="1"/>
            <a:r>
              <a:rPr lang="en-GB" dirty="0"/>
              <a:t>provides useful feature-importance diagnostics.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921196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474AA-C4DD-6832-304B-E9392F5C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5361C7-F310-F523-BD9C-12A4B64A9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Time-series limitation</a:t>
            </a:r>
          </a:p>
          <a:p>
            <a:r>
              <a:rPr lang="en-GB" dirty="0"/>
              <a:t>A random forest does not inherently know that:</a:t>
            </a:r>
          </a:p>
          <a:p>
            <a:r>
              <a:rPr lang="en-GB" dirty="0"/>
              <a:t>x[t−1] occurred before: x[t]</a:t>
            </a:r>
          </a:p>
          <a:p>
            <a:r>
              <a:rPr lang="en-GB" dirty="0"/>
              <a:t>The meaning of temporal position must already be encoded in the features.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A forest can learn different rules involving:</a:t>
            </a:r>
          </a:p>
          <a:p>
            <a:pPr lvl="1"/>
            <a:r>
              <a:rPr lang="en-GB" dirty="0"/>
              <a:t>recent mean</a:t>
            </a:r>
          </a:p>
          <a:p>
            <a:pPr lvl="1"/>
            <a:r>
              <a:rPr lang="en-GB" dirty="0"/>
              <a:t>long-term mean</a:t>
            </a:r>
          </a:p>
          <a:p>
            <a:pPr lvl="1"/>
            <a:r>
              <a:rPr lang="en-GB" dirty="0"/>
              <a:t>slope</a:t>
            </a:r>
          </a:p>
          <a:p>
            <a:pPr lvl="1"/>
            <a:r>
              <a:rPr lang="en-GB" dirty="0"/>
              <a:t>frequency-band energy</a:t>
            </a:r>
          </a:p>
          <a:p>
            <a:pPr lvl="1"/>
            <a:r>
              <a:rPr lang="en-GB" dirty="0"/>
              <a:t>machine type</a:t>
            </a:r>
          </a:p>
          <a:p>
            <a:r>
              <a:rPr lang="en-GB" dirty="0"/>
              <a:t>but these features must first be constructed.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623432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206C25-22CF-894A-B04A-F149A44A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boosting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700289-81F8-B1DD-69AE-31D8EAE77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Gradient boosting also combines many decision trees, but builds them sequentially.</a:t>
            </a:r>
          </a:p>
          <a:p>
            <a:r>
              <a:rPr lang="en-GB" dirty="0"/>
              <a:t>Each new tree attempts to correct errors made by the current ensemble.</a:t>
            </a:r>
          </a:p>
          <a:p>
            <a:r>
              <a:rPr lang="en-GB" dirty="0"/>
              <a:t>Conceptually:</a:t>
            </a:r>
          </a:p>
          <a:p>
            <a:pPr lvl="1"/>
            <a:r>
              <a:rPr lang="en-GB" dirty="0"/>
              <a:t>initial prediction</a:t>
            </a:r>
          </a:p>
          <a:p>
            <a:pPr lvl="1"/>
            <a:r>
              <a:rPr lang="en-GB" dirty="0"/>
              <a:t>       ↓</a:t>
            </a:r>
          </a:p>
          <a:p>
            <a:pPr lvl="1"/>
            <a:r>
              <a:rPr lang="en-GB" dirty="0"/>
              <a:t>identify residual errors</a:t>
            </a:r>
          </a:p>
          <a:p>
            <a:pPr lvl="1"/>
            <a:r>
              <a:rPr lang="en-GB" dirty="0"/>
              <a:t>       ↓</a:t>
            </a:r>
          </a:p>
          <a:p>
            <a:pPr lvl="1"/>
            <a:r>
              <a:rPr lang="en-GB" dirty="0"/>
              <a:t>fit tree to improve them</a:t>
            </a:r>
          </a:p>
          <a:p>
            <a:pPr lvl="1"/>
            <a:r>
              <a:rPr lang="en-GB" dirty="0"/>
              <a:t>       ↓</a:t>
            </a:r>
          </a:p>
          <a:p>
            <a:pPr lvl="1"/>
            <a:r>
              <a:rPr lang="en-GB" dirty="0"/>
              <a:t>update prediction</a:t>
            </a:r>
          </a:p>
          <a:p>
            <a:pPr lvl="1"/>
            <a:r>
              <a:rPr lang="en-GB" dirty="0"/>
              <a:t>       ↓</a:t>
            </a:r>
          </a:p>
          <a:p>
            <a:pPr lvl="1"/>
            <a:r>
              <a:rPr lang="en-GB" dirty="0"/>
              <a:t>repeat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027844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7EBF06-DB2E-950B-C7AB-59478B15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boosting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E13175-ADFE-FCFF-A85A-B545349EF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Why is gradient boosting important?</a:t>
            </a:r>
          </a:p>
          <a:p>
            <a:r>
              <a:rPr lang="en-GB" dirty="0"/>
              <a:t>For structured tabular data, it is often a very strong predictive method.</a:t>
            </a:r>
          </a:p>
          <a:p>
            <a:r>
              <a:rPr lang="en-GB" dirty="0"/>
              <a:t>It can model:</a:t>
            </a:r>
          </a:p>
          <a:p>
            <a:pPr lvl="1"/>
            <a:r>
              <a:rPr lang="en-GB" dirty="0"/>
              <a:t>nonlinear effects; </a:t>
            </a:r>
          </a:p>
          <a:p>
            <a:pPr lvl="1"/>
            <a:r>
              <a:rPr lang="en-GB" dirty="0"/>
              <a:t>feature interactions; </a:t>
            </a:r>
          </a:p>
          <a:p>
            <a:pPr lvl="1"/>
            <a:r>
              <a:rPr lang="en-GB" dirty="0"/>
              <a:t>threshold behaviour; </a:t>
            </a:r>
          </a:p>
          <a:p>
            <a:pPr lvl="1"/>
            <a:r>
              <a:rPr lang="en-GB" dirty="0"/>
              <a:t>heterogeneous variables. </a:t>
            </a:r>
          </a:p>
          <a:p>
            <a:r>
              <a:rPr lang="en-GB" b="1" dirty="0"/>
              <a:t>Temporal applications</a:t>
            </a:r>
          </a:p>
          <a:p>
            <a:r>
              <a:rPr lang="en-GB" dirty="0"/>
              <a:t>Using suitable engineered features, boosting can be competitive for all our well known tasks:</a:t>
            </a:r>
          </a:p>
          <a:p>
            <a:pPr lvl="1"/>
            <a:r>
              <a:rPr lang="en-GB" dirty="0"/>
              <a:t>demand forecasting; </a:t>
            </a:r>
          </a:p>
          <a:p>
            <a:pPr lvl="1"/>
            <a:r>
              <a:rPr lang="en-GB" dirty="0"/>
              <a:t>failure prediction; </a:t>
            </a:r>
          </a:p>
          <a:p>
            <a:pPr lvl="1"/>
            <a:r>
              <a:rPr lang="en-GB" dirty="0"/>
              <a:t>anomaly classification; </a:t>
            </a:r>
          </a:p>
          <a:p>
            <a:pPr lvl="1"/>
            <a:r>
              <a:rPr lang="en-GB" dirty="0"/>
              <a:t>customer behaviour prediction; </a:t>
            </a:r>
          </a:p>
          <a:p>
            <a:pPr lvl="1"/>
            <a:r>
              <a:rPr lang="en-GB" dirty="0"/>
              <a:t>process-quality estimation.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607426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40BF38-C78D-A7FF-E495-EE8994AF4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boosting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D27231-7A07-038E-742C-EDF3E2A0F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high predictive accuracy; </a:t>
            </a:r>
          </a:p>
          <a:p>
            <a:pPr lvl="1"/>
            <a:r>
              <a:rPr lang="en-GB" dirty="0"/>
              <a:t>flexible nonlinear relationships; </a:t>
            </a:r>
          </a:p>
          <a:p>
            <a:pPr lvl="1"/>
            <a:r>
              <a:rPr lang="en-GB" dirty="0"/>
              <a:t>works with various feature sets. </a:t>
            </a:r>
          </a:p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more tuning than a linear model; </a:t>
            </a:r>
          </a:p>
          <a:p>
            <a:pPr lvl="1"/>
            <a:r>
              <a:rPr lang="en-GB" dirty="0"/>
              <a:t>less directly interpretable; </a:t>
            </a:r>
          </a:p>
          <a:p>
            <a:pPr lvl="1"/>
            <a:r>
              <a:rPr lang="en-GB" dirty="0"/>
              <a:t>still depends on manually constructed temporal features. </a:t>
            </a:r>
          </a:p>
          <a:p>
            <a:endParaRPr lang="en-GB" dirty="0"/>
          </a:p>
          <a:p>
            <a:r>
              <a:rPr lang="en-GB" dirty="0"/>
              <a:t>Gradient boosting is a strong benchmark that cannot be ignored.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728519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Ensembles of trees: averaging and sequential correction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forests and gradient boosting are strong feature-based baselines.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438912" cy="438912"/>
          </a:xfrm>
          <a:prstGeom prst="rect">
            <a:avLst/>
          </a:prstGeom>
          <a:solidFill>
            <a:srgbClr val="A8CF4A"/>
          </a:solidFill>
          <a:ln w="12700">
            <a:solidFill>
              <a:srgbClr val="4D7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33856" y="2404872"/>
            <a:ext cx="0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33856" y="2404872"/>
            <a:ext cx="173736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572768" y="2258568"/>
            <a:ext cx="438912" cy="438912"/>
          </a:xfrm>
          <a:prstGeom prst="rect">
            <a:avLst/>
          </a:prstGeom>
          <a:solidFill>
            <a:srgbClr val="A8CF4A"/>
          </a:solidFill>
          <a:ln w="12700">
            <a:solidFill>
              <a:srgbClr val="4D7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92224" y="2697480"/>
            <a:ext cx="0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792224" y="2697480"/>
            <a:ext cx="173736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231136" y="1965960"/>
            <a:ext cx="438912" cy="438912"/>
          </a:xfrm>
          <a:prstGeom prst="rect">
            <a:avLst/>
          </a:prstGeom>
          <a:solidFill>
            <a:srgbClr val="A8CF4A"/>
          </a:solidFill>
          <a:ln w="12700">
            <a:solidFill>
              <a:srgbClr val="4D7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50592" y="2404872"/>
            <a:ext cx="0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450592" y="2404872"/>
            <a:ext cx="173736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889504" y="2258568"/>
            <a:ext cx="438912" cy="438912"/>
          </a:xfrm>
          <a:prstGeom prst="rect">
            <a:avLst/>
          </a:prstGeom>
          <a:solidFill>
            <a:srgbClr val="A8CF4A"/>
          </a:solidFill>
          <a:ln w="12700">
            <a:solidFill>
              <a:srgbClr val="4D7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2697480"/>
            <a:ext cx="0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108960" y="2697480"/>
            <a:ext cx="173736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547872" y="1965960"/>
            <a:ext cx="438912" cy="438912"/>
          </a:xfrm>
          <a:prstGeom prst="rect">
            <a:avLst/>
          </a:prstGeom>
          <a:solidFill>
            <a:srgbClr val="A8CF4A"/>
          </a:solidFill>
          <a:ln w="12700">
            <a:solidFill>
              <a:srgbClr val="4D7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67328" y="2404872"/>
            <a:ext cx="0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767328" y="2404872"/>
            <a:ext cx="173736" cy="338328"/>
          </a:xfrm>
          <a:prstGeom prst="line">
            <a:avLst/>
          </a:prstGeom>
          <a:noFill/>
          <a:ln w="12700">
            <a:solidFill>
              <a:srgbClr val="4D7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251960" y="2468880"/>
            <a:ext cx="822960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257800" y="2148840"/>
            <a:ext cx="114300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241916"/>
            <a:ext cx="50292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independent trees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instability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754880"/>
            <a:ext cx="77724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37360" y="4983480"/>
            <a:ext cx="274320" cy="0"/>
          </a:xfrm>
          <a:prstGeom prst="line">
            <a:avLst/>
          </a:prstGeom>
          <a:noFill/>
          <a:ln w="1905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057400" y="4754880"/>
            <a:ext cx="777240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4983480"/>
            <a:ext cx="274320" cy="0"/>
          </a:xfrm>
          <a:prstGeom prst="line">
            <a:avLst/>
          </a:prstGeom>
          <a:noFill/>
          <a:ln w="1905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200400" y="4754880"/>
            <a:ext cx="777240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4983480"/>
            <a:ext cx="274320" cy="0"/>
          </a:xfrm>
          <a:prstGeom prst="line">
            <a:avLst/>
          </a:prstGeom>
          <a:noFill/>
          <a:ln w="1905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343400" y="4754880"/>
            <a:ext cx="777240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5440680"/>
            <a:ext cx="4754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new tree corrects residual errors</a:t>
            </a:r>
            <a:endParaRPr lang="en-US" sz="1200" b="1" dirty="0"/>
          </a:p>
        </p:txBody>
      </p:sp>
      <p:sp>
        <p:nvSpPr>
          <p:cNvPr id="35" name="Text 33"/>
          <p:cNvSpPr/>
          <p:nvPr/>
        </p:nvSpPr>
        <p:spPr>
          <a:xfrm>
            <a:off x="6949440" y="2182263"/>
            <a:ext cx="3017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useful?</a:t>
            </a:r>
          </a:p>
          <a:p>
            <a:pPr marL="0" indent="0" algn="ctr">
              <a:buNone/>
            </a:pPr>
            <a:endParaRPr lang="en-US" sz="1700" b="1" dirty="0">
              <a:solidFill>
                <a:srgbClr val="10182B"/>
              </a:solidFill>
              <a:latin typeface="Aptos" pitchFamily="34" charset="0"/>
            </a:endParaRPr>
          </a:p>
          <a:p>
            <a:pPr marL="0" indent="0" algn="ctr">
              <a:buNone/>
            </a:pPr>
            <a:endParaRPr lang="en-US" sz="1700" b="1" dirty="0">
              <a:solidFill>
                <a:srgbClr val="10182B"/>
              </a:solidFill>
              <a:latin typeface="Aptos" pitchFamily="34" charset="0"/>
            </a:endParaRPr>
          </a:p>
          <a:p>
            <a:pPr marL="0" indent="0" algn="ctr">
              <a:buNone/>
            </a:pPr>
            <a:endParaRPr lang="en-US" sz="1700" b="1" dirty="0">
              <a:solidFill>
                <a:srgbClr val="10182B"/>
              </a:solidFill>
              <a:latin typeface="Aptos" pitchFamily="34" charset="0"/>
            </a:endParaRPr>
          </a:p>
          <a:p>
            <a:pPr marL="0" indent="0" algn="ctr">
              <a:buNone/>
            </a:pPr>
            <a:endParaRPr lang="en-US" sz="1700" b="1" dirty="0">
              <a:solidFill>
                <a:srgbClr val="10182B"/>
              </a:solidFill>
              <a:latin typeface="Aptos" pitchFamily="34" charset="0"/>
            </a:endParaRPr>
          </a:p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498080" y="3250534"/>
            <a:ext cx="25146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nonlinear effects
• feature interactions
• threshold behaviour
• heterogeneous features
• strong tabular benchmark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neural temporal model should be compared against a strong tree-based model over credible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68B2A3-79BE-29EF-2F1C-951EB80F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Tree models do not automatically understand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FDA46B-3A3A-B1C1-6487-734D39756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Consider the feature vector: [12.0, 15.0, 13.0, 18.0]</a:t>
            </a:r>
          </a:p>
          <a:p>
            <a:r>
              <a:rPr lang="en-GB" dirty="0"/>
              <a:t>A tree-based model sees four numerical variables.</a:t>
            </a:r>
          </a:p>
          <a:p>
            <a:r>
              <a:rPr lang="en-GB" dirty="0"/>
              <a:t>It does not automatically know whether they represent:</a:t>
            </a:r>
          </a:p>
          <a:p>
            <a:pPr lvl="1"/>
            <a:r>
              <a:rPr lang="en-GB" dirty="0"/>
              <a:t>four successive time points; </a:t>
            </a:r>
          </a:p>
          <a:p>
            <a:pPr lvl="1"/>
            <a:r>
              <a:rPr lang="en-GB" dirty="0"/>
              <a:t>four different sensors; </a:t>
            </a:r>
          </a:p>
          <a:p>
            <a:pPr lvl="1"/>
            <a:r>
              <a:rPr lang="en-GB" dirty="0"/>
              <a:t>four statistical features. </a:t>
            </a:r>
          </a:p>
          <a:p>
            <a:r>
              <a:rPr lang="en-GB" dirty="0"/>
              <a:t>Their meaning is determined by the feature definition.</a:t>
            </a:r>
          </a:p>
          <a:p>
            <a:r>
              <a:rPr lang="en-GB" b="1" dirty="0"/>
              <a:t>To encode temporal structure, we explicitly create features such as</a:t>
            </a:r>
          </a:p>
          <a:p>
            <a:pPr lvl="1"/>
            <a:r>
              <a:rPr lang="en-GB" dirty="0"/>
              <a:t>temperature[t] temperature[t−1] temperature[t−2]</a:t>
            </a:r>
          </a:p>
          <a:p>
            <a:pPr lvl="1"/>
            <a:r>
              <a:rPr lang="en-GB" dirty="0"/>
              <a:t>mean temperature over last 20 steps</a:t>
            </a:r>
          </a:p>
          <a:p>
            <a:pPr lvl="1"/>
            <a:r>
              <a:rPr lang="en-GB" dirty="0"/>
              <a:t>slope over last 50 steps</a:t>
            </a:r>
          </a:p>
          <a:p>
            <a:endParaRPr lang="en-GB" dirty="0"/>
          </a:p>
          <a:p>
            <a:r>
              <a:rPr lang="en-GB" dirty="0"/>
              <a:t>Changing the temporal representation can matter as much as changing the prediction algorithm.</a:t>
            </a:r>
          </a:p>
          <a:p>
            <a:r>
              <a:rPr lang="en-GB" dirty="0"/>
              <a:t>For example:</a:t>
            </a:r>
          </a:p>
          <a:p>
            <a:pPr lvl="1"/>
            <a:r>
              <a:rPr lang="en-GB" dirty="0"/>
              <a:t>weak features + powerful model may perform worse than: good temporal features + simple model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72EDF98-32F3-FA54-F6A9-26CDEFBF0B0A}"/>
              </a:ext>
            </a:extLst>
          </p:cNvPr>
          <p:cNvSpPr txBox="1"/>
          <p:nvPr/>
        </p:nvSpPr>
        <p:spPr>
          <a:xfrm>
            <a:off x="5413412" y="6041362"/>
            <a:ext cx="6101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In feature-based machine learning, representation design and predictive modelling are separate problems.</a:t>
            </a:r>
          </a:p>
        </p:txBody>
      </p:sp>
    </p:spTree>
    <p:extLst>
      <p:ext uri="{BB962C8B-B14F-4D97-AF65-F5344CB8AC3E}">
        <p14:creationId xmlns:p14="http://schemas.microsoft.com/office/powerpoint/2010/main" val="318363922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FD4193-6E87-D467-4FA7-46CDEDCD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model comparison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E38CBF64-6BFA-507D-4854-3F29196A9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GB" b="1" dirty="0"/>
              <a:t>Baseline 1</a:t>
            </a:r>
          </a:p>
          <a:p>
            <a:pPr>
              <a:buNone/>
            </a:pPr>
            <a:r>
              <a:rPr lang="en-GB" dirty="0"/>
              <a:t>Persistence: </a:t>
            </a:r>
            <a:r>
              <a:rPr lang="en-GB" dirty="0" err="1">
                <a:latin typeface="Courier New" panose="02070309020205020404" pitchFamily="49" charset="0"/>
              </a:rPr>
              <a:t>y_hat</a:t>
            </a:r>
            <a:r>
              <a:rPr lang="en-GB" dirty="0">
                <a:latin typeface="Courier New" panose="02070309020205020404" pitchFamily="49" charset="0"/>
              </a:rPr>
              <a:t>[t+1] = y[t]</a:t>
            </a:r>
          </a:p>
          <a:p>
            <a:pPr>
              <a:buNone/>
            </a:pPr>
            <a:r>
              <a:rPr lang="en-GB" b="1" dirty="0"/>
              <a:t>Baseline 2</a:t>
            </a:r>
          </a:p>
          <a:p>
            <a:pPr>
              <a:buNone/>
            </a:pPr>
            <a:r>
              <a:rPr lang="en-GB" dirty="0"/>
              <a:t>Ridge regression using lagged demand.</a:t>
            </a:r>
          </a:p>
          <a:p>
            <a:pPr>
              <a:buNone/>
            </a:pPr>
            <a:r>
              <a:rPr lang="en-GB" b="1" dirty="0"/>
              <a:t>Baseline 3</a:t>
            </a:r>
          </a:p>
          <a:p>
            <a:pPr>
              <a:buNone/>
            </a:pPr>
            <a:r>
              <a:rPr lang="en-GB" dirty="0"/>
              <a:t>Ridge regression using: lagged demand; rolling means;  temperature;  calendar variables. </a:t>
            </a:r>
          </a:p>
          <a:p>
            <a:pPr>
              <a:buNone/>
            </a:pPr>
            <a:r>
              <a:rPr lang="en-GB" b="1" dirty="0"/>
              <a:t>Baseline 4</a:t>
            </a:r>
          </a:p>
          <a:p>
            <a:pPr>
              <a:buNone/>
            </a:pPr>
            <a:r>
              <a:rPr lang="en-GB" dirty="0"/>
              <a:t>Gradient boosting using the same features.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b="1" dirty="0"/>
              <a:t>Interpretation</a:t>
            </a:r>
          </a:p>
          <a:p>
            <a:pPr>
              <a:buNone/>
            </a:pPr>
            <a:r>
              <a:rPr lang="en-GB" dirty="0"/>
              <a:t>The progression tells us where improvement comes from: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temporal history;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feature engineering;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nonlinearity. </a:t>
            </a:r>
          </a:p>
          <a:p>
            <a:pPr>
              <a:buNone/>
            </a:pPr>
            <a:r>
              <a:rPr lang="en-GB" b="1" dirty="0"/>
              <a:t>Important rule</a:t>
            </a:r>
          </a:p>
          <a:p>
            <a:pPr>
              <a:buNone/>
            </a:pPr>
            <a:r>
              <a:rPr lang="en-GB" dirty="0"/>
              <a:t>Use the </a:t>
            </a:r>
            <a:r>
              <a:rPr lang="en-GB" b="1" dirty="0"/>
              <a:t>same split, same target and same information</a:t>
            </a:r>
            <a:r>
              <a:rPr lang="en-GB" dirty="0"/>
              <a:t> for every model.</a:t>
            </a:r>
          </a:p>
          <a:p>
            <a:endParaRPr lang="en-GB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26BE837-AFF1-2205-127F-D7F01B350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406" y="3633233"/>
            <a:ext cx="5959356" cy="2408129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CA2FE2B-DC82-5129-10A1-48E7969F0385}"/>
              </a:ext>
            </a:extLst>
          </p:cNvPr>
          <p:cNvSpPr txBox="1"/>
          <p:nvPr/>
        </p:nvSpPr>
        <p:spPr>
          <a:xfrm>
            <a:off x="3260835" y="1491497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/>
              <a:t>Suppose the task is to predict future energy demand.</a:t>
            </a:r>
          </a:p>
        </p:txBody>
      </p:sp>
    </p:spTree>
    <p:extLst>
      <p:ext uri="{BB962C8B-B14F-4D97-AF65-F5344CB8AC3E}">
        <p14:creationId xmlns:p14="http://schemas.microsoft.com/office/powerpoint/2010/main" val="393711411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baseline ladder reveals where the improvement comes from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split, target and available information for every model.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2468880" cy="475488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600200"/>
            <a:ext cx="1874520" cy="475488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MAE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66360" y="1600200"/>
            <a:ext cx="1874520" cy="475488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1600200"/>
            <a:ext cx="2788920" cy="475488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075688"/>
            <a:ext cx="246888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075688"/>
            <a:ext cx="187452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075688"/>
            <a:ext cx="187452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2075688"/>
            <a:ext cx="278892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history matter?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55117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on lags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551176"/>
            <a:ext cx="1874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2551176"/>
            <a:ext cx="1874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551176"/>
            <a:ext cx="2788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selected delays help?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026664"/>
            <a:ext cx="246888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+ 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026664"/>
            <a:ext cx="187452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026664"/>
            <a:ext cx="187452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3026664"/>
            <a:ext cx="278892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feature engineering help?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50215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502152"/>
            <a:ext cx="1874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3502152"/>
            <a:ext cx="1874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502152"/>
            <a:ext cx="2788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nonlinear interactions help?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977640"/>
            <a:ext cx="246888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Later: deep model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977640"/>
            <a:ext cx="187452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977640"/>
            <a:ext cx="187452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3977640"/>
            <a:ext cx="2788920" cy="475488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</a:t>
            </a:r>
            <a:r>
              <a:rPr lang="en-US" sz="11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learning </a:t>
            </a:r>
            <a:r>
              <a:rPr lang="en-US" sz="11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compare models if they use different information, horizons or test samples.</a:t>
            </a:r>
            <a:endParaRPr lang="en-US" sz="1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E1B2DB-FF48-57D4-EA2E-9BFC780F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model comparison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605C6B-B9E9-0408-01FD-935D5E117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304" y="2160587"/>
            <a:ext cx="8596668" cy="388077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b="1" dirty="0"/>
              <a:t>Compare using appropriate metrics</a:t>
            </a:r>
          </a:p>
          <a:p>
            <a:pPr>
              <a:buNone/>
            </a:pPr>
            <a:r>
              <a:rPr lang="en-GB" dirty="0"/>
              <a:t>For imbalanced problems, accuracy alone may be misleading.</a:t>
            </a:r>
          </a:p>
          <a:p>
            <a:pPr>
              <a:buNone/>
            </a:pPr>
            <a:r>
              <a:rPr lang="en-GB" dirty="0"/>
              <a:t>Useful quantities include: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recall;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precision;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F1 score;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macro-F1;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confusion matrix. </a:t>
            </a:r>
          </a:p>
          <a:p>
            <a:pPr>
              <a:buNone/>
            </a:pPr>
            <a:r>
              <a:rPr lang="en-GB" b="1" dirty="0"/>
              <a:t>Example</a:t>
            </a:r>
          </a:p>
          <a:p>
            <a:pPr>
              <a:buNone/>
            </a:pPr>
            <a:r>
              <a:rPr lang="en-GB" dirty="0"/>
              <a:t>The majority classifier has high accuracy but completely fails at the actual fault-detection task.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r>
              <a:rPr lang="en-GB" dirty="0"/>
              <a:t>Model comparison must use metrics aligned with the operational objective.</a:t>
            </a:r>
          </a:p>
          <a:p>
            <a:endParaRPr lang="en-GB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CB1C60D-EB43-E04C-019F-65EFD2FF0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786" y="2702368"/>
            <a:ext cx="7087214" cy="222523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7E8D7FD-9EAB-7F9E-FDB4-31F2BF4CE2BA}"/>
              </a:ext>
            </a:extLst>
          </p:cNvPr>
          <p:cNvSpPr txBox="1"/>
          <p:nvPr/>
        </p:nvSpPr>
        <p:spPr>
          <a:xfrm>
            <a:off x="3586656" y="1325217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/>
              <a:t>Consider an industrial fault-classification problem</a:t>
            </a:r>
          </a:p>
        </p:txBody>
      </p:sp>
    </p:spTree>
    <p:extLst>
      <p:ext uri="{BB962C8B-B14F-4D97-AF65-F5344CB8AC3E}">
        <p14:creationId xmlns:p14="http://schemas.microsoft.com/office/powerpoint/2010/main" val="68590759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83333F-4926-AF88-56EC-556EDC264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should we compare besides predictive performance?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6E0576-0C5F-52BD-DFB2-6D1FC5A1B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Predictive accuracy is only one engineering criterion.</a:t>
            </a:r>
          </a:p>
          <a:p>
            <a:r>
              <a:rPr lang="en-GB" dirty="0"/>
              <a:t>Models can also be compared by:</a:t>
            </a:r>
          </a:p>
          <a:p>
            <a:pPr lvl="1"/>
            <a:r>
              <a:rPr lang="en-GB" dirty="0"/>
              <a:t>training time; </a:t>
            </a:r>
          </a:p>
          <a:p>
            <a:pPr lvl="1"/>
            <a:r>
              <a:rPr lang="en-GB" dirty="0"/>
              <a:t>inference time; </a:t>
            </a:r>
          </a:p>
          <a:p>
            <a:pPr lvl="1"/>
            <a:r>
              <a:rPr lang="en-GB" dirty="0"/>
              <a:t>memory requirements; </a:t>
            </a:r>
          </a:p>
          <a:p>
            <a:pPr lvl="1"/>
            <a:r>
              <a:rPr lang="en-GB" dirty="0"/>
              <a:t>number of parameters; </a:t>
            </a:r>
          </a:p>
          <a:p>
            <a:pPr lvl="1"/>
            <a:r>
              <a:rPr lang="en-GB" dirty="0"/>
              <a:t>feature-engineering effort; </a:t>
            </a:r>
          </a:p>
          <a:p>
            <a:pPr lvl="1"/>
            <a:r>
              <a:rPr lang="en-GB" dirty="0"/>
              <a:t>interpretability; </a:t>
            </a:r>
          </a:p>
          <a:p>
            <a:pPr lvl="1"/>
            <a:r>
              <a:rPr lang="en-GB" dirty="0"/>
              <a:t>robustness; </a:t>
            </a:r>
          </a:p>
          <a:p>
            <a:pPr lvl="1"/>
            <a:r>
              <a:rPr lang="en-GB" dirty="0"/>
              <a:t>maintenance cost.</a:t>
            </a:r>
          </a:p>
          <a:p>
            <a:endParaRPr lang="en-GB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667F035-389F-B8C7-B3E7-CFD8C9BBC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705" y="3113690"/>
            <a:ext cx="6454699" cy="2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8435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5D6C1C-3745-BD94-825E-5C71E0A8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Engineering interpretation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5122F7-B6CE-7065-5DE4-7F521D43E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1% increase in predictive performance may or may not justify:</a:t>
            </a:r>
          </a:p>
          <a:p>
            <a:pPr lvl="1"/>
            <a:r>
              <a:rPr lang="en-GB" dirty="0"/>
              <a:t>additional hardware; </a:t>
            </a:r>
          </a:p>
          <a:p>
            <a:pPr lvl="1"/>
            <a:r>
              <a:rPr lang="en-GB" dirty="0"/>
              <a:t>slower inference; </a:t>
            </a:r>
          </a:p>
          <a:p>
            <a:pPr lvl="1"/>
            <a:r>
              <a:rPr lang="en-GB" dirty="0"/>
              <a:t>more complex deployment; </a:t>
            </a:r>
          </a:p>
          <a:p>
            <a:pPr lvl="1"/>
            <a:r>
              <a:rPr lang="en-GB" dirty="0"/>
              <a:t>more difficult monitoring. </a:t>
            </a:r>
          </a:p>
          <a:p>
            <a:r>
              <a:rPr lang="en-GB" b="1" dirty="0"/>
              <a:t>Key message</a:t>
            </a:r>
          </a:p>
          <a:p>
            <a:r>
              <a:rPr lang="en-GB" dirty="0"/>
              <a:t>The best model is the model that satisfies the application requirements, not necessarily the most accurate model.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875577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2D999B-53C9-AC9E-11A2-6A0C08D0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3.F — Sequence Similarity and Dynamic Time Warping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AE351E-3CAE-61BD-5A5D-6E4103FFC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03598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65CF52-6D23-B13D-2BE2-7BBAB671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alternative approach: compare complete 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4D5DB2-B787-411F-8BB4-C66102F16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Feature engineering is not the only classical strategy.</a:t>
            </a:r>
          </a:p>
          <a:p>
            <a:r>
              <a:rPr lang="en-GB" dirty="0"/>
              <a:t>For classification, we can also </a:t>
            </a:r>
            <a:r>
              <a:rPr lang="en-GB" b="1" dirty="0"/>
              <a:t>compare a new sequence directly with labelled sequences.</a:t>
            </a:r>
          </a:p>
          <a:p>
            <a:r>
              <a:rPr lang="en-GB" b="1" dirty="0"/>
              <a:t>Nearest-neighbour idea</a:t>
            </a:r>
          </a:p>
          <a:p>
            <a:r>
              <a:rPr lang="en-GB" dirty="0"/>
              <a:t>Given an unknown sequence:</a:t>
            </a:r>
          </a:p>
          <a:p>
            <a:pPr lvl="1"/>
            <a:r>
              <a:rPr lang="en-GB" dirty="0"/>
              <a:t>measure its distance from training sequences; </a:t>
            </a:r>
          </a:p>
          <a:p>
            <a:pPr lvl="1"/>
            <a:r>
              <a:rPr lang="en-GB" dirty="0"/>
              <a:t>identify the closest sequence or sequences; </a:t>
            </a:r>
          </a:p>
          <a:p>
            <a:pPr lvl="1"/>
            <a:r>
              <a:rPr lang="en-GB" dirty="0"/>
              <a:t>assign their class. 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unknown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compare with training sequences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nearest examples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class prediction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EFA94C-D131-7C0E-4E34-FEA32432F1A0}"/>
              </a:ext>
            </a:extLst>
          </p:cNvPr>
          <p:cNvSpPr txBox="1"/>
          <p:nvPr/>
        </p:nvSpPr>
        <p:spPr>
          <a:xfrm>
            <a:off x="4774325" y="4327436"/>
            <a:ext cx="67403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Central question</a:t>
            </a:r>
          </a:p>
          <a:p>
            <a:r>
              <a:rPr lang="en-GB" sz="1800" dirty="0"/>
              <a:t>What does it mean for two </a:t>
            </a:r>
            <a:r>
              <a:rPr lang="en-GB" sz="1800" b="1" dirty="0"/>
              <a:t>temporal sequences </a:t>
            </a:r>
            <a:r>
              <a:rPr lang="en-GB" sz="1800" dirty="0"/>
              <a:t>to be </a:t>
            </a:r>
            <a:r>
              <a:rPr lang="en-GB" sz="1800" b="1" dirty="0"/>
              <a:t>similar</a:t>
            </a:r>
            <a:r>
              <a:rPr lang="en-GB" sz="1800" dirty="0"/>
              <a:t>?</a:t>
            </a:r>
          </a:p>
          <a:p>
            <a:r>
              <a:rPr lang="en-GB" sz="1800" dirty="0"/>
              <a:t>A simple answer is </a:t>
            </a:r>
            <a:r>
              <a:rPr lang="en-GB" sz="1800" b="1" dirty="0"/>
              <a:t>Euclidean distance</a:t>
            </a:r>
            <a:r>
              <a:rPr lang="en-GB" sz="1800" dirty="0"/>
              <a:t>.</a:t>
            </a:r>
          </a:p>
          <a:p>
            <a:r>
              <a:rPr lang="en-GB" sz="1800" dirty="0"/>
              <a:t>But </a:t>
            </a:r>
            <a:r>
              <a:rPr lang="en-GB" sz="1800" b="1" dirty="0"/>
              <a:t>temporal misalignment </a:t>
            </a:r>
            <a:r>
              <a:rPr lang="en-GB" sz="1800" dirty="0"/>
              <a:t>creates an important problem.</a:t>
            </a:r>
          </a:p>
        </p:txBody>
      </p:sp>
    </p:spTree>
    <p:extLst>
      <p:ext uri="{BB962C8B-B14F-4D97-AF65-F5344CB8AC3E}">
        <p14:creationId xmlns:p14="http://schemas.microsoft.com/office/powerpoint/2010/main" val="125520518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024FC7-4025-0EA2-4B69-9E51F6EC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Euclidean distance requires temporal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340449-F4AC-CC1C-1258-8627E10F8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Suppose two sequences contain the same characteristic peak.</a:t>
            </a:r>
          </a:p>
          <a:p>
            <a:r>
              <a:rPr lang="en-GB" b="1" dirty="0"/>
              <a:t>Sequence A</a:t>
            </a:r>
          </a:p>
          <a:p>
            <a:r>
              <a:rPr lang="en-GB" dirty="0"/>
              <a:t>Peak occurs at time 40.</a:t>
            </a:r>
          </a:p>
          <a:p>
            <a:r>
              <a:rPr lang="en-GB" b="1" dirty="0"/>
              <a:t>Sequence B</a:t>
            </a:r>
          </a:p>
          <a:p>
            <a:r>
              <a:rPr lang="en-GB" dirty="0"/>
              <a:t>Peak occurs at time 45.</a:t>
            </a:r>
          </a:p>
          <a:p>
            <a:r>
              <a:rPr lang="en-GB" dirty="0"/>
              <a:t>The shapes may be very similar, but shifted slightly in time.</a:t>
            </a:r>
          </a:p>
          <a:p>
            <a:r>
              <a:rPr lang="en-GB" dirty="0"/>
              <a:t>With point-by-point Euclidean comparison:</a:t>
            </a:r>
          </a:p>
          <a:p>
            <a:pPr lvl="1"/>
            <a:r>
              <a:rPr lang="en-GB" dirty="0"/>
              <a:t>A[1] compared with B[1]</a:t>
            </a:r>
          </a:p>
          <a:p>
            <a:pPr lvl="1"/>
            <a:r>
              <a:rPr lang="en-GB" dirty="0"/>
              <a:t>A[2] compared with B[2]</a:t>
            </a:r>
          </a:p>
          <a:p>
            <a:pPr lvl="1"/>
            <a:r>
              <a:rPr lang="en-GB" dirty="0"/>
              <a:t>...</a:t>
            </a:r>
          </a:p>
          <a:p>
            <a:pPr lvl="1"/>
            <a:r>
              <a:rPr lang="en-GB" dirty="0"/>
              <a:t>A[T] compared with B[T]</a:t>
            </a:r>
          </a:p>
          <a:p>
            <a:r>
              <a:rPr lang="en-GB" dirty="0"/>
              <a:t>the peaks are compared against different parts of the signals.</a:t>
            </a:r>
          </a:p>
          <a:p>
            <a:endParaRPr lang="en-GB" b="1" dirty="0"/>
          </a:p>
          <a:p>
            <a:r>
              <a:rPr lang="en-GB" b="1" dirty="0"/>
              <a:t>Consequence</a:t>
            </a:r>
          </a:p>
          <a:p>
            <a:r>
              <a:rPr lang="en-GB" dirty="0"/>
              <a:t>Euclidean distance may become large even though the underlying patterns are similar.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091986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8E236-DA5E-540D-FF9C-C830B12E6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Euclidean distance requires temporal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51725C-6D1C-0AA0-B974-4660D62B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Suitable case for Euclidean distance</a:t>
            </a:r>
          </a:p>
          <a:p>
            <a:r>
              <a:rPr lang="en-GB" dirty="0"/>
              <a:t>When sequences are:</a:t>
            </a:r>
          </a:p>
          <a:p>
            <a:pPr lvl="1"/>
            <a:r>
              <a:rPr lang="en-GB" dirty="0"/>
              <a:t>equal length; </a:t>
            </a:r>
          </a:p>
          <a:p>
            <a:pPr lvl="1"/>
            <a:r>
              <a:rPr lang="en-GB" dirty="0"/>
              <a:t>well synchronized; </a:t>
            </a:r>
          </a:p>
          <a:p>
            <a:pPr lvl="1"/>
            <a:r>
              <a:rPr lang="en-GB" dirty="0"/>
              <a:t>aligned to a common event; </a:t>
            </a:r>
          </a:p>
          <a:p>
            <a:pPr lvl="1"/>
            <a:r>
              <a:rPr lang="en-GB" dirty="0"/>
              <a:t>generated at similar speeds. </a:t>
            </a:r>
          </a:p>
          <a:p>
            <a:r>
              <a:rPr lang="en-GB" b="1" dirty="0"/>
              <a:t>Problem</a:t>
            </a:r>
          </a:p>
          <a:p>
            <a:r>
              <a:rPr lang="en-GB" dirty="0"/>
              <a:t>Real temporal processes are frequently not perfectly aligned.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233138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Euclidean distance requires temporal alignment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shape shifted in time can look very different under </a:t>
            </a:r>
            <a:r>
              <a:rPr lang="en-US" sz="1400" b="1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point-by-point comparison.</a:t>
            </a:r>
            <a:endParaRPr lang="en-US" sz="1400" b="1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4114800" cy="0"/>
          </a:xfrm>
          <a:prstGeom prst="line">
            <a:avLst/>
          </a:prstGeom>
          <a:noFill/>
          <a:ln w="12700">
            <a:solidFill>
              <a:srgbClr val="A7B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0" cy="1280160"/>
          </a:xfrm>
          <a:prstGeom prst="line">
            <a:avLst/>
          </a:prstGeom>
          <a:noFill/>
          <a:ln w="12700">
            <a:solidFill>
              <a:srgbClr val="A7B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68680" y="4846320"/>
            <a:ext cx="4114800" cy="0"/>
          </a:xfrm>
          <a:prstGeom prst="line">
            <a:avLst/>
          </a:prstGeom>
          <a:noFill/>
          <a:ln w="12700">
            <a:solidFill>
              <a:srgbClr val="A7B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68680" y="3566160"/>
            <a:ext cx="0" cy="1280160"/>
          </a:xfrm>
          <a:prstGeom prst="line">
            <a:avLst/>
          </a:prstGeom>
          <a:noFill/>
          <a:ln w="12700">
            <a:solidFill>
              <a:srgbClr val="A7B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868680" y="2706624"/>
            <a:ext cx="493776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 flipV="1">
            <a:off x="1362456" y="2633472"/>
            <a:ext cx="534920" cy="73152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 flipV="1">
            <a:off x="1897380" y="1810512"/>
            <a:ext cx="534921" cy="832104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432304" y="1810512"/>
            <a:ext cx="493776" cy="704088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926080" y="2514600"/>
            <a:ext cx="493776" cy="166421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419856" y="2681021"/>
            <a:ext cx="1563624" cy="25603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68680" y="4718304"/>
            <a:ext cx="82296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 flipV="1">
            <a:off x="1691640" y="4654296"/>
            <a:ext cx="617220" cy="64008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 flipV="1">
            <a:off x="2308859" y="3822191"/>
            <a:ext cx="845819" cy="832105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131820" y="3822192"/>
            <a:ext cx="493776" cy="704088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625596" y="4526280"/>
            <a:ext cx="452628" cy="166421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078224" y="4692701"/>
            <a:ext cx="905256" cy="25603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1440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A: peak at time 40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246120"/>
            <a:ext cx="32004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B: peak at time 45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2834640"/>
            <a:ext cx="0" cy="6217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554480" y="2834640"/>
            <a:ext cx="0" cy="6217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194560" y="2834640"/>
            <a:ext cx="0" cy="6217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834640" y="2834640"/>
            <a:ext cx="0" cy="6217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474720" y="2834640"/>
            <a:ext cx="0" cy="6217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114800" y="2834640"/>
            <a:ext cx="0" cy="6217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754880" y="2834640"/>
            <a:ext cx="0" cy="6217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760720" y="1828800"/>
            <a:ext cx="3931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correspondence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A[1] ↔ B[1]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A[2] ↔ B[2]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A[T] ↔ B[T]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aligns with the wrong part of the other signal.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Euclidean distance is appropriate when sequences are already well synchronized.</a:t>
            </a:r>
            <a:endParaRPr lang="en-US" sz="1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E11BA3-C97E-B95F-3303-8218E245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deformation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70E14A-AA70-F9CA-BCC9-1953EDD01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Similar processes may evolve at different speeds.</a:t>
            </a:r>
          </a:p>
          <a:p>
            <a:r>
              <a:rPr lang="en-GB" dirty="0"/>
              <a:t>Example:</a:t>
            </a:r>
          </a:p>
          <a:p>
            <a:r>
              <a:rPr lang="en-GB" b="1" dirty="0"/>
              <a:t>Sequence A</a:t>
            </a:r>
          </a:p>
          <a:p>
            <a:pPr lvl="1"/>
            <a:r>
              <a:rPr lang="en-GB" dirty="0"/>
              <a:t>slow rise → peak → slow decay</a:t>
            </a:r>
          </a:p>
          <a:p>
            <a:r>
              <a:rPr lang="en-GB" b="1" dirty="0"/>
              <a:t>Sequence B</a:t>
            </a:r>
          </a:p>
          <a:p>
            <a:pPr lvl="1"/>
            <a:r>
              <a:rPr lang="en-GB" dirty="0"/>
              <a:t>fast rise → peak → fast decay</a:t>
            </a:r>
          </a:p>
          <a:p>
            <a:r>
              <a:rPr lang="en-GB" dirty="0"/>
              <a:t>The two sequences may represent the same type of event.</a:t>
            </a:r>
          </a:p>
          <a:p>
            <a:r>
              <a:rPr lang="en-GB" dirty="0"/>
              <a:t>However, individual landmarks occur at different time positions.</a:t>
            </a:r>
          </a:p>
          <a:p>
            <a:endParaRPr lang="en-GB" b="1" dirty="0"/>
          </a:p>
          <a:p>
            <a:r>
              <a:rPr lang="en-GB" b="1" dirty="0"/>
              <a:t>Examples</a:t>
            </a:r>
          </a:p>
          <a:p>
            <a:pPr lvl="1"/>
            <a:r>
              <a:rPr lang="en-GB" dirty="0"/>
              <a:t>human activities performed at different speeds; </a:t>
            </a:r>
          </a:p>
          <a:p>
            <a:pPr lvl="1"/>
            <a:r>
              <a:rPr lang="en-GB" dirty="0"/>
              <a:t>production cycles with varying durations; </a:t>
            </a:r>
          </a:p>
          <a:p>
            <a:pPr lvl="1"/>
            <a:r>
              <a:rPr lang="en-GB" dirty="0"/>
              <a:t>biological signals with variable timing; </a:t>
            </a:r>
          </a:p>
          <a:p>
            <a:pPr lvl="1"/>
            <a:r>
              <a:rPr lang="en-GB" dirty="0"/>
              <a:t>machine transients occurring faster or slower.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114812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7E8F24-2110-0F19-6697-D9EB69EF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Desired comparison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1C2942-E01C-1514-E65B-1628760A8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would like the algorithm to align:</a:t>
            </a:r>
          </a:p>
          <a:p>
            <a:pPr lvl="1"/>
            <a:r>
              <a:rPr lang="en-GB" dirty="0"/>
              <a:t>rise with rise; </a:t>
            </a:r>
          </a:p>
          <a:p>
            <a:pPr lvl="1"/>
            <a:r>
              <a:rPr lang="en-GB" dirty="0"/>
              <a:t>peak with peak; </a:t>
            </a:r>
          </a:p>
          <a:p>
            <a:pPr lvl="1"/>
            <a:r>
              <a:rPr lang="en-GB" dirty="0"/>
              <a:t>decay with decay; </a:t>
            </a:r>
          </a:p>
          <a:p>
            <a:pPr lvl="1"/>
            <a:r>
              <a:rPr lang="en-GB" dirty="0"/>
              <a:t>even when they occur at slightly different times.</a:t>
            </a:r>
          </a:p>
          <a:p>
            <a:endParaRPr lang="en-GB" dirty="0"/>
          </a:p>
          <a:p>
            <a:r>
              <a:rPr lang="en-GB" dirty="0"/>
              <a:t>This is the motivation for </a:t>
            </a:r>
            <a:r>
              <a:rPr lang="en-GB" b="1" dirty="0"/>
              <a:t>Dynamic Time Warping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684832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DEEA9D-407F-5DDA-5DBD-BB996251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Time Warping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6D8D0-3064-4984-DC12-F6EB057A4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280514" cy="3880772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Dynamic Time Warping, or DTW, compares two sequences while allowing local stretching and compression of the time axis.</a:t>
            </a:r>
          </a:p>
          <a:p>
            <a:r>
              <a:rPr lang="en-GB" dirty="0"/>
              <a:t>Instead of requiring: A[t] ↔ B[t]</a:t>
            </a:r>
          </a:p>
          <a:p>
            <a:r>
              <a:rPr lang="en-GB" dirty="0"/>
              <a:t>DTW may align:</a:t>
            </a:r>
          </a:p>
          <a:p>
            <a:pPr lvl="1"/>
            <a:r>
              <a:rPr lang="en-GB" dirty="0"/>
              <a:t>A[t] ↔ B[t−1]</a:t>
            </a:r>
          </a:p>
          <a:p>
            <a:pPr lvl="1"/>
            <a:r>
              <a:rPr lang="en-GB" dirty="0"/>
              <a:t>A[t] ↔ B[t]</a:t>
            </a:r>
          </a:p>
          <a:p>
            <a:pPr lvl="1"/>
            <a:r>
              <a:rPr lang="en-GB" dirty="0"/>
              <a:t>A[t+1] ↔ B[t]</a:t>
            </a:r>
          </a:p>
          <a:p>
            <a:endParaRPr lang="en-GB" b="1" dirty="0"/>
          </a:p>
          <a:p>
            <a:r>
              <a:rPr lang="en-GB" b="1" dirty="0"/>
              <a:t>Main idea</a:t>
            </a:r>
          </a:p>
          <a:p>
            <a:r>
              <a:rPr lang="en-GB" dirty="0"/>
              <a:t>Find an alignment that minimizes the cumulative mismatch between the two sequences.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Similar patterns can match </a:t>
            </a:r>
            <a:r>
              <a:rPr lang="en-GB" dirty="0"/>
              <a:t>even if one occurs:</a:t>
            </a:r>
          </a:p>
          <a:p>
            <a:pPr lvl="1"/>
            <a:r>
              <a:rPr lang="en-GB" dirty="0"/>
              <a:t>earlier; later; </a:t>
            </a:r>
          </a:p>
          <a:p>
            <a:pPr lvl="1"/>
            <a:r>
              <a:rPr lang="en-GB" dirty="0"/>
              <a:t>faster; slower.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A471BB6-CB25-BB6C-A7B6-35B6F562C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1985" y="2229619"/>
            <a:ext cx="4184034" cy="3880773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Euclidean:</a:t>
            </a:r>
          </a:p>
          <a:p>
            <a:r>
              <a:rPr lang="en-GB" dirty="0"/>
              <a:t>fixed alignment</a:t>
            </a:r>
          </a:p>
          <a:p>
            <a:endParaRPr lang="en-GB" dirty="0"/>
          </a:p>
          <a:p>
            <a:r>
              <a:rPr lang="en-GB" dirty="0"/>
              <a:t>DTW:</a:t>
            </a:r>
          </a:p>
          <a:p>
            <a:r>
              <a:rPr lang="en-GB" dirty="0"/>
              <a:t>flexible temporal alignment</a:t>
            </a:r>
          </a:p>
          <a:p>
            <a:endParaRPr lang="en-GB" dirty="0"/>
          </a:p>
          <a:p>
            <a:r>
              <a:rPr lang="en-GB" dirty="0"/>
              <a:t>DTW measures similarity of temporal shape while tolerating local timing differences.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257756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Time Warping aligns similar shapes at different speeds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DTW allows local stretching and compression of the time axis.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4572000" cy="0"/>
          </a:xfrm>
          <a:prstGeom prst="line">
            <a:avLst/>
          </a:prstGeom>
          <a:noFill/>
          <a:ln w="12700">
            <a:solidFill>
              <a:srgbClr val="A7B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68680" y="1508760"/>
            <a:ext cx="0" cy="1143000"/>
          </a:xfrm>
          <a:prstGeom prst="line">
            <a:avLst/>
          </a:prstGeom>
          <a:noFill/>
          <a:ln w="12700">
            <a:solidFill>
              <a:srgbClr val="A7B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68680" y="5029200"/>
            <a:ext cx="4572000" cy="0"/>
          </a:xfrm>
          <a:prstGeom prst="line">
            <a:avLst/>
          </a:prstGeom>
          <a:noFill/>
          <a:ln w="12700">
            <a:solidFill>
              <a:srgbClr val="A7B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68680" y="3886200"/>
            <a:ext cx="0" cy="1143000"/>
          </a:xfrm>
          <a:prstGeom prst="line">
            <a:avLst/>
          </a:prstGeom>
          <a:noFill/>
          <a:ln w="12700">
            <a:solidFill>
              <a:srgbClr val="A7B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 flipV="1">
            <a:off x="868680" y="2423159"/>
            <a:ext cx="685798" cy="114301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 flipV="1">
            <a:off x="1554479" y="2023109"/>
            <a:ext cx="944875" cy="400051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 flipV="1">
            <a:off x="2468880" y="1565909"/>
            <a:ext cx="899154" cy="457201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383280" y="1565910"/>
            <a:ext cx="1051560" cy="68580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434840" y="2251710"/>
            <a:ext cx="1005840" cy="28575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 flipV="1">
            <a:off x="868680" y="4823460"/>
            <a:ext cx="365758" cy="9144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 flipV="1">
            <a:off x="1234440" y="4439412"/>
            <a:ext cx="640079" cy="361188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 flipV="1">
            <a:off x="1874520" y="3943350"/>
            <a:ext cx="624834" cy="45720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514600" y="3943350"/>
            <a:ext cx="1234440" cy="68580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749040" y="4629150"/>
            <a:ext cx="1691640" cy="28575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144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slower evolution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faster evolution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54480" y="2423160"/>
            <a:ext cx="0" cy="2377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468880" y="2023110"/>
            <a:ext cx="0" cy="2377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383280" y="1565910"/>
            <a:ext cx="0" cy="2377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434840" y="2251710"/>
            <a:ext cx="0" cy="2377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897880" y="1828800"/>
            <a:ext cx="3794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alignment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rise ↔ rise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peak ↔ peak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decay ↔ decay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when they occur at different time positions.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DTW measures similarity of temporal shape while tolerating local timing differences.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D1E541-6AB4-C355-D5CF-CF812846F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DTW cost matrix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823D5C-C752-5A34-CBFF-9CE40ED2A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Suppose we have two sequences:</a:t>
            </a:r>
          </a:p>
          <a:p>
            <a:r>
              <a:rPr lang="en-GB" dirty="0"/>
              <a:t>A = [a[1], ..., a[N]]</a:t>
            </a:r>
          </a:p>
          <a:p>
            <a:r>
              <a:rPr lang="en-GB" dirty="0"/>
              <a:t>B = [b[1], ..., b[M]]</a:t>
            </a:r>
          </a:p>
          <a:p>
            <a:r>
              <a:rPr lang="en-GB" dirty="0"/>
              <a:t>Construct a matrix where each cell represents the mismatch between:</a:t>
            </a:r>
          </a:p>
          <a:p>
            <a:r>
              <a:rPr lang="en-GB" dirty="0"/>
              <a:t>a[i] and b[j]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                Sequence B</a:t>
            </a:r>
          </a:p>
          <a:p>
            <a:r>
              <a:rPr lang="en-GB" dirty="0"/>
              <a:t>                       b1  b2  b3  b4 ...</a:t>
            </a:r>
          </a:p>
          <a:p>
            <a:r>
              <a:rPr lang="en-GB" dirty="0"/>
              <a:t>Sequence A a1   •   •   •   •</a:t>
            </a:r>
          </a:p>
          <a:p>
            <a:r>
              <a:rPr lang="en-GB" dirty="0"/>
              <a:t>                  a2   •   •   •   •</a:t>
            </a:r>
          </a:p>
          <a:p>
            <a:r>
              <a:rPr lang="en-GB" dirty="0"/>
              <a:t>           	     a3   •   •   •   •</a:t>
            </a:r>
          </a:p>
          <a:p>
            <a:r>
              <a:rPr lang="en-GB" dirty="0"/>
              <a:t>                  a4   •   •   •   •</a:t>
            </a:r>
          </a:p>
          <a:p>
            <a:r>
              <a:rPr lang="en-GB" dirty="0"/>
              <a:t>           ...</a:t>
            </a:r>
          </a:p>
          <a:p>
            <a:r>
              <a:rPr lang="en-GB" dirty="0"/>
              <a:t>A path through the matrix defines an alignment between the two sequences.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205239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931B46-F0F1-6FBC-012E-1B3F9822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DTW cost matrix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69F777-4682-2EF9-0E22-F93758200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DTW searches for</a:t>
            </a:r>
          </a:p>
          <a:p>
            <a:r>
              <a:rPr lang="en-GB" dirty="0"/>
              <a:t>A low-cost path from the beginning of both sequences to the end.</a:t>
            </a:r>
          </a:p>
          <a:p>
            <a:r>
              <a:rPr lang="en-GB" b="1" dirty="0"/>
              <a:t>Allowed path movements correspond to</a:t>
            </a:r>
          </a:p>
          <a:p>
            <a:pPr lvl="1"/>
            <a:r>
              <a:rPr lang="en-GB" dirty="0"/>
              <a:t>advance both sequences; </a:t>
            </a:r>
          </a:p>
          <a:p>
            <a:pPr lvl="1"/>
            <a:r>
              <a:rPr lang="en-GB" dirty="0"/>
              <a:t>advance only sequence A; </a:t>
            </a:r>
          </a:p>
          <a:p>
            <a:pPr lvl="1"/>
            <a:r>
              <a:rPr lang="en-GB" dirty="0"/>
              <a:t>advance only sequence B. </a:t>
            </a:r>
          </a:p>
          <a:p>
            <a:r>
              <a:rPr lang="en-GB" dirty="0"/>
              <a:t>This creates local stretching or compression.</a:t>
            </a:r>
          </a:p>
          <a:p>
            <a:r>
              <a:rPr lang="en-GB" b="1" dirty="0"/>
              <a:t>For this course</a:t>
            </a:r>
          </a:p>
          <a:p>
            <a:pPr lvl="1"/>
            <a:r>
              <a:rPr lang="en-GB" dirty="0"/>
              <a:t>The important concept is the alignment mechanism.</a:t>
            </a:r>
          </a:p>
          <a:p>
            <a:pPr lvl="1"/>
            <a:r>
              <a:rPr lang="en-GB" dirty="0"/>
              <a:t>A detailed dynamic-programming derivation is not required.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431944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87452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DTW cost matrix represents possible alignments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1500" y="7269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low-cost path through the matrix defines the temporal warping.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411480" cy="411480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325880" y="132588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737360" y="132588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148840" y="132588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971800" y="132588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383280" y="132588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794760" y="132588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14400" y="173736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325880" y="1737360"/>
            <a:ext cx="411480" cy="411480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737360" y="173736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148840" y="173736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560320" y="173736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971800" y="173736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383280" y="173736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794760" y="173736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14400" y="214884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325880" y="214884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737360" y="2148840"/>
            <a:ext cx="411480" cy="411480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148840" y="214884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560320" y="214884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971800" y="214884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383280" y="214884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794760" y="214884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914400" y="256032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325880" y="256032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737360" y="256032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148840" y="2560320"/>
            <a:ext cx="411480" cy="411480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560320" y="256032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971800" y="256032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3383280" y="256032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794760" y="256032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914400" y="297180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325880" y="297180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1737360" y="297180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2148840" y="297180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2560320" y="2971800"/>
            <a:ext cx="411480" cy="411480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2971800" y="297180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3383280" y="297180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3794760" y="297180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914400" y="338328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1325880" y="338328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1737360" y="338328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2148840" y="338328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2560320" y="338328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2971800" y="3383280"/>
            <a:ext cx="411480" cy="411480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3383280" y="338328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3794760" y="338328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914400" y="379476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1325880" y="379476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1737360" y="379476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2148840" y="379476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2560320" y="379476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2971800" y="379476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3383280" y="3794760"/>
            <a:ext cx="411480" cy="411480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3794760" y="379476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1325880" y="420624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1737360" y="4206240"/>
            <a:ext cx="411480" cy="41148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2148840" y="420624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2560320" y="4206240"/>
            <a:ext cx="4114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2971800" y="420624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3383280" y="4206240"/>
            <a:ext cx="411480" cy="411480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3794760" y="4206240"/>
            <a:ext cx="411480" cy="411480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1120140" y="1531620"/>
            <a:ext cx="411480" cy="41148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1531620" y="1943100"/>
            <a:ext cx="0" cy="41148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1531620" y="2354580"/>
            <a:ext cx="411480" cy="41148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1943100" y="2766060"/>
            <a:ext cx="411480" cy="41148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2354580" y="3177540"/>
            <a:ext cx="411480" cy="41148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2766060" y="3589020"/>
            <a:ext cx="4114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3177540" y="3589020"/>
            <a:ext cx="411480" cy="41148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3589020" y="4000500"/>
            <a:ext cx="411480" cy="41148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2006950" y="1014984"/>
            <a:ext cx="1828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B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228600" y="2743200"/>
            <a:ext cx="274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A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074920" y="1600200"/>
            <a:ext cx="44348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cell compares one point from sequence A with one point from sequence B.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red path selects the alignment with low cumulative mismatch.</a:t>
            </a:r>
            <a:endParaRPr lang="en-US" sz="1300" b="1" dirty="0"/>
          </a:p>
        </p:txBody>
      </p:sp>
      <p:sp>
        <p:nvSpPr>
          <p:cNvPr id="82" name="Text 80"/>
          <p:cNvSpPr/>
          <p:nvPr/>
        </p:nvSpPr>
        <p:spPr>
          <a:xfrm>
            <a:off x="5074920" y="4617720"/>
            <a:ext cx="4434840" cy="594360"/>
          </a:xfrm>
          <a:prstGeom prst="rect">
            <a:avLst/>
          </a:prstGeom>
          <a:solidFill>
            <a:srgbClr val="F2F5F8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moves: advance A, advance B, or advance both.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detailed dynamic-programming derivation is optional; the alignment idea is the core concept.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32B95F-5A4A-AF10-44D3-CDDB02CF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Euclidean alignment vs DTW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388288-29BB-B13E-B918-72DCDEB6D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Euclidean distance</a:t>
            </a:r>
          </a:p>
          <a:p>
            <a:r>
              <a:rPr lang="en-GB" dirty="0"/>
              <a:t>Uses </a:t>
            </a:r>
            <a:r>
              <a:rPr lang="en-GB" b="1" dirty="0"/>
              <a:t>fixed correspondence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A[1] ↔ B[1]</a:t>
            </a:r>
          </a:p>
          <a:p>
            <a:pPr lvl="1"/>
            <a:r>
              <a:rPr lang="en-GB" dirty="0"/>
              <a:t>A[2] ↔ B[2]</a:t>
            </a:r>
          </a:p>
          <a:p>
            <a:pPr lvl="1"/>
            <a:r>
              <a:rPr lang="en-GB" dirty="0"/>
              <a:t>A[3] ↔ B[3]</a:t>
            </a:r>
          </a:p>
          <a:p>
            <a:pPr lvl="1"/>
            <a:r>
              <a:rPr lang="en-GB" dirty="0"/>
              <a:t>...</a:t>
            </a:r>
          </a:p>
          <a:p>
            <a:r>
              <a:rPr lang="en-GB" b="1" dirty="0"/>
              <a:t>DTW</a:t>
            </a:r>
          </a:p>
          <a:p>
            <a:r>
              <a:rPr lang="en-GB" dirty="0"/>
              <a:t>Allows </a:t>
            </a:r>
            <a:r>
              <a:rPr lang="en-GB" b="1" dirty="0"/>
              <a:t>flexible correspondence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A[1] ↔ B[1]</a:t>
            </a:r>
          </a:p>
          <a:p>
            <a:pPr lvl="1"/>
            <a:r>
              <a:rPr lang="en-GB" dirty="0"/>
              <a:t>A[2] ↔ B[2]</a:t>
            </a:r>
          </a:p>
          <a:p>
            <a:pPr lvl="1"/>
            <a:r>
              <a:rPr lang="en-GB" dirty="0"/>
              <a:t>A[3] ↔ B[2]</a:t>
            </a:r>
          </a:p>
          <a:p>
            <a:pPr lvl="1"/>
            <a:r>
              <a:rPr lang="en-GB" dirty="0"/>
              <a:t>A[4] ↔ B[3]</a:t>
            </a:r>
          </a:p>
          <a:p>
            <a:pPr lvl="1"/>
            <a:r>
              <a:rPr lang="en-GB" dirty="0"/>
              <a:t>A[5] ↔ B[4]</a:t>
            </a:r>
          </a:p>
          <a:p>
            <a:pPr lvl="1"/>
            <a:r>
              <a:rPr lang="en-GB" dirty="0"/>
              <a:t>...</a:t>
            </a:r>
          </a:p>
          <a:p>
            <a:r>
              <a:rPr lang="en-GB" b="1" dirty="0"/>
              <a:t>Consequence</a:t>
            </a:r>
          </a:p>
          <a:p>
            <a:r>
              <a:rPr lang="en-GB" b="1" dirty="0"/>
              <a:t>DTW can identify shape similarity despite local temporal shifts.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99914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EF4CC0-E3DC-814F-C626-70DBFCE0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D84E3C-7CD2-B210-4055-D15709A29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 walking cycles may contain:</a:t>
            </a:r>
          </a:p>
          <a:p>
            <a:pPr lvl="1"/>
            <a:r>
              <a:rPr lang="en-GB" dirty="0"/>
              <a:t>the same heel-strike pattern; </a:t>
            </a:r>
          </a:p>
          <a:p>
            <a:pPr lvl="1"/>
            <a:r>
              <a:rPr lang="en-GB" dirty="0"/>
              <a:t>the same mid-step pattern; </a:t>
            </a:r>
          </a:p>
          <a:p>
            <a:pPr lvl="1"/>
            <a:r>
              <a:rPr lang="en-GB" dirty="0"/>
              <a:t>the same toe-off pattern; </a:t>
            </a:r>
          </a:p>
          <a:p>
            <a:r>
              <a:rPr lang="en-GB" dirty="0"/>
              <a:t>but one person performs the cycle more slowly.</a:t>
            </a:r>
          </a:p>
          <a:p>
            <a:endParaRPr lang="en-GB" dirty="0"/>
          </a:p>
          <a:p>
            <a:r>
              <a:rPr lang="en-GB" dirty="0"/>
              <a:t>DTW can align the corresponding phases.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008230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1840" y="0"/>
            <a:ext cx="128016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029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DTW alignment: flexible correspondence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76656" y="1115568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sequences may express the same temporal pattern even when landmarks occur at different speeds.</a:t>
            </a:r>
            <a:endParaRPr lang="en-US" sz="1550" dirty="0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C6D4C95-58CB-C0CF-631D-0883CA6AAC45}"/>
              </a:ext>
            </a:extLst>
          </p:cNvPr>
          <p:cNvSpPr/>
          <p:nvPr/>
        </p:nvSpPr>
        <p:spPr>
          <a:xfrm>
            <a:off x="703402" y="1738825"/>
            <a:ext cx="9931755" cy="3601329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 w="17825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6879961-DBF8-49A5-9371-4CB7EBA54387}"/>
              </a:ext>
            </a:extLst>
          </p:cNvPr>
          <p:cNvSpPr txBox="1"/>
          <p:nvPr/>
        </p:nvSpPr>
        <p:spPr>
          <a:xfrm>
            <a:off x="977493" y="1932498"/>
            <a:ext cx="5470957" cy="377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875" b="1" spc="0" baseline="0">
                <a:ln/>
                <a:solidFill>
                  <a:srgbClr val="111827"/>
                </a:solidFill>
                <a:latin typeface="Aptos"/>
                <a:sym typeface="Aptos"/>
                <a:rtl val="0"/>
              </a:rPr>
              <a:t>Flexible alignment between similar temporal shapes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8CD93B0-E7A7-515B-B0D7-6F782F65FACD}"/>
              </a:ext>
            </a:extLst>
          </p:cNvPr>
          <p:cNvSpPr txBox="1"/>
          <p:nvPr/>
        </p:nvSpPr>
        <p:spPr>
          <a:xfrm>
            <a:off x="951995" y="2419629"/>
            <a:ext cx="6322538" cy="2860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75" spc="0" baseline="0" dirty="0">
                <a:ln/>
                <a:solidFill>
                  <a:srgbClr val="475569"/>
                </a:solidFill>
                <a:latin typeface="Aptos"/>
                <a:sym typeface="Aptos"/>
                <a:rtl val="0"/>
              </a:rPr>
              <a:t>Corresponding landmarks can be matched even when one sequence is locally faster or slower.</a:t>
            </a:r>
          </a:p>
        </p:txBody>
      </p:sp>
      <p:sp>
        <p:nvSpPr>
          <p:cNvPr id="12" name="Figura a mano libera: forma 11">
            <a:extLst>
              <a:ext uri="{FF2B5EF4-FFF2-40B4-BE49-F238E27FC236}">
                <a16:creationId xmlns:a16="http://schemas.microsoft.com/office/drawing/2014/main" id="{4AA173DC-EB80-4FF3-ED28-4EF75609F059}"/>
              </a:ext>
            </a:extLst>
          </p:cNvPr>
          <p:cNvSpPr/>
          <p:nvPr/>
        </p:nvSpPr>
        <p:spPr>
          <a:xfrm>
            <a:off x="1746504" y="3728352"/>
            <a:ext cx="8113014" cy="9378"/>
          </a:xfrm>
          <a:custGeom>
            <a:avLst/>
            <a:gdLst>
              <a:gd name="csX0" fmla="*/ 0 w 8113014"/>
              <a:gd name="csY0" fmla="*/ 0 h 9378"/>
              <a:gd name="csX1" fmla="*/ 8113014 w 8113014"/>
              <a:gd name="csY1" fmla="*/ 0 h 93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113014" h="9378">
                <a:moveTo>
                  <a:pt x="0" y="0"/>
                </a:moveTo>
                <a:lnTo>
                  <a:pt x="8113014" y="0"/>
                </a:lnTo>
              </a:path>
            </a:pathLst>
          </a:custGeom>
          <a:ln w="1782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" name="Figura a mano libera: forma 12">
            <a:extLst>
              <a:ext uri="{FF2B5EF4-FFF2-40B4-BE49-F238E27FC236}">
                <a16:creationId xmlns:a16="http://schemas.microsoft.com/office/drawing/2014/main" id="{C90FC28D-33C9-D0F8-FFBC-7FAC15700895}"/>
              </a:ext>
            </a:extLst>
          </p:cNvPr>
          <p:cNvSpPr/>
          <p:nvPr/>
        </p:nvSpPr>
        <p:spPr>
          <a:xfrm>
            <a:off x="1746504" y="5041336"/>
            <a:ext cx="8113014" cy="9378"/>
          </a:xfrm>
          <a:custGeom>
            <a:avLst/>
            <a:gdLst>
              <a:gd name="csX0" fmla="*/ 0 w 8113014"/>
              <a:gd name="csY0" fmla="*/ 0 h 9378"/>
              <a:gd name="csX1" fmla="*/ 8113014 w 8113014"/>
              <a:gd name="csY1" fmla="*/ 0 h 93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113014" h="9378">
                <a:moveTo>
                  <a:pt x="0" y="0"/>
                </a:moveTo>
                <a:lnTo>
                  <a:pt x="8113014" y="0"/>
                </a:lnTo>
              </a:path>
            </a:pathLst>
          </a:custGeom>
          <a:ln w="1782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2445528-BE13-9088-E038-D96D8B848664}"/>
              </a:ext>
            </a:extLst>
          </p:cNvPr>
          <p:cNvSpPr txBox="1"/>
          <p:nvPr/>
        </p:nvSpPr>
        <p:spPr>
          <a:xfrm>
            <a:off x="977493" y="3535791"/>
            <a:ext cx="304509" cy="343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650" b="1" spc="0" baseline="0">
                <a:ln/>
                <a:solidFill>
                  <a:srgbClr val="2563EB"/>
                </a:solidFill>
                <a:latin typeface="Aptos"/>
                <a:sym typeface="Aptos"/>
                <a:rtl val="0"/>
              </a:rPr>
              <a:t>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92648EF-27EB-57CB-FB65-FC7A87114465}"/>
              </a:ext>
            </a:extLst>
          </p:cNvPr>
          <p:cNvSpPr txBox="1"/>
          <p:nvPr/>
        </p:nvSpPr>
        <p:spPr>
          <a:xfrm>
            <a:off x="977493" y="4848775"/>
            <a:ext cx="304317" cy="343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650" b="1" spc="0" baseline="0">
                <a:ln/>
                <a:solidFill>
                  <a:srgbClr val="F97316"/>
                </a:solidFill>
                <a:latin typeface="Aptos"/>
                <a:sym typeface="Aptos"/>
                <a:rtl val="0"/>
              </a:rPr>
              <a:t>B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DD34668-374F-D219-00E9-9C6E648B4169}"/>
              </a:ext>
            </a:extLst>
          </p:cNvPr>
          <p:cNvSpPr txBox="1"/>
          <p:nvPr/>
        </p:nvSpPr>
        <p:spPr>
          <a:xfrm>
            <a:off x="9661093" y="3822516"/>
            <a:ext cx="442571" cy="263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25" spc="0" baseline="0">
                <a:ln/>
                <a:solidFill>
                  <a:srgbClr val="64748B"/>
                </a:solidFill>
                <a:latin typeface="Aptos"/>
                <a:sym typeface="Aptos"/>
                <a:rtl val="0"/>
              </a:rPr>
              <a:t>time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BEEE67E-8866-F4D6-FEAC-5022B123D2C7}"/>
              </a:ext>
            </a:extLst>
          </p:cNvPr>
          <p:cNvSpPr txBox="1"/>
          <p:nvPr/>
        </p:nvSpPr>
        <p:spPr>
          <a:xfrm>
            <a:off x="9661093" y="5135501"/>
            <a:ext cx="442571" cy="263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25" spc="0" baseline="0">
                <a:ln/>
                <a:solidFill>
                  <a:srgbClr val="64748B"/>
                </a:solidFill>
                <a:latin typeface="Aptos"/>
                <a:sym typeface="Aptos"/>
                <a:rtl val="0"/>
              </a:rPr>
              <a:t>time</a:t>
            </a:r>
          </a:p>
        </p:txBody>
      </p:sp>
      <p:grpSp>
        <p:nvGrpSpPr>
          <p:cNvPr id="18" name="Image 1" descr="preencoded.png">
            <a:extLst>
              <a:ext uri="{FF2B5EF4-FFF2-40B4-BE49-F238E27FC236}">
                <a16:creationId xmlns:a16="http://schemas.microsoft.com/office/drawing/2014/main" id="{8AA04847-3FDD-8248-F405-173DA051A58D}"/>
              </a:ext>
            </a:extLst>
          </p:cNvPr>
          <p:cNvGrpSpPr/>
          <p:nvPr/>
        </p:nvGrpSpPr>
        <p:grpSpPr>
          <a:xfrm>
            <a:off x="2281428" y="3081236"/>
            <a:ext cx="6419088" cy="1922586"/>
            <a:chOff x="2281428" y="2526614"/>
            <a:chExt cx="6419088" cy="1922586"/>
          </a:xfrm>
          <a:noFill/>
        </p:grpSpPr>
        <p:sp>
          <p:nvSpPr>
            <p:cNvPr id="19" name="Figura a mano libera: forma 18">
              <a:extLst>
                <a:ext uri="{FF2B5EF4-FFF2-40B4-BE49-F238E27FC236}">
                  <a16:creationId xmlns:a16="http://schemas.microsoft.com/office/drawing/2014/main" id="{0C5458A5-0909-5CE0-C6BC-15A723147145}"/>
                </a:ext>
              </a:extLst>
            </p:cNvPr>
            <p:cNvSpPr/>
            <p:nvPr/>
          </p:nvSpPr>
          <p:spPr>
            <a:xfrm>
              <a:off x="2281428" y="3117459"/>
              <a:ext cx="649265" cy="1256713"/>
            </a:xfrm>
            <a:custGeom>
              <a:avLst/>
              <a:gdLst>
                <a:gd name="csX0" fmla="*/ 0 w 649265"/>
                <a:gd name="csY0" fmla="*/ 0 h 1256713"/>
                <a:gd name="csX1" fmla="*/ 624078 w 649265"/>
                <a:gd name="csY1" fmla="*/ 1256714 h 12567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9265" h="1256713">
                  <a:moveTo>
                    <a:pt x="0" y="0"/>
                  </a:moveTo>
                  <a:cubicBezTo>
                    <a:pt x="579501" y="412652"/>
                    <a:pt x="713232" y="919089"/>
                    <a:pt x="624078" y="1256714"/>
                  </a:cubicBezTo>
                </a:path>
              </a:pathLst>
            </a:custGeom>
            <a:noFill/>
            <a:ln w="19608" cap="flat">
              <a:solidFill>
                <a:srgbClr val="64748B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igura a mano libera: forma 19">
              <a:extLst>
                <a:ext uri="{FF2B5EF4-FFF2-40B4-BE49-F238E27FC236}">
                  <a16:creationId xmlns:a16="http://schemas.microsoft.com/office/drawing/2014/main" id="{BA613C40-93BB-6D34-E25F-CC681A7EE79C}"/>
                </a:ext>
              </a:extLst>
            </p:cNvPr>
            <p:cNvSpPr/>
            <p:nvPr/>
          </p:nvSpPr>
          <p:spPr>
            <a:xfrm>
              <a:off x="3351276" y="2854862"/>
              <a:ext cx="624078" cy="1369255"/>
            </a:xfrm>
            <a:custGeom>
              <a:avLst/>
              <a:gdLst>
                <a:gd name="csX0" fmla="*/ 0 w 624078"/>
                <a:gd name="csY0" fmla="*/ 0 h 1369255"/>
                <a:gd name="csX1" fmla="*/ 624078 w 624078"/>
                <a:gd name="csY1" fmla="*/ 1369255 h 1369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24078" h="1369255">
                  <a:moveTo>
                    <a:pt x="0" y="0"/>
                  </a:moveTo>
                  <a:cubicBezTo>
                    <a:pt x="312039" y="525194"/>
                    <a:pt x="490347" y="1031631"/>
                    <a:pt x="624078" y="1369255"/>
                  </a:cubicBezTo>
                </a:path>
              </a:pathLst>
            </a:custGeom>
            <a:noFill/>
            <a:ln w="19608" cap="flat">
              <a:solidFill>
                <a:srgbClr val="64748B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igura a mano libera: forma 20">
              <a:extLst>
                <a:ext uri="{FF2B5EF4-FFF2-40B4-BE49-F238E27FC236}">
                  <a16:creationId xmlns:a16="http://schemas.microsoft.com/office/drawing/2014/main" id="{896EBCB8-E51A-7650-0AB3-2B368228B7EB}"/>
                </a:ext>
              </a:extLst>
            </p:cNvPr>
            <p:cNvSpPr/>
            <p:nvPr/>
          </p:nvSpPr>
          <p:spPr>
            <a:xfrm>
              <a:off x="4212943" y="2526614"/>
              <a:ext cx="1099721" cy="1247335"/>
            </a:xfrm>
            <a:custGeom>
              <a:avLst/>
              <a:gdLst>
                <a:gd name="csX0" fmla="*/ 0 w 891540"/>
                <a:gd name="csY0" fmla="*/ 0 h 1312984"/>
                <a:gd name="csX1" fmla="*/ 891540 w 891540"/>
                <a:gd name="csY1" fmla="*/ 1312985 h 1312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91540" h="1312984">
                  <a:moveTo>
                    <a:pt x="0" y="0"/>
                  </a:moveTo>
                  <a:cubicBezTo>
                    <a:pt x="356616" y="656492"/>
                    <a:pt x="552755" y="1191065"/>
                    <a:pt x="891540" y="1312985"/>
                  </a:cubicBezTo>
                </a:path>
              </a:pathLst>
            </a:custGeom>
            <a:noFill/>
            <a:ln w="19608" cap="flat">
              <a:solidFill>
                <a:srgbClr val="64748B"/>
              </a:solidFill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2" name="Figura a mano libera: forma 21">
              <a:extLst>
                <a:ext uri="{FF2B5EF4-FFF2-40B4-BE49-F238E27FC236}">
                  <a16:creationId xmlns:a16="http://schemas.microsoft.com/office/drawing/2014/main" id="{B6102BDE-F65F-83B9-DD5D-22B3AA71914B}"/>
                </a:ext>
              </a:extLst>
            </p:cNvPr>
            <p:cNvSpPr/>
            <p:nvPr/>
          </p:nvSpPr>
          <p:spPr>
            <a:xfrm>
              <a:off x="5187849" y="2968200"/>
              <a:ext cx="1212494" cy="946427"/>
            </a:xfrm>
            <a:custGeom>
              <a:avLst/>
              <a:gdLst>
                <a:gd name="csX0" fmla="*/ 0 w 953947"/>
                <a:gd name="csY0" fmla="*/ 0 h 1209821"/>
                <a:gd name="csX1" fmla="*/ 953948 w 953947"/>
                <a:gd name="csY1" fmla="*/ 1209822 h 1209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3947" h="1209821">
                  <a:moveTo>
                    <a:pt x="0" y="0"/>
                  </a:moveTo>
                  <a:cubicBezTo>
                    <a:pt x="267462" y="506437"/>
                    <a:pt x="445770" y="975360"/>
                    <a:pt x="953948" y="1209822"/>
                  </a:cubicBezTo>
                </a:path>
              </a:pathLst>
            </a:custGeom>
            <a:noFill/>
            <a:ln w="19608" cap="flat">
              <a:solidFill>
                <a:srgbClr val="64748B"/>
              </a:solidFill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3" name="Figura a mano libera: forma 22">
              <a:extLst>
                <a:ext uri="{FF2B5EF4-FFF2-40B4-BE49-F238E27FC236}">
                  <a16:creationId xmlns:a16="http://schemas.microsoft.com/office/drawing/2014/main" id="{A4CD7584-0CF6-DB86-A3C0-78DBC1CE1A3C}"/>
                </a:ext>
              </a:extLst>
            </p:cNvPr>
            <p:cNvSpPr/>
            <p:nvPr/>
          </p:nvSpPr>
          <p:spPr>
            <a:xfrm>
              <a:off x="6139510" y="3284580"/>
              <a:ext cx="1312850" cy="995808"/>
            </a:xfrm>
            <a:custGeom>
              <a:avLst/>
              <a:gdLst>
                <a:gd name="csX0" fmla="*/ 0 w 980694"/>
                <a:gd name="csY0" fmla="*/ 0 h 1162929"/>
                <a:gd name="csX1" fmla="*/ 980694 w 980694"/>
                <a:gd name="csY1" fmla="*/ 1162929 h 1162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80694" h="1162929">
                  <a:moveTo>
                    <a:pt x="0" y="0"/>
                  </a:moveTo>
                  <a:cubicBezTo>
                    <a:pt x="133731" y="422031"/>
                    <a:pt x="356616" y="862818"/>
                    <a:pt x="980694" y="1162929"/>
                  </a:cubicBezTo>
                </a:path>
              </a:pathLst>
            </a:custGeom>
            <a:noFill/>
            <a:ln w="19608" cap="flat">
              <a:solidFill>
                <a:srgbClr val="64748B"/>
              </a:solidFill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" name="Figura a mano libera: forma 23">
              <a:extLst>
                <a:ext uri="{FF2B5EF4-FFF2-40B4-BE49-F238E27FC236}">
                  <a16:creationId xmlns:a16="http://schemas.microsoft.com/office/drawing/2014/main" id="{3896A318-CFE5-0B24-78BB-202AC90E474A}"/>
                </a:ext>
              </a:extLst>
            </p:cNvPr>
            <p:cNvSpPr/>
            <p:nvPr/>
          </p:nvSpPr>
          <p:spPr>
            <a:xfrm>
              <a:off x="7541514" y="3351920"/>
              <a:ext cx="1159002" cy="1097280"/>
            </a:xfrm>
            <a:custGeom>
              <a:avLst/>
              <a:gdLst>
                <a:gd name="csX0" fmla="*/ 0 w 1159002"/>
                <a:gd name="csY0" fmla="*/ 0 h 1097280"/>
                <a:gd name="csX1" fmla="*/ 1159002 w 1159002"/>
                <a:gd name="csY1" fmla="*/ 1097280 h 10972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59002" h="1097280">
                  <a:moveTo>
                    <a:pt x="0" y="0"/>
                  </a:moveTo>
                  <a:cubicBezTo>
                    <a:pt x="133731" y="384517"/>
                    <a:pt x="490347" y="797169"/>
                    <a:pt x="1159002" y="1097280"/>
                  </a:cubicBezTo>
                </a:path>
              </a:pathLst>
            </a:custGeom>
            <a:noFill/>
            <a:ln w="19608" cap="flat">
              <a:solidFill>
                <a:srgbClr val="64748B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5" name="Figura a mano libera: forma 24">
            <a:extLst>
              <a:ext uri="{FF2B5EF4-FFF2-40B4-BE49-F238E27FC236}">
                <a16:creationId xmlns:a16="http://schemas.microsoft.com/office/drawing/2014/main" id="{6337101D-6EB5-A06D-067C-3A21B77E720E}"/>
              </a:ext>
            </a:extLst>
          </p:cNvPr>
          <p:cNvSpPr/>
          <p:nvPr/>
        </p:nvSpPr>
        <p:spPr>
          <a:xfrm>
            <a:off x="1746504" y="2920987"/>
            <a:ext cx="8113014" cy="1044319"/>
          </a:xfrm>
          <a:custGeom>
            <a:avLst/>
            <a:gdLst>
              <a:gd name="csX0" fmla="*/ 0 w 8113014"/>
              <a:gd name="csY0" fmla="*/ 797986 h 1044319"/>
              <a:gd name="csX1" fmla="*/ 1114425 w 8113014"/>
              <a:gd name="csY1" fmla="*/ 741716 h 1044319"/>
              <a:gd name="csX2" fmla="*/ 1979219 w 8113014"/>
              <a:gd name="csY2" fmla="*/ 319685 h 1044319"/>
              <a:gd name="csX3" fmla="*/ 2835097 w 8113014"/>
              <a:gd name="csY3" fmla="*/ 57088 h 1044319"/>
              <a:gd name="csX4" fmla="*/ 3566160 w 8113014"/>
              <a:gd name="csY4" fmla="*/ 685445 h 1044319"/>
              <a:gd name="csX5" fmla="*/ 4502277 w 8113014"/>
              <a:gd name="csY5" fmla="*/ 901150 h 1044319"/>
              <a:gd name="csX6" fmla="*/ 5795010 w 8113014"/>
              <a:gd name="csY6" fmla="*/ 1013691 h 1044319"/>
              <a:gd name="csX7" fmla="*/ 8113014 w 8113014"/>
              <a:gd name="csY7" fmla="*/ 863636 h 10443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113014" h="1044319">
                <a:moveTo>
                  <a:pt x="0" y="797986"/>
                </a:moveTo>
                <a:cubicBezTo>
                  <a:pt x="445770" y="797986"/>
                  <a:pt x="802386" y="779230"/>
                  <a:pt x="1114425" y="741716"/>
                </a:cubicBezTo>
                <a:cubicBezTo>
                  <a:pt x="1471041" y="685445"/>
                  <a:pt x="1738503" y="526011"/>
                  <a:pt x="1979219" y="319685"/>
                </a:cubicBezTo>
                <a:cubicBezTo>
                  <a:pt x="2300173" y="47709"/>
                  <a:pt x="2567635" y="-83589"/>
                  <a:pt x="2835097" y="57088"/>
                </a:cubicBezTo>
                <a:cubicBezTo>
                  <a:pt x="3138221" y="225900"/>
                  <a:pt x="3334360" y="516633"/>
                  <a:pt x="3566160" y="685445"/>
                </a:cubicBezTo>
                <a:cubicBezTo>
                  <a:pt x="3815791" y="873014"/>
                  <a:pt x="4101084" y="938663"/>
                  <a:pt x="4502277" y="901150"/>
                </a:cubicBezTo>
                <a:cubicBezTo>
                  <a:pt x="5081778" y="844879"/>
                  <a:pt x="5393817" y="957420"/>
                  <a:pt x="5795010" y="1013691"/>
                </a:cubicBezTo>
                <a:cubicBezTo>
                  <a:pt x="6374511" y="1098097"/>
                  <a:pt x="7221474" y="994934"/>
                  <a:pt x="8113014" y="863636"/>
                </a:cubicBezTo>
              </a:path>
            </a:pathLst>
          </a:custGeom>
          <a:noFill/>
          <a:ln w="53476" cap="rnd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6" name="Figura a mano libera: forma 25">
            <a:extLst>
              <a:ext uri="{FF2B5EF4-FFF2-40B4-BE49-F238E27FC236}">
                <a16:creationId xmlns:a16="http://schemas.microsoft.com/office/drawing/2014/main" id="{8724D4F3-267E-77E5-7972-61485F02BA7E}"/>
              </a:ext>
            </a:extLst>
          </p:cNvPr>
          <p:cNvSpPr/>
          <p:nvPr/>
        </p:nvSpPr>
        <p:spPr>
          <a:xfrm>
            <a:off x="1746504" y="4159332"/>
            <a:ext cx="8113014" cy="919518"/>
          </a:xfrm>
          <a:custGeom>
            <a:avLst/>
            <a:gdLst>
              <a:gd name="csX0" fmla="*/ 0 w 8113014"/>
              <a:gd name="csY0" fmla="*/ 882004 h 919518"/>
              <a:gd name="csX1" fmla="*/ 1141171 w 8113014"/>
              <a:gd name="csY1" fmla="*/ 797598 h 919518"/>
              <a:gd name="csX2" fmla="*/ 2318004 w 8113014"/>
              <a:gd name="csY2" fmla="*/ 572515 h 919518"/>
              <a:gd name="csX3" fmla="*/ 3583991 w 8113014"/>
              <a:gd name="csY3" fmla="*/ 112970 h 919518"/>
              <a:gd name="csX4" fmla="*/ 4653839 w 8113014"/>
              <a:gd name="csY4" fmla="*/ 216134 h 919518"/>
              <a:gd name="csX5" fmla="*/ 5598871 w 8113014"/>
              <a:gd name="csY5" fmla="*/ 722571 h 919518"/>
              <a:gd name="csX6" fmla="*/ 8113014 w 8113014"/>
              <a:gd name="csY6" fmla="*/ 919518 h 919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113014" h="919518">
                <a:moveTo>
                  <a:pt x="0" y="882004"/>
                </a:moveTo>
                <a:cubicBezTo>
                  <a:pt x="401193" y="900761"/>
                  <a:pt x="757809" y="882004"/>
                  <a:pt x="1141171" y="797598"/>
                </a:cubicBezTo>
                <a:cubicBezTo>
                  <a:pt x="1533449" y="722571"/>
                  <a:pt x="1916811" y="638164"/>
                  <a:pt x="2318004" y="572515"/>
                </a:cubicBezTo>
                <a:cubicBezTo>
                  <a:pt x="2781605" y="478730"/>
                  <a:pt x="3173883" y="281783"/>
                  <a:pt x="3583991" y="112970"/>
                </a:cubicBezTo>
                <a:cubicBezTo>
                  <a:pt x="3967353" y="-55842"/>
                  <a:pt x="4332885" y="-46463"/>
                  <a:pt x="4653839" y="216134"/>
                </a:cubicBezTo>
                <a:cubicBezTo>
                  <a:pt x="4948047" y="469352"/>
                  <a:pt x="5206594" y="656921"/>
                  <a:pt x="5598871" y="722571"/>
                </a:cubicBezTo>
                <a:cubicBezTo>
                  <a:pt x="6133795" y="806977"/>
                  <a:pt x="6704381" y="882004"/>
                  <a:pt x="8113014" y="919518"/>
                </a:cubicBezTo>
              </a:path>
            </a:pathLst>
          </a:custGeom>
          <a:noFill/>
          <a:ln w="53476" cap="rnd">
            <a:solidFill>
              <a:srgbClr val="F97316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27" name="Image 1" descr="preencoded.png">
            <a:extLst>
              <a:ext uri="{FF2B5EF4-FFF2-40B4-BE49-F238E27FC236}">
                <a16:creationId xmlns:a16="http://schemas.microsoft.com/office/drawing/2014/main" id="{16616DF0-8BE2-0C97-D280-798A415D1395}"/>
              </a:ext>
            </a:extLst>
          </p:cNvPr>
          <p:cNvGrpSpPr/>
          <p:nvPr/>
        </p:nvGrpSpPr>
        <p:grpSpPr>
          <a:xfrm>
            <a:off x="2227935" y="2949939"/>
            <a:ext cx="6526072" cy="2110154"/>
            <a:chOff x="2227935" y="2395317"/>
            <a:chExt cx="6526072" cy="2110154"/>
          </a:xfrm>
        </p:grpSpPr>
        <p:sp>
          <p:nvSpPr>
            <p:cNvPr id="28" name="Ovale 27">
              <a:extLst>
                <a:ext uri="{FF2B5EF4-FFF2-40B4-BE49-F238E27FC236}">
                  <a16:creationId xmlns:a16="http://schemas.microsoft.com/office/drawing/2014/main" id="{8C0296D4-3955-6329-F71A-974587FE344A}"/>
                </a:ext>
              </a:extLst>
            </p:cNvPr>
            <p:cNvSpPr/>
            <p:nvPr/>
          </p:nvSpPr>
          <p:spPr>
            <a:xfrm>
              <a:off x="2227935" y="3061188"/>
              <a:ext cx="106984" cy="112541"/>
            </a:xfrm>
            <a:prstGeom prst="ellipse">
              <a:avLst/>
            </a:prstGeom>
            <a:solidFill>
              <a:srgbClr val="2563EB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Ovale 28">
              <a:extLst>
                <a:ext uri="{FF2B5EF4-FFF2-40B4-BE49-F238E27FC236}">
                  <a16:creationId xmlns:a16="http://schemas.microsoft.com/office/drawing/2014/main" id="{476FDBED-6ABE-AB6A-C806-D3D17813B9D7}"/>
                </a:ext>
              </a:extLst>
            </p:cNvPr>
            <p:cNvSpPr/>
            <p:nvPr/>
          </p:nvSpPr>
          <p:spPr>
            <a:xfrm>
              <a:off x="3297783" y="2798591"/>
              <a:ext cx="106984" cy="112541"/>
            </a:xfrm>
            <a:prstGeom prst="ellipse">
              <a:avLst/>
            </a:prstGeom>
            <a:solidFill>
              <a:srgbClr val="2563EB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Ovale 29">
              <a:extLst>
                <a:ext uri="{FF2B5EF4-FFF2-40B4-BE49-F238E27FC236}">
                  <a16:creationId xmlns:a16="http://schemas.microsoft.com/office/drawing/2014/main" id="{309C7369-8179-7748-D544-5DDC319DA4BB}"/>
                </a:ext>
              </a:extLst>
            </p:cNvPr>
            <p:cNvSpPr/>
            <p:nvPr/>
          </p:nvSpPr>
          <p:spPr>
            <a:xfrm>
              <a:off x="4095560" y="2395317"/>
              <a:ext cx="124815" cy="131298"/>
            </a:xfrm>
            <a:prstGeom prst="ellipse">
              <a:avLst/>
            </a:prstGeom>
            <a:solidFill>
              <a:srgbClr val="2563EB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Ovale 30">
              <a:extLst>
                <a:ext uri="{FF2B5EF4-FFF2-40B4-BE49-F238E27FC236}">
                  <a16:creationId xmlns:a16="http://schemas.microsoft.com/office/drawing/2014/main" id="{0D30C734-D975-88EE-38B0-2BF9583CAF4A}"/>
                </a:ext>
              </a:extLst>
            </p:cNvPr>
            <p:cNvSpPr/>
            <p:nvPr/>
          </p:nvSpPr>
          <p:spPr>
            <a:xfrm>
              <a:off x="5107610" y="2772629"/>
              <a:ext cx="106984" cy="112541"/>
            </a:xfrm>
            <a:prstGeom prst="ellipse">
              <a:avLst/>
            </a:prstGeom>
            <a:solidFill>
              <a:srgbClr val="2563EB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Ovale 31">
              <a:extLst>
                <a:ext uri="{FF2B5EF4-FFF2-40B4-BE49-F238E27FC236}">
                  <a16:creationId xmlns:a16="http://schemas.microsoft.com/office/drawing/2014/main" id="{2D1C39C2-150D-B6E2-81F8-459F88B0929D}"/>
                </a:ext>
              </a:extLst>
            </p:cNvPr>
            <p:cNvSpPr/>
            <p:nvPr/>
          </p:nvSpPr>
          <p:spPr>
            <a:xfrm>
              <a:off x="6077103" y="3204807"/>
              <a:ext cx="106984" cy="112541"/>
            </a:xfrm>
            <a:prstGeom prst="ellipse">
              <a:avLst/>
            </a:prstGeom>
            <a:solidFill>
              <a:srgbClr val="2563EB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Ovale 32">
              <a:extLst>
                <a:ext uri="{FF2B5EF4-FFF2-40B4-BE49-F238E27FC236}">
                  <a16:creationId xmlns:a16="http://schemas.microsoft.com/office/drawing/2014/main" id="{3F2A7F64-3198-B687-0FC0-0E5CC83A8DA7}"/>
                </a:ext>
              </a:extLst>
            </p:cNvPr>
            <p:cNvSpPr/>
            <p:nvPr/>
          </p:nvSpPr>
          <p:spPr>
            <a:xfrm>
              <a:off x="7488021" y="3295650"/>
              <a:ext cx="106984" cy="112541"/>
            </a:xfrm>
            <a:prstGeom prst="ellipse">
              <a:avLst/>
            </a:prstGeom>
            <a:solidFill>
              <a:srgbClr val="2563EB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Ovale 33">
              <a:extLst>
                <a:ext uri="{FF2B5EF4-FFF2-40B4-BE49-F238E27FC236}">
                  <a16:creationId xmlns:a16="http://schemas.microsoft.com/office/drawing/2014/main" id="{046DA848-3551-683C-123D-A85DDC1A19A8}"/>
                </a:ext>
              </a:extLst>
            </p:cNvPr>
            <p:cNvSpPr/>
            <p:nvPr/>
          </p:nvSpPr>
          <p:spPr>
            <a:xfrm>
              <a:off x="2852013" y="4317902"/>
              <a:ext cx="106984" cy="112541"/>
            </a:xfrm>
            <a:prstGeom prst="ellipse">
              <a:avLst/>
            </a:prstGeom>
            <a:solidFill>
              <a:srgbClr val="F97316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Ovale 34">
              <a:extLst>
                <a:ext uri="{FF2B5EF4-FFF2-40B4-BE49-F238E27FC236}">
                  <a16:creationId xmlns:a16="http://schemas.microsoft.com/office/drawing/2014/main" id="{AB26DC69-95AC-0301-2EBC-B93D84054218}"/>
                </a:ext>
              </a:extLst>
            </p:cNvPr>
            <p:cNvSpPr/>
            <p:nvPr/>
          </p:nvSpPr>
          <p:spPr>
            <a:xfrm>
              <a:off x="3921861" y="4167846"/>
              <a:ext cx="106984" cy="112541"/>
            </a:xfrm>
            <a:prstGeom prst="ellipse">
              <a:avLst/>
            </a:prstGeom>
            <a:solidFill>
              <a:srgbClr val="F97316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Ovale 35">
              <a:extLst>
                <a:ext uri="{FF2B5EF4-FFF2-40B4-BE49-F238E27FC236}">
                  <a16:creationId xmlns:a16="http://schemas.microsoft.com/office/drawing/2014/main" id="{C816FB23-C412-981D-D8CB-3177AB760683}"/>
                </a:ext>
              </a:extLst>
            </p:cNvPr>
            <p:cNvSpPr/>
            <p:nvPr/>
          </p:nvSpPr>
          <p:spPr>
            <a:xfrm>
              <a:off x="5250256" y="3708302"/>
              <a:ext cx="124815" cy="131298"/>
            </a:xfrm>
            <a:prstGeom prst="ellipse">
              <a:avLst/>
            </a:prstGeom>
            <a:solidFill>
              <a:srgbClr val="F97316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Ovale 36">
              <a:extLst>
                <a:ext uri="{FF2B5EF4-FFF2-40B4-BE49-F238E27FC236}">
                  <a16:creationId xmlns:a16="http://schemas.microsoft.com/office/drawing/2014/main" id="{F3CFF1D7-33AC-39F1-AA76-39253CD51A42}"/>
                </a:ext>
              </a:extLst>
            </p:cNvPr>
            <p:cNvSpPr/>
            <p:nvPr/>
          </p:nvSpPr>
          <p:spPr>
            <a:xfrm>
              <a:off x="6346850" y="3858357"/>
              <a:ext cx="106984" cy="112541"/>
            </a:xfrm>
            <a:prstGeom prst="ellipse">
              <a:avLst/>
            </a:prstGeom>
            <a:solidFill>
              <a:srgbClr val="F97316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Ovale 37">
              <a:extLst>
                <a:ext uri="{FF2B5EF4-FFF2-40B4-BE49-F238E27FC236}">
                  <a16:creationId xmlns:a16="http://schemas.microsoft.com/office/drawing/2014/main" id="{467BE33D-9C59-7630-52E0-FA52C7447285}"/>
                </a:ext>
              </a:extLst>
            </p:cNvPr>
            <p:cNvSpPr/>
            <p:nvPr/>
          </p:nvSpPr>
          <p:spPr>
            <a:xfrm>
              <a:off x="7398867" y="4224117"/>
              <a:ext cx="106984" cy="112541"/>
            </a:xfrm>
            <a:prstGeom prst="ellipse">
              <a:avLst/>
            </a:prstGeom>
            <a:solidFill>
              <a:srgbClr val="F97316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Ovale 38">
              <a:extLst>
                <a:ext uri="{FF2B5EF4-FFF2-40B4-BE49-F238E27FC236}">
                  <a16:creationId xmlns:a16="http://schemas.microsoft.com/office/drawing/2014/main" id="{C10A5148-69B2-F89B-EB22-2B8B2BB66749}"/>
                </a:ext>
              </a:extLst>
            </p:cNvPr>
            <p:cNvSpPr/>
            <p:nvPr/>
          </p:nvSpPr>
          <p:spPr>
            <a:xfrm>
              <a:off x="8647023" y="4392930"/>
              <a:ext cx="106984" cy="112541"/>
            </a:xfrm>
            <a:prstGeom prst="ellipse">
              <a:avLst/>
            </a:prstGeom>
            <a:solidFill>
              <a:srgbClr val="F97316"/>
            </a:solidFill>
            <a:ln w="891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0" name="Image 1" descr="preencoded.png">
            <a:extLst>
              <a:ext uri="{FF2B5EF4-FFF2-40B4-BE49-F238E27FC236}">
                <a16:creationId xmlns:a16="http://schemas.microsoft.com/office/drawing/2014/main" id="{376F10B9-3D3B-F698-6F7F-51139E438271}"/>
              </a:ext>
            </a:extLst>
          </p:cNvPr>
          <p:cNvGrpSpPr/>
          <p:nvPr/>
        </p:nvGrpSpPr>
        <p:grpSpPr>
          <a:xfrm>
            <a:off x="6879338" y="2809262"/>
            <a:ext cx="3459175" cy="600221"/>
            <a:chOff x="6721297" y="2198370"/>
            <a:chExt cx="3459175" cy="600221"/>
          </a:xfrm>
        </p:grpSpPr>
        <p:sp>
          <p:nvSpPr>
            <p:cNvPr id="41" name="Rettangolo con angoli arrotondati 40">
              <a:extLst>
                <a:ext uri="{FF2B5EF4-FFF2-40B4-BE49-F238E27FC236}">
                  <a16:creationId xmlns:a16="http://schemas.microsoft.com/office/drawing/2014/main" id="{B8F9672D-AB4B-1244-91A9-14ACE92DE04D}"/>
                </a:ext>
              </a:extLst>
            </p:cNvPr>
            <p:cNvSpPr/>
            <p:nvPr/>
          </p:nvSpPr>
          <p:spPr>
            <a:xfrm>
              <a:off x="6721297" y="2198370"/>
              <a:ext cx="3459175" cy="600221"/>
            </a:xfrm>
            <a:prstGeom prst="roundRect">
              <a:avLst>
                <a:gd name="adj" fmla="val 20794"/>
              </a:avLst>
            </a:prstGeom>
            <a:solidFill>
              <a:srgbClr val="F8FAFC"/>
            </a:solidFill>
            <a:ln w="8913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E3C7D875-77BD-BFC5-510E-CD5A1C32BB15}"/>
                </a:ext>
              </a:extLst>
            </p:cNvPr>
            <p:cNvSpPr txBox="1"/>
            <p:nvPr/>
          </p:nvSpPr>
          <p:spPr>
            <a:xfrm>
              <a:off x="6825996" y="2256738"/>
              <a:ext cx="2167688" cy="2975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350" b="1" spc="0" baseline="0" dirty="0">
                  <a:ln/>
                  <a:solidFill>
                    <a:srgbClr val="111827"/>
                  </a:solidFill>
                  <a:latin typeface="Aptos"/>
                  <a:sym typeface="Aptos"/>
                  <a:rtl val="0"/>
                </a:rPr>
                <a:t>DTW-style correspondence</a:t>
              </a:r>
            </a:p>
          </p:txBody>
        </p:sp>
        <p:sp>
          <p:nvSpPr>
            <p:cNvPr id="43" name="CasellaDiTesto 42">
              <a:extLst>
                <a:ext uri="{FF2B5EF4-FFF2-40B4-BE49-F238E27FC236}">
                  <a16:creationId xmlns:a16="http://schemas.microsoft.com/office/drawing/2014/main" id="{7DADFBBF-1557-F673-599A-D05119A8D035}"/>
                </a:ext>
              </a:extLst>
            </p:cNvPr>
            <p:cNvSpPr txBox="1"/>
            <p:nvPr/>
          </p:nvSpPr>
          <p:spPr>
            <a:xfrm>
              <a:off x="6825996" y="2498860"/>
              <a:ext cx="2148621" cy="263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125" spc="0" baseline="0">
                  <a:ln/>
                  <a:solidFill>
                    <a:srgbClr val="475569"/>
                  </a:solidFill>
                  <a:latin typeface="Aptos"/>
                  <a:sym typeface="Aptos"/>
                  <a:rtl val="0"/>
                </a:rPr>
                <a:t>Same shape, different local timing</a:t>
              </a:r>
            </a:p>
          </p:txBody>
        </p:sp>
      </p:grpSp>
      <p:sp>
        <p:nvSpPr>
          <p:cNvPr id="6" name="Shape 2"/>
          <p:cNvSpPr/>
          <p:nvPr/>
        </p:nvSpPr>
        <p:spPr>
          <a:xfrm>
            <a:off x="676656" y="5806440"/>
            <a:ext cx="998524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896112" y="5943600"/>
            <a:ext cx="9372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DTW measures similarity of temporal shape while tolerating local timing differences.</a:t>
            </a:r>
            <a:endParaRPr lang="en-US" sz="15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CB78E6-6E3D-369F-A6DD-B95F0AD8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DTW with nearest-neighbour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E0C57E-5C0C-BE45-3634-2F836F6F4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 simple classical classifier can combine DTW with nearest neighbours.</a:t>
            </a:r>
          </a:p>
          <a:p>
            <a:r>
              <a:rPr lang="en-GB" b="1" dirty="0"/>
              <a:t>Training set</a:t>
            </a:r>
          </a:p>
          <a:p>
            <a:r>
              <a:rPr lang="en-GB" dirty="0"/>
              <a:t>Store labelled sequences:</a:t>
            </a:r>
          </a:p>
          <a:p>
            <a:pPr lvl="1"/>
            <a:r>
              <a:rPr lang="en-GB" dirty="0"/>
              <a:t>Sequence 1 → normal</a:t>
            </a:r>
          </a:p>
          <a:p>
            <a:pPr lvl="1"/>
            <a:r>
              <a:rPr lang="en-GB" dirty="0"/>
              <a:t>Sequence 2 → normal</a:t>
            </a:r>
          </a:p>
          <a:p>
            <a:pPr lvl="1"/>
            <a:r>
              <a:rPr lang="en-GB" dirty="0"/>
              <a:t>Sequence 3 → fault</a:t>
            </a:r>
          </a:p>
          <a:p>
            <a:pPr lvl="1"/>
            <a:r>
              <a:rPr lang="en-GB" dirty="0"/>
              <a:t>Sequence 4 → fault</a:t>
            </a:r>
          </a:p>
          <a:p>
            <a:r>
              <a:rPr lang="en-GB" b="1" dirty="0"/>
              <a:t>New sequence</a:t>
            </a:r>
          </a:p>
          <a:p>
            <a:r>
              <a:rPr lang="en-GB" dirty="0"/>
              <a:t>Compute:</a:t>
            </a:r>
          </a:p>
          <a:p>
            <a:pPr lvl="1"/>
            <a:r>
              <a:rPr lang="en-GB" dirty="0"/>
              <a:t>DTW distance to Sequence 1</a:t>
            </a:r>
          </a:p>
          <a:p>
            <a:pPr lvl="1"/>
            <a:r>
              <a:rPr lang="en-GB" dirty="0"/>
              <a:t>DTW distance to Sequence 2</a:t>
            </a:r>
          </a:p>
          <a:p>
            <a:pPr lvl="1"/>
            <a:r>
              <a:rPr lang="en-GB" dirty="0"/>
              <a:t>DTW distance to Sequence 3</a:t>
            </a:r>
          </a:p>
          <a:p>
            <a:pPr lvl="1"/>
            <a:r>
              <a:rPr lang="en-GB" dirty="0"/>
              <a:t>DTW distance to Sequence 4</a:t>
            </a:r>
          </a:p>
          <a:p>
            <a:r>
              <a:rPr lang="en-GB" b="1" dirty="0"/>
              <a:t>Select the closest example.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145037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908A-2B55-9BC1-741F-15ABDE83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4A34A8-DF37-3714-6D4A-A26CD422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DTW with nearest-neighbour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4F5386-F861-B943-9E1B-0CF0E99F8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Prediction</a:t>
            </a:r>
          </a:p>
          <a:p>
            <a:r>
              <a:rPr lang="en-GB" dirty="0"/>
              <a:t>class(new sequence) = class(nearest training sequence)</a:t>
            </a:r>
          </a:p>
          <a:p>
            <a:r>
              <a:rPr lang="en-GB" dirty="0"/>
              <a:t>For k nearest neighbours, use </a:t>
            </a:r>
            <a:r>
              <a:rPr lang="en-GB" b="1" dirty="0"/>
              <a:t>several nearby sequences and perform voting.</a:t>
            </a:r>
          </a:p>
          <a:p>
            <a:endParaRPr lang="en-GB" b="1" dirty="0"/>
          </a:p>
          <a:p>
            <a:r>
              <a:rPr lang="en-GB" b="1" dirty="0"/>
              <a:t>Why is this attractive?</a:t>
            </a:r>
          </a:p>
          <a:p>
            <a:pPr lvl="1"/>
            <a:r>
              <a:rPr lang="en-GB" dirty="0"/>
              <a:t>simple; </a:t>
            </a:r>
          </a:p>
          <a:p>
            <a:pPr lvl="1"/>
            <a:r>
              <a:rPr lang="en-GB" dirty="0"/>
              <a:t>almost no model training; </a:t>
            </a:r>
          </a:p>
          <a:p>
            <a:pPr lvl="1"/>
            <a:r>
              <a:rPr lang="en-GB" dirty="0"/>
              <a:t>handles temporal deformation; </a:t>
            </a:r>
          </a:p>
          <a:p>
            <a:pPr lvl="1"/>
            <a:r>
              <a:rPr lang="en-GB" dirty="0"/>
              <a:t>predictions can be explained using similar historical sequences. </a:t>
            </a:r>
          </a:p>
          <a:p>
            <a:r>
              <a:rPr lang="en-GB" b="1" dirty="0"/>
              <a:t>Particularly useful when</a:t>
            </a:r>
          </a:p>
          <a:p>
            <a:pPr lvl="1"/>
            <a:r>
              <a:rPr lang="en-GB" dirty="0"/>
              <a:t>datasets are relatively small; </a:t>
            </a:r>
          </a:p>
          <a:p>
            <a:pPr lvl="1"/>
            <a:r>
              <a:rPr lang="en-GB" dirty="0"/>
              <a:t>complete sequences are available; </a:t>
            </a:r>
          </a:p>
          <a:p>
            <a:pPr lvl="1"/>
            <a:r>
              <a:rPr lang="en-GB" dirty="0"/>
              <a:t>shape is discriminative; </a:t>
            </a:r>
          </a:p>
          <a:p>
            <a:pPr lvl="1"/>
            <a:r>
              <a:rPr lang="en-GB" dirty="0"/>
              <a:t>sequence lengths vary moderately.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850264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DTW can be combined with nearest-neighbour classification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classifier stores labelled sequences and predicts from the most similar examples.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82880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97480" y="2331720"/>
            <a:ext cx="1051560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931920" y="1417320"/>
            <a:ext cx="2057400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DTW distance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every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sequence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1051560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406640" y="1417320"/>
            <a:ext cx="1965960" cy="182880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55480" y="2331720"/>
            <a:ext cx="731520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378440" y="1874520"/>
            <a:ext cx="109728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29260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labelled sequences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14173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 flipV="1">
            <a:off x="804672" y="4343400"/>
            <a:ext cx="662940" cy="23774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467612" y="4355287"/>
            <a:ext cx="662940" cy="11887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331720" y="4251960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654296"/>
            <a:ext cx="14173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 flipV="1">
            <a:off x="804672" y="4637838"/>
            <a:ext cx="662940" cy="40232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467612" y="4633264"/>
            <a:ext cx="662940" cy="11887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331720" y="4562856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4965192"/>
            <a:ext cx="14173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 flipV="1">
            <a:off x="804672" y="4901184"/>
            <a:ext cx="464058" cy="123444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268730" y="4893869"/>
            <a:ext cx="464058" cy="142646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732788" y="5036515"/>
            <a:ext cx="397764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331720" y="4873752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5276088"/>
            <a:ext cx="14173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 flipV="1">
            <a:off x="804672" y="5228539"/>
            <a:ext cx="464058" cy="106985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268730" y="5204765"/>
            <a:ext cx="464058" cy="142646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732788" y="5347411"/>
            <a:ext cx="397764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2331720" y="518464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114800"/>
            <a:ext cx="4389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Attractive when datasets are small, sequences are complete, and shape similarity is meaningful.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can be explained by showing the closest historical sequences.</a:t>
            </a:r>
            <a:endParaRPr lang="en-US" sz="14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F74B51-EF53-3A57-D368-DA092326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of Dynamic Time Warping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C0FB5F-ED73-3160-2458-E2F90523E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DTW is useful, but it is not universally appropriate.</a:t>
            </a:r>
          </a:p>
          <a:p>
            <a:r>
              <a:rPr lang="en-GB" b="1" dirty="0"/>
              <a:t>Computational cost</a:t>
            </a:r>
          </a:p>
          <a:p>
            <a:pPr lvl="1"/>
            <a:r>
              <a:rPr lang="en-GB" dirty="0"/>
              <a:t>Comparing long sequences can be expensive.</a:t>
            </a:r>
          </a:p>
          <a:p>
            <a:pPr lvl="1"/>
            <a:r>
              <a:rPr lang="en-GB" dirty="0"/>
              <a:t>Classification may require comparing a new sequence against many training examples.</a:t>
            </a:r>
          </a:p>
          <a:p>
            <a:r>
              <a:rPr lang="en-GB" b="1" dirty="0"/>
              <a:t>Scaling sensitivity</a:t>
            </a:r>
          </a:p>
          <a:p>
            <a:pPr lvl="1"/>
            <a:r>
              <a:rPr lang="en-GB" dirty="0"/>
              <a:t>If one sequence has much larger amplitude than another, amplitude differences may dominate the distance.</a:t>
            </a:r>
          </a:p>
          <a:p>
            <a:pPr lvl="1"/>
            <a:r>
              <a:rPr lang="en-GB" dirty="0"/>
              <a:t>Normalization may therefore be important.</a:t>
            </a:r>
          </a:p>
          <a:p>
            <a:r>
              <a:rPr lang="en-GB" b="1" dirty="0"/>
              <a:t>Excessive warping</a:t>
            </a:r>
          </a:p>
          <a:p>
            <a:pPr lvl="1"/>
            <a:r>
              <a:rPr lang="en-GB" dirty="0"/>
              <a:t>Without constraints, DTW may align patterns that should not realistically correspond.</a:t>
            </a:r>
          </a:p>
          <a:p>
            <a:pPr lvl="1"/>
            <a:r>
              <a:rPr lang="en-GB" dirty="0"/>
              <a:t>Warping can therefore be restricted.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23892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826A-678C-53A3-FEDE-67FE0D21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67D5BC-7882-ED22-81F6-7852C7EFC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of Dynamic Time Warping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A05832-249F-38B2-C004-3CA899C9D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Multivariate sequences</a:t>
            </a:r>
          </a:p>
          <a:p>
            <a:pPr lvl="1"/>
            <a:r>
              <a:rPr lang="en-GB" dirty="0"/>
              <a:t>Multiple sensor channels require a suitable multivariate distance definition.</a:t>
            </a:r>
          </a:p>
          <a:p>
            <a:r>
              <a:rPr lang="en-GB" b="1" dirty="0"/>
              <a:t>Timing may itself contain information</a:t>
            </a:r>
          </a:p>
          <a:p>
            <a:pPr lvl="1"/>
            <a:r>
              <a:rPr lang="en-GB" dirty="0"/>
              <a:t>Sometimes different event speeds are meaningful.</a:t>
            </a:r>
          </a:p>
          <a:p>
            <a:pPr lvl="1"/>
            <a:r>
              <a:rPr lang="en-GB" dirty="0"/>
              <a:t>Example:</a:t>
            </a:r>
          </a:p>
          <a:p>
            <a:pPr lvl="1"/>
            <a:r>
              <a:rPr lang="en-GB" dirty="0"/>
              <a:t>a machine reaching a critical temperature unusually quickly may itself indicate a fault.</a:t>
            </a:r>
          </a:p>
          <a:p>
            <a:pPr lvl="1"/>
            <a:r>
              <a:rPr lang="en-GB" dirty="0"/>
              <a:t>If DTW removes that timing difference, useful information can be lost.</a:t>
            </a:r>
          </a:p>
          <a:p>
            <a:endParaRPr lang="en-GB" dirty="0"/>
          </a:p>
          <a:p>
            <a:r>
              <a:rPr lang="en-GB" dirty="0"/>
              <a:t>Invariance to temporal deformation is useful only when temporal deformation is irrelevant to the target.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583126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4D9502-A0E0-AA26-69A4-328091DB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Feature-based models vs sequence-distance methods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F4CA86-15C6-7E3B-7E6B-9A31669A5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The two classical strategies make different assumptions.</a:t>
            </a:r>
          </a:p>
          <a:p>
            <a:r>
              <a:rPr lang="en-GB" b="1" dirty="0"/>
              <a:t>Feature-based approach</a:t>
            </a:r>
          </a:p>
          <a:p>
            <a:pPr lvl="1"/>
            <a:r>
              <a:rPr lang="en-GB" dirty="0"/>
              <a:t>sequence</a:t>
            </a:r>
          </a:p>
          <a:p>
            <a:pPr lvl="1"/>
            <a:r>
              <a:rPr lang="en-GB" dirty="0"/>
              <a:t>   ↓</a:t>
            </a:r>
          </a:p>
          <a:p>
            <a:pPr lvl="1"/>
            <a:r>
              <a:rPr lang="en-GB" dirty="0"/>
              <a:t>feature vector</a:t>
            </a:r>
          </a:p>
          <a:p>
            <a:pPr lvl="1"/>
            <a:r>
              <a:rPr lang="en-GB" dirty="0"/>
              <a:t>   ↓</a:t>
            </a:r>
          </a:p>
          <a:p>
            <a:pPr lvl="1"/>
            <a:r>
              <a:rPr lang="en-GB" dirty="0"/>
              <a:t>classifier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scalable; </a:t>
            </a:r>
          </a:p>
          <a:p>
            <a:pPr lvl="1"/>
            <a:r>
              <a:rPr lang="en-GB" dirty="0"/>
              <a:t>combines many types of information; </a:t>
            </a:r>
          </a:p>
          <a:p>
            <a:pPr lvl="1"/>
            <a:r>
              <a:rPr lang="en-GB" dirty="0"/>
              <a:t>works naturally with static covariates; </a:t>
            </a:r>
          </a:p>
          <a:p>
            <a:pPr lvl="1"/>
            <a:r>
              <a:rPr lang="en-GB" dirty="0"/>
              <a:t>compatible with many classifiers. </a:t>
            </a:r>
          </a:p>
          <a:p>
            <a:r>
              <a:rPr lang="en-GB" dirty="0"/>
              <a:t>Limitation:</a:t>
            </a:r>
          </a:p>
          <a:p>
            <a:pPr lvl="1"/>
            <a:r>
              <a:rPr lang="en-GB" dirty="0"/>
              <a:t>temporal representation must be designed manually. Temporal representation is a modelling choice: define the history, timing information, and transformations exposed to the model.</a:t>
            </a:r>
            <a:endParaRPr lang="en-US" dirty="0"/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72FFE61-FAF0-99ED-7A3B-642354DFD3F6}"/>
              </a:ext>
            </a:extLst>
          </p:cNvPr>
          <p:cNvSpPr txBox="1"/>
          <p:nvPr/>
        </p:nvSpPr>
        <p:spPr>
          <a:xfrm>
            <a:off x="6086476" y="5919281"/>
            <a:ext cx="610552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how much past history to include;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whether to use raw samples, lags, differences, or rolling statistics;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whether to preserve the full sequence or aggregate it;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how to encode irregular timing or missingness;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whether the model should see absolute time, relative time, or both.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16C786D-3E4B-3CBB-FD56-C3037B1153BC}"/>
              </a:ext>
            </a:extLst>
          </p:cNvPr>
          <p:cNvCxnSpPr>
            <a:cxnSpLocks/>
          </p:cNvCxnSpPr>
          <p:nvPr/>
        </p:nvCxnSpPr>
        <p:spPr>
          <a:xfrm>
            <a:off x="5570483" y="5825731"/>
            <a:ext cx="515993" cy="215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03932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69742-0AA0-1488-0C70-AE6CAC581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87ADA2-47C8-C99C-7650-47C693CB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Feature-based models vs sequence-distance methods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25996A-33CA-5790-CCD5-FBBCC17FC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Distance-based approach</a:t>
            </a:r>
          </a:p>
          <a:p>
            <a:pPr lvl="1"/>
            <a:r>
              <a:rPr lang="en-GB" dirty="0"/>
              <a:t>sequence</a:t>
            </a:r>
          </a:p>
          <a:p>
            <a:pPr lvl="1"/>
            <a:r>
              <a:rPr lang="en-GB" dirty="0"/>
              <a:t>   ↓</a:t>
            </a:r>
          </a:p>
          <a:p>
            <a:pPr lvl="1"/>
            <a:r>
              <a:rPr lang="en-GB" dirty="0"/>
              <a:t>sequence-to-sequence distance</a:t>
            </a:r>
          </a:p>
          <a:p>
            <a:pPr lvl="1"/>
            <a:r>
              <a:rPr lang="en-GB" dirty="0"/>
              <a:t>   ↓</a:t>
            </a:r>
          </a:p>
          <a:p>
            <a:pPr lvl="1"/>
            <a:r>
              <a:rPr lang="en-GB" dirty="0"/>
              <a:t>nearest neighbours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preserves complete sequence shape; </a:t>
            </a:r>
          </a:p>
          <a:p>
            <a:pPr lvl="1"/>
            <a:r>
              <a:rPr lang="en-GB" dirty="0"/>
              <a:t>minimal feature engineering; </a:t>
            </a:r>
          </a:p>
          <a:p>
            <a:pPr lvl="1"/>
            <a:r>
              <a:rPr lang="en-GB" dirty="0"/>
              <a:t>DTW can tolerate misalignment. 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computational cost; </a:t>
            </a:r>
          </a:p>
          <a:p>
            <a:pPr lvl="1"/>
            <a:r>
              <a:rPr lang="en-GB" dirty="0"/>
              <a:t>less convenient with heterogeneous features; </a:t>
            </a:r>
          </a:p>
          <a:p>
            <a:pPr lvl="1"/>
            <a:r>
              <a:rPr lang="en-GB" dirty="0"/>
              <a:t>similarity definition becomes critical. 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D15AC3B-F034-9481-16EF-87D1F9A9EB6A}"/>
              </a:ext>
            </a:extLst>
          </p:cNvPr>
          <p:cNvSpPr txBox="1"/>
          <p:nvPr/>
        </p:nvSpPr>
        <p:spPr>
          <a:xfrm>
            <a:off x="5586413" y="4240226"/>
            <a:ext cx="61055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Neither approach dominates universally</a:t>
            </a:r>
          </a:p>
          <a:p>
            <a:r>
              <a:rPr lang="en-GB" sz="1800" dirty="0"/>
              <a:t>The correct choice depends on:</a:t>
            </a:r>
          </a:p>
          <a:p>
            <a:pPr lvl="1"/>
            <a:r>
              <a:rPr lang="en-GB" dirty="0"/>
              <a:t>dataset size; </a:t>
            </a:r>
          </a:p>
          <a:p>
            <a:pPr lvl="1"/>
            <a:r>
              <a:rPr lang="en-GB" dirty="0"/>
              <a:t>sequence length; </a:t>
            </a:r>
          </a:p>
          <a:p>
            <a:pPr lvl="1"/>
            <a:r>
              <a:rPr lang="en-GB" dirty="0"/>
              <a:t>temporal alignment; </a:t>
            </a:r>
          </a:p>
          <a:p>
            <a:pPr lvl="1"/>
            <a:r>
              <a:rPr lang="en-GB" dirty="0"/>
              <a:t>domain knowledge; </a:t>
            </a:r>
          </a:p>
          <a:p>
            <a:pPr lvl="1"/>
            <a:r>
              <a:rPr lang="en-GB" dirty="0"/>
              <a:t>deployment constraints.</a:t>
            </a:r>
          </a:p>
        </p:txBody>
      </p:sp>
    </p:spTree>
    <p:extLst>
      <p:ext uri="{BB962C8B-B14F-4D97-AF65-F5344CB8AC3E}">
        <p14:creationId xmlns:p14="http://schemas.microsoft.com/office/powerpoint/2010/main" val="20751265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987552" cy="6858000"/>
          </a:xfrm>
          <a:prstGeom prst="rect">
            <a:avLst/>
          </a:prstGeom>
          <a:solidFill>
            <a:srgbClr val="6EA51C"/>
          </a:solidFill>
          <a:ln w="12700">
            <a:solidFill>
              <a:srgbClr val="6E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868680" cy="6858000"/>
          </a:xfrm>
          <a:prstGeom prst="parallelogram">
            <a:avLst/>
          </a:prstGeom>
          <a:solidFill>
            <a:srgbClr val="4D7A2E">
              <a:alpha val="82000"/>
            </a:srgbClr>
          </a:solidFill>
          <a:ln w="12700">
            <a:solidFill>
              <a:srgbClr val="4D7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201400" y="0"/>
            <a:ext cx="594360" cy="6858000"/>
          </a:xfrm>
          <a:prstGeom prst="parallelogram">
            <a:avLst/>
          </a:prstGeom>
          <a:solidFill>
            <a:srgbClr val="A8CF4A">
              <a:alpha val="58000"/>
            </a:srgbClr>
          </a:solidFill>
          <a:ln w="12700">
            <a:solidFill>
              <a:srgbClr val="A8C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classical strategies for temporal classification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are useful baselines before neural representation learning.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206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Feature-based approach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1143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2487168"/>
            <a:ext cx="640080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91840" y="2240280"/>
            <a:ext cx="132588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3063240"/>
            <a:ext cx="0" cy="64008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965960" y="3794760"/>
            <a:ext cx="1828800" cy="50292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Scalable; combines static and temporal features.</a:t>
            </a:r>
            <a:endParaRPr lang="en-US" sz="1100" dirty="0"/>
          </a:p>
          <a:p>
            <a:pPr algn="ctr"/>
            <a:r>
              <a:rPr lang="en-GB" sz="1100" dirty="0"/>
              <a:t>Temporal representation is a modelling choice: define the history, timing information, and transformations exposed to the model.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1600200"/>
            <a:ext cx="4206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Distance-based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97880" y="2240280"/>
            <a:ext cx="1143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2487168"/>
            <a:ext cx="640080" cy="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955280" y="2240280"/>
            <a:ext cx="132588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3063240"/>
            <a:ext cx="0" cy="640080"/>
          </a:xfrm>
          <a:prstGeom prst="line">
            <a:avLst/>
          </a:prstGeom>
          <a:noFill/>
          <a:ln w="25400">
            <a:solidFill>
              <a:srgbClr val="4E5B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629400" y="3794760"/>
            <a:ext cx="1828800" cy="50292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neighbour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Preserves complete shape; tolerates timing shifts.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E5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definition becomes critical.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6153912"/>
            <a:ext cx="9601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can a model learn temporal representations directly from the sequence?</a:t>
            </a:r>
            <a:endParaRPr lang="en-US" sz="1200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7577ED1-B125-FB47-9996-A2528B74B106}"/>
              </a:ext>
            </a:extLst>
          </p:cNvPr>
          <p:cNvSpPr txBox="1"/>
          <p:nvPr/>
        </p:nvSpPr>
        <p:spPr>
          <a:xfrm>
            <a:off x="658368" y="5154200"/>
            <a:ext cx="610552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how much past history to include;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whether to use raw samples, lags, differences, or rolling statistics;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whether to preserve the full sequence or aggregate it;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how to encode irregular timing or missingness;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100" dirty="0"/>
              <a:t>whether the model should see absolute time, relative time, or both.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A8AAA461-0541-1668-C00E-2E09C9EEEA39}"/>
              </a:ext>
            </a:extLst>
          </p:cNvPr>
          <p:cNvCxnSpPr/>
          <p:nvPr/>
        </p:nvCxnSpPr>
        <p:spPr>
          <a:xfrm flipH="1">
            <a:off x="1028700" y="4983480"/>
            <a:ext cx="205740" cy="255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BC53CD-3DC0-CFA9-899C-433CE17D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have classical methods taught us?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658FBA-6F87-807A-6291-88E176787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Before introducing neural sequence models, we have already seen several ways to represent temporal structure.</a:t>
            </a:r>
          </a:p>
          <a:p>
            <a:r>
              <a:rPr lang="en-GB" b="1" dirty="0"/>
              <a:t>Raw lag representation</a:t>
            </a:r>
          </a:p>
          <a:p>
            <a:r>
              <a:rPr lang="en-GB" dirty="0"/>
              <a:t>[x[t], x[t−1], ..., x[t−L+1]]</a:t>
            </a:r>
          </a:p>
          <a:p>
            <a:r>
              <a:rPr lang="en-GB" b="1" dirty="0"/>
              <a:t>Statistical representation</a:t>
            </a:r>
          </a:p>
          <a:p>
            <a:r>
              <a:rPr lang="en-GB" dirty="0"/>
              <a:t>mean, variance, slope, extrema, ...</a:t>
            </a:r>
          </a:p>
          <a:p>
            <a:r>
              <a:rPr lang="en-GB" b="1" dirty="0"/>
              <a:t>Frequency representation</a:t>
            </a:r>
          </a:p>
          <a:p>
            <a:r>
              <a:rPr lang="en-GB" dirty="0"/>
              <a:t>dominant frequency, band power, ...</a:t>
            </a:r>
          </a:p>
          <a:p>
            <a:r>
              <a:rPr lang="en-GB" b="1" dirty="0"/>
              <a:t>Similarity-based representation</a:t>
            </a:r>
          </a:p>
          <a:p>
            <a:r>
              <a:rPr lang="en-GB" dirty="0"/>
              <a:t>distance between complete sequences</a:t>
            </a:r>
          </a:p>
          <a:p>
            <a:r>
              <a:rPr lang="en-GB" dirty="0"/>
              <a:t>All of these approaches require us to make explicit assumptions about what matters.</a:t>
            </a:r>
          </a:p>
          <a:p>
            <a:r>
              <a:rPr lang="en-GB" dirty="0"/>
              <a:t>We decide: which history length; which lags; which summaries; which frequency ranges;  which notion of similarity. </a:t>
            </a:r>
          </a:p>
          <a:p>
            <a:endParaRPr lang="en-GB" b="1" dirty="0"/>
          </a:p>
          <a:p>
            <a:r>
              <a:rPr lang="en-GB" b="1" dirty="0"/>
              <a:t>The next question</a:t>
            </a:r>
          </a:p>
          <a:p>
            <a:r>
              <a:rPr lang="en-GB" dirty="0"/>
              <a:t>Can the model learn useful temporal representations directly from sequences?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884175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D5A01D-4829-B132-DD99-45693C8F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3.G — Fair Baseline Comparison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B7FEAA-C0BF-D16F-2764-B62507806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44703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2E7A27-A8F2-5BAF-57D1-661A8B3D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baseline comparison must be fair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D6D066-152D-C7EC-3606-5EC198E21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Different models should be compared under the </a:t>
            </a:r>
            <a:r>
              <a:rPr lang="en-GB" b="1" dirty="0"/>
              <a:t>same prediction problem</a:t>
            </a:r>
            <a:r>
              <a:rPr lang="en-GB" dirty="0"/>
              <a:t>.</a:t>
            </a:r>
          </a:p>
          <a:p>
            <a:r>
              <a:rPr lang="en-GB" dirty="0"/>
              <a:t>This means using the same:</a:t>
            </a:r>
          </a:p>
          <a:p>
            <a:pPr lvl="1"/>
            <a:r>
              <a:rPr lang="en-GB" dirty="0"/>
              <a:t>training, validation and test partitions; </a:t>
            </a:r>
          </a:p>
          <a:p>
            <a:pPr lvl="1"/>
            <a:r>
              <a:rPr lang="en-GB" dirty="0"/>
              <a:t>prediction time; </a:t>
            </a:r>
          </a:p>
          <a:p>
            <a:pPr lvl="1"/>
            <a:r>
              <a:rPr lang="en-GB" dirty="0"/>
              <a:t>input information available at prediction time; </a:t>
            </a:r>
          </a:p>
          <a:p>
            <a:pPr lvl="1"/>
            <a:r>
              <a:rPr lang="en-GB" dirty="0"/>
              <a:t>target definition; </a:t>
            </a:r>
          </a:p>
          <a:p>
            <a:pPr lvl="1"/>
            <a:r>
              <a:rPr lang="en-GB" dirty="0"/>
              <a:t>forecast horizon; </a:t>
            </a:r>
          </a:p>
          <a:p>
            <a:pPr lvl="1"/>
            <a:r>
              <a:rPr lang="en-GB" dirty="0"/>
              <a:t>test samples; </a:t>
            </a:r>
          </a:p>
          <a:p>
            <a:pPr lvl="1"/>
            <a:r>
              <a:rPr lang="en-GB" dirty="0"/>
              <a:t>evaluation metrics.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800792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48288" y="0"/>
            <a:ext cx="740664" cy="6858000"/>
          </a:xfrm>
          <a:prstGeom prst="rect">
            <a:avLst/>
          </a:prstGeom>
          <a:solidFill>
            <a:srgbClr val="8DC63F">
              <a:alpha val="95000"/>
            </a:srgbClr>
          </a:solidFill>
          <a:ln w="12700">
            <a:solidFill>
              <a:srgbClr val="8DC6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201400" y="0"/>
            <a:ext cx="246888" cy="6858000"/>
          </a:xfrm>
          <a:prstGeom prst="rect">
            <a:avLst/>
          </a:prstGeom>
          <a:solidFill>
            <a:srgbClr val="65A30D">
              <a:alpha val="80000"/>
            </a:srgbClr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Fair baseline comparison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76656" y="960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prediction problem fixed; change the algorithm.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Unfair comparison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235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comparison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64592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demand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2057400"/>
            <a:ext cx="1783080" cy="1600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demand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future temperature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843784"/>
            <a:ext cx="548640" cy="0"/>
          </a:xfrm>
          <a:prstGeom prst="line">
            <a:avLst/>
          </a:prstGeom>
          <a:noFill/>
          <a:ln w="279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514600" y="3977640"/>
            <a:ext cx="10972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information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79008" y="2148840"/>
            <a:ext cx="1783080" cy="1481328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demand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forecast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83880" y="2148840"/>
            <a:ext cx="1783080" cy="1481328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demand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forecast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53528" y="2889504"/>
            <a:ext cx="356616" cy="0"/>
          </a:xfrm>
          <a:prstGeom prst="line">
            <a:avLst/>
          </a:prstGeom>
          <a:noFill/>
          <a:ln w="279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178040" y="3977640"/>
            <a:ext cx="15087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admissible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6172200"/>
            <a:ext cx="10241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compare algorithms fairly, hold prediction time, target, horizon, inputs and metrics constant.</a:t>
            </a:r>
            <a:endParaRPr lang="en-US" sz="123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CB38D4-D115-3A03-6F0D-ED7DF1B9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against the strongest credible simple baseline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DB42CC-F5EB-DEB1-DBA5-66746AFBD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198170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weak baseline can make almost any model appear impressive.</a:t>
            </a:r>
          </a:p>
          <a:p>
            <a:r>
              <a:rPr lang="en-GB" dirty="0"/>
              <a:t>Consider:</a:t>
            </a:r>
          </a:p>
          <a:p>
            <a:pPr lvl="1"/>
            <a:r>
              <a:rPr lang="en-GB" dirty="0"/>
              <a:t>Mean predictor RMSE          = 8.5</a:t>
            </a:r>
          </a:p>
          <a:p>
            <a:pPr lvl="1"/>
            <a:r>
              <a:rPr lang="en-GB" dirty="0"/>
              <a:t>Persistence RMSE             = 5.1</a:t>
            </a:r>
          </a:p>
          <a:p>
            <a:pPr lvl="1"/>
            <a:r>
              <a:rPr lang="en-GB" dirty="0"/>
              <a:t>Seasonal naïve RMSE          = 3.4</a:t>
            </a:r>
          </a:p>
          <a:p>
            <a:pPr lvl="1"/>
            <a:r>
              <a:rPr lang="en-GB" dirty="0"/>
              <a:t>Ridge regression RMSE        = 3.0</a:t>
            </a:r>
          </a:p>
          <a:p>
            <a:pPr lvl="1"/>
            <a:r>
              <a:rPr lang="en-GB" dirty="0"/>
              <a:t>Gradient boosting RMSE       = 2.8</a:t>
            </a:r>
          </a:p>
          <a:p>
            <a:pPr lvl="1"/>
            <a:r>
              <a:rPr lang="en-GB" dirty="0"/>
              <a:t>Advanced model RMSE          = 2.7</a:t>
            </a:r>
          </a:p>
          <a:p>
            <a:endParaRPr lang="en-GB" dirty="0"/>
          </a:p>
          <a:p>
            <a:r>
              <a:rPr lang="en-GB" dirty="0"/>
              <a:t>If the advanced model is compared only with the mean predictor:</a:t>
            </a:r>
          </a:p>
          <a:p>
            <a:r>
              <a:rPr lang="en-GB" dirty="0"/>
              <a:t>8.5 → 2.7</a:t>
            </a:r>
          </a:p>
          <a:p>
            <a:r>
              <a:rPr lang="en-GB" dirty="0"/>
              <a:t>the improvement appears dramatic.</a:t>
            </a:r>
          </a:p>
          <a:p>
            <a:endParaRPr lang="en-GB" dirty="0"/>
          </a:p>
          <a:p>
            <a:r>
              <a:rPr lang="en-GB" dirty="0"/>
              <a:t>But relative to the strongest conventional baseline:</a:t>
            </a:r>
          </a:p>
          <a:p>
            <a:r>
              <a:rPr lang="en-GB" dirty="0"/>
              <a:t>2.8 → 2.7</a:t>
            </a:r>
          </a:p>
          <a:p>
            <a:r>
              <a:rPr lang="en-GB" dirty="0"/>
              <a:t>the gain is modest.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866091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ABAB82-4F8A-2FCB-4D51-3BBB39D3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against the strongest credible simple baseline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81A6EF-D7AB-8624-A817-4C5CBAE55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What should the baseline set contain?</a:t>
            </a:r>
          </a:p>
          <a:p>
            <a:r>
              <a:rPr lang="en-GB" dirty="0"/>
              <a:t>Depending on the task:</a:t>
            </a:r>
          </a:p>
          <a:p>
            <a:pPr lvl="1"/>
            <a:r>
              <a:rPr lang="en-GB" dirty="0"/>
              <a:t>trivial predictor; </a:t>
            </a:r>
          </a:p>
          <a:p>
            <a:pPr lvl="1"/>
            <a:r>
              <a:rPr lang="en-GB" dirty="0"/>
              <a:t>temporal naïve predictor; </a:t>
            </a:r>
          </a:p>
          <a:p>
            <a:pPr lvl="1"/>
            <a:r>
              <a:rPr lang="en-GB" dirty="0"/>
              <a:t>linear or regularized model; </a:t>
            </a:r>
          </a:p>
          <a:p>
            <a:pPr lvl="1"/>
            <a:r>
              <a:rPr lang="en-GB" dirty="0"/>
              <a:t>strong feature-based nonlinear model. </a:t>
            </a:r>
          </a:p>
          <a:p>
            <a:endParaRPr lang="en-GB" dirty="0"/>
          </a:p>
          <a:p>
            <a:r>
              <a:rPr lang="en-GB" dirty="0"/>
              <a:t>The important question is not:</a:t>
            </a:r>
          </a:p>
          <a:p>
            <a:pPr lvl="1"/>
            <a:r>
              <a:rPr lang="en-GB" dirty="0"/>
              <a:t>Does the advanced model outperform something?</a:t>
            </a:r>
          </a:p>
          <a:p>
            <a:r>
              <a:rPr lang="en-GB" dirty="0"/>
              <a:t>It is:</a:t>
            </a:r>
          </a:p>
          <a:p>
            <a:pPr lvl="1"/>
            <a:r>
              <a:rPr lang="en-GB" dirty="0"/>
              <a:t>Does it outperform a credible alternative by enough to justify the additional complexity?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156893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48288" y="0"/>
            <a:ext cx="740664" cy="6858000"/>
          </a:xfrm>
          <a:prstGeom prst="rect">
            <a:avLst/>
          </a:prstGeom>
          <a:solidFill>
            <a:srgbClr val="8DC63F">
              <a:alpha val="95000"/>
            </a:srgbClr>
          </a:solidFill>
          <a:ln w="12700">
            <a:solidFill>
              <a:srgbClr val="8DC6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201400" y="0"/>
            <a:ext cx="246888" cy="6858000"/>
          </a:xfrm>
          <a:prstGeom prst="rect">
            <a:avLst/>
          </a:prstGeom>
          <a:solidFill>
            <a:srgbClr val="65A30D">
              <a:alpha val="80000"/>
            </a:srgbClr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against the strongest credible simple baseline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76656" y="960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 baseline can exaggerate the apparent value of an advanced model.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731520" y="5257800"/>
            <a:ext cx="905256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31520" y="5257800"/>
            <a:ext cx="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14400" y="2278380"/>
            <a:ext cx="868680" cy="2979420"/>
          </a:xfrm>
          <a:prstGeom prst="rect">
            <a:avLst/>
          </a:prstGeom>
          <a:solidFill>
            <a:srgbClr val="E2E8F0"/>
          </a:solidFill>
          <a:ln w="177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2022348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5404104"/>
            <a:ext cx="10881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276856" y="3470148"/>
            <a:ext cx="868680" cy="1787652"/>
          </a:xfrm>
          <a:prstGeom prst="rect">
            <a:avLst/>
          </a:prstGeom>
          <a:solidFill>
            <a:srgbClr val="E2E8F0"/>
          </a:solidFill>
          <a:ln w="177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276856" y="3214116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67128" y="5404104"/>
            <a:ext cx="10881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639312" y="4066032"/>
            <a:ext cx="868680" cy="1191768"/>
          </a:xfrm>
          <a:prstGeom prst="rect">
            <a:avLst/>
          </a:prstGeom>
          <a:solidFill>
            <a:srgbClr val="FFEDD5"/>
          </a:solidFill>
          <a:ln w="177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639312" y="3810000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9584" y="5404104"/>
            <a:ext cx="10881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naïve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001768" y="4206240"/>
            <a:ext cx="868680" cy="1051560"/>
          </a:xfrm>
          <a:prstGeom prst="rect">
            <a:avLst/>
          </a:prstGeom>
          <a:solidFill>
            <a:srgbClr val="DBEAFE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001768" y="3950208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5404104"/>
            <a:ext cx="10881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364224" y="4276344"/>
            <a:ext cx="868680" cy="981456"/>
          </a:xfrm>
          <a:prstGeom prst="rect">
            <a:avLst/>
          </a:prstGeom>
          <a:solidFill>
            <a:srgbClr val="DCFCE7"/>
          </a:solidFill>
          <a:ln w="1778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364224" y="4020312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54496" y="5404104"/>
            <a:ext cx="10881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726680" y="4311396"/>
            <a:ext cx="868680" cy="946404"/>
          </a:xfrm>
          <a:prstGeom prst="rect">
            <a:avLst/>
          </a:prstGeom>
          <a:solidFill>
            <a:srgbClr val="EDE9FE"/>
          </a:solidFill>
          <a:ln w="1778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726680" y="4055364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16952" y="5404104"/>
            <a:ext cx="10881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84048" y="1874520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dramatic only vs weak baseline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1371600" y="1810512"/>
            <a:ext cx="3840480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263640" y="3563874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modest gain vs strongest baseline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165953" y="3950208"/>
            <a:ext cx="822960" cy="0"/>
          </a:xfrm>
          <a:prstGeom prst="line">
            <a:avLst/>
          </a:prstGeom>
          <a:noFill/>
          <a:ln w="20320">
            <a:solidFill>
              <a:srgbClr val="3F621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58368" y="6172200"/>
            <a:ext cx="10241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should beat the </a:t>
            </a: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credible simple alternative</a:t>
            </a: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not just an arbitrary baseline.</a:t>
            </a:r>
            <a:endParaRPr lang="en-US" sz="123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CC3710-CFA6-E3E9-C7CB-274C08F4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Separate gains from information, representation and model complexity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8F2833-D2C1-E69E-75C3-0859BB071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Performance can improve for several different reasons.</a:t>
            </a:r>
          </a:p>
          <a:p>
            <a:r>
              <a:rPr lang="en-GB" b="1" dirty="0"/>
              <a:t>More information</a:t>
            </a:r>
          </a:p>
          <a:p>
            <a:pPr lvl="1"/>
            <a:r>
              <a:rPr lang="en-GB" dirty="0"/>
              <a:t>past demand</a:t>
            </a:r>
          </a:p>
          <a:p>
            <a:pPr lvl="1"/>
            <a:r>
              <a:rPr lang="en-GB" dirty="0"/>
              <a:t>→</a:t>
            </a:r>
          </a:p>
          <a:p>
            <a:pPr lvl="1"/>
            <a:r>
              <a:rPr lang="en-GB" dirty="0"/>
              <a:t>past demand + planned promotion</a:t>
            </a:r>
          </a:p>
          <a:p>
            <a:r>
              <a:rPr lang="en-GB" b="1" dirty="0"/>
              <a:t>Better representation</a:t>
            </a:r>
            <a:endParaRPr lang="en-GB" dirty="0"/>
          </a:p>
          <a:p>
            <a:pPr lvl="1"/>
            <a:r>
              <a:rPr lang="en-GB" dirty="0"/>
              <a:t>raw recent values</a:t>
            </a:r>
          </a:p>
          <a:p>
            <a:pPr lvl="1"/>
            <a:r>
              <a:rPr lang="en-GB" dirty="0"/>
              <a:t>→</a:t>
            </a:r>
          </a:p>
          <a:p>
            <a:pPr lvl="1"/>
            <a:r>
              <a:rPr lang="en-GB" dirty="0"/>
              <a:t>lags + rolling statistics + spectral features</a:t>
            </a:r>
          </a:p>
          <a:p>
            <a:r>
              <a:rPr lang="en-GB" b="1" dirty="0"/>
              <a:t>More flexible predictive model</a:t>
            </a:r>
            <a:endParaRPr lang="en-GB" dirty="0"/>
          </a:p>
          <a:p>
            <a:pPr lvl="1"/>
            <a:r>
              <a:rPr lang="en-GB" dirty="0"/>
              <a:t>linear regression</a:t>
            </a:r>
          </a:p>
          <a:p>
            <a:pPr lvl="1"/>
            <a:r>
              <a:rPr lang="en-GB" dirty="0"/>
              <a:t>→</a:t>
            </a:r>
          </a:p>
          <a:p>
            <a:pPr lvl="1"/>
            <a:r>
              <a:rPr lang="en-GB" dirty="0"/>
              <a:t>gradient boosting</a:t>
            </a:r>
          </a:p>
          <a:p>
            <a:endParaRPr lang="en-GB" dirty="0"/>
          </a:p>
          <a:p>
            <a:r>
              <a:rPr lang="en-GB" dirty="0"/>
              <a:t>These should ideally be tested separately.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08822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48288" y="0"/>
            <a:ext cx="740664" cy="6858000"/>
          </a:xfrm>
          <a:prstGeom prst="rect">
            <a:avLst/>
          </a:prstGeom>
          <a:solidFill>
            <a:srgbClr val="8DC63F">
              <a:alpha val="95000"/>
            </a:srgbClr>
          </a:solidFill>
          <a:ln w="12700">
            <a:solidFill>
              <a:srgbClr val="8DC6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201400" y="0"/>
            <a:ext cx="246888" cy="6858000"/>
          </a:xfrm>
          <a:prstGeom prst="rect">
            <a:avLst/>
          </a:prstGeom>
          <a:solidFill>
            <a:srgbClr val="65A30D">
              <a:alpha val="80000"/>
            </a:srgbClr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gains from information, representation and model complexity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76656" y="960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one important component at a time</a:t>
            </a: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interpret performance improvements.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8745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1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2578608"/>
            <a:ext cx="4114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337560" y="1965960"/>
            <a:ext cx="187452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2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lags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2578608"/>
            <a:ext cx="4114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806440" y="1965960"/>
            <a:ext cx="1874520" cy="123444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3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engineered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2578608"/>
            <a:ext cx="4114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75320" y="1965960"/>
            <a:ext cx="1874520" cy="1234440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4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529584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weights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 history?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3529584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features add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information?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0" y="3529584"/>
            <a:ext cx="1234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nonlinearity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changed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18688" y="4407408"/>
            <a:ext cx="15087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rule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96712" y="4407408"/>
            <a:ext cx="15087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4407408"/>
            <a:ext cx="15087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flexibility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6172200"/>
            <a:ext cx="10241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comparisons reveal whether improvement comes from inputs, features or the learning algorithm.</a:t>
            </a:r>
            <a:endParaRPr lang="en-US" sz="123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FAB903-8B5E-631D-AA56-04DB3ED4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models using more than one predictive metric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2F7BB5-F112-BD83-65AB-FECE5E11F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single average score may hide important differences.</a:t>
            </a:r>
          </a:p>
          <a:p>
            <a:r>
              <a:rPr lang="en-GB" b="1" dirty="0"/>
              <a:t>Forecasting example</a:t>
            </a:r>
          </a:p>
          <a:p>
            <a:r>
              <a:rPr lang="en-GB" dirty="0"/>
              <a:t>Suppose two models have similar overall MAE:</a:t>
            </a:r>
          </a:p>
          <a:p>
            <a:r>
              <a:rPr lang="en-GB" dirty="0"/>
              <a:t>Model A MAE = 4.1</a:t>
            </a:r>
          </a:p>
          <a:p>
            <a:r>
              <a:rPr lang="en-GB" dirty="0"/>
              <a:t>Model B MAE = 4.0</a:t>
            </a:r>
          </a:p>
          <a:p>
            <a:r>
              <a:rPr lang="en-GB" dirty="0"/>
              <a:t>But error by horizon is:</a:t>
            </a:r>
          </a:p>
          <a:p>
            <a:endParaRPr lang="en-GB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EB66DCF-F9E8-534D-4C44-B8B6BE052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654" y="3939340"/>
            <a:ext cx="6950042" cy="230906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2A1190A-8C79-1E52-BD52-2B5EBA29CD10}"/>
              </a:ext>
            </a:extLst>
          </p:cNvPr>
          <p:cNvSpPr txBox="1"/>
          <p:nvPr/>
        </p:nvSpPr>
        <p:spPr>
          <a:xfrm>
            <a:off x="5241958" y="6271551"/>
            <a:ext cx="6950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Model B becomes increasingly advantageous for longer horizons</a:t>
            </a:r>
          </a:p>
        </p:txBody>
      </p:sp>
    </p:spTree>
    <p:extLst>
      <p:ext uri="{BB962C8B-B14F-4D97-AF65-F5344CB8AC3E}">
        <p14:creationId xmlns:p14="http://schemas.microsoft.com/office/powerpoint/2010/main" val="8750663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FE36D8-00DA-DB6A-81C4-6D25CFBF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models using more than one predictive metric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063122-97BC-343F-9171-011627A697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980641" cy="3880772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/>
              <a:t>Classification example</a:t>
            </a:r>
          </a:p>
          <a:p>
            <a:r>
              <a:rPr lang="en-GB" dirty="0"/>
              <a:t>Two models may have similar accuracy but very different fault recall.</a:t>
            </a:r>
          </a:p>
          <a:p>
            <a:r>
              <a:rPr lang="en-GB" dirty="0"/>
              <a:t>Model A</a:t>
            </a:r>
          </a:p>
          <a:p>
            <a:pPr lvl="1"/>
            <a:r>
              <a:rPr lang="en-GB" dirty="0"/>
              <a:t>accuracy = 95%</a:t>
            </a:r>
          </a:p>
          <a:p>
            <a:pPr lvl="1"/>
            <a:r>
              <a:rPr lang="en-GB" dirty="0"/>
              <a:t>fault recall = 58%</a:t>
            </a:r>
          </a:p>
          <a:p>
            <a:endParaRPr lang="en-GB" dirty="0"/>
          </a:p>
          <a:p>
            <a:r>
              <a:rPr lang="en-GB" dirty="0"/>
              <a:t>Model B</a:t>
            </a:r>
          </a:p>
          <a:p>
            <a:pPr lvl="1"/>
            <a:r>
              <a:rPr lang="en-GB" dirty="0"/>
              <a:t>accuracy = 94%</a:t>
            </a:r>
          </a:p>
          <a:p>
            <a:pPr lvl="1"/>
            <a:r>
              <a:rPr lang="en-GB" dirty="0"/>
              <a:t>fault recall = 87%</a:t>
            </a:r>
          </a:p>
          <a:p>
            <a:endParaRPr lang="en-GB" dirty="0"/>
          </a:p>
          <a:p>
            <a:r>
              <a:rPr lang="en-GB" dirty="0"/>
              <a:t>If missing a fault is costly, Model B may be clearly preferable.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207D9E1-EA0C-CB48-DFA1-80BFF42C4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52119" y="2230199"/>
            <a:ext cx="4349305" cy="3880773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/>
              <a:t>Useful reporting dimensions</a:t>
            </a:r>
          </a:p>
          <a:p>
            <a:r>
              <a:rPr lang="en-GB" dirty="0"/>
              <a:t>Depending on the task:</a:t>
            </a:r>
          </a:p>
          <a:p>
            <a:pPr lvl="1"/>
            <a:r>
              <a:rPr lang="en-GB" dirty="0"/>
              <a:t>error by forecast horizon; </a:t>
            </a:r>
          </a:p>
          <a:p>
            <a:pPr lvl="1"/>
            <a:r>
              <a:rPr lang="en-GB" dirty="0"/>
              <a:t>class-specific recall and precision; </a:t>
            </a:r>
          </a:p>
          <a:p>
            <a:pPr lvl="1"/>
            <a:r>
              <a:rPr lang="en-GB" dirty="0"/>
              <a:t>performance by entity; </a:t>
            </a:r>
          </a:p>
          <a:p>
            <a:pPr lvl="1"/>
            <a:r>
              <a:rPr lang="en-GB" dirty="0"/>
              <a:t>performance by operating regime; </a:t>
            </a:r>
          </a:p>
          <a:p>
            <a:pPr lvl="1"/>
            <a:r>
              <a:rPr lang="en-GB" dirty="0"/>
              <a:t>performance over time; </a:t>
            </a:r>
          </a:p>
          <a:p>
            <a:pPr lvl="1"/>
            <a:r>
              <a:rPr lang="en-GB" dirty="0"/>
              <a:t>event-level metrics. 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EF85C55-D7CC-FAB3-C743-D3EA3BA8DA85}"/>
              </a:ext>
            </a:extLst>
          </p:cNvPr>
          <p:cNvSpPr txBox="1"/>
          <p:nvPr/>
        </p:nvSpPr>
        <p:spPr>
          <a:xfrm>
            <a:off x="6386513" y="6110972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Aggregate performance should be complemented by </a:t>
            </a:r>
            <a:r>
              <a:rPr lang="en-GB" sz="1800" b="1" dirty="0"/>
              <a:t>metrics that reveal when and where errors occur</a:t>
            </a:r>
          </a:p>
        </p:txBody>
      </p:sp>
    </p:spTree>
    <p:extLst>
      <p:ext uri="{BB962C8B-B14F-4D97-AF65-F5344CB8AC3E}">
        <p14:creationId xmlns:p14="http://schemas.microsoft.com/office/powerpoint/2010/main" val="286187688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48288" y="0"/>
            <a:ext cx="740664" cy="6858000"/>
          </a:xfrm>
          <a:prstGeom prst="rect">
            <a:avLst/>
          </a:prstGeom>
          <a:solidFill>
            <a:srgbClr val="8DC63F">
              <a:alpha val="95000"/>
            </a:srgbClr>
          </a:solidFill>
          <a:ln w="12700">
            <a:solidFill>
              <a:srgbClr val="8DC6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201400" y="0"/>
            <a:ext cx="246888" cy="6858000"/>
          </a:xfrm>
          <a:prstGeom prst="rect">
            <a:avLst/>
          </a:prstGeom>
          <a:solidFill>
            <a:srgbClr val="65A30D">
              <a:alpha val="80000"/>
            </a:srgbClr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 beyond one aggregate metric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76656" y="960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performance can hide where models succeed or fail.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Forecasting: error by horizon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87552" y="4709160"/>
            <a:ext cx="370332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87552" y="470916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70432" y="4086062"/>
            <a:ext cx="201168" cy="62309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426464" y="3982212"/>
            <a:ext cx="201168" cy="726948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05840" y="4818888"/>
            <a:ext cx="685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39112" y="3601430"/>
            <a:ext cx="201168" cy="110773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295144" y="3636046"/>
            <a:ext cx="201168" cy="1073114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874520" y="4818888"/>
            <a:ext cx="685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07792" y="3047565"/>
            <a:ext cx="201168" cy="1661595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163824" y="3186031"/>
            <a:ext cx="201168" cy="1523129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43200" y="4818888"/>
            <a:ext cx="685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76472" y="2424466"/>
            <a:ext cx="201168" cy="228469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032504" y="2805249"/>
            <a:ext cx="201168" cy="1903911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611880" y="4818888"/>
            <a:ext cx="685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t+24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60520" y="1993392"/>
            <a:ext cx="73152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60520" y="2331720"/>
            <a:ext cx="73152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1500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accuracy vs fault recall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5040" y="2240280"/>
            <a:ext cx="1645920" cy="15544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95%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 recall 58%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2240280"/>
            <a:ext cx="1645920" cy="1554480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94%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 recall 87%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0" y="3017520"/>
            <a:ext cx="3657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178040" y="4251960"/>
            <a:ext cx="16002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error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matters?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6172200"/>
            <a:ext cx="10241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metrics aligned with the operational objective: horizon, class, entity, event and regime.</a:t>
            </a:r>
            <a:endParaRPr lang="en-US" sz="123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27C084-0ED3-4EC4-0358-B3C03B9F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Predictive improvement must be weighed against complexity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792B21-59F7-6F27-6367-40B791975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selection is an engineering decision, not only a ranking by validation score.</a:t>
            </a:r>
          </a:p>
          <a:p>
            <a:r>
              <a:rPr lang="en-GB" dirty="0"/>
              <a:t>Consider:</a:t>
            </a:r>
          </a:p>
          <a:p>
            <a:endParaRPr lang="en-GB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10FB3EE-3827-D14F-88FD-8F2AEDBD0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48" y="2929532"/>
            <a:ext cx="7635902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2627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1E5635-F03C-1CBE-6E0D-56977387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Predictive improvement must be weighed against complexity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A59238-02F1-68A7-2A3A-4B1FBBB13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Additional factors may include</a:t>
            </a:r>
          </a:p>
          <a:p>
            <a:pPr lvl="1"/>
            <a:r>
              <a:rPr lang="en-GB" dirty="0"/>
              <a:t>memory consumption; </a:t>
            </a:r>
          </a:p>
          <a:p>
            <a:pPr lvl="1"/>
            <a:r>
              <a:rPr lang="en-GB" dirty="0"/>
              <a:t>deployment hardware; </a:t>
            </a:r>
          </a:p>
          <a:p>
            <a:pPr lvl="1"/>
            <a:r>
              <a:rPr lang="en-GB" dirty="0"/>
              <a:t>prediction latency; </a:t>
            </a:r>
          </a:p>
          <a:p>
            <a:pPr lvl="1"/>
            <a:r>
              <a:rPr lang="en-GB" dirty="0"/>
              <a:t>frequency of retraining; </a:t>
            </a:r>
          </a:p>
          <a:p>
            <a:pPr lvl="1"/>
            <a:r>
              <a:rPr lang="en-GB" dirty="0"/>
              <a:t>robustness to missing inputs; </a:t>
            </a:r>
          </a:p>
          <a:p>
            <a:pPr lvl="1"/>
            <a:r>
              <a:rPr lang="en-GB" dirty="0"/>
              <a:t>ease of debugging; </a:t>
            </a:r>
          </a:p>
          <a:p>
            <a:pPr lvl="1"/>
            <a:r>
              <a:rPr lang="en-GB" dirty="0"/>
              <a:t>maintainability.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7F80F27-A2F9-9C83-5EEB-C05CDF7ECC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Suppose:</a:t>
            </a:r>
          </a:p>
          <a:p>
            <a:pPr lvl="1"/>
            <a:r>
              <a:rPr lang="en-GB" dirty="0"/>
              <a:t>Gradient boosting MAE = 3.00</a:t>
            </a:r>
          </a:p>
          <a:p>
            <a:pPr lvl="1"/>
            <a:r>
              <a:rPr lang="en-GB" dirty="0"/>
              <a:t>Advanced model MAE = 2.94</a:t>
            </a:r>
          </a:p>
          <a:p>
            <a:r>
              <a:rPr lang="en-GB" dirty="0"/>
              <a:t>The advanced model improves MAE by only: 0.06</a:t>
            </a:r>
          </a:p>
          <a:p>
            <a:r>
              <a:rPr lang="en-GB" dirty="0"/>
              <a:t>If it requires:</a:t>
            </a:r>
          </a:p>
          <a:p>
            <a:pPr lvl="1"/>
            <a:r>
              <a:rPr lang="en-GB" dirty="0"/>
              <a:t>substantially more computation; </a:t>
            </a:r>
          </a:p>
          <a:p>
            <a:pPr lvl="1"/>
            <a:r>
              <a:rPr lang="en-GB" dirty="0"/>
              <a:t>GPU deployment; </a:t>
            </a:r>
          </a:p>
          <a:p>
            <a:pPr lvl="1"/>
            <a:r>
              <a:rPr lang="en-GB" dirty="0"/>
              <a:t>more complex monitoring; </a:t>
            </a:r>
          </a:p>
          <a:p>
            <a:r>
              <a:rPr lang="en-GB" b="1" dirty="0"/>
              <a:t>the improvement may not be operationally meaningful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77D3123-E427-E253-F2C1-6D95A8D68199}"/>
              </a:ext>
            </a:extLst>
          </p:cNvPr>
          <p:cNvSpPr txBox="1"/>
          <p:nvPr/>
        </p:nvSpPr>
        <p:spPr>
          <a:xfrm>
            <a:off x="2300288" y="6139547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Is the </a:t>
            </a:r>
            <a:r>
              <a:rPr lang="en-GB" sz="1800" b="1" dirty="0"/>
              <a:t>performance gain</a:t>
            </a:r>
            <a:r>
              <a:rPr lang="en-GB" sz="1800" dirty="0"/>
              <a:t> large enough to justify the </a:t>
            </a:r>
            <a:r>
              <a:rPr lang="en-GB" sz="1800" b="1" dirty="0"/>
              <a:t>additional engineering cost</a:t>
            </a:r>
            <a:r>
              <a:rPr lang="en-GB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9138908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48288" y="0"/>
            <a:ext cx="740664" cy="6858000"/>
          </a:xfrm>
          <a:prstGeom prst="rect">
            <a:avLst/>
          </a:prstGeom>
          <a:solidFill>
            <a:srgbClr val="8DC63F">
              <a:alpha val="95000"/>
            </a:srgbClr>
          </a:solidFill>
          <a:ln w="12700">
            <a:solidFill>
              <a:srgbClr val="8DC6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201400" y="0"/>
            <a:ext cx="246888" cy="6858000"/>
          </a:xfrm>
          <a:prstGeom prst="rect">
            <a:avLst/>
          </a:prstGeom>
          <a:solidFill>
            <a:srgbClr val="65A30D">
              <a:alpha val="80000"/>
            </a:srgbClr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gain must be weighed against complexity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76656" y="960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 is an engineering decision, not only a validation-score ranking.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1051560" y="5166360"/>
            <a:ext cx="827532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71600" y="5166360"/>
            <a:ext cx="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83680" y="542239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cost / complexity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79679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4572000"/>
            <a:ext cx="256032" cy="256032"/>
          </a:xfrm>
          <a:prstGeom prst="ellipse">
            <a:avLst/>
          </a:prstGeom>
          <a:solidFill>
            <a:srgbClr val="E2E8F0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51560" y="4242816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3886200"/>
            <a:ext cx="256032" cy="256032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423160" y="3557016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3337560"/>
            <a:ext cx="256032" cy="256032"/>
          </a:xfrm>
          <a:prstGeom prst="ellipse">
            <a:avLst/>
          </a:prstGeom>
          <a:solidFill>
            <a:srgbClr val="DCFCE7"/>
          </a:solidFill>
          <a:ln w="1905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434840" y="3008376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3154680"/>
            <a:ext cx="256032" cy="256032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360920" y="2825496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temporal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5202936" y="3282696"/>
            <a:ext cx="2660904" cy="166497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355080" y="1993392"/>
            <a:ext cx="16459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gain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complexity jump?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6172200"/>
            <a:ext cx="10241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simplest adequate model may be preferable if the accuracy gain is small relative to deployment cost.</a:t>
            </a:r>
            <a:endParaRPr lang="en-US" sz="1230" dirty="0"/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7FAD663B-0304-88FA-B26E-1491DEC3ED67}"/>
              </a:ext>
            </a:extLst>
          </p:cNvPr>
          <p:cNvCxnSpPr>
            <a:cxnSpLocks/>
          </p:cNvCxnSpPr>
          <p:nvPr/>
        </p:nvCxnSpPr>
        <p:spPr>
          <a:xfrm flipV="1">
            <a:off x="1314450" y="1447800"/>
            <a:ext cx="0" cy="3974592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A76B33-7D92-722D-EC4B-815BAE98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baseline ladder as an experimental protocol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33B866-B731-6E88-FCD6-67CDCF0B0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useful evaluation sequence is:</a:t>
            </a:r>
          </a:p>
          <a:p>
            <a:r>
              <a:rPr lang="en-GB" dirty="0"/>
              <a:t>1. trivial baseline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2. temporal naïve baseline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3. linear temporal baseline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4. engineered-feature model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5. nonlinear feature-based model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6. advanced temporal model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7E8D1F8-87EC-19E8-FA37-2E648D14BC56}"/>
              </a:ext>
            </a:extLst>
          </p:cNvPr>
          <p:cNvSpPr txBox="1"/>
          <p:nvPr/>
        </p:nvSpPr>
        <p:spPr>
          <a:xfrm>
            <a:off x="5964865" y="5579697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At every step ask:</a:t>
            </a:r>
          </a:p>
          <a:p>
            <a:r>
              <a:rPr lang="en-GB" sz="1800" b="1" dirty="0"/>
              <a:t>Does performance improve?</a:t>
            </a:r>
          </a:p>
          <a:p>
            <a:r>
              <a:rPr lang="en-GB" sz="1800" dirty="0"/>
              <a:t>If not, increasing complexity may not be justified.</a:t>
            </a:r>
          </a:p>
        </p:txBody>
      </p:sp>
    </p:spTree>
    <p:extLst>
      <p:ext uri="{BB962C8B-B14F-4D97-AF65-F5344CB8AC3E}">
        <p14:creationId xmlns:p14="http://schemas.microsoft.com/office/powerpoint/2010/main" val="191314357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A34118-F1CB-58AB-8001-C97F466A6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baseline ladder as an experimental protocol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2F22F7-D8DF-C4C6-D39F-E5298C766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b="1" dirty="0"/>
              <a:t>Why does performance improve?</a:t>
            </a:r>
          </a:p>
          <a:p>
            <a:r>
              <a:rPr lang="en-GB" dirty="0"/>
              <a:t>Possible reasons:</a:t>
            </a:r>
          </a:p>
          <a:p>
            <a:pPr lvl="1"/>
            <a:r>
              <a:rPr lang="en-GB" dirty="0"/>
              <a:t>more temporal context; </a:t>
            </a:r>
          </a:p>
          <a:p>
            <a:pPr lvl="1"/>
            <a:r>
              <a:rPr lang="en-GB" dirty="0"/>
              <a:t>better feature representation; </a:t>
            </a:r>
          </a:p>
          <a:p>
            <a:pPr lvl="1"/>
            <a:r>
              <a:rPr lang="en-GB" dirty="0"/>
              <a:t>nonlinear relationships; </a:t>
            </a:r>
          </a:p>
          <a:p>
            <a:pPr lvl="1"/>
            <a:r>
              <a:rPr lang="en-GB" dirty="0"/>
              <a:t>better handling of long-range dependencies. </a:t>
            </a:r>
          </a:p>
          <a:p>
            <a:r>
              <a:rPr lang="en-GB" b="1" dirty="0"/>
              <a:t>Is the improvement stable?</a:t>
            </a:r>
          </a:p>
          <a:p>
            <a:r>
              <a:rPr lang="en-GB" dirty="0"/>
              <a:t>Check:</a:t>
            </a:r>
          </a:p>
          <a:p>
            <a:pPr lvl="1"/>
            <a:r>
              <a:rPr lang="en-GB" dirty="0"/>
              <a:t>different validation periods; </a:t>
            </a:r>
          </a:p>
          <a:p>
            <a:pPr lvl="1"/>
            <a:r>
              <a:rPr lang="en-GB" dirty="0"/>
              <a:t>different entities; </a:t>
            </a:r>
          </a:p>
          <a:p>
            <a:pPr lvl="1"/>
            <a:r>
              <a:rPr lang="en-GB" dirty="0"/>
              <a:t>different operating conditions. </a:t>
            </a:r>
          </a:p>
          <a:p>
            <a:r>
              <a:rPr lang="en-GB" b="1" dirty="0"/>
              <a:t>Is the gain operationally relevant?</a:t>
            </a:r>
          </a:p>
          <a:p>
            <a:r>
              <a:rPr lang="en-GB" dirty="0"/>
              <a:t>Compare technical improvement against:</a:t>
            </a:r>
          </a:p>
          <a:p>
            <a:pPr lvl="1"/>
            <a:r>
              <a:rPr lang="en-GB" dirty="0"/>
              <a:t>latency; </a:t>
            </a:r>
          </a:p>
          <a:p>
            <a:pPr lvl="1"/>
            <a:r>
              <a:rPr lang="en-GB" dirty="0"/>
              <a:t>cost; </a:t>
            </a:r>
          </a:p>
          <a:p>
            <a:pPr lvl="1"/>
            <a:r>
              <a:rPr lang="en-GB" dirty="0"/>
              <a:t>robustness; </a:t>
            </a:r>
          </a:p>
          <a:p>
            <a:pPr lvl="1"/>
            <a:r>
              <a:rPr lang="en-GB" dirty="0"/>
              <a:t>maintenance.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3862825-2215-46C7-19E7-B4A4C58A2E60}"/>
              </a:ext>
            </a:extLst>
          </p:cNvPr>
          <p:cNvSpPr txBox="1"/>
          <p:nvPr/>
        </p:nvSpPr>
        <p:spPr>
          <a:xfrm>
            <a:off x="5411578" y="5786735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Baselines</a:t>
            </a:r>
            <a:r>
              <a:rPr lang="en-GB" sz="1800" dirty="0"/>
              <a:t> are not obstacles that advanced models must defeat; they are the </a:t>
            </a:r>
            <a:r>
              <a:rPr lang="en-GB" sz="1800" dirty="0">
                <a:highlight>
                  <a:srgbClr val="FFFF00"/>
                </a:highlight>
              </a:rPr>
              <a:t>reference points that make model improvement interpretable.</a:t>
            </a:r>
          </a:p>
        </p:txBody>
      </p:sp>
    </p:spTree>
    <p:extLst>
      <p:ext uri="{BB962C8B-B14F-4D97-AF65-F5344CB8AC3E}">
        <p14:creationId xmlns:p14="http://schemas.microsoft.com/office/powerpoint/2010/main" val="427829635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48288" y="0"/>
            <a:ext cx="740664" cy="6858000"/>
          </a:xfrm>
          <a:prstGeom prst="rect">
            <a:avLst/>
          </a:prstGeom>
          <a:solidFill>
            <a:srgbClr val="8DC63F">
              <a:alpha val="95000"/>
            </a:srgbClr>
          </a:solidFill>
          <a:ln w="12700">
            <a:solidFill>
              <a:srgbClr val="8DC6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201400" y="0"/>
            <a:ext cx="246888" cy="6858000"/>
          </a:xfrm>
          <a:prstGeom prst="rect">
            <a:avLst/>
          </a:prstGeom>
          <a:solidFill>
            <a:srgbClr val="65A30D">
              <a:alpha val="80000"/>
            </a:srgbClr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baseline ladder as an experimental protocol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76656" y="960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asks a different scientific and engineering question.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502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417320"/>
            <a:ext cx="2148840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Trivial 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1563624"/>
            <a:ext cx="5394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there any useful signal?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1170432" y="1984248"/>
            <a:ext cx="0" cy="32004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914400" y="2313432"/>
            <a:ext cx="502920" cy="502920"/>
          </a:xfrm>
          <a:prstGeom prst="ellipse">
            <a:avLst/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14400" y="2450592"/>
            <a:ext cx="502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2267712"/>
            <a:ext cx="2148840" cy="603504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naïve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2414016"/>
            <a:ext cx="5394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persistence or seasonality explain the target?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1170432" y="2834640"/>
            <a:ext cx="0" cy="32004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14400" y="3163824"/>
            <a:ext cx="502920" cy="50292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14400" y="3300984"/>
            <a:ext cx="502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3118104"/>
            <a:ext cx="2148840" cy="60350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temporal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3264408"/>
            <a:ext cx="5394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learned weights over lags help?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1170432" y="3685032"/>
            <a:ext cx="0" cy="32004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14400" y="4014216"/>
            <a:ext cx="502920" cy="50292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14400" y="4151376"/>
            <a:ext cx="502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3968496"/>
            <a:ext cx="2148840" cy="603504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Engineered-feature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4114800"/>
            <a:ext cx="5394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manually designed temporal features help?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1170432" y="4535424"/>
            <a:ext cx="0" cy="32004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14400" y="4864608"/>
            <a:ext cx="502920" cy="502920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14400" y="5001768"/>
            <a:ext cx="502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91640" y="4818888"/>
            <a:ext cx="2148840" cy="60350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temporal 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520" y="4965192"/>
            <a:ext cx="5394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learned representation add value?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658368" y="6172200"/>
            <a:ext cx="10241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Baselines are reference points that make model improvement interpretable and auditable.</a:t>
            </a:r>
            <a:endParaRPr lang="en-US" sz="123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48288" y="0"/>
            <a:ext cx="740664" cy="6858000"/>
          </a:xfrm>
          <a:prstGeom prst="rect">
            <a:avLst/>
          </a:prstGeom>
          <a:solidFill>
            <a:srgbClr val="8DC63F">
              <a:alpha val="95000"/>
            </a:srgbClr>
          </a:solidFill>
          <a:ln w="12700">
            <a:solidFill>
              <a:srgbClr val="8DC6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201400" y="0"/>
            <a:ext cx="246888" cy="6858000"/>
          </a:xfrm>
          <a:prstGeom prst="rect">
            <a:avLst/>
          </a:prstGeom>
          <a:solidFill>
            <a:srgbClr val="65A30D">
              <a:alpha val="80000"/>
            </a:srgbClr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Fair comparison report: minimum useful structure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76656" y="960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accuracy, cost and failure modes — not just a leaderboard.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21031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1508760"/>
            <a:ext cx="16459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26280" y="1508760"/>
            <a:ext cx="17373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 </a:t>
            </a:r>
            <a:b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(where it fails)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1508760"/>
            <a:ext cx="18288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92440" y="1508760"/>
            <a:ext cx="123444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0" y="1508760"/>
            <a:ext cx="10972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ptos" pitchFamily="34" charset="0"/>
              </a:rPr>
              <a:t>(Conclusion)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011680"/>
            <a:ext cx="21031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Naïve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2880360" y="201168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526280" y="2011680"/>
            <a:ext cx="173736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fails peaks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1828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8092440" y="2011680"/>
            <a:ext cx="1234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9326880" y="2011680"/>
            <a:ext cx="10972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777240" y="2514600"/>
            <a:ext cx="21031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2880360" y="2514600"/>
            <a:ext cx="16459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4526280" y="2514600"/>
            <a:ext cx="173736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bias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18288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8092440" y="2514600"/>
            <a:ext cx="12344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9326880" y="2514600"/>
            <a:ext cx="10972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simple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777240" y="3017520"/>
            <a:ext cx="21031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2880360" y="3017520"/>
            <a:ext cx="16459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4526280" y="3017520"/>
            <a:ext cx="173736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drift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6263640" y="3017520"/>
            <a:ext cx="18288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8092440" y="3017520"/>
            <a:ext cx="123444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9326880" y="3017520"/>
            <a:ext cx="10972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777240" y="3520440"/>
            <a:ext cx="210312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2880360" y="3520440"/>
            <a:ext cx="164592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4526280" y="3520440"/>
            <a:ext cx="173736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carefully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6263640" y="3520440"/>
            <a:ext cx="182880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8092440" y="3520440"/>
            <a:ext cx="123444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9326880" y="3520440"/>
            <a:ext cx="109728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justify?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1234440" y="4251960"/>
            <a:ext cx="4206240" cy="50292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comparison protocol identical across rows.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60720" y="4251960"/>
            <a:ext cx="42062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hide failure modes behind one aggregate score.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" y="6172200"/>
            <a:ext cx="10241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fair comparison table is a decision tool, not only a leaderboard.</a:t>
            </a:r>
            <a:endParaRPr lang="en-US" sz="1230" dirty="0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F09FFD99-865C-1D5D-A298-66AF1B3773D2}"/>
              </a:ext>
            </a:extLst>
          </p:cNvPr>
          <p:cNvSpPr txBox="1"/>
          <p:nvPr/>
        </p:nvSpPr>
        <p:spPr>
          <a:xfrm>
            <a:off x="3044456" y="5166360"/>
            <a:ext cx="6103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predicts ordinary levels reasonably but misses sudden spikes.</a:t>
            </a: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094F2EBF-4645-B097-0B01-9304D861361F}"/>
              </a:ext>
            </a:extLst>
          </p:cNvPr>
          <p:cNvCxnSpPr/>
          <p:nvPr/>
        </p:nvCxnSpPr>
        <p:spPr>
          <a:xfrm flipV="1">
            <a:off x="4104167" y="2514600"/>
            <a:ext cx="935666" cy="2716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E8C5303C-D35A-447D-31D2-D53FAB94E898}"/>
              </a:ext>
            </a:extLst>
          </p:cNvPr>
          <p:cNvSpPr txBox="1"/>
          <p:nvPr/>
        </p:nvSpPr>
        <p:spPr>
          <a:xfrm>
            <a:off x="4764556" y="5560779"/>
            <a:ext cx="61030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performance may be strong overall, but failure behaviour is less transparent and should be checked across regimes, entities, rare events, etc.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012B9D2-AAB8-BC6D-2930-95E249405A8D}"/>
              </a:ext>
            </a:extLst>
          </p:cNvPr>
          <p:cNvCxnSpPr/>
          <p:nvPr/>
        </p:nvCxnSpPr>
        <p:spPr>
          <a:xfrm flipH="1" flipV="1">
            <a:off x="5394960" y="3872909"/>
            <a:ext cx="365760" cy="1656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5CF9FC-7425-316F-0940-205162118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engineered representations to learned representations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D1076B-BEC4-0614-ADAA-69D4F1B69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 far, temporal information has been introduced manually.</a:t>
            </a:r>
          </a:p>
          <a:p>
            <a:r>
              <a:rPr lang="en-GB" dirty="0"/>
              <a:t>We selected:</a:t>
            </a:r>
          </a:p>
          <a:p>
            <a:pPr lvl="1"/>
            <a:r>
              <a:rPr lang="en-GB" dirty="0"/>
              <a:t>lag positions; </a:t>
            </a:r>
          </a:p>
          <a:p>
            <a:pPr lvl="1"/>
            <a:r>
              <a:rPr lang="en-GB" dirty="0"/>
              <a:t>window lengths; </a:t>
            </a:r>
          </a:p>
          <a:p>
            <a:pPr lvl="1"/>
            <a:r>
              <a:rPr lang="en-GB" dirty="0"/>
              <a:t>rolling statistics; </a:t>
            </a:r>
          </a:p>
          <a:p>
            <a:pPr lvl="1"/>
            <a:r>
              <a:rPr lang="en-GB" dirty="0"/>
              <a:t>trend descriptors; </a:t>
            </a:r>
          </a:p>
          <a:p>
            <a:pPr lvl="1"/>
            <a:r>
              <a:rPr lang="en-GB" dirty="0"/>
              <a:t>frequency bands; </a:t>
            </a:r>
          </a:p>
          <a:p>
            <a:pPr lvl="1"/>
            <a:r>
              <a:rPr lang="en-GB" dirty="0"/>
              <a:t>sequence-similarity measures. </a:t>
            </a:r>
          </a:p>
          <a:p>
            <a:r>
              <a:rPr lang="en-GB" dirty="0"/>
              <a:t>The predictive model then operated on the resulting representation.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559136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17D9C2-2562-0971-A095-85979948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engineered representations to learned representations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66051F-A80F-8D58-B05E-55FCBEB55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Feature-based approach</a:t>
            </a:r>
          </a:p>
          <a:p>
            <a:r>
              <a:rPr lang="en-GB" dirty="0"/>
              <a:t>raw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human-designed temporal representation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conventional model</a:t>
            </a:r>
          </a:p>
          <a:p>
            <a:r>
              <a:rPr lang="en-GB" b="1" dirty="0"/>
              <a:t>Next step</a:t>
            </a:r>
          </a:p>
          <a:p>
            <a:r>
              <a:rPr lang="en-GB" dirty="0"/>
              <a:t>Can the model learn useful temporal representations directly from the sequence?</a:t>
            </a:r>
          </a:p>
          <a:p>
            <a:r>
              <a:rPr lang="en-GB" dirty="0"/>
              <a:t>raw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learned temporal representation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prediction</a:t>
            </a:r>
          </a:p>
          <a:p>
            <a:r>
              <a:rPr lang="en-GB" dirty="0"/>
              <a:t>This is the motivation for </a:t>
            </a:r>
            <a:r>
              <a:rPr lang="en-GB" b="1" dirty="0"/>
              <a:t>recurrent neural networks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914479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48288" y="0"/>
            <a:ext cx="740664" cy="6858000"/>
          </a:xfrm>
          <a:prstGeom prst="rect">
            <a:avLst/>
          </a:prstGeom>
          <a:solidFill>
            <a:srgbClr val="8DC63F">
              <a:alpha val="95000"/>
            </a:srgbClr>
          </a:solidFill>
          <a:ln w="12700">
            <a:solidFill>
              <a:srgbClr val="8DC6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201400" y="0"/>
            <a:ext cx="246888" cy="6858000"/>
          </a:xfrm>
          <a:prstGeom prst="rect">
            <a:avLst/>
          </a:prstGeom>
          <a:solidFill>
            <a:srgbClr val="65A30D">
              <a:alpha val="80000"/>
            </a:srgbClr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engineered representations to learned representations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76656" y="960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transition motivates recurrent and convolutional temporal models.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Feature-based approach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2356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learning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1554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sequence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07792" y="2377440"/>
            <a:ext cx="685800" cy="310896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703320" y="2148840"/>
            <a:ext cx="1371600" cy="77724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human-designed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3246120"/>
            <a:ext cx="685800" cy="310896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971800" y="3154680"/>
            <a:ext cx="137160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3F6212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48840" y="4251960"/>
            <a:ext cx="685800" cy="310896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971800" y="4160520"/>
            <a:ext cx="1371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1554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sequence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90688" y="2377440"/>
            <a:ext cx="685800" cy="310896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577072" y="2148840"/>
            <a:ext cx="137160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learns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representation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995160" y="3520440"/>
            <a:ext cx="685800" cy="310896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818120" y="3410712"/>
            <a:ext cx="1371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074920"/>
            <a:ext cx="4160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choose lags, windows, statistics, bands.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15000" y="5074920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learns useful internal features from data.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6172200"/>
            <a:ext cx="10241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recurrent models process a sequence progressively and maintain an internal representation of history.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Sfaccettatura</Template>
  <TotalTime>3541</TotalTime>
  <Words>13660</Words>
  <Application>Microsoft Office PowerPoint</Application>
  <PresentationFormat>Widescreen</PresentationFormat>
  <Paragraphs>2555</Paragraphs>
  <Slides>168</Slides>
  <Notes>50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168</vt:i4>
      </vt:variant>
    </vt:vector>
  </HeadingPairs>
  <TitlesOfParts>
    <vt:vector size="175" baseType="lpstr">
      <vt:lpstr>Aptos</vt:lpstr>
      <vt:lpstr>Aptos Display</vt:lpstr>
      <vt:lpstr>Arial</vt:lpstr>
      <vt:lpstr>Courier New</vt:lpstr>
      <vt:lpstr>Trebuchet MS</vt:lpstr>
      <vt:lpstr>Wingdings 3</vt:lpstr>
      <vt:lpstr>Sfaccettatura</vt:lpstr>
      <vt:lpstr>Lecture 3 — Traditional Baselines and Feature-Based Machine Learning</vt:lpstr>
      <vt:lpstr>Outline</vt:lpstr>
      <vt:lpstr>A performance number needs a reference</vt:lpstr>
      <vt:lpstr>Presentazione standard di PowerPoint</vt:lpstr>
      <vt:lpstr>What is a baseline?</vt:lpstr>
      <vt:lpstr>What is a baseline?</vt:lpstr>
      <vt:lpstr>A hierarchy of model complexity</vt:lpstr>
      <vt:lpstr>Presentazione standard di PowerPoint</vt:lpstr>
      <vt:lpstr>Why this hierarchy</vt:lpstr>
      <vt:lpstr>Baselines are also diagnostic tools</vt:lpstr>
      <vt:lpstr>Presentazione standard di PowerPoint</vt:lpstr>
      <vt:lpstr>Block 3.B — Forecasting Baselines </vt:lpstr>
      <vt:lpstr>Constant baselines</vt:lpstr>
      <vt:lpstr>Presentazione standard di PowerPoint</vt:lpstr>
      <vt:lpstr>Persistence or last-value forecasting</vt:lpstr>
      <vt:lpstr>Examples</vt:lpstr>
      <vt:lpstr>Presentazione standard di PowerPoint</vt:lpstr>
      <vt:lpstr>Drift baseline</vt:lpstr>
      <vt:lpstr>Drift baseline</vt:lpstr>
      <vt:lpstr>Presentazione standard di PowerPoint</vt:lpstr>
      <vt:lpstr>Seasonal naïve forecasting</vt:lpstr>
      <vt:lpstr>Presentazione standard di PowerPoint</vt:lpstr>
      <vt:lpstr>Persistence and seasonal naïve answer different questions</vt:lpstr>
      <vt:lpstr>Presentazione standard di PowerPoint</vt:lpstr>
      <vt:lpstr>Moving-average forecasting</vt:lpstr>
      <vt:lpstr>Exponential smoothing</vt:lpstr>
      <vt:lpstr>Why is this useful? </vt:lpstr>
      <vt:lpstr>Presentazione standard di PowerPoint</vt:lpstr>
      <vt:lpstr>Linear autoregressive forecasting</vt:lpstr>
      <vt:lpstr>Presentazione standard di PowerPoint</vt:lpstr>
      <vt:lpstr>Multivariate linear forecasting</vt:lpstr>
      <vt:lpstr>Multivariate linear forecasting – still only linear</vt:lpstr>
      <vt:lpstr>Presentazione standard di PowerPoint</vt:lpstr>
      <vt:lpstr>Positioning AR, ARIMA and related models</vt:lpstr>
      <vt:lpstr>ARIMA</vt:lpstr>
      <vt:lpstr>Presentazione standard di PowerPoint</vt:lpstr>
      <vt:lpstr>Block 3.C — Temporal Feature Engineering</vt:lpstr>
      <vt:lpstr>From a temporal window to a feature vector – feature engineering</vt:lpstr>
      <vt:lpstr>Example</vt:lpstr>
      <vt:lpstr>Presentazione standard di PowerPoint</vt:lpstr>
      <vt:lpstr>Two main strategies: preserve positions or summarize the window</vt:lpstr>
      <vt:lpstr>Strategy 2 — Summarize an interval</vt:lpstr>
      <vt:lpstr>Presentazione standard di PowerPoint</vt:lpstr>
      <vt:lpstr>Lag features</vt:lpstr>
      <vt:lpstr>Lag features</vt:lpstr>
      <vt:lpstr>Presentazione standard di PowerPoint</vt:lpstr>
      <vt:lpstr>Differences and rates of change</vt:lpstr>
      <vt:lpstr>Example</vt:lpstr>
      <vt:lpstr>Presentazione standard di PowerPoint</vt:lpstr>
      <vt:lpstr>Statistical features over a window</vt:lpstr>
      <vt:lpstr>Statistical features over a window</vt:lpstr>
      <vt:lpstr>Presentazione standard di PowerPoint</vt:lpstr>
      <vt:lpstr>Trend features</vt:lpstr>
      <vt:lpstr>Multi-scale trend </vt:lpstr>
      <vt:lpstr>Presentazione standard di PowerPoint</vt:lpstr>
      <vt:lpstr>Rolling features and multiple temporal scales</vt:lpstr>
      <vt:lpstr>Presentazione standard di PowerPoint</vt:lpstr>
      <vt:lpstr>Presentazione standard di PowerPoint</vt:lpstr>
      <vt:lpstr>Autocorrelation: repeated patterns within one signal</vt:lpstr>
      <vt:lpstr>Autocorrelation: repeated patterns within one signal</vt:lpstr>
      <vt:lpstr>Presentazione standard di PowerPoint</vt:lpstr>
      <vt:lpstr>Cross-correlation: delayed relationships between variables</vt:lpstr>
      <vt:lpstr>Cross-correlation: delayed relationships between variables</vt:lpstr>
      <vt:lpstr>Presentazione standard di PowerPoint</vt:lpstr>
      <vt:lpstr>Static and contextual features can complement temporal features</vt:lpstr>
      <vt:lpstr>Static and contextual features can complement temporal features</vt:lpstr>
      <vt:lpstr>Presentazione standard di PowerPoint</vt:lpstr>
      <vt:lpstr>Feature engineering introduces design choices</vt:lpstr>
      <vt:lpstr>Block 3.D — Frequency-Domain Features</vt:lpstr>
      <vt:lpstr>Why move from time to frequency?</vt:lpstr>
      <vt:lpstr>Applications</vt:lpstr>
      <vt:lpstr>Presentazione standard di PowerPoint</vt:lpstr>
      <vt:lpstr>A signal can be represented as a combination of frequencies</vt:lpstr>
      <vt:lpstr>Presentazione standard di PowerPoint</vt:lpstr>
      <vt:lpstr>Fourier transform: conceptual role</vt:lpstr>
      <vt:lpstr>Typical workflow </vt:lpstr>
      <vt:lpstr>Sampling frequency gives physical meaning to the spectrum</vt:lpstr>
      <vt:lpstr>Presentazione standard di PowerPoint</vt:lpstr>
      <vt:lpstr>Frequency resolution depends on window duration</vt:lpstr>
      <vt:lpstr>Frequency resolution depends on window duration</vt:lpstr>
      <vt:lpstr>Presentazione standard di PowerPoint</vt:lpstr>
      <vt:lpstr>Spectral features – feature engineering</vt:lpstr>
      <vt:lpstr>Spectral features</vt:lpstr>
      <vt:lpstr>Presentazione standard di PowerPoint</vt:lpstr>
      <vt:lpstr>Example: vibration-based condition monitoring</vt:lpstr>
      <vt:lpstr>Example: vibration-based condition monitoring</vt:lpstr>
      <vt:lpstr>Presentazione standard di PowerPoint</vt:lpstr>
      <vt:lpstr>Spectral features require careful preprocessing</vt:lpstr>
      <vt:lpstr>Spectral features require careful preprocessing</vt:lpstr>
      <vt:lpstr>Hann / Hamming window</vt:lpstr>
      <vt:lpstr>Presentazione standard di PowerPoint</vt:lpstr>
      <vt:lpstr>Time-domain and frequency-domain features are complementary</vt:lpstr>
      <vt:lpstr>Time-domain and frequency-domain features are complementary</vt:lpstr>
      <vt:lpstr>Limits of manual temporal representations</vt:lpstr>
      <vt:lpstr>Limits of manual temporal representations</vt:lpstr>
      <vt:lpstr>Block 3.E — Conventional Supervised Models over Temporal Features</vt:lpstr>
      <vt:lpstr>After feature extraction, the problem becomes tabular</vt:lpstr>
      <vt:lpstr>After feature extraction, the problem becomes tabular</vt:lpstr>
      <vt:lpstr>Presentazione standard di PowerPoint</vt:lpstr>
      <vt:lpstr>Linear regression as a strong baseline</vt:lpstr>
      <vt:lpstr>Linear regression as a strong baseline</vt:lpstr>
      <vt:lpstr>Presentazione standard di PowerPoint</vt:lpstr>
      <vt:lpstr>Why regularization is useful with temporal features</vt:lpstr>
      <vt:lpstr>A good baseline: regularized linear regression</vt:lpstr>
      <vt:lpstr>Presentazione standard di PowerPoint</vt:lpstr>
      <vt:lpstr>Logistic regression for temporal classification</vt:lpstr>
      <vt:lpstr>Logistic regression for temporal classification</vt:lpstr>
      <vt:lpstr>Presentazione standard di PowerPoint</vt:lpstr>
      <vt:lpstr>Decision trees capture nonlinear rules</vt:lpstr>
      <vt:lpstr>Decision trees capture nonlinear rules</vt:lpstr>
      <vt:lpstr>Presentazione standard di PowerPoint</vt:lpstr>
      <vt:lpstr>Random forests</vt:lpstr>
      <vt:lpstr>Random forests</vt:lpstr>
      <vt:lpstr>Gradient boosting</vt:lpstr>
      <vt:lpstr>Gradient boosting</vt:lpstr>
      <vt:lpstr>Gradient boosting</vt:lpstr>
      <vt:lpstr>Presentazione standard di PowerPoint</vt:lpstr>
      <vt:lpstr>Tree models do not automatically understand time</vt:lpstr>
      <vt:lpstr>Regression model comparison</vt:lpstr>
      <vt:lpstr>Presentazione standard di PowerPoint</vt:lpstr>
      <vt:lpstr>Classification model comparison</vt:lpstr>
      <vt:lpstr>What should we compare besides predictive performance?</vt:lpstr>
      <vt:lpstr>Engineering interpretation</vt:lpstr>
      <vt:lpstr>Block 3.F — Sequence Similarity and Dynamic Time Warping</vt:lpstr>
      <vt:lpstr>An alternative approach: compare complete sequences</vt:lpstr>
      <vt:lpstr>Euclidean distance requires temporal alignment</vt:lpstr>
      <vt:lpstr>Euclidean distance requires temporal alignment</vt:lpstr>
      <vt:lpstr>Presentazione standard di PowerPoint</vt:lpstr>
      <vt:lpstr>Temporal deformation</vt:lpstr>
      <vt:lpstr>Desired comparison </vt:lpstr>
      <vt:lpstr>Dynamic Time Warping</vt:lpstr>
      <vt:lpstr>Presentazione standard di PowerPoint</vt:lpstr>
      <vt:lpstr>The DTW cost matrix</vt:lpstr>
      <vt:lpstr>The DTW cost matrix</vt:lpstr>
      <vt:lpstr>Presentazione standard di PowerPoint</vt:lpstr>
      <vt:lpstr>Euclidean alignment vs DTW alignment</vt:lpstr>
      <vt:lpstr>Example</vt:lpstr>
      <vt:lpstr>Presentazione standard di PowerPoint</vt:lpstr>
      <vt:lpstr>DTW with nearest-neighbour classification</vt:lpstr>
      <vt:lpstr>DTW with nearest-neighbour classification</vt:lpstr>
      <vt:lpstr>Presentazione standard di PowerPoint</vt:lpstr>
      <vt:lpstr>Limitations of Dynamic Time Warping</vt:lpstr>
      <vt:lpstr>Limitations of Dynamic Time Warping</vt:lpstr>
      <vt:lpstr>Feature-based models vs sequence-distance methods</vt:lpstr>
      <vt:lpstr>Feature-based models vs sequence-distance methods</vt:lpstr>
      <vt:lpstr>Presentazione standard di PowerPoint</vt:lpstr>
      <vt:lpstr>What have classical methods taught us?</vt:lpstr>
      <vt:lpstr>Block 3.G — Fair Baseline Comparison</vt:lpstr>
      <vt:lpstr>A baseline comparison must be fair</vt:lpstr>
      <vt:lpstr>Presentazione standard di PowerPoint</vt:lpstr>
      <vt:lpstr>Compare against the strongest credible simple baseline</vt:lpstr>
      <vt:lpstr>Compare against the strongest credible simple baseline</vt:lpstr>
      <vt:lpstr>Presentazione standard di PowerPoint</vt:lpstr>
      <vt:lpstr>Separate gains from information, representation and model complexity</vt:lpstr>
      <vt:lpstr>Presentazione standard di PowerPoint</vt:lpstr>
      <vt:lpstr>Compare models using more than one predictive metric</vt:lpstr>
      <vt:lpstr>Compare models using more than one predictive metric</vt:lpstr>
      <vt:lpstr>Presentazione standard di PowerPoint</vt:lpstr>
      <vt:lpstr>Predictive improvement must be weighed against complexity</vt:lpstr>
      <vt:lpstr>Predictive improvement must be weighed against complexity</vt:lpstr>
      <vt:lpstr>Presentazione standard di PowerPoint</vt:lpstr>
      <vt:lpstr>The baseline ladder as an experimental protocol</vt:lpstr>
      <vt:lpstr>The baseline ladder as an experimental protocol</vt:lpstr>
      <vt:lpstr>Presentazione standard di PowerPoint</vt:lpstr>
      <vt:lpstr>Presentazione standard di PowerPoint</vt:lpstr>
      <vt:lpstr>From engineered representations to learned representations</vt:lpstr>
      <vt:lpstr>From engineered representations to learned representations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Bellotti</dc:creator>
  <cp:lastModifiedBy>Francesco Bellotti</cp:lastModifiedBy>
  <cp:revision>1</cp:revision>
  <dcterms:created xsi:type="dcterms:W3CDTF">2026-08-10T17:37:41Z</dcterms:created>
  <dcterms:modified xsi:type="dcterms:W3CDTF">2026-10-22T09:12:40Z</dcterms:modified>
</cp:coreProperties>
</file>