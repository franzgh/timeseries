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7" r:id="rId12"/>
    <p:sldId id="265" r:id="rId13"/>
    <p:sldId id="266" r:id="rId14"/>
    <p:sldId id="269" r:id="rId15"/>
    <p:sldId id="271" r:id="rId16"/>
    <p:sldId id="393" r:id="rId17"/>
    <p:sldId id="277" r:id="rId18"/>
    <p:sldId id="270" r:id="rId19"/>
    <p:sldId id="272" r:id="rId20"/>
    <p:sldId id="274" r:id="rId21"/>
    <p:sldId id="275" r:id="rId22"/>
    <p:sldId id="276" r:id="rId23"/>
    <p:sldId id="278" r:id="rId24"/>
    <p:sldId id="283" r:id="rId25"/>
    <p:sldId id="279" r:id="rId26"/>
    <p:sldId id="285" r:id="rId27"/>
    <p:sldId id="280" r:id="rId28"/>
    <p:sldId id="286" r:id="rId29"/>
    <p:sldId id="281" r:id="rId30"/>
    <p:sldId id="282" r:id="rId31"/>
    <p:sldId id="284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3" r:id="rId48"/>
    <p:sldId id="302" r:id="rId49"/>
    <p:sldId id="309" r:id="rId50"/>
    <p:sldId id="308" r:id="rId51"/>
    <p:sldId id="305" r:id="rId52"/>
    <p:sldId id="306" r:id="rId53"/>
    <p:sldId id="310" r:id="rId54"/>
    <p:sldId id="312" r:id="rId55"/>
    <p:sldId id="311" r:id="rId56"/>
    <p:sldId id="314" r:id="rId57"/>
    <p:sldId id="313" r:id="rId58"/>
    <p:sldId id="315" r:id="rId59"/>
    <p:sldId id="316" r:id="rId60"/>
    <p:sldId id="317" r:id="rId61"/>
    <p:sldId id="318" r:id="rId62"/>
    <p:sldId id="320" r:id="rId63"/>
    <p:sldId id="319" r:id="rId64"/>
    <p:sldId id="321" r:id="rId65"/>
    <p:sldId id="322" r:id="rId66"/>
    <p:sldId id="323" r:id="rId67"/>
    <p:sldId id="324" r:id="rId68"/>
    <p:sldId id="325" r:id="rId69"/>
    <p:sldId id="333" r:id="rId70"/>
    <p:sldId id="326" r:id="rId71"/>
    <p:sldId id="327" r:id="rId72"/>
    <p:sldId id="336" r:id="rId73"/>
    <p:sldId id="337" r:id="rId74"/>
    <p:sldId id="328" r:id="rId75"/>
    <p:sldId id="338" r:id="rId76"/>
    <p:sldId id="339" r:id="rId77"/>
    <p:sldId id="329" r:id="rId78"/>
    <p:sldId id="340" r:id="rId79"/>
    <p:sldId id="341" r:id="rId80"/>
    <p:sldId id="342" r:id="rId81"/>
    <p:sldId id="330" r:id="rId82"/>
    <p:sldId id="343" r:id="rId83"/>
    <p:sldId id="344" r:id="rId84"/>
    <p:sldId id="331" r:id="rId85"/>
    <p:sldId id="332" r:id="rId86"/>
    <p:sldId id="360" r:id="rId87"/>
    <p:sldId id="361" r:id="rId88"/>
    <p:sldId id="362" r:id="rId89"/>
    <p:sldId id="345" r:id="rId90"/>
    <p:sldId id="363" r:id="rId91"/>
    <p:sldId id="364" r:id="rId92"/>
    <p:sldId id="346" r:id="rId93"/>
    <p:sldId id="365" r:id="rId94"/>
    <p:sldId id="366" r:id="rId95"/>
    <p:sldId id="347" r:id="rId96"/>
    <p:sldId id="367" r:id="rId97"/>
    <p:sldId id="368" r:id="rId98"/>
    <p:sldId id="348" r:id="rId99"/>
    <p:sldId id="369" r:id="rId100"/>
    <p:sldId id="370" r:id="rId101"/>
    <p:sldId id="349" r:id="rId102"/>
    <p:sldId id="371" r:id="rId103"/>
    <p:sldId id="372" r:id="rId104"/>
    <p:sldId id="350" r:id="rId105"/>
    <p:sldId id="373" r:id="rId106"/>
    <p:sldId id="374" r:id="rId107"/>
    <p:sldId id="351" r:id="rId108"/>
    <p:sldId id="375" r:id="rId109"/>
    <p:sldId id="376" r:id="rId110"/>
    <p:sldId id="377" r:id="rId111"/>
    <p:sldId id="352" r:id="rId112"/>
    <p:sldId id="378" r:id="rId113"/>
    <p:sldId id="379" r:id="rId114"/>
    <p:sldId id="353" r:id="rId115"/>
    <p:sldId id="380" r:id="rId116"/>
    <p:sldId id="354" r:id="rId117"/>
    <p:sldId id="381" r:id="rId118"/>
    <p:sldId id="382" r:id="rId119"/>
    <p:sldId id="355" r:id="rId120"/>
    <p:sldId id="383" r:id="rId121"/>
    <p:sldId id="384" r:id="rId122"/>
    <p:sldId id="356" r:id="rId123"/>
    <p:sldId id="385" r:id="rId124"/>
    <p:sldId id="386" r:id="rId125"/>
    <p:sldId id="357" r:id="rId126"/>
    <p:sldId id="387" r:id="rId127"/>
    <p:sldId id="388" r:id="rId128"/>
    <p:sldId id="389" r:id="rId129"/>
    <p:sldId id="391" r:id="rId130"/>
    <p:sldId id="390" r:id="rId131"/>
    <p:sldId id="359" r:id="rId132"/>
    <p:sldId id="392" r:id="rId1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5251E5-F056-4E86-84F4-82E1CA8483BD}" v="3" dt="2026-09-29T21:36:29.8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90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notesMaster" Target="notesMasters/notesMaster1.xml"/><Relationship Id="rId139" Type="http://schemas.microsoft.com/office/2016/11/relationships/changesInfo" Target="changesInfos/changesInfo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presProps" Target="pres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esco Bellotti" userId="f453232b-f87d-4756-9d8b-c09bc835cc42" providerId="ADAL" clId="{C7FEA3FA-4936-41E1-B7FA-CA082069F7F7}"/>
    <pc:docChg chg="undo redo custSel addSld delSld modSld sldOrd">
      <pc:chgData name="Francesco Bellotti" userId="f453232b-f87d-4756-9d8b-c09bc835cc42" providerId="ADAL" clId="{C7FEA3FA-4936-41E1-B7FA-CA082069F7F7}" dt="2026-09-30T09:54:57.538" v="3814" actId="20577"/>
      <pc:docMkLst>
        <pc:docMk/>
      </pc:docMkLst>
      <pc:sldChg chg="addSp modSp add mod modClrScheme chgLayout">
        <pc:chgData name="Francesco Bellotti" userId="f453232b-f87d-4756-9d8b-c09bc835cc42" providerId="ADAL" clId="{C7FEA3FA-4936-41E1-B7FA-CA082069F7F7}" dt="2026-09-26T07:26:34.616" v="2996" actId="113"/>
        <pc:sldMkLst>
          <pc:docMk/>
          <pc:sldMk cId="2608934375" sldId="261"/>
        </pc:sldMkLst>
        <pc:spChg chg="add mod">
          <ac:chgData name="Francesco Bellotti" userId="f453232b-f87d-4756-9d8b-c09bc835cc42" providerId="ADAL" clId="{C7FEA3FA-4936-41E1-B7FA-CA082069F7F7}" dt="2026-09-26T07:26:34.616" v="2996" actId="113"/>
          <ac:spMkLst>
            <pc:docMk/>
            <pc:sldMk cId="2608934375" sldId="261"/>
            <ac:spMk id="6" creationId="{AE7E1E1B-A4C3-52C6-D4ED-ECC9C6DD801F}"/>
          </ac:spMkLst>
        </pc:spChg>
      </pc:sldChg>
      <pc:sldChg chg="modSp mod">
        <pc:chgData name="Francesco Bellotti" userId="f453232b-f87d-4756-9d8b-c09bc835cc42" providerId="ADAL" clId="{C7FEA3FA-4936-41E1-B7FA-CA082069F7F7}" dt="2026-09-26T07:29:02.884" v="2997" actId="113"/>
        <pc:sldMkLst>
          <pc:docMk/>
          <pc:sldMk cId="215129994" sldId="264"/>
        </pc:sldMkLst>
        <pc:spChg chg="mod">
          <ac:chgData name="Francesco Bellotti" userId="f453232b-f87d-4756-9d8b-c09bc835cc42" providerId="ADAL" clId="{C7FEA3FA-4936-41E1-B7FA-CA082069F7F7}" dt="2026-09-26T07:29:02.884" v="2997" actId="113"/>
          <ac:spMkLst>
            <pc:docMk/>
            <pc:sldMk cId="215129994" sldId="264"/>
            <ac:spMk id="5" creationId="{B3590F3F-3D76-986E-1D3C-E6D9B2171227}"/>
          </ac:spMkLst>
        </pc:spChg>
      </pc:sldChg>
      <pc:sldChg chg="modSp mod">
        <pc:chgData name="Francesco Bellotti" userId="f453232b-f87d-4756-9d8b-c09bc835cc42" providerId="ADAL" clId="{C7FEA3FA-4936-41E1-B7FA-CA082069F7F7}" dt="2026-09-26T07:35:04.242" v="3037" actId="1076"/>
        <pc:sldMkLst>
          <pc:docMk/>
          <pc:sldMk cId="1596537873" sldId="266"/>
        </pc:sldMkLst>
        <pc:spChg chg="mod">
          <ac:chgData name="Francesco Bellotti" userId="f453232b-f87d-4756-9d8b-c09bc835cc42" providerId="ADAL" clId="{C7FEA3FA-4936-41E1-B7FA-CA082069F7F7}" dt="2026-09-26T07:34:32.595" v="2999" actId="13926"/>
          <ac:spMkLst>
            <pc:docMk/>
            <pc:sldMk cId="1596537873" sldId="266"/>
            <ac:spMk id="2" creationId="{786BA461-CB9F-6998-3BBF-ED6AC829C112}"/>
          </ac:spMkLst>
        </pc:spChg>
        <pc:spChg chg="mod">
          <ac:chgData name="Francesco Bellotti" userId="f453232b-f87d-4756-9d8b-c09bc835cc42" providerId="ADAL" clId="{C7FEA3FA-4936-41E1-B7FA-CA082069F7F7}" dt="2026-09-26T07:35:04.242" v="3037" actId="1076"/>
          <ac:spMkLst>
            <pc:docMk/>
            <pc:sldMk cId="1596537873" sldId="266"/>
            <ac:spMk id="5" creationId="{D52739A5-1915-2FC1-FB6B-F730417D9AA4}"/>
          </ac:spMkLst>
        </pc:spChg>
      </pc:sldChg>
      <pc:sldChg chg="delSp modSp mod">
        <pc:chgData name="Francesco Bellotti" userId="f453232b-f87d-4756-9d8b-c09bc835cc42" providerId="ADAL" clId="{C7FEA3FA-4936-41E1-B7FA-CA082069F7F7}" dt="2026-09-26T07:45:45.605" v="3145" actId="1076"/>
        <pc:sldMkLst>
          <pc:docMk/>
          <pc:sldMk cId="0" sldId="267"/>
        </pc:sldMkLst>
        <pc:spChg chg="mod">
          <ac:chgData name="Francesco Bellotti" userId="f453232b-f87d-4756-9d8b-c09bc835cc42" providerId="ADAL" clId="{C7FEA3FA-4936-41E1-B7FA-CA082069F7F7}" dt="2026-09-26T07:39:20.876" v="3062" actId="20577"/>
          <ac:spMkLst>
            <pc:docMk/>
            <pc:sldMk cId="0" sldId="267"/>
            <ac:spMk id="5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09-26T07:39:31.031" v="3068" actId="20577"/>
          <ac:spMkLst>
            <pc:docMk/>
            <pc:sldMk cId="0" sldId="267"/>
            <ac:spMk id="8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09-26T07:38:59.010" v="3055" actId="20577"/>
          <ac:spMkLst>
            <pc:docMk/>
            <pc:sldMk cId="0" sldId="267"/>
            <ac:spMk id="9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09-26T07:41:46.229" v="3142" actId="20577"/>
          <ac:spMkLst>
            <pc:docMk/>
            <pc:sldMk cId="0" sldId="267"/>
            <ac:spMk id="10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09-26T07:39:58.276" v="3082" actId="20577"/>
          <ac:spMkLst>
            <pc:docMk/>
            <pc:sldMk cId="0" sldId="267"/>
            <ac:spMk id="12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09-26T07:40:51.561" v="3115" actId="108"/>
          <ac:spMkLst>
            <pc:docMk/>
            <pc:sldMk cId="0" sldId="267"/>
            <ac:spMk id="13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09-26T07:45:45.605" v="3145" actId="1076"/>
          <ac:spMkLst>
            <pc:docMk/>
            <pc:sldMk cId="0" sldId="267"/>
            <ac:spMk id="19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09-26T07:32:22.983" v="2998" actId="13926"/>
        <pc:sldMkLst>
          <pc:docMk/>
          <pc:sldMk cId="408847610" sldId="268"/>
        </pc:sldMkLst>
        <pc:spChg chg="mod">
          <ac:chgData name="Francesco Bellotti" userId="f453232b-f87d-4756-9d8b-c09bc835cc42" providerId="ADAL" clId="{C7FEA3FA-4936-41E1-B7FA-CA082069F7F7}" dt="2026-09-26T07:32:22.983" v="2998" actId="13926"/>
          <ac:spMkLst>
            <pc:docMk/>
            <pc:sldMk cId="408847610" sldId="268"/>
            <ac:spMk id="2" creationId="{998F8472-C187-245C-4398-F14703226910}"/>
          </ac:spMkLst>
        </pc:spChg>
      </pc:sldChg>
      <pc:sldChg chg="modSp mod">
        <pc:chgData name="Francesco Bellotti" userId="f453232b-f87d-4756-9d8b-c09bc835cc42" providerId="ADAL" clId="{C7FEA3FA-4936-41E1-B7FA-CA082069F7F7}" dt="2026-09-29T13:35:38.388" v="3297" actId="20577"/>
        <pc:sldMkLst>
          <pc:docMk/>
          <pc:sldMk cId="3001009413" sldId="272"/>
        </pc:sldMkLst>
        <pc:spChg chg="mod">
          <ac:chgData name="Francesco Bellotti" userId="f453232b-f87d-4756-9d8b-c09bc835cc42" providerId="ADAL" clId="{C7FEA3FA-4936-41E1-B7FA-CA082069F7F7}" dt="2026-09-29T13:35:38.388" v="3297" actId="20577"/>
          <ac:spMkLst>
            <pc:docMk/>
            <pc:sldMk cId="3001009413" sldId="272"/>
            <ac:spMk id="3" creationId="{893486D6-1BF0-62E3-349C-81867CD6AC52}"/>
          </ac:spMkLst>
        </pc:spChg>
        <pc:spChg chg="mod">
          <ac:chgData name="Francesco Bellotti" userId="f453232b-f87d-4756-9d8b-c09bc835cc42" providerId="ADAL" clId="{C7FEA3FA-4936-41E1-B7FA-CA082069F7F7}" dt="2026-09-29T13:35:36.586" v="3287" actId="27636"/>
          <ac:spMkLst>
            <pc:docMk/>
            <pc:sldMk cId="3001009413" sldId="272"/>
            <ac:spMk id="4" creationId="{2B910CA8-4EF2-F522-FD89-B5F549015F45}"/>
          </ac:spMkLst>
        </pc:spChg>
      </pc:sldChg>
      <pc:sldChg chg="delSp modSp mod">
        <pc:chgData name="Francesco Bellotti" userId="f453232b-f87d-4756-9d8b-c09bc835cc42" providerId="ADAL" clId="{C7FEA3FA-4936-41E1-B7FA-CA082069F7F7}" dt="2026-09-26T07:37:18.767" v="3040" actId="478"/>
        <pc:sldMkLst>
          <pc:docMk/>
          <pc:sldMk cId="0" sldId="274"/>
        </pc:sldMkLst>
        <pc:spChg chg="mod">
          <ac:chgData name="Francesco Bellotti" userId="f453232b-f87d-4756-9d8b-c09bc835cc42" providerId="ADAL" clId="{C7FEA3FA-4936-41E1-B7FA-CA082069F7F7}" dt="2026-09-26T07:37:05.650" v="3038" actId="13926"/>
          <ac:spMkLst>
            <pc:docMk/>
            <pc:sldMk cId="0" sldId="274"/>
            <ac:spMk id="2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09-29T13:32:02.930" v="3265" actId="13926"/>
        <pc:sldMkLst>
          <pc:docMk/>
          <pc:sldMk cId="161817233" sldId="277"/>
        </pc:sldMkLst>
        <pc:spChg chg="mod">
          <ac:chgData name="Francesco Bellotti" userId="f453232b-f87d-4756-9d8b-c09bc835cc42" providerId="ADAL" clId="{C7FEA3FA-4936-41E1-B7FA-CA082069F7F7}" dt="2026-09-29T13:32:02.930" v="3265" actId="13926"/>
          <ac:spMkLst>
            <pc:docMk/>
            <pc:sldMk cId="161817233" sldId="277"/>
            <ac:spMk id="2" creationId="{6D420A5A-DA6A-D044-CECE-D21B22A78C87}"/>
          </ac:spMkLst>
        </pc:spChg>
      </pc:sldChg>
      <pc:sldChg chg="modSp mod">
        <pc:chgData name="Francesco Bellotti" userId="f453232b-f87d-4756-9d8b-c09bc835cc42" providerId="ADAL" clId="{C7FEA3FA-4936-41E1-B7FA-CA082069F7F7}" dt="2026-09-29T13:47:53.305" v="3313" actId="13926"/>
        <pc:sldMkLst>
          <pc:docMk/>
          <pc:sldMk cId="712260758" sldId="278"/>
        </pc:sldMkLst>
        <pc:spChg chg="mod">
          <ac:chgData name="Francesco Bellotti" userId="f453232b-f87d-4756-9d8b-c09bc835cc42" providerId="ADAL" clId="{C7FEA3FA-4936-41E1-B7FA-CA082069F7F7}" dt="2026-09-29T13:47:53.305" v="3313" actId="13926"/>
          <ac:spMkLst>
            <pc:docMk/>
            <pc:sldMk cId="712260758" sldId="278"/>
            <ac:spMk id="5" creationId="{B0175DD0-3633-475C-61B0-C37C3A2D4A80}"/>
          </ac:spMkLst>
        </pc:spChg>
        <pc:spChg chg="mod">
          <ac:chgData name="Francesco Bellotti" userId="f453232b-f87d-4756-9d8b-c09bc835cc42" providerId="ADAL" clId="{C7FEA3FA-4936-41E1-B7FA-CA082069F7F7}" dt="2026-09-29T13:44:17.990" v="3311" actId="13926"/>
          <ac:spMkLst>
            <pc:docMk/>
            <pc:sldMk cId="712260758" sldId="278"/>
            <ac:spMk id="11" creationId="{6740CCEE-15C6-CEBC-9E58-2BE26600DCB2}"/>
          </ac:spMkLst>
        </pc:spChg>
      </pc:sldChg>
      <pc:sldChg chg="modSp mod">
        <pc:chgData name="Francesco Bellotti" userId="f453232b-f87d-4756-9d8b-c09bc835cc42" providerId="ADAL" clId="{C7FEA3FA-4936-41E1-B7FA-CA082069F7F7}" dt="2026-09-29T13:47:42.656" v="3312" actId="13926"/>
        <pc:sldMkLst>
          <pc:docMk/>
          <pc:sldMk cId="94951094" sldId="279"/>
        </pc:sldMkLst>
        <pc:spChg chg="mod">
          <ac:chgData name="Francesco Bellotti" userId="f453232b-f87d-4756-9d8b-c09bc835cc42" providerId="ADAL" clId="{C7FEA3FA-4936-41E1-B7FA-CA082069F7F7}" dt="2026-09-29T13:47:42.656" v="3312" actId="13926"/>
          <ac:spMkLst>
            <pc:docMk/>
            <pc:sldMk cId="94951094" sldId="279"/>
            <ac:spMk id="2" creationId="{11F33A2B-6F61-E117-6164-9DA99AB8D4B8}"/>
          </ac:spMkLst>
        </pc:spChg>
        <pc:spChg chg="mod">
          <ac:chgData name="Francesco Bellotti" userId="f453232b-f87d-4756-9d8b-c09bc835cc42" providerId="ADAL" clId="{C7FEA3FA-4936-41E1-B7FA-CA082069F7F7}" dt="2026-09-29T13:39:21.011" v="3306" actId="27636"/>
          <ac:spMkLst>
            <pc:docMk/>
            <pc:sldMk cId="94951094" sldId="279"/>
            <ac:spMk id="3" creationId="{FA21292D-7750-A922-B24D-0739146BA6DA}"/>
          </ac:spMkLst>
        </pc:spChg>
      </pc:sldChg>
      <pc:sldChg chg="modSp mod">
        <pc:chgData name="Francesco Bellotti" userId="f453232b-f87d-4756-9d8b-c09bc835cc42" providerId="ADAL" clId="{C7FEA3FA-4936-41E1-B7FA-CA082069F7F7}" dt="2026-09-29T13:48:54.593" v="3314" actId="13926"/>
        <pc:sldMkLst>
          <pc:docMk/>
          <pc:sldMk cId="1350899058" sldId="280"/>
        </pc:sldMkLst>
        <pc:spChg chg="mod">
          <ac:chgData name="Francesco Bellotti" userId="f453232b-f87d-4756-9d8b-c09bc835cc42" providerId="ADAL" clId="{C7FEA3FA-4936-41E1-B7FA-CA082069F7F7}" dt="2026-09-29T13:48:54.593" v="3314" actId="13926"/>
          <ac:spMkLst>
            <pc:docMk/>
            <pc:sldMk cId="1350899058" sldId="280"/>
            <ac:spMk id="2" creationId="{0CB414ED-BB5C-0145-9DBC-164F4E53A947}"/>
          </ac:spMkLst>
        </pc:spChg>
      </pc:sldChg>
      <pc:sldChg chg="modSp mod">
        <pc:chgData name="Francesco Bellotti" userId="f453232b-f87d-4756-9d8b-c09bc835cc42" providerId="ADAL" clId="{C7FEA3FA-4936-41E1-B7FA-CA082069F7F7}" dt="2026-09-29T13:54:03.003" v="3321" actId="13926"/>
        <pc:sldMkLst>
          <pc:docMk/>
          <pc:sldMk cId="3655954673" sldId="281"/>
        </pc:sldMkLst>
        <pc:spChg chg="mod">
          <ac:chgData name="Francesco Bellotti" userId="f453232b-f87d-4756-9d8b-c09bc835cc42" providerId="ADAL" clId="{C7FEA3FA-4936-41E1-B7FA-CA082069F7F7}" dt="2026-09-29T13:54:03.003" v="3321" actId="13926"/>
          <ac:spMkLst>
            <pc:docMk/>
            <pc:sldMk cId="3655954673" sldId="281"/>
            <ac:spMk id="5" creationId="{52F7B10D-0778-A7EB-D208-468608BC17A5}"/>
          </ac:spMkLst>
        </pc:spChg>
      </pc:sldChg>
      <pc:sldChg chg="modSp mod">
        <pc:chgData name="Francesco Bellotti" userId="f453232b-f87d-4756-9d8b-c09bc835cc42" providerId="ADAL" clId="{C7FEA3FA-4936-41E1-B7FA-CA082069F7F7}" dt="2026-09-29T13:54:19.103" v="3322" actId="113"/>
        <pc:sldMkLst>
          <pc:docMk/>
          <pc:sldMk cId="1618340024" sldId="282"/>
        </pc:sldMkLst>
        <pc:spChg chg="mod">
          <ac:chgData name="Francesco Bellotti" userId="f453232b-f87d-4756-9d8b-c09bc835cc42" providerId="ADAL" clId="{C7FEA3FA-4936-41E1-B7FA-CA082069F7F7}" dt="2026-09-29T13:54:19.103" v="3322" actId="113"/>
          <ac:spMkLst>
            <pc:docMk/>
            <pc:sldMk cId="1618340024" sldId="282"/>
            <ac:spMk id="3" creationId="{2A7362DA-FF66-6F1C-1539-980A8717B5E6}"/>
          </ac:spMkLst>
        </pc:spChg>
      </pc:sldChg>
      <pc:sldChg chg="modSp mod">
        <pc:chgData name="Francesco Bellotti" userId="f453232b-f87d-4756-9d8b-c09bc835cc42" providerId="ADAL" clId="{C7FEA3FA-4936-41E1-B7FA-CA082069F7F7}" dt="2026-09-29T13:38:56.026" v="3304" actId="13926"/>
        <pc:sldMkLst>
          <pc:docMk/>
          <pc:sldMk cId="0" sldId="283"/>
        </pc:sldMkLst>
        <pc:spChg chg="mod">
          <ac:chgData name="Francesco Bellotti" userId="f453232b-f87d-4756-9d8b-c09bc835cc42" providerId="ADAL" clId="{C7FEA3FA-4936-41E1-B7FA-CA082069F7F7}" dt="2026-09-29T13:38:56.026" v="3304" actId="13926"/>
          <ac:spMkLst>
            <pc:docMk/>
            <pc:sldMk cId="0" sldId="283"/>
            <ac:spMk id="19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09-29T13:52:26.252" v="3320" actId="13926"/>
        <pc:sldMkLst>
          <pc:docMk/>
          <pc:sldMk cId="3645586870" sldId="286"/>
        </pc:sldMkLst>
        <pc:spChg chg="mod">
          <ac:chgData name="Francesco Bellotti" userId="f453232b-f87d-4756-9d8b-c09bc835cc42" providerId="ADAL" clId="{C7FEA3FA-4936-41E1-B7FA-CA082069F7F7}" dt="2026-09-29T13:52:09.254" v="3319" actId="13926"/>
          <ac:spMkLst>
            <pc:docMk/>
            <pc:sldMk cId="3645586870" sldId="286"/>
            <ac:spMk id="2" creationId="{086B255C-49FC-4431-9A79-AF5480A5BB36}"/>
          </ac:spMkLst>
        </pc:spChg>
        <pc:spChg chg="mod">
          <ac:chgData name="Francesco Bellotti" userId="f453232b-f87d-4756-9d8b-c09bc835cc42" providerId="ADAL" clId="{C7FEA3FA-4936-41E1-B7FA-CA082069F7F7}" dt="2026-09-29T13:52:05.185" v="3318" actId="13926"/>
          <ac:spMkLst>
            <pc:docMk/>
            <pc:sldMk cId="3645586870" sldId="286"/>
            <ac:spMk id="3" creationId="{C03E1C8D-B4C9-352B-81AE-3C09AF546944}"/>
          </ac:spMkLst>
        </pc:spChg>
        <pc:spChg chg="mod">
          <ac:chgData name="Francesco Bellotti" userId="f453232b-f87d-4756-9d8b-c09bc835cc42" providerId="ADAL" clId="{C7FEA3FA-4936-41E1-B7FA-CA082069F7F7}" dt="2026-09-29T13:52:26.252" v="3320" actId="13926"/>
          <ac:spMkLst>
            <pc:docMk/>
            <pc:sldMk cId="3645586870" sldId="286"/>
            <ac:spMk id="4" creationId="{4970E1A8-2256-F5C8-5F21-B9133ED8E323}"/>
          </ac:spMkLst>
        </pc:spChg>
      </pc:sldChg>
      <pc:sldChg chg="modSp mod">
        <pc:chgData name="Francesco Bellotti" userId="f453232b-f87d-4756-9d8b-c09bc835cc42" providerId="ADAL" clId="{C7FEA3FA-4936-41E1-B7FA-CA082069F7F7}" dt="2026-09-29T14:00:10.398" v="3326" actId="1076"/>
        <pc:sldMkLst>
          <pc:docMk/>
          <pc:sldMk cId="1059697871" sldId="288"/>
        </pc:sldMkLst>
        <pc:spChg chg="mod">
          <ac:chgData name="Francesco Bellotti" userId="f453232b-f87d-4756-9d8b-c09bc835cc42" providerId="ADAL" clId="{C7FEA3FA-4936-41E1-B7FA-CA082069F7F7}" dt="2026-09-29T13:58:39.405" v="3323" actId="13926"/>
          <ac:spMkLst>
            <pc:docMk/>
            <pc:sldMk cId="1059697871" sldId="288"/>
            <ac:spMk id="2" creationId="{AFF7A6CB-1B18-C757-BF7F-9BFA0CF60305}"/>
          </ac:spMkLst>
        </pc:spChg>
        <pc:spChg chg="mod">
          <ac:chgData name="Francesco Bellotti" userId="f453232b-f87d-4756-9d8b-c09bc835cc42" providerId="ADAL" clId="{C7FEA3FA-4936-41E1-B7FA-CA082069F7F7}" dt="2026-09-29T14:00:03.950" v="3325" actId="27636"/>
          <ac:spMkLst>
            <pc:docMk/>
            <pc:sldMk cId="1059697871" sldId="288"/>
            <ac:spMk id="3" creationId="{FA2FDDCC-D6D2-843F-A194-703E481E978A}"/>
          </ac:spMkLst>
        </pc:spChg>
        <pc:spChg chg="mod">
          <ac:chgData name="Francesco Bellotti" userId="f453232b-f87d-4756-9d8b-c09bc835cc42" providerId="ADAL" clId="{C7FEA3FA-4936-41E1-B7FA-CA082069F7F7}" dt="2026-09-29T14:00:10.398" v="3326" actId="1076"/>
          <ac:spMkLst>
            <pc:docMk/>
            <pc:sldMk cId="1059697871" sldId="288"/>
            <ac:spMk id="5" creationId="{DA151D5A-6761-FFEA-C968-B48577FB1EC1}"/>
          </ac:spMkLst>
        </pc:spChg>
      </pc:sldChg>
      <pc:sldChg chg="addSp modSp mod">
        <pc:chgData name="Francesco Bellotti" userId="f453232b-f87d-4756-9d8b-c09bc835cc42" providerId="ADAL" clId="{C7FEA3FA-4936-41E1-B7FA-CA082069F7F7}" dt="2026-09-29T14:00:26.392" v="3328" actId="14100"/>
        <pc:sldMkLst>
          <pc:docMk/>
          <pc:sldMk cId="2674289005" sldId="289"/>
        </pc:sldMkLst>
        <pc:cxnChg chg="add mod">
          <ac:chgData name="Francesco Bellotti" userId="f453232b-f87d-4756-9d8b-c09bc835cc42" providerId="ADAL" clId="{C7FEA3FA-4936-41E1-B7FA-CA082069F7F7}" dt="2026-09-29T14:00:26.392" v="3328" actId="14100"/>
          <ac:cxnSpMkLst>
            <pc:docMk/>
            <pc:sldMk cId="2674289005" sldId="289"/>
            <ac:cxnSpMk id="5" creationId="{DDD1A258-08D1-A33B-0BB8-B237176BC254}"/>
          </ac:cxnSpMkLst>
        </pc:cxnChg>
      </pc:sldChg>
      <pc:sldChg chg="modSp mod">
        <pc:chgData name="Francesco Bellotti" userId="f453232b-f87d-4756-9d8b-c09bc835cc42" providerId="ADAL" clId="{C7FEA3FA-4936-41E1-B7FA-CA082069F7F7}" dt="2026-09-29T14:03:41.716" v="3329" actId="13926"/>
        <pc:sldMkLst>
          <pc:docMk/>
          <pc:sldMk cId="3088732508" sldId="290"/>
        </pc:sldMkLst>
        <pc:spChg chg="mod">
          <ac:chgData name="Francesco Bellotti" userId="f453232b-f87d-4756-9d8b-c09bc835cc42" providerId="ADAL" clId="{C7FEA3FA-4936-41E1-B7FA-CA082069F7F7}" dt="2026-09-29T14:03:41.716" v="3329" actId="13926"/>
          <ac:spMkLst>
            <pc:docMk/>
            <pc:sldMk cId="3088732508" sldId="290"/>
            <ac:spMk id="2" creationId="{5E111CCB-A7D1-F9E5-D33E-AF02243F4985}"/>
          </ac:spMkLst>
        </pc:spChg>
      </pc:sldChg>
      <pc:sldChg chg="modSp mod">
        <pc:chgData name="Francesco Bellotti" userId="f453232b-f87d-4756-9d8b-c09bc835cc42" providerId="ADAL" clId="{C7FEA3FA-4936-41E1-B7FA-CA082069F7F7}" dt="2026-09-29T14:04:18.515" v="3332" actId="13926"/>
        <pc:sldMkLst>
          <pc:docMk/>
          <pc:sldMk cId="4265597144" sldId="292"/>
        </pc:sldMkLst>
        <pc:spChg chg="mod">
          <ac:chgData name="Francesco Bellotti" userId="f453232b-f87d-4756-9d8b-c09bc835cc42" providerId="ADAL" clId="{C7FEA3FA-4936-41E1-B7FA-CA082069F7F7}" dt="2026-09-29T14:04:18.515" v="3332" actId="13926"/>
          <ac:spMkLst>
            <pc:docMk/>
            <pc:sldMk cId="4265597144" sldId="292"/>
            <ac:spMk id="5" creationId="{4F4CF2C7-7F1B-F144-171D-21F66835BFD6}"/>
          </ac:spMkLst>
        </pc:spChg>
        <pc:spChg chg="mod">
          <ac:chgData name="Francesco Bellotti" userId="f453232b-f87d-4756-9d8b-c09bc835cc42" providerId="ADAL" clId="{C7FEA3FA-4936-41E1-B7FA-CA082069F7F7}" dt="2026-09-29T14:03:55.992" v="3330" actId="13926"/>
          <ac:spMkLst>
            <pc:docMk/>
            <pc:sldMk cId="4265597144" sldId="292"/>
            <ac:spMk id="7" creationId="{CE4E5581-CE8F-589E-3A62-08478587C4C0}"/>
          </ac:spMkLst>
        </pc:spChg>
      </pc:sldChg>
      <pc:sldChg chg="addSp modSp mod">
        <pc:chgData name="Francesco Bellotti" userId="f453232b-f87d-4756-9d8b-c09bc835cc42" providerId="ADAL" clId="{C7FEA3FA-4936-41E1-B7FA-CA082069F7F7}" dt="2026-09-29T14:05:55.845" v="3361" actId="14100"/>
        <pc:sldMkLst>
          <pc:docMk/>
          <pc:sldMk cId="2690102184" sldId="295"/>
        </pc:sldMkLst>
        <pc:spChg chg="add mod">
          <ac:chgData name="Francesco Bellotti" userId="f453232b-f87d-4756-9d8b-c09bc835cc42" providerId="ADAL" clId="{C7FEA3FA-4936-41E1-B7FA-CA082069F7F7}" dt="2026-09-29T14:05:40.753" v="3357" actId="207"/>
          <ac:spMkLst>
            <pc:docMk/>
            <pc:sldMk cId="2690102184" sldId="295"/>
            <ac:spMk id="2" creationId="{88472032-3A18-70A9-E01D-6D157F5FE879}"/>
          </ac:spMkLst>
        </pc:spChg>
        <pc:spChg chg="add mod">
          <ac:chgData name="Francesco Bellotti" userId="f453232b-f87d-4756-9d8b-c09bc835cc42" providerId="ADAL" clId="{C7FEA3FA-4936-41E1-B7FA-CA082069F7F7}" dt="2026-09-29T14:05:55.845" v="3361" actId="14100"/>
          <ac:spMkLst>
            <pc:docMk/>
            <pc:sldMk cId="2690102184" sldId="295"/>
            <ac:spMk id="4" creationId="{BA6A31BA-82AF-5DA7-0726-25C1E692E042}"/>
          </ac:spMkLst>
        </pc:spChg>
        <pc:picChg chg="mod">
          <ac:chgData name="Francesco Bellotti" userId="f453232b-f87d-4756-9d8b-c09bc835cc42" providerId="ADAL" clId="{C7FEA3FA-4936-41E1-B7FA-CA082069F7F7}" dt="2026-09-29T14:05:17.837" v="3334" actId="14100"/>
          <ac:picMkLst>
            <pc:docMk/>
            <pc:sldMk cId="2690102184" sldId="295"/>
            <ac:picMk id="5" creationId="{5A95AFAF-CF8E-2B81-CE0D-F2DFCB76FDE0}"/>
          </ac:picMkLst>
        </pc:picChg>
      </pc:sldChg>
      <pc:sldChg chg="modSp mod">
        <pc:chgData name="Francesco Bellotti" userId="f453232b-f87d-4756-9d8b-c09bc835cc42" providerId="ADAL" clId="{C7FEA3FA-4936-41E1-B7FA-CA082069F7F7}" dt="2026-09-29T14:10:08.505" v="3379" actId="113"/>
        <pc:sldMkLst>
          <pc:docMk/>
          <pc:sldMk cId="3742223137" sldId="296"/>
        </pc:sldMkLst>
        <pc:spChg chg="mod">
          <ac:chgData name="Francesco Bellotti" userId="f453232b-f87d-4756-9d8b-c09bc835cc42" providerId="ADAL" clId="{C7FEA3FA-4936-41E1-B7FA-CA082069F7F7}" dt="2026-09-29T14:08:42.275" v="3367" actId="20577"/>
          <ac:spMkLst>
            <pc:docMk/>
            <pc:sldMk cId="3742223137" sldId="296"/>
            <ac:spMk id="2" creationId="{1BCBCF50-11F9-2AFD-6679-147E05E2D8AC}"/>
          </ac:spMkLst>
        </pc:spChg>
        <pc:spChg chg="mod">
          <ac:chgData name="Francesco Bellotti" userId="f453232b-f87d-4756-9d8b-c09bc835cc42" providerId="ADAL" clId="{C7FEA3FA-4936-41E1-B7FA-CA082069F7F7}" dt="2026-09-29T14:10:08.505" v="3379" actId="113"/>
          <ac:spMkLst>
            <pc:docMk/>
            <pc:sldMk cId="3742223137" sldId="296"/>
            <ac:spMk id="3" creationId="{B82DE71E-8650-A287-E68C-EE1084602908}"/>
          </ac:spMkLst>
        </pc:spChg>
      </pc:sldChg>
      <pc:sldChg chg="modSp mod">
        <pc:chgData name="Francesco Bellotti" userId="f453232b-f87d-4756-9d8b-c09bc835cc42" providerId="ADAL" clId="{C7FEA3FA-4936-41E1-B7FA-CA082069F7F7}" dt="2026-09-29T14:10:26.744" v="3380" actId="113"/>
        <pc:sldMkLst>
          <pc:docMk/>
          <pc:sldMk cId="1435297251" sldId="297"/>
        </pc:sldMkLst>
        <pc:spChg chg="mod">
          <ac:chgData name="Francesco Bellotti" userId="f453232b-f87d-4756-9d8b-c09bc835cc42" providerId="ADAL" clId="{C7FEA3FA-4936-41E1-B7FA-CA082069F7F7}" dt="2026-09-29T14:08:47.719" v="3370" actId="20577"/>
          <ac:spMkLst>
            <pc:docMk/>
            <pc:sldMk cId="1435297251" sldId="297"/>
            <ac:spMk id="2" creationId="{AEA70AC5-9A81-F4C8-9F4C-7249297C782D}"/>
          </ac:spMkLst>
        </pc:spChg>
        <pc:spChg chg="mod">
          <ac:chgData name="Francesco Bellotti" userId="f453232b-f87d-4756-9d8b-c09bc835cc42" providerId="ADAL" clId="{C7FEA3FA-4936-41E1-B7FA-CA082069F7F7}" dt="2026-09-29T14:10:26.744" v="3380" actId="113"/>
          <ac:spMkLst>
            <pc:docMk/>
            <pc:sldMk cId="1435297251" sldId="297"/>
            <ac:spMk id="3" creationId="{8BCF5D63-D6E5-2123-F998-E619F7BC78AE}"/>
          </ac:spMkLst>
        </pc:spChg>
      </pc:sldChg>
      <pc:sldChg chg="modSp mod">
        <pc:chgData name="Francesco Bellotti" userId="f453232b-f87d-4756-9d8b-c09bc835cc42" providerId="ADAL" clId="{C7FEA3FA-4936-41E1-B7FA-CA082069F7F7}" dt="2026-09-29T14:10:36.870" v="3381" actId="113"/>
        <pc:sldMkLst>
          <pc:docMk/>
          <pc:sldMk cId="4017843637" sldId="298"/>
        </pc:sldMkLst>
        <pc:spChg chg="mod">
          <ac:chgData name="Francesco Bellotti" userId="f453232b-f87d-4756-9d8b-c09bc835cc42" providerId="ADAL" clId="{C7FEA3FA-4936-41E1-B7FA-CA082069F7F7}" dt="2026-09-29T14:08:53.758" v="3375" actId="20577"/>
          <ac:spMkLst>
            <pc:docMk/>
            <pc:sldMk cId="4017843637" sldId="298"/>
            <ac:spMk id="2" creationId="{9FEBF538-F079-D7CD-10BD-3F87DF628341}"/>
          </ac:spMkLst>
        </pc:spChg>
        <pc:spChg chg="mod">
          <ac:chgData name="Francesco Bellotti" userId="f453232b-f87d-4756-9d8b-c09bc835cc42" providerId="ADAL" clId="{C7FEA3FA-4936-41E1-B7FA-CA082069F7F7}" dt="2026-09-29T14:10:36.870" v="3381" actId="113"/>
          <ac:spMkLst>
            <pc:docMk/>
            <pc:sldMk cId="4017843637" sldId="298"/>
            <ac:spMk id="3" creationId="{181D4A97-1A58-71F2-F0E3-A4788DE81F38}"/>
          </ac:spMkLst>
        </pc:spChg>
      </pc:sldChg>
      <pc:sldChg chg="modSp mod">
        <pc:chgData name="Francesco Bellotti" userId="f453232b-f87d-4756-9d8b-c09bc835cc42" providerId="ADAL" clId="{C7FEA3FA-4936-41E1-B7FA-CA082069F7F7}" dt="2026-09-29T14:07:11.810" v="3364" actId="113"/>
        <pc:sldMkLst>
          <pc:docMk/>
          <pc:sldMk cId="1254105013" sldId="299"/>
        </pc:sldMkLst>
        <pc:spChg chg="mod">
          <ac:chgData name="Francesco Bellotti" userId="f453232b-f87d-4756-9d8b-c09bc835cc42" providerId="ADAL" clId="{C7FEA3FA-4936-41E1-B7FA-CA082069F7F7}" dt="2026-09-29T14:07:11.810" v="3364" actId="113"/>
          <ac:spMkLst>
            <pc:docMk/>
            <pc:sldMk cId="1254105013" sldId="299"/>
            <ac:spMk id="6" creationId="{5A43A90B-484E-9B90-98FE-4FF588C5DC24}"/>
          </ac:spMkLst>
        </pc:spChg>
        <pc:graphicFrameChg chg="modGraphic">
          <ac:chgData name="Francesco Bellotti" userId="f453232b-f87d-4756-9d8b-c09bc835cc42" providerId="ADAL" clId="{C7FEA3FA-4936-41E1-B7FA-CA082069F7F7}" dt="2026-09-29T14:07:01.590" v="3363" actId="13926"/>
          <ac:graphicFrameMkLst>
            <pc:docMk/>
            <pc:sldMk cId="1254105013" sldId="299"/>
            <ac:graphicFrameMk id="4" creationId="{DB65BD03-1E35-539B-BE5C-9079423D3598}"/>
          </ac:graphicFrameMkLst>
        </pc:graphicFrameChg>
      </pc:sldChg>
      <pc:sldChg chg="modSp mod">
        <pc:chgData name="Francesco Bellotti" userId="f453232b-f87d-4756-9d8b-c09bc835cc42" providerId="ADAL" clId="{C7FEA3FA-4936-41E1-B7FA-CA082069F7F7}" dt="2026-09-29T14:13:05.734" v="3383" actId="13926"/>
        <pc:sldMkLst>
          <pc:docMk/>
          <pc:sldMk cId="2045886616" sldId="300"/>
        </pc:sldMkLst>
        <pc:spChg chg="mod">
          <ac:chgData name="Francesco Bellotti" userId="f453232b-f87d-4756-9d8b-c09bc835cc42" providerId="ADAL" clId="{C7FEA3FA-4936-41E1-B7FA-CA082069F7F7}" dt="2026-09-29T14:11:23.124" v="3382" actId="113"/>
          <ac:spMkLst>
            <pc:docMk/>
            <pc:sldMk cId="2045886616" sldId="300"/>
            <ac:spMk id="5" creationId="{385D4F02-0453-0E69-F5D1-7F8C1F7C3F0D}"/>
          </ac:spMkLst>
        </pc:spChg>
        <pc:spChg chg="mod">
          <ac:chgData name="Francesco Bellotti" userId="f453232b-f87d-4756-9d8b-c09bc835cc42" providerId="ADAL" clId="{C7FEA3FA-4936-41E1-B7FA-CA082069F7F7}" dt="2026-09-29T14:13:05.734" v="3383" actId="13926"/>
          <ac:spMkLst>
            <pc:docMk/>
            <pc:sldMk cId="2045886616" sldId="300"/>
            <ac:spMk id="7" creationId="{8823A9E3-0FA4-17D6-B823-52E6D62963D7}"/>
          </ac:spMkLst>
        </pc:spChg>
      </pc:sldChg>
      <pc:sldChg chg="modSp mod">
        <pc:chgData name="Francesco Bellotti" userId="f453232b-f87d-4756-9d8b-c09bc835cc42" providerId="ADAL" clId="{C7FEA3FA-4936-41E1-B7FA-CA082069F7F7}" dt="2026-09-29T14:14:28.053" v="3384" actId="13926"/>
        <pc:sldMkLst>
          <pc:docMk/>
          <pc:sldMk cId="131188606" sldId="302"/>
        </pc:sldMkLst>
        <pc:spChg chg="mod">
          <ac:chgData name="Francesco Bellotti" userId="f453232b-f87d-4756-9d8b-c09bc835cc42" providerId="ADAL" clId="{C7FEA3FA-4936-41E1-B7FA-CA082069F7F7}" dt="2026-09-29T14:14:28.053" v="3384" actId="13926"/>
          <ac:spMkLst>
            <pc:docMk/>
            <pc:sldMk cId="131188606" sldId="302"/>
            <ac:spMk id="3" creationId="{7D29C7B5-918A-883B-4345-8DC9AD479653}"/>
          </ac:spMkLst>
        </pc:spChg>
      </pc:sldChg>
      <pc:sldChg chg="modSp mod">
        <pc:chgData name="Francesco Bellotti" userId="f453232b-f87d-4756-9d8b-c09bc835cc42" providerId="ADAL" clId="{C7FEA3FA-4936-41E1-B7FA-CA082069F7F7}" dt="2026-09-29T14:15:09.209" v="3386" actId="13926"/>
        <pc:sldMkLst>
          <pc:docMk/>
          <pc:sldMk cId="699906372" sldId="305"/>
        </pc:sldMkLst>
        <pc:spChg chg="mod">
          <ac:chgData name="Francesco Bellotti" userId="f453232b-f87d-4756-9d8b-c09bc835cc42" providerId="ADAL" clId="{C7FEA3FA-4936-41E1-B7FA-CA082069F7F7}" dt="2026-09-29T14:15:09.209" v="3386" actId="13926"/>
          <ac:spMkLst>
            <pc:docMk/>
            <pc:sldMk cId="699906372" sldId="305"/>
            <ac:spMk id="3" creationId="{51906C21-3375-3014-5CF5-D6BAC06824E0}"/>
          </ac:spMkLst>
        </pc:spChg>
      </pc:sldChg>
      <pc:sldChg chg="modSp mod">
        <pc:chgData name="Francesco Bellotti" userId="f453232b-f87d-4756-9d8b-c09bc835cc42" providerId="ADAL" clId="{C7FEA3FA-4936-41E1-B7FA-CA082069F7F7}" dt="2026-09-29T14:22:25.414" v="3387" actId="13926"/>
        <pc:sldMkLst>
          <pc:docMk/>
          <pc:sldMk cId="272200457" sldId="310"/>
        </pc:sldMkLst>
        <pc:spChg chg="mod">
          <ac:chgData name="Francesco Bellotti" userId="f453232b-f87d-4756-9d8b-c09bc835cc42" providerId="ADAL" clId="{C7FEA3FA-4936-41E1-B7FA-CA082069F7F7}" dt="2026-09-29T14:22:25.414" v="3387" actId="13926"/>
          <ac:spMkLst>
            <pc:docMk/>
            <pc:sldMk cId="272200457" sldId="310"/>
            <ac:spMk id="3" creationId="{047C2D86-52E5-ED4C-61BF-C796D0C916F0}"/>
          </ac:spMkLst>
        </pc:spChg>
      </pc:sldChg>
      <pc:sldChg chg="modSp mod">
        <pc:chgData name="Francesco Bellotti" userId="f453232b-f87d-4756-9d8b-c09bc835cc42" providerId="ADAL" clId="{C7FEA3FA-4936-41E1-B7FA-CA082069F7F7}" dt="2026-09-29T14:24:28.208" v="3388" actId="113"/>
        <pc:sldMkLst>
          <pc:docMk/>
          <pc:sldMk cId="2732902341" sldId="311"/>
        </pc:sldMkLst>
        <pc:spChg chg="mod">
          <ac:chgData name="Francesco Bellotti" userId="f453232b-f87d-4756-9d8b-c09bc835cc42" providerId="ADAL" clId="{C7FEA3FA-4936-41E1-B7FA-CA082069F7F7}" dt="2026-09-29T14:24:28.208" v="3388" actId="113"/>
          <ac:spMkLst>
            <pc:docMk/>
            <pc:sldMk cId="2732902341" sldId="311"/>
            <ac:spMk id="5" creationId="{5F72DAD7-998A-3F3D-24D3-ACE80A171A34}"/>
          </ac:spMkLst>
        </pc:spChg>
      </pc:sldChg>
      <pc:sldChg chg="modSp mod">
        <pc:chgData name="Francesco Bellotti" userId="f453232b-f87d-4756-9d8b-c09bc835cc42" providerId="ADAL" clId="{C7FEA3FA-4936-41E1-B7FA-CA082069F7F7}" dt="2026-09-29T14:24:47.041" v="3390" actId="13926"/>
        <pc:sldMkLst>
          <pc:docMk/>
          <pc:sldMk cId="1553048853" sldId="314"/>
        </pc:sldMkLst>
        <pc:spChg chg="mod">
          <ac:chgData name="Francesco Bellotti" userId="f453232b-f87d-4756-9d8b-c09bc835cc42" providerId="ADAL" clId="{C7FEA3FA-4936-41E1-B7FA-CA082069F7F7}" dt="2026-09-29T14:24:40.780" v="3389" actId="113"/>
          <ac:spMkLst>
            <pc:docMk/>
            <pc:sldMk cId="1553048853" sldId="314"/>
            <ac:spMk id="3" creationId="{AF13A499-CA58-536D-111A-6150E85F6F3E}"/>
          </ac:spMkLst>
        </pc:spChg>
        <pc:spChg chg="mod">
          <ac:chgData name="Francesco Bellotti" userId="f453232b-f87d-4756-9d8b-c09bc835cc42" providerId="ADAL" clId="{C7FEA3FA-4936-41E1-B7FA-CA082069F7F7}" dt="2026-09-29T14:24:47.041" v="3390" actId="13926"/>
          <ac:spMkLst>
            <pc:docMk/>
            <pc:sldMk cId="1553048853" sldId="314"/>
            <ac:spMk id="5" creationId="{DB27172A-401D-AD30-5AC2-CD4F470E6C3F}"/>
          </ac:spMkLst>
        </pc:spChg>
      </pc:sldChg>
      <pc:sldChg chg="modSp mod">
        <pc:chgData name="Francesco Bellotti" userId="f453232b-f87d-4756-9d8b-c09bc835cc42" providerId="ADAL" clId="{C7FEA3FA-4936-41E1-B7FA-CA082069F7F7}" dt="2026-09-29T14:26:11.332" v="3392" actId="113"/>
        <pc:sldMkLst>
          <pc:docMk/>
          <pc:sldMk cId="727140567" sldId="316"/>
        </pc:sldMkLst>
        <pc:spChg chg="mod">
          <ac:chgData name="Francesco Bellotti" userId="f453232b-f87d-4756-9d8b-c09bc835cc42" providerId="ADAL" clId="{C7FEA3FA-4936-41E1-B7FA-CA082069F7F7}" dt="2026-09-29T14:25:44.766" v="3391" actId="13926"/>
          <ac:spMkLst>
            <pc:docMk/>
            <pc:sldMk cId="727140567" sldId="316"/>
            <ac:spMk id="2" creationId="{3EC8ADB6-F572-1030-66BB-DE7C94264F64}"/>
          </ac:spMkLst>
        </pc:spChg>
        <pc:spChg chg="mod">
          <ac:chgData name="Francesco Bellotti" userId="f453232b-f87d-4756-9d8b-c09bc835cc42" providerId="ADAL" clId="{C7FEA3FA-4936-41E1-B7FA-CA082069F7F7}" dt="2026-09-29T14:26:11.332" v="3392" actId="113"/>
          <ac:spMkLst>
            <pc:docMk/>
            <pc:sldMk cId="727140567" sldId="316"/>
            <ac:spMk id="5" creationId="{F344DE35-B5E4-3C65-5621-D42C51B5BC54}"/>
          </ac:spMkLst>
        </pc:spChg>
      </pc:sldChg>
      <pc:sldChg chg="modSp mod">
        <pc:chgData name="Francesco Bellotti" userId="f453232b-f87d-4756-9d8b-c09bc835cc42" providerId="ADAL" clId="{C7FEA3FA-4936-41E1-B7FA-CA082069F7F7}" dt="2026-09-29T15:45:37.214" v="3411" actId="14100"/>
        <pc:sldMkLst>
          <pc:docMk/>
          <pc:sldMk cId="3733825347" sldId="318"/>
        </pc:sldMkLst>
        <pc:spChg chg="mod">
          <ac:chgData name="Francesco Bellotti" userId="f453232b-f87d-4756-9d8b-c09bc835cc42" providerId="ADAL" clId="{C7FEA3FA-4936-41E1-B7FA-CA082069F7F7}" dt="2026-09-29T15:45:24.402" v="3408" actId="27636"/>
          <ac:spMkLst>
            <pc:docMk/>
            <pc:sldMk cId="3733825347" sldId="318"/>
            <ac:spMk id="3" creationId="{5656899C-5430-1004-DF55-B383BEB9E577}"/>
          </ac:spMkLst>
        </pc:spChg>
        <pc:spChg chg="mod">
          <ac:chgData name="Francesco Bellotti" userId="f453232b-f87d-4756-9d8b-c09bc835cc42" providerId="ADAL" clId="{C7FEA3FA-4936-41E1-B7FA-CA082069F7F7}" dt="2026-09-29T15:45:37.214" v="3411" actId="14100"/>
          <ac:spMkLst>
            <pc:docMk/>
            <pc:sldMk cId="3733825347" sldId="318"/>
            <ac:spMk id="5" creationId="{680E12C8-36C3-3758-1F24-8A0531D3521E}"/>
          </ac:spMkLst>
        </pc:spChg>
      </pc:sldChg>
      <pc:sldChg chg="addSp modSp mod modClrScheme chgLayout">
        <pc:chgData name="Francesco Bellotti" userId="f453232b-f87d-4756-9d8b-c09bc835cc42" providerId="ADAL" clId="{C7FEA3FA-4936-41E1-B7FA-CA082069F7F7}" dt="2026-09-29T15:49:02.510" v="3420" actId="13926"/>
        <pc:sldMkLst>
          <pc:docMk/>
          <pc:sldMk cId="1887921443" sldId="319"/>
        </pc:sldMkLst>
        <pc:spChg chg="mod ord">
          <ac:chgData name="Francesco Bellotti" userId="f453232b-f87d-4756-9d8b-c09bc835cc42" providerId="ADAL" clId="{C7FEA3FA-4936-41E1-B7FA-CA082069F7F7}" dt="2026-09-29T15:47:44.273" v="3414" actId="700"/>
          <ac:spMkLst>
            <pc:docMk/>
            <pc:sldMk cId="1887921443" sldId="319"/>
            <ac:spMk id="2" creationId="{50AB15A6-2644-50AE-25BA-FDCBBDBFA8DC}"/>
          </ac:spMkLst>
        </pc:spChg>
        <pc:spChg chg="mod ord">
          <ac:chgData name="Francesco Bellotti" userId="f453232b-f87d-4756-9d8b-c09bc835cc42" providerId="ADAL" clId="{C7FEA3FA-4936-41E1-B7FA-CA082069F7F7}" dt="2026-09-29T15:48:43.287" v="3419" actId="13926"/>
          <ac:spMkLst>
            <pc:docMk/>
            <pc:sldMk cId="1887921443" sldId="319"/>
            <ac:spMk id="3" creationId="{60792400-AD6A-C0CB-164E-121C09378817}"/>
          </ac:spMkLst>
        </pc:spChg>
        <pc:spChg chg="add mod ord">
          <ac:chgData name="Francesco Bellotti" userId="f453232b-f87d-4756-9d8b-c09bc835cc42" providerId="ADAL" clId="{C7FEA3FA-4936-41E1-B7FA-CA082069F7F7}" dt="2026-09-29T15:49:02.510" v="3420" actId="13926"/>
          <ac:spMkLst>
            <pc:docMk/>
            <pc:sldMk cId="1887921443" sldId="319"/>
            <ac:spMk id="4" creationId="{278A06C3-895A-3840-08EA-641E13940978}"/>
          </ac:spMkLst>
        </pc:spChg>
      </pc:sldChg>
      <pc:sldChg chg="modSp mod">
        <pc:chgData name="Francesco Bellotti" userId="f453232b-f87d-4756-9d8b-c09bc835cc42" providerId="ADAL" clId="{C7FEA3FA-4936-41E1-B7FA-CA082069F7F7}" dt="2026-09-29T15:49:38.256" v="3421" actId="13926"/>
        <pc:sldMkLst>
          <pc:docMk/>
          <pc:sldMk cId="1908122426" sldId="321"/>
        </pc:sldMkLst>
        <pc:spChg chg="mod">
          <ac:chgData name="Francesco Bellotti" userId="f453232b-f87d-4756-9d8b-c09bc835cc42" providerId="ADAL" clId="{C7FEA3FA-4936-41E1-B7FA-CA082069F7F7}" dt="2026-09-29T15:49:38.256" v="3421" actId="13926"/>
          <ac:spMkLst>
            <pc:docMk/>
            <pc:sldMk cId="1908122426" sldId="321"/>
            <ac:spMk id="3" creationId="{090D962F-3ECD-F842-F87A-5654D596F3D0}"/>
          </ac:spMkLst>
        </pc:spChg>
      </pc:sldChg>
      <pc:sldChg chg="modSp mod">
        <pc:chgData name="Francesco Bellotti" userId="f453232b-f87d-4756-9d8b-c09bc835cc42" providerId="ADAL" clId="{C7FEA3FA-4936-41E1-B7FA-CA082069F7F7}" dt="2026-09-29T15:51:54.172" v="3423" actId="13926"/>
        <pc:sldMkLst>
          <pc:docMk/>
          <pc:sldMk cId="3312324776" sldId="323"/>
        </pc:sldMkLst>
        <pc:spChg chg="mod">
          <ac:chgData name="Francesco Bellotti" userId="f453232b-f87d-4756-9d8b-c09bc835cc42" providerId="ADAL" clId="{C7FEA3FA-4936-41E1-B7FA-CA082069F7F7}" dt="2026-09-29T15:50:06.382" v="3422" actId="13926"/>
          <ac:spMkLst>
            <pc:docMk/>
            <pc:sldMk cId="3312324776" sldId="323"/>
            <ac:spMk id="2" creationId="{6504FF0E-B70B-6D2A-BEB0-F67DCD459234}"/>
          </ac:spMkLst>
        </pc:spChg>
        <pc:spChg chg="mod">
          <ac:chgData name="Francesco Bellotti" userId="f453232b-f87d-4756-9d8b-c09bc835cc42" providerId="ADAL" clId="{C7FEA3FA-4936-41E1-B7FA-CA082069F7F7}" dt="2026-09-29T15:51:54.172" v="3423" actId="13926"/>
          <ac:spMkLst>
            <pc:docMk/>
            <pc:sldMk cId="3312324776" sldId="323"/>
            <ac:spMk id="3" creationId="{EEED4CCF-9633-C597-439D-8B36AB854F33}"/>
          </ac:spMkLst>
        </pc:spChg>
      </pc:sldChg>
      <pc:sldChg chg="modSp mod">
        <pc:chgData name="Francesco Bellotti" userId="f453232b-f87d-4756-9d8b-c09bc835cc42" providerId="ADAL" clId="{C7FEA3FA-4936-41E1-B7FA-CA082069F7F7}" dt="2026-09-29T15:52:33.145" v="3425" actId="13926"/>
        <pc:sldMkLst>
          <pc:docMk/>
          <pc:sldMk cId="807418789" sldId="324"/>
        </pc:sldMkLst>
        <pc:spChg chg="mod">
          <ac:chgData name="Francesco Bellotti" userId="f453232b-f87d-4756-9d8b-c09bc835cc42" providerId="ADAL" clId="{C7FEA3FA-4936-41E1-B7FA-CA082069F7F7}" dt="2026-09-29T15:52:16.905" v="3424" actId="13926"/>
          <ac:spMkLst>
            <pc:docMk/>
            <pc:sldMk cId="807418789" sldId="324"/>
            <ac:spMk id="3" creationId="{B8A7FCCD-A728-72D1-9E79-E8C0D53DEEA6}"/>
          </ac:spMkLst>
        </pc:spChg>
        <pc:spChg chg="mod">
          <ac:chgData name="Francesco Bellotti" userId="f453232b-f87d-4756-9d8b-c09bc835cc42" providerId="ADAL" clId="{C7FEA3FA-4936-41E1-B7FA-CA082069F7F7}" dt="2026-09-29T15:52:33.145" v="3425" actId="13926"/>
          <ac:spMkLst>
            <pc:docMk/>
            <pc:sldMk cId="807418789" sldId="324"/>
            <ac:spMk id="5" creationId="{3730231F-588B-94C3-AA2A-58E946E4B672}"/>
          </ac:spMkLst>
        </pc:spChg>
      </pc:sldChg>
      <pc:sldChg chg="modSp mod">
        <pc:chgData name="Francesco Bellotti" userId="f453232b-f87d-4756-9d8b-c09bc835cc42" providerId="ADAL" clId="{C7FEA3FA-4936-41E1-B7FA-CA082069F7F7}" dt="2026-09-29T15:53:03.296" v="3427" actId="113"/>
        <pc:sldMkLst>
          <pc:docMk/>
          <pc:sldMk cId="0" sldId="325"/>
        </pc:sldMkLst>
        <pc:spChg chg="mod">
          <ac:chgData name="Francesco Bellotti" userId="f453232b-f87d-4756-9d8b-c09bc835cc42" providerId="ADAL" clId="{C7FEA3FA-4936-41E1-B7FA-CA082069F7F7}" dt="2026-09-29T15:53:03.296" v="3427" actId="113"/>
          <ac:spMkLst>
            <pc:docMk/>
            <pc:sldMk cId="0" sldId="325"/>
            <ac:spMk id="42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09-29T15:53:29.969" v="3430" actId="13926"/>
        <pc:sldMkLst>
          <pc:docMk/>
          <pc:sldMk cId="0" sldId="326"/>
        </pc:sldMkLst>
        <pc:spChg chg="mod">
          <ac:chgData name="Francesco Bellotti" userId="f453232b-f87d-4756-9d8b-c09bc835cc42" providerId="ADAL" clId="{C7FEA3FA-4936-41E1-B7FA-CA082069F7F7}" dt="2026-09-29T15:53:29.969" v="3430" actId="13926"/>
          <ac:spMkLst>
            <pc:docMk/>
            <pc:sldMk cId="0" sldId="326"/>
            <ac:spMk id="5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09-29T15:53:21.237" v="3428" actId="13926"/>
          <ac:spMkLst>
            <pc:docMk/>
            <pc:sldMk cId="0" sldId="326"/>
            <ac:spMk id="19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09-29T15:54:52.695" v="3431" actId="13926"/>
        <pc:sldMkLst>
          <pc:docMk/>
          <pc:sldMk cId="0" sldId="327"/>
        </pc:sldMkLst>
        <pc:spChg chg="mod">
          <ac:chgData name="Francesco Bellotti" userId="f453232b-f87d-4756-9d8b-c09bc835cc42" providerId="ADAL" clId="{C7FEA3FA-4936-41E1-B7FA-CA082069F7F7}" dt="2026-09-29T15:54:52.695" v="3431" actId="13926"/>
          <ac:spMkLst>
            <pc:docMk/>
            <pc:sldMk cId="0" sldId="327"/>
            <ac:spMk id="35" creationId="{138304C1-9E65-7920-5DD9-1B0EEE7B2353}"/>
          </ac:spMkLst>
        </pc:spChg>
      </pc:sldChg>
      <pc:sldChg chg="delSp modSp mod">
        <pc:chgData name="Francesco Bellotti" userId="f453232b-f87d-4756-9d8b-c09bc835cc42" providerId="ADAL" clId="{C7FEA3FA-4936-41E1-B7FA-CA082069F7F7}" dt="2026-09-29T21:01:42.509" v="3441" actId="478"/>
        <pc:sldMkLst>
          <pc:docMk/>
          <pc:sldMk cId="0" sldId="328"/>
        </pc:sldMkLst>
        <pc:spChg chg="del">
          <ac:chgData name="Francesco Bellotti" userId="f453232b-f87d-4756-9d8b-c09bc835cc42" providerId="ADAL" clId="{C7FEA3FA-4936-41E1-B7FA-CA082069F7F7}" dt="2026-09-29T21:01:29.222" v="3438" actId="478"/>
          <ac:spMkLst>
            <pc:docMk/>
            <pc:sldMk cId="0" sldId="328"/>
            <ac:spMk id="9" creationId="{00000000-0000-0000-0000-000000000000}"/>
          </ac:spMkLst>
        </pc:spChg>
        <pc:spChg chg="del mod">
          <ac:chgData name="Francesco Bellotti" userId="f453232b-f87d-4756-9d8b-c09bc835cc42" providerId="ADAL" clId="{C7FEA3FA-4936-41E1-B7FA-CA082069F7F7}" dt="2026-09-29T21:01:42.509" v="3441" actId="478"/>
          <ac:spMkLst>
            <pc:docMk/>
            <pc:sldMk cId="0" sldId="328"/>
            <ac:spMk id="21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09-29T21:01:34.272" v="3439" actId="1076"/>
          <ac:spMkLst>
            <pc:docMk/>
            <pc:sldMk cId="0" sldId="328"/>
            <ac:spMk id="22" creationId="{00000000-0000-0000-0000-000000000000}"/>
          </ac:spMkLst>
        </pc:spChg>
        <pc:spChg chg="del">
          <ac:chgData name="Francesco Bellotti" userId="f453232b-f87d-4756-9d8b-c09bc835cc42" providerId="ADAL" clId="{C7FEA3FA-4936-41E1-B7FA-CA082069F7F7}" dt="2026-09-29T21:01:37.106" v="3440" actId="478"/>
          <ac:spMkLst>
            <pc:docMk/>
            <pc:sldMk cId="0" sldId="328"/>
            <ac:spMk id="23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09-29T21:05:03.702" v="3449" actId="1076"/>
        <pc:sldMkLst>
          <pc:docMk/>
          <pc:sldMk cId="0" sldId="329"/>
        </pc:sldMkLst>
        <pc:spChg chg="mod">
          <ac:chgData name="Francesco Bellotti" userId="f453232b-f87d-4756-9d8b-c09bc835cc42" providerId="ADAL" clId="{C7FEA3FA-4936-41E1-B7FA-CA082069F7F7}" dt="2026-09-29T21:05:03.702" v="3449" actId="1076"/>
          <ac:spMkLst>
            <pc:docMk/>
            <pc:sldMk cId="0" sldId="329"/>
            <ac:spMk id="22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09-29T21:26:55.633" v="3465" actId="13926"/>
        <pc:sldMkLst>
          <pc:docMk/>
          <pc:sldMk cId="0" sldId="330"/>
        </pc:sldMkLst>
        <pc:spChg chg="mod">
          <ac:chgData name="Francesco Bellotti" userId="f453232b-f87d-4756-9d8b-c09bc835cc42" providerId="ADAL" clId="{C7FEA3FA-4936-41E1-B7FA-CA082069F7F7}" dt="2026-09-29T21:26:55.633" v="3465" actId="13926"/>
          <ac:spMkLst>
            <pc:docMk/>
            <pc:sldMk cId="0" sldId="330"/>
            <ac:spMk id="5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09-29T21:36:14.453" v="3472" actId="20577"/>
        <pc:sldMkLst>
          <pc:docMk/>
          <pc:sldMk cId="0" sldId="331"/>
        </pc:sldMkLst>
        <pc:spChg chg="mod">
          <ac:chgData name="Francesco Bellotti" userId="f453232b-f87d-4756-9d8b-c09bc835cc42" providerId="ADAL" clId="{C7FEA3FA-4936-41E1-B7FA-CA082069F7F7}" dt="2026-09-29T21:36:14.453" v="3472" actId="20577"/>
          <ac:spMkLst>
            <pc:docMk/>
            <pc:sldMk cId="0" sldId="331"/>
            <ac:spMk id="34" creationId="{00000000-0000-0000-0000-000000000000}"/>
          </ac:spMkLst>
        </pc:spChg>
      </pc:sldChg>
      <pc:sldChg chg="delSp modSp mod">
        <pc:chgData name="Francesco Bellotti" userId="f453232b-f87d-4756-9d8b-c09bc835cc42" providerId="ADAL" clId="{C7FEA3FA-4936-41E1-B7FA-CA082069F7F7}" dt="2026-09-29T21:50:26.413" v="3481" actId="478"/>
        <pc:sldMkLst>
          <pc:docMk/>
          <pc:sldMk cId="0" sldId="332"/>
        </pc:sldMkLst>
        <pc:spChg chg="del">
          <ac:chgData name="Francesco Bellotti" userId="f453232b-f87d-4756-9d8b-c09bc835cc42" providerId="ADAL" clId="{C7FEA3FA-4936-41E1-B7FA-CA082069F7F7}" dt="2026-09-29T21:50:26.413" v="3481" actId="478"/>
          <ac:spMkLst>
            <pc:docMk/>
            <pc:sldMk cId="0" sldId="332"/>
            <ac:spMk id="5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09-29T21:50:09.426" v="3480" actId="113"/>
          <ac:spMkLst>
            <pc:docMk/>
            <pc:sldMk cId="0" sldId="332"/>
            <ac:spMk id="40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09-29T20:59:21.636" v="3433" actId="13926"/>
        <pc:sldMkLst>
          <pc:docMk/>
          <pc:sldMk cId="4202777754" sldId="337"/>
        </pc:sldMkLst>
        <pc:spChg chg="mod">
          <ac:chgData name="Francesco Bellotti" userId="f453232b-f87d-4756-9d8b-c09bc835cc42" providerId="ADAL" clId="{C7FEA3FA-4936-41E1-B7FA-CA082069F7F7}" dt="2026-09-29T20:59:21.636" v="3433" actId="13926"/>
          <ac:spMkLst>
            <pc:docMk/>
            <pc:sldMk cId="4202777754" sldId="337"/>
            <ac:spMk id="3" creationId="{A3FF4CC1-31E8-AB04-4314-0FF986D14944}"/>
          </ac:spMkLst>
        </pc:spChg>
      </pc:sldChg>
      <pc:sldChg chg="modSp mod">
        <pc:chgData name="Francesco Bellotti" userId="f453232b-f87d-4756-9d8b-c09bc835cc42" providerId="ADAL" clId="{C7FEA3FA-4936-41E1-B7FA-CA082069F7F7}" dt="2026-09-29T21:12:15.698" v="3450" actId="13926"/>
        <pc:sldMkLst>
          <pc:docMk/>
          <pc:sldMk cId="1561408095" sldId="338"/>
        </pc:sldMkLst>
        <pc:spChg chg="mod">
          <ac:chgData name="Francesco Bellotti" userId="f453232b-f87d-4756-9d8b-c09bc835cc42" providerId="ADAL" clId="{C7FEA3FA-4936-41E1-B7FA-CA082069F7F7}" dt="2026-09-29T21:12:15.698" v="3450" actId="13926"/>
          <ac:spMkLst>
            <pc:docMk/>
            <pc:sldMk cId="1561408095" sldId="338"/>
            <ac:spMk id="3" creationId="{9430E99D-EA9D-8D4C-2C2B-3008E07EB79C}"/>
          </ac:spMkLst>
        </pc:spChg>
      </pc:sldChg>
      <pc:sldChg chg="modSp mod">
        <pc:chgData name="Francesco Bellotti" userId="f453232b-f87d-4756-9d8b-c09bc835cc42" providerId="ADAL" clId="{C7FEA3FA-4936-41E1-B7FA-CA082069F7F7}" dt="2026-09-29T21:04:34.699" v="3448" actId="20577"/>
        <pc:sldMkLst>
          <pc:docMk/>
          <pc:sldMk cId="2112853745" sldId="339"/>
        </pc:sldMkLst>
        <pc:spChg chg="mod">
          <ac:chgData name="Francesco Bellotti" userId="f453232b-f87d-4756-9d8b-c09bc835cc42" providerId="ADAL" clId="{C7FEA3FA-4936-41E1-B7FA-CA082069F7F7}" dt="2026-09-29T21:04:34.699" v="3448" actId="20577"/>
          <ac:spMkLst>
            <pc:docMk/>
            <pc:sldMk cId="2112853745" sldId="339"/>
            <ac:spMk id="2" creationId="{AB9072D1-F584-0029-34A1-CD4FBC32702B}"/>
          </ac:spMkLst>
        </pc:spChg>
      </pc:sldChg>
      <pc:sldChg chg="modSp mod">
        <pc:chgData name="Francesco Bellotti" userId="f453232b-f87d-4756-9d8b-c09bc835cc42" providerId="ADAL" clId="{C7FEA3FA-4936-41E1-B7FA-CA082069F7F7}" dt="2026-09-29T21:13:51.514" v="3460" actId="20577"/>
        <pc:sldMkLst>
          <pc:docMk/>
          <pc:sldMk cId="1463619229" sldId="340"/>
        </pc:sldMkLst>
        <pc:spChg chg="mod">
          <ac:chgData name="Francesco Bellotti" userId="f453232b-f87d-4756-9d8b-c09bc835cc42" providerId="ADAL" clId="{C7FEA3FA-4936-41E1-B7FA-CA082069F7F7}" dt="2026-09-29T21:13:51.514" v="3460" actId="20577"/>
          <ac:spMkLst>
            <pc:docMk/>
            <pc:sldMk cId="1463619229" sldId="340"/>
            <ac:spMk id="3" creationId="{16D5A6AE-0BD0-3C9D-B1FF-24F4E599C5EB}"/>
          </ac:spMkLst>
        </pc:spChg>
      </pc:sldChg>
      <pc:sldChg chg="modSp mod">
        <pc:chgData name="Francesco Bellotti" userId="f453232b-f87d-4756-9d8b-c09bc835cc42" providerId="ADAL" clId="{C7FEA3FA-4936-41E1-B7FA-CA082069F7F7}" dt="2026-09-29T21:32:27.499" v="3468" actId="207"/>
        <pc:sldMkLst>
          <pc:docMk/>
          <pc:sldMk cId="136111526" sldId="341"/>
        </pc:sldMkLst>
        <pc:spChg chg="mod">
          <ac:chgData name="Francesco Bellotti" userId="f453232b-f87d-4756-9d8b-c09bc835cc42" providerId="ADAL" clId="{C7FEA3FA-4936-41E1-B7FA-CA082069F7F7}" dt="2026-09-29T21:29:41.490" v="3466" actId="13926"/>
          <ac:spMkLst>
            <pc:docMk/>
            <pc:sldMk cId="136111526" sldId="341"/>
            <ac:spMk id="3" creationId="{2C4504E0-4EE0-8435-2ED4-341286F1C39C}"/>
          </ac:spMkLst>
        </pc:spChg>
        <pc:spChg chg="mod">
          <ac:chgData name="Francesco Bellotti" userId="f453232b-f87d-4756-9d8b-c09bc835cc42" providerId="ADAL" clId="{C7FEA3FA-4936-41E1-B7FA-CA082069F7F7}" dt="2026-09-29T21:32:27.499" v="3468" actId="207"/>
          <ac:spMkLst>
            <pc:docMk/>
            <pc:sldMk cId="136111526" sldId="341"/>
            <ac:spMk id="5" creationId="{FCFB19CA-D20E-F10D-60A2-D250A687B44D}"/>
          </ac:spMkLst>
        </pc:spChg>
      </pc:sldChg>
      <pc:sldChg chg="modSp mod">
        <pc:chgData name="Francesco Bellotti" userId="f453232b-f87d-4756-9d8b-c09bc835cc42" providerId="ADAL" clId="{C7FEA3FA-4936-41E1-B7FA-CA082069F7F7}" dt="2026-09-29T21:34:50.671" v="3469" actId="113"/>
        <pc:sldMkLst>
          <pc:docMk/>
          <pc:sldMk cId="1291641014" sldId="343"/>
        </pc:sldMkLst>
        <pc:spChg chg="mod">
          <ac:chgData name="Francesco Bellotti" userId="f453232b-f87d-4756-9d8b-c09bc835cc42" providerId="ADAL" clId="{C7FEA3FA-4936-41E1-B7FA-CA082069F7F7}" dt="2026-09-29T21:34:50.671" v="3469" actId="113"/>
          <ac:spMkLst>
            <pc:docMk/>
            <pc:sldMk cId="1291641014" sldId="343"/>
            <ac:spMk id="3" creationId="{BE5FCFA1-B056-8EFB-23BC-AF7B0B7CFD53}"/>
          </ac:spMkLst>
        </pc:spChg>
      </pc:sldChg>
      <pc:sldChg chg="addSp modSp mod modClrScheme chgLayout">
        <pc:chgData name="Francesco Bellotti" userId="f453232b-f87d-4756-9d8b-c09bc835cc42" providerId="ADAL" clId="{C7FEA3FA-4936-41E1-B7FA-CA082069F7F7}" dt="2026-09-29T21:39:02.586" v="3479" actId="13926"/>
        <pc:sldMkLst>
          <pc:docMk/>
          <pc:sldMk cId="3039480494" sldId="344"/>
        </pc:sldMkLst>
        <pc:spChg chg="mod ord">
          <ac:chgData name="Francesco Bellotti" userId="f453232b-f87d-4756-9d8b-c09bc835cc42" providerId="ADAL" clId="{C7FEA3FA-4936-41E1-B7FA-CA082069F7F7}" dt="2026-09-29T21:36:27.826" v="3475" actId="700"/>
          <ac:spMkLst>
            <pc:docMk/>
            <pc:sldMk cId="3039480494" sldId="344"/>
            <ac:spMk id="2" creationId="{4B7DBDC3-A3C8-9FCC-A232-6127296A8339}"/>
          </ac:spMkLst>
        </pc:spChg>
        <pc:spChg chg="mod ord">
          <ac:chgData name="Francesco Bellotti" userId="f453232b-f87d-4756-9d8b-c09bc835cc42" providerId="ADAL" clId="{C7FEA3FA-4936-41E1-B7FA-CA082069F7F7}" dt="2026-09-29T21:36:29.888" v="3477" actId="27636"/>
          <ac:spMkLst>
            <pc:docMk/>
            <pc:sldMk cId="3039480494" sldId="344"/>
            <ac:spMk id="3" creationId="{750A44F5-842F-E97B-2E99-7565589F3F4D}"/>
          </ac:spMkLst>
        </pc:spChg>
        <pc:spChg chg="add mod ord">
          <ac:chgData name="Francesco Bellotti" userId="f453232b-f87d-4756-9d8b-c09bc835cc42" providerId="ADAL" clId="{C7FEA3FA-4936-41E1-B7FA-CA082069F7F7}" dt="2026-09-29T21:39:02.586" v="3479" actId="13926"/>
          <ac:spMkLst>
            <pc:docMk/>
            <pc:sldMk cId="3039480494" sldId="344"/>
            <ac:spMk id="4" creationId="{4ED0C706-F0A0-E6AE-4C0E-F238C09B358C}"/>
          </ac:spMkLst>
        </pc:spChg>
      </pc:sldChg>
      <pc:sldChg chg="modSp mod">
        <pc:chgData name="Francesco Bellotti" userId="f453232b-f87d-4756-9d8b-c09bc835cc42" providerId="ADAL" clId="{C7FEA3FA-4936-41E1-B7FA-CA082069F7F7}" dt="2026-09-29T22:15:18.119" v="3534" actId="20577"/>
        <pc:sldMkLst>
          <pc:docMk/>
          <pc:sldMk cId="0" sldId="347"/>
        </pc:sldMkLst>
        <pc:spChg chg="mod">
          <ac:chgData name="Francesco Bellotti" userId="f453232b-f87d-4756-9d8b-c09bc835cc42" providerId="ADAL" clId="{C7FEA3FA-4936-41E1-B7FA-CA082069F7F7}" dt="2026-09-29T22:15:18.119" v="3534" actId="20577"/>
          <ac:spMkLst>
            <pc:docMk/>
            <pc:sldMk cId="0" sldId="347"/>
            <ac:spMk id="16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09-30T09:24:12.660" v="3650" actId="13926"/>
        <pc:sldMkLst>
          <pc:docMk/>
          <pc:sldMk cId="0" sldId="350"/>
        </pc:sldMkLst>
        <pc:spChg chg="mod">
          <ac:chgData name="Francesco Bellotti" userId="f453232b-f87d-4756-9d8b-c09bc835cc42" providerId="ADAL" clId="{C7FEA3FA-4936-41E1-B7FA-CA082069F7F7}" dt="2026-09-30T09:24:12.660" v="3650" actId="13926"/>
          <ac:spMkLst>
            <pc:docMk/>
            <pc:sldMk cId="0" sldId="350"/>
            <ac:spMk id="13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09-30T09:31:43.701" v="3659" actId="113"/>
        <pc:sldMkLst>
          <pc:docMk/>
          <pc:sldMk cId="0" sldId="352"/>
        </pc:sldMkLst>
        <pc:spChg chg="mod">
          <ac:chgData name="Francesco Bellotti" userId="f453232b-f87d-4756-9d8b-c09bc835cc42" providerId="ADAL" clId="{C7FEA3FA-4936-41E1-B7FA-CA082069F7F7}" dt="2026-09-30T09:31:43.701" v="3659" actId="113"/>
          <ac:spMkLst>
            <pc:docMk/>
            <pc:sldMk cId="0" sldId="352"/>
            <ac:spMk id="18" creationId="{00000000-0000-0000-0000-000000000000}"/>
          </ac:spMkLst>
        </pc:spChg>
      </pc:sldChg>
      <pc:sldChg chg="modSp mod">
        <pc:chgData name="Francesco Bellotti" userId="f453232b-f87d-4756-9d8b-c09bc835cc42" providerId="ADAL" clId="{C7FEA3FA-4936-41E1-B7FA-CA082069F7F7}" dt="2026-09-30T09:36:26.684" v="3660" actId="113"/>
        <pc:sldMkLst>
          <pc:docMk/>
          <pc:sldMk cId="0" sldId="353"/>
        </pc:sldMkLst>
        <pc:spChg chg="mod">
          <ac:chgData name="Francesco Bellotti" userId="f453232b-f87d-4756-9d8b-c09bc835cc42" providerId="ADAL" clId="{C7FEA3FA-4936-41E1-B7FA-CA082069F7F7}" dt="2026-09-30T09:36:26.684" v="3660" actId="113"/>
          <ac:spMkLst>
            <pc:docMk/>
            <pc:sldMk cId="0" sldId="353"/>
            <ac:spMk id="29" creationId="{00000000-0000-0000-0000-000000000000}"/>
          </ac:spMkLst>
        </pc:spChg>
      </pc:sldChg>
      <pc:sldChg chg="addSp delSp modSp mod">
        <pc:chgData name="Francesco Bellotti" userId="f453232b-f87d-4756-9d8b-c09bc835cc42" providerId="ADAL" clId="{C7FEA3FA-4936-41E1-B7FA-CA082069F7F7}" dt="2026-09-30T09:39:41.118" v="3727" actId="478"/>
        <pc:sldMkLst>
          <pc:docMk/>
          <pc:sldMk cId="0" sldId="354"/>
        </pc:sldMkLst>
        <pc:spChg chg="del">
          <ac:chgData name="Francesco Bellotti" userId="f453232b-f87d-4756-9d8b-c09bc835cc42" providerId="ADAL" clId="{C7FEA3FA-4936-41E1-B7FA-CA082069F7F7}" dt="2026-09-30T09:39:41.118" v="3727" actId="478"/>
          <ac:spMkLst>
            <pc:docMk/>
            <pc:sldMk cId="0" sldId="354"/>
            <ac:spMk id="13" creationId="{00000000-0000-0000-0000-000000000000}"/>
          </ac:spMkLst>
        </pc:spChg>
        <pc:spChg chg="add mod">
          <ac:chgData name="Francesco Bellotti" userId="f453232b-f87d-4756-9d8b-c09bc835cc42" providerId="ADAL" clId="{C7FEA3FA-4936-41E1-B7FA-CA082069F7F7}" dt="2026-09-30T09:39:32.650" v="3726" actId="14100"/>
          <ac:spMkLst>
            <pc:docMk/>
            <pc:sldMk cId="0" sldId="354"/>
            <ac:spMk id="22" creationId="{4F929F61-AFD8-9B0B-A656-31573135AFCB}"/>
          </ac:spMkLst>
        </pc:spChg>
        <pc:spChg chg="add mod">
          <ac:chgData name="Francesco Bellotti" userId="f453232b-f87d-4756-9d8b-c09bc835cc42" providerId="ADAL" clId="{C7FEA3FA-4936-41E1-B7FA-CA082069F7F7}" dt="2026-09-30T09:39:28.055" v="3725" actId="14100"/>
          <ac:spMkLst>
            <pc:docMk/>
            <pc:sldMk cId="0" sldId="354"/>
            <ac:spMk id="24" creationId="{53F4824F-C279-4078-F4E3-ED128B8A84D9}"/>
          </ac:spMkLst>
        </pc:spChg>
        <pc:picChg chg="del mod">
          <ac:chgData name="Francesco Bellotti" userId="f453232b-f87d-4756-9d8b-c09bc835cc42" providerId="ADAL" clId="{C7FEA3FA-4936-41E1-B7FA-CA082069F7F7}" dt="2026-09-30T09:38:48.186" v="3718" actId="478"/>
          <ac:picMkLst>
            <pc:docMk/>
            <pc:sldMk cId="0" sldId="354"/>
            <ac:picMk id="2" creationId="{00000000-0000-0000-0000-000000000000}"/>
          </ac:picMkLst>
        </pc:picChg>
      </pc:sldChg>
      <pc:sldChg chg="modSp mod">
        <pc:chgData name="Francesco Bellotti" userId="f453232b-f87d-4756-9d8b-c09bc835cc42" providerId="ADAL" clId="{C7FEA3FA-4936-41E1-B7FA-CA082069F7F7}" dt="2026-09-30T09:41:51.472" v="3732" actId="13926"/>
        <pc:sldMkLst>
          <pc:docMk/>
          <pc:sldMk cId="0" sldId="355"/>
        </pc:sldMkLst>
        <pc:spChg chg="mod">
          <ac:chgData name="Francesco Bellotti" userId="f453232b-f87d-4756-9d8b-c09bc835cc42" providerId="ADAL" clId="{C7FEA3FA-4936-41E1-B7FA-CA082069F7F7}" dt="2026-09-30T09:41:51.472" v="3732" actId="13926"/>
          <ac:spMkLst>
            <pc:docMk/>
            <pc:sldMk cId="0" sldId="355"/>
            <ac:spMk id="14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09-30T09:41:39.715" v="3731" actId="113"/>
          <ac:spMkLst>
            <pc:docMk/>
            <pc:sldMk cId="0" sldId="355"/>
            <ac:spMk id="19" creationId="{00000000-0000-0000-0000-000000000000}"/>
          </ac:spMkLst>
        </pc:spChg>
      </pc:sldChg>
      <pc:sldChg chg="addSp delSp modSp mod">
        <pc:chgData name="Francesco Bellotti" userId="f453232b-f87d-4756-9d8b-c09bc835cc42" providerId="ADAL" clId="{C7FEA3FA-4936-41E1-B7FA-CA082069F7F7}" dt="2026-09-30T09:46:31.914" v="3756" actId="692"/>
        <pc:sldMkLst>
          <pc:docMk/>
          <pc:sldMk cId="0" sldId="357"/>
        </pc:sldMkLst>
        <pc:spChg chg="mod">
          <ac:chgData name="Francesco Bellotti" userId="f453232b-f87d-4756-9d8b-c09bc835cc42" providerId="ADAL" clId="{C7FEA3FA-4936-41E1-B7FA-CA082069F7F7}" dt="2026-09-30T09:46:31.914" v="3756" actId="692"/>
          <ac:spMkLst>
            <pc:docMk/>
            <pc:sldMk cId="0" sldId="357"/>
            <ac:spMk id="31" creationId="{00000000-0000-0000-0000-000000000000}"/>
          </ac:spMkLst>
        </pc:spChg>
        <pc:cxnChg chg="add del">
          <ac:chgData name="Francesco Bellotti" userId="f453232b-f87d-4756-9d8b-c09bc835cc42" providerId="ADAL" clId="{C7FEA3FA-4936-41E1-B7FA-CA082069F7F7}" dt="2026-09-30T09:46:20.912" v="3754" actId="11529"/>
          <ac:cxnSpMkLst>
            <pc:docMk/>
            <pc:sldMk cId="0" sldId="357"/>
            <ac:cxnSpMk id="39" creationId="{AC60925D-67D6-A230-C07D-7E1789B252A2}"/>
          </ac:cxnSpMkLst>
        </pc:cxnChg>
      </pc:sldChg>
      <pc:sldChg chg="addSp delSp modSp mod">
        <pc:chgData name="Francesco Bellotti" userId="f453232b-f87d-4756-9d8b-c09bc835cc42" providerId="ADAL" clId="{C7FEA3FA-4936-41E1-B7FA-CA082069F7F7}" dt="2026-09-30T09:52:40.087" v="3785" actId="1076"/>
        <pc:sldMkLst>
          <pc:docMk/>
          <pc:sldMk cId="0" sldId="359"/>
        </pc:sldMkLst>
        <pc:spChg chg="mod">
          <ac:chgData name="Francesco Bellotti" userId="f453232b-f87d-4756-9d8b-c09bc835cc42" providerId="ADAL" clId="{C7FEA3FA-4936-41E1-B7FA-CA082069F7F7}" dt="2026-09-30T09:50:23.536" v="3764" actId="1076"/>
          <ac:spMkLst>
            <pc:docMk/>
            <pc:sldMk cId="0" sldId="359"/>
            <ac:spMk id="7" creationId="{00000000-0000-0000-0000-000000000000}"/>
          </ac:spMkLst>
        </pc:spChg>
        <pc:spChg chg="add mod">
          <ac:chgData name="Francesco Bellotti" userId="f453232b-f87d-4756-9d8b-c09bc835cc42" providerId="ADAL" clId="{C7FEA3FA-4936-41E1-B7FA-CA082069F7F7}" dt="2026-09-30T09:52:40.087" v="3785" actId="1076"/>
          <ac:spMkLst>
            <pc:docMk/>
            <pc:sldMk cId="0" sldId="359"/>
            <ac:spMk id="15" creationId="{0C408BE9-F541-8867-BE99-C6DBFE2367FF}"/>
          </ac:spMkLst>
        </pc:spChg>
        <pc:picChg chg="del mod">
          <ac:chgData name="Francesco Bellotti" userId="f453232b-f87d-4756-9d8b-c09bc835cc42" providerId="ADAL" clId="{C7FEA3FA-4936-41E1-B7FA-CA082069F7F7}" dt="2026-09-30T09:51:57.408" v="3766" actId="478"/>
          <ac:picMkLst>
            <pc:docMk/>
            <pc:sldMk cId="0" sldId="359"/>
            <ac:picMk id="2" creationId="{00000000-0000-0000-0000-000000000000}"/>
          </ac:picMkLst>
        </pc:picChg>
      </pc:sldChg>
      <pc:sldChg chg="modSp mod">
        <pc:chgData name="Francesco Bellotti" userId="f453232b-f87d-4756-9d8b-c09bc835cc42" providerId="ADAL" clId="{C7FEA3FA-4936-41E1-B7FA-CA082069F7F7}" dt="2026-09-29T21:51:22.583" v="3482" actId="13926"/>
        <pc:sldMkLst>
          <pc:docMk/>
          <pc:sldMk cId="3458765078" sldId="361"/>
        </pc:sldMkLst>
        <pc:spChg chg="mod">
          <ac:chgData name="Francesco Bellotti" userId="f453232b-f87d-4756-9d8b-c09bc835cc42" providerId="ADAL" clId="{C7FEA3FA-4936-41E1-B7FA-CA082069F7F7}" dt="2026-09-29T21:51:22.583" v="3482" actId="13926"/>
          <ac:spMkLst>
            <pc:docMk/>
            <pc:sldMk cId="3458765078" sldId="361"/>
            <ac:spMk id="3" creationId="{A4BE18AB-9D29-3211-21D3-9D112AD588E7}"/>
          </ac:spMkLst>
        </pc:spChg>
      </pc:sldChg>
      <pc:sldChg chg="modSp mod">
        <pc:chgData name="Francesco Bellotti" userId="f453232b-f87d-4756-9d8b-c09bc835cc42" providerId="ADAL" clId="{C7FEA3FA-4936-41E1-B7FA-CA082069F7F7}" dt="2026-09-29T21:53:31.489" v="3484" actId="13926"/>
        <pc:sldMkLst>
          <pc:docMk/>
          <pc:sldMk cId="3488603666" sldId="362"/>
        </pc:sldMkLst>
        <pc:spChg chg="mod">
          <ac:chgData name="Francesco Bellotti" userId="f453232b-f87d-4756-9d8b-c09bc835cc42" providerId="ADAL" clId="{C7FEA3FA-4936-41E1-B7FA-CA082069F7F7}" dt="2026-09-29T21:53:31.489" v="3484" actId="13926"/>
          <ac:spMkLst>
            <pc:docMk/>
            <pc:sldMk cId="3488603666" sldId="362"/>
            <ac:spMk id="3" creationId="{E7DA1EC6-3D1E-D1A9-79E7-7E973E748427}"/>
          </ac:spMkLst>
        </pc:spChg>
      </pc:sldChg>
      <pc:sldChg chg="modSp mod">
        <pc:chgData name="Francesco Bellotti" userId="f453232b-f87d-4756-9d8b-c09bc835cc42" providerId="ADAL" clId="{C7FEA3FA-4936-41E1-B7FA-CA082069F7F7}" dt="2026-09-29T21:54:41.320" v="3487" actId="13926"/>
        <pc:sldMkLst>
          <pc:docMk/>
          <pc:sldMk cId="3660002624" sldId="363"/>
        </pc:sldMkLst>
        <pc:spChg chg="mod">
          <ac:chgData name="Francesco Bellotti" userId="f453232b-f87d-4756-9d8b-c09bc835cc42" providerId="ADAL" clId="{C7FEA3FA-4936-41E1-B7FA-CA082069F7F7}" dt="2026-09-29T21:54:41.320" v="3487" actId="13926"/>
          <ac:spMkLst>
            <pc:docMk/>
            <pc:sldMk cId="3660002624" sldId="363"/>
            <ac:spMk id="3" creationId="{88DB20DC-67AE-4EAC-1223-032A6F8B34BD}"/>
          </ac:spMkLst>
        </pc:spChg>
      </pc:sldChg>
      <pc:sldChg chg="modSp mod">
        <pc:chgData name="Francesco Bellotti" userId="f453232b-f87d-4756-9d8b-c09bc835cc42" providerId="ADAL" clId="{C7FEA3FA-4936-41E1-B7FA-CA082069F7F7}" dt="2026-09-29T21:59:52.573" v="3490" actId="20577"/>
        <pc:sldMkLst>
          <pc:docMk/>
          <pc:sldMk cId="1112339331" sldId="364"/>
        </pc:sldMkLst>
        <pc:spChg chg="mod">
          <ac:chgData name="Francesco Bellotti" userId="f453232b-f87d-4756-9d8b-c09bc835cc42" providerId="ADAL" clId="{C7FEA3FA-4936-41E1-B7FA-CA082069F7F7}" dt="2026-09-29T21:59:52.573" v="3490" actId="20577"/>
          <ac:spMkLst>
            <pc:docMk/>
            <pc:sldMk cId="1112339331" sldId="364"/>
            <ac:spMk id="3" creationId="{996F69A0-FFC4-FAED-2303-0FF36DFC4933}"/>
          </ac:spMkLst>
        </pc:spChg>
      </pc:sldChg>
      <pc:sldChg chg="modSp mod">
        <pc:chgData name="Francesco Bellotti" userId="f453232b-f87d-4756-9d8b-c09bc835cc42" providerId="ADAL" clId="{C7FEA3FA-4936-41E1-B7FA-CA082069F7F7}" dt="2026-09-29T22:10:39.261" v="3497" actId="20577"/>
        <pc:sldMkLst>
          <pc:docMk/>
          <pc:sldMk cId="891218692" sldId="365"/>
        </pc:sldMkLst>
        <pc:spChg chg="mod">
          <ac:chgData name="Francesco Bellotti" userId="f453232b-f87d-4756-9d8b-c09bc835cc42" providerId="ADAL" clId="{C7FEA3FA-4936-41E1-B7FA-CA082069F7F7}" dt="2026-09-29T22:01:11.493" v="3492" actId="13926"/>
          <ac:spMkLst>
            <pc:docMk/>
            <pc:sldMk cId="891218692" sldId="365"/>
            <ac:spMk id="3" creationId="{96571D50-9484-71E9-AB11-47D6C11068E2}"/>
          </ac:spMkLst>
        </pc:spChg>
        <pc:spChg chg="mod">
          <ac:chgData name="Francesco Bellotti" userId="f453232b-f87d-4756-9d8b-c09bc835cc42" providerId="ADAL" clId="{C7FEA3FA-4936-41E1-B7FA-CA082069F7F7}" dt="2026-09-29T22:10:39.261" v="3497" actId="20577"/>
          <ac:spMkLst>
            <pc:docMk/>
            <pc:sldMk cId="891218692" sldId="365"/>
            <ac:spMk id="6" creationId="{8B1885C8-CB63-3C23-6164-A0787F61EE9B}"/>
          </ac:spMkLst>
        </pc:spChg>
      </pc:sldChg>
      <pc:sldChg chg="modSp mod">
        <pc:chgData name="Francesco Bellotti" userId="f453232b-f87d-4756-9d8b-c09bc835cc42" providerId="ADAL" clId="{C7FEA3FA-4936-41E1-B7FA-CA082069F7F7}" dt="2026-09-29T22:10:57.392" v="3501" actId="14100"/>
        <pc:sldMkLst>
          <pc:docMk/>
          <pc:sldMk cId="1739132283" sldId="366"/>
        </pc:sldMkLst>
        <pc:spChg chg="mod">
          <ac:chgData name="Francesco Bellotti" userId="f453232b-f87d-4756-9d8b-c09bc835cc42" providerId="ADAL" clId="{C7FEA3FA-4936-41E1-B7FA-CA082069F7F7}" dt="2026-09-29T22:10:57.392" v="3501" actId="14100"/>
          <ac:spMkLst>
            <pc:docMk/>
            <pc:sldMk cId="1739132283" sldId="366"/>
            <ac:spMk id="3" creationId="{1FCBA3C1-E5FB-7FFC-5DAE-83908D92CA9C}"/>
          </ac:spMkLst>
        </pc:spChg>
      </pc:sldChg>
      <pc:sldChg chg="modSp mod">
        <pc:chgData name="Francesco Bellotti" userId="f453232b-f87d-4756-9d8b-c09bc835cc42" providerId="ADAL" clId="{C7FEA3FA-4936-41E1-B7FA-CA082069F7F7}" dt="2026-09-29T22:16:49.239" v="3536" actId="20577"/>
        <pc:sldMkLst>
          <pc:docMk/>
          <pc:sldMk cId="3413470827" sldId="367"/>
        </pc:sldMkLst>
        <pc:spChg chg="mod">
          <ac:chgData name="Francesco Bellotti" userId="f453232b-f87d-4756-9d8b-c09bc835cc42" providerId="ADAL" clId="{C7FEA3FA-4936-41E1-B7FA-CA082069F7F7}" dt="2026-09-29T22:16:49.239" v="3536" actId="20577"/>
          <ac:spMkLst>
            <pc:docMk/>
            <pc:sldMk cId="3413470827" sldId="367"/>
            <ac:spMk id="3" creationId="{B3043191-570B-AF3A-9E13-4C3324BD7D73}"/>
          </ac:spMkLst>
        </pc:spChg>
      </pc:sldChg>
      <pc:sldChg chg="modSp mod">
        <pc:chgData name="Francesco Bellotti" userId="f453232b-f87d-4756-9d8b-c09bc835cc42" providerId="ADAL" clId="{C7FEA3FA-4936-41E1-B7FA-CA082069F7F7}" dt="2026-09-29T22:18:02.090" v="3543" actId="13926"/>
        <pc:sldMkLst>
          <pc:docMk/>
          <pc:sldMk cId="235808314" sldId="368"/>
        </pc:sldMkLst>
        <pc:spChg chg="mod">
          <ac:chgData name="Francesco Bellotti" userId="f453232b-f87d-4756-9d8b-c09bc835cc42" providerId="ADAL" clId="{C7FEA3FA-4936-41E1-B7FA-CA082069F7F7}" dt="2026-09-29T22:18:02.090" v="3543" actId="13926"/>
          <ac:spMkLst>
            <pc:docMk/>
            <pc:sldMk cId="235808314" sldId="368"/>
            <ac:spMk id="3" creationId="{D58F9513-96A4-EDD4-F62E-BB0C7F9F7FFC}"/>
          </ac:spMkLst>
        </pc:spChg>
      </pc:sldChg>
      <pc:sldChg chg="modSp mod">
        <pc:chgData name="Francesco Bellotti" userId="f453232b-f87d-4756-9d8b-c09bc835cc42" providerId="ADAL" clId="{C7FEA3FA-4936-41E1-B7FA-CA082069F7F7}" dt="2026-09-29T22:18:13.879" v="3544" actId="13926"/>
        <pc:sldMkLst>
          <pc:docMk/>
          <pc:sldMk cId="634643019" sldId="369"/>
        </pc:sldMkLst>
        <pc:spChg chg="mod">
          <ac:chgData name="Francesco Bellotti" userId="f453232b-f87d-4756-9d8b-c09bc835cc42" providerId="ADAL" clId="{C7FEA3FA-4936-41E1-B7FA-CA082069F7F7}" dt="2026-09-29T22:18:13.879" v="3544" actId="13926"/>
          <ac:spMkLst>
            <pc:docMk/>
            <pc:sldMk cId="634643019" sldId="369"/>
            <ac:spMk id="3" creationId="{A7644604-A7E1-4DA5-DE6D-2ED8E310474B}"/>
          </ac:spMkLst>
        </pc:spChg>
      </pc:sldChg>
      <pc:sldChg chg="modSp mod">
        <pc:chgData name="Francesco Bellotti" userId="f453232b-f87d-4756-9d8b-c09bc835cc42" providerId="ADAL" clId="{C7FEA3FA-4936-41E1-B7FA-CA082069F7F7}" dt="2026-09-29T22:19:27.564" v="3545" actId="13926"/>
        <pc:sldMkLst>
          <pc:docMk/>
          <pc:sldMk cId="1927545723" sldId="370"/>
        </pc:sldMkLst>
        <pc:spChg chg="mod">
          <ac:chgData name="Francesco Bellotti" userId="f453232b-f87d-4756-9d8b-c09bc835cc42" providerId="ADAL" clId="{C7FEA3FA-4936-41E1-B7FA-CA082069F7F7}" dt="2026-09-29T22:19:27.564" v="3545" actId="13926"/>
          <ac:spMkLst>
            <pc:docMk/>
            <pc:sldMk cId="1927545723" sldId="370"/>
            <ac:spMk id="3" creationId="{ECD86F18-BFF0-321A-1F0C-A168968FC0F7}"/>
          </ac:spMkLst>
        </pc:spChg>
      </pc:sldChg>
      <pc:sldChg chg="modSp mod">
        <pc:chgData name="Francesco Bellotti" userId="f453232b-f87d-4756-9d8b-c09bc835cc42" providerId="ADAL" clId="{C7FEA3FA-4936-41E1-B7FA-CA082069F7F7}" dt="2026-09-29T22:38:52.300" v="3648" actId="27636"/>
        <pc:sldMkLst>
          <pc:docMk/>
          <pc:sldMk cId="216089951" sldId="371"/>
        </pc:sldMkLst>
        <pc:spChg chg="mod">
          <ac:chgData name="Francesco Bellotti" userId="f453232b-f87d-4756-9d8b-c09bc835cc42" providerId="ADAL" clId="{C7FEA3FA-4936-41E1-B7FA-CA082069F7F7}" dt="2026-09-29T22:38:52.300" v="3648" actId="27636"/>
          <ac:spMkLst>
            <pc:docMk/>
            <pc:sldMk cId="216089951" sldId="371"/>
            <ac:spMk id="3" creationId="{04217806-DC3C-98FD-CECE-523E1E603E9D}"/>
          </ac:spMkLst>
        </pc:spChg>
      </pc:sldChg>
      <pc:sldChg chg="modSp mod">
        <pc:chgData name="Francesco Bellotti" userId="f453232b-f87d-4756-9d8b-c09bc835cc42" providerId="ADAL" clId="{C7FEA3FA-4936-41E1-B7FA-CA082069F7F7}" dt="2026-09-30T09:22:41.202" v="3649" actId="113"/>
        <pc:sldMkLst>
          <pc:docMk/>
          <pc:sldMk cId="464610404" sldId="372"/>
        </pc:sldMkLst>
        <pc:spChg chg="mod">
          <ac:chgData name="Francesco Bellotti" userId="f453232b-f87d-4756-9d8b-c09bc835cc42" providerId="ADAL" clId="{C7FEA3FA-4936-41E1-B7FA-CA082069F7F7}" dt="2026-09-30T09:22:41.202" v="3649" actId="113"/>
          <ac:spMkLst>
            <pc:docMk/>
            <pc:sldMk cId="464610404" sldId="372"/>
            <ac:spMk id="3" creationId="{B95A0336-9980-B5C2-5335-3B33740486E9}"/>
          </ac:spMkLst>
        </pc:spChg>
      </pc:sldChg>
      <pc:sldChg chg="modSp mod">
        <pc:chgData name="Francesco Bellotti" userId="f453232b-f87d-4756-9d8b-c09bc835cc42" providerId="ADAL" clId="{C7FEA3FA-4936-41E1-B7FA-CA082069F7F7}" dt="2026-09-30T09:25:41.826" v="3657" actId="15"/>
        <pc:sldMkLst>
          <pc:docMk/>
          <pc:sldMk cId="4136875525" sldId="373"/>
        </pc:sldMkLst>
        <pc:spChg chg="mod">
          <ac:chgData name="Francesco Bellotti" userId="f453232b-f87d-4756-9d8b-c09bc835cc42" providerId="ADAL" clId="{C7FEA3FA-4936-41E1-B7FA-CA082069F7F7}" dt="2026-09-30T09:25:25.776" v="3655" actId="113"/>
          <ac:spMkLst>
            <pc:docMk/>
            <pc:sldMk cId="4136875525" sldId="373"/>
            <ac:spMk id="3" creationId="{CC5B5CE0-3EA1-B7E8-40A7-FEDBE3EA9A4B}"/>
          </ac:spMkLst>
        </pc:spChg>
        <pc:spChg chg="mod">
          <ac:chgData name="Francesco Bellotti" userId="f453232b-f87d-4756-9d8b-c09bc835cc42" providerId="ADAL" clId="{C7FEA3FA-4936-41E1-B7FA-CA082069F7F7}" dt="2026-09-30T09:25:41.826" v="3657" actId="15"/>
          <ac:spMkLst>
            <pc:docMk/>
            <pc:sldMk cId="4136875525" sldId="373"/>
            <ac:spMk id="6" creationId="{90C3379A-02A8-A24A-5DF4-84CA37F68573}"/>
          </ac:spMkLst>
        </pc:spChg>
        <pc:spChg chg="mod">
          <ac:chgData name="Francesco Bellotti" userId="f453232b-f87d-4756-9d8b-c09bc835cc42" providerId="ADAL" clId="{C7FEA3FA-4936-41E1-B7FA-CA082069F7F7}" dt="2026-09-30T09:25:00.645" v="3652" actId="14100"/>
          <ac:spMkLst>
            <pc:docMk/>
            <pc:sldMk cId="4136875525" sldId="373"/>
            <ac:spMk id="8" creationId="{B5335A27-9B7B-11A3-CD06-88B82FAD2A20}"/>
          </ac:spMkLst>
        </pc:spChg>
      </pc:sldChg>
      <pc:sldChg chg="modSp mod">
        <pc:chgData name="Francesco Bellotti" userId="f453232b-f87d-4756-9d8b-c09bc835cc42" providerId="ADAL" clId="{C7FEA3FA-4936-41E1-B7FA-CA082069F7F7}" dt="2026-09-30T09:31:22.028" v="3658" actId="113"/>
        <pc:sldMkLst>
          <pc:docMk/>
          <pc:sldMk cId="127444624" sldId="377"/>
        </pc:sldMkLst>
        <pc:spChg chg="mod">
          <ac:chgData name="Francesco Bellotti" userId="f453232b-f87d-4756-9d8b-c09bc835cc42" providerId="ADAL" clId="{C7FEA3FA-4936-41E1-B7FA-CA082069F7F7}" dt="2026-09-30T09:31:22.028" v="3658" actId="113"/>
          <ac:spMkLst>
            <pc:docMk/>
            <pc:sldMk cId="127444624" sldId="377"/>
            <ac:spMk id="3" creationId="{70BBF3AB-D003-A117-994C-5F4D4D4A4338}"/>
          </ac:spMkLst>
        </pc:spChg>
      </pc:sldChg>
      <pc:sldChg chg="modSp mod">
        <pc:chgData name="Francesco Bellotti" userId="f453232b-f87d-4756-9d8b-c09bc835cc42" providerId="ADAL" clId="{C7FEA3FA-4936-41E1-B7FA-CA082069F7F7}" dt="2026-09-30T09:38:15.657" v="3714" actId="20577"/>
        <pc:sldMkLst>
          <pc:docMk/>
          <pc:sldMk cId="2810308015" sldId="378"/>
        </pc:sldMkLst>
        <pc:spChg chg="mod">
          <ac:chgData name="Francesco Bellotti" userId="f453232b-f87d-4756-9d8b-c09bc835cc42" providerId="ADAL" clId="{C7FEA3FA-4936-41E1-B7FA-CA082069F7F7}" dt="2026-09-30T09:38:15.657" v="3714" actId="20577"/>
          <ac:spMkLst>
            <pc:docMk/>
            <pc:sldMk cId="2810308015" sldId="378"/>
            <ac:spMk id="3" creationId="{65528339-2749-7782-494F-D88650633D6F}"/>
          </ac:spMkLst>
        </pc:spChg>
      </pc:sldChg>
      <pc:sldChg chg="modSp mod">
        <pc:chgData name="Francesco Bellotti" userId="f453232b-f87d-4756-9d8b-c09bc835cc42" providerId="ADAL" clId="{C7FEA3FA-4936-41E1-B7FA-CA082069F7F7}" dt="2026-09-30T09:40:10.397" v="3729" actId="20577"/>
        <pc:sldMkLst>
          <pc:docMk/>
          <pc:sldMk cId="3106824705" sldId="380"/>
        </pc:sldMkLst>
        <pc:spChg chg="mod">
          <ac:chgData name="Francesco Bellotti" userId="f453232b-f87d-4756-9d8b-c09bc835cc42" providerId="ADAL" clId="{C7FEA3FA-4936-41E1-B7FA-CA082069F7F7}" dt="2026-09-30T09:40:10.397" v="3729" actId="20577"/>
          <ac:spMkLst>
            <pc:docMk/>
            <pc:sldMk cId="3106824705" sldId="380"/>
            <ac:spMk id="4" creationId="{BE4816E0-77FD-C5EC-C281-CF2873274D9B}"/>
          </ac:spMkLst>
        </pc:spChg>
      </pc:sldChg>
      <pc:sldChg chg="modSp mod">
        <pc:chgData name="Francesco Bellotti" userId="f453232b-f87d-4756-9d8b-c09bc835cc42" providerId="ADAL" clId="{C7FEA3FA-4936-41E1-B7FA-CA082069F7F7}" dt="2026-09-30T09:40:48.757" v="3730" actId="113"/>
        <pc:sldMkLst>
          <pc:docMk/>
          <pc:sldMk cId="3100509588" sldId="381"/>
        </pc:sldMkLst>
        <pc:spChg chg="mod">
          <ac:chgData name="Francesco Bellotti" userId="f453232b-f87d-4756-9d8b-c09bc835cc42" providerId="ADAL" clId="{C7FEA3FA-4936-41E1-B7FA-CA082069F7F7}" dt="2026-09-30T09:40:48.757" v="3730" actId="113"/>
          <ac:spMkLst>
            <pc:docMk/>
            <pc:sldMk cId="3100509588" sldId="381"/>
            <ac:spMk id="3" creationId="{A5A2A708-ABBD-2794-4F85-353C15518E86}"/>
          </ac:spMkLst>
        </pc:spChg>
      </pc:sldChg>
      <pc:sldChg chg="modSp mod">
        <pc:chgData name="Francesco Bellotti" userId="f453232b-f87d-4756-9d8b-c09bc835cc42" providerId="ADAL" clId="{C7FEA3FA-4936-41E1-B7FA-CA082069F7F7}" dt="2026-09-30T09:42:41.921" v="3734" actId="27636"/>
        <pc:sldMkLst>
          <pc:docMk/>
          <pc:sldMk cId="2285274433" sldId="383"/>
        </pc:sldMkLst>
        <pc:spChg chg="mod">
          <ac:chgData name="Francesco Bellotti" userId="f453232b-f87d-4756-9d8b-c09bc835cc42" providerId="ADAL" clId="{C7FEA3FA-4936-41E1-B7FA-CA082069F7F7}" dt="2026-09-30T09:42:41.921" v="3734" actId="27636"/>
          <ac:spMkLst>
            <pc:docMk/>
            <pc:sldMk cId="2285274433" sldId="383"/>
            <ac:spMk id="3" creationId="{3F1C45EF-3D11-E5C6-AF59-1F3BAC11DBAD}"/>
          </ac:spMkLst>
        </pc:spChg>
      </pc:sldChg>
      <pc:sldChg chg="modSp mod">
        <pc:chgData name="Francesco Bellotti" userId="f453232b-f87d-4756-9d8b-c09bc835cc42" providerId="ADAL" clId="{C7FEA3FA-4936-41E1-B7FA-CA082069F7F7}" dt="2026-09-30T09:43:34.604" v="3750" actId="20577"/>
        <pc:sldMkLst>
          <pc:docMk/>
          <pc:sldMk cId="2486845555" sldId="384"/>
        </pc:sldMkLst>
        <pc:spChg chg="mod">
          <ac:chgData name="Francesco Bellotti" userId="f453232b-f87d-4756-9d8b-c09bc835cc42" providerId="ADAL" clId="{C7FEA3FA-4936-41E1-B7FA-CA082069F7F7}" dt="2026-09-30T09:43:34.604" v="3750" actId="20577"/>
          <ac:spMkLst>
            <pc:docMk/>
            <pc:sldMk cId="2486845555" sldId="384"/>
            <ac:spMk id="3" creationId="{D1C73279-9F9D-F2E2-6799-C9B3A33D65AF}"/>
          </ac:spMkLst>
        </pc:spChg>
      </pc:sldChg>
      <pc:sldChg chg="modSp mod">
        <pc:chgData name="Francesco Bellotti" userId="f453232b-f87d-4756-9d8b-c09bc835cc42" providerId="ADAL" clId="{C7FEA3FA-4936-41E1-B7FA-CA082069F7F7}" dt="2026-09-30T09:48:24.039" v="3760"/>
        <pc:sldMkLst>
          <pc:docMk/>
          <pc:sldMk cId="2814965592" sldId="387"/>
        </pc:sldMkLst>
        <pc:spChg chg="mod">
          <ac:chgData name="Francesco Bellotti" userId="f453232b-f87d-4756-9d8b-c09bc835cc42" providerId="ADAL" clId="{C7FEA3FA-4936-41E1-B7FA-CA082069F7F7}" dt="2026-09-30T09:48:24.039" v="3760"/>
          <ac:spMkLst>
            <pc:docMk/>
            <pc:sldMk cId="2814965592" sldId="387"/>
            <ac:spMk id="3" creationId="{F2129CA8-58E6-32E2-2C5F-B89BBF688F26}"/>
          </ac:spMkLst>
        </pc:spChg>
      </pc:sldChg>
      <pc:sldChg chg="modSp mod ord">
        <pc:chgData name="Francesco Bellotti" userId="f453232b-f87d-4756-9d8b-c09bc835cc42" providerId="ADAL" clId="{C7FEA3FA-4936-41E1-B7FA-CA082069F7F7}" dt="2026-09-30T09:54:57.538" v="3814" actId="20577"/>
        <pc:sldMkLst>
          <pc:docMk/>
          <pc:sldMk cId="2611213515" sldId="392"/>
        </pc:sldMkLst>
        <pc:spChg chg="mod">
          <ac:chgData name="Francesco Bellotti" userId="f453232b-f87d-4756-9d8b-c09bc835cc42" providerId="ADAL" clId="{C7FEA3FA-4936-41E1-B7FA-CA082069F7F7}" dt="2026-09-30T09:54:57.538" v="3814" actId="20577"/>
          <ac:spMkLst>
            <pc:docMk/>
            <pc:sldMk cId="2611213515" sldId="392"/>
            <ac:spMk id="2" creationId="{BDEA998F-CF01-9FF9-A2C0-E8230B430F6F}"/>
          </ac:spMkLst>
        </pc:spChg>
      </pc:sldChg>
      <pc:sldChg chg="addSp delSp modSp add mod setBg modNotesTx">
        <pc:chgData name="Francesco Bellotti" userId="f453232b-f87d-4756-9d8b-c09bc835cc42" providerId="ADAL" clId="{C7FEA3FA-4936-41E1-B7FA-CA082069F7F7}" dt="2026-09-29T13:28:22.975" v="3264" actId="13926"/>
        <pc:sldMkLst>
          <pc:docMk/>
          <pc:sldMk cId="0" sldId="393"/>
        </pc:sldMkLst>
        <pc:spChg chg="mod">
          <ac:chgData name="Francesco Bellotti" userId="f453232b-f87d-4756-9d8b-c09bc835cc42" providerId="ADAL" clId="{C7FEA3FA-4936-41E1-B7FA-CA082069F7F7}" dt="2026-09-29T13:28:22.975" v="3264" actId="13926"/>
          <ac:spMkLst>
            <pc:docMk/>
            <pc:sldMk cId="0" sldId="393"/>
            <ac:spMk id="3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09-26T08:01:59.659" v="3240" actId="403"/>
          <ac:spMkLst>
            <pc:docMk/>
            <pc:sldMk cId="0" sldId="393"/>
            <ac:spMk id="12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09-26T07:58:33.062" v="3184" actId="20577"/>
          <ac:spMkLst>
            <pc:docMk/>
            <pc:sldMk cId="0" sldId="393"/>
            <ac:spMk id="14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09-26T07:58:37.319" v="3185" actId="20577"/>
          <ac:spMkLst>
            <pc:docMk/>
            <pc:sldMk cId="0" sldId="393"/>
            <ac:spMk id="15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09-26T07:58:40.748" v="3186" actId="20577"/>
          <ac:spMkLst>
            <pc:docMk/>
            <pc:sldMk cId="0" sldId="393"/>
            <ac:spMk id="16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09-26T07:58:44.676" v="3187" actId="20577"/>
          <ac:spMkLst>
            <pc:docMk/>
            <pc:sldMk cId="0" sldId="393"/>
            <ac:spMk id="17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09-26T07:59:41.736" v="3224" actId="20577"/>
          <ac:spMkLst>
            <pc:docMk/>
            <pc:sldMk cId="0" sldId="393"/>
            <ac:spMk id="38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09-26T07:58:52.163" v="3191" actId="20577"/>
          <ac:spMkLst>
            <pc:docMk/>
            <pc:sldMk cId="0" sldId="393"/>
            <ac:spMk id="39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09-26T07:58:58.902" v="3197" actId="20577"/>
          <ac:spMkLst>
            <pc:docMk/>
            <pc:sldMk cId="0" sldId="393"/>
            <ac:spMk id="40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09-26T07:59:02.753" v="3199" actId="20577"/>
          <ac:spMkLst>
            <pc:docMk/>
            <pc:sldMk cId="0" sldId="393"/>
            <ac:spMk id="41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09-26T07:59:06.858" v="3201" actId="20577"/>
          <ac:spMkLst>
            <pc:docMk/>
            <pc:sldMk cId="0" sldId="393"/>
            <ac:spMk id="42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09-26T07:59:10.943" v="3203" actId="20577"/>
          <ac:spMkLst>
            <pc:docMk/>
            <pc:sldMk cId="0" sldId="393"/>
            <ac:spMk id="43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09-26T08:02:28.880" v="3244" actId="113"/>
          <ac:spMkLst>
            <pc:docMk/>
            <pc:sldMk cId="0" sldId="393"/>
            <ac:spMk id="90" creationId="{00000000-0000-0000-0000-000000000000}"/>
          </ac:spMkLst>
        </pc:spChg>
        <pc:spChg chg="mod">
          <ac:chgData name="Francesco Bellotti" userId="f453232b-f87d-4756-9d8b-c09bc835cc42" providerId="ADAL" clId="{C7FEA3FA-4936-41E1-B7FA-CA082069F7F7}" dt="2026-09-26T07:59:25.370" v="3213" actId="20577"/>
          <ac:spMkLst>
            <pc:docMk/>
            <pc:sldMk cId="0" sldId="393"/>
            <ac:spMk id="117" creationId="{00000000-0000-0000-0000-000000000000}"/>
          </ac:spMkLst>
        </pc:spChg>
        <pc:spChg chg="add mod">
          <ac:chgData name="Francesco Bellotti" userId="f453232b-f87d-4756-9d8b-c09bc835cc42" providerId="ADAL" clId="{C7FEA3FA-4936-41E1-B7FA-CA082069F7F7}" dt="2026-09-26T08:04:02.382" v="3262" actId="1076"/>
          <ac:spMkLst>
            <pc:docMk/>
            <pc:sldMk cId="0" sldId="393"/>
            <ac:spMk id="122" creationId="{0C8EE28D-9F34-67A4-D535-941EB6117164}"/>
          </ac:spMkLst>
        </pc:spChg>
        <pc:cxnChg chg="add">
          <ac:chgData name="Francesco Bellotti" userId="f453232b-f87d-4756-9d8b-c09bc835cc42" providerId="ADAL" clId="{C7FEA3FA-4936-41E1-B7FA-CA082069F7F7}" dt="2026-09-26T08:04:10.479" v="3263" actId="11529"/>
          <ac:cxnSpMkLst>
            <pc:docMk/>
            <pc:sldMk cId="0" sldId="393"/>
            <ac:cxnSpMk id="124" creationId="{266202C5-B44B-43EB-5EA0-F9B76377C212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A8AFD7-EBA0-4AAA-85BC-F291DD2FA519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3A9AB1-AA83-4AF8-8F6E-3AC2761A36CE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4195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1705B-F7B2-E41B-CD31-EF8C21CF8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4A3779-EDE7-7D7D-0071-7E018CCAEA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604CB9-8377-60C3-02FB-6466737FF7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35351C-7551-035C-8736-A57EAB0F11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1159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09E7-AA9A-4DF2-9CEB-795B2F433F70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A1124-8F1A-45D7-97CC-C82D024DA2E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258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09E7-AA9A-4DF2-9CEB-795B2F433F70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A1124-8F1A-45D7-97CC-C82D024DA2E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3792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09E7-AA9A-4DF2-9CEB-795B2F433F70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A1124-8F1A-45D7-97CC-C82D024DA2E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8129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09E7-AA9A-4DF2-9CEB-795B2F433F70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A1124-8F1A-45D7-97CC-C82D024DA2E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3195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09E7-AA9A-4DF2-9CEB-795B2F433F70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A1124-8F1A-45D7-97CC-C82D024DA2E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9957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09E7-AA9A-4DF2-9CEB-795B2F433F70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A1124-8F1A-45D7-97CC-C82D024DA2E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3131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09E7-AA9A-4DF2-9CEB-795B2F433F70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A1124-8F1A-45D7-97CC-C82D024DA2E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502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09E7-AA9A-4DF2-9CEB-795B2F433F70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A1124-8F1A-45D7-97CC-C82D024DA2E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3363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09E7-AA9A-4DF2-9CEB-795B2F433F70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A1124-8F1A-45D7-97CC-C82D024DA2E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0684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09E7-AA9A-4DF2-9CEB-795B2F433F70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A1124-8F1A-45D7-97CC-C82D024DA2E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9085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09E7-AA9A-4DF2-9CEB-795B2F433F70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A1124-8F1A-45D7-97CC-C82D024DA2E8}" type="slidenum">
              <a:rPr lang="en-GB" smtClean="0"/>
              <a:t>‹N›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10151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09E7-AA9A-4DF2-9CEB-795B2F433F70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A1124-8F1A-45D7-97CC-C82D024DA2E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31406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09E7-AA9A-4DF2-9CEB-795B2F433F70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A1124-8F1A-45D7-97CC-C82D024DA2E8}" type="slidenum">
              <a:rPr lang="en-GB" smtClean="0"/>
              <a:t>‹N›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727138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09E7-AA9A-4DF2-9CEB-795B2F433F70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A1124-8F1A-45D7-97CC-C82D024DA2E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52640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09E7-AA9A-4DF2-9CEB-795B2F433F70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A1124-8F1A-45D7-97CC-C82D024DA2E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43387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09E7-AA9A-4DF2-9CEB-795B2F433F70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A1124-8F1A-45D7-97CC-C82D024DA2E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59896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55060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67158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lai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12882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355080"/>
            <a:ext cx="10908792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4A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7285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lea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9093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509E7-AA9A-4DF2-9CEB-795B2F433F70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6DA1124-8F1A-45D7-97CC-C82D024DA2E8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100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7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7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7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7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7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7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205E98C-9FAA-199C-3A30-982F0F30FB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2- Training, Validation, Test and Data Leakage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0FBD718-6051-D8B2-76DA-8749FFD42A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2238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4BFFC49-41B2-72C3-AEFB-83020009E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Learning </a:t>
            </a:r>
            <a:r>
              <a:rPr lang="it-IT" dirty="0" err="1"/>
              <a:t>objectives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453CD79-3F02-D5A0-8B6B-5F8414A5E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By the end of the lecture, students should be able to:</a:t>
            </a:r>
          </a:p>
          <a:p>
            <a:pPr lvl="1"/>
            <a:r>
              <a:rPr lang="en-GB" dirty="0"/>
              <a:t>explain the different roles of training, validation and test sets;</a:t>
            </a:r>
          </a:p>
          <a:p>
            <a:pPr lvl="1"/>
            <a:r>
              <a:rPr lang="en-GB" dirty="0"/>
              <a:t>identify the type of generalization required by an application;</a:t>
            </a:r>
          </a:p>
          <a:p>
            <a:pPr lvl="1"/>
            <a:r>
              <a:rPr lang="en-GB" dirty="0"/>
              <a:t>select an appropriate split for one long series, multiple sequences or multiple entities;</a:t>
            </a:r>
          </a:p>
          <a:p>
            <a:pPr lvl="1"/>
            <a:r>
              <a:rPr lang="en-GB" dirty="0"/>
              <a:t>recognize leakage caused by overlapping windows;</a:t>
            </a:r>
          </a:p>
          <a:p>
            <a:pPr lvl="1"/>
            <a:r>
              <a:rPr lang="en-GB" dirty="0"/>
              <a:t>recognize leakage introduced by preprocessing and feature engineering;</a:t>
            </a:r>
          </a:p>
          <a:p>
            <a:pPr lvl="1"/>
            <a:r>
              <a:rPr lang="en-GB" dirty="0"/>
              <a:t>design a basic temporal </a:t>
            </a:r>
            <a:r>
              <a:rPr lang="en-GB" dirty="0" err="1"/>
              <a:t>backtesting</a:t>
            </a:r>
            <a:r>
              <a:rPr lang="en-GB" dirty="0"/>
              <a:t> procedure;</a:t>
            </a:r>
          </a:p>
          <a:p>
            <a:pPr lvl="1"/>
            <a:r>
              <a:rPr lang="en-GB" dirty="0"/>
              <a:t>document an evaluation protocol clearly enough for it to be reproduced.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9210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C9D55F-05B5-103B-1C39-A927798BD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Blocks</a:t>
            </a:r>
            <a:r>
              <a:rPr lang="it-IT" dirty="0"/>
              <a:t> in the </a:t>
            </a:r>
            <a:r>
              <a:rPr lang="it-IT" dirty="0" err="1"/>
              <a:t>lecture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082F4A0-DBA3-4F2B-2112-B907A635C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Meaning of generalization</a:t>
            </a:r>
          </a:p>
          <a:p>
            <a:r>
              <a:rPr lang="en-GB" dirty="0"/>
              <a:t>One long series</a:t>
            </a:r>
          </a:p>
          <a:p>
            <a:r>
              <a:rPr lang="en-GB" dirty="0"/>
              <a:t>Sequences and entities</a:t>
            </a:r>
          </a:p>
          <a:p>
            <a:r>
              <a:rPr lang="en-GB" dirty="0"/>
              <a:t>Window leakage</a:t>
            </a:r>
          </a:p>
          <a:p>
            <a:r>
              <a:rPr lang="en-GB" dirty="0"/>
              <a:t>Preprocessing leakage</a:t>
            </a:r>
          </a:p>
          <a:p>
            <a:r>
              <a:rPr lang="en-GB" dirty="0"/>
              <a:t>Model selection and testing</a:t>
            </a:r>
          </a:p>
        </p:txBody>
      </p:sp>
    </p:spTree>
    <p:extLst>
      <p:ext uri="{BB962C8B-B14F-4D97-AF65-F5344CB8AC3E}">
        <p14:creationId xmlns:p14="http://schemas.microsoft.com/office/powerpoint/2010/main" val="3720505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5CFD45-03BD-3324-36A0-E4A10830E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A. What Does the Test Set Represent?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82BA925-2DD8-38F6-ADF1-25E5F065B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1898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A7669C2-9331-CBB1-C950-EBC86C3C4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Training, validation and test have different roles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EFB8F3A-CCA1-2E36-1DC4-D4CB2139C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Training set</a:t>
            </a:r>
          </a:p>
          <a:p>
            <a:r>
              <a:rPr lang="en-GB" dirty="0"/>
              <a:t>The training set is used to estimate model parameters.</a:t>
            </a:r>
          </a:p>
          <a:p>
            <a:pPr lvl="1"/>
            <a:r>
              <a:rPr lang="en-GB" dirty="0"/>
              <a:t>Examples include:</a:t>
            </a:r>
          </a:p>
          <a:p>
            <a:pPr lvl="1"/>
            <a:r>
              <a:rPr lang="en-GB" dirty="0"/>
              <a:t>regression coefficients;</a:t>
            </a:r>
          </a:p>
          <a:p>
            <a:pPr lvl="1"/>
            <a:r>
              <a:rPr lang="en-GB" dirty="0"/>
              <a:t>decision-tree splits;</a:t>
            </a:r>
          </a:p>
          <a:p>
            <a:pPr lvl="1"/>
            <a:r>
              <a:rPr lang="en-GB" dirty="0"/>
              <a:t>neural-network weights;</a:t>
            </a:r>
          </a:p>
          <a:p>
            <a:pPr lvl="1"/>
            <a:r>
              <a:rPr lang="en-GB" dirty="0"/>
              <a:t>parameters of a probability distribution.</a:t>
            </a:r>
          </a:p>
          <a:p>
            <a:r>
              <a:rPr lang="en-GB" dirty="0"/>
              <a:t>The learning algorithm is allowed to use the training targets directly.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0037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4F860-0B62-27C1-6319-DE36BCD17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02D0550-920F-4ACE-A09B-EDB1924D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Training, validation and test have different roles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2882268-8958-275F-0291-90949DFBA4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b="1" dirty="0"/>
              <a:t>Validation set</a:t>
            </a:r>
          </a:p>
          <a:p>
            <a:r>
              <a:rPr lang="en-GB" dirty="0"/>
              <a:t>The validation set supports decisions made during model development.</a:t>
            </a:r>
          </a:p>
          <a:p>
            <a:r>
              <a:rPr lang="en-GB" dirty="0"/>
              <a:t>It may be used to select:</a:t>
            </a:r>
          </a:p>
          <a:p>
            <a:pPr lvl="1"/>
            <a:r>
              <a:rPr lang="en-GB" dirty="0"/>
              <a:t>input-window length;</a:t>
            </a:r>
          </a:p>
          <a:p>
            <a:pPr lvl="1"/>
            <a:r>
              <a:rPr lang="en-GB" dirty="0"/>
              <a:t>temporal features;</a:t>
            </a:r>
          </a:p>
          <a:p>
            <a:pPr lvl="1"/>
            <a:r>
              <a:rPr lang="en-GB" dirty="0"/>
              <a:t>model family;</a:t>
            </a:r>
          </a:p>
          <a:p>
            <a:pPr lvl="1"/>
            <a:r>
              <a:rPr lang="en-GB" dirty="0"/>
              <a:t>model complexity;</a:t>
            </a:r>
          </a:p>
          <a:p>
            <a:pPr lvl="1"/>
            <a:r>
              <a:rPr lang="en-GB" dirty="0"/>
              <a:t>regularization strength;</a:t>
            </a:r>
          </a:p>
          <a:p>
            <a:pPr lvl="1"/>
            <a:r>
              <a:rPr lang="en-GB" dirty="0"/>
              <a:t>stopping time;</a:t>
            </a:r>
          </a:p>
          <a:p>
            <a:pPr lvl="1"/>
            <a:r>
              <a:rPr lang="en-GB" dirty="0"/>
              <a:t>classification threshold.</a:t>
            </a:r>
          </a:p>
          <a:p>
            <a:r>
              <a:rPr lang="en-GB" dirty="0"/>
              <a:t>The validation set is therefore part of the model-development process, even though it is not used directly to fit the final model parameters.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8D808BD-3C0D-EEF6-B6B6-0B9E7C3FFA5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b="1" dirty="0"/>
              <a:t>Test set</a:t>
            </a:r>
          </a:p>
          <a:p>
            <a:r>
              <a:rPr lang="en-GB" dirty="0"/>
              <a:t>The test set is used to estimate performance after the development choices have been completed.</a:t>
            </a:r>
          </a:p>
          <a:p>
            <a:r>
              <a:rPr lang="en-GB" dirty="0"/>
              <a:t>It should not influence:</a:t>
            </a:r>
          </a:p>
          <a:p>
            <a:pPr lvl="1"/>
            <a:r>
              <a:rPr lang="en-GB" dirty="0"/>
              <a:t>feature selection;</a:t>
            </a:r>
          </a:p>
          <a:p>
            <a:pPr lvl="1"/>
            <a:r>
              <a:rPr lang="en-GB" dirty="0"/>
              <a:t>model selection;</a:t>
            </a:r>
          </a:p>
          <a:p>
            <a:pPr lvl="1"/>
            <a:r>
              <a:rPr lang="en-GB" dirty="0"/>
              <a:t>hyperparameter tuning;</a:t>
            </a:r>
          </a:p>
          <a:p>
            <a:pPr lvl="1"/>
            <a:r>
              <a:rPr lang="en-GB" dirty="0"/>
              <a:t>threshold selection;</a:t>
            </a:r>
          </a:p>
          <a:p>
            <a:pPr lvl="1"/>
            <a:r>
              <a:rPr lang="en-GB" dirty="0"/>
              <a:t>stopping criteria.</a:t>
            </a:r>
          </a:p>
          <a:p>
            <a:endParaRPr lang="en-GB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E7E1E1B-A4C3-52C6-D4ED-ECC9C6DD801F}"/>
              </a:ext>
            </a:extLst>
          </p:cNvPr>
          <p:cNvSpPr txBox="1"/>
          <p:nvPr/>
        </p:nvSpPr>
        <p:spPr>
          <a:xfrm>
            <a:off x="6483486" y="5325070"/>
            <a:ext cx="510215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Training estimates model parameters, validation guides development decisions, and testing estimates final generalization.</a:t>
            </a:r>
          </a:p>
        </p:txBody>
      </p:sp>
    </p:spTree>
    <p:extLst>
      <p:ext uri="{BB962C8B-B14F-4D97-AF65-F5344CB8AC3E}">
        <p14:creationId xmlns:p14="http://schemas.microsoft.com/office/powerpoint/2010/main" val="2608934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94360" y="29260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split: training, validation, test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3504" y="7589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</a:rPr>
              <a:t>Each subset has a distinct role in the modelling workflow.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874520" y="3017520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331720" y="1737360"/>
            <a:ext cx="0" cy="25603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331720" y="1737360"/>
            <a:ext cx="6400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2331720" y="3017520"/>
            <a:ext cx="6400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2331720" y="4297680"/>
            <a:ext cx="6400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640080" y="256032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804672" y="2706624"/>
            <a:ext cx="905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563EB"/>
                </a:solidFill>
              </a:rPr>
              <a:t>Data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04672" y="3026664"/>
            <a:ext cx="90525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293B"/>
                </a:solidFill>
              </a:rPr>
              <a:t>available temporal examples</a:t>
            </a:r>
            <a:endParaRPr lang="en-US" sz="1240" dirty="0"/>
          </a:p>
        </p:txBody>
      </p:sp>
      <p:sp>
        <p:nvSpPr>
          <p:cNvPr id="13" name="Shape 11"/>
          <p:cNvSpPr/>
          <p:nvPr/>
        </p:nvSpPr>
        <p:spPr>
          <a:xfrm>
            <a:off x="2971800" y="114300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DCFCE7"/>
          </a:solidFill>
          <a:ln w="15240">
            <a:solidFill>
              <a:srgbClr val="16A34A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136392" y="1289304"/>
            <a:ext cx="2414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A34A"/>
                </a:solidFill>
              </a:rPr>
              <a:t>Training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136392" y="1609344"/>
            <a:ext cx="241401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293B"/>
                </a:solidFill>
              </a:rPr>
              <a:t>fit model parameters</a:t>
            </a:r>
            <a:endParaRPr lang="en-US" sz="1240" dirty="0"/>
          </a:p>
        </p:txBody>
      </p:sp>
      <p:sp>
        <p:nvSpPr>
          <p:cNvPr id="16" name="Shape 14"/>
          <p:cNvSpPr/>
          <p:nvPr/>
        </p:nvSpPr>
        <p:spPr>
          <a:xfrm>
            <a:off x="2971800" y="242316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FEF3C7"/>
          </a:solidFill>
          <a:ln w="15240">
            <a:solidFill>
              <a:srgbClr val="D97706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136392" y="2569464"/>
            <a:ext cx="2414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D97706"/>
                </a:solidFill>
              </a:rPr>
              <a:t>Validation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136392" y="2889504"/>
            <a:ext cx="241401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293B"/>
                </a:solidFill>
              </a:rPr>
              <a:t>choose features, model and hyperparameters</a:t>
            </a:r>
            <a:endParaRPr lang="en-US" sz="1240" dirty="0"/>
          </a:p>
        </p:txBody>
      </p:sp>
      <p:sp>
        <p:nvSpPr>
          <p:cNvPr id="19" name="Shape 17"/>
          <p:cNvSpPr/>
          <p:nvPr/>
        </p:nvSpPr>
        <p:spPr>
          <a:xfrm>
            <a:off x="2971800" y="370332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FEE2E2"/>
          </a:solidFill>
          <a:ln w="15240">
            <a:solidFill>
              <a:srgbClr val="DC2626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3136392" y="3849624"/>
            <a:ext cx="2414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DC2626"/>
                </a:solidFill>
              </a:rPr>
              <a:t>Test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3136392" y="4169664"/>
            <a:ext cx="241401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293B"/>
                </a:solidFill>
              </a:rPr>
              <a:t>final independent evaluation</a:t>
            </a:r>
            <a:endParaRPr lang="en-US" sz="1240" dirty="0"/>
          </a:p>
        </p:txBody>
      </p:sp>
      <p:sp>
        <p:nvSpPr>
          <p:cNvPr id="22" name="Shape 20"/>
          <p:cNvSpPr/>
          <p:nvPr/>
        </p:nvSpPr>
        <p:spPr>
          <a:xfrm>
            <a:off x="6629400" y="1234440"/>
            <a:ext cx="452628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967728" y="1965960"/>
            <a:ext cx="38404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</a:rPr>
              <a:t>The test set is not used to make modelling decisions. It is kept for the final unbiased estimate of performance.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967728" y="3337560"/>
            <a:ext cx="38404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</a:rPr>
              <a:t>Training and validation may be repeated during development; testing happens once at the end.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94360" y="29260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selection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3504" y="7589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</a:rPr>
              <a:t>Validation compares alternatives; the selected model is then evaluated on the test set.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395728" y="2720340"/>
            <a:ext cx="301752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599432" y="2720340"/>
            <a:ext cx="301752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6803136" y="2720340"/>
            <a:ext cx="301752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9006840" y="2720340"/>
            <a:ext cx="301752" cy="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566928" y="2148840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DCFCE7"/>
          </a:solidFill>
          <a:ln w="15240">
            <a:solidFill>
              <a:srgbClr val="16A34A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731520" y="2295144"/>
            <a:ext cx="1453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A34A"/>
                </a:solidFill>
              </a:rPr>
              <a:t>Training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31520" y="2615184"/>
            <a:ext cx="14538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293B"/>
                </a:solidFill>
              </a:rPr>
              <a:t>fit each candidate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2770632" y="2148840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2935224" y="2295144"/>
            <a:ext cx="1453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563EB"/>
                </a:solidFill>
              </a:rPr>
              <a:t>Candidate</a:t>
            </a:r>
            <a:endParaRPr lang="en-US" sz="1650" dirty="0"/>
          </a:p>
          <a:p>
            <a:pPr marL="0" indent="0">
              <a:buNone/>
            </a:pPr>
            <a:r>
              <a:rPr lang="en-US" sz="1650" b="1" dirty="0">
                <a:solidFill>
                  <a:srgbClr val="2563EB"/>
                </a:solidFill>
              </a:rPr>
              <a:t>models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2935224" y="2615184"/>
            <a:ext cx="14538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293B"/>
                </a:solidFill>
              </a:rPr>
              <a:t>alternative choices</a:t>
            </a:r>
            <a:endParaRPr lang="en-US" sz="1240" dirty="0"/>
          </a:p>
        </p:txBody>
      </p:sp>
      <p:sp>
        <p:nvSpPr>
          <p:cNvPr id="15" name="Shape 13"/>
          <p:cNvSpPr/>
          <p:nvPr/>
        </p:nvSpPr>
        <p:spPr>
          <a:xfrm>
            <a:off x="4974336" y="2148840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FEF3C7"/>
          </a:solidFill>
          <a:ln w="15240">
            <a:solidFill>
              <a:srgbClr val="D97706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138928" y="2295144"/>
            <a:ext cx="1453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D97706"/>
                </a:solidFill>
              </a:rPr>
              <a:t>Validation</a:t>
            </a:r>
            <a:endParaRPr lang="en-US" sz="1650" dirty="0"/>
          </a:p>
          <a:p>
            <a:pPr marL="0" indent="0">
              <a:buNone/>
            </a:pPr>
            <a:r>
              <a:rPr lang="en-US" sz="1650" b="1" dirty="0">
                <a:solidFill>
                  <a:srgbClr val="D97706"/>
                </a:solidFill>
              </a:rPr>
              <a:t>comparison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138928" y="2615184"/>
            <a:ext cx="14538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293B"/>
                </a:solidFill>
              </a:rPr>
              <a:t>rank by validation score</a:t>
            </a:r>
            <a:endParaRPr lang="en-US" sz="1240" dirty="0"/>
          </a:p>
        </p:txBody>
      </p:sp>
      <p:sp>
        <p:nvSpPr>
          <p:cNvPr id="18" name="Shape 16"/>
          <p:cNvSpPr/>
          <p:nvPr/>
        </p:nvSpPr>
        <p:spPr>
          <a:xfrm>
            <a:off x="7178040" y="2148840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7342632" y="2295144"/>
            <a:ext cx="1453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7C3AED"/>
                </a:solidFill>
              </a:rPr>
              <a:t>Selected</a:t>
            </a:r>
            <a:endParaRPr lang="en-US" sz="1650" dirty="0"/>
          </a:p>
          <a:p>
            <a:pPr marL="0" indent="0">
              <a:buNone/>
            </a:pPr>
            <a:r>
              <a:rPr lang="en-US" sz="1650" b="1" dirty="0">
                <a:solidFill>
                  <a:srgbClr val="7C3AED"/>
                </a:solidFill>
              </a:rPr>
              <a:t>model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7342632" y="2615184"/>
            <a:ext cx="14538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293B"/>
                </a:solidFill>
              </a:rPr>
              <a:t>single final choice</a:t>
            </a:r>
            <a:endParaRPr lang="en-US" sz="1240" dirty="0"/>
          </a:p>
        </p:txBody>
      </p:sp>
      <p:sp>
        <p:nvSpPr>
          <p:cNvPr id="21" name="Shape 19"/>
          <p:cNvSpPr/>
          <p:nvPr/>
        </p:nvSpPr>
        <p:spPr>
          <a:xfrm>
            <a:off x="9381744" y="2148840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FEE2E2"/>
          </a:solidFill>
          <a:ln w="15240">
            <a:solidFill>
              <a:srgbClr val="DC2626"/>
            </a:solidFill>
            <a:prstDash val="solid"/>
          </a:ln>
          <a:effectLst>
            <a:outerShdw blurRad="127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9546336" y="2295144"/>
            <a:ext cx="1453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DC2626"/>
                </a:solidFill>
              </a:rPr>
              <a:t>Test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9546336" y="2615184"/>
            <a:ext cx="145389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E293B"/>
                </a:solidFill>
              </a:rPr>
              <a:t>independent evaluation</a:t>
            </a:r>
            <a:endParaRPr lang="en-US" sz="1240" dirty="0"/>
          </a:p>
        </p:txBody>
      </p:sp>
      <p:sp>
        <p:nvSpPr>
          <p:cNvPr id="24" name="Shape 22"/>
          <p:cNvSpPr/>
          <p:nvPr/>
        </p:nvSpPr>
        <p:spPr>
          <a:xfrm>
            <a:off x="566928" y="3977640"/>
            <a:ext cx="8394192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2304288" y="41148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development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381744" y="3977640"/>
            <a:ext cx="1783080" cy="0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9290304" y="41148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</a:rPr>
              <a:t>final report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691640" y="5074920"/>
            <a:ext cx="8823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93B"/>
                </a:solidFill>
              </a:rPr>
              <a:t>Do not use test performance to choose among candidate models.</a:t>
            </a:r>
            <a:endParaRPr lang="en-US" sz="1900" dirty="0"/>
          </a:p>
        </p:txBody>
      </p:sp>
      <p:sp>
        <p:nvSpPr>
          <p:cNvPr id="29" name="Freccia circolare in su 28">
            <a:extLst>
              <a:ext uri="{FF2B5EF4-FFF2-40B4-BE49-F238E27FC236}">
                <a16:creationId xmlns:a16="http://schemas.microsoft.com/office/drawing/2014/main" id="{583347CD-281E-EA3C-ACED-BAF9C22F84D7}"/>
              </a:ext>
            </a:extLst>
          </p:cNvPr>
          <p:cNvSpPr/>
          <p:nvPr/>
        </p:nvSpPr>
        <p:spPr>
          <a:xfrm rot="10800000" flipV="1">
            <a:off x="1320929" y="3603440"/>
            <a:ext cx="5405271" cy="1251319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A0ED471-4F86-5128-A468-AF9C0A300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Generalization has multiple dimensions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D81D24B-6433-980A-3F9C-64081A191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b="1" dirty="0"/>
              <a:t>Temporal generalization </a:t>
            </a:r>
            <a:r>
              <a:rPr lang="en-GB" dirty="0"/>
              <a:t>The model is applied to later observations from the same process.</a:t>
            </a:r>
          </a:p>
          <a:p>
            <a:pPr lvl="1"/>
            <a:r>
              <a:rPr lang="en-GB" dirty="0"/>
              <a:t>next month’s demand;</a:t>
            </a:r>
          </a:p>
          <a:p>
            <a:pPr lvl="1"/>
            <a:r>
              <a:rPr lang="en-GB" dirty="0"/>
              <a:t>future operation of the same machine;</a:t>
            </a:r>
          </a:p>
          <a:p>
            <a:pPr lvl="1"/>
            <a:r>
              <a:rPr lang="en-GB" dirty="0"/>
              <a:t>later sessions from the same customers.</a:t>
            </a:r>
          </a:p>
          <a:p>
            <a:r>
              <a:rPr lang="en-GB" b="1" dirty="0"/>
              <a:t>Sequence generalization </a:t>
            </a:r>
            <a:r>
              <a:rPr lang="en-GB" dirty="0"/>
              <a:t>The model is applied to new sequences from entities already observed during training.</a:t>
            </a:r>
          </a:p>
          <a:p>
            <a:pPr lvl="1"/>
            <a:r>
              <a:rPr lang="en-GB" dirty="0"/>
              <a:t>a new production cycle from a known machine;</a:t>
            </a:r>
          </a:p>
          <a:p>
            <a:pPr lvl="1"/>
            <a:r>
              <a:rPr lang="en-GB" dirty="0"/>
              <a:t>a new trip from a known vehicle;</a:t>
            </a:r>
          </a:p>
          <a:p>
            <a:pPr lvl="1"/>
            <a:r>
              <a:rPr lang="en-GB" dirty="0"/>
              <a:t>a new session from a known customer.</a:t>
            </a:r>
          </a:p>
          <a:p>
            <a:r>
              <a:rPr lang="en-GB" b="1" dirty="0"/>
              <a:t>Entity generalization </a:t>
            </a:r>
            <a:r>
              <a:rPr lang="en-GB" dirty="0"/>
              <a:t>The model is applied to entities that were completely absent from training.</a:t>
            </a:r>
          </a:p>
          <a:p>
            <a:pPr lvl="1"/>
            <a:r>
              <a:rPr lang="en-GB" dirty="0"/>
              <a:t>a new machine;</a:t>
            </a:r>
          </a:p>
          <a:p>
            <a:pPr lvl="1"/>
            <a:r>
              <a:rPr lang="en-GB" dirty="0"/>
              <a:t>a new customer;</a:t>
            </a:r>
          </a:p>
          <a:p>
            <a:pPr lvl="1"/>
            <a:r>
              <a:rPr lang="en-GB" dirty="0"/>
              <a:t>a new patient;</a:t>
            </a:r>
          </a:p>
          <a:p>
            <a:pPr lvl="1"/>
            <a:r>
              <a:rPr lang="en-GB" dirty="0"/>
              <a:t>a new product.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3590F3F-3D76-986E-1D3C-E6D9B2171227}"/>
              </a:ext>
            </a:extLst>
          </p:cNvPr>
          <p:cNvSpPr txBox="1"/>
          <p:nvPr/>
        </p:nvSpPr>
        <p:spPr>
          <a:xfrm>
            <a:off x="2207870" y="1376013"/>
            <a:ext cx="81977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A model may be required to perform well under different forms of novelty</a:t>
            </a:r>
          </a:p>
        </p:txBody>
      </p:sp>
    </p:spTree>
    <p:extLst>
      <p:ext uri="{BB962C8B-B14F-4D97-AF65-F5344CB8AC3E}">
        <p14:creationId xmlns:p14="http://schemas.microsoft.com/office/powerpoint/2010/main" val="215129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98F8472-C187-245C-4398-F14703226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highlight>
                  <a:srgbClr val="FFFF00"/>
                </a:highlight>
              </a:rPr>
              <a:t>Generalization has multiple dimensions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F35C4DB-5051-E8C5-6FFB-418479369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/>
              <a:t>Environmental generalization </a:t>
            </a:r>
            <a:r>
              <a:rPr lang="en-GB" dirty="0"/>
              <a:t>The model is applied in a new acquisition or operating environment.</a:t>
            </a:r>
          </a:p>
          <a:p>
            <a:pPr lvl="1"/>
            <a:r>
              <a:rPr lang="en-GB" dirty="0"/>
              <a:t>a new factory;</a:t>
            </a:r>
          </a:p>
          <a:p>
            <a:pPr lvl="1"/>
            <a:r>
              <a:rPr lang="en-GB" dirty="0"/>
              <a:t>a new store;</a:t>
            </a:r>
          </a:p>
          <a:p>
            <a:pPr lvl="1"/>
            <a:r>
              <a:rPr lang="en-GB" dirty="0"/>
              <a:t>a new geographical region;</a:t>
            </a:r>
          </a:p>
          <a:p>
            <a:pPr lvl="1"/>
            <a:r>
              <a:rPr lang="en-GB" dirty="0"/>
              <a:t>a new sensor installation.</a:t>
            </a:r>
          </a:p>
          <a:p>
            <a:r>
              <a:rPr lang="en-GB" b="1" dirty="0"/>
              <a:t>Regime generalization </a:t>
            </a:r>
            <a:r>
              <a:rPr lang="en-GB" dirty="0"/>
              <a:t>The model is applied under conditions not well represented in the training period.</a:t>
            </a:r>
          </a:p>
          <a:p>
            <a:pPr lvl="1"/>
            <a:r>
              <a:rPr lang="en-GB" dirty="0"/>
              <a:t>extreme demand;</a:t>
            </a:r>
          </a:p>
          <a:p>
            <a:pPr lvl="1"/>
            <a:r>
              <a:rPr lang="en-GB" dirty="0"/>
              <a:t>a new production policy;</a:t>
            </a:r>
          </a:p>
          <a:p>
            <a:pPr lvl="1"/>
            <a:r>
              <a:rPr lang="en-GB" dirty="0"/>
              <a:t>unusually high load;</a:t>
            </a:r>
          </a:p>
          <a:p>
            <a:pPr lvl="1"/>
            <a:r>
              <a:rPr lang="en-GB" dirty="0"/>
              <a:t>a different seasonal regime.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4FB295C-6A1A-5352-1D8A-B4D7259BA01B}"/>
              </a:ext>
            </a:extLst>
          </p:cNvPr>
          <p:cNvSpPr txBox="1"/>
          <p:nvPr/>
        </p:nvSpPr>
        <p:spPr>
          <a:xfrm>
            <a:off x="8120391" y="5395031"/>
            <a:ext cx="33942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“Unseen data” must be defined in operational terms.</a:t>
            </a:r>
          </a:p>
        </p:txBody>
      </p:sp>
    </p:spTree>
    <p:extLst>
      <p:ext uri="{BB962C8B-B14F-4D97-AF65-F5344CB8AC3E}">
        <p14:creationId xmlns:p14="http://schemas.microsoft.com/office/powerpoint/2010/main" val="408847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B26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Generalization settings for temporal 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12648" y="86868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571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model may be evaluated on new entities, future regimes, or both.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703320" y="1170432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5E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entity split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 rot="16200000">
            <a:off x="320040" y="2971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5E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split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566160" y="1444752"/>
            <a:ext cx="3063240" cy="566928"/>
          </a:xfrm>
          <a:prstGeom prst="rect">
            <a:avLst/>
          </a:prstGeom>
          <a:solidFill>
            <a:srgbClr val="DCEBFF"/>
          </a:solidFill>
          <a:ln w="12700">
            <a:solidFill>
              <a:srgbClr val="B8C3D4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entity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629400" y="1444752"/>
            <a:ext cx="3063240" cy="566928"/>
          </a:xfrm>
          <a:prstGeom prst="rect">
            <a:avLst/>
          </a:prstGeom>
          <a:solidFill>
            <a:srgbClr val="DCEBFF"/>
          </a:solidFill>
          <a:ln w="12700">
            <a:solidFill>
              <a:srgbClr val="B8C3D4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entity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17320" y="2011680"/>
            <a:ext cx="2148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C3D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time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17320" y="3337560"/>
            <a:ext cx="2148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C3D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time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566160" y="2011680"/>
            <a:ext cx="3063240" cy="1325880"/>
          </a:xfrm>
          <a:prstGeom prst="rect">
            <a:avLst/>
          </a:prstGeom>
          <a:solidFill>
            <a:srgbClr val="DFF3EA"/>
          </a:solidFill>
          <a:ln w="12700">
            <a:solidFill>
              <a:srgbClr val="B8C3D4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entity, same period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29400" y="2011680"/>
            <a:ext cx="3063240" cy="1325880"/>
          </a:xfrm>
          <a:prstGeom prst="rect">
            <a:avLst/>
          </a:prstGeom>
          <a:solidFill>
            <a:srgbClr val="E9E1FF"/>
          </a:solidFill>
          <a:ln w="12700">
            <a:solidFill>
              <a:srgbClr val="B8C3D4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entity transfer
</a:t>
            </a:r>
            <a:r>
              <a:rPr lang="en-US" sz="1250" dirty="0">
                <a:solidFill>
                  <a:srgbClr val="6571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on old entities</a:t>
            </a:r>
            <a:endParaRPr lang="en-US" sz="180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6571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on new entities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3337560"/>
            <a:ext cx="3063240" cy="1325880"/>
          </a:xfrm>
          <a:prstGeom prst="rect">
            <a:avLst/>
          </a:prstGeom>
          <a:solidFill>
            <a:srgbClr val="FFF1D6"/>
          </a:solidFill>
          <a:ln w="12700">
            <a:solidFill>
              <a:srgbClr val="B8C3D4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generalization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29400" y="3337560"/>
            <a:ext cx="3063240" cy="1325880"/>
          </a:xfrm>
          <a:prstGeom prst="rect">
            <a:avLst/>
          </a:prstGeom>
          <a:solidFill>
            <a:srgbClr val="FBE0E0"/>
          </a:solidFill>
          <a:ln w="12700">
            <a:solidFill>
              <a:srgbClr val="B8C3D4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+ entity generalization
</a:t>
            </a:r>
            <a:r>
              <a:rPr lang="en-US" sz="1250" dirty="0">
                <a:solidFill>
                  <a:srgbClr val="657181"/>
                </a:solidFill>
                <a:latin typeface="Aptos" pitchFamily="34" charset="0"/>
              </a:rPr>
              <a:t>test on new entities</a:t>
            </a:r>
          </a:p>
          <a:p>
            <a:pPr marL="0" indent="0" algn="ctr">
              <a:buNone/>
            </a:pPr>
            <a:r>
              <a:rPr lang="en-US" sz="1250" dirty="0">
                <a:solidFill>
                  <a:srgbClr val="657181"/>
                </a:solidFill>
                <a:latin typeface="Aptos" pitchFamily="34" charset="0"/>
              </a:rPr>
              <a:t>and future period</a:t>
            </a:r>
          </a:p>
        </p:txBody>
      </p:sp>
      <p:sp>
        <p:nvSpPr>
          <p:cNvPr id="14" name="Text 12"/>
          <p:cNvSpPr/>
          <p:nvPr/>
        </p:nvSpPr>
        <p:spPr>
          <a:xfrm>
            <a:off x="1417320" y="4919472"/>
            <a:ext cx="6446520" cy="530352"/>
          </a:xfrm>
          <a:prstGeom prst="rect">
            <a:avLst/>
          </a:prstGeom>
          <a:solidFill>
            <a:srgbClr val="FFFFFF"/>
          </a:solidFill>
          <a:ln w="15240">
            <a:solidFill>
              <a:srgbClr val="2F5E9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third dimension:  </a:t>
            </a:r>
            <a:r>
              <a:rPr lang="en-US" sz="160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site  |  new operating regime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21040" y="4919472"/>
            <a:ext cx="1234440" cy="475488"/>
          </a:xfrm>
          <a:prstGeom prst="rect">
            <a:avLst/>
          </a:prstGeom>
          <a:solidFill>
            <a:srgbClr val="DCEBFF"/>
          </a:solidFill>
          <a:ln w="13970">
            <a:solidFill>
              <a:srgbClr val="2F5E9E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738360" y="4919472"/>
            <a:ext cx="1417320" cy="475488"/>
          </a:xfrm>
          <a:prstGeom prst="rect">
            <a:avLst/>
          </a:prstGeom>
          <a:solidFill>
            <a:srgbClr val="DCEBFF"/>
          </a:solidFill>
          <a:ln w="13970">
            <a:solidFill>
              <a:srgbClr val="2F5E9E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Regime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" y="6091111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571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performance depends on what changes between training and deployment.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4C3ABDD-7536-6F99-DCDD-E568A3922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test set should reproduce deployment conditions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C01E60A-2AA2-DE8B-3D0B-0C3873C3F86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GB" sz="3500" b="1" dirty="0"/>
              <a:t>Scenario 1 — Forecasting one continuing process</a:t>
            </a:r>
          </a:p>
          <a:p>
            <a:r>
              <a:rPr lang="en-GB" sz="3500" dirty="0"/>
              <a:t>Deployment: later time periods from the same process.</a:t>
            </a:r>
          </a:p>
          <a:p>
            <a:r>
              <a:rPr lang="en-GB" sz="3500" dirty="0"/>
              <a:t>Test set: a chronological interval after the training and validation periods.</a:t>
            </a:r>
          </a:p>
          <a:p>
            <a:endParaRPr lang="en-GB" sz="3500" b="1" dirty="0"/>
          </a:p>
          <a:p>
            <a:r>
              <a:rPr lang="en-GB" sz="3500" b="1" dirty="0"/>
              <a:t>Scenario 2 — Monitoring a known fleet</a:t>
            </a:r>
          </a:p>
          <a:p>
            <a:r>
              <a:rPr lang="en-GB" sz="3500" dirty="0"/>
              <a:t>Deployment: future cycles from machines already represented in training.</a:t>
            </a:r>
          </a:p>
          <a:p>
            <a:r>
              <a:rPr lang="en-GB" sz="3500" dirty="0"/>
              <a:t>Test set: later cycles from the same machines.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CE00D8E-36B3-39B8-7B97-70C2E3B372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9969" y="2160589"/>
            <a:ext cx="4666873" cy="3880773"/>
          </a:xfrm>
        </p:spPr>
        <p:txBody>
          <a:bodyPr>
            <a:normAutofit fontScale="40000" lnSpcReduction="20000"/>
          </a:bodyPr>
          <a:lstStyle/>
          <a:p>
            <a:r>
              <a:rPr lang="en-GB" sz="3000" b="1" dirty="0"/>
              <a:t>Scenario 3 — Deploying on new machines</a:t>
            </a:r>
          </a:p>
          <a:p>
            <a:r>
              <a:rPr lang="en-GB" sz="3000" dirty="0"/>
              <a:t>Deployment: entities not observed during model development.</a:t>
            </a:r>
          </a:p>
          <a:p>
            <a:r>
              <a:rPr lang="en-GB" sz="3000" dirty="0"/>
              <a:t>Test set: complete machines held out from training and validation.</a:t>
            </a:r>
          </a:p>
          <a:p>
            <a:endParaRPr lang="en-GB" sz="3000" b="1" dirty="0"/>
          </a:p>
          <a:p>
            <a:r>
              <a:rPr lang="en-GB" sz="3000" b="1" dirty="0"/>
              <a:t>Scenario 4 — Deploying at a new site</a:t>
            </a:r>
          </a:p>
          <a:p>
            <a:r>
              <a:rPr lang="en-GB" sz="3000" dirty="0"/>
              <a:t>Deployment: a new environment with possible differences in equipment, acquisition or operation.</a:t>
            </a:r>
          </a:p>
          <a:p>
            <a:r>
              <a:rPr lang="en-GB" sz="3000" dirty="0"/>
              <a:t>Test set: all data from one or more held-out sites.</a:t>
            </a:r>
          </a:p>
          <a:p>
            <a:endParaRPr lang="en-GB" sz="3000" b="1" dirty="0"/>
          </a:p>
          <a:p>
            <a:r>
              <a:rPr lang="en-GB" sz="3000" b="1" dirty="0"/>
              <a:t>Scenario 5 — Global model for products and stores</a:t>
            </a:r>
          </a:p>
          <a:p>
            <a:r>
              <a:rPr lang="en-GB" sz="3000" dirty="0"/>
              <a:t>Deployment may include: future periods for known products and stores; new products; new stores;</a:t>
            </a:r>
          </a:p>
          <a:p>
            <a:r>
              <a:rPr lang="en-GB" sz="3000" dirty="0"/>
              <a:t>Test set: both new entities and future time. These should ideally be evaluated separately</a:t>
            </a:r>
            <a:r>
              <a:rPr lang="en-GB" sz="2000" dirty="0"/>
              <a:t>.</a:t>
            </a:r>
          </a:p>
          <a:p>
            <a:endParaRPr lang="en-GB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3685562-46D3-81DC-6A2F-1F5795CE9FB6}"/>
              </a:ext>
            </a:extLst>
          </p:cNvPr>
          <p:cNvSpPr txBox="1"/>
          <p:nvPr/>
        </p:nvSpPr>
        <p:spPr>
          <a:xfrm>
            <a:off x="1808547" y="6041361"/>
            <a:ext cx="61056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The test set should differ from the training set in the same way that deployment data are expected to differ.</a:t>
            </a:r>
          </a:p>
        </p:txBody>
      </p:sp>
    </p:spTree>
    <p:extLst>
      <p:ext uri="{BB962C8B-B14F-4D97-AF65-F5344CB8AC3E}">
        <p14:creationId xmlns:p14="http://schemas.microsoft.com/office/powerpoint/2010/main" val="3708397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6BA461-CB9F-6998-3BBF-ED6AC829C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highlight>
                  <a:srgbClr val="FFFF00"/>
                </a:highlight>
              </a:rPr>
              <a:t>The test set should reproduce deployment conditions</a:t>
            </a:r>
          </a:p>
        </p:txBody>
      </p:sp>
      <p:graphicFrame>
        <p:nvGraphicFramePr>
          <p:cNvPr id="12" name="Segnaposto contenuto 11">
            <a:extLst>
              <a:ext uri="{FF2B5EF4-FFF2-40B4-BE49-F238E27FC236}">
                <a16:creationId xmlns:a16="http://schemas.microsoft.com/office/drawing/2014/main" id="{C6206177-ABA9-0653-AF51-D4087780B8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1127772"/>
              </p:ext>
            </p:extLst>
          </p:nvPr>
        </p:nvGraphicFramePr>
        <p:xfrm>
          <a:off x="2480153" y="2304789"/>
          <a:ext cx="4960308" cy="27682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80154">
                  <a:extLst>
                    <a:ext uri="{9D8B030D-6E8A-4147-A177-3AD203B41FA5}">
                      <a16:colId xmlns:a16="http://schemas.microsoft.com/office/drawing/2014/main" val="3792490750"/>
                    </a:ext>
                  </a:extLst>
                </a:gridCol>
                <a:gridCol w="2480154">
                  <a:extLst>
                    <a:ext uri="{9D8B030D-6E8A-4147-A177-3AD203B41FA5}">
                      <a16:colId xmlns:a16="http://schemas.microsoft.com/office/drawing/2014/main" val="3065751970"/>
                    </a:ext>
                  </a:extLst>
                </a:gridCol>
              </a:tblGrid>
              <a:tr h="44292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1" u="none" strike="noStrike">
                          <a:effectLst/>
                        </a:rPr>
                        <a:t>Deployment objective</a:t>
                      </a:r>
                      <a:endParaRPr lang="en-GB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69" marR="6469" marT="646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900" b="1" u="none" strike="noStrike" dirty="0">
                          <a:effectLst/>
                        </a:rPr>
                        <a:t>Appropriate test construction</a:t>
                      </a:r>
                      <a:endParaRPr lang="en-GB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69" marR="6469" marT="6469" marB="0" anchor="ctr"/>
                </a:tc>
                <a:extLst>
                  <a:ext uri="{0D108BD9-81ED-4DB2-BD59-A6C34878D82A}">
                    <a16:rowId xmlns:a16="http://schemas.microsoft.com/office/drawing/2014/main" val="1242956380"/>
                  </a:ext>
                </a:extLst>
              </a:tr>
              <a:tr h="44292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Future of the same process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69" marR="6469" marT="646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Later chronological interval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69" marR="6469" marT="6469" marB="0" anchor="ctr"/>
                </a:tc>
                <a:extLst>
                  <a:ext uri="{0D108BD9-81ED-4DB2-BD59-A6C34878D82A}">
                    <a16:rowId xmlns:a16="http://schemas.microsoft.com/office/drawing/2014/main" val="2552346166"/>
                  </a:ext>
                </a:extLst>
              </a:tr>
              <a:tr h="5536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New cycle from known machine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69" marR="6469" marT="646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Hold out complete later cycles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69" marR="6469" marT="6469" marB="0" anchor="ctr"/>
                </a:tc>
                <a:extLst>
                  <a:ext uri="{0D108BD9-81ED-4DB2-BD59-A6C34878D82A}">
                    <a16:rowId xmlns:a16="http://schemas.microsoft.com/office/drawing/2014/main" val="555963267"/>
                  </a:ext>
                </a:extLst>
              </a:tr>
              <a:tr h="3321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New machine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69" marR="6469" marT="646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Hold out complete entities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69" marR="6469" marT="6469" marB="0" anchor="ctr"/>
                </a:tc>
                <a:extLst>
                  <a:ext uri="{0D108BD9-81ED-4DB2-BD59-A6C34878D82A}">
                    <a16:rowId xmlns:a16="http://schemas.microsoft.com/office/drawing/2014/main" val="3573193803"/>
                  </a:ext>
                </a:extLst>
              </a:tr>
              <a:tr h="44292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New site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69" marR="6469" marT="646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Hold out complete environment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69" marR="6469" marT="6469" marB="0" anchor="ctr"/>
                </a:tc>
                <a:extLst>
                  <a:ext uri="{0D108BD9-81ED-4DB2-BD59-A6C34878D82A}">
                    <a16:rowId xmlns:a16="http://schemas.microsoft.com/office/drawing/2014/main" val="3346557010"/>
                  </a:ext>
                </a:extLst>
              </a:tr>
              <a:tr h="5536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u="none" strike="noStrike">
                          <a:effectLst/>
                        </a:rPr>
                        <a:t>New entities in future periods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69" marR="6469" marT="646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900" u="none" strike="noStrike" dirty="0">
                          <a:effectLst/>
                        </a:rPr>
                        <a:t>Entity holdout plus temporal holdout</a:t>
                      </a:r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69" marR="6469" marT="6469" marB="0" anchor="ctr"/>
                </a:tc>
                <a:extLst>
                  <a:ext uri="{0D108BD9-81ED-4DB2-BD59-A6C34878D82A}">
                    <a16:rowId xmlns:a16="http://schemas.microsoft.com/office/drawing/2014/main" val="3477627861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D52739A5-1915-2FC1-FB6B-F730417D9AA4}"/>
              </a:ext>
            </a:extLst>
          </p:cNvPr>
          <p:cNvSpPr txBox="1"/>
          <p:nvPr/>
        </p:nvSpPr>
        <p:spPr>
          <a:xfrm>
            <a:off x="6210744" y="5925234"/>
            <a:ext cx="47714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The split (and data collection, if feasible) is part of the problem definition.</a:t>
            </a:r>
          </a:p>
        </p:txBody>
      </p:sp>
    </p:spTree>
    <p:extLst>
      <p:ext uri="{BB962C8B-B14F-4D97-AF65-F5344CB8AC3E}">
        <p14:creationId xmlns:p14="http://schemas.microsoft.com/office/powerpoint/2010/main" val="15965378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A7E059-0D05-1402-603F-14F41D348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high score may answer the wrong question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BB87B73-2CEB-0E2C-E64C-D23BE36C2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Consider a dataset containing several cycles from the same machines.</a:t>
            </a:r>
          </a:p>
          <a:p>
            <a:pPr lvl="1"/>
            <a:r>
              <a:rPr lang="en-GB" dirty="0"/>
              <a:t>Machine A: cycles A1, A2, A3, A4</a:t>
            </a:r>
          </a:p>
          <a:p>
            <a:pPr lvl="1"/>
            <a:r>
              <a:rPr lang="en-GB" dirty="0"/>
              <a:t>Machine B: cycles B1, B2, B3, B4</a:t>
            </a:r>
          </a:p>
          <a:p>
            <a:pPr lvl="1"/>
            <a:r>
              <a:rPr lang="en-GB" dirty="0"/>
              <a:t>Machine C: cycles C1, C2, C3, C4</a:t>
            </a:r>
          </a:p>
          <a:p>
            <a:endParaRPr lang="en-GB" b="1" dirty="0"/>
          </a:p>
          <a:p>
            <a:r>
              <a:rPr lang="en-GB" b="1" dirty="0"/>
              <a:t>Protocol A — Random windows from all machines</a:t>
            </a:r>
          </a:p>
          <a:p>
            <a:r>
              <a:rPr lang="en-GB" dirty="0"/>
              <a:t>Training and test sets contain windows from Machines A, B and C.</a:t>
            </a:r>
          </a:p>
          <a:p>
            <a:r>
              <a:rPr lang="en-GB" dirty="0"/>
              <a:t>This measures:</a:t>
            </a:r>
          </a:p>
          <a:p>
            <a:pPr lvl="1"/>
            <a:r>
              <a:rPr lang="en-GB" dirty="0"/>
              <a:t>performance on windows similar to those already observed;</a:t>
            </a:r>
          </a:p>
          <a:p>
            <a:pPr lvl="1"/>
            <a:r>
              <a:rPr lang="en-GB" dirty="0"/>
              <a:t>partial memorization of machine-specific characteristics;</a:t>
            </a:r>
          </a:p>
          <a:p>
            <a:pPr lvl="1"/>
            <a:r>
              <a:rPr lang="en-GB" dirty="0"/>
              <a:t>interpolation within known entities.</a:t>
            </a:r>
          </a:p>
          <a:p>
            <a:pPr lvl="1"/>
            <a:r>
              <a:rPr lang="en-GB" dirty="0"/>
              <a:t>It does not demonstrate performance on a new machine.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94917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541F19-ED57-107F-D146-625780E6B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high score may answer the wrong question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65039D4-9788-64DF-0195-4C49515BA1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b="1" dirty="0"/>
              <a:t>Protocol B — Complete cycles held out</a:t>
            </a:r>
          </a:p>
          <a:p>
            <a:r>
              <a:rPr lang="en-GB" dirty="0"/>
              <a:t>Training:</a:t>
            </a:r>
          </a:p>
          <a:p>
            <a:pPr lvl="1"/>
            <a:r>
              <a:rPr lang="en-GB" dirty="0"/>
              <a:t>A1, A2, A3;</a:t>
            </a:r>
          </a:p>
          <a:p>
            <a:pPr lvl="1"/>
            <a:r>
              <a:rPr lang="en-GB" dirty="0"/>
              <a:t>B1, B2, B3;</a:t>
            </a:r>
          </a:p>
          <a:p>
            <a:pPr lvl="1"/>
            <a:r>
              <a:rPr lang="en-GB" dirty="0"/>
              <a:t>C1, C2, C3.</a:t>
            </a:r>
          </a:p>
          <a:p>
            <a:r>
              <a:rPr lang="en-GB" dirty="0"/>
              <a:t>Test:</a:t>
            </a:r>
          </a:p>
          <a:p>
            <a:pPr lvl="1"/>
            <a:r>
              <a:rPr lang="en-GB" dirty="0"/>
              <a:t>A4, B4, C4.</a:t>
            </a:r>
          </a:p>
          <a:p>
            <a:r>
              <a:rPr lang="en-GB" dirty="0"/>
              <a:t>This measures: generalization to new cycles from known machines.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FC2639E-D177-DE65-00C9-6614A25D3E3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b="1" dirty="0"/>
              <a:t>Protocol C — Complete machine held out</a:t>
            </a:r>
          </a:p>
          <a:p>
            <a:r>
              <a:rPr lang="en-GB" dirty="0"/>
              <a:t>Training: all cycles from Machines A and B.</a:t>
            </a:r>
          </a:p>
          <a:p>
            <a:r>
              <a:rPr lang="en-GB" dirty="0"/>
              <a:t>Test: all cycles from Machine C.</a:t>
            </a:r>
          </a:p>
          <a:p>
            <a:r>
              <a:rPr lang="en-GB" dirty="0"/>
              <a:t>This measures: generalization to an unseen entity.</a:t>
            </a:r>
          </a:p>
          <a:p>
            <a:endParaRPr lang="en-GB" b="1" dirty="0"/>
          </a:p>
          <a:p>
            <a:r>
              <a:rPr lang="en-GB" b="1" dirty="0"/>
              <a:t>Protocol D — Future cycles from an unseen machine</a:t>
            </a:r>
          </a:p>
          <a:p>
            <a:r>
              <a:rPr lang="en-GB" dirty="0"/>
              <a:t>Training: earlier data from Machines A and B.</a:t>
            </a:r>
          </a:p>
          <a:p>
            <a:r>
              <a:rPr lang="en-GB" dirty="0"/>
              <a:t>Test: later data from Machine C.</a:t>
            </a:r>
          </a:p>
          <a:p>
            <a:r>
              <a:rPr lang="en-GB" dirty="0"/>
              <a:t>This combines:</a:t>
            </a:r>
          </a:p>
          <a:p>
            <a:pPr lvl="1"/>
            <a:r>
              <a:rPr lang="en-GB" dirty="0"/>
              <a:t>entity generalization;</a:t>
            </a:r>
          </a:p>
          <a:p>
            <a:pPr lvl="1"/>
            <a:r>
              <a:rPr lang="en-GB" dirty="0"/>
              <a:t>temporal generalization.</a:t>
            </a:r>
          </a:p>
          <a:p>
            <a:endParaRPr lang="en-GB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D17BFCF-FCE4-4335-A510-62331D563BF9}"/>
              </a:ext>
            </a:extLst>
          </p:cNvPr>
          <p:cNvSpPr txBox="1"/>
          <p:nvPr/>
        </p:nvSpPr>
        <p:spPr>
          <a:xfrm>
            <a:off x="2485416" y="6140865"/>
            <a:ext cx="60992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The four protocols may produce very different scores because they evaluate different capabilities.</a:t>
            </a:r>
          </a:p>
        </p:txBody>
      </p:sp>
    </p:spTree>
    <p:extLst>
      <p:ext uri="{BB962C8B-B14F-4D97-AF65-F5344CB8AC3E}">
        <p14:creationId xmlns:p14="http://schemas.microsoft.com/office/powerpoint/2010/main" val="9114744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67160" y="0"/>
            <a:ext cx="621792" cy="6858000"/>
          </a:xfrm>
          <a:prstGeom prst="rect">
            <a:avLst/>
          </a:prstGeom>
          <a:solidFill>
            <a:srgbClr val="89C52A">
              <a:alpha val="90000"/>
            </a:srgbClr>
          </a:solidFill>
          <a:ln w="12700">
            <a:solidFill>
              <a:srgbClr val="89C5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329184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highlight>
                  <a:srgbClr val="FFFF00"/>
                </a:highlight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Train/test </a:t>
            </a: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splits over a machine-observation period table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12064" y="77724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5E6E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data layout can define different generalization questions.</a:t>
            </a:r>
            <a:endParaRPr lang="en-US" sz="1220" dirty="0"/>
          </a:p>
        </p:txBody>
      </p:sp>
      <p:sp>
        <p:nvSpPr>
          <p:cNvPr id="5" name="Text 3"/>
          <p:cNvSpPr/>
          <p:nvPr/>
        </p:nvSpPr>
        <p:spPr>
          <a:xfrm>
            <a:off x="8778240" y="32004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5E6E84"/>
                </a:solidFill>
              </a:rPr>
              <a:t>Legend</a:t>
            </a:r>
            <a:endParaRPr lang="en-US" sz="870" dirty="0"/>
          </a:p>
        </p:txBody>
      </p:sp>
      <p:sp>
        <p:nvSpPr>
          <p:cNvPr id="6" name="Shape 4"/>
          <p:cNvSpPr/>
          <p:nvPr/>
        </p:nvSpPr>
        <p:spPr>
          <a:xfrm>
            <a:off x="9555480" y="301752"/>
            <a:ext cx="201168" cy="201168"/>
          </a:xfrm>
          <a:prstGeom prst="rect">
            <a:avLst/>
          </a:prstGeom>
          <a:solidFill>
            <a:srgbClr val="D7E9FF"/>
          </a:solidFill>
          <a:ln w="13970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9811512" y="320040"/>
            <a:ext cx="429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111827"/>
                </a:solidFill>
              </a:rPr>
              <a:t>Train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10378440" y="301752"/>
            <a:ext cx="201168" cy="201168"/>
          </a:xfrm>
          <a:prstGeom prst="rect">
            <a:avLst/>
          </a:prstGeom>
          <a:solidFill>
            <a:srgbClr val="FFE7B8"/>
          </a:solidFill>
          <a:ln w="1397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0634472" y="32004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111827"/>
                </a:solidFill>
              </a:rPr>
              <a:t>Test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9555480" y="640080"/>
            <a:ext cx="201168" cy="201168"/>
          </a:xfrm>
          <a:prstGeom prst="rect">
            <a:avLst/>
          </a:prstGeom>
          <a:solidFill>
            <a:srgbClr val="EEF2F6"/>
          </a:solidFill>
          <a:ln w="13970">
            <a:solidFill>
              <a:srgbClr val="C8D3D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9811512" y="658368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5E6E84"/>
                </a:solidFill>
              </a:rPr>
              <a:t>Not used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658368" y="1261872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8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</a:t>
            </a:r>
            <a:r>
              <a:rPr lang="en-GB" sz="1400" b="1" dirty="0"/>
              <a:t>Same machines, mixed periods</a:t>
            </a:r>
            <a:endParaRPr lang="en-US" sz="1480" b="1" dirty="0"/>
          </a:p>
        </p:txBody>
      </p:sp>
      <p:sp>
        <p:nvSpPr>
          <p:cNvPr id="13" name="Text 11"/>
          <p:cNvSpPr/>
          <p:nvPr/>
        </p:nvSpPr>
        <p:spPr>
          <a:xfrm>
            <a:off x="658368" y="1563624"/>
            <a:ext cx="5074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5E6E84"/>
                </a:solidFill>
              </a:rPr>
              <a:t>train and test cycles come from the same machines</a:t>
            </a:r>
            <a:endParaRPr lang="en-US" sz="890" dirty="0"/>
          </a:p>
        </p:txBody>
      </p:sp>
      <p:sp>
        <p:nvSpPr>
          <p:cNvPr id="14" name="Text 12"/>
          <p:cNvSpPr/>
          <p:nvPr/>
        </p:nvSpPr>
        <p:spPr>
          <a:xfrm>
            <a:off x="1956816" y="1865376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5E6E84"/>
                </a:solidFill>
              </a:rPr>
              <a:t>P1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2587752" y="1865376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5E6E84"/>
                </a:solidFill>
              </a:rPr>
              <a:t>P2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3218688" y="1865376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5E6E84"/>
                </a:solidFill>
              </a:rPr>
              <a:t>P3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3849624" y="1865376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5E6E84"/>
                </a:solidFill>
              </a:rPr>
              <a:t>P4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704088" y="2176272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dirty="0">
                <a:solidFill>
                  <a:srgbClr val="111827"/>
                </a:solidFill>
              </a:rPr>
              <a:t>Machine A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1956816" y="2112264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2587752" y="2112264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3218688" y="2112264"/>
            <a:ext cx="566928" cy="283464"/>
          </a:xfrm>
          <a:prstGeom prst="rect">
            <a:avLst/>
          </a:prstGeom>
          <a:solidFill>
            <a:srgbClr val="FFE7B8"/>
          </a:solidFill>
          <a:ln w="1333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3849624" y="2112264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704088" y="252374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dirty="0">
                <a:solidFill>
                  <a:srgbClr val="111827"/>
                </a:solidFill>
              </a:rPr>
              <a:t>Machine B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1956816" y="2459736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2587752" y="2459736"/>
            <a:ext cx="566928" cy="283464"/>
          </a:xfrm>
          <a:prstGeom prst="rect">
            <a:avLst/>
          </a:prstGeom>
          <a:solidFill>
            <a:srgbClr val="FFE7B8"/>
          </a:solidFill>
          <a:ln w="1333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3218688" y="2459736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3849624" y="2459736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704088" y="2871216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dirty="0">
                <a:solidFill>
                  <a:srgbClr val="111827"/>
                </a:solidFill>
              </a:rPr>
              <a:t>Machine C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1956816" y="2807208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2587752" y="2807208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3218688" y="2807208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3849624" y="2807208"/>
            <a:ext cx="566928" cy="283464"/>
          </a:xfrm>
          <a:prstGeom prst="rect">
            <a:avLst/>
          </a:prstGeom>
          <a:solidFill>
            <a:srgbClr val="FFE7B8"/>
          </a:solidFill>
          <a:ln w="1333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704088" y="3218688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dirty="0">
                <a:solidFill>
                  <a:srgbClr val="111827"/>
                </a:solidFill>
              </a:rPr>
              <a:t>Machine D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1956816" y="3154680"/>
            <a:ext cx="566928" cy="283464"/>
          </a:xfrm>
          <a:prstGeom prst="rect">
            <a:avLst/>
          </a:prstGeom>
          <a:solidFill>
            <a:srgbClr val="FFE7B8"/>
          </a:solidFill>
          <a:ln w="1333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2587752" y="3154680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3218688" y="3154680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3849624" y="3154680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6254496" y="1261872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Future-period split</a:t>
            </a:r>
            <a:endParaRPr lang="en-US" sz="1480" dirty="0"/>
          </a:p>
        </p:txBody>
      </p:sp>
      <p:sp>
        <p:nvSpPr>
          <p:cNvPr id="39" name="Text 37"/>
          <p:cNvSpPr/>
          <p:nvPr/>
        </p:nvSpPr>
        <p:spPr>
          <a:xfrm>
            <a:off x="6254496" y="1563624"/>
            <a:ext cx="5074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5E6E84"/>
                </a:solidFill>
              </a:rPr>
              <a:t>P1 → P4 are chronological: train earlier cycles, test later cycles</a:t>
            </a:r>
            <a:endParaRPr lang="en-US" sz="890" dirty="0"/>
          </a:p>
        </p:txBody>
      </p:sp>
      <p:sp>
        <p:nvSpPr>
          <p:cNvPr id="40" name="Text 38"/>
          <p:cNvSpPr/>
          <p:nvPr/>
        </p:nvSpPr>
        <p:spPr>
          <a:xfrm>
            <a:off x="7552944" y="1865376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5E6E84"/>
                </a:solidFill>
              </a:rPr>
              <a:t>P1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8183880" y="1865376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5E6E84"/>
                </a:solidFill>
              </a:rPr>
              <a:t>P2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8814816" y="1865376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5E6E84"/>
                </a:solidFill>
              </a:rPr>
              <a:t>P3</a:t>
            </a:r>
            <a:endParaRPr lang="en-US" sz="880" dirty="0"/>
          </a:p>
        </p:txBody>
      </p:sp>
      <p:sp>
        <p:nvSpPr>
          <p:cNvPr id="43" name="Text 41"/>
          <p:cNvSpPr/>
          <p:nvPr/>
        </p:nvSpPr>
        <p:spPr>
          <a:xfrm>
            <a:off x="9445752" y="1865376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5E6E84"/>
                </a:solidFill>
              </a:rPr>
              <a:t>P4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6300216" y="2176272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dirty="0">
                <a:solidFill>
                  <a:srgbClr val="111827"/>
                </a:solidFill>
              </a:rPr>
              <a:t>Machine A</a:t>
            </a:r>
            <a:endParaRPr lang="en-US" sz="870" dirty="0"/>
          </a:p>
        </p:txBody>
      </p:sp>
      <p:sp>
        <p:nvSpPr>
          <p:cNvPr id="45" name="Shape 43"/>
          <p:cNvSpPr/>
          <p:nvPr/>
        </p:nvSpPr>
        <p:spPr>
          <a:xfrm>
            <a:off x="7552944" y="2112264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8183880" y="2112264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Shape 45"/>
          <p:cNvSpPr/>
          <p:nvPr/>
        </p:nvSpPr>
        <p:spPr>
          <a:xfrm>
            <a:off x="8814816" y="2112264"/>
            <a:ext cx="566928" cy="283464"/>
          </a:xfrm>
          <a:prstGeom prst="rect">
            <a:avLst/>
          </a:prstGeom>
          <a:solidFill>
            <a:srgbClr val="FFE7B8"/>
          </a:solidFill>
          <a:ln w="1333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46"/>
          <p:cNvSpPr/>
          <p:nvPr/>
        </p:nvSpPr>
        <p:spPr>
          <a:xfrm>
            <a:off x="9445752" y="2112264"/>
            <a:ext cx="566928" cy="283464"/>
          </a:xfrm>
          <a:prstGeom prst="rect">
            <a:avLst/>
          </a:prstGeom>
          <a:solidFill>
            <a:srgbClr val="FFE7B8"/>
          </a:solidFill>
          <a:ln w="1333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6300216" y="252374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dirty="0">
                <a:solidFill>
                  <a:srgbClr val="111827"/>
                </a:solidFill>
              </a:rPr>
              <a:t>Machine B</a:t>
            </a:r>
            <a:endParaRPr lang="en-US" sz="870" dirty="0"/>
          </a:p>
        </p:txBody>
      </p:sp>
      <p:sp>
        <p:nvSpPr>
          <p:cNvPr id="50" name="Shape 48"/>
          <p:cNvSpPr/>
          <p:nvPr/>
        </p:nvSpPr>
        <p:spPr>
          <a:xfrm>
            <a:off x="7552944" y="2459736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8183880" y="2459736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Shape 50"/>
          <p:cNvSpPr/>
          <p:nvPr/>
        </p:nvSpPr>
        <p:spPr>
          <a:xfrm>
            <a:off x="8814816" y="2459736"/>
            <a:ext cx="566928" cy="283464"/>
          </a:xfrm>
          <a:prstGeom prst="rect">
            <a:avLst/>
          </a:prstGeom>
          <a:solidFill>
            <a:srgbClr val="FFE7B8"/>
          </a:solidFill>
          <a:ln w="1333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Shape 51"/>
          <p:cNvSpPr/>
          <p:nvPr/>
        </p:nvSpPr>
        <p:spPr>
          <a:xfrm>
            <a:off x="9445752" y="2459736"/>
            <a:ext cx="566928" cy="283464"/>
          </a:xfrm>
          <a:prstGeom prst="rect">
            <a:avLst/>
          </a:prstGeom>
          <a:solidFill>
            <a:srgbClr val="FFE7B8"/>
          </a:solidFill>
          <a:ln w="1333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2"/>
          <p:cNvSpPr/>
          <p:nvPr/>
        </p:nvSpPr>
        <p:spPr>
          <a:xfrm>
            <a:off x="6300216" y="2871216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dirty="0">
                <a:solidFill>
                  <a:srgbClr val="111827"/>
                </a:solidFill>
              </a:rPr>
              <a:t>Machine C</a:t>
            </a:r>
            <a:endParaRPr lang="en-US" sz="870" dirty="0"/>
          </a:p>
        </p:txBody>
      </p:sp>
      <p:sp>
        <p:nvSpPr>
          <p:cNvPr id="55" name="Shape 53"/>
          <p:cNvSpPr/>
          <p:nvPr/>
        </p:nvSpPr>
        <p:spPr>
          <a:xfrm>
            <a:off x="7552944" y="2807208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8183880" y="2807208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8814816" y="2807208"/>
            <a:ext cx="566928" cy="283464"/>
          </a:xfrm>
          <a:prstGeom prst="rect">
            <a:avLst/>
          </a:prstGeom>
          <a:solidFill>
            <a:srgbClr val="FFE7B8"/>
          </a:solidFill>
          <a:ln w="1333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Shape 56"/>
          <p:cNvSpPr/>
          <p:nvPr/>
        </p:nvSpPr>
        <p:spPr>
          <a:xfrm>
            <a:off x="9445752" y="2807208"/>
            <a:ext cx="566928" cy="283464"/>
          </a:xfrm>
          <a:prstGeom prst="rect">
            <a:avLst/>
          </a:prstGeom>
          <a:solidFill>
            <a:srgbClr val="FFE7B8"/>
          </a:solidFill>
          <a:ln w="1333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/>
          <p:nvPr/>
        </p:nvSpPr>
        <p:spPr>
          <a:xfrm>
            <a:off x="6300216" y="3218688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dirty="0">
                <a:solidFill>
                  <a:srgbClr val="111827"/>
                </a:solidFill>
              </a:rPr>
              <a:t>Machine D</a:t>
            </a:r>
            <a:endParaRPr lang="en-US" sz="870" dirty="0"/>
          </a:p>
        </p:txBody>
      </p:sp>
      <p:sp>
        <p:nvSpPr>
          <p:cNvPr id="60" name="Shape 58"/>
          <p:cNvSpPr/>
          <p:nvPr/>
        </p:nvSpPr>
        <p:spPr>
          <a:xfrm>
            <a:off x="7552944" y="3154680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Shape 59"/>
          <p:cNvSpPr/>
          <p:nvPr/>
        </p:nvSpPr>
        <p:spPr>
          <a:xfrm>
            <a:off x="8183880" y="3154680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Shape 60"/>
          <p:cNvSpPr/>
          <p:nvPr/>
        </p:nvSpPr>
        <p:spPr>
          <a:xfrm>
            <a:off x="8814816" y="3154680"/>
            <a:ext cx="566928" cy="283464"/>
          </a:xfrm>
          <a:prstGeom prst="rect">
            <a:avLst/>
          </a:prstGeom>
          <a:solidFill>
            <a:srgbClr val="FFE7B8"/>
          </a:solidFill>
          <a:ln w="1333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1"/>
          <p:cNvSpPr/>
          <p:nvPr/>
        </p:nvSpPr>
        <p:spPr>
          <a:xfrm>
            <a:off x="9445752" y="3154680"/>
            <a:ext cx="566928" cy="283464"/>
          </a:xfrm>
          <a:prstGeom prst="rect">
            <a:avLst/>
          </a:prstGeom>
          <a:solidFill>
            <a:srgbClr val="FFE7B8"/>
          </a:solidFill>
          <a:ln w="1333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Text 62"/>
          <p:cNvSpPr/>
          <p:nvPr/>
        </p:nvSpPr>
        <p:spPr>
          <a:xfrm>
            <a:off x="658368" y="379476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New-machine split</a:t>
            </a:r>
            <a:endParaRPr lang="en-US" sz="1480" dirty="0"/>
          </a:p>
        </p:txBody>
      </p:sp>
      <p:sp>
        <p:nvSpPr>
          <p:cNvPr id="65" name="Text 63"/>
          <p:cNvSpPr/>
          <p:nvPr/>
        </p:nvSpPr>
        <p:spPr>
          <a:xfrm>
            <a:off x="658368" y="4096512"/>
            <a:ext cx="5074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5E6E84"/>
                </a:solidFill>
              </a:rPr>
              <a:t>train on some machines, test on a held-out machine</a:t>
            </a:r>
            <a:endParaRPr lang="en-US" sz="890" dirty="0"/>
          </a:p>
        </p:txBody>
      </p:sp>
      <p:sp>
        <p:nvSpPr>
          <p:cNvPr id="66" name="Text 64"/>
          <p:cNvSpPr/>
          <p:nvPr/>
        </p:nvSpPr>
        <p:spPr>
          <a:xfrm>
            <a:off x="1956816" y="4398264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5E6E84"/>
                </a:solidFill>
              </a:rPr>
              <a:t>C1</a:t>
            </a:r>
            <a:endParaRPr lang="en-US" sz="880" dirty="0"/>
          </a:p>
        </p:txBody>
      </p:sp>
      <p:sp>
        <p:nvSpPr>
          <p:cNvPr id="67" name="Text 65"/>
          <p:cNvSpPr/>
          <p:nvPr/>
        </p:nvSpPr>
        <p:spPr>
          <a:xfrm>
            <a:off x="2587752" y="4398264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5E6E84"/>
                </a:solidFill>
              </a:rPr>
              <a:t>C2</a:t>
            </a:r>
            <a:endParaRPr lang="en-US" sz="880" dirty="0"/>
          </a:p>
        </p:txBody>
      </p:sp>
      <p:sp>
        <p:nvSpPr>
          <p:cNvPr id="68" name="Text 66"/>
          <p:cNvSpPr/>
          <p:nvPr/>
        </p:nvSpPr>
        <p:spPr>
          <a:xfrm>
            <a:off x="3218688" y="4398264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5E6E84"/>
                </a:solidFill>
              </a:rPr>
              <a:t>C3</a:t>
            </a:r>
            <a:endParaRPr lang="en-US" sz="880" dirty="0"/>
          </a:p>
        </p:txBody>
      </p:sp>
      <p:sp>
        <p:nvSpPr>
          <p:cNvPr id="69" name="Text 67"/>
          <p:cNvSpPr/>
          <p:nvPr/>
        </p:nvSpPr>
        <p:spPr>
          <a:xfrm>
            <a:off x="3849624" y="4398264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5E6E84"/>
                </a:solidFill>
              </a:rPr>
              <a:t>C4</a:t>
            </a:r>
            <a:endParaRPr lang="en-US" sz="880" dirty="0"/>
          </a:p>
        </p:txBody>
      </p:sp>
      <p:sp>
        <p:nvSpPr>
          <p:cNvPr id="70" name="Text 68"/>
          <p:cNvSpPr/>
          <p:nvPr/>
        </p:nvSpPr>
        <p:spPr>
          <a:xfrm>
            <a:off x="704088" y="4709160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dirty="0">
                <a:solidFill>
                  <a:srgbClr val="111827"/>
                </a:solidFill>
              </a:rPr>
              <a:t>Machine A</a:t>
            </a:r>
            <a:endParaRPr lang="en-US" sz="870" dirty="0"/>
          </a:p>
        </p:txBody>
      </p:sp>
      <p:sp>
        <p:nvSpPr>
          <p:cNvPr id="71" name="Shape 69"/>
          <p:cNvSpPr/>
          <p:nvPr/>
        </p:nvSpPr>
        <p:spPr>
          <a:xfrm>
            <a:off x="1956816" y="4645152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Shape 70"/>
          <p:cNvSpPr/>
          <p:nvPr/>
        </p:nvSpPr>
        <p:spPr>
          <a:xfrm>
            <a:off x="2587752" y="4645152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Shape 71"/>
          <p:cNvSpPr/>
          <p:nvPr/>
        </p:nvSpPr>
        <p:spPr>
          <a:xfrm>
            <a:off x="3218688" y="4645152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" name="Shape 72"/>
          <p:cNvSpPr/>
          <p:nvPr/>
        </p:nvSpPr>
        <p:spPr>
          <a:xfrm>
            <a:off x="3849624" y="4645152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Text 73"/>
          <p:cNvSpPr/>
          <p:nvPr/>
        </p:nvSpPr>
        <p:spPr>
          <a:xfrm>
            <a:off x="704088" y="5056632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dirty="0">
                <a:solidFill>
                  <a:srgbClr val="111827"/>
                </a:solidFill>
              </a:rPr>
              <a:t>Machine B</a:t>
            </a:r>
            <a:endParaRPr lang="en-US" sz="870" dirty="0"/>
          </a:p>
        </p:txBody>
      </p:sp>
      <p:sp>
        <p:nvSpPr>
          <p:cNvPr id="76" name="Shape 74"/>
          <p:cNvSpPr/>
          <p:nvPr/>
        </p:nvSpPr>
        <p:spPr>
          <a:xfrm>
            <a:off x="1956816" y="4992624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7" name="Shape 75"/>
          <p:cNvSpPr/>
          <p:nvPr/>
        </p:nvSpPr>
        <p:spPr>
          <a:xfrm>
            <a:off x="2587752" y="4992624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" name="Shape 76"/>
          <p:cNvSpPr/>
          <p:nvPr/>
        </p:nvSpPr>
        <p:spPr>
          <a:xfrm>
            <a:off x="3218688" y="4992624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" name="Shape 77"/>
          <p:cNvSpPr/>
          <p:nvPr/>
        </p:nvSpPr>
        <p:spPr>
          <a:xfrm>
            <a:off x="3849624" y="4992624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Text 78"/>
          <p:cNvSpPr/>
          <p:nvPr/>
        </p:nvSpPr>
        <p:spPr>
          <a:xfrm>
            <a:off x="704088" y="540410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dirty="0">
                <a:solidFill>
                  <a:srgbClr val="111827"/>
                </a:solidFill>
              </a:rPr>
              <a:t>Machine C</a:t>
            </a:r>
            <a:endParaRPr lang="en-US" sz="870" dirty="0"/>
          </a:p>
        </p:txBody>
      </p:sp>
      <p:sp>
        <p:nvSpPr>
          <p:cNvPr id="81" name="Shape 79"/>
          <p:cNvSpPr/>
          <p:nvPr/>
        </p:nvSpPr>
        <p:spPr>
          <a:xfrm>
            <a:off x="1956816" y="5340096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2" name="Shape 80"/>
          <p:cNvSpPr/>
          <p:nvPr/>
        </p:nvSpPr>
        <p:spPr>
          <a:xfrm>
            <a:off x="2587752" y="5340096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3" name="Shape 81"/>
          <p:cNvSpPr/>
          <p:nvPr/>
        </p:nvSpPr>
        <p:spPr>
          <a:xfrm>
            <a:off x="3218688" y="5340096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4" name="Shape 82"/>
          <p:cNvSpPr/>
          <p:nvPr/>
        </p:nvSpPr>
        <p:spPr>
          <a:xfrm>
            <a:off x="3849624" y="5340096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5" name="Text 83"/>
          <p:cNvSpPr/>
          <p:nvPr/>
        </p:nvSpPr>
        <p:spPr>
          <a:xfrm>
            <a:off x="704088" y="5751576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dirty="0">
                <a:solidFill>
                  <a:srgbClr val="111827"/>
                </a:solidFill>
              </a:rPr>
              <a:t>Machine D</a:t>
            </a:r>
            <a:endParaRPr lang="en-US" sz="870" dirty="0"/>
          </a:p>
        </p:txBody>
      </p:sp>
      <p:sp>
        <p:nvSpPr>
          <p:cNvPr id="86" name="Shape 84"/>
          <p:cNvSpPr/>
          <p:nvPr/>
        </p:nvSpPr>
        <p:spPr>
          <a:xfrm>
            <a:off x="1956816" y="5687568"/>
            <a:ext cx="566928" cy="283464"/>
          </a:xfrm>
          <a:prstGeom prst="rect">
            <a:avLst/>
          </a:prstGeom>
          <a:solidFill>
            <a:srgbClr val="FFE7B8"/>
          </a:solidFill>
          <a:ln w="1333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7" name="Shape 85"/>
          <p:cNvSpPr/>
          <p:nvPr/>
        </p:nvSpPr>
        <p:spPr>
          <a:xfrm>
            <a:off x="2587752" y="5687568"/>
            <a:ext cx="566928" cy="283464"/>
          </a:xfrm>
          <a:prstGeom prst="rect">
            <a:avLst/>
          </a:prstGeom>
          <a:solidFill>
            <a:srgbClr val="FFE7B8"/>
          </a:solidFill>
          <a:ln w="1333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8" name="Shape 86"/>
          <p:cNvSpPr/>
          <p:nvPr/>
        </p:nvSpPr>
        <p:spPr>
          <a:xfrm>
            <a:off x="3218688" y="5687568"/>
            <a:ext cx="566928" cy="283464"/>
          </a:xfrm>
          <a:prstGeom prst="rect">
            <a:avLst/>
          </a:prstGeom>
          <a:solidFill>
            <a:srgbClr val="FFE7B8"/>
          </a:solidFill>
          <a:ln w="1333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9" name="Shape 87"/>
          <p:cNvSpPr/>
          <p:nvPr/>
        </p:nvSpPr>
        <p:spPr>
          <a:xfrm>
            <a:off x="3849624" y="5687568"/>
            <a:ext cx="566928" cy="283464"/>
          </a:xfrm>
          <a:prstGeom prst="rect">
            <a:avLst/>
          </a:prstGeom>
          <a:solidFill>
            <a:srgbClr val="FFE7B8"/>
          </a:solidFill>
          <a:ln w="1333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0" name="Text 88"/>
          <p:cNvSpPr/>
          <p:nvPr/>
        </p:nvSpPr>
        <p:spPr>
          <a:xfrm>
            <a:off x="6254496" y="379476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</a:t>
            </a:r>
            <a:r>
              <a:rPr lang="en-GB" sz="1400" b="1" dirty="0"/>
              <a:t>New machines, future periods</a:t>
            </a:r>
            <a:endParaRPr lang="en-US" sz="1400" b="1" dirty="0"/>
          </a:p>
        </p:txBody>
      </p:sp>
      <p:sp>
        <p:nvSpPr>
          <p:cNvPr id="91" name="Text 89"/>
          <p:cNvSpPr/>
          <p:nvPr/>
        </p:nvSpPr>
        <p:spPr>
          <a:xfrm>
            <a:off x="6254496" y="4096512"/>
            <a:ext cx="5074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5E6E84"/>
                </a:solidFill>
              </a:rPr>
              <a:t>train earlier cycles on known machines; test later cycles on a held-out machine</a:t>
            </a:r>
            <a:endParaRPr lang="en-US" sz="890" dirty="0"/>
          </a:p>
        </p:txBody>
      </p:sp>
      <p:sp>
        <p:nvSpPr>
          <p:cNvPr id="92" name="Text 90"/>
          <p:cNvSpPr/>
          <p:nvPr/>
        </p:nvSpPr>
        <p:spPr>
          <a:xfrm>
            <a:off x="7552944" y="4398264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5E6E84"/>
                </a:solidFill>
              </a:rPr>
              <a:t>C1</a:t>
            </a:r>
            <a:endParaRPr lang="en-US" sz="880" dirty="0"/>
          </a:p>
        </p:txBody>
      </p:sp>
      <p:sp>
        <p:nvSpPr>
          <p:cNvPr id="93" name="Text 91"/>
          <p:cNvSpPr/>
          <p:nvPr/>
        </p:nvSpPr>
        <p:spPr>
          <a:xfrm>
            <a:off x="8183880" y="4398264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5E6E84"/>
                </a:solidFill>
              </a:rPr>
              <a:t>C2</a:t>
            </a:r>
            <a:endParaRPr lang="en-US" sz="880" dirty="0"/>
          </a:p>
        </p:txBody>
      </p:sp>
      <p:sp>
        <p:nvSpPr>
          <p:cNvPr id="94" name="Text 92"/>
          <p:cNvSpPr/>
          <p:nvPr/>
        </p:nvSpPr>
        <p:spPr>
          <a:xfrm>
            <a:off x="8814816" y="4398264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5E6E84"/>
                </a:solidFill>
              </a:rPr>
              <a:t>C3</a:t>
            </a:r>
            <a:endParaRPr lang="en-US" sz="880" dirty="0"/>
          </a:p>
        </p:txBody>
      </p:sp>
      <p:sp>
        <p:nvSpPr>
          <p:cNvPr id="95" name="Text 93"/>
          <p:cNvSpPr/>
          <p:nvPr/>
        </p:nvSpPr>
        <p:spPr>
          <a:xfrm>
            <a:off x="9445752" y="4398264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5E6E84"/>
                </a:solidFill>
              </a:rPr>
              <a:t>C4</a:t>
            </a:r>
            <a:endParaRPr lang="en-US" sz="880" dirty="0"/>
          </a:p>
        </p:txBody>
      </p:sp>
      <p:sp>
        <p:nvSpPr>
          <p:cNvPr id="96" name="Text 94"/>
          <p:cNvSpPr/>
          <p:nvPr/>
        </p:nvSpPr>
        <p:spPr>
          <a:xfrm>
            <a:off x="6300216" y="4709160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dirty="0">
                <a:solidFill>
                  <a:srgbClr val="111827"/>
                </a:solidFill>
              </a:rPr>
              <a:t>Machine A</a:t>
            </a:r>
            <a:endParaRPr lang="en-US" sz="870" dirty="0"/>
          </a:p>
        </p:txBody>
      </p:sp>
      <p:sp>
        <p:nvSpPr>
          <p:cNvPr id="97" name="Shape 95"/>
          <p:cNvSpPr/>
          <p:nvPr/>
        </p:nvSpPr>
        <p:spPr>
          <a:xfrm>
            <a:off x="7552944" y="4645152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8" name="Shape 96"/>
          <p:cNvSpPr/>
          <p:nvPr/>
        </p:nvSpPr>
        <p:spPr>
          <a:xfrm>
            <a:off x="8183880" y="4645152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9" name="Shape 97"/>
          <p:cNvSpPr/>
          <p:nvPr/>
        </p:nvSpPr>
        <p:spPr>
          <a:xfrm>
            <a:off x="8814816" y="4645152"/>
            <a:ext cx="566928" cy="283464"/>
          </a:xfrm>
          <a:prstGeom prst="rect">
            <a:avLst/>
          </a:prstGeom>
          <a:solidFill>
            <a:srgbClr val="EEF2F6"/>
          </a:solidFill>
          <a:ln w="13335">
            <a:solidFill>
              <a:srgbClr val="C8D3D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0" name="Shape 98"/>
          <p:cNvSpPr/>
          <p:nvPr/>
        </p:nvSpPr>
        <p:spPr>
          <a:xfrm>
            <a:off x="9445752" y="4645152"/>
            <a:ext cx="566928" cy="283464"/>
          </a:xfrm>
          <a:prstGeom prst="rect">
            <a:avLst/>
          </a:prstGeom>
          <a:solidFill>
            <a:srgbClr val="EEF2F6"/>
          </a:solidFill>
          <a:ln w="13335">
            <a:solidFill>
              <a:srgbClr val="C8D3D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1" name="Text 99"/>
          <p:cNvSpPr/>
          <p:nvPr/>
        </p:nvSpPr>
        <p:spPr>
          <a:xfrm>
            <a:off x="6300216" y="5056632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dirty="0">
                <a:solidFill>
                  <a:srgbClr val="111827"/>
                </a:solidFill>
              </a:rPr>
              <a:t>Machine B</a:t>
            </a:r>
            <a:endParaRPr lang="en-US" sz="870" dirty="0"/>
          </a:p>
        </p:txBody>
      </p:sp>
      <p:sp>
        <p:nvSpPr>
          <p:cNvPr id="102" name="Shape 100"/>
          <p:cNvSpPr/>
          <p:nvPr/>
        </p:nvSpPr>
        <p:spPr>
          <a:xfrm>
            <a:off x="7552944" y="4992624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3" name="Shape 101"/>
          <p:cNvSpPr/>
          <p:nvPr/>
        </p:nvSpPr>
        <p:spPr>
          <a:xfrm>
            <a:off x="8183880" y="4992624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4" name="Shape 102"/>
          <p:cNvSpPr/>
          <p:nvPr/>
        </p:nvSpPr>
        <p:spPr>
          <a:xfrm>
            <a:off x="8814816" y="4992624"/>
            <a:ext cx="566928" cy="283464"/>
          </a:xfrm>
          <a:prstGeom prst="rect">
            <a:avLst/>
          </a:prstGeom>
          <a:solidFill>
            <a:srgbClr val="EEF2F6"/>
          </a:solidFill>
          <a:ln w="13335">
            <a:solidFill>
              <a:srgbClr val="C8D3D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5" name="Shape 103"/>
          <p:cNvSpPr/>
          <p:nvPr/>
        </p:nvSpPr>
        <p:spPr>
          <a:xfrm>
            <a:off x="9445752" y="4992624"/>
            <a:ext cx="566928" cy="283464"/>
          </a:xfrm>
          <a:prstGeom prst="rect">
            <a:avLst/>
          </a:prstGeom>
          <a:solidFill>
            <a:srgbClr val="EEF2F6"/>
          </a:solidFill>
          <a:ln w="13335">
            <a:solidFill>
              <a:srgbClr val="C8D3D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6" name="Text 104"/>
          <p:cNvSpPr/>
          <p:nvPr/>
        </p:nvSpPr>
        <p:spPr>
          <a:xfrm>
            <a:off x="6300216" y="5404104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dirty="0">
                <a:solidFill>
                  <a:srgbClr val="111827"/>
                </a:solidFill>
              </a:rPr>
              <a:t>Machine C</a:t>
            </a:r>
            <a:endParaRPr lang="en-US" sz="870" dirty="0"/>
          </a:p>
        </p:txBody>
      </p:sp>
      <p:sp>
        <p:nvSpPr>
          <p:cNvPr id="107" name="Shape 105"/>
          <p:cNvSpPr/>
          <p:nvPr/>
        </p:nvSpPr>
        <p:spPr>
          <a:xfrm>
            <a:off x="7552944" y="5340096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8" name="Shape 106"/>
          <p:cNvSpPr/>
          <p:nvPr/>
        </p:nvSpPr>
        <p:spPr>
          <a:xfrm>
            <a:off x="8183880" y="5340096"/>
            <a:ext cx="566928" cy="283464"/>
          </a:xfrm>
          <a:prstGeom prst="rect">
            <a:avLst/>
          </a:prstGeom>
          <a:solidFill>
            <a:srgbClr val="D7E9FF"/>
          </a:solidFill>
          <a:ln w="13335">
            <a:solidFill>
              <a:srgbClr val="2F6BE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9" name="Shape 107"/>
          <p:cNvSpPr/>
          <p:nvPr/>
        </p:nvSpPr>
        <p:spPr>
          <a:xfrm>
            <a:off x="8814816" y="5340096"/>
            <a:ext cx="566928" cy="283464"/>
          </a:xfrm>
          <a:prstGeom prst="rect">
            <a:avLst/>
          </a:prstGeom>
          <a:solidFill>
            <a:srgbClr val="EEF2F6"/>
          </a:solidFill>
          <a:ln w="13335">
            <a:solidFill>
              <a:srgbClr val="C8D3D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0" name="Shape 108"/>
          <p:cNvSpPr/>
          <p:nvPr/>
        </p:nvSpPr>
        <p:spPr>
          <a:xfrm>
            <a:off x="9445752" y="5340096"/>
            <a:ext cx="566928" cy="283464"/>
          </a:xfrm>
          <a:prstGeom prst="rect">
            <a:avLst/>
          </a:prstGeom>
          <a:solidFill>
            <a:srgbClr val="EEF2F6"/>
          </a:solidFill>
          <a:ln w="13335">
            <a:solidFill>
              <a:srgbClr val="C8D3D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1" name="Text 109"/>
          <p:cNvSpPr/>
          <p:nvPr/>
        </p:nvSpPr>
        <p:spPr>
          <a:xfrm>
            <a:off x="6300216" y="5751576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dirty="0">
                <a:solidFill>
                  <a:srgbClr val="111827"/>
                </a:solidFill>
              </a:rPr>
              <a:t>Machine D</a:t>
            </a:r>
            <a:endParaRPr lang="en-US" sz="870" dirty="0"/>
          </a:p>
        </p:txBody>
      </p:sp>
      <p:sp>
        <p:nvSpPr>
          <p:cNvPr id="112" name="Shape 110"/>
          <p:cNvSpPr/>
          <p:nvPr/>
        </p:nvSpPr>
        <p:spPr>
          <a:xfrm>
            <a:off x="7552944" y="5687568"/>
            <a:ext cx="566928" cy="283464"/>
          </a:xfrm>
          <a:prstGeom prst="rect">
            <a:avLst/>
          </a:prstGeom>
          <a:solidFill>
            <a:srgbClr val="EEF2F6"/>
          </a:solidFill>
          <a:ln w="13335">
            <a:solidFill>
              <a:srgbClr val="C8D3D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3" name="Shape 111"/>
          <p:cNvSpPr/>
          <p:nvPr/>
        </p:nvSpPr>
        <p:spPr>
          <a:xfrm>
            <a:off x="8183880" y="5687568"/>
            <a:ext cx="566928" cy="283464"/>
          </a:xfrm>
          <a:prstGeom prst="rect">
            <a:avLst/>
          </a:prstGeom>
          <a:solidFill>
            <a:srgbClr val="EEF2F6"/>
          </a:solidFill>
          <a:ln w="13335">
            <a:solidFill>
              <a:srgbClr val="C8D3D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4" name="Shape 112"/>
          <p:cNvSpPr/>
          <p:nvPr/>
        </p:nvSpPr>
        <p:spPr>
          <a:xfrm>
            <a:off x="8814816" y="5687568"/>
            <a:ext cx="566928" cy="283464"/>
          </a:xfrm>
          <a:prstGeom prst="rect">
            <a:avLst/>
          </a:prstGeom>
          <a:solidFill>
            <a:srgbClr val="FFE7B8"/>
          </a:solidFill>
          <a:ln w="1333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5" name="Shape 113"/>
          <p:cNvSpPr/>
          <p:nvPr/>
        </p:nvSpPr>
        <p:spPr>
          <a:xfrm>
            <a:off x="9445752" y="5687568"/>
            <a:ext cx="566928" cy="283464"/>
          </a:xfrm>
          <a:prstGeom prst="rect">
            <a:avLst/>
          </a:prstGeom>
          <a:solidFill>
            <a:srgbClr val="FFE7B8"/>
          </a:solidFill>
          <a:ln w="1333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6" name="Shape 114"/>
          <p:cNvSpPr/>
          <p:nvPr/>
        </p:nvSpPr>
        <p:spPr>
          <a:xfrm>
            <a:off x="228600" y="6601968"/>
            <a:ext cx="10287000" cy="0"/>
          </a:xfrm>
          <a:prstGeom prst="line">
            <a:avLst/>
          </a:prstGeom>
          <a:noFill/>
          <a:ln w="7620">
            <a:solidFill>
              <a:srgbClr val="D1D9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7" name="Text 115"/>
          <p:cNvSpPr/>
          <p:nvPr/>
        </p:nvSpPr>
        <p:spPr>
          <a:xfrm>
            <a:off x="2153412" y="6327648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10" b="1" i="1" dirty="0">
                <a:solidFill>
                  <a:srgbClr val="5E6E84"/>
                </a:solidFill>
              </a:rPr>
              <a:t>Each box represents one machine-period sample; P1 → P4 are chronologically ordered periods</a:t>
            </a:r>
            <a:endParaRPr lang="en-US" sz="910" b="1" dirty="0"/>
          </a:p>
        </p:txBody>
      </p:sp>
      <p:sp>
        <p:nvSpPr>
          <p:cNvPr id="122" name="CasellaDiTesto 121">
            <a:extLst>
              <a:ext uri="{FF2B5EF4-FFF2-40B4-BE49-F238E27FC236}">
                <a16:creationId xmlns:a16="http://schemas.microsoft.com/office/drawing/2014/main" id="{0C8EE28D-9F34-67A4-D535-941EB6117164}"/>
              </a:ext>
            </a:extLst>
          </p:cNvPr>
          <p:cNvSpPr txBox="1"/>
          <p:nvPr/>
        </p:nvSpPr>
        <p:spPr>
          <a:xfrm>
            <a:off x="4599432" y="2083969"/>
            <a:ext cx="213835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/>
              <a:t>Within-machine, mixed-period split</a:t>
            </a:r>
          </a:p>
          <a:p>
            <a:pPr lvl="0"/>
            <a:r>
              <a:rPr lang="en-GB" sz="1100" dirty="0"/>
              <a:t>- the </a:t>
            </a:r>
            <a:r>
              <a:rPr lang="en-GB" sz="1100" b="1" dirty="0"/>
              <a:t>same set of machines</a:t>
            </a:r>
            <a:r>
              <a:rPr lang="en-GB" sz="1100" dirty="0"/>
              <a:t> contributes to both train and test;</a:t>
            </a:r>
          </a:p>
          <a:p>
            <a:pPr lvl="0"/>
            <a:r>
              <a:rPr lang="en-GB" sz="1100" dirty="0"/>
              <a:t>- observation periods are </a:t>
            </a:r>
            <a:r>
              <a:rPr lang="en-GB" sz="1100" b="1" dirty="0"/>
              <a:t>interleaved/mixed</a:t>
            </a:r>
            <a:r>
              <a:rPr lang="en-GB" sz="1100" dirty="0"/>
              <a:t> between train and test.</a:t>
            </a:r>
          </a:p>
        </p:txBody>
      </p:sp>
      <p:cxnSp>
        <p:nvCxnSpPr>
          <p:cNvPr id="124" name="Connettore 2 123">
            <a:extLst>
              <a:ext uri="{FF2B5EF4-FFF2-40B4-BE49-F238E27FC236}">
                <a16:creationId xmlns:a16="http://schemas.microsoft.com/office/drawing/2014/main" id="{266202C5-B44B-43EB-5EA0-F9B76377C212}"/>
              </a:ext>
            </a:extLst>
          </p:cNvPr>
          <p:cNvCxnSpPr>
            <a:endCxn id="13" idx="0"/>
          </p:cNvCxnSpPr>
          <p:nvPr/>
        </p:nvCxnSpPr>
        <p:spPr>
          <a:xfrm flipH="1" flipV="1">
            <a:off x="3195828" y="1563624"/>
            <a:ext cx="1911010" cy="448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420A5A-DA6A-D044-CECE-D21B22A78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B. </a:t>
            </a:r>
            <a:r>
              <a:rPr lang="en-GB" dirty="0">
                <a:highlight>
                  <a:srgbClr val="FFFF00"/>
                </a:highlight>
              </a:rPr>
              <a:t>Splitting One Long Time Series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BDA959C-B847-0DCA-6629-2BAE4F471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8172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8CD3FA-6FBE-1838-64E8-B54995BC8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Splitting One Long Time Series - Chronological holdout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EB9A23B-4BB6-A8DB-9962-B37EC1C09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Consider one continuous time series:</a:t>
            </a:r>
          </a:p>
          <a:p>
            <a:r>
              <a:rPr lang="en-GB" dirty="0"/>
              <a:t>x[1], x[2], …, x[T]</a:t>
            </a:r>
          </a:p>
          <a:p>
            <a:r>
              <a:rPr lang="en-GB" dirty="0"/>
              <a:t>For a future-prediction problem, the basic evaluation design is chronological.</a:t>
            </a:r>
          </a:p>
          <a:p>
            <a:r>
              <a:rPr lang="en-GB" dirty="0"/>
              <a:t>past                                                     future</a:t>
            </a:r>
          </a:p>
          <a:p>
            <a:endParaRPr lang="en-GB" dirty="0"/>
          </a:p>
          <a:p>
            <a:r>
              <a:rPr lang="en-GB" dirty="0"/>
              <a:t>|-------------- training --------------|-- validation --|-- test --|</a:t>
            </a:r>
          </a:p>
          <a:p>
            <a:endParaRPr lang="en-GB" b="1" dirty="0"/>
          </a:p>
          <a:p>
            <a:r>
              <a:rPr lang="en-GB" b="1" dirty="0"/>
              <a:t>Training interval</a:t>
            </a:r>
          </a:p>
          <a:p>
            <a:r>
              <a:rPr lang="en-GB" dirty="0"/>
              <a:t>Used to:</a:t>
            </a:r>
          </a:p>
          <a:p>
            <a:pPr lvl="1"/>
            <a:r>
              <a:rPr lang="en-GB" dirty="0"/>
              <a:t>fit preprocessing parameters;</a:t>
            </a:r>
          </a:p>
          <a:p>
            <a:pPr lvl="1"/>
            <a:r>
              <a:rPr lang="en-GB" dirty="0"/>
              <a:t>estimate model parameters;</a:t>
            </a:r>
          </a:p>
          <a:p>
            <a:pPr lvl="1"/>
            <a:r>
              <a:rPr lang="en-GB" dirty="0"/>
              <a:t>generate training samples.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128189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F464C4-B51D-0158-25C7-947D2927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Splitting One Long Time Series - Chronological holdout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93486D6-1BF0-62E3-349C-81867CD6AC5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/>
              <a:t>Validation interval</a:t>
            </a:r>
          </a:p>
          <a:p>
            <a:r>
              <a:rPr lang="en-GB" dirty="0"/>
              <a:t>Occurs after the training interval.</a:t>
            </a:r>
          </a:p>
          <a:p>
            <a:r>
              <a:rPr lang="en-GB" dirty="0"/>
              <a:t>Used to:</a:t>
            </a:r>
          </a:p>
          <a:p>
            <a:pPr lvl="1"/>
            <a:r>
              <a:rPr lang="en-GB" dirty="0"/>
              <a:t>select the model type;</a:t>
            </a:r>
          </a:p>
          <a:p>
            <a:pPr lvl="1"/>
            <a:r>
              <a:rPr lang="en-GB" dirty="0"/>
              <a:t>choose hyperparameters;</a:t>
            </a:r>
          </a:p>
          <a:p>
            <a:pPr lvl="2"/>
            <a:r>
              <a:rPr lang="en-GB" dirty="0"/>
              <a:t>compare alternative window lengths;</a:t>
            </a:r>
          </a:p>
          <a:p>
            <a:pPr lvl="2"/>
            <a:r>
              <a:rPr lang="en-GB" dirty="0"/>
              <a:t>number of training epochs / early stopping rule.</a:t>
            </a:r>
          </a:p>
          <a:p>
            <a:r>
              <a:rPr lang="en-GB" b="1" dirty="0"/>
              <a:t>Test interval</a:t>
            </a:r>
          </a:p>
          <a:p>
            <a:pPr lvl="1"/>
            <a:r>
              <a:rPr lang="en-GB" dirty="0"/>
              <a:t>Occurs after both training and validation.</a:t>
            </a:r>
          </a:p>
          <a:p>
            <a:pPr lvl="1"/>
            <a:r>
              <a:rPr lang="en-GB" dirty="0"/>
              <a:t>Used only for the final evaluation.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B910CA8-4EF2-F522-FD89-B5F549015F4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/>
              <a:t>Temporal ordering</a:t>
            </a:r>
          </a:p>
          <a:p>
            <a:r>
              <a:rPr lang="en-GB" dirty="0"/>
              <a:t>If the interval boundaries are:</a:t>
            </a:r>
          </a:p>
          <a:p>
            <a:pPr lvl="1"/>
            <a:r>
              <a:rPr lang="en-GB" dirty="0" err="1"/>
              <a:t>T_train</a:t>
            </a:r>
            <a:r>
              <a:rPr lang="en-GB" dirty="0"/>
              <a:t>;</a:t>
            </a:r>
          </a:p>
          <a:p>
            <a:pPr lvl="1"/>
            <a:r>
              <a:rPr lang="en-GB" dirty="0" err="1"/>
              <a:t>T_validation</a:t>
            </a:r>
            <a:r>
              <a:rPr lang="en-GB" dirty="0"/>
              <a:t>;</a:t>
            </a:r>
          </a:p>
          <a:p>
            <a:r>
              <a:rPr lang="en-GB" dirty="0"/>
              <a:t>then:</a:t>
            </a:r>
          </a:p>
          <a:p>
            <a:pPr lvl="1"/>
            <a:r>
              <a:rPr lang="en-GB" dirty="0"/>
              <a:t>Training:   times 1 to </a:t>
            </a:r>
            <a:r>
              <a:rPr lang="en-GB" dirty="0" err="1"/>
              <a:t>T_train</a:t>
            </a:r>
            <a:endParaRPr lang="en-GB" dirty="0"/>
          </a:p>
          <a:p>
            <a:pPr lvl="1"/>
            <a:r>
              <a:rPr lang="en-GB" dirty="0"/>
              <a:t>Validation: times T_train+1 to </a:t>
            </a:r>
            <a:r>
              <a:rPr lang="en-GB" dirty="0" err="1"/>
              <a:t>T_validation</a:t>
            </a:r>
            <a:endParaRPr lang="en-GB" dirty="0"/>
          </a:p>
          <a:p>
            <a:pPr lvl="1"/>
            <a:r>
              <a:rPr lang="en-GB" dirty="0"/>
              <a:t>Test:       times T_validation+1 to T</a:t>
            </a:r>
          </a:p>
          <a:p>
            <a:endParaRPr lang="en-GB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0C980B0-E0BF-213E-88DE-D5CCB3728DD8}"/>
              </a:ext>
            </a:extLst>
          </p:cNvPr>
          <p:cNvSpPr txBox="1"/>
          <p:nvPr/>
        </p:nvSpPr>
        <p:spPr>
          <a:xfrm>
            <a:off x="6593881" y="5827836"/>
            <a:ext cx="53602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The model should be evaluated on observations occurring after those used for development.</a:t>
            </a:r>
          </a:p>
        </p:txBody>
      </p:sp>
    </p:spTree>
    <p:extLst>
      <p:ext uri="{BB962C8B-B14F-4D97-AF65-F5344CB8AC3E}">
        <p14:creationId xmlns:p14="http://schemas.microsoft.com/office/powerpoint/2010/main" val="30010094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highlight>
                  <a:srgbClr val="FFFF00"/>
                </a:highlight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Time-aware data split</a:t>
            </a:r>
            <a:endParaRPr lang="en-US" sz="3400" dirty="0">
              <a:highlight>
                <a:srgbClr val="FFFF00"/>
              </a:highlight>
            </a:endParaRPr>
          </a:p>
        </p:txBody>
      </p:sp>
      <p:sp>
        <p:nvSpPr>
          <p:cNvPr id="3" name="Text 1"/>
          <p:cNvSpPr/>
          <p:nvPr/>
        </p:nvSpPr>
        <p:spPr>
          <a:xfrm>
            <a:off x="676656" y="97840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Training, validation and test follow the direction of time.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50392" y="2130552"/>
            <a:ext cx="10232136" cy="1271016"/>
          </a:xfrm>
          <a:prstGeom prst="roundRect">
            <a:avLst>
              <a:gd name="adj" fmla="val 5755"/>
            </a:avLst>
          </a:prstGeom>
          <a:solidFill>
            <a:srgbClr val="E2E8F0">
              <a:alpha val="80000"/>
            </a:srgbClr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868680" y="2148840"/>
            <a:ext cx="5715000" cy="1234440"/>
          </a:xfrm>
          <a:prstGeom prst="rect">
            <a:avLst/>
          </a:prstGeom>
          <a:solidFill>
            <a:srgbClr val="DBEAFE"/>
          </a:solidFill>
          <a:ln w="1778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6583680" y="2148840"/>
            <a:ext cx="2148840" cy="1234440"/>
          </a:xfrm>
          <a:prstGeom prst="rect">
            <a:avLst/>
          </a:prstGeom>
          <a:solidFill>
            <a:srgbClr val="FFEDD5"/>
          </a:solidFill>
          <a:ln w="1778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8732520" y="2148840"/>
            <a:ext cx="2331720" cy="1234440"/>
          </a:xfrm>
          <a:prstGeom prst="rect">
            <a:avLst/>
          </a:prstGeom>
          <a:solidFill>
            <a:srgbClr val="FEE2E2"/>
          </a:solidFill>
          <a:ln w="1778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097280" y="2404872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Training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97280" y="2862072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 model parameters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729984" y="2404872"/>
            <a:ext cx="185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973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729984" y="2862072"/>
            <a:ext cx="1856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model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897112" y="2404872"/>
            <a:ext cx="2002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DC26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8897112" y="2862072"/>
            <a:ext cx="2002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evaluation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83680" y="2011680"/>
            <a:ext cx="0" cy="150876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8732520" y="2011680"/>
            <a:ext cx="0" cy="150876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868680" y="4069080"/>
            <a:ext cx="10195560" cy="0"/>
          </a:xfrm>
          <a:prstGeom prst="line">
            <a:avLst/>
          </a:prstGeom>
          <a:noFill/>
          <a:ln w="27940">
            <a:solidFill>
              <a:srgbClr val="0F172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10259568" y="421538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367588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405872" y="367588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E8A1B98-A60C-67CA-D77E-9E04240FF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random splitting can be misleading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01A0188-20D5-B371-2894-D1A1BA5B9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Suppose observations from one long series are randomly distributed across training and test sets.</a:t>
            </a:r>
          </a:p>
          <a:p>
            <a:r>
              <a:rPr lang="en-GB" dirty="0"/>
              <a:t>The training set may then contain observations occurring after some test observations.</a:t>
            </a:r>
          </a:p>
          <a:p>
            <a:r>
              <a:rPr lang="en-GB" dirty="0"/>
              <a:t>Time:       1     2    3    4    5    6    7    8    9    10</a:t>
            </a:r>
          </a:p>
          <a:p>
            <a:r>
              <a:rPr lang="en-GB" dirty="0"/>
              <a:t>Partition:  TR  TE  TR  </a:t>
            </a:r>
            <a:r>
              <a:rPr lang="en-GB" dirty="0" err="1"/>
              <a:t>TR</a:t>
            </a:r>
            <a:r>
              <a:rPr lang="en-GB" dirty="0"/>
              <a:t>  TE  TR  TE  TR  </a:t>
            </a:r>
            <a:r>
              <a:rPr lang="en-GB" dirty="0" err="1"/>
              <a:t>TR</a:t>
            </a:r>
            <a:r>
              <a:rPr lang="en-GB" dirty="0"/>
              <a:t>  TE</a:t>
            </a:r>
          </a:p>
          <a:p>
            <a:endParaRPr lang="en-GB" b="1" dirty="0"/>
          </a:p>
          <a:p>
            <a:r>
              <a:rPr lang="en-GB" b="1" dirty="0"/>
              <a:t>Problem 1 — Future information in training</a:t>
            </a:r>
          </a:p>
          <a:p>
            <a:pPr lvl="1"/>
            <a:r>
              <a:rPr lang="en-GB" dirty="0"/>
              <a:t>To predict the observation at time 5, the model may have been trained on observations from times 6, 8 and 9.</a:t>
            </a:r>
          </a:p>
          <a:p>
            <a:pPr lvl="1"/>
            <a:r>
              <a:rPr lang="en-GB" dirty="0"/>
              <a:t>This does not reproduce real forecasting.</a:t>
            </a:r>
          </a:p>
          <a:p>
            <a:endParaRPr lang="en-GB" b="1" dirty="0"/>
          </a:p>
          <a:p>
            <a:r>
              <a:rPr lang="en-GB" b="1" dirty="0"/>
              <a:t>Problem 2 — Temporal dependence</a:t>
            </a:r>
          </a:p>
          <a:p>
            <a:pPr lvl="1"/>
            <a:r>
              <a:rPr lang="en-GB" dirty="0"/>
              <a:t>Nearby observations may be highly similar.</a:t>
            </a:r>
          </a:p>
          <a:p>
            <a:pPr lvl="1"/>
            <a:r>
              <a:rPr lang="en-GB" dirty="0"/>
              <a:t>A random split can place strongly correlated samples in both training and test.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8295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B3C3D055-1AEA-3621-ED7C-AD1E93FC7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random splitting can be misleading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E0F395-95F3-111C-71C5-4CE45AB28D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8690402" cy="3880772"/>
          </a:xfrm>
        </p:spPr>
        <p:txBody>
          <a:bodyPr>
            <a:normAutofit fontScale="70000" lnSpcReduction="20000"/>
          </a:bodyPr>
          <a:lstStyle/>
          <a:p>
            <a:r>
              <a:rPr lang="en-GB" b="1" dirty="0"/>
              <a:t>Problem 3 — Regime mixing</a:t>
            </a:r>
          </a:p>
          <a:p>
            <a:r>
              <a:rPr lang="en-GB" dirty="0"/>
              <a:t>Training and test may contain the same:</a:t>
            </a:r>
          </a:p>
          <a:p>
            <a:pPr lvl="1"/>
            <a:r>
              <a:rPr lang="en-GB" dirty="0"/>
              <a:t>seasonal periods;</a:t>
            </a:r>
          </a:p>
          <a:p>
            <a:pPr lvl="1"/>
            <a:r>
              <a:rPr lang="en-GB" dirty="0"/>
              <a:t>operating regimes;</a:t>
            </a:r>
          </a:p>
          <a:p>
            <a:pPr lvl="1"/>
            <a:r>
              <a:rPr lang="en-GB" dirty="0"/>
              <a:t>trends;</a:t>
            </a:r>
          </a:p>
          <a:p>
            <a:pPr lvl="1"/>
            <a:r>
              <a:rPr lang="en-GB" dirty="0"/>
              <a:t>local disturbances.</a:t>
            </a:r>
          </a:p>
          <a:p>
            <a:r>
              <a:rPr lang="en-GB" dirty="0"/>
              <a:t>The test set therefore becomes easier than the real future.</a:t>
            </a:r>
          </a:p>
          <a:p>
            <a:endParaRPr lang="en-GB" b="1" dirty="0"/>
          </a:p>
          <a:p>
            <a:r>
              <a:rPr lang="en-GB" b="1" dirty="0"/>
              <a:t>Problem 4 — Preprocessing contamination</a:t>
            </a:r>
          </a:p>
          <a:p>
            <a:r>
              <a:rPr lang="en-GB" dirty="0"/>
              <a:t>If the full series is processed before the split, future periods may influence:</a:t>
            </a:r>
          </a:p>
          <a:p>
            <a:pPr lvl="1"/>
            <a:r>
              <a:rPr lang="en-GB" dirty="0"/>
              <a:t>scaling;</a:t>
            </a:r>
          </a:p>
          <a:p>
            <a:pPr lvl="1"/>
            <a:r>
              <a:rPr lang="en-GB" dirty="0"/>
              <a:t>imputation;</a:t>
            </a:r>
          </a:p>
          <a:p>
            <a:pPr lvl="1"/>
            <a:r>
              <a:rPr lang="en-GB" dirty="0"/>
              <a:t>feature extraction;</a:t>
            </a:r>
          </a:p>
          <a:p>
            <a:pPr lvl="1"/>
            <a:r>
              <a:rPr lang="en-GB" dirty="0"/>
              <a:t>threshold estimation.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38540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B0175DD0-3633-475C-61B0-C37C3A2D4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highlight>
                  <a:srgbClr val="FFFF00"/>
                </a:highlight>
              </a:rPr>
              <a:t>1. Fixed-origin evaluation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CAD1C2C-9969-0A70-2CBD-2A936D048B0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GB" sz="2500" dirty="0"/>
              <a:t>In fixed-origin evaluation, one historical origin defines the end of training.</a:t>
            </a:r>
          </a:p>
          <a:p>
            <a:r>
              <a:rPr lang="en-GB" sz="2500" dirty="0"/>
              <a:t>|--------------- training ---------------|--- validation ---|--- test ---|</a:t>
            </a:r>
          </a:p>
          <a:p>
            <a:r>
              <a:rPr lang="en-GB" sz="2500" dirty="0"/>
              <a:t>                                                    ^</a:t>
            </a:r>
          </a:p>
          <a:p>
            <a:r>
              <a:rPr lang="en-GB" sz="2500" dirty="0"/>
              <a:t>                                  fixed training origin</a:t>
            </a:r>
          </a:p>
          <a:p>
            <a:r>
              <a:rPr lang="en-GB" sz="2500" dirty="0"/>
              <a:t>The split is constructed once.</a:t>
            </a:r>
          </a:p>
          <a:p>
            <a:r>
              <a:rPr lang="en-GB" sz="2500" b="1" dirty="0"/>
              <a:t>Example</a:t>
            </a:r>
          </a:p>
          <a:p>
            <a:r>
              <a:rPr lang="en-GB" sz="2500" dirty="0"/>
              <a:t>Training:   January 2022 to December 2024</a:t>
            </a:r>
          </a:p>
          <a:p>
            <a:r>
              <a:rPr lang="en-GB" sz="2500" dirty="0"/>
              <a:t>Validation: January 2025 to June 2025</a:t>
            </a:r>
          </a:p>
          <a:p>
            <a:r>
              <a:rPr lang="en-GB" sz="2500" dirty="0"/>
              <a:t>Test:       July 2025 to December 2025</a:t>
            </a:r>
          </a:p>
          <a:p>
            <a:r>
              <a:rPr lang="en-GB" sz="2500" b="1" dirty="0"/>
              <a:t>Advantages</a:t>
            </a:r>
          </a:p>
          <a:p>
            <a:r>
              <a:rPr lang="en-GB" sz="2500" dirty="0"/>
              <a:t>simple; computationally efficient; easy to communicate; closely simulates one deployment date; suitable for initial model comparison.</a:t>
            </a:r>
          </a:p>
          <a:p>
            <a:pPr marL="0" indent="0">
              <a:buNone/>
            </a:pPr>
            <a:endParaRPr lang="en-GB" sz="2500" b="1" dirty="0"/>
          </a:p>
          <a:p>
            <a:r>
              <a:rPr lang="en-GB" sz="2500" b="1" dirty="0"/>
              <a:t>Is the selected validation period representative of the future conditions that matter?</a:t>
            </a:r>
          </a:p>
          <a:p>
            <a:endParaRPr lang="en-GB" dirty="0"/>
          </a:p>
        </p:txBody>
      </p:sp>
      <p:sp>
        <p:nvSpPr>
          <p:cNvPr id="11" name="Segnaposto contenuto 10">
            <a:extLst>
              <a:ext uri="{FF2B5EF4-FFF2-40B4-BE49-F238E27FC236}">
                <a16:creationId xmlns:a16="http://schemas.microsoft.com/office/drawing/2014/main" id="{6740CCEE-15C6-CEBC-9E58-2BE26600DCB2}"/>
              </a:ext>
            </a:extLst>
          </p:cNvPr>
          <p:cNvSpPr txBox="1">
            <a:spLocks noGrp="1"/>
          </p:cNvSpPr>
          <p:nvPr>
            <p:ph sz="half" idx="2"/>
          </p:nvPr>
        </p:nvSpPr>
        <p:spPr>
          <a:xfrm>
            <a:off x="5089970" y="2160589"/>
            <a:ext cx="4184034" cy="420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>
                <a:highlight>
                  <a:srgbClr val="FFFF00"/>
                </a:highlight>
              </a:rPr>
              <a:t>Limitations</a:t>
            </a:r>
          </a:p>
          <a:p>
            <a:pPr lvl="1"/>
            <a:r>
              <a:rPr lang="en-GB" sz="1200" dirty="0"/>
              <a:t>performance may depend strongly on one selected period;</a:t>
            </a:r>
          </a:p>
          <a:p>
            <a:pPr lvl="1"/>
            <a:r>
              <a:rPr lang="en-GB" sz="1200" dirty="0"/>
              <a:t>validation may represent only one season or regime;</a:t>
            </a:r>
          </a:p>
          <a:p>
            <a:pPr lvl="1"/>
            <a:r>
              <a:rPr lang="en-GB" sz="1200" dirty="0"/>
              <a:t>results may be sensitive to the exact split date;</a:t>
            </a:r>
          </a:p>
          <a:p>
            <a:pPr lvl="1"/>
            <a:r>
              <a:rPr lang="en-GB" sz="1200" dirty="0"/>
              <a:t>the model is evaluated from only one historical origin.</a:t>
            </a:r>
          </a:p>
          <a:p>
            <a:r>
              <a:rPr lang="en-GB" sz="1400" b="1" dirty="0">
                <a:highlight>
                  <a:srgbClr val="FFFF00"/>
                </a:highlight>
              </a:rPr>
              <a:t>When it is appropriate</a:t>
            </a:r>
          </a:p>
          <a:p>
            <a:pPr lvl="1"/>
            <a:r>
              <a:rPr lang="en-GB" sz="1200" dirty="0"/>
              <a:t>limited computational resources;</a:t>
            </a:r>
          </a:p>
          <a:p>
            <a:pPr lvl="1"/>
            <a:r>
              <a:rPr lang="en-GB" sz="1200" dirty="0"/>
              <a:t>one natural deployment date;</a:t>
            </a:r>
          </a:p>
          <a:p>
            <a:pPr lvl="1"/>
            <a:r>
              <a:rPr lang="en-GB" sz="1200" dirty="0"/>
              <a:t>large validation and test intervals;</a:t>
            </a:r>
          </a:p>
          <a:p>
            <a:pPr lvl="1"/>
            <a:r>
              <a:rPr lang="en-GB" sz="1200" dirty="0"/>
              <a:t>relatively stable processes;</a:t>
            </a:r>
          </a:p>
          <a:p>
            <a:pPr lvl="1"/>
            <a:r>
              <a:rPr lang="en-GB" sz="1200" dirty="0"/>
              <a:t>educational or preliminary studies.</a:t>
            </a:r>
          </a:p>
        </p:txBody>
      </p:sp>
    </p:spTree>
    <p:extLst>
      <p:ext uri="{BB962C8B-B14F-4D97-AF65-F5344CB8AC3E}">
        <p14:creationId xmlns:p14="http://schemas.microsoft.com/office/powerpoint/2010/main" val="7122607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813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Retrospective evaluation as simulated deployment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76656" y="896112"/>
            <a:ext cx="1069848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5B64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and select the model using only the development period, then assess it as if deployed on later data.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822960" y="4443984"/>
            <a:ext cx="10588752" cy="0"/>
          </a:xfrm>
          <a:prstGeom prst="line">
            <a:avLst/>
          </a:prstGeom>
          <a:noFill/>
          <a:ln w="15875">
            <a:solidFill>
              <a:srgbClr val="3341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051560" y="3401568"/>
            <a:ext cx="5212080" cy="548640"/>
          </a:xfrm>
          <a:prstGeom prst="roundRect">
            <a:avLst>
              <a:gd name="adj" fmla="val 13333"/>
            </a:avLst>
          </a:prstGeom>
          <a:solidFill>
            <a:srgbClr val="DCEAFE">
              <a:alpha val="97000"/>
            </a:srgbClr>
          </a:solidFill>
          <a:ln w="1778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6263640" y="3401568"/>
            <a:ext cx="4873752" cy="548640"/>
          </a:xfrm>
          <a:prstGeom prst="roundRect">
            <a:avLst>
              <a:gd name="adj" fmla="val 13333"/>
            </a:avLst>
          </a:prstGeom>
          <a:solidFill>
            <a:srgbClr val="FFEDD5">
              <a:alpha val="98000"/>
            </a:srgbClr>
          </a:solidFill>
          <a:ln w="1778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093976" y="3465576"/>
            <a:ext cx="0" cy="420624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3136392" y="3465576"/>
            <a:ext cx="0" cy="420624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4178808" y="3465576"/>
            <a:ext cx="0" cy="420624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5221224" y="3465576"/>
            <a:ext cx="0" cy="420624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7238390" y="3465576"/>
            <a:ext cx="0" cy="420624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8213141" y="3465576"/>
            <a:ext cx="0" cy="420624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9187891" y="3465576"/>
            <a:ext cx="0" cy="420624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10162642" y="3465576"/>
            <a:ext cx="0" cy="420624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6263640" y="1938528"/>
            <a:ext cx="0" cy="2313432"/>
          </a:xfrm>
          <a:prstGeom prst="line">
            <a:avLst/>
          </a:prstGeom>
          <a:noFill/>
          <a:ln w="2794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6263640" y="3950208"/>
            <a:ext cx="0" cy="475488"/>
          </a:xfrm>
          <a:prstGeom prst="line">
            <a:avLst/>
          </a:prstGeom>
          <a:noFill/>
          <a:ln w="2794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1188720" y="1920240"/>
            <a:ext cx="420624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D4E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development period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88720" y="2331720"/>
            <a:ext cx="46634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 parameters • choose features • tune hyperparameters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202936" y="1261872"/>
            <a:ext cx="2121408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highlight>
                  <a:srgbClr val="FFFF00"/>
                </a:highlight>
                <a:latin typeface="Aptos" pitchFamily="34" charset="0"/>
                <a:ea typeface="Aptos" pitchFamily="34" charset="-122"/>
                <a:cs typeface="Aptos" pitchFamily="34" charset="-120"/>
              </a:rPr>
              <a:t>Simulated</a:t>
            </a:r>
            <a:endParaRPr lang="en-US" sz="2000" dirty="0">
              <a:highlight>
                <a:srgbClr val="FFFF00"/>
              </a:highlight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highlight>
                  <a:srgbClr val="FFFF00"/>
                </a:highlight>
                <a:latin typeface="Aptos" pitchFamily="34" charset="0"/>
                <a:ea typeface="Aptos" pitchFamily="34" charset="-122"/>
                <a:cs typeface="Aptos" pitchFamily="34" charset="-120"/>
              </a:rPr>
              <a:t>deployment date</a:t>
            </a:r>
            <a:endParaRPr lang="en-US" sz="2000" dirty="0">
              <a:highlight>
                <a:srgbClr val="FFFF00"/>
              </a:highlight>
            </a:endParaRPr>
          </a:p>
        </p:txBody>
      </p:sp>
      <p:sp>
        <p:nvSpPr>
          <p:cNvPr id="20" name="Text 18"/>
          <p:cNvSpPr/>
          <p:nvPr/>
        </p:nvSpPr>
        <p:spPr>
          <a:xfrm>
            <a:off x="5532120" y="4535424"/>
            <a:ext cx="146304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freeze model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766560" y="1920240"/>
            <a:ext cx="443484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2410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assessment period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766560" y="2331720"/>
            <a:ext cx="45262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on data that occur after the simulated deployment date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280160" y="3977640"/>
            <a:ext cx="46177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E40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available historical data for model development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611112" y="3977640"/>
            <a:ext cx="42519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9A34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later data for unbiased assessment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051560" y="3950208"/>
            <a:ext cx="0" cy="146304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11137392" y="3950208"/>
            <a:ext cx="0" cy="146304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12648" y="4736592"/>
            <a:ext cx="128016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of records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177272" y="4736592"/>
            <a:ext cx="12344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of assessment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1307592" y="5321808"/>
            <a:ext cx="955548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1627632" y="5468112"/>
            <a:ext cx="89154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20" b="1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future assessment period only once, after the model has been fixed.</a:t>
            </a:r>
            <a:endParaRPr lang="en-US" sz="172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A94A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F33A2B-6F61-E117-6164-9DA99AB8D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2. </a:t>
            </a:r>
            <a:r>
              <a:rPr lang="en-GB" dirty="0">
                <a:highlight>
                  <a:srgbClr val="FFFF00"/>
                </a:highlight>
              </a:rPr>
              <a:t>Expanding-window evaluation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A21292D-7750-A922-B24D-0739146BA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b="1" dirty="0"/>
              <a:t>Round 1</a:t>
            </a:r>
          </a:p>
          <a:p>
            <a:r>
              <a:rPr lang="en-GB" dirty="0"/>
              <a:t>|---- training ----|-- validation --|</a:t>
            </a:r>
          </a:p>
          <a:p>
            <a:r>
              <a:rPr lang="en-GB" b="1" dirty="0"/>
              <a:t>Round 2</a:t>
            </a:r>
          </a:p>
          <a:p>
            <a:r>
              <a:rPr lang="en-GB" dirty="0"/>
              <a:t>|---------- training ----------|-- validation --|</a:t>
            </a:r>
          </a:p>
          <a:p>
            <a:r>
              <a:rPr lang="en-GB" b="1" dirty="0"/>
              <a:t>Round 3</a:t>
            </a:r>
          </a:p>
          <a:p>
            <a:r>
              <a:rPr lang="en-GB" dirty="0"/>
              <a:t>|---------------- training ----------------|-- validation --|</a:t>
            </a:r>
          </a:p>
          <a:p>
            <a:r>
              <a:rPr lang="en-GB" dirty="0"/>
              <a:t>The beginning of the training interval is kept fixed, while its end moves forward.</a:t>
            </a:r>
          </a:p>
          <a:p>
            <a:endParaRPr lang="en-GB" b="1" dirty="0"/>
          </a:p>
          <a:p>
            <a:r>
              <a:rPr lang="en-GB" b="1" dirty="0"/>
              <a:t>Procedure</a:t>
            </a:r>
          </a:p>
          <a:p>
            <a:r>
              <a:rPr lang="en-GB" dirty="0"/>
              <a:t>For each round:</a:t>
            </a:r>
          </a:p>
          <a:p>
            <a:pPr lvl="1"/>
            <a:r>
              <a:rPr lang="en-GB" dirty="0"/>
              <a:t>fit preprocessing using the current training interval;</a:t>
            </a:r>
          </a:p>
          <a:p>
            <a:pPr lvl="1"/>
            <a:r>
              <a:rPr lang="en-GB" dirty="0"/>
              <a:t>train the model;</a:t>
            </a:r>
          </a:p>
          <a:p>
            <a:pPr lvl="1"/>
            <a:r>
              <a:rPr lang="en-GB" dirty="0"/>
              <a:t>evaluate on the following validation interval;</a:t>
            </a:r>
          </a:p>
          <a:p>
            <a:pPr lvl="1"/>
            <a:r>
              <a:rPr lang="en-GB" dirty="0"/>
              <a:t>record performance;</a:t>
            </a:r>
          </a:p>
          <a:p>
            <a:pPr lvl="1"/>
            <a:r>
              <a:rPr lang="en-GB" dirty="0"/>
              <a:t>extend the training interval.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D085635-4766-996D-E07E-63D4506CADDA}"/>
              </a:ext>
            </a:extLst>
          </p:cNvPr>
          <p:cNvSpPr txBox="1"/>
          <p:nvPr/>
        </p:nvSpPr>
        <p:spPr>
          <a:xfrm>
            <a:off x="2324611" y="1491497"/>
            <a:ext cx="85966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Expanding-window evaluation repeats validation from several temporal origins.</a:t>
            </a:r>
          </a:p>
        </p:txBody>
      </p:sp>
    </p:spTree>
    <p:extLst>
      <p:ext uri="{BB962C8B-B14F-4D97-AF65-F5344CB8AC3E}">
        <p14:creationId xmlns:p14="http://schemas.microsoft.com/office/powerpoint/2010/main" val="949510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256BD-0A61-576E-FC04-61FFF5AB4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570F86-4DD5-4519-583C-57796E395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Expanding-window evaluation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5B635D6-0588-1F64-3309-D6CCA52F787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b="1" dirty="0"/>
              <a:t>Advantages</a:t>
            </a:r>
          </a:p>
          <a:p>
            <a:pPr lvl="1"/>
            <a:r>
              <a:rPr lang="en-GB" dirty="0"/>
              <a:t>evaluates several future periods;</a:t>
            </a:r>
          </a:p>
          <a:p>
            <a:pPr lvl="1"/>
            <a:r>
              <a:rPr lang="en-GB" dirty="0"/>
              <a:t>reveals seasonal or regime-dependent performance;</a:t>
            </a:r>
          </a:p>
          <a:p>
            <a:pPr lvl="1"/>
            <a:r>
              <a:rPr lang="en-GB" dirty="0"/>
              <a:t>uses increasing amounts of historical data;</a:t>
            </a:r>
          </a:p>
          <a:p>
            <a:pPr lvl="1"/>
            <a:r>
              <a:rPr lang="en-GB" dirty="0"/>
              <a:t>resembles periodic model retraining.</a:t>
            </a:r>
          </a:p>
          <a:p>
            <a:r>
              <a:rPr lang="en-GB" b="1" dirty="0"/>
              <a:t>Limitations</a:t>
            </a:r>
          </a:p>
          <a:p>
            <a:pPr lvl="1"/>
            <a:r>
              <a:rPr lang="en-GB" dirty="0"/>
              <a:t>higher computational cost;</a:t>
            </a:r>
          </a:p>
          <a:p>
            <a:pPr lvl="1"/>
            <a:r>
              <a:rPr lang="en-GB" dirty="0"/>
              <a:t>validation scores are not statistically independent;</a:t>
            </a:r>
          </a:p>
          <a:p>
            <a:pPr lvl="1"/>
            <a:r>
              <a:rPr lang="en-GB" dirty="0"/>
              <a:t>later rounds contain more training data than earlier rounds;</a:t>
            </a:r>
          </a:p>
          <a:p>
            <a:pPr lvl="1"/>
            <a:r>
              <a:rPr lang="en-GB" dirty="0"/>
              <a:t>old and potentially obsolete observations are always kept.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E36C6A8-B3ED-928F-5D9C-6E9B3BE0A05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b="1" dirty="0"/>
              <a:t>Suitable assumption</a:t>
            </a:r>
          </a:p>
          <a:p>
            <a:pPr lvl="1"/>
            <a:r>
              <a:rPr lang="en-GB" dirty="0"/>
              <a:t>Expanding windows are appropriate when historical observations are still useful as the process evolves.</a:t>
            </a:r>
          </a:p>
          <a:p>
            <a:r>
              <a:rPr lang="en-GB" b="1" dirty="0"/>
              <a:t>Performance reporting</a:t>
            </a:r>
          </a:p>
          <a:p>
            <a:pPr lvl="1"/>
            <a:r>
              <a:rPr lang="en-GB" dirty="0"/>
              <a:t>Report both:</a:t>
            </a:r>
          </a:p>
          <a:p>
            <a:pPr lvl="2"/>
            <a:r>
              <a:rPr lang="en-GB" dirty="0"/>
              <a:t>average validation performance;</a:t>
            </a:r>
          </a:p>
          <a:p>
            <a:pPr lvl="2"/>
            <a:r>
              <a:rPr lang="en-GB" dirty="0"/>
              <a:t>performance for each temporal round.</a:t>
            </a:r>
          </a:p>
          <a:p>
            <a:pPr lvl="1"/>
            <a:r>
              <a:rPr lang="en-GB" dirty="0"/>
              <a:t>A mean score alone may hide failure in a specific period.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7565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B414ED-BB5C-0145-9DBC-164F4E53A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highlight>
                  <a:srgbClr val="FFFF00"/>
                </a:highlight>
              </a:rPr>
              <a:t>3. Sliding-window evaluation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BF320DE-2FEC-D596-2E64-BACAE999A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GB" dirty="0"/>
              <a:t>In sliding-window evaluation, both the beginning and end of the training interval move forward.</a:t>
            </a:r>
          </a:p>
          <a:p>
            <a:r>
              <a:rPr lang="en-GB" b="1" dirty="0"/>
              <a:t>Round 1</a:t>
            </a:r>
          </a:p>
          <a:p>
            <a:r>
              <a:rPr lang="en-GB" dirty="0"/>
              <a:t>|------ training ------|-- validation --|</a:t>
            </a:r>
          </a:p>
          <a:p>
            <a:r>
              <a:rPr lang="en-GB" b="1" dirty="0"/>
              <a:t>Round 2</a:t>
            </a:r>
          </a:p>
          <a:p>
            <a:r>
              <a:rPr lang="en-GB" dirty="0"/>
              <a:t>       |------ training ------|-- validation --|</a:t>
            </a:r>
          </a:p>
          <a:p>
            <a:r>
              <a:rPr lang="en-GB" b="1" dirty="0"/>
              <a:t>Round 3</a:t>
            </a:r>
          </a:p>
          <a:p>
            <a:r>
              <a:rPr lang="en-GB" dirty="0"/>
              <a:t>              |------ training ------|-- validation --|</a:t>
            </a:r>
          </a:p>
          <a:p>
            <a:r>
              <a:rPr lang="en-GB" dirty="0"/>
              <a:t>The training interval has approximately constant duration.</a:t>
            </a:r>
          </a:p>
          <a:p>
            <a:endParaRPr lang="en-GB" b="1" dirty="0"/>
          </a:p>
          <a:p>
            <a:r>
              <a:rPr lang="en-GB" b="1" dirty="0"/>
              <a:t>Procedure</a:t>
            </a:r>
          </a:p>
          <a:p>
            <a:r>
              <a:rPr lang="en-GB" dirty="0"/>
              <a:t>At every round:</a:t>
            </a:r>
          </a:p>
          <a:p>
            <a:pPr lvl="1"/>
            <a:r>
              <a:rPr lang="en-GB" dirty="0"/>
              <a:t>discard sufficiently old observations;</a:t>
            </a:r>
          </a:p>
          <a:p>
            <a:pPr lvl="1"/>
            <a:r>
              <a:rPr lang="en-GB" dirty="0"/>
              <a:t>retain a recent training history;</a:t>
            </a:r>
          </a:p>
          <a:p>
            <a:pPr lvl="1"/>
            <a:r>
              <a:rPr lang="en-GB" dirty="0"/>
              <a:t>fit preprocessing on that history;</a:t>
            </a:r>
          </a:p>
          <a:p>
            <a:pPr lvl="1"/>
            <a:r>
              <a:rPr lang="en-GB" dirty="0"/>
              <a:t>train the model;</a:t>
            </a:r>
          </a:p>
          <a:p>
            <a:pPr lvl="1"/>
            <a:r>
              <a:rPr lang="en-GB" dirty="0"/>
              <a:t>evaluate on the following interval.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508990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86B255C-49FC-4431-9A79-AF5480A5B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highlight>
                  <a:srgbClr val="FFFF00"/>
                </a:highlight>
              </a:rPr>
              <a:t>Sliding-window evaluation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03E1C8D-B4C9-352B-81AE-3C09AF54694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b="1" dirty="0"/>
              <a:t>Advantages</a:t>
            </a:r>
          </a:p>
          <a:p>
            <a:pPr lvl="1"/>
            <a:r>
              <a:rPr lang="en-GB" dirty="0"/>
              <a:t>focuses on recent behaviour;</a:t>
            </a:r>
          </a:p>
          <a:p>
            <a:pPr lvl="1"/>
            <a:r>
              <a:rPr lang="en-GB" dirty="0"/>
              <a:t>adapts more naturally to non-stationary processes;</a:t>
            </a:r>
          </a:p>
          <a:p>
            <a:pPr lvl="1"/>
            <a:r>
              <a:rPr lang="en-GB" dirty="0"/>
              <a:t>keeps training-set size approximately constant;</a:t>
            </a:r>
          </a:p>
          <a:p>
            <a:pPr lvl="1"/>
            <a:r>
              <a:rPr lang="en-GB" dirty="0"/>
              <a:t>limits computational growth.</a:t>
            </a:r>
          </a:p>
          <a:p>
            <a:endParaRPr lang="en-GB" b="1" dirty="0"/>
          </a:p>
          <a:p>
            <a:r>
              <a:rPr lang="en-GB" b="1" dirty="0"/>
              <a:t>Limitations</a:t>
            </a:r>
          </a:p>
          <a:p>
            <a:pPr lvl="1"/>
            <a:r>
              <a:rPr lang="en-GB" dirty="0"/>
              <a:t>discards potentially useful historical information;</a:t>
            </a:r>
          </a:p>
          <a:p>
            <a:pPr lvl="1"/>
            <a:r>
              <a:rPr lang="en-GB" dirty="0"/>
              <a:t>results depend on the selected training-window length;</a:t>
            </a:r>
          </a:p>
          <a:p>
            <a:pPr lvl="1"/>
            <a:r>
              <a:rPr lang="en-GB" dirty="0"/>
              <a:t>rare seasonal events may disappear from the retained history;</a:t>
            </a:r>
          </a:p>
          <a:p>
            <a:pPr lvl="1"/>
            <a:r>
              <a:rPr lang="en-GB" dirty="0"/>
              <a:t>short windows may produce unstable models.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970E1A8-2256-F5C8-5F21-B9133ED8E32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b="1" dirty="0"/>
              <a:t>Suitable assumption</a:t>
            </a:r>
          </a:p>
          <a:p>
            <a:pPr lvl="1"/>
            <a:r>
              <a:rPr lang="en-GB" dirty="0"/>
              <a:t>Sliding windows are appropriate when </a:t>
            </a:r>
            <a:r>
              <a:rPr lang="en-GB" dirty="0">
                <a:highlight>
                  <a:srgbClr val="FFFF00"/>
                </a:highlight>
              </a:rPr>
              <a:t>recent observations are more informative than distant historical data.</a:t>
            </a:r>
          </a:p>
          <a:p>
            <a:endParaRPr lang="en-GB" b="1" dirty="0"/>
          </a:p>
          <a:p>
            <a:r>
              <a:rPr lang="en-GB" b="1" dirty="0"/>
              <a:t>Examples</a:t>
            </a:r>
          </a:p>
          <a:p>
            <a:pPr lvl="1"/>
            <a:r>
              <a:rPr lang="en-GB" dirty="0"/>
              <a:t>rapidly changing customer behaviour;</a:t>
            </a:r>
          </a:p>
          <a:p>
            <a:pPr lvl="1"/>
            <a:r>
              <a:rPr lang="en-GB" dirty="0"/>
              <a:t>ageing equipment;</a:t>
            </a:r>
          </a:p>
          <a:p>
            <a:pPr lvl="1"/>
            <a:r>
              <a:rPr lang="en-GB" dirty="0"/>
              <a:t>changing market conditions;</a:t>
            </a:r>
          </a:p>
          <a:p>
            <a:pPr lvl="1"/>
            <a:r>
              <a:rPr lang="en-GB" dirty="0"/>
              <a:t>processes affected by recent policy or control changes.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455868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4A941B-8A70-C67A-3C51-59030C3C1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Expanding or sliding training window?</a:t>
            </a:r>
          </a:p>
        </p:txBody>
      </p:sp>
      <p:graphicFrame>
        <p:nvGraphicFramePr>
          <p:cNvPr id="6" name="Segnaposto contenuto 5">
            <a:extLst>
              <a:ext uri="{FF2B5EF4-FFF2-40B4-BE49-F238E27FC236}">
                <a16:creationId xmlns:a16="http://schemas.microsoft.com/office/drawing/2014/main" id="{0892E55F-7678-65C1-2D44-62EF940BC5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3188915"/>
              </p:ext>
            </p:extLst>
          </p:nvPr>
        </p:nvGraphicFramePr>
        <p:xfrm>
          <a:off x="2986391" y="2608060"/>
          <a:ext cx="4503908" cy="21742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73662">
                  <a:extLst>
                    <a:ext uri="{9D8B030D-6E8A-4147-A177-3AD203B41FA5}">
                      <a16:colId xmlns:a16="http://schemas.microsoft.com/office/drawing/2014/main" val="2171613002"/>
                    </a:ext>
                  </a:extLst>
                </a:gridCol>
                <a:gridCol w="965123">
                  <a:extLst>
                    <a:ext uri="{9D8B030D-6E8A-4147-A177-3AD203B41FA5}">
                      <a16:colId xmlns:a16="http://schemas.microsoft.com/office/drawing/2014/main" val="82288135"/>
                    </a:ext>
                  </a:extLst>
                </a:gridCol>
                <a:gridCol w="965123">
                  <a:extLst>
                    <a:ext uri="{9D8B030D-6E8A-4147-A177-3AD203B41FA5}">
                      <a16:colId xmlns:a16="http://schemas.microsoft.com/office/drawing/2014/main" val="1191953184"/>
                    </a:ext>
                  </a:extLst>
                </a:gridCol>
              </a:tblGrid>
              <a:tr h="2540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50" b="1" u="none" strike="noStrike" dirty="0">
                          <a:effectLst/>
                        </a:rPr>
                        <a:t>Question</a:t>
                      </a:r>
                      <a:endParaRPr lang="en-GB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54" marR="5054" marT="505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50" b="1" u="none" strike="noStrike">
                          <a:effectLst/>
                        </a:rPr>
                        <a:t>Expanding window</a:t>
                      </a:r>
                      <a:endParaRPr lang="en-GB" sz="105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54" marR="5054" marT="505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50" b="1" u="none" strike="noStrike" dirty="0">
                          <a:effectLst/>
                        </a:rPr>
                        <a:t>Sliding window</a:t>
                      </a:r>
                      <a:endParaRPr lang="en-GB" sz="105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54" marR="5054" marT="5054" marB="0" anchor="ctr"/>
                </a:tc>
                <a:extLst>
                  <a:ext uri="{0D108BD9-81ED-4DB2-BD59-A6C34878D82A}">
                    <a16:rowId xmlns:a16="http://schemas.microsoft.com/office/drawing/2014/main" val="4080481826"/>
                  </a:ext>
                </a:extLst>
              </a:tr>
              <a:tr h="2540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50" u="none" strike="noStrike" dirty="0">
                          <a:effectLst/>
                        </a:rPr>
                        <a:t>Are old observations retained?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54" marR="5054" marT="505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50" u="none" strike="noStrike">
                          <a:effectLst/>
                        </a:rPr>
                        <a:t>Yes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54" marR="5054" marT="505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50" u="none" strike="noStrike" dirty="0">
                          <a:effectLst/>
                        </a:rPr>
                        <a:t>No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54" marR="5054" marT="5054" marB="0" anchor="ctr"/>
                </a:tc>
                <a:extLst>
                  <a:ext uri="{0D108BD9-81ED-4DB2-BD59-A6C34878D82A}">
                    <a16:rowId xmlns:a16="http://schemas.microsoft.com/office/drawing/2014/main" val="3990161649"/>
                  </a:ext>
                </a:extLst>
              </a:tr>
              <a:tr h="31750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50" u="none" strike="noStrike" dirty="0">
                          <a:effectLst/>
                        </a:rPr>
                        <a:t>Does training size increase?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54" marR="5054" marT="505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50" u="none" strike="noStrike" dirty="0">
                          <a:effectLst/>
                        </a:rPr>
                        <a:t>Yes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54" marR="5054" marT="505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50" u="none" strike="noStrike">
                          <a:effectLst/>
                        </a:rPr>
                        <a:t>Usually no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54" marR="5054" marT="5054" marB="0" anchor="ctr"/>
                </a:tc>
                <a:extLst>
                  <a:ext uri="{0D108BD9-81ED-4DB2-BD59-A6C34878D82A}">
                    <a16:rowId xmlns:a16="http://schemas.microsoft.com/office/drawing/2014/main" val="3803906768"/>
                  </a:ext>
                </a:extLst>
              </a:tr>
              <a:tr h="31750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50" u="none" strike="noStrike">
                          <a:effectLst/>
                        </a:rPr>
                        <a:t>Is long-term history exploited?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54" marR="5054" marT="505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50" u="none" strike="noStrike" dirty="0">
                          <a:effectLst/>
                        </a:rPr>
                        <a:t>Fully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54" marR="5054" marT="505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50" u="none" strike="noStrike" dirty="0">
                          <a:effectLst/>
                        </a:rPr>
                        <a:t>Partially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54" marR="5054" marT="5054" marB="0" anchor="ctr"/>
                </a:tc>
                <a:extLst>
                  <a:ext uri="{0D108BD9-81ED-4DB2-BD59-A6C34878D82A}">
                    <a16:rowId xmlns:a16="http://schemas.microsoft.com/office/drawing/2014/main" val="3355262880"/>
                  </a:ext>
                </a:extLst>
              </a:tr>
              <a:tr h="31750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50" u="none" strike="noStrike">
                          <a:effectLst/>
                        </a:rPr>
                        <a:t>Does the model focus on recent regimes?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54" marR="5054" marT="505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50" u="none" strike="noStrike">
                          <a:effectLst/>
                        </a:rPr>
                        <a:t>Less strongly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54" marR="5054" marT="505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50" u="none" strike="noStrike" dirty="0">
                          <a:effectLst/>
                        </a:rPr>
                        <a:t>More strongly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54" marR="5054" marT="5054" marB="0" anchor="ctr"/>
                </a:tc>
                <a:extLst>
                  <a:ext uri="{0D108BD9-81ED-4DB2-BD59-A6C34878D82A}">
                    <a16:rowId xmlns:a16="http://schemas.microsoft.com/office/drawing/2014/main" val="1650285022"/>
                  </a:ext>
                </a:extLst>
              </a:tr>
              <a:tr h="31750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50" u="none" strike="noStrike">
                          <a:effectLst/>
                        </a:rPr>
                        <a:t>Is computational cost stable?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54" marR="5054" marT="505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50" u="none" strike="noStrike">
                          <a:effectLst/>
                        </a:rPr>
                        <a:t>No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54" marR="5054" marT="505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50" u="none" strike="noStrike" dirty="0">
                          <a:effectLst/>
                        </a:rPr>
                        <a:t>Approximately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54" marR="5054" marT="5054" marB="0" anchor="ctr"/>
                </a:tc>
                <a:extLst>
                  <a:ext uri="{0D108BD9-81ED-4DB2-BD59-A6C34878D82A}">
                    <a16:rowId xmlns:a16="http://schemas.microsoft.com/office/drawing/2014/main" val="2830348697"/>
                  </a:ext>
                </a:extLst>
              </a:tr>
              <a:tr h="2540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50" u="none" strike="noStrike">
                          <a:effectLst/>
                        </a:rPr>
                        <a:t>Main risk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54" marR="5054" marT="505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50" u="none" strike="noStrike">
                          <a:effectLst/>
                        </a:rPr>
                        <a:t>Obsolete data remain</a:t>
                      </a:r>
                      <a:endParaRPr lang="en-GB" sz="105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54" marR="5054" marT="5054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050" u="none" strike="noStrike" dirty="0">
                          <a:effectLst/>
                        </a:rPr>
                        <a:t>Useful history is discarded</a:t>
                      </a:r>
                      <a:endParaRPr lang="en-GB" sz="105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054" marR="5054" marT="5054" marB="0" anchor="ctr"/>
                </a:tc>
                <a:extLst>
                  <a:ext uri="{0D108BD9-81ED-4DB2-BD59-A6C34878D82A}">
                    <a16:rowId xmlns:a16="http://schemas.microsoft.com/office/drawing/2014/main" val="4015510056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52F7B10D-0778-A7EB-D208-468608BC17A5}"/>
              </a:ext>
            </a:extLst>
          </p:cNvPr>
          <p:cNvSpPr txBox="1"/>
          <p:nvPr/>
        </p:nvSpPr>
        <p:spPr>
          <a:xfrm>
            <a:off x="3360906" y="1676163"/>
            <a:ext cx="6099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ighlight>
                  <a:srgbClr val="FFFF00"/>
                </a:highlight>
              </a:rPr>
              <a:t>The choice depends on how quickly the process changes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559546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38A99C-3212-130C-227E-5D7285BCB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Practical decision criteria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A7362DA-FF66-6F1C-1539-980A8717B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Use an expanding window when:</a:t>
            </a:r>
          </a:p>
          <a:p>
            <a:pPr lvl="1"/>
            <a:r>
              <a:rPr lang="en-GB" dirty="0"/>
              <a:t>the process is relatively stable;</a:t>
            </a:r>
          </a:p>
          <a:p>
            <a:pPr lvl="1"/>
            <a:r>
              <a:rPr lang="en-GB" b="1" dirty="0"/>
              <a:t>long seasonal cycles matter;</a:t>
            </a:r>
          </a:p>
          <a:p>
            <a:pPr lvl="1"/>
            <a:r>
              <a:rPr lang="en-GB" dirty="0"/>
              <a:t>rare historical events remain relevant;</a:t>
            </a:r>
          </a:p>
          <a:p>
            <a:pPr lvl="1"/>
            <a:r>
              <a:rPr lang="en-GB" dirty="0"/>
              <a:t>more data generally improve estimation.</a:t>
            </a:r>
          </a:p>
          <a:p>
            <a:endParaRPr lang="en-GB" dirty="0"/>
          </a:p>
          <a:p>
            <a:r>
              <a:rPr lang="en-GB" dirty="0"/>
              <a:t>Use a sliding window when:</a:t>
            </a:r>
          </a:p>
          <a:p>
            <a:pPr lvl="1"/>
            <a:r>
              <a:rPr lang="en-GB" dirty="0"/>
              <a:t>strong drift is expected;</a:t>
            </a:r>
          </a:p>
          <a:p>
            <a:pPr lvl="1"/>
            <a:r>
              <a:rPr lang="en-GB" dirty="0"/>
              <a:t>recent behaviour dominates;</a:t>
            </a:r>
          </a:p>
          <a:p>
            <a:pPr lvl="1"/>
            <a:r>
              <a:rPr lang="en-GB" dirty="0"/>
              <a:t>old operating regimes are no longer relevant;</a:t>
            </a:r>
          </a:p>
          <a:p>
            <a:pPr lvl="1"/>
            <a:r>
              <a:rPr lang="en-GB" dirty="0"/>
              <a:t>a fixed retraining cost is required.</a:t>
            </a:r>
          </a:p>
          <a:p>
            <a:endParaRPr lang="en-GB" b="1" dirty="0"/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FA130D1-8B02-0A87-521C-072BB081D270}"/>
              </a:ext>
            </a:extLst>
          </p:cNvPr>
          <p:cNvSpPr txBox="1"/>
          <p:nvPr/>
        </p:nvSpPr>
        <p:spPr>
          <a:xfrm>
            <a:off x="6818453" y="4163925"/>
            <a:ext cx="5373547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Hybrid alternatives</a:t>
            </a:r>
          </a:p>
          <a:p>
            <a:r>
              <a:rPr lang="en-GB" sz="1800" dirty="0"/>
              <a:t>A model may use:</a:t>
            </a:r>
          </a:p>
          <a:p>
            <a:pPr lvl="1"/>
            <a:r>
              <a:rPr lang="en-GB" sz="1600" dirty="0"/>
              <a:t>- a long historical interval with larger weights on recent observations;</a:t>
            </a:r>
          </a:p>
          <a:p>
            <a:pPr lvl="1"/>
            <a:r>
              <a:rPr lang="en-GB" sz="1600" dirty="0"/>
              <a:t>- a recent sliding window plus selected historical seasonal periods;</a:t>
            </a:r>
          </a:p>
          <a:p>
            <a:pPr lvl="1"/>
            <a:r>
              <a:rPr lang="en-GB" sz="1600" dirty="0"/>
              <a:t>- separate models for different regimes.</a:t>
            </a:r>
          </a:p>
        </p:txBody>
      </p:sp>
    </p:spTree>
    <p:extLst>
      <p:ext uri="{BB962C8B-B14F-4D97-AF65-F5344CB8AC3E}">
        <p14:creationId xmlns:p14="http://schemas.microsoft.com/office/powerpoint/2010/main" val="16183400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D35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Training-data weighting profiles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78638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common ways to decide which historical observations contribute to model fitting.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9326880" y="411480"/>
            <a:ext cx="201168" cy="146304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9582912" y="3566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retained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0561320" y="411480"/>
            <a:ext cx="201168" cy="146304"/>
          </a:xfrm>
          <a:prstGeom prst="rect">
            <a:avLst/>
          </a:prstGeom>
          <a:solidFill>
            <a:srgbClr val="EEF1F5"/>
          </a:solidFill>
          <a:ln w="12700">
            <a:solidFill>
              <a:srgbClr val="B8C0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0817352" y="3566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discarded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1325880"/>
            <a:ext cx="108356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D5DCE6"/>
            </a:solidFill>
            <a:prstDash val="solid"/>
          </a:ln>
          <a:effectLst>
            <a:outerShdw blurRad="15240" dist="50800" dir="2700000" algn="bl" rotWithShape="0">
              <a:srgbClr val="D0D8E4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85800" y="3794760"/>
            <a:ext cx="108356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D5DCE6"/>
            </a:solidFill>
            <a:prstDash val="solid"/>
          </a:ln>
          <a:effectLst>
            <a:outerShdw blurRad="15240" dist="50800" dir="2700000" algn="bl" rotWithShape="0">
              <a:srgbClr val="D0D8E4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005840" y="15819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D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Expanding window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26280" y="15179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old observations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95360" y="151790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recent observations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97680" y="1874520"/>
            <a:ext cx="5715000" cy="0"/>
          </a:xfrm>
          <a:prstGeom prst="line">
            <a:avLst/>
          </a:prstGeom>
          <a:noFill/>
          <a:ln w="15240">
            <a:solidFill>
              <a:srgbClr val="6575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10085832" y="17647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9120" y="2212848"/>
            <a:ext cx="5440680" cy="502920"/>
          </a:xfrm>
          <a:prstGeom prst="rect">
            <a:avLst/>
          </a:prstGeom>
          <a:solidFill>
            <a:srgbClr val="2F80ED"/>
          </a:solidFill>
          <a:ln w="1397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4389120" y="2779776"/>
            <a:ext cx="0" cy="109728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4933188" y="2779776"/>
            <a:ext cx="0" cy="109728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5477256" y="2779776"/>
            <a:ext cx="0" cy="109728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6021324" y="2779776"/>
            <a:ext cx="0" cy="109728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6565392" y="2779776"/>
            <a:ext cx="0" cy="109728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7109460" y="2779776"/>
            <a:ext cx="0" cy="109728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7653528" y="2779776"/>
            <a:ext cx="0" cy="109728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8197596" y="2779776"/>
            <a:ext cx="0" cy="109728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8741664" y="2779776"/>
            <a:ext cx="0" cy="109728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9285732" y="2779776"/>
            <a:ext cx="0" cy="109728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9829800" y="2779776"/>
            <a:ext cx="0" cy="109728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309360" y="28620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retained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5840" y="22402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Older observations remain in the training set as new data arrive.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005840" y="40507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D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Sliding or recency-focused window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526280" y="39867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old observations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595360" y="398678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recent observations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297680" y="4343400"/>
            <a:ext cx="5715000" cy="0"/>
          </a:xfrm>
          <a:prstGeom prst="line">
            <a:avLst/>
          </a:prstGeom>
          <a:noFill/>
          <a:ln w="15240">
            <a:solidFill>
              <a:srgbClr val="65758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10085832" y="423367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389120" y="4681728"/>
            <a:ext cx="3155594" cy="502920"/>
          </a:xfrm>
          <a:prstGeom prst="rect">
            <a:avLst/>
          </a:prstGeom>
          <a:solidFill>
            <a:srgbClr val="EEF1F5"/>
          </a:solidFill>
          <a:ln w="13970">
            <a:solidFill>
              <a:srgbClr val="B8C0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7544714" y="4681728"/>
            <a:ext cx="2285086" cy="502920"/>
          </a:xfrm>
          <a:prstGeom prst="rect">
            <a:avLst/>
          </a:prstGeom>
          <a:solidFill>
            <a:srgbClr val="2F80ED"/>
          </a:solidFill>
          <a:ln w="1397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4389120" y="5248656"/>
            <a:ext cx="0" cy="109728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4933188" y="5248656"/>
            <a:ext cx="0" cy="109728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5477256" y="5248656"/>
            <a:ext cx="0" cy="109728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6021324" y="5248656"/>
            <a:ext cx="0" cy="109728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6565392" y="5248656"/>
            <a:ext cx="0" cy="109728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7109460" y="5248656"/>
            <a:ext cx="0" cy="109728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7653528" y="5248656"/>
            <a:ext cx="0" cy="109728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8197596" y="5248656"/>
            <a:ext cx="0" cy="109728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8741664" y="5248656"/>
            <a:ext cx="0" cy="109728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Shape 43"/>
          <p:cNvSpPr/>
          <p:nvPr/>
        </p:nvSpPr>
        <p:spPr>
          <a:xfrm>
            <a:off x="9285732" y="5248656"/>
            <a:ext cx="0" cy="109728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9829800" y="5248656"/>
            <a:ext cx="0" cy="109728"/>
          </a:xfrm>
          <a:prstGeom prst="line">
            <a:avLst/>
          </a:prstGeom>
          <a:noFill/>
          <a:ln w="12700">
            <a:solidFill>
              <a:srgbClr val="D5DCE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5349240" y="53309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discarded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138160" y="533095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retained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05840" y="464515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recent observations are used, or they receive much larger weight.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713232" y="623620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split is temporal; the weighting profile defines how much historical data influences the fitted model.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B7FBA9-C3CB-884F-73B5-43A37D42F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Choosing temporal interval lengths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5B6C7FC-CF18-96D8-817F-8D4EBFF95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b="1" dirty="0"/>
              <a:t>Training length</a:t>
            </a:r>
          </a:p>
          <a:p>
            <a:r>
              <a:rPr lang="en-GB" dirty="0"/>
              <a:t>Should provide enough data to represent:</a:t>
            </a:r>
          </a:p>
          <a:p>
            <a:pPr lvl="1"/>
            <a:r>
              <a:rPr lang="en-GB" dirty="0"/>
              <a:t>seasonal cycles;</a:t>
            </a:r>
          </a:p>
          <a:p>
            <a:pPr lvl="1"/>
            <a:r>
              <a:rPr lang="en-GB" dirty="0"/>
              <a:t>operating modes;</a:t>
            </a:r>
          </a:p>
          <a:p>
            <a:pPr lvl="1"/>
            <a:r>
              <a:rPr lang="en-GB" dirty="0"/>
              <a:t>relevant events;</a:t>
            </a:r>
          </a:p>
          <a:p>
            <a:pPr lvl="1"/>
            <a:r>
              <a:rPr lang="en-GB" dirty="0"/>
              <a:t>entity variability;</a:t>
            </a:r>
          </a:p>
          <a:p>
            <a:pPr lvl="1"/>
            <a:r>
              <a:rPr lang="en-GB" dirty="0"/>
              <a:t>feature distributions.</a:t>
            </a:r>
          </a:p>
          <a:p>
            <a:r>
              <a:rPr lang="en-GB" b="1" dirty="0"/>
              <a:t>Validation length</a:t>
            </a:r>
          </a:p>
          <a:p>
            <a:r>
              <a:rPr lang="en-GB" dirty="0"/>
              <a:t>Should be long enough to support stable model comparison.</a:t>
            </a:r>
          </a:p>
          <a:p>
            <a:r>
              <a:rPr lang="en-GB" dirty="0"/>
              <a:t>It should ideally contain:</a:t>
            </a:r>
          </a:p>
          <a:p>
            <a:pPr lvl="1"/>
            <a:r>
              <a:rPr lang="en-GB" dirty="0"/>
              <a:t>relevant seasons;</a:t>
            </a:r>
          </a:p>
          <a:p>
            <a:pPr lvl="1"/>
            <a:r>
              <a:rPr lang="en-GB" dirty="0"/>
              <a:t>typical and difficult conditions;</a:t>
            </a:r>
          </a:p>
          <a:p>
            <a:pPr lvl="1"/>
            <a:r>
              <a:rPr lang="en-GB" dirty="0"/>
              <a:t>enough events for meaningful metrics.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5E1FA95-ED59-ECA9-B327-D6DD8CF9E70A}"/>
              </a:ext>
            </a:extLst>
          </p:cNvPr>
          <p:cNvSpPr txBox="1"/>
          <p:nvPr/>
        </p:nvSpPr>
        <p:spPr>
          <a:xfrm>
            <a:off x="4696428" y="1399163"/>
            <a:ext cx="51999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A chronological split is not completely specified until interval lengths are defined.</a:t>
            </a:r>
          </a:p>
        </p:txBody>
      </p:sp>
    </p:spTree>
    <p:extLst>
      <p:ext uri="{BB962C8B-B14F-4D97-AF65-F5344CB8AC3E}">
        <p14:creationId xmlns:p14="http://schemas.microsoft.com/office/powerpoint/2010/main" val="9464561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F7A6CB-1B18-C757-BF7F-9BFA0CF60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highlight>
                  <a:srgbClr val="FFFF00"/>
                </a:highlight>
              </a:rPr>
              <a:t>Choosing temporal interval lengths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A2FDDCC-D6D2-843F-A194-703E481E9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b="1" dirty="0"/>
              <a:t>Test length</a:t>
            </a:r>
          </a:p>
          <a:p>
            <a:pPr lvl="1"/>
            <a:r>
              <a:rPr lang="en-GB" dirty="0"/>
              <a:t>Should support a credible final assessment.</a:t>
            </a:r>
          </a:p>
          <a:p>
            <a:pPr lvl="1"/>
            <a:r>
              <a:rPr lang="en-GB" dirty="0"/>
              <a:t>A very short test interval may produce highly variable estimates.</a:t>
            </a:r>
          </a:p>
          <a:p>
            <a:r>
              <a:rPr lang="en-GB" b="1" dirty="0"/>
              <a:t>Forecast horizon</a:t>
            </a:r>
          </a:p>
          <a:p>
            <a:pPr lvl="1"/>
            <a:r>
              <a:rPr lang="en-GB" dirty="0"/>
              <a:t>The test design should include all target observations required by the horizon.</a:t>
            </a:r>
          </a:p>
          <a:p>
            <a:pPr lvl="1"/>
            <a:r>
              <a:rPr lang="en-GB" dirty="0"/>
              <a:t>For a forecast horizon of H steps, an input window ending near the dataset boundary may not have a complete target.</a:t>
            </a:r>
          </a:p>
          <a:p>
            <a:endParaRPr lang="en-GB" b="1" dirty="0"/>
          </a:p>
          <a:p>
            <a:r>
              <a:rPr lang="en-GB" b="1" dirty="0"/>
              <a:t>Example</a:t>
            </a:r>
          </a:p>
          <a:p>
            <a:r>
              <a:rPr lang="en-GB" dirty="0"/>
              <a:t>For daily demand with annual seasonality:</a:t>
            </a:r>
          </a:p>
          <a:p>
            <a:pPr lvl="1"/>
            <a:r>
              <a:rPr lang="en-GB" dirty="0"/>
              <a:t>a training set shorter than one year cannot show a complete annual cycle;</a:t>
            </a:r>
          </a:p>
          <a:p>
            <a:pPr lvl="1"/>
            <a:r>
              <a:rPr lang="en-GB" dirty="0"/>
              <a:t>a validation set containing only one month may not assess seasonal robustness;</a:t>
            </a:r>
          </a:p>
          <a:p>
            <a:pPr lvl="1"/>
            <a:r>
              <a:rPr lang="en-GB" dirty="0"/>
              <a:t>a test set from one mild month may not represent peak-demand periods.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A151D5A-6761-FFEA-C968-B48577FB1EC1}"/>
              </a:ext>
            </a:extLst>
          </p:cNvPr>
          <p:cNvSpPr txBox="1"/>
          <p:nvPr/>
        </p:nvSpPr>
        <p:spPr>
          <a:xfrm>
            <a:off x="6782765" y="5934670"/>
            <a:ext cx="53241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Interval lengths should be selected using temporal and operational reasoning, not only desired train/validation/test percentages.</a:t>
            </a:r>
          </a:p>
        </p:txBody>
      </p:sp>
    </p:spTree>
    <p:extLst>
      <p:ext uri="{BB962C8B-B14F-4D97-AF65-F5344CB8AC3E}">
        <p14:creationId xmlns:p14="http://schemas.microsoft.com/office/powerpoint/2010/main" val="10596978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AF3F40-817B-0414-CC48-7F58F52D1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Percentage splits are not sufficient descriptions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6340C9A-7ED8-B696-DCB9-6E0FC1C30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Statements such as:</a:t>
            </a:r>
          </a:p>
          <a:p>
            <a:r>
              <a:rPr lang="en-GB" dirty="0"/>
              <a:t>70% training, 15% validation, 15% test</a:t>
            </a:r>
          </a:p>
          <a:p>
            <a:r>
              <a:rPr lang="en-GB" dirty="0"/>
              <a:t>do not fully describe a temporal evaluation protocol.</a:t>
            </a:r>
          </a:p>
          <a:p>
            <a:endParaRPr lang="en-GB" dirty="0"/>
          </a:p>
          <a:p>
            <a:r>
              <a:rPr lang="en-GB" dirty="0"/>
              <a:t>A reproducible description should include:</a:t>
            </a:r>
          </a:p>
          <a:p>
            <a:pPr lvl="1"/>
            <a:r>
              <a:rPr lang="en-GB" dirty="0"/>
              <a:t>exact time boundaries;</a:t>
            </a:r>
          </a:p>
          <a:p>
            <a:pPr lvl="1"/>
            <a:r>
              <a:rPr lang="en-GB" dirty="0"/>
              <a:t>sampling frequency;</a:t>
            </a:r>
          </a:p>
          <a:p>
            <a:pPr lvl="1"/>
            <a:r>
              <a:rPr lang="en-GB" dirty="0"/>
              <a:t>whether intervals are contiguous;</a:t>
            </a:r>
          </a:p>
          <a:p>
            <a:pPr lvl="1"/>
            <a:r>
              <a:rPr lang="en-GB" dirty="0"/>
              <a:t>whether a gap is present;</a:t>
            </a:r>
          </a:p>
          <a:p>
            <a:pPr lvl="1"/>
            <a:r>
              <a:rPr lang="en-GB" dirty="0"/>
              <a:t>window length;</a:t>
            </a:r>
          </a:p>
          <a:p>
            <a:pPr lvl="1"/>
            <a:r>
              <a:rPr lang="en-GB" dirty="0"/>
              <a:t>forecast horizon;</a:t>
            </a:r>
          </a:p>
          <a:p>
            <a:pPr lvl="1"/>
            <a:r>
              <a:rPr lang="en-GB" dirty="0"/>
              <a:t>retraining scheme;</a:t>
            </a:r>
          </a:p>
          <a:p>
            <a:pPr lvl="1"/>
            <a:r>
              <a:rPr lang="en-GB" dirty="0"/>
              <a:t>number of validation origins;</a:t>
            </a:r>
          </a:p>
          <a:p>
            <a:pPr lvl="1"/>
            <a:r>
              <a:rPr lang="en-GB" dirty="0"/>
              <a:t>whether preprocessing is refitted at every origin.</a:t>
            </a:r>
          </a:p>
          <a:p>
            <a:endParaRPr lang="en-GB" dirty="0"/>
          </a:p>
        </p:txBody>
      </p: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DDD1A258-08D1-A33B-0BB8-B237176BC254}"/>
              </a:ext>
            </a:extLst>
          </p:cNvPr>
          <p:cNvCxnSpPr>
            <a:cxnSpLocks/>
          </p:cNvCxnSpPr>
          <p:nvPr/>
        </p:nvCxnSpPr>
        <p:spPr>
          <a:xfrm>
            <a:off x="2855343" y="1173192"/>
            <a:ext cx="120770" cy="1173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42890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111CCB-A7D1-F9E5-D33E-AF02243F4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highlight>
                  <a:srgbClr val="FFFF00"/>
                </a:highlight>
              </a:rPr>
              <a:t>Percentage splits should be accompanied by a clear description of how the data are partitioned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9A8A86F-F90D-9EAA-C1F2-222404A3B09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/>
              <a:t>Better description</a:t>
            </a:r>
          </a:p>
          <a:p>
            <a:pPr lvl="1"/>
            <a:r>
              <a:rPr lang="en-GB" dirty="0"/>
              <a:t>Training:</a:t>
            </a:r>
          </a:p>
          <a:p>
            <a:pPr lvl="1"/>
            <a:r>
              <a:rPr lang="en-GB" dirty="0"/>
              <a:t>1 January 2022 to 31 December 2024</a:t>
            </a:r>
          </a:p>
          <a:p>
            <a:endParaRPr lang="en-GB" dirty="0"/>
          </a:p>
          <a:p>
            <a:r>
              <a:rPr lang="en-GB" b="1" dirty="0"/>
              <a:t>Validation:</a:t>
            </a:r>
          </a:p>
          <a:p>
            <a:pPr lvl="1"/>
            <a:r>
              <a:rPr lang="en-GB" dirty="0"/>
              <a:t>monthly expanding-window evaluation from</a:t>
            </a:r>
          </a:p>
          <a:p>
            <a:pPr lvl="1"/>
            <a:r>
              <a:rPr lang="en-GB" dirty="0"/>
              <a:t>1 January 2025 to 30 June 2025</a:t>
            </a:r>
          </a:p>
          <a:p>
            <a:endParaRPr lang="en-GB" dirty="0"/>
          </a:p>
          <a:p>
            <a:r>
              <a:rPr lang="en-GB" b="1" dirty="0"/>
              <a:t>Test:</a:t>
            </a:r>
          </a:p>
          <a:p>
            <a:pPr lvl="1"/>
            <a:r>
              <a:rPr lang="en-GB" dirty="0"/>
              <a:t>1 July 2025 to 31 December 2025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693DF43-BB0B-C972-91A7-4A2F3C374D8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/>
              <a:t>Input window:</a:t>
            </a:r>
          </a:p>
          <a:p>
            <a:r>
              <a:rPr lang="en-GB" dirty="0"/>
              <a:t>previous 168 hourly observations</a:t>
            </a:r>
          </a:p>
          <a:p>
            <a:endParaRPr lang="en-GB" dirty="0"/>
          </a:p>
          <a:p>
            <a:r>
              <a:rPr lang="en-GB" b="1" dirty="0"/>
              <a:t>Forecast horizon:</a:t>
            </a:r>
          </a:p>
          <a:p>
            <a:r>
              <a:rPr lang="en-GB" dirty="0"/>
              <a:t>next 24 hourly observations</a:t>
            </a:r>
          </a:p>
          <a:p>
            <a:endParaRPr lang="en-GB" dirty="0"/>
          </a:p>
          <a:p>
            <a:r>
              <a:rPr lang="en-GB" b="1" dirty="0"/>
              <a:t>Preprocessing:</a:t>
            </a:r>
          </a:p>
          <a:p>
            <a:r>
              <a:rPr lang="en-GB" dirty="0"/>
              <a:t>refitted using the training interval at each origin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87325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683615-F256-DAE6-D3D8-F6375AA37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2.C — Multiple Sequences, Groups and Entities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DC58D6-9945-DAE4-6A84-32874E3E4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92185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E40B80-B4C6-04B0-0EF1-8ED8EBC63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Temporal datasets often have a grouped structure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6C82B92-6B52-12C5-3E91-B5FFD1EC3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Factory</a:t>
            </a:r>
          </a:p>
          <a:p>
            <a:r>
              <a:rPr lang="en-GB" dirty="0"/>
              <a:t>  └── Machine</a:t>
            </a:r>
          </a:p>
          <a:p>
            <a:r>
              <a:rPr lang="en-GB" dirty="0"/>
              <a:t>        └── Production cycle</a:t>
            </a:r>
          </a:p>
          <a:p>
            <a:r>
              <a:rPr lang="en-GB" dirty="0"/>
              <a:t>              └── Temporal window</a:t>
            </a:r>
          </a:p>
          <a:p>
            <a:r>
              <a:rPr lang="en-GB" dirty="0"/>
              <a:t>Other examples include:</a:t>
            </a:r>
          </a:p>
          <a:p>
            <a:r>
              <a:rPr lang="en-GB" dirty="0"/>
              <a:t>Store</a:t>
            </a:r>
          </a:p>
          <a:p>
            <a:r>
              <a:rPr lang="en-GB" dirty="0"/>
              <a:t>  └── Customer</a:t>
            </a:r>
          </a:p>
          <a:p>
            <a:r>
              <a:rPr lang="en-GB" dirty="0"/>
              <a:t>        └── Session</a:t>
            </a:r>
          </a:p>
          <a:p>
            <a:r>
              <a:rPr lang="en-GB" dirty="0"/>
              <a:t>              └── Event sequence</a:t>
            </a:r>
          </a:p>
          <a:p>
            <a:r>
              <a:rPr lang="en-GB" dirty="0"/>
              <a:t>or:</a:t>
            </a:r>
          </a:p>
          <a:p>
            <a:r>
              <a:rPr lang="en-GB" dirty="0"/>
              <a:t>Hospital</a:t>
            </a:r>
          </a:p>
          <a:p>
            <a:r>
              <a:rPr lang="en-GB" dirty="0"/>
              <a:t>  └── Patient</a:t>
            </a:r>
          </a:p>
          <a:p>
            <a:r>
              <a:rPr lang="en-GB" dirty="0"/>
              <a:t>        └── Recording</a:t>
            </a:r>
          </a:p>
          <a:p>
            <a:r>
              <a:rPr lang="en-GB" dirty="0"/>
              <a:t>              └── Temporal segment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F4CF2C7-7F1B-F144-171D-21F66835BFD6}"/>
              </a:ext>
            </a:extLst>
          </p:cNvPr>
          <p:cNvSpPr txBox="1"/>
          <p:nvPr/>
        </p:nvSpPr>
        <p:spPr>
          <a:xfrm>
            <a:off x="5102157" y="3004811"/>
            <a:ext cx="6099242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highlight>
                  <a:srgbClr val="FFFF00"/>
                </a:highlight>
              </a:rPr>
              <a:t>Typical levels</a:t>
            </a:r>
          </a:p>
          <a:p>
            <a:pPr lvl="1"/>
            <a:r>
              <a:rPr lang="en-GB" sz="1600" b="1" dirty="0"/>
              <a:t>entity</a:t>
            </a:r>
            <a:r>
              <a:rPr lang="en-GB" sz="1600" dirty="0"/>
              <a:t>: machine, customer, patient, product or vehicle;</a:t>
            </a:r>
          </a:p>
          <a:p>
            <a:pPr lvl="1"/>
            <a:r>
              <a:rPr lang="en-GB" sz="1600" b="1" dirty="0"/>
              <a:t>sequence</a:t>
            </a:r>
            <a:r>
              <a:rPr lang="en-GB" sz="1600" dirty="0"/>
              <a:t>: cycle, session, trip or recording;</a:t>
            </a:r>
          </a:p>
          <a:p>
            <a:pPr lvl="1"/>
            <a:r>
              <a:rPr lang="en-GB" sz="1600" b="1" dirty="0"/>
              <a:t>window</a:t>
            </a:r>
            <a:r>
              <a:rPr lang="en-GB" sz="1600" dirty="0"/>
              <a:t>: temporal interval extracted from a sequence;</a:t>
            </a:r>
          </a:p>
          <a:p>
            <a:pPr lvl="1"/>
            <a:r>
              <a:rPr lang="en-GB" sz="1600" b="1" dirty="0"/>
              <a:t>time step</a:t>
            </a:r>
            <a:r>
              <a:rPr lang="en-GB" sz="1600" dirty="0"/>
              <a:t>: individual </a:t>
            </a:r>
            <a:r>
              <a:rPr lang="en-GB" sz="1600" b="1" dirty="0"/>
              <a:t>observation.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CE4E5581-CE8F-589E-3A62-08478587C4C0}"/>
              </a:ext>
            </a:extLst>
          </p:cNvPr>
          <p:cNvSpPr txBox="1"/>
          <p:nvPr/>
        </p:nvSpPr>
        <p:spPr>
          <a:xfrm>
            <a:off x="3067755" y="1561068"/>
            <a:ext cx="68058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Many temporal datasets contain </a:t>
            </a:r>
            <a:r>
              <a:rPr lang="en-GB" sz="1800" dirty="0">
                <a:highlight>
                  <a:srgbClr val="FFFF00"/>
                </a:highlight>
              </a:rPr>
              <a:t>several levels of organization.</a:t>
            </a:r>
          </a:p>
        </p:txBody>
      </p:sp>
    </p:spTree>
    <p:extLst>
      <p:ext uri="{BB962C8B-B14F-4D97-AF65-F5344CB8AC3E}">
        <p14:creationId xmlns:p14="http://schemas.microsoft.com/office/powerpoint/2010/main" val="42655971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F785F4-1D86-D76D-42C6-488D86934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Example dataset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DE21C9B-9FCF-D0F3-77D2-85CFBA51B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Machine A</a:t>
            </a:r>
          </a:p>
          <a:p>
            <a:pPr lvl="1"/>
            <a:r>
              <a:rPr lang="en-GB" dirty="0"/>
              <a:t>  Cycle A1</a:t>
            </a:r>
          </a:p>
          <a:p>
            <a:pPr lvl="1"/>
            <a:r>
              <a:rPr lang="en-GB" dirty="0"/>
              <a:t>  Cycle A2</a:t>
            </a:r>
          </a:p>
          <a:p>
            <a:pPr lvl="1"/>
            <a:r>
              <a:rPr lang="en-GB" dirty="0"/>
              <a:t>  Cycle A3</a:t>
            </a:r>
          </a:p>
          <a:p>
            <a:endParaRPr lang="en-GB" dirty="0"/>
          </a:p>
          <a:p>
            <a:r>
              <a:rPr lang="en-GB" dirty="0"/>
              <a:t>Machine B</a:t>
            </a:r>
          </a:p>
          <a:p>
            <a:pPr lvl="1"/>
            <a:r>
              <a:rPr lang="en-GB" dirty="0"/>
              <a:t>  Cycle B1</a:t>
            </a:r>
          </a:p>
          <a:p>
            <a:pPr lvl="1"/>
            <a:r>
              <a:rPr lang="en-GB" dirty="0"/>
              <a:t>  Cycle B2</a:t>
            </a:r>
          </a:p>
          <a:p>
            <a:endParaRPr lang="en-GB" dirty="0"/>
          </a:p>
          <a:p>
            <a:r>
              <a:rPr lang="en-GB" dirty="0"/>
              <a:t>Machine C</a:t>
            </a:r>
          </a:p>
          <a:p>
            <a:pPr lvl="1"/>
            <a:r>
              <a:rPr lang="en-GB" dirty="0"/>
              <a:t>  Cycle C1</a:t>
            </a:r>
          </a:p>
          <a:p>
            <a:pPr lvl="1"/>
            <a:r>
              <a:rPr lang="en-GB" dirty="0"/>
              <a:t>  Cycle C2</a:t>
            </a:r>
          </a:p>
          <a:p>
            <a:pPr lvl="1"/>
            <a:r>
              <a:rPr lang="en-GB" dirty="0"/>
              <a:t>  Cycle C3</a:t>
            </a:r>
          </a:p>
          <a:p>
            <a:endParaRPr lang="en-GB" dirty="0"/>
          </a:p>
          <a:p>
            <a:r>
              <a:rPr lang="en-GB" dirty="0"/>
              <a:t>Each cycle may generate several windows.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51553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B9A2E5-740B-0977-1249-878FEEA12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Example dataset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F0AF31D-5BBB-7B2A-D42C-4831B0A48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Windows coming from the same sequence or entity are usually not independent.</a:t>
            </a:r>
          </a:p>
          <a:p>
            <a:r>
              <a:rPr lang="en-GB" dirty="0"/>
              <a:t>They may share:</a:t>
            </a:r>
          </a:p>
          <a:p>
            <a:pPr lvl="1"/>
            <a:r>
              <a:rPr lang="en-GB" dirty="0"/>
              <a:t>physical characteristics;</a:t>
            </a:r>
          </a:p>
          <a:p>
            <a:pPr lvl="1"/>
            <a:r>
              <a:rPr lang="en-GB" dirty="0"/>
              <a:t>calibration;</a:t>
            </a:r>
          </a:p>
          <a:p>
            <a:pPr lvl="1"/>
            <a:r>
              <a:rPr lang="en-GB" dirty="0"/>
              <a:t>operating conditions;</a:t>
            </a:r>
          </a:p>
          <a:p>
            <a:pPr lvl="1"/>
            <a:r>
              <a:rPr lang="en-GB" dirty="0"/>
              <a:t>background noise;</a:t>
            </a:r>
          </a:p>
          <a:p>
            <a:pPr lvl="1"/>
            <a:r>
              <a:rPr lang="en-GB" dirty="0"/>
              <a:t>sequence-specific patterns;</a:t>
            </a:r>
          </a:p>
          <a:p>
            <a:pPr lvl="1"/>
            <a:r>
              <a:rPr lang="en-GB" dirty="0"/>
              <a:t>overlapping raw observations.</a:t>
            </a:r>
          </a:p>
          <a:p>
            <a:endParaRPr lang="en-GB" b="1" dirty="0"/>
          </a:p>
          <a:p>
            <a:r>
              <a:rPr lang="en-GB" b="1" dirty="0"/>
              <a:t>The split must be defined at the level corresponding to the intended generalization.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06186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5A95AFAF-CF8E-2B81-CE0D-F2DFCB76FD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6486" y="399660"/>
            <a:ext cx="10755087" cy="5837237"/>
          </a:xfrm>
          <a:prstGeom prst="rect">
            <a:avLst/>
          </a:prstGeom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88472032-3A18-70A9-E01D-6D157F5FE879}"/>
              </a:ext>
            </a:extLst>
          </p:cNvPr>
          <p:cNvSpPr/>
          <p:nvPr/>
        </p:nvSpPr>
        <p:spPr>
          <a:xfrm>
            <a:off x="766486" y="655608"/>
            <a:ext cx="4064306" cy="370935"/>
          </a:xfrm>
          <a:prstGeom prst="rect">
            <a:avLst/>
          </a:prstGeom>
          <a:solidFill>
            <a:srgbClr val="FFFF00">
              <a:alpha val="56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BA6A31BA-82AF-5DA7-0726-25C1E692E042}"/>
              </a:ext>
            </a:extLst>
          </p:cNvPr>
          <p:cNvSpPr/>
          <p:nvPr/>
        </p:nvSpPr>
        <p:spPr>
          <a:xfrm>
            <a:off x="2708357" y="5751871"/>
            <a:ext cx="5924366" cy="206478"/>
          </a:xfrm>
          <a:prstGeom prst="rect">
            <a:avLst/>
          </a:prstGeom>
          <a:solidFill>
            <a:srgbClr val="FFFF00">
              <a:alpha val="5600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01021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CBCF50-11F9-2AFD-6679-147E05E2D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Window-level, sequence-level and entity-level splits – 1. Window-level split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82DE71E-8650-A287-E68C-EE1084602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Individual windows are randomly assigned to training, validation and test.</a:t>
            </a:r>
          </a:p>
          <a:p>
            <a:r>
              <a:rPr lang="en-GB" dirty="0"/>
              <a:t>Cycle A1:</a:t>
            </a:r>
          </a:p>
          <a:p>
            <a:pPr lvl="1"/>
            <a:r>
              <a:rPr lang="en-GB" dirty="0"/>
              <a:t>window 1 → training</a:t>
            </a:r>
          </a:p>
          <a:p>
            <a:pPr lvl="1"/>
            <a:r>
              <a:rPr lang="en-GB" dirty="0"/>
              <a:t>window 2 → test</a:t>
            </a:r>
          </a:p>
          <a:p>
            <a:pPr lvl="1"/>
            <a:r>
              <a:rPr lang="en-GB" dirty="0"/>
              <a:t>window 3 → training</a:t>
            </a:r>
          </a:p>
          <a:p>
            <a:pPr lvl="1"/>
            <a:r>
              <a:rPr lang="en-GB" dirty="0"/>
              <a:t>window 4 → validation</a:t>
            </a:r>
          </a:p>
          <a:p>
            <a:r>
              <a:rPr lang="en-GB" dirty="0"/>
              <a:t>This evaluates performance on windows that may be highly similar to training samples.</a:t>
            </a:r>
          </a:p>
          <a:p>
            <a:r>
              <a:rPr lang="en-GB" dirty="0">
                <a:highlight>
                  <a:srgbClr val="FFFF00"/>
                </a:highlight>
              </a:rPr>
              <a:t>It may be suitable only when:</a:t>
            </a:r>
          </a:p>
          <a:p>
            <a:pPr lvl="1"/>
            <a:r>
              <a:rPr lang="en-GB" dirty="0"/>
              <a:t>windows are independent;</a:t>
            </a:r>
          </a:p>
          <a:p>
            <a:pPr lvl="1"/>
            <a:r>
              <a:rPr lang="en-GB" dirty="0"/>
              <a:t>no raw observations are shared;</a:t>
            </a:r>
          </a:p>
          <a:p>
            <a:pPr lvl="1"/>
            <a:r>
              <a:rPr lang="en-GB" dirty="0"/>
              <a:t>deployment data are expected to come from the same sequences or entities.</a:t>
            </a:r>
          </a:p>
          <a:p>
            <a:r>
              <a:rPr lang="en-GB" dirty="0"/>
              <a:t>In many time-series applications, </a:t>
            </a:r>
            <a:r>
              <a:rPr lang="en-GB" b="1" dirty="0"/>
              <a:t>this is an unrealistically easy setting.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58FB56C-B59F-8A0C-B3C0-0CD797C8B967}"/>
              </a:ext>
            </a:extLst>
          </p:cNvPr>
          <p:cNvSpPr txBox="1"/>
          <p:nvPr/>
        </p:nvSpPr>
        <p:spPr>
          <a:xfrm>
            <a:off x="6645101" y="1745734"/>
            <a:ext cx="52578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Different split levels answer different questions.</a:t>
            </a:r>
          </a:p>
        </p:txBody>
      </p:sp>
    </p:spTree>
    <p:extLst>
      <p:ext uri="{BB962C8B-B14F-4D97-AF65-F5344CB8AC3E}">
        <p14:creationId xmlns:p14="http://schemas.microsoft.com/office/powerpoint/2010/main" val="37422231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A70AC5-9A81-F4C8-9F4C-7249297C7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2. Sequence-level split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BCF5D63-D6E5-2123-F998-E619F7BC7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Complete cycles, sessions or recordings are assigned to one partition only.</a:t>
            </a:r>
          </a:p>
          <a:p>
            <a:r>
              <a:rPr lang="en-GB" dirty="0"/>
              <a:t>Training:</a:t>
            </a:r>
          </a:p>
          <a:p>
            <a:r>
              <a:rPr lang="en-GB" dirty="0"/>
              <a:t>Cycle A1, Cycle A2, Cycle B1</a:t>
            </a:r>
          </a:p>
          <a:p>
            <a:endParaRPr lang="en-GB" dirty="0"/>
          </a:p>
          <a:p>
            <a:r>
              <a:rPr lang="en-GB" dirty="0"/>
              <a:t>Validation:</a:t>
            </a:r>
          </a:p>
          <a:p>
            <a:r>
              <a:rPr lang="en-GB" dirty="0"/>
              <a:t>Cycle A3, Cycle B2</a:t>
            </a:r>
          </a:p>
          <a:p>
            <a:endParaRPr lang="en-GB" dirty="0"/>
          </a:p>
          <a:p>
            <a:r>
              <a:rPr lang="en-GB" dirty="0"/>
              <a:t>Test:</a:t>
            </a:r>
          </a:p>
          <a:p>
            <a:r>
              <a:rPr lang="en-GB" dirty="0"/>
              <a:t>Cycle A4, Cycle B3</a:t>
            </a:r>
          </a:p>
          <a:p>
            <a:endParaRPr lang="en-GB" dirty="0"/>
          </a:p>
          <a:p>
            <a:r>
              <a:rPr lang="en-GB" dirty="0"/>
              <a:t>This evaluates generalization to new sequences.</a:t>
            </a:r>
          </a:p>
          <a:p>
            <a:r>
              <a:rPr lang="en-GB" dirty="0"/>
              <a:t>However, </a:t>
            </a:r>
            <a:r>
              <a:rPr lang="en-GB" b="1" dirty="0"/>
              <a:t>the same entities may still appear in every partition.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52972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FEBF538-F079-D7CD-10BD-3F87DF628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3. </a:t>
            </a:r>
            <a:r>
              <a:rPr lang="it-IT" dirty="0" err="1"/>
              <a:t>Entity-level</a:t>
            </a:r>
            <a:r>
              <a:rPr lang="it-IT" dirty="0"/>
              <a:t> split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81D4A97-1A58-71F2-F0E3-A4788DE81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b="1" dirty="0"/>
              <a:t>Complete entities are held out.</a:t>
            </a:r>
          </a:p>
          <a:p>
            <a:endParaRPr lang="en-GB" dirty="0"/>
          </a:p>
          <a:p>
            <a:r>
              <a:rPr lang="en-GB" dirty="0"/>
              <a:t>Training:</a:t>
            </a:r>
          </a:p>
          <a:p>
            <a:r>
              <a:rPr lang="en-GB" dirty="0"/>
              <a:t>all cycles from Machines A and B</a:t>
            </a:r>
          </a:p>
          <a:p>
            <a:endParaRPr lang="en-GB" dirty="0"/>
          </a:p>
          <a:p>
            <a:r>
              <a:rPr lang="en-GB" dirty="0"/>
              <a:t>Validation:</a:t>
            </a:r>
          </a:p>
          <a:p>
            <a:r>
              <a:rPr lang="en-GB" dirty="0"/>
              <a:t>all cycles from Machine C</a:t>
            </a:r>
          </a:p>
          <a:p>
            <a:endParaRPr lang="en-GB" dirty="0"/>
          </a:p>
          <a:p>
            <a:r>
              <a:rPr lang="en-GB" dirty="0"/>
              <a:t>Test:</a:t>
            </a:r>
          </a:p>
          <a:p>
            <a:r>
              <a:rPr lang="en-GB" dirty="0"/>
              <a:t>all cycles from Machine D</a:t>
            </a:r>
          </a:p>
          <a:p>
            <a:endParaRPr lang="en-GB" dirty="0"/>
          </a:p>
          <a:p>
            <a:r>
              <a:rPr lang="en-GB" dirty="0">
                <a:highlight>
                  <a:srgbClr val="FFFF00"/>
                </a:highlight>
              </a:rPr>
              <a:t>This evaluates performance on unseen entities.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78436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AC5181-EF6D-857D-1F7D-6D961311E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Comparison</a:t>
            </a:r>
            <a:endParaRPr lang="en-GB" dirty="0"/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DB65BD03-1E35-539B-BE5C-9079423D35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5241317"/>
              </p:ext>
            </p:extLst>
          </p:nvPr>
        </p:nvGraphicFramePr>
        <p:xfrm>
          <a:off x="1725017" y="2459212"/>
          <a:ext cx="7477349" cy="17207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22752">
                  <a:extLst>
                    <a:ext uri="{9D8B030D-6E8A-4147-A177-3AD203B41FA5}">
                      <a16:colId xmlns:a16="http://schemas.microsoft.com/office/drawing/2014/main" val="2024123633"/>
                    </a:ext>
                  </a:extLst>
                </a:gridCol>
                <a:gridCol w="6454597">
                  <a:extLst>
                    <a:ext uri="{9D8B030D-6E8A-4147-A177-3AD203B41FA5}">
                      <a16:colId xmlns:a16="http://schemas.microsoft.com/office/drawing/2014/main" val="1134456264"/>
                    </a:ext>
                  </a:extLst>
                </a:gridCol>
              </a:tblGrid>
              <a:tr h="2753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b="1" u="none" strike="noStrike">
                          <a:effectLst/>
                        </a:rPr>
                        <a:t>Split level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69" marR="6469" marT="646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b="1" u="none" strike="noStrike" dirty="0">
                          <a:effectLst/>
                        </a:rPr>
                        <a:t>Main question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69" marR="6469" marT="6469" marB="0" anchor="ctr"/>
                </a:tc>
                <a:extLst>
                  <a:ext uri="{0D108BD9-81ED-4DB2-BD59-A6C34878D82A}">
                    <a16:rowId xmlns:a16="http://schemas.microsoft.com/office/drawing/2014/main" val="3333940357"/>
                  </a:ext>
                </a:extLst>
              </a:tr>
              <a:tr h="41297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u="none" strike="noStrike">
                          <a:effectLst/>
                        </a:rPr>
                        <a:t>Window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69" marR="6469" marT="646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u="none" strike="noStrike" dirty="0">
                          <a:effectLst/>
                        </a:rPr>
                        <a:t>Can the model </a:t>
                      </a:r>
                      <a:r>
                        <a:rPr lang="en-GB" sz="16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classify or predict similar windows?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6469" marR="6469" marT="6469" marB="0" anchor="ctr"/>
                </a:tc>
                <a:extLst>
                  <a:ext uri="{0D108BD9-81ED-4DB2-BD59-A6C34878D82A}">
                    <a16:rowId xmlns:a16="http://schemas.microsoft.com/office/drawing/2014/main" val="1713412690"/>
                  </a:ext>
                </a:extLst>
              </a:tr>
              <a:tr h="4818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u="none" strike="noStrike">
                          <a:effectLst/>
                        </a:rPr>
                        <a:t>Sequence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69" marR="6469" marT="646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u="none" strike="noStrike" dirty="0">
                          <a:effectLst/>
                        </a:rPr>
                        <a:t>Can the model generalize to new recordings or cycles?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69" marR="6469" marT="6469" marB="0" anchor="ctr"/>
                </a:tc>
                <a:extLst>
                  <a:ext uri="{0D108BD9-81ED-4DB2-BD59-A6C34878D82A}">
                    <a16:rowId xmlns:a16="http://schemas.microsoft.com/office/drawing/2014/main" val="2523860185"/>
                  </a:ext>
                </a:extLst>
              </a:tr>
              <a:tr h="5506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u="none" strike="noStrike">
                          <a:effectLst/>
                        </a:rPr>
                        <a:t>Entity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69" marR="6469" marT="646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u="none" strike="noStrike" dirty="0">
                          <a:effectLst/>
                        </a:rPr>
                        <a:t>Can the model generalize to a new machine, customer or subject?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469" marR="6469" marT="6469" marB="0" anchor="ctr"/>
                </a:tc>
                <a:extLst>
                  <a:ext uri="{0D108BD9-81ED-4DB2-BD59-A6C34878D82A}">
                    <a16:rowId xmlns:a16="http://schemas.microsoft.com/office/drawing/2014/main" val="2179980706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5A43A90B-484E-9B90-98FE-4FF588C5DC24}"/>
              </a:ext>
            </a:extLst>
          </p:cNvPr>
          <p:cNvSpPr txBox="1"/>
          <p:nvPr/>
        </p:nvSpPr>
        <p:spPr>
          <a:xfrm>
            <a:off x="1822085" y="5148644"/>
            <a:ext cx="60992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A high score under a window-level split does not imply strong entity-level generalization.</a:t>
            </a:r>
          </a:p>
        </p:txBody>
      </p:sp>
    </p:spTree>
    <p:extLst>
      <p:ext uri="{BB962C8B-B14F-4D97-AF65-F5344CB8AC3E}">
        <p14:creationId xmlns:p14="http://schemas.microsoft.com/office/powerpoint/2010/main" val="12541050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C210597-DD65-A684-ABC4-AB6A7BA87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Temporal generalization within known entities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8D6A513-F97B-8616-09DC-51168E0BD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Example:</a:t>
            </a:r>
          </a:p>
          <a:p>
            <a:pPr lvl="1"/>
            <a:r>
              <a:rPr lang="en-GB" dirty="0"/>
              <a:t>Machine A: cycles 1, 2, 3, 4, 5</a:t>
            </a:r>
          </a:p>
          <a:p>
            <a:pPr lvl="1"/>
            <a:r>
              <a:rPr lang="en-GB" dirty="0"/>
              <a:t>Machine B: cycles 1, 2, 3, 4, 5</a:t>
            </a:r>
          </a:p>
          <a:p>
            <a:pPr lvl="1"/>
            <a:r>
              <a:rPr lang="en-GB" dirty="0"/>
              <a:t>Machine C: cycles 1, 2, 3, 4, 5</a:t>
            </a:r>
          </a:p>
          <a:p>
            <a:r>
              <a:rPr lang="en-GB" dirty="0"/>
              <a:t>A temporal split can be applied within each entity.</a:t>
            </a:r>
          </a:p>
          <a:p>
            <a:endParaRPr lang="en-GB" dirty="0"/>
          </a:p>
          <a:p>
            <a:r>
              <a:rPr lang="en-GB" dirty="0"/>
              <a:t>Training:</a:t>
            </a:r>
          </a:p>
          <a:p>
            <a:r>
              <a:rPr lang="en-GB" dirty="0"/>
              <a:t>earlier cycles from A, B and C</a:t>
            </a:r>
          </a:p>
          <a:p>
            <a:endParaRPr lang="en-GB" dirty="0"/>
          </a:p>
          <a:p>
            <a:r>
              <a:rPr lang="en-GB" dirty="0"/>
              <a:t>Validation:</a:t>
            </a:r>
          </a:p>
          <a:p>
            <a:r>
              <a:rPr lang="en-GB" dirty="0"/>
              <a:t>later cycles from A, B and C</a:t>
            </a:r>
          </a:p>
          <a:p>
            <a:endParaRPr lang="en-GB" dirty="0"/>
          </a:p>
          <a:p>
            <a:r>
              <a:rPr lang="en-GB" dirty="0"/>
              <a:t>Test:</a:t>
            </a:r>
          </a:p>
          <a:p>
            <a:r>
              <a:rPr lang="en-GB" dirty="0"/>
              <a:t>latest cycles from A, B and C</a:t>
            </a:r>
          </a:p>
          <a:p>
            <a:endParaRPr lang="en-GB" b="1" dirty="0"/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85D4F02-0453-0E69-F5D1-7F8C1F7C3F0D}"/>
              </a:ext>
            </a:extLst>
          </p:cNvPr>
          <p:cNvSpPr txBox="1"/>
          <p:nvPr/>
        </p:nvSpPr>
        <p:spPr>
          <a:xfrm>
            <a:off x="3253902" y="1284069"/>
            <a:ext cx="60992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In some applications, the model will continue to operate on entities already observed during training.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823A9E3-0FA4-17D6-B823-52E6D62963D7}"/>
              </a:ext>
            </a:extLst>
          </p:cNvPr>
          <p:cNvSpPr txBox="1"/>
          <p:nvPr/>
        </p:nvSpPr>
        <p:spPr>
          <a:xfrm>
            <a:off x="4537952" y="4188937"/>
            <a:ext cx="588037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highlight>
                  <a:srgbClr val="FFFF00"/>
                </a:highlight>
              </a:rPr>
              <a:t>What this evaluates</a:t>
            </a:r>
          </a:p>
          <a:p>
            <a:r>
              <a:rPr lang="en-GB" sz="1800" dirty="0"/>
              <a:t>- future behaviour of known machines;</a:t>
            </a:r>
          </a:p>
          <a:p>
            <a:r>
              <a:rPr lang="en-GB" sz="1800" dirty="0"/>
              <a:t>- later sessions from known customers;</a:t>
            </a:r>
          </a:p>
          <a:p>
            <a:r>
              <a:rPr lang="en-GB" sz="1800" dirty="0"/>
              <a:t>- future production from known lines;</a:t>
            </a:r>
          </a:p>
          <a:p>
            <a:r>
              <a:rPr lang="en-GB" sz="1800" dirty="0"/>
              <a:t>- subsequent operation under possible ageing or drift.</a:t>
            </a:r>
          </a:p>
        </p:txBody>
      </p:sp>
    </p:spTree>
    <p:extLst>
      <p:ext uri="{BB962C8B-B14F-4D97-AF65-F5344CB8AC3E}">
        <p14:creationId xmlns:p14="http://schemas.microsoft.com/office/powerpoint/2010/main" val="20458866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EF94F4-B0FD-6883-49E1-7F82B8D69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Example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4AF94DD-A58D-9F68-25D8-0180A8D83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Machine A:</a:t>
            </a:r>
          </a:p>
          <a:p>
            <a:pPr lvl="1"/>
            <a:r>
              <a:rPr lang="en-GB" dirty="0"/>
              <a:t>cycles 1–3 → training</a:t>
            </a:r>
          </a:p>
          <a:p>
            <a:pPr lvl="1"/>
            <a:r>
              <a:rPr lang="en-GB" dirty="0"/>
              <a:t>cycle 4    → validation</a:t>
            </a:r>
          </a:p>
          <a:p>
            <a:pPr lvl="1"/>
            <a:r>
              <a:rPr lang="en-GB" dirty="0"/>
              <a:t>cycle 5    → test</a:t>
            </a:r>
          </a:p>
          <a:p>
            <a:r>
              <a:rPr lang="en-GB" dirty="0"/>
              <a:t>The same procedure is repeated for Machines B and C.</a:t>
            </a:r>
          </a:p>
          <a:p>
            <a:r>
              <a:rPr lang="en-GB" b="1" dirty="0"/>
              <a:t>Strengths</a:t>
            </a:r>
          </a:p>
          <a:p>
            <a:pPr lvl="1"/>
            <a:r>
              <a:rPr lang="en-GB" dirty="0"/>
              <a:t>realistic for monitoring an existing installed fleet;</a:t>
            </a:r>
          </a:p>
          <a:p>
            <a:pPr lvl="1"/>
            <a:r>
              <a:rPr lang="en-GB" dirty="0"/>
              <a:t>preserves temporal ordering;</a:t>
            </a:r>
          </a:p>
          <a:p>
            <a:pPr lvl="1"/>
            <a:r>
              <a:rPr lang="en-GB" dirty="0"/>
              <a:t>evaluates future changes in known entities.</a:t>
            </a:r>
          </a:p>
          <a:p>
            <a:r>
              <a:rPr lang="en-GB" b="1" dirty="0"/>
              <a:t>Limitation</a:t>
            </a:r>
          </a:p>
          <a:p>
            <a:pPr lvl="1"/>
            <a:r>
              <a:rPr lang="en-GB" dirty="0"/>
              <a:t>It does not demonstrate performance on a completely new entity.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F8EB7EB-4EE3-CB47-0C0D-053410034190}"/>
              </a:ext>
            </a:extLst>
          </p:cNvPr>
          <p:cNvSpPr txBox="1"/>
          <p:nvPr/>
        </p:nvSpPr>
        <p:spPr>
          <a:xfrm>
            <a:off x="7918315" y="5948385"/>
            <a:ext cx="39542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Temporal holdout and entity holdout measure different capabilities.</a:t>
            </a:r>
          </a:p>
        </p:txBody>
      </p:sp>
    </p:spTree>
    <p:extLst>
      <p:ext uri="{BB962C8B-B14F-4D97-AF65-F5344CB8AC3E}">
        <p14:creationId xmlns:p14="http://schemas.microsoft.com/office/powerpoint/2010/main" val="8811033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Time-based split repeated for each entity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machine keeps chronological order: training first, then validation, then test.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108356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234440" y="167335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time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74520" y="1801368"/>
            <a:ext cx="850392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234440" y="22219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606040" y="2148840"/>
            <a:ext cx="4069080" cy="530352"/>
          </a:xfrm>
          <a:prstGeom prst="rect">
            <a:avLst/>
          </a:prstGeom>
          <a:solidFill>
            <a:srgbClr val="2563EB"/>
          </a:solidFill>
          <a:ln w="1651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02552" y="2148840"/>
            <a:ext cx="2148840" cy="530352"/>
          </a:xfrm>
          <a:prstGeom prst="rect">
            <a:avLst/>
          </a:prstGeom>
          <a:solidFill>
            <a:srgbClr val="F59E0B"/>
          </a:solidFill>
          <a:ln w="1651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878824" y="2148840"/>
            <a:ext cx="2148840" cy="530352"/>
          </a:xfrm>
          <a:prstGeom prst="rect">
            <a:avLst/>
          </a:prstGeom>
          <a:solidFill>
            <a:srgbClr val="EF4444"/>
          </a:solidFill>
          <a:ln w="1651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302666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06040" y="2953512"/>
            <a:ext cx="4069080" cy="530352"/>
          </a:xfrm>
          <a:prstGeom prst="rect">
            <a:avLst/>
          </a:prstGeom>
          <a:solidFill>
            <a:srgbClr val="2563EB"/>
          </a:solidFill>
          <a:ln w="1651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02552" y="2953512"/>
            <a:ext cx="2148840" cy="530352"/>
          </a:xfrm>
          <a:prstGeom prst="rect">
            <a:avLst/>
          </a:prstGeom>
          <a:solidFill>
            <a:srgbClr val="F59E0B"/>
          </a:solidFill>
          <a:ln w="1651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878824" y="2953512"/>
            <a:ext cx="2148840" cy="530352"/>
          </a:xfrm>
          <a:prstGeom prst="rect">
            <a:avLst/>
          </a:prstGeom>
          <a:solidFill>
            <a:srgbClr val="EF4444"/>
          </a:solidFill>
          <a:ln w="1651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83133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C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606040" y="3758184"/>
            <a:ext cx="4069080" cy="530352"/>
          </a:xfrm>
          <a:prstGeom prst="rect">
            <a:avLst/>
          </a:prstGeom>
          <a:solidFill>
            <a:srgbClr val="2563EB"/>
          </a:solidFill>
          <a:ln w="1651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702552" y="3758184"/>
            <a:ext cx="2148840" cy="530352"/>
          </a:xfrm>
          <a:prstGeom prst="rect">
            <a:avLst/>
          </a:prstGeom>
          <a:solidFill>
            <a:srgbClr val="F59E0B"/>
          </a:solidFill>
          <a:ln w="1651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878824" y="3758184"/>
            <a:ext cx="2148840" cy="530352"/>
          </a:xfrm>
          <a:prstGeom prst="rect">
            <a:avLst/>
          </a:prstGeom>
          <a:solidFill>
            <a:srgbClr val="EF4444"/>
          </a:solidFill>
          <a:ln w="1651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466344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Chronological split is applied within each entity timeline.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178040" y="5029200"/>
            <a:ext cx="1033272" cy="347472"/>
          </a:xfrm>
          <a:prstGeom prst="roundRect">
            <a:avLst>
              <a:gd name="adj" fmla="val 10526"/>
            </a:avLst>
          </a:prstGeom>
          <a:solidFill>
            <a:srgbClr val="2563EB"/>
          </a:solidFill>
          <a:ln>
            <a:solidFill>
              <a:srgbClr val="2563EB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348472" y="5029200"/>
            <a:ext cx="1033272" cy="347472"/>
          </a:xfrm>
          <a:prstGeom prst="roundRect">
            <a:avLst>
              <a:gd name="adj" fmla="val 10526"/>
            </a:avLst>
          </a:prstGeom>
          <a:solidFill>
            <a:srgbClr val="F59E0B"/>
          </a:solidFill>
          <a:ln>
            <a:solidFill>
              <a:srgbClr val="F59E0B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518904" y="5029200"/>
            <a:ext cx="1033272" cy="347472"/>
          </a:xfrm>
          <a:prstGeom prst="roundRect">
            <a:avLst>
              <a:gd name="adj" fmla="val 10526"/>
            </a:avLst>
          </a:prstGeom>
          <a:solidFill>
            <a:srgbClr val="EF4444"/>
          </a:solidFill>
          <a:ln>
            <a:solidFill>
              <a:srgbClr val="EF4444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1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2BDC6BA-CE4E-F008-01A7-EC987E74E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Generalization to unseen entities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D29C7B5-918A-883B-4345-8DC9AD479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dirty="0"/>
              <a:t>Suppose the model must be deployed on machines not represented during training.</a:t>
            </a:r>
          </a:p>
          <a:p>
            <a:r>
              <a:rPr lang="en-GB" dirty="0"/>
              <a:t>A valid test set must then contain complete held-out machines.</a:t>
            </a:r>
          </a:p>
          <a:p>
            <a:r>
              <a:rPr lang="en-GB" dirty="0"/>
              <a:t>Training: Machines A, B, C</a:t>
            </a:r>
          </a:p>
          <a:p>
            <a:r>
              <a:rPr lang="en-GB" dirty="0"/>
              <a:t>Validation: Machine D</a:t>
            </a:r>
          </a:p>
          <a:p>
            <a:r>
              <a:rPr lang="en-GB" dirty="0"/>
              <a:t>Test: Machine E</a:t>
            </a:r>
          </a:p>
          <a:p>
            <a:r>
              <a:rPr lang="en-GB" b="1" dirty="0"/>
              <a:t>Why complete entity separation matters</a:t>
            </a:r>
          </a:p>
          <a:p>
            <a:r>
              <a:rPr lang="en-GB" dirty="0"/>
              <a:t>Different entities may have distinctive characteristics:</a:t>
            </a:r>
          </a:p>
          <a:p>
            <a:pPr lvl="1"/>
            <a:r>
              <a:rPr lang="en-GB" dirty="0"/>
              <a:t>sensor calibration;</a:t>
            </a:r>
          </a:p>
          <a:p>
            <a:pPr lvl="1"/>
            <a:r>
              <a:rPr lang="en-GB" dirty="0"/>
              <a:t>baseline levels;</a:t>
            </a:r>
          </a:p>
          <a:p>
            <a:pPr lvl="1"/>
            <a:r>
              <a:rPr lang="en-GB" dirty="0"/>
              <a:t>background noise;</a:t>
            </a:r>
          </a:p>
          <a:p>
            <a:pPr lvl="1"/>
            <a:r>
              <a:rPr lang="en-GB" dirty="0"/>
              <a:t>manufacturing tolerances;</a:t>
            </a:r>
          </a:p>
          <a:p>
            <a:pPr lvl="1"/>
            <a:r>
              <a:rPr lang="en-GB" dirty="0"/>
              <a:t>usage history;</a:t>
            </a:r>
          </a:p>
          <a:p>
            <a:pPr lvl="1"/>
            <a:r>
              <a:rPr lang="en-GB" dirty="0"/>
              <a:t>customer behaviour;</a:t>
            </a:r>
          </a:p>
          <a:p>
            <a:pPr lvl="1"/>
            <a:r>
              <a:rPr lang="en-GB" dirty="0"/>
              <a:t>site-specific conditions.</a:t>
            </a:r>
          </a:p>
          <a:p>
            <a:r>
              <a:rPr lang="en-GB" b="1" dirty="0">
                <a:highlight>
                  <a:srgbClr val="FFFF00"/>
                </a:highlight>
              </a:rPr>
              <a:t>If the same entity appears in both training and test sets</a:t>
            </a:r>
            <a:r>
              <a:rPr lang="en-GB" b="1" dirty="0"/>
              <a:t>, the model may learn entity identity rather than the desired general pattern.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1886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3D2FE66-E5A9-A41B-AB48-2DB0121B6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Example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3B94FA8-4ADB-1C6D-A01A-3975048BBA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A vibration model may recognize the characteristic baseline spectrum of Machine A.</a:t>
            </a:r>
          </a:p>
          <a:p>
            <a:r>
              <a:rPr lang="en-GB" dirty="0"/>
              <a:t>It may then classify windows from Machine A correctly without learning a fault pattern that transfers to Machine B.</a:t>
            </a:r>
          </a:p>
          <a:p>
            <a:r>
              <a:rPr lang="en-GB" b="1" dirty="0"/>
              <a:t>Grouped splitting rule</a:t>
            </a:r>
          </a:p>
          <a:p>
            <a:r>
              <a:rPr lang="en-GB" dirty="0"/>
              <a:t>All samples derived from one entity must be assigned to the same partition.</a:t>
            </a:r>
          </a:p>
          <a:p>
            <a:r>
              <a:rPr lang="en-GB" dirty="0" err="1"/>
              <a:t>entity_id</a:t>
            </a:r>
            <a:r>
              <a:rPr lang="en-GB" dirty="0"/>
              <a:t> → one partition only</a:t>
            </a:r>
          </a:p>
          <a:p>
            <a:r>
              <a:rPr lang="en-GB" b="1" dirty="0"/>
              <a:t>Validation design</a:t>
            </a:r>
          </a:p>
          <a:p>
            <a:r>
              <a:rPr lang="en-GB" dirty="0"/>
              <a:t>Validation entities should also be different from test entities.</a:t>
            </a:r>
          </a:p>
          <a:p>
            <a:r>
              <a:rPr lang="en-GB" dirty="0"/>
              <a:t>Otherwise, model selection can become specialized to the eventual test group.</a:t>
            </a:r>
          </a:p>
          <a:p>
            <a:r>
              <a:rPr lang="en-GB" b="1" dirty="0">
                <a:highlight>
                  <a:srgbClr val="FFFF00"/>
                </a:highlight>
              </a:rPr>
              <a:t>Challenge</a:t>
            </a:r>
          </a:p>
          <a:p>
            <a:r>
              <a:rPr lang="en-GB" dirty="0"/>
              <a:t>Entity-level evaluation may have higher variance when only a small number of entities are available.</a:t>
            </a:r>
          </a:p>
          <a:p>
            <a:r>
              <a:rPr lang="en-GB" dirty="0"/>
              <a:t>Performance should therefore be reported:</a:t>
            </a:r>
          </a:p>
          <a:p>
            <a:pPr lvl="1"/>
            <a:r>
              <a:rPr lang="en-GB" dirty="0"/>
              <a:t>across individual entities;</a:t>
            </a:r>
          </a:p>
          <a:p>
            <a:pPr lvl="1"/>
            <a:r>
              <a:rPr lang="en-GB" dirty="0"/>
              <a:t>as an aggregate;</a:t>
            </a:r>
          </a:p>
          <a:p>
            <a:pPr lvl="1"/>
            <a:r>
              <a:rPr lang="en-GB" dirty="0"/>
              <a:t>with variability across held-out groups.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16712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Entity-level split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1078992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entity belongs to exactly one partition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98068" y="1874520"/>
            <a:ext cx="3063240" cy="2788920"/>
          </a:xfrm>
          <a:prstGeom prst="rect">
            <a:avLst/>
          </a:prstGeom>
          <a:solidFill>
            <a:srgbClr val="E8F2FF"/>
          </a:solidFill>
          <a:ln w="25400">
            <a:solidFill>
              <a:srgbClr val="2F80ED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entities</a:t>
            </a:r>
            <a:endParaRPr lang="en-US" sz="2400" dirty="0"/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2F80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  B   C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592428" y="4864608"/>
            <a:ext cx="1874520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box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64228" y="1874520"/>
            <a:ext cx="3063240" cy="2788920"/>
          </a:xfrm>
          <a:prstGeom prst="rect">
            <a:avLst/>
          </a:prstGeom>
          <a:solidFill>
            <a:srgbClr val="FFF3E8"/>
          </a:solidFill>
          <a:ln w="25400">
            <a:solidFill>
              <a:srgbClr val="F2994A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9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entities</a:t>
            </a:r>
            <a:endParaRPr lang="en-US" sz="2400" dirty="0"/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299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158588" y="4864608"/>
            <a:ext cx="1874520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box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30388" y="1874520"/>
            <a:ext cx="3063240" cy="2788920"/>
          </a:xfrm>
          <a:prstGeom prst="rect">
            <a:avLst/>
          </a:prstGeom>
          <a:solidFill>
            <a:srgbClr val="FDECEC"/>
          </a:solidFill>
          <a:ln w="25400">
            <a:solidFill>
              <a:srgbClr val="EB5757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entities</a:t>
            </a:r>
            <a:endParaRPr lang="en-US" sz="2400" dirty="0"/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724748" y="4864608"/>
            <a:ext cx="1874520" cy="292608"/>
          </a:xfrm>
          <a:prstGeom prst="rect">
            <a:avLst/>
          </a:prstGeom>
          <a:solidFill>
            <a:srgbClr val="FFFFFF"/>
          </a:solidFill>
          <a:ln w="7620">
            <a:solidFill>
              <a:srgbClr val="CBD5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box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5440680"/>
            <a:ext cx="9738360" cy="530352"/>
          </a:xfrm>
          <a:prstGeom prst="rect">
            <a:avLst/>
          </a:prstGeom>
          <a:solidFill>
            <a:srgbClr val="ECFDF5"/>
          </a:solidFill>
          <a:ln w="12700">
            <a:solidFill>
              <a:srgbClr val="99F6E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leakage by entity: an entity used for testing was never seen during model development.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11880" y="6144768"/>
            <a:ext cx="498348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partition assignment, not a timeline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70E73B-703C-9727-A23A-04F0E33F8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Combined temporal and entity generalization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1906C21-3375-3014-5CF5-D6BAC0682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The most demanding deployment scenarios </a:t>
            </a:r>
            <a:r>
              <a:rPr lang="en-GB" dirty="0"/>
              <a:t>combine several forms of novelty.</a:t>
            </a:r>
          </a:p>
          <a:p>
            <a:r>
              <a:rPr lang="en-GB" dirty="0">
                <a:highlight>
                  <a:srgbClr val="FFFF00"/>
                </a:highlight>
              </a:rPr>
              <a:t>Example:</a:t>
            </a:r>
          </a:p>
          <a:p>
            <a:pPr lvl="1"/>
            <a:r>
              <a:rPr lang="en-GB" dirty="0"/>
              <a:t>the model is trained on historical data;</a:t>
            </a:r>
          </a:p>
          <a:p>
            <a:pPr lvl="1"/>
            <a:r>
              <a:rPr lang="en-GB" dirty="0"/>
              <a:t>it is deployed later;</a:t>
            </a:r>
          </a:p>
          <a:p>
            <a:pPr lvl="1"/>
            <a:r>
              <a:rPr lang="en-GB" dirty="0"/>
              <a:t>some deployment entities are new;</a:t>
            </a:r>
          </a:p>
          <a:p>
            <a:pPr lvl="1"/>
            <a:r>
              <a:rPr lang="en-GB" dirty="0"/>
              <a:t>operating conditions may also have changed.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99063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67FE97-0AE1-8069-D1F3-B31FCA2CE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Possible test scenarios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794F7C8-4680-84ED-F023-4797BB4D1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Scenario A — Future data from known entities</a:t>
            </a:r>
          </a:p>
          <a:p>
            <a:r>
              <a:rPr lang="en-GB" dirty="0"/>
              <a:t>known machines + later time</a:t>
            </a:r>
          </a:p>
          <a:p>
            <a:r>
              <a:rPr lang="en-GB" b="1" dirty="0"/>
              <a:t>Scenario B — Historical data from unseen entities</a:t>
            </a:r>
          </a:p>
          <a:p>
            <a:r>
              <a:rPr lang="en-GB" dirty="0"/>
              <a:t>new machines + similar historical regime</a:t>
            </a:r>
          </a:p>
          <a:p>
            <a:r>
              <a:rPr lang="en-GB" b="1" dirty="0"/>
              <a:t>Scenario C — Future data from unseen entities</a:t>
            </a:r>
          </a:p>
          <a:p>
            <a:r>
              <a:rPr lang="en-GB" dirty="0"/>
              <a:t>new machines + later time</a:t>
            </a:r>
          </a:p>
          <a:p>
            <a:r>
              <a:rPr lang="en-GB" b="1" dirty="0"/>
              <a:t>Scenario C combines:</a:t>
            </a:r>
          </a:p>
          <a:p>
            <a:pPr lvl="1"/>
            <a:r>
              <a:rPr lang="en-GB" dirty="0"/>
              <a:t>entity shift;</a:t>
            </a:r>
          </a:p>
          <a:p>
            <a:pPr lvl="1"/>
            <a:r>
              <a:rPr lang="en-GB" dirty="0"/>
              <a:t>temporal shift;</a:t>
            </a:r>
          </a:p>
          <a:p>
            <a:pPr lvl="2"/>
            <a:r>
              <a:rPr lang="en-GB" dirty="0"/>
              <a:t>(possible regime shift).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248345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BA28A22-2CF5-A01A-C1B8-A8A32DEDE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Combined temporal and entity generalization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47C2D86-52E5-ED4C-61BF-C796D0C91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/>
              <a:t>Recommended evaluation</a:t>
            </a:r>
          </a:p>
          <a:p>
            <a:r>
              <a:rPr lang="en-GB" dirty="0"/>
              <a:t>When possible, report multiple test conditions separately.</a:t>
            </a:r>
          </a:p>
          <a:p>
            <a:r>
              <a:rPr lang="en-GB" b="1" dirty="0"/>
              <a:t>Why separate reporting matters</a:t>
            </a:r>
          </a:p>
          <a:p>
            <a:r>
              <a:rPr lang="en-GB" dirty="0"/>
              <a:t>One aggregate score may hide very different behaviour.</a:t>
            </a:r>
          </a:p>
          <a:p>
            <a:r>
              <a:rPr lang="en-GB" dirty="0"/>
              <a:t>Example:</a:t>
            </a:r>
          </a:p>
          <a:p>
            <a:pPr lvl="1"/>
            <a:r>
              <a:rPr lang="en-GB" dirty="0">
                <a:latin typeface="Courier New" panose="02070309020205020404" pitchFamily="49" charset="0"/>
              </a:rPr>
              <a:t>Known machines: accuracy = 94%</a:t>
            </a:r>
          </a:p>
          <a:p>
            <a:pPr lvl="1"/>
            <a:r>
              <a:rPr lang="en-GB" dirty="0">
                <a:latin typeface="Courier New" panose="02070309020205020404" pitchFamily="49" charset="0"/>
              </a:rPr>
              <a:t>New machines:   accuracy = 71%</a:t>
            </a:r>
          </a:p>
          <a:p>
            <a:r>
              <a:rPr lang="en-GB" dirty="0"/>
              <a:t>The average may appear acceptable while transfer to new machines is poor.</a:t>
            </a:r>
          </a:p>
          <a:p>
            <a:endParaRPr lang="en-GB" dirty="0"/>
          </a:p>
          <a:p>
            <a:r>
              <a:rPr lang="en-GB" b="1" dirty="0">
                <a:highlight>
                  <a:srgbClr val="FFFF00"/>
                </a:highlight>
              </a:rPr>
              <a:t>A single test set may not be sufficient when the deployment scenario includes multiple types of novelty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B81D5DA-2E65-A8BC-0972-17F509737BB0}"/>
              </a:ext>
            </a:extLst>
          </p:cNvPr>
          <p:cNvSpPr txBox="1"/>
          <p:nvPr/>
        </p:nvSpPr>
        <p:spPr>
          <a:xfrm>
            <a:off x="3052763" y="1587103"/>
            <a:ext cx="6105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22004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5DCBD-1574-AB89-EC21-E2EBEB4F7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BD45740-6842-A073-A526-495D3F6A53EF}"/>
              </a:ext>
            </a:extLst>
          </p:cNvPr>
          <p:cNvSpPr/>
          <p:nvPr/>
        </p:nvSpPr>
        <p:spPr>
          <a:xfrm>
            <a:off x="502920" y="256032"/>
            <a:ext cx="8046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Train/test splits over a machine-cycle table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029D5CE-F26B-9EFB-96AD-3532424843E2}"/>
              </a:ext>
            </a:extLst>
          </p:cNvPr>
          <p:cNvSpPr/>
          <p:nvPr/>
        </p:nvSpPr>
        <p:spPr>
          <a:xfrm>
            <a:off x="512064" y="694944"/>
            <a:ext cx="71323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data layout can define different generalization questions.</a:t>
            </a:r>
            <a:endParaRPr lang="en-US" sz="12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41FD602-5A01-495E-6B22-4C04BE518813}"/>
              </a:ext>
            </a:extLst>
          </p:cNvPr>
          <p:cNvSpPr/>
          <p:nvPr/>
        </p:nvSpPr>
        <p:spPr>
          <a:xfrm>
            <a:off x="8732520" y="329184"/>
            <a:ext cx="5943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Legend</a:t>
            </a:r>
            <a:endParaRPr lang="en-US" sz="10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7F29299-238F-F61F-3C10-D5F6734932D0}"/>
              </a:ext>
            </a:extLst>
          </p:cNvPr>
          <p:cNvSpPr/>
          <p:nvPr/>
        </p:nvSpPr>
        <p:spPr>
          <a:xfrm>
            <a:off x="9765792" y="301752"/>
            <a:ext cx="219456" cy="201168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58786C2-425C-2D21-0BC4-B291333AB39D}"/>
              </a:ext>
            </a:extLst>
          </p:cNvPr>
          <p:cNvSpPr/>
          <p:nvPr/>
        </p:nvSpPr>
        <p:spPr>
          <a:xfrm>
            <a:off x="10021824" y="292608"/>
            <a:ext cx="5029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</a:t>
            </a:r>
            <a:endParaRPr lang="en-US" sz="10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16F39CC-13C6-CF34-706E-F8812442EF3A}"/>
              </a:ext>
            </a:extLst>
          </p:cNvPr>
          <p:cNvSpPr/>
          <p:nvPr/>
        </p:nvSpPr>
        <p:spPr>
          <a:xfrm>
            <a:off x="10588752" y="301752"/>
            <a:ext cx="219456" cy="201168"/>
          </a:xfrm>
          <a:prstGeom prst="rect">
            <a:avLst/>
          </a:prstGeom>
          <a:solidFill>
            <a:srgbClr val="FFE3B3"/>
          </a:solidFill>
          <a:ln w="12700">
            <a:solidFill>
              <a:srgbClr val="D9770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F92F3B8-04B4-B5D6-CF8D-1877798CF52F}"/>
              </a:ext>
            </a:extLst>
          </p:cNvPr>
          <p:cNvSpPr/>
          <p:nvPr/>
        </p:nvSpPr>
        <p:spPr>
          <a:xfrm>
            <a:off x="10844784" y="292608"/>
            <a:ext cx="38404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0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4A205B0-C400-A1D0-AEE3-96AA1655EF2E}"/>
              </a:ext>
            </a:extLst>
          </p:cNvPr>
          <p:cNvSpPr/>
          <p:nvPr/>
        </p:nvSpPr>
        <p:spPr>
          <a:xfrm>
            <a:off x="9765792" y="576072"/>
            <a:ext cx="219456" cy="2011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C925AD4-376A-F7C4-2173-FB411EE48813}"/>
              </a:ext>
            </a:extLst>
          </p:cNvPr>
          <p:cNvSpPr/>
          <p:nvPr/>
        </p:nvSpPr>
        <p:spPr>
          <a:xfrm>
            <a:off x="10021824" y="566928"/>
            <a:ext cx="8686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used</a:t>
            </a:r>
            <a:endParaRPr lang="en-US" sz="10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77820F5-2671-1CBC-C3F8-65450C699553}"/>
              </a:ext>
            </a:extLst>
          </p:cNvPr>
          <p:cNvSpPr/>
          <p:nvPr/>
        </p:nvSpPr>
        <p:spPr>
          <a:xfrm>
            <a:off x="640080" y="1207008"/>
            <a:ext cx="43434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Same entities, same regime</a:t>
            </a:r>
            <a:endParaRPr lang="en-US" sz="15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2C75826-0509-F854-FBD7-D9211404AB3B}"/>
              </a:ext>
            </a:extLst>
          </p:cNvPr>
          <p:cNvSpPr/>
          <p:nvPr/>
        </p:nvSpPr>
        <p:spPr>
          <a:xfrm>
            <a:off x="640080" y="1463040"/>
            <a:ext cx="4343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cells are interleaved with training cells</a:t>
            </a:r>
            <a:endParaRPr lang="en-US" sz="9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F1CE45F-4D15-113A-8669-3938A10E0B46}"/>
              </a:ext>
            </a:extLst>
          </p:cNvPr>
          <p:cNvSpPr/>
          <p:nvPr/>
        </p:nvSpPr>
        <p:spPr>
          <a:xfrm>
            <a:off x="1810512" y="1755648"/>
            <a:ext cx="5760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C1</a:t>
            </a:r>
            <a:endParaRPr lang="en-US" sz="10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CB4A112-5FCF-1889-B81A-8254E3BE8285}"/>
              </a:ext>
            </a:extLst>
          </p:cNvPr>
          <p:cNvSpPr/>
          <p:nvPr/>
        </p:nvSpPr>
        <p:spPr>
          <a:xfrm>
            <a:off x="2436876" y="1755648"/>
            <a:ext cx="5760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C2</a:t>
            </a:r>
            <a:endParaRPr lang="en-US" sz="10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9319D86-4DDC-20F6-5194-EC04E8574DB0}"/>
              </a:ext>
            </a:extLst>
          </p:cNvPr>
          <p:cNvSpPr/>
          <p:nvPr/>
        </p:nvSpPr>
        <p:spPr>
          <a:xfrm>
            <a:off x="3063240" y="1755648"/>
            <a:ext cx="5760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C3</a:t>
            </a:r>
            <a:endParaRPr lang="en-US" sz="10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8DF11FE-0C79-598D-5ED9-B07BEF94881B}"/>
              </a:ext>
            </a:extLst>
          </p:cNvPr>
          <p:cNvSpPr/>
          <p:nvPr/>
        </p:nvSpPr>
        <p:spPr>
          <a:xfrm>
            <a:off x="3689604" y="1755648"/>
            <a:ext cx="5760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C4</a:t>
            </a:r>
            <a:endParaRPr lang="en-US" sz="10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9A988F43-64C3-39E0-CB8E-8C227280C0DD}"/>
              </a:ext>
            </a:extLst>
          </p:cNvPr>
          <p:cNvSpPr/>
          <p:nvPr/>
        </p:nvSpPr>
        <p:spPr>
          <a:xfrm>
            <a:off x="640080" y="2048256"/>
            <a:ext cx="107899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A</a:t>
            </a:r>
            <a:endParaRPr lang="en-US" sz="10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DFB1CD4-969D-1301-5E15-322C02EADB2F}"/>
              </a:ext>
            </a:extLst>
          </p:cNvPr>
          <p:cNvSpPr/>
          <p:nvPr/>
        </p:nvSpPr>
        <p:spPr>
          <a:xfrm>
            <a:off x="1810512" y="2048256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D5A25AD-41DD-460E-0A79-DC400A71BC04}"/>
              </a:ext>
            </a:extLst>
          </p:cNvPr>
          <p:cNvSpPr/>
          <p:nvPr/>
        </p:nvSpPr>
        <p:spPr>
          <a:xfrm>
            <a:off x="2436876" y="2048256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4B368B9-526A-A122-5073-6A51C7617874}"/>
              </a:ext>
            </a:extLst>
          </p:cNvPr>
          <p:cNvSpPr/>
          <p:nvPr/>
        </p:nvSpPr>
        <p:spPr>
          <a:xfrm>
            <a:off x="3063240" y="2048256"/>
            <a:ext cx="576072" cy="274320"/>
          </a:xfrm>
          <a:prstGeom prst="rect">
            <a:avLst/>
          </a:prstGeom>
          <a:solidFill>
            <a:srgbClr val="FFE3B3"/>
          </a:solidFill>
          <a:ln w="17780">
            <a:solidFill>
              <a:srgbClr val="D9770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7A6EFCC-E549-5F63-EBD8-9BB46BE605D8}"/>
              </a:ext>
            </a:extLst>
          </p:cNvPr>
          <p:cNvSpPr/>
          <p:nvPr/>
        </p:nvSpPr>
        <p:spPr>
          <a:xfrm>
            <a:off x="3689604" y="2048256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1DB60C5-7589-7E72-BB63-D36A968053BC}"/>
              </a:ext>
            </a:extLst>
          </p:cNvPr>
          <p:cNvSpPr/>
          <p:nvPr/>
        </p:nvSpPr>
        <p:spPr>
          <a:xfrm>
            <a:off x="640080" y="2391156"/>
            <a:ext cx="107899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B</a:t>
            </a:r>
            <a:endParaRPr lang="en-US" sz="10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894A3D9-F243-5EF9-F5F8-29EEBEF8E457}"/>
              </a:ext>
            </a:extLst>
          </p:cNvPr>
          <p:cNvSpPr/>
          <p:nvPr/>
        </p:nvSpPr>
        <p:spPr>
          <a:xfrm>
            <a:off x="1810512" y="2391156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C2C0DB8-E2CC-9AB7-EA25-7EBE49FDAE95}"/>
              </a:ext>
            </a:extLst>
          </p:cNvPr>
          <p:cNvSpPr/>
          <p:nvPr/>
        </p:nvSpPr>
        <p:spPr>
          <a:xfrm>
            <a:off x="2436876" y="2391156"/>
            <a:ext cx="576072" cy="274320"/>
          </a:xfrm>
          <a:prstGeom prst="rect">
            <a:avLst/>
          </a:prstGeom>
          <a:solidFill>
            <a:srgbClr val="FFE3B3"/>
          </a:solidFill>
          <a:ln w="17780">
            <a:solidFill>
              <a:srgbClr val="D9770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DF0BB9E-4D4A-9610-12CD-EB44ED829756}"/>
              </a:ext>
            </a:extLst>
          </p:cNvPr>
          <p:cNvSpPr/>
          <p:nvPr/>
        </p:nvSpPr>
        <p:spPr>
          <a:xfrm>
            <a:off x="3063240" y="2391156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27C4A2D-39DB-AE1E-06D8-3985C23B3372}"/>
              </a:ext>
            </a:extLst>
          </p:cNvPr>
          <p:cNvSpPr/>
          <p:nvPr/>
        </p:nvSpPr>
        <p:spPr>
          <a:xfrm>
            <a:off x="3689604" y="2391156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4DDD34A2-E1C6-7604-9196-8EAE4BDABC64}"/>
              </a:ext>
            </a:extLst>
          </p:cNvPr>
          <p:cNvSpPr/>
          <p:nvPr/>
        </p:nvSpPr>
        <p:spPr>
          <a:xfrm>
            <a:off x="640080" y="2734056"/>
            <a:ext cx="107899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C</a:t>
            </a:r>
            <a:endParaRPr lang="en-US" sz="105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01E8D673-467F-FB1B-E703-680E460C71B7}"/>
              </a:ext>
            </a:extLst>
          </p:cNvPr>
          <p:cNvSpPr/>
          <p:nvPr/>
        </p:nvSpPr>
        <p:spPr>
          <a:xfrm>
            <a:off x="1810512" y="2734056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B81A50D6-3393-6B2D-B65A-3C1AF77684B7}"/>
              </a:ext>
            </a:extLst>
          </p:cNvPr>
          <p:cNvSpPr/>
          <p:nvPr/>
        </p:nvSpPr>
        <p:spPr>
          <a:xfrm>
            <a:off x="2436876" y="2734056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578BFA61-78E1-1653-B791-D1130DC632EB}"/>
              </a:ext>
            </a:extLst>
          </p:cNvPr>
          <p:cNvSpPr/>
          <p:nvPr/>
        </p:nvSpPr>
        <p:spPr>
          <a:xfrm>
            <a:off x="3063240" y="2734056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C1DAD0F1-8D28-8EA6-8192-F2E06C861F78}"/>
              </a:ext>
            </a:extLst>
          </p:cNvPr>
          <p:cNvSpPr/>
          <p:nvPr/>
        </p:nvSpPr>
        <p:spPr>
          <a:xfrm>
            <a:off x="3689604" y="2734056"/>
            <a:ext cx="576072" cy="274320"/>
          </a:xfrm>
          <a:prstGeom prst="rect">
            <a:avLst/>
          </a:prstGeom>
          <a:solidFill>
            <a:srgbClr val="FFE3B3"/>
          </a:solidFill>
          <a:ln w="17780">
            <a:solidFill>
              <a:srgbClr val="D9770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443F800C-F07F-424D-E162-AF1E2D937AF0}"/>
              </a:ext>
            </a:extLst>
          </p:cNvPr>
          <p:cNvSpPr/>
          <p:nvPr/>
        </p:nvSpPr>
        <p:spPr>
          <a:xfrm>
            <a:off x="640080" y="3076956"/>
            <a:ext cx="107899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D</a:t>
            </a:r>
            <a:endParaRPr lang="en-US" sz="105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16858A50-2205-FEE5-848B-A5A3F9F63382}"/>
              </a:ext>
            </a:extLst>
          </p:cNvPr>
          <p:cNvSpPr/>
          <p:nvPr/>
        </p:nvSpPr>
        <p:spPr>
          <a:xfrm>
            <a:off x="1810512" y="3076956"/>
            <a:ext cx="576072" cy="274320"/>
          </a:xfrm>
          <a:prstGeom prst="rect">
            <a:avLst/>
          </a:prstGeom>
          <a:solidFill>
            <a:srgbClr val="FFE3B3"/>
          </a:solidFill>
          <a:ln w="17780">
            <a:solidFill>
              <a:srgbClr val="D9770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00DDBEF3-C323-0546-E1E1-06B2F584322F}"/>
              </a:ext>
            </a:extLst>
          </p:cNvPr>
          <p:cNvSpPr/>
          <p:nvPr/>
        </p:nvSpPr>
        <p:spPr>
          <a:xfrm>
            <a:off x="2436876" y="3076956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52D80A3A-7E25-925F-992F-407C3059040C}"/>
              </a:ext>
            </a:extLst>
          </p:cNvPr>
          <p:cNvSpPr/>
          <p:nvPr/>
        </p:nvSpPr>
        <p:spPr>
          <a:xfrm>
            <a:off x="3063240" y="3076956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4A849EB4-1F78-E9F8-DEAE-CC76EA778F81}"/>
              </a:ext>
            </a:extLst>
          </p:cNvPr>
          <p:cNvSpPr/>
          <p:nvPr/>
        </p:nvSpPr>
        <p:spPr>
          <a:xfrm>
            <a:off x="3689604" y="3076956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0276A510-996C-0EED-0694-DF5E92CC7C7A}"/>
              </a:ext>
            </a:extLst>
          </p:cNvPr>
          <p:cNvSpPr/>
          <p:nvPr/>
        </p:nvSpPr>
        <p:spPr>
          <a:xfrm>
            <a:off x="6400800" y="1207008"/>
            <a:ext cx="43434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Future-cycle split</a:t>
            </a:r>
            <a:endParaRPr lang="en-US" sz="15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97024BE1-F7E8-35D9-B964-927EA036B142}"/>
              </a:ext>
            </a:extLst>
          </p:cNvPr>
          <p:cNvSpPr/>
          <p:nvPr/>
        </p:nvSpPr>
        <p:spPr>
          <a:xfrm>
            <a:off x="6400800" y="1463040"/>
            <a:ext cx="4343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on earlier cycles, test on later cycles</a:t>
            </a:r>
            <a:endParaRPr lang="en-US" sz="95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860B5B55-D9DC-3E3F-C529-46592C6CED93}"/>
              </a:ext>
            </a:extLst>
          </p:cNvPr>
          <p:cNvSpPr/>
          <p:nvPr/>
        </p:nvSpPr>
        <p:spPr>
          <a:xfrm>
            <a:off x="7571232" y="1755648"/>
            <a:ext cx="5760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C1</a:t>
            </a:r>
            <a:endParaRPr lang="en-US" sz="105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453B1FE1-6365-2E04-CD01-F1D0048C1592}"/>
              </a:ext>
            </a:extLst>
          </p:cNvPr>
          <p:cNvSpPr/>
          <p:nvPr/>
        </p:nvSpPr>
        <p:spPr>
          <a:xfrm>
            <a:off x="8197596" y="1755648"/>
            <a:ext cx="5760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C2</a:t>
            </a:r>
            <a:endParaRPr lang="en-US" sz="105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9B737DE8-B03E-F866-6309-878D20AE6815}"/>
              </a:ext>
            </a:extLst>
          </p:cNvPr>
          <p:cNvSpPr/>
          <p:nvPr/>
        </p:nvSpPr>
        <p:spPr>
          <a:xfrm>
            <a:off x="8823960" y="1755648"/>
            <a:ext cx="5760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C3</a:t>
            </a:r>
            <a:endParaRPr lang="en-US" sz="105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AE5E720D-9EA4-9909-968A-ED7679462AE2}"/>
              </a:ext>
            </a:extLst>
          </p:cNvPr>
          <p:cNvSpPr/>
          <p:nvPr/>
        </p:nvSpPr>
        <p:spPr>
          <a:xfrm>
            <a:off x="9450324" y="1755648"/>
            <a:ext cx="5760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C4</a:t>
            </a:r>
            <a:endParaRPr lang="en-US" sz="105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574564D2-6BCF-6665-7C67-64111C04582A}"/>
              </a:ext>
            </a:extLst>
          </p:cNvPr>
          <p:cNvSpPr/>
          <p:nvPr/>
        </p:nvSpPr>
        <p:spPr>
          <a:xfrm>
            <a:off x="6400800" y="2048256"/>
            <a:ext cx="107899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A</a:t>
            </a:r>
            <a:endParaRPr lang="en-US" sz="105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A3F6E47F-F879-36CA-E5C3-C8D44D99E19B}"/>
              </a:ext>
            </a:extLst>
          </p:cNvPr>
          <p:cNvSpPr/>
          <p:nvPr/>
        </p:nvSpPr>
        <p:spPr>
          <a:xfrm>
            <a:off x="7571232" y="2048256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8E76D38B-D391-E359-66F8-C92904A2F248}"/>
              </a:ext>
            </a:extLst>
          </p:cNvPr>
          <p:cNvSpPr/>
          <p:nvPr/>
        </p:nvSpPr>
        <p:spPr>
          <a:xfrm>
            <a:off x="8197596" y="2048256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30C1B52D-2B5C-0F17-998E-8258FF7F3C75}"/>
              </a:ext>
            </a:extLst>
          </p:cNvPr>
          <p:cNvSpPr/>
          <p:nvPr/>
        </p:nvSpPr>
        <p:spPr>
          <a:xfrm>
            <a:off x="8823960" y="2048256"/>
            <a:ext cx="576072" cy="274320"/>
          </a:xfrm>
          <a:prstGeom prst="rect">
            <a:avLst/>
          </a:prstGeom>
          <a:solidFill>
            <a:srgbClr val="FFE3B3"/>
          </a:solidFill>
          <a:ln w="17780">
            <a:solidFill>
              <a:srgbClr val="D9770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0A901D1C-66EC-9CC2-5AF1-EF53F5D420A1}"/>
              </a:ext>
            </a:extLst>
          </p:cNvPr>
          <p:cNvSpPr/>
          <p:nvPr/>
        </p:nvSpPr>
        <p:spPr>
          <a:xfrm>
            <a:off x="9450324" y="2048256"/>
            <a:ext cx="576072" cy="274320"/>
          </a:xfrm>
          <a:prstGeom prst="rect">
            <a:avLst/>
          </a:prstGeom>
          <a:solidFill>
            <a:srgbClr val="FFE3B3"/>
          </a:solidFill>
          <a:ln w="17780">
            <a:solidFill>
              <a:srgbClr val="D9770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D6CB8DA8-8B57-510E-8C4F-BEB47CBF59A3}"/>
              </a:ext>
            </a:extLst>
          </p:cNvPr>
          <p:cNvSpPr/>
          <p:nvPr/>
        </p:nvSpPr>
        <p:spPr>
          <a:xfrm>
            <a:off x="6400800" y="2391156"/>
            <a:ext cx="107899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B</a:t>
            </a:r>
            <a:endParaRPr lang="en-US" sz="1050" dirty="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0E9E3120-308C-F644-9CC6-607ABFB2A25A}"/>
              </a:ext>
            </a:extLst>
          </p:cNvPr>
          <p:cNvSpPr/>
          <p:nvPr/>
        </p:nvSpPr>
        <p:spPr>
          <a:xfrm>
            <a:off x="7571232" y="2391156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43968B24-82FC-A97B-C27D-56A0C8E6DA78}"/>
              </a:ext>
            </a:extLst>
          </p:cNvPr>
          <p:cNvSpPr/>
          <p:nvPr/>
        </p:nvSpPr>
        <p:spPr>
          <a:xfrm>
            <a:off x="8197596" y="2391156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37A83118-18FB-BB87-534D-67873B613043}"/>
              </a:ext>
            </a:extLst>
          </p:cNvPr>
          <p:cNvSpPr/>
          <p:nvPr/>
        </p:nvSpPr>
        <p:spPr>
          <a:xfrm>
            <a:off x="8823960" y="2391156"/>
            <a:ext cx="576072" cy="274320"/>
          </a:xfrm>
          <a:prstGeom prst="rect">
            <a:avLst/>
          </a:prstGeom>
          <a:solidFill>
            <a:srgbClr val="FFE3B3"/>
          </a:solidFill>
          <a:ln w="17780">
            <a:solidFill>
              <a:srgbClr val="D9770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9E367FE9-ABDA-E1F1-5D63-1B91080F9673}"/>
              </a:ext>
            </a:extLst>
          </p:cNvPr>
          <p:cNvSpPr/>
          <p:nvPr/>
        </p:nvSpPr>
        <p:spPr>
          <a:xfrm>
            <a:off x="9450324" y="2391156"/>
            <a:ext cx="576072" cy="274320"/>
          </a:xfrm>
          <a:prstGeom prst="rect">
            <a:avLst/>
          </a:prstGeom>
          <a:solidFill>
            <a:srgbClr val="FFE3B3"/>
          </a:solidFill>
          <a:ln w="17780">
            <a:solidFill>
              <a:srgbClr val="D9770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317B03E9-7F54-5C13-BA75-0E4B653734D3}"/>
              </a:ext>
            </a:extLst>
          </p:cNvPr>
          <p:cNvSpPr/>
          <p:nvPr/>
        </p:nvSpPr>
        <p:spPr>
          <a:xfrm>
            <a:off x="6400800" y="2734056"/>
            <a:ext cx="107899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C</a:t>
            </a:r>
            <a:endParaRPr lang="en-US" sz="1050" dirty="0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FCE38631-7F37-BC93-81F7-1D9743EDC616}"/>
              </a:ext>
            </a:extLst>
          </p:cNvPr>
          <p:cNvSpPr/>
          <p:nvPr/>
        </p:nvSpPr>
        <p:spPr>
          <a:xfrm>
            <a:off x="7571232" y="2734056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1B0BACFA-6AAE-D36B-0234-1AB1573735A3}"/>
              </a:ext>
            </a:extLst>
          </p:cNvPr>
          <p:cNvSpPr/>
          <p:nvPr/>
        </p:nvSpPr>
        <p:spPr>
          <a:xfrm>
            <a:off x="8197596" y="2734056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11DB83A7-F98C-F8FD-EC35-A2D87AD8ACC1}"/>
              </a:ext>
            </a:extLst>
          </p:cNvPr>
          <p:cNvSpPr/>
          <p:nvPr/>
        </p:nvSpPr>
        <p:spPr>
          <a:xfrm>
            <a:off x="8823960" y="2734056"/>
            <a:ext cx="576072" cy="274320"/>
          </a:xfrm>
          <a:prstGeom prst="rect">
            <a:avLst/>
          </a:prstGeom>
          <a:solidFill>
            <a:srgbClr val="FFE3B3"/>
          </a:solidFill>
          <a:ln w="17780">
            <a:solidFill>
              <a:srgbClr val="D9770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6106AE27-36AF-90E6-A3A0-9B8376B93A25}"/>
              </a:ext>
            </a:extLst>
          </p:cNvPr>
          <p:cNvSpPr/>
          <p:nvPr/>
        </p:nvSpPr>
        <p:spPr>
          <a:xfrm>
            <a:off x="9450324" y="2734056"/>
            <a:ext cx="576072" cy="274320"/>
          </a:xfrm>
          <a:prstGeom prst="rect">
            <a:avLst/>
          </a:prstGeom>
          <a:solidFill>
            <a:srgbClr val="FFE3B3"/>
          </a:solidFill>
          <a:ln w="17780">
            <a:solidFill>
              <a:srgbClr val="D9770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5CF3F27F-791D-D24C-9B68-FCBA6F93AFCC}"/>
              </a:ext>
            </a:extLst>
          </p:cNvPr>
          <p:cNvSpPr/>
          <p:nvPr/>
        </p:nvSpPr>
        <p:spPr>
          <a:xfrm>
            <a:off x="6400800" y="3076956"/>
            <a:ext cx="107899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D</a:t>
            </a:r>
            <a:endParaRPr lang="en-US" sz="1050" dirty="0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288ACDEE-ECB1-D71D-CA89-E470AEA4CEA6}"/>
              </a:ext>
            </a:extLst>
          </p:cNvPr>
          <p:cNvSpPr/>
          <p:nvPr/>
        </p:nvSpPr>
        <p:spPr>
          <a:xfrm>
            <a:off x="7571232" y="3076956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AF623001-0543-F5BD-2069-F5088A7E8FAF}"/>
              </a:ext>
            </a:extLst>
          </p:cNvPr>
          <p:cNvSpPr/>
          <p:nvPr/>
        </p:nvSpPr>
        <p:spPr>
          <a:xfrm>
            <a:off x="8197596" y="3076956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7945204C-3A9A-AB0A-4FBA-2492BDFDBAFD}"/>
              </a:ext>
            </a:extLst>
          </p:cNvPr>
          <p:cNvSpPr/>
          <p:nvPr/>
        </p:nvSpPr>
        <p:spPr>
          <a:xfrm>
            <a:off x="8823960" y="3076956"/>
            <a:ext cx="576072" cy="274320"/>
          </a:xfrm>
          <a:prstGeom prst="rect">
            <a:avLst/>
          </a:prstGeom>
          <a:solidFill>
            <a:srgbClr val="FFE3B3"/>
          </a:solidFill>
          <a:ln w="17780">
            <a:solidFill>
              <a:srgbClr val="D9770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2B865913-E210-343D-162E-81C0AA3EB516}"/>
              </a:ext>
            </a:extLst>
          </p:cNvPr>
          <p:cNvSpPr/>
          <p:nvPr/>
        </p:nvSpPr>
        <p:spPr>
          <a:xfrm>
            <a:off x="9450324" y="3076956"/>
            <a:ext cx="576072" cy="274320"/>
          </a:xfrm>
          <a:prstGeom prst="rect">
            <a:avLst/>
          </a:prstGeom>
          <a:solidFill>
            <a:srgbClr val="FFE3B3"/>
          </a:solidFill>
          <a:ln w="17780">
            <a:solidFill>
              <a:srgbClr val="D9770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5BFDFC97-DBF1-4D77-EAC8-3B727381AF03}"/>
              </a:ext>
            </a:extLst>
          </p:cNvPr>
          <p:cNvSpPr/>
          <p:nvPr/>
        </p:nvSpPr>
        <p:spPr>
          <a:xfrm>
            <a:off x="640080" y="3749040"/>
            <a:ext cx="43434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New-machine split</a:t>
            </a:r>
            <a:endParaRPr lang="en-US" sz="1500" dirty="0"/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AAF86780-CB85-EDE5-037D-44F209B97AA6}"/>
              </a:ext>
            </a:extLst>
          </p:cNvPr>
          <p:cNvSpPr/>
          <p:nvPr/>
        </p:nvSpPr>
        <p:spPr>
          <a:xfrm>
            <a:off x="640080" y="4005072"/>
            <a:ext cx="4343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on some machines, test on held-out machines</a:t>
            </a:r>
            <a:endParaRPr lang="en-US" sz="950" dirty="0"/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EB257801-4BC0-59BF-F0C2-29BDE1B80920}"/>
              </a:ext>
            </a:extLst>
          </p:cNvPr>
          <p:cNvSpPr/>
          <p:nvPr/>
        </p:nvSpPr>
        <p:spPr>
          <a:xfrm>
            <a:off x="1810512" y="4297680"/>
            <a:ext cx="5760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C1</a:t>
            </a:r>
            <a:endParaRPr lang="en-US" sz="1050" dirty="0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6777C99A-E040-7488-59A4-D040E8BCD7E2}"/>
              </a:ext>
            </a:extLst>
          </p:cNvPr>
          <p:cNvSpPr/>
          <p:nvPr/>
        </p:nvSpPr>
        <p:spPr>
          <a:xfrm>
            <a:off x="2436876" y="4297680"/>
            <a:ext cx="5760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C2</a:t>
            </a:r>
            <a:endParaRPr lang="en-US" sz="1050" dirty="0"/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9048CAA2-2EC2-AE5C-4C72-FE60C5798181}"/>
              </a:ext>
            </a:extLst>
          </p:cNvPr>
          <p:cNvSpPr/>
          <p:nvPr/>
        </p:nvSpPr>
        <p:spPr>
          <a:xfrm>
            <a:off x="3063240" y="4297680"/>
            <a:ext cx="5760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C3</a:t>
            </a:r>
            <a:endParaRPr lang="en-US" sz="1050" dirty="0"/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CE94557F-95EA-2EDE-A482-6192D3B28849}"/>
              </a:ext>
            </a:extLst>
          </p:cNvPr>
          <p:cNvSpPr/>
          <p:nvPr/>
        </p:nvSpPr>
        <p:spPr>
          <a:xfrm>
            <a:off x="3689604" y="4297680"/>
            <a:ext cx="5760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C4</a:t>
            </a:r>
            <a:endParaRPr lang="en-US" sz="1050" dirty="0"/>
          </a:p>
        </p:txBody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C2771E7E-F6D3-4D49-14D5-B1B3DE4CE223}"/>
              </a:ext>
            </a:extLst>
          </p:cNvPr>
          <p:cNvSpPr/>
          <p:nvPr/>
        </p:nvSpPr>
        <p:spPr>
          <a:xfrm>
            <a:off x="640080" y="4590288"/>
            <a:ext cx="107899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A</a:t>
            </a:r>
            <a:endParaRPr lang="en-US" sz="1050" dirty="0"/>
          </a:p>
        </p:txBody>
      </p:sp>
      <p:sp>
        <p:nvSpPr>
          <p:cNvPr id="70" name="Text 68">
            <a:extLst>
              <a:ext uri="{FF2B5EF4-FFF2-40B4-BE49-F238E27FC236}">
                <a16:creationId xmlns:a16="http://schemas.microsoft.com/office/drawing/2014/main" id="{408BE182-F89C-7FF0-5657-3028B7137116}"/>
              </a:ext>
            </a:extLst>
          </p:cNvPr>
          <p:cNvSpPr/>
          <p:nvPr/>
        </p:nvSpPr>
        <p:spPr>
          <a:xfrm>
            <a:off x="1810512" y="4590288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9BA551A0-9309-BD18-16C0-62549B3043E7}"/>
              </a:ext>
            </a:extLst>
          </p:cNvPr>
          <p:cNvSpPr/>
          <p:nvPr/>
        </p:nvSpPr>
        <p:spPr>
          <a:xfrm>
            <a:off x="2436876" y="4590288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8BC7560F-21E9-6E87-1180-520011BEFDDB}"/>
              </a:ext>
            </a:extLst>
          </p:cNvPr>
          <p:cNvSpPr/>
          <p:nvPr/>
        </p:nvSpPr>
        <p:spPr>
          <a:xfrm>
            <a:off x="3063240" y="4590288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73" name="Text 71">
            <a:extLst>
              <a:ext uri="{FF2B5EF4-FFF2-40B4-BE49-F238E27FC236}">
                <a16:creationId xmlns:a16="http://schemas.microsoft.com/office/drawing/2014/main" id="{5F3B3345-E963-763C-6135-F59F898B28B7}"/>
              </a:ext>
            </a:extLst>
          </p:cNvPr>
          <p:cNvSpPr/>
          <p:nvPr/>
        </p:nvSpPr>
        <p:spPr>
          <a:xfrm>
            <a:off x="3689604" y="4590288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74" name="Text 72">
            <a:extLst>
              <a:ext uri="{FF2B5EF4-FFF2-40B4-BE49-F238E27FC236}">
                <a16:creationId xmlns:a16="http://schemas.microsoft.com/office/drawing/2014/main" id="{DFC2B31B-F677-FD77-3BF1-D79D21570ABE}"/>
              </a:ext>
            </a:extLst>
          </p:cNvPr>
          <p:cNvSpPr/>
          <p:nvPr/>
        </p:nvSpPr>
        <p:spPr>
          <a:xfrm>
            <a:off x="640080" y="4933188"/>
            <a:ext cx="107899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B</a:t>
            </a:r>
            <a:endParaRPr lang="en-US" sz="1050" dirty="0"/>
          </a:p>
        </p:txBody>
      </p:sp>
      <p:sp>
        <p:nvSpPr>
          <p:cNvPr id="75" name="Text 73">
            <a:extLst>
              <a:ext uri="{FF2B5EF4-FFF2-40B4-BE49-F238E27FC236}">
                <a16:creationId xmlns:a16="http://schemas.microsoft.com/office/drawing/2014/main" id="{890A9E47-1487-C539-CB86-FD519D87E87E}"/>
              </a:ext>
            </a:extLst>
          </p:cNvPr>
          <p:cNvSpPr/>
          <p:nvPr/>
        </p:nvSpPr>
        <p:spPr>
          <a:xfrm>
            <a:off x="1810512" y="4933188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76" name="Text 74">
            <a:extLst>
              <a:ext uri="{FF2B5EF4-FFF2-40B4-BE49-F238E27FC236}">
                <a16:creationId xmlns:a16="http://schemas.microsoft.com/office/drawing/2014/main" id="{EDFDD5BB-4F3D-A451-525C-6DC28DD7BDED}"/>
              </a:ext>
            </a:extLst>
          </p:cNvPr>
          <p:cNvSpPr/>
          <p:nvPr/>
        </p:nvSpPr>
        <p:spPr>
          <a:xfrm>
            <a:off x="2436876" y="4933188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77" name="Text 75">
            <a:extLst>
              <a:ext uri="{FF2B5EF4-FFF2-40B4-BE49-F238E27FC236}">
                <a16:creationId xmlns:a16="http://schemas.microsoft.com/office/drawing/2014/main" id="{877E76DC-1B8A-3D87-7E5B-E831B9F6120C}"/>
              </a:ext>
            </a:extLst>
          </p:cNvPr>
          <p:cNvSpPr/>
          <p:nvPr/>
        </p:nvSpPr>
        <p:spPr>
          <a:xfrm>
            <a:off x="3063240" y="4933188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78" name="Text 76">
            <a:extLst>
              <a:ext uri="{FF2B5EF4-FFF2-40B4-BE49-F238E27FC236}">
                <a16:creationId xmlns:a16="http://schemas.microsoft.com/office/drawing/2014/main" id="{CFED494A-F346-43AC-3481-D4C19F391262}"/>
              </a:ext>
            </a:extLst>
          </p:cNvPr>
          <p:cNvSpPr/>
          <p:nvPr/>
        </p:nvSpPr>
        <p:spPr>
          <a:xfrm>
            <a:off x="3689604" y="4933188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79" name="Text 77">
            <a:extLst>
              <a:ext uri="{FF2B5EF4-FFF2-40B4-BE49-F238E27FC236}">
                <a16:creationId xmlns:a16="http://schemas.microsoft.com/office/drawing/2014/main" id="{E348B189-C2C0-0B5A-D989-FEDFB02EF547}"/>
              </a:ext>
            </a:extLst>
          </p:cNvPr>
          <p:cNvSpPr/>
          <p:nvPr/>
        </p:nvSpPr>
        <p:spPr>
          <a:xfrm>
            <a:off x="640080" y="5276088"/>
            <a:ext cx="107899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C</a:t>
            </a:r>
            <a:endParaRPr lang="en-US" sz="1050" dirty="0"/>
          </a:p>
        </p:txBody>
      </p:sp>
      <p:sp>
        <p:nvSpPr>
          <p:cNvPr id="80" name="Text 78">
            <a:extLst>
              <a:ext uri="{FF2B5EF4-FFF2-40B4-BE49-F238E27FC236}">
                <a16:creationId xmlns:a16="http://schemas.microsoft.com/office/drawing/2014/main" id="{CF259B7A-8394-B9E1-8A42-7446B77993F8}"/>
              </a:ext>
            </a:extLst>
          </p:cNvPr>
          <p:cNvSpPr/>
          <p:nvPr/>
        </p:nvSpPr>
        <p:spPr>
          <a:xfrm>
            <a:off x="1810512" y="5276088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81" name="Text 79">
            <a:extLst>
              <a:ext uri="{FF2B5EF4-FFF2-40B4-BE49-F238E27FC236}">
                <a16:creationId xmlns:a16="http://schemas.microsoft.com/office/drawing/2014/main" id="{D7C26993-D42E-59F8-05D9-0F2D421F814F}"/>
              </a:ext>
            </a:extLst>
          </p:cNvPr>
          <p:cNvSpPr/>
          <p:nvPr/>
        </p:nvSpPr>
        <p:spPr>
          <a:xfrm>
            <a:off x="2436876" y="5276088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82" name="Text 80">
            <a:extLst>
              <a:ext uri="{FF2B5EF4-FFF2-40B4-BE49-F238E27FC236}">
                <a16:creationId xmlns:a16="http://schemas.microsoft.com/office/drawing/2014/main" id="{7F2A192D-57BC-27C5-F3EB-7731EC8B2972}"/>
              </a:ext>
            </a:extLst>
          </p:cNvPr>
          <p:cNvSpPr/>
          <p:nvPr/>
        </p:nvSpPr>
        <p:spPr>
          <a:xfrm>
            <a:off x="3063240" y="5276088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83" name="Text 81">
            <a:extLst>
              <a:ext uri="{FF2B5EF4-FFF2-40B4-BE49-F238E27FC236}">
                <a16:creationId xmlns:a16="http://schemas.microsoft.com/office/drawing/2014/main" id="{79E3A141-27DE-C28D-D5E5-D0489BB72834}"/>
              </a:ext>
            </a:extLst>
          </p:cNvPr>
          <p:cNvSpPr/>
          <p:nvPr/>
        </p:nvSpPr>
        <p:spPr>
          <a:xfrm>
            <a:off x="3689604" y="5276088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84" name="Text 82">
            <a:extLst>
              <a:ext uri="{FF2B5EF4-FFF2-40B4-BE49-F238E27FC236}">
                <a16:creationId xmlns:a16="http://schemas.microsoft.com/office/drawing/2014/main" id="{4DCD1442-8DFE-4B3F-C2B3-FEEEFA6B01FC}"/>
              </a:ext>
            </a:extLst>
          </p:cNvPr>
          <p:cNvSpPr/>
          <p:nvPr/>
        </p:nvSpPr>
        <p:spPr>
          <a:xfrm>
            <a:off x="640080" y="5618988"/>
            <a:ext cx="107899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D</a:t>
            </a:r>
            <a:endParaRPr lang="en-US" sz="1050" dirty="0"/>
          </a:p>
        </p:txBody>
      </p:sp>
      <p:sp>
        <p:nvSpPr>
          <p:cNvPr id="85" name="Text 83">
            <a:extLst>
              <a:ext uri="{FF2B5EF4-FFF2-40B4-BE49-F238E27FC236}">
                <a16:creationId xmlns:a16="http://schemas.microsoft.com/office/drawing/2014/main" id="{E2BF3D9D-A6D0-7E26-984D-06E8FFFA0AB7}"/>
              </a:ext>
            </a:extLst>
          </p:cNvPr>
          <p:cNvSpPr/>
          <p:nvPr/>
        </p:nvSpPr>
        <p:spPr>
          <a:xfrm>
            <a:off x="1810512" y="5618988"/>
            <a:ext cx="576072" cy="274320"/>
          </a:xfrm>
          <a:prstGeom prst="rect">
            <a:avLst/>
          </a:prstGeom>
          <a:solidFill>
            <a:srgbClr val="FFE3B3"/>
          </a:solidFill>
          <a:ln w="17780">
            <a:solidFill>
              <a:srgbClr val="D9770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86" name="Text 84">
            <a:extLst>
              <a:ext uri="{FF2B5EF4-FFF2-40B4-BE49-F238E27FC236}">
                <a16:creationId xmlns:a16="http://schemas.microsoft.com/office/drawing/2014/main" id="{AD4317EE-8229-C271-3E4B-9A66269AA1AA}"/>
              </a:ext>
            </a:extLst>
          </p:cNvPr>
          <p:cNvSpPr/>
          <p:nvPr/>
        </p:nvSpPr>
        <p:spPr>
          <a:xfrm>
            <a:off x="2436876" y="5618988"/>
            <a:ext cx="576072" cy="274320"/>
          </a:xfrm>
          <a:prstGeom prst="rect">
            <a:avLst/>
          </a:prstGeom>
          <a:solidFill>
            <a:srgbClr val="FFE3B3"/>
          </a:solidFill>
          <a:ln w="17780">
            <a:solidFill>
              <a:srgbClr val="D9770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87" name="Text 85">
            <a:extLst>
              <a:ext uri="{FF2B5EF4-FFF2-40B4-BE49-F238E27FC236}">
                <a16:creationId xmlns:a16="http://schemas.microsoft.com/office/drawing/2014/main" id="{414ED4F2-BBE0-FB8A-2D9B-8468A1B63AA8}"/>
              </a:ext>
            </a:extLst>
          </p:cNvPr>
          <p:cNvSpPr/>
          <p:nvPr/>
        </p:nvSpPr>
        <p:spPr>
          <a:xfrm>
            <a:off x="3063240" y="5618988"/>
            <a:ext cx="576072" cy="274320"/>
          </a:xfrm>
          <a:prstGeom prst="rect">
            <a:avLst/>
          </a:prstGeom>
          <a:solidFill>
            <a:srgbClr val="FFE3B3"/>
          </a:solidFill>
          <a:ln w="17780">
            <a:solidFill>
              <a:srgbClr val="D9770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88" name="Text 86">
            <a:extLst>
              <a:ext uri="{FF2B5EF4-FFF2-40B4-BE49-F238E27FC236}">
                <a16:creationId xmlns:a16="http://schemas.microsoft.com/office/drawing/2014/main" id="{ADD5B1D0-DA10-381D-9B29-1FE7433C59EF}"/>
              </a:ext>
            </a:extLst>
          </p:cNvPr>
          <p:cNvSpPr/>
          <p:nvPr/>
        </p:nvSpPr>
        <p:spPr>
          <a:xfrm>
            <a:off x="3689604" y="5618988"/>
            <a:ext cx="576072" cy="274320"/>
          </a:xfrm>
          <a:prstGeom prst="rect">
            <a:avLst/>
          </a:prstGeom>
          <a:solidFill>
            <a:srgbClr val="FFE3B3"/>
          </a:solidFill>
          <a:ln w="17780">
            <a:solidFill>
              <a:srgbClr val="D9770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89" name="Text 87">
            <a:extLst>
              <a:ext uri="{FF2B5EF4-FFF2-40B4-BE49-F238E27FC236}">
                <a16:creationId xmlns:a16="http://schemas.microsoft.com/office/drawing/2014/main" id="{BD71DD8C-8204-37F4-443C-45703926F796}"/>
              </a:ext>
            </a:extLst>
          </p:cNvPr>
          <p:cNvSpPr/>
          <p:nvPr/>
        </p:nvSpPr>
        <p:spPr>
          <a:xfrm>
            <a:off x="6400800" y="3749040"/>
            <a:ext cx="43434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Future + new machine</a:t>
            </a:r>
            <a:endParaRPr lang="en-US" sz="1500" dirty="0"/>
          </a:p>
        </p:txBody>
      </p:sp>
      <p:sp>
        <p:nvSpPr>
          <p:cNvPr id="90" name="Text 88">
            <a:extLst>
              <a:ext uri="{FF2B5EF4-FFF2-40B4-BE49-F238E27FC236}">
                <a16:creationId xmlns:a16="http://schemas.microsoft.com/office/drawing/2014/main" id="{824F5984-439F-17CB-DE8A-7DFEC6FAA1D6}"/>
              </a:ext>
            </a:extLst>
          </p:cNvPr>
          <p:cNvSpPr/>
          <p:nvPr/>
        </p:nvSpPr>
        <p:spPr>
          <a:xfrm>
            <a:off x="6400800" y="4005072"/>
            <a:ext cx="43434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both temporal and entity transfer</a:t>
            </a:r>
            <a:endParaRPr lang="en-US" sz="950" dirty="0"/>
          </a:p>
        </p:txBody>
      </p:sp>
      <p:sp>
        <p:nvSpPr>
          <p:cNvPr id="91" name="Text 89">
            <a:extLst>
              <a:ext uri="{FF2B5EF4-FFF2-40B4-BE49-F238E27FC236}">
                <a16:creationId xmlns:a16="http://schemas.microsoft.com/office/drawing/2014/main" id="{284F5959-90DD-7D33-002A-A7691BCEFDBE}"/>
              </a:ext>
            </a:extLst>
          </p:cNvPr>
          <p:cNvSpPr/>
          <p:nvPr/>
        </p:nvSpPr>
        <p:spPr>
          <a:xfrm>
            <a:off x="7571232" y="4297680"/>
            <a:ext cx="5760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C1</a:t>
            </a:r>
            <a:endParaRPr lang="en-US" sz="1050" dirty="0"/>
          </a:p>
        </p:txBody>
      </p:sp>
      <p:sp>
        <p:nvSpPr>
          <p:cNvPr id="92" name="Text 90">
            <a:extLst>
              <a:ext uri="{FF2B5EF4-FFF2-40B4-BE49-F238E27FC236}">
                <a16:creationId xmlns:a16="http://schemas.microsoft.com/office/drawing/2014/main" id="{88CB8BB4-1649-39B5-19FE-CA16A61CA09E}"/>
              </a:ext>
            </a:extLst>
          </p:cNvPr>
          <p:cNvSpPr/>
          <p:nvPr/>
        </p:nvSpPr>
        <p:spPr>
          <a:xfrm>
            <a:off x="8197596" y="4297680"/>
            <a:ext cx="5760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C2</a:t>
            </a:r>
            <a:endParaRPr lang="en-US" sz="1050" dirty="0"/>
          </a:p>
        </p:txBody>
      </p:sp>
      <p:sp>
        <p:nvSpPr>
          <p:cNvPr id="93" name="Text 91">
            <a:extLst>
              <a:ext uri="{FF2B5EF4-FFF2-40B4-BE49-F238E27FC236}">
                <a16:creationId xmlns:a16="http://schemas.microsoft.com/office/drawing/2014/main" id="{FF5DD551-0624-5B3C-6793-3B13199BFAE8}"/>
              </a:ext>
            </a:extLst>
          </p:cNvPr>
          <p:cNvSpPr/>
          <p:nvPr/>
        </p:nvSpPr>
        <p:spPr>
          <a:xfrm>
            <a:off x="8823960" y="4297680"/>
            <a:ext cx="5760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C3</a:t>
            </a:r>
            <a:endParaRPr lang="en-US" sz="1050" dirty="0"/>
          </a:p>
        </p:txBody>
      </p:sp>
      <p:sp>
        <p:nvSpPr>
          <p:cNvPr id="94" name="Text 92">
            <a:extLst>
              <a:ext uri="{FF2B5EF4-FFF2-40B4-BE49-F238E27FC236}">
                <a16:creationId xmlns:a16="http://schemas.microsoft.com/office/drawing/2014/main" id="{E4891948-09C0-55D8-DB2E-0938B7DD20DF}"/>
              </a:ext>
            </a:extLst>
          </p:cNvPr>
          <p:cNvSpPr/>
          <p:nvPr/>
        </p:nvSpPr>
        <p:spPr>
          <a:xfrm>
            <a:off x="9450324" y="4297680"/>
            <a:ext cx="5760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C4</a:t>
            </a:r>
            <a:endParaRPr lang="en-US" sz="1050" dirty="0"/>
          </a:p>
        </p:txBody>
      </p:sp>
      <p:sp>
        <p:nvSpPr>
          <p:cNvPr id="95" name="Text 93">
            <a:extLst>
              <a:ext uri="{FF2B5EF4-FFF2-40B4-BE49-F238E27FC236}">
                <a16:creationId xmlns:a16="http://schemas.microsoft.com/office/drawing/2014/main" id="{AD73BABB-CAFE-6FB9-91D6-E86BFA0CED40}"/>
              </a:ext>
            </a:extLst>
          </p:cNvPr>
          <p:cNvSpPr/>
          <p:nvPr/>
        </p:nvSpPr>
        <p:spPr>
          <a:xfrm>
            <a:off x="6400800" y="4590288"/>
            <a:ext cx="107899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A</a:t>
            </a:r>
            <a:endParaRPr lang="en-US" sz="1050" dirty="0"/>
          </a:p>
        </p:txBody>
      </p:sp>
      <p:sp>
        <p:nvSpPr>
          <p:cNvPr id="96" name="Text 94">
            <a:extLst>
              <a:ext uri="{FF2B5EF4-FFF2-40B4-BE49-F238E27FC236}">
                <a16:creationId xmlns:a16="http://schemas.microsoft.com/office/drawing/2014/main" id="{95A06E0D-4EF5-49E6-6BEB-695FA1257D79}"/>
              </a:ext>
            </a:extLst>
          </p:cNvPr>
          <p:cNvSpPr/>
          <p:nvPr/>
        </p:nvSpPr>
        <p:spPr>
          <a:xfrm>
            <a:off x="7571232" y="4590288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97" name="Text 95">
            <a:extLst>
              <a:ext uri="{FF2B5EF4-FFF2-40B4-BE49-F238E27FC236}">
                <a16:creationId xmlns:a16="http://schemas.microsoft.com/office/drawing/2014/main" id="{4E41C2EA-5D5D-4849-B211-8037B9D0DEF7}"/>
              </a:ext>
            </a:extLst>
          </p:cNvPr>
          <p:cNvSpPr/>
          <p:nvPr/>
        </p:nvSpPr>
        <p:spPr>
          <a:xfrm>
            <a:off x="8197596" y="4590288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98" name="Text 96">
            <a:extLst>
              <a:ext uri="{FF2B5EF4-FFF2-40B4-BE49-F238E27FC236}">
                <a16:creationId xmlns:a16="http://schemas.microsoft.com/office/drawing/2014/main" id="{F25762BB-1B14-BC29-C397-E72215CFB0CD}"/>
              </a:ext>
            </a:extLst>
          </p:cNvPr>
          <p:cNvSpPr/>
          <p:nvPr/>
        </p:nvSpPr>
        <p:spPr>
          <a:xfrm>
            <a:off x="8823960" y="4590288"/>
            <a:ext cx="57607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99" name="Text 97">
            <a:extLst>
              <a:ext uri="{FF2B5EF4-FFF2-40B4-BE49-F238E27FC236}">
                <a16:creationId xmlns:a16="http://schemas.microsoft.com/office/drawing/2014/main" id="{DD2BC06E-3E0E-5A8B-CCBE-684336470B75}"/>
              </a:ext>
            </a:extLst>
          </p:cNvPr>
          <p:cNvSpPr/>
          <p:nvPr/>
        </p:nvSpPr>
        <p:spPr>
          <a:xfrm>
            <a:off x="9450324" y="4590288"/>
            <a:ext cx="57607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00" name="Text 98">
            <a:extLst>
              <a:ext uri="{FF2B5EF4-FFF2-40B4-BE49-F238E27FC236}">
                <a16:creationId xmlns:a16="http://schemas.microsoft.com/office/drawing/2014/main" id="{C031A04B-C9F5-5F99-6145-569398D0C6C3}"/>
              </a:ext>
            </a:extLst>
          </p:cNvPr>
          <p:cNvSpPr/>
          <p:nvPr/>
        </p:nvSpPr>
        <p:spPr>
          <a:xfrm>
            <a:off x="6400800" y="4933188"/>
            <a:ext cx="107899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B</a:t>
            </a:r>
            <a:endParaRPr lang="en-US" sz="1050" dirty="0"/>
          </a:p>
        </p:txBody>
      </p:sp>
      <p:sp>
        <p:nvSpPr>
          <p:cNvPr id="101" name="Text 99">
            <a:extLst>
              <a:ext uri="{FF2B5EF4-FFF2-40B4-BE49-F238E27FC236}">
                <a16:creationId xmlns:a16="http://schemas.microsoft.com/office/drawing/2014/main" id="{4C705D8E-D822-6016-21C0-16F0A31E6DD0}"/>
              </a:ext>
            </a:extLst>
          </p:cNvPr>
          <p:cNvSpPr/>
          <p:nvPr/>
        </p:nvSpPr>
        <p:spPr>
          <a:xfrm>
            <a:off x="7571232" y="4933188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02" name="Text 100">
            <a:extLst>
              <a:ext uri="{FF2B5EF4-FFF2-40B4-BE49-F238E27FC236}">
                <a16:creationId xmlns:a16="http://schemas.microsoft.com/office/drawing/2014/main" id="{2DBF76A6-C0A4-901A-3AB7-FC7EA7A1B6B5}"/>
              </a:ext>
            </a:extLst>
          </p:cNvPr>
          <p:cNvSpPr/>
          <p:nvPr/>
        </p:nvSpPr>
        <p:spPr>
          <a:xfrm>
            <a:off x="8197596" y="4933188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03" name="Text 101">
            <a:extLst>
              <a:ext uri="{FF2B5EF4-FFF2-40B4-BE49-F238E27FC236}">
                <a16:creationId xmlns:a16="http://schemas.microsoft.com/office/drawing/2014/main" id="{73FBE02A-99A9-E5DD-9AA1-3B949299A060}"/>
              </a:ext>
            </a:extLst>
          </p:cNvPr>
          <p:cNvSpPr/>
          <p:nvPr/>
        </p:nvSpPr>
        <p:spPr>
          <a:xfrm>
            <a:off x="8823960" y="4933188"/>
            <a:ext cx="57607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04" name="Text 102">
            <a:extLst>
              <a:ext uri="{FF2B5EF4-FFF2-40B4-BE49-F238E27FC236}">
                <a16:creationId xmlns:a16="http://schemas.microsoft.com/office/drawing/2014/main" id="{DD5A09DF-BA08-41ED-338F-2B3500499574}"/>
              </a:ext>
            </a:extLst>
          </p:cNvPr>
          <p:cNvSpPr/>
          <p:nvPr/>
        </p:nvSpPr>
        <p:spPr>
          <a:xfrm>
            <a:off x="9450324" y="4933188"/>
            <a:ext cx="57607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05" name="Text 103">
            <a:extLst>
              <a:ext uri="{FF2B5EF4-FFF2-40B4-BE49-F238E27FC236}">
                <a16:creationId xmlns:a16="http://schemas.microsoft.com/office/drawing/2014/main" id="{9018652C-776F-C7B3-7D9F-02EC0A504244}"/>
              </a:ext>
            </a:extLst>
          </p:cNvPr>
          <p:cNvSpPr/>
          <p:nvPr/>
        </p:nvSpPr>
        <p:spPr>
          <a:xfrm>
            <a:off x="6400800" y="5276088"/>
            <a:ext cx="107899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C</a:t>
            </a:r>
            <a:endParaRPr lang="en-US" sz="1050" dirty="0"/>
          </a:p>
        </p:txBody>
      </p:sp>
      <p:sp>
        <p:nvSpPr>
          <p:cNvPr id="106" name="Text 104">
            <a:extLst>
              <a:ext uri="{FF2B5EF4-FFF2-40B4-BE49-F238E27FC236}">
                <a16:creationId xmlns:a16="http://schemas.microsoft.com/office/drawing/2014/main" id="{4FE34D67-D11A-CE51-E624-4D48D0522D06}"/>
              </a:ext>
            </a:extLst>
          </p:cNvPr>
          <p:cNvSpPr/>
          <p:nvPr/>
        </p:nvSpPr>
        <p:spPr>
          <a:xfrm>
            <a:off x="7571232" y="5276088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07" name="Text 105">
            <a:extLst>
              <a:ext uri="{FF2B5EF4-FFF2-40B4-BE49-F238E27FC236}">
                <a16:creationId xmlns:a16="http://schemas.microsoft.com/office/drawing/2014/main" id="{6F522A45-9D5D-AC8B-6E3A-58E4730C14BF}"/>
              </a:ext>
            </a:extLst>
          </p:cNvPr>
          <p:cNvSpPr/>
          <p:nvPr/>
        </p:nvSpPr>
        <p:spPr>
          <a:xfrm>
            <a:off x="8197596" y="5276088"/>
            <a:ext cx="576072" cy="274320"/>
          </a:xfrm>
          <a:prstGeom prst="rect">
            <a:avLst/>
          </a:prstGeom>
          <a:solidFill>
            <a:srgbClr val="D7E8FF"/>
          </a:solidFill>
          <a:ln w="12700">
            <a:solidFill>
              <a:srgbClr val="2F6FDB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08" name="Text 106">
            <a:extLst>
              <a:ext uri="{FF2B5EF4-FFF2-40B4-BE49-F238E27FC236}">
                <a16:creationId xmlns:a16="http://schemas.microsoft.com/office/drawing/2014/main" id="{90311E9F-44A9-86E4-8499-23D0753CDD37}"/>
              </a:ext>
            </a:extLst>
          </p:cNvPr>
          <p:cNvSpPr/>
          <p:nvPr/>
        </p:nvSpPr>
        <p:spPr>
          <a:xfrm>
            <a:off x="8823960" y="5276088"/>
            <a:ext cx="57607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09" name="Text 107">
            <a:extLst>
              <a:ext uri="{FF2B5EF4-FFF2-40B4-BE49-F238E27FC236}">
                <a16:creationId xmlns:a16="http://schemas.microsoft.com/office/drawing/2014/main" id="{3380EBC4-567B-EE57-5966-8B1F4CC4BA68}"/>
              </a:ext>
            </a:extLst>
          </p:cNvPr>
          <p:cNvSpPr/>
          <p:nvPr/>
        </p:nvSpPr>
        <p:spPr>
          <a:xfrm>
            <a:off x="9450324" y="5276088"/>
            <a:ext cx="57607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10" name="Text 108">
            <a:extLst>
              <a:ext uri="{FF2B5EF4-FFF2-40B4-BE49-F238E27FC236}">
                <a16:creationId xmlns:a16="http://schemas.microsoft.com/office/drawing/2014/main" id="{31BE3790-D590-2160-4E85-9BD71095A490}"/>
              </a:ext>
            </a:extLst>
          </p:cNvPr>
          <p:cNvSpPr/>
          <p:nvPr/>
        </p:nvSpPr>
        <p:spPr>
          <a:xfrm>
            <a:off x="6400800" y="5618988"/>
            <a:ext cx="107899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D</a:t>
            </a:r>
            <a:endParaRPr lang="en-US" sz="1050" dirty="0"/>
          </a:p>
        </p:txBody>
      </p:sp>
      <p:sp>
        <p:nvSpPr>
          <p:cNvPr id="111" name="Text 109">
            <a:extLst>
              <a:ext uri="{FF2B5EF4-FFF2-40B4-BE49-F238E27FC236}">
                <a16:creationId xmlns:a16="http://schemas.microsoft.com/office/drawing/2014/main" id="{BB8864E8-825B-DB40-81F7-8358E8D71C2C}"/>
              </a:ext>
            </a:extLst>
          </p:cNvPr>
          <p:cNvSpPr/>
          <p:nvPr/>
        </p:nvSpPr>
        <p:spPr>
          <a:xfrm>
            <a:off x="7571232" y="5618988"/>
            <a:ext cx="57607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12" name="Text 110">
            <a:extLst>
              <a:ext uri="{FF2B5EF4-FFF2-40B4-BE49-F238E27FC236}">
                <a16:creationId xmlns:a16="http://schemas.microsoft.com/office/drawing/2014/main" id="{F5A001EF-6A07-1BE1-160A-EDA4CCF921AF}"/>
              </a:ext>
            </a:extLst>
          </p:cNvPr>
          <p:cNvSpPr/>
          <p:nvPr/>
        </p:nvSpPr>
        <p:spPr>
          <a:xfrm>
            <a:off x="8197596" y="5618988"/>
            <a:ext cx="576072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13" name="Text 111">
            <a:extLst>
              <a:ext uri="{FF2B5EF4-FFF2-40B4-BE49-F238E27FC236}">
                <a16:creationId xmlns:a16="http://schemas.microsoft.com/office/drawing/2014/main" id="{9C331F2C-DC8C-40C2-FCEB-EBF14D5FB1C2}"/>
              </a:ext>
            </a:extLst>
          </p:cNvPr>
          <p:cNvSpPr/>
          <p:nvPr/>
        </p:nvSpPr>
        <p:spPr>
          <a:xfrm>
            <a:off x="8823960" y="5618988"/>
            <a:ext cx="576072" cy="274320"/>
          </a:xfrm>
          <a:prstGeom prst="rect">
            <a:avLst/>
          </a:prstGeom>
          <a:solidFill>
            <a:srgbClr val="FFE3B3"/>
          </a:solidFill>
          <a:ln w="17780">
            <a:solidFill>
              <a:srgbClr val="D9770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14" name="Text 112">
            <a:extLst>
              <a:ext uri="{FF2B5EF4-FFF2-40B4-BE49-F238E27FC236}">
                <a16:creationId xmlns:a16="http://schemas.microsoft.com/office/drawing/2014/main" id="{4FACB31F-E999-D57D-FD70-2C504B5BD361}"/>
              </a:ext>
            </a:extLst>
          </p:cNvPr>
          <p:cNvSpPr/>
          <p:nvPr/>
        </p:nvSpPr>
        <p:spPr>
          <a:xfrm>
            <a:off x="9450324" y="5618988"/>
            <a:ext cx="576072" cy="274320"/>
          </a:xfrm>
          <a:prstGeom prst="rect">
            <a:avLst/>
          </a:prstGeom>
          <a:solidFill>
            <a:srgbClr val="FFE3B3"/>
          </a:solidFill>
          <a:ln w="17780">
            <a:solidFill>
              <a:srgbClr val="D97706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15" name="Text 113">
            <a:extLst>
              <a:ext uri="{FF2B5EF4-FFF2-40B4-BE49-F238E27FC236}">
                <a16:creationId xmlns:a16="http://schemas.microsoft.com/office/drawing/2014/main" id="{9C181C23-F35A-91AF-9DF9-DF258D0996B9}"/>
              </a:ext>
            </a:extLst>
          </p:cNvPr>
          <p:cNvSpPr/>
          <p:nvPr/>
        </p:nvSpPr>
        <p:spPr>
          <a:xfrm>
            <a:off x="530352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colored cell is one machine-cycle example.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59095070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0EC916-6266-6F7B-FF04-11B8B23C8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Sites, environments and acquisition systems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1A219E3-FCBB-B393-1259-6BAB94B4D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Example:</a:t>
            </a:r>
          </a:p>
          <a:p>
            <a:r>
              <a:rPr lang="en-GB" dirty="0"/>
              <a:t>Site 1: Machines A, B, C</a:t>
            </a:r>
          </a:p>
          <a:p>
            <a:r>
              <a:rPr lang="en-GB" dirty="0"/>
              <a:t>Site 2: Machines D, E, F</a:t>
            </a:r>
          </a:p>
          <a:p>
            <a:endParaRPr lang="en-GB" dirty="0"/>
          </a:p>
          <a:p>
            <a:r>
              <a:rPr lang="en-GB" dirty="0"/>
              <a:t>A machine-level random split could place:</a:t>
            </a:r>
          </a:p>
          <a:p>
            <a:pPr lvl="1"/>
            <a:r>
              <a:rPr lang="en-GB" dirty="0"/>
              <a:t>Machine A from Site 1 in training;</a:t>
            </a:r>
          </a:p>
          <a:p>
            <a:pPr lvl="1"/>
            <a:r>
              <a:rPr lang="en-GB" dirty="0"/>
              <a:t>Machine B from Site 1 in test.</a:t>
            </a:r>
          </a:p>
          <a:p>
            <a:r>
              <a:rPr lang="en-GB" dirty="0"/>
              <a:t>The test set would still share:</a:t>
            </a:r>
          </a:p>
          <a:p>
            <a:pPr lvl="1"/>
            <a:r>
              <a:rPr lang="en-GB" dirty="0"/>
              <a:t>environmental conditions;</a:t>
            </a:r>
          </a:p>
          <a:p>
            <a:pPr lvl="1"/>
            <a:r>
              <a:rPr lang="en-GB" dirty="0"/>
              <a:t>sensor installation;</a:t>
            </a:r>
          </a:p>
          <a:p>
            <a:pPr lvl="1"/>
            <a:r>
              <a:rPr lang="en-GB" dirty="0"/>
              <a:t>maintenance procedures;</a:t>
            </a:r>
          </a:p>
          <a:p>
            <a:pPr lvl="1"/>
            <a:r>
              <a:rPr lang="en-GB" dirty="0"/>
              <a:t>acquisition hardware;</a:t>
            </a:r>
          </a:p>
          <a:p>
            <a:pPr lvl="1"/>
            <a:r>
              <a:rPr lang="en-GB" dirty="0"/>
              <a:t>operational policies;</a:t>
            </a:r>
          </a:p>
          <a:p>
            <a:pPr lvl="1"/>
            <a:r>
              <a:rPr lang="en-GB" dirty="0"/>
              <a:t>local staff practices.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F72DAD7-998A-3F3D-24D3-ACE80A171A34}"/>
              </a:ext>
            </a:extLst>
          </p:cNvPr>
          <p:cNvSpPr txBox="1"/>
          <p:nvPr/>
        </p:nvSpPr>
        <p:spPr>
          <a:xfrm>
            <a:off x="3929063" y="1399163"/>
            <a:ext cx="61055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Entity-level splitting may still be too weak if entities share the same environment.</a:t>
            </a:r>
          </a:p>
        </p:txBody>
      </p:sp>
    </p:spTree>
    <p:extLst>
      <p:ext uri="{BB962C8B-B14F-4D97-AF65-F5344CB8AC3E}">
        <p14:creationId xmlns:p14="http://schemas.microsoft.com/office/powerpoint/2010/main" val="273290234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73A07B8-3897-16DE-C593-CAD04291D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Site-level holdout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F13A499-CA58-536D-111A-6150E85F6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Training:</a:t>
            </a:r>
          </a:p>
          <a:p>
            <a:pPr lvl="1"/>
            <a:r>
              <a:rPr lang="en-GB" dirty="0"/>
              <a:t>all machines from Sites 1 and 2</a:t>
            </a:r>
          </a:p>
          <a:p>
            <a:r>
              <a:rPr lang="en-GB" dirty="0"/>
              <a:t>Validation:</a:t>
            </a:r>
          </a:p>
          <a:p>
            <a:pPr lvl="1"/>
            <a:r>
              <a:rPr lang="en-GB" dirty="0"/>
              <a:t>all machines from Site 3</a:t>
            </a:r>
          </a:p>
          <a:p>
            <a:r>
              <a:rPr lang="en-GB" dirty="0"/>
              <a:t>Test:</a:t>
            </a:r>
          </a:p>
          <a:p>
            <a:pPr lvl="1"/>
            <a:r>
              <a:rPr lang="en-GB" dirty="0"/>
              <a:t>all machines from Site 4</a:t>
            </a:r>
          </a:p>
          <a:p>
            <a:r>
              <a:rPr lang="en-GB" b="1" dirty="0"/>
              <a:t>This evaluates transfer to a new environment.</a:t>
            </a:r>
          </a:p>
          <a:p>
            <a:r>
              <a:rPr lang="en-GB" b="1" dirty="0"/>
              <a:t>Similar group structures</a:t>
            </a:r>
          </a:p>
          <a:p>
            <a:pPr lvl="1"/>
            <a:r>
              <a:rPr lang="en-GB" dirty="0"/>
              <a:t>hospital;</a:t>
            </a:r>
          </a:p>
          <a:p>
            <a:pPr lvl="1"/>
            <a:r>
              <a:rPr lang="en-GB" dirty="0"/>
              <a:t>factory;</a:t>
            </a:r>
          </a:p>
          <a:p>
            <a:pPr lvl="1"/>
            <a:r>
              <a:rPr lang="en-GB" dirty="0"/>
              <a:t>store;</a:t>
            </a:r>
          </a:p>
          <a:p>
            <a:pPr lvl="1"/>
            <a:r>
              <a:rPr lang="en-GB" dirty="0"/>
              <a:t>geographic region;</a:t>
            </a:r>
          </a:p>
          <a:p>
            <a:pPr lvl="1"/>
            <a:r>
              <a:rPr lang="en-GB" dirty="0"/>
              <a:t>data-acquisition device;</a:t>
            </a:r>
          </a:p>
          <a:p>
            <a:pPr lvl="1"/>
            <a:r>
              <a:rPr lang="en-GB" dirty="0"/>
              <a:t>production batch;</a:t>
            </a:r>
          </a:p>
          <a:p>
            <a:pPr lvl="1"/>
            <a:r>
              <a:rPr lang="en-GB" dirty="0"/>
              <a:t>experimental campaign.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B27172A-401D-AD30-5AC2-CD4F470E6C3F}"/>
              </a:ext>
            </a:extLst>
          </p:cNvPr>
          <p:cNvSpPr txBox="1"/>
          <p:nvPr/>
        </p:nvSpPr>
        <p:spPr>
          <a:xfrm>
            <a:off x="7967663" y="5508646"/>
            <a:ext cx="36433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highlight>
                  <a:srgbClr val="FFFF00"/>
                </a:highlight>
              </a:rPr>
              <a:t>Split at the highest level whose characteristics may create dependence among samples.</a:t>
            </a:r>
          </a:p>
        </p:txBody>
      </p:sp>
    </p:spTree>
    <p:extLst>
      <p:ext uri="{BB962C8B-B14F-4D97-AF65-F5344CB8AC3E}">
        <p14:creationId xmlns:p14="http://schemas.microsoft.com/office/powerpoint/2010/main" val="155304885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Site-level split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12648" y="832104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 the whole site to one partition, so machines from the same site do not cross train/test boundaries.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9464040" y="411480"/>
            <a:ext cx="987552" cy="283464"/>
          </a:xfrm>
          <a:prstGeom prst="rect">
            <a:avLst/>
          </a:prstGeom>
          <a:solidFill>
            <a:srgbClr val="D9F2E6"/>
          </a:solidFill>
          <a:ln w="12700">
            <a:solidFill>
              <a:srgbClr val="2B8A5F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8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0588752" y="411480"/>
            <a:ext cx="658368" cy="283464"/>
          </a:xfrm>
          <a:prstGeom prst="rect">
            <a:avLst/>
          </a:prstGeom>
          <a:solidFill>
            <a:srgbClr val="FFE4E1"/>
          </a:solidFill>
          <a:ln w="12700">
            <a:solidFill>
              <a:srgbClr val="C2413D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24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89904" y="1508760"/>
            <a:ext cx="0" cy="416052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777240" y="1508760"/>
            <a:ext cx="4983480" cy="4526280"/>
          </a:xfrm>
          <a:prstGeom prst="roundRect">
            <a:avLst>
              <a:gd name="adj" fmla="val 3232"/>
            </a:avLst>
          </a:prstGeom>
          <a:solidFill>
            <a:srgbClr val="D9F2E6">
              <a:alpha val="96000"/>
            </a:srgbClr>
          </a:solidFill>
          <a:ln w="26670">
            <a:solidFill>
              <a:srgbClr val="2B8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097280" y="17647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Site 1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3337560" y="1737360"/>
            <a:ext cx="2011680" cy="384048"/>
          </a:xfrm>
          <a:prstGeom prst="rect">
            <a:avLst/>
          </a:prstGeom>
          <a:solidFill>
            <a:srgbClr val="FFFFFF"/>
          </a:solidFill>
          <a:ln w="16510">
            <a:solidFill>
              <a:srgbClr val="2B8A5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8A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PARTITION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691640" y="2670048"/>
            <a:ext cx="0" cy="2029968"/>
          </a:xfrm>
          <a:prstGeom prst="line">
            <a:avLst/>
          </a:prstGeom>
          <a:noFill/>
          <a:ln w="22860">
            <a:solidFill>
              <a:srgbClr val="2B8A5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691640" y="2999232"/>
            <a:ext cx="594360" cy="0"/>
          </a:xfrm>
          <a:prstGeom prst="line">
            <a:avLst/>
          </a:prstGeom>
          <a:noFill/>
          <a:ln w="22860">
            <a:solidFill>
              <a:srgbClr val="2B8A5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691640" y="3849624"/>
            <a:ext cx="594360" cy="0"/>
          </a:xfrm>
          <a:prstGeom prst="line">
            <a:avLst/>
          </a:prstGeom>
          <a:noFill/>
          <a:ln w="22860">
            <a:solidFill>
              <a:srgbClr val="2B8A5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1691640" y="4700016"/>
            <a:ext cx="594360" cy="0"/>
          </a:xfrm>
          <a:prstGeom prst="line">
            <a:avLst/>
          </a:prstGeom>
          <a:noFill/>
          <a:ln w="22860">
            <a:solidFill>
              <a:srgbClr val="2B8A5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2377440" y="2743200"/>
            <a:ext cx="2926080" cy="512064"/>
          </a:xfrm>
          <a:prstGeom prst="rect">
            <a:avLst/>
          </a:prstGeom>
          <a:solidFill>
            <a:srgbClr val="FFFFFF"/>
          </a:solidFill>
          <a:ln w="15240">
            <a:solidFill>
              <a:srgbClr val="2B8A5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377440" y="3593592"/>
            <a:ext cx="2926080" cy="512064"/>
          </a:xfrm>
          <a:prstGeom prst="rect">
            <a:avLst/>
          </a:prstGeom>
          <a:solidFill>
            <a:srgbClr val="FFFFFF"/>
          </a:solidFill>
          <a:ln w="15240">
            <a:solidFill>
              <a:srgbClr val="2B8A5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B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377440" y="4443984"/>
            <a:ext cx="2926080" cy="512064"/>
          </a:xfrm>
          <a:prstGeom prst="rect">
            <a:avLst/>
          </a:prstGeom>
          <a:solidFill>
            <a:srgbClr val="FFFFFF"/>
          </a:solidFill>
          <a:ln w="15240">
            <a:solidFill>
              <a:srgbClr val="2B8A5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16152" y="5413248"/>
            <a:ext cx="4105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child machines stay in the same partition.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28232" y="1508760"/>
            <a:ext cx="4983480" cy="4526280"/>
          </a:xfrm>
          <a:prstGeom prst="roundRect">
            <a:avLst>
              <a:gd name="adj" fmla="val 3232"/>
            </a:avLst>
          </a:prstGeom>
          <a:solidFill>
            <a:srgbClr val="FFE4E1">
              <a:alpha val="96000"/>
            </a:srgbClr>
          </a:solidFill>
          <a:ln w="26670">
            <a:solidFill>
              <a:srgbClr val="C2413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748272" y="17647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Site 2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8988552" y="1737360"/>
            <a:ext cx="2011680" cy="384048"/>
          </a:xfrm>
          <a:prstGeom prst="rect">
            <a:avLst/>
          </a:prstGeom>
          <a:solidFill>
            <a:srgbClr val="FFFFFF"/>
          </a:solidFill>
          <a:ln w="16510">
            <a:solidFill>
              <a:srgbClr val="C2413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24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PARTITION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342632" y="2670048"/>
            <a:ext cx="0" cy="2029968"/>
          </a:xfrm>
          <a:prstGeom prst="line">
            <a:avLst/>
          </a:prstGeom>
          <a:noFill/>
          <a:ln w="22860">
            <a:solidFill>
              <a:srgbClr val="C2413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7342632" y="2999232"/>
            <a:ext cx="594360" cy="0"/>
          </a:xfrm>
          <a:prstGeom prst="line">
            <a:avLst/>
          </a:prstGeom>
          <a:noFill/>
          <a:ln w="22860">
            <a:solidFill>
              <a:srgbClr val="C2413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7342632" y="3849624"/>
            <a:ext cx="594360" cy="0"/>
          </a:xfrm>
          <a:prstGeom prst="line">
            <a:avLst/>
          </a:prstGeom>
          <a:noFill/>
          <a:ln w="22860">
            <a:solidFill>
              <a:srgbClr val="C2413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7342632" y="4700016"/>
            <a:ext cx="594360" cy="0"/>
          </a:xfrm>
          <a:prstGeom prst="line">
            <a:avLst/>
          </a:prstGeom>
          <a:noFill/>
          <a:ln w="22860">
            <a:solidFill>
              <a:srgbClr val="C2413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8028432" y="2743200"/>
            <a:ext cx="2926080" cy="512064"/>
          </a:xfrm>
          <a:prstGeom prst="rect">
            <a:avLst/>
          </a:prstGeom>
          <a:solidFill>
            <a:srgbClr val="FFFFFF"/>
          </a:solidFill>
          <a:ln w="15240">
            <a:solidFill>
              <a:srgbClr val="C2413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D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028432" y="3593592"/>
            <a:ext cx="2926080" cy="512064"/>
          </a:xfrm>
          <a:prstGeom prst="rect">
            <a:avLst/>
          </a:prstGeom>
          <a:solidFill>
            <a:srgbClr val="FFFFFF"/>
          </a:solidFill>
          <a:ln w="15240">
            <a:solidFill>
              <a:srgbClr val="C2413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028432" y="4443984"/>
            <a:ext cx="2926080" cy="512064"/>
          </a:xfrm>
          <a:prstGeom prst="rect">
            <a:avLst/>
          </a:prstGeom>
          <a:solidFill>
            <a:srgbClr val="FFFFFF"/>
          </a:solidFill>
          <a:ln w="15240">
            <a:solidFill>
              <a:srgbClr val="C2413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F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867144" y="5413248"/>
            <a:ext cx="4105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child machines stay in the same partition.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749040" y="6263640"/>
            <a:ext cx="4709160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24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Partitioning unit: site</a:t>
            </a:r>
            <a:endParaRPr lang="en-US" sz="1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92DDFDA-234C-A222-49EF-BCD7E258F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Documenting a grouped evaluation protocol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902CF2C-D917-82E4-82FE-A13158AB6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Statements such as: “The dataset was randomly divided into training and test sets.” are insufficient.</a:t>
            </a:r>
          </a:p>
          <a:p>
            <a:r>
              <a:rPr lang="en-GB" dirty="0"/>
              <a:t>A reproducible description should state:</a:t>
            </a:r>
          </a:p>
          <a:p>
            <a:pPr lvl="1"/>
            <a:r>
              <a:rPr lang="en-GB" dirty="0"/>
              <a:t>the entity definition;</a:t>
            </a:r>
          </a:p>
          <a:p>
            <a:pPr lvl="1"/>
            <a:r>
              <a:rPr lang="en-GB" dirty="0"/>
              <a:t>the sequence definition;</a:t>
            </a:r>
          </a:p>
          <a:p>
            <a:pPr lvl="1"/>
            <a:r>
              <a:rPr lang="en-GB" dirty="0"/>
              <a:t>the number of entities;</a:t>
            </a:r>
          </a:p>
          <a:p>
            <a:pPr lvl="1"/>
            <a:r>
              <a:rPr lang="en-GB" dirty="0"/>
              <a:t>the number of sequences per entity;</a:t>
            </a:r>
          </a:p>
          <a:p>
            <a:pPr lvl="1"/>
            <a:r>
              <a:rPr lang="en-GB" dirty="0"/>
              <a:t>the level at which splitting was performed;</a:t>
            </a:r>
          </a:p>
          <a:p>
            <a:pPr lvl="1"/>
            <a:r>
              <a:rPr lang="en-GB" dirty="0"/>
              <a:t>whether time ordering was preserved;</a:t>
            </a:r>
          </a:p>
          <a:p>
            <a:pPr lvl="1"/>
            <a:r>
              <a:rPr lang="en-GB" dirty="0"/>
              <a:t>whether entities appear in more than one partition;</a:t>
            </a:r>
          </a:p>
          <a:p>
            <a:pPr lvl="1"/>
            <a:r>
              <a:rPr lang="en-GB" dirty="0"/>
              <a:t>whether windows from the same sequence can cross partitions;</a:t>
            </a:r>
          </a:p>
          <a:p>
            <a:pPr lvl="1"/>
            <a:r>
              <a:rPr lang="en-GB" dirty="0"/>
              <a:t>how validation groups were selected.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717413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EC8ADB6-F572-1030-66BB-DE7C94264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highlight>
                  <a:srgbClr val="FFFF00"/>
                </a:highlight>
              </a:rPr>
              <a:t>Example of an adequate description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CD91558-5632-141C-1B73-0E3F5D027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The dataset contained 30 machines and 420 complete operating cycles.</a:t>
            </a:r>
          </a:p>
          <a:p>
            <a:r>
              <a:rPr lang="en-GB" dirty="0"/>
              <a:t>Twenty machines were assigned to training, five to validation and five to test.</a:t>
            </a:r>
          </a:p>
          <a:p>
            <a:r>
              <a:rPr lang="en-GB" dirty="0"/>
              <a:t>All cycles and all windows from a machine were assigned to the same partition.</a:t>
            </a:r>
          </a:p>
          <a:p>
            <a:r>
              <a:rPr lang="en-GB" dirty="0"/>
              <a:t>Machines were assigned chronologically according to their installation batch, and no machine appeared in more than one partition.</a:t>
            </a:r>
          </a:p>
          <a:p>
            <a:r>
              <a:rPr lang="en-GB" b="1" dirty="0"/>
              <a:t>Additional reporting</a:t>
            </a:r>
          </a:p>
          <a:p>
            <a:r>
              <a:rPr lang="en-GB" dirty="0"/>
              <a:t>For each partition, report:</a:t>
            </a:r>
          </a:p>
          <a:p>
            <a:pPr lvl="1"/>
            <a:r>
              <a:rPr lang="en-GB" dirty="0"/>
              <a:t>number of entities;</a:t>
            </a:r>
          </a:p>
          <a:p>
            <a:pPr lvl="1"/>
            <a:r>
              <a:rPr lang="en-GB" dirty="0"/>
              <a:t>number of sequences;</a:t>
            </a:r>
          </a:p>
          <a:p>
            <a:pPr lvl="1"/>
            <a:r>
              <a:rPr lang="en-GB" dirty="0"/>
              <a:t>number of windows;</a:t>
            </a:r>
          </a:p>
          <a:p>
            <a:pPr lvl="1"/>
            <a:r>
              <a:rPr lang="en-GB" dirty="0"/>
              <a:t>target-class distribution;</a:t>
            </a:r>
          </a:p>
          <a:p>
            <a:pPr lvl="1"/>
            <a:r>
              <a:rPr lang="en-GB" dirty="0"/>
              <a:t>temporal period covered.</a:t>
            </a:r>
            <a:br>
              <a:rPr lang="en-GB" dirty="0"/>
            </a:br>
            <a:endParaRPr lang="en-GB" dirty="0"/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344DE35-B5E4-3C65-5621-D42C51B5BC54}"/>
              </a:ext>
            </a:extLst>
          </p:cNvPr>
          <p:cNvSpPr txBox="1"/>
          <p:nvPr/>
        </p:nvSpPr>
        <p:spPr>
          <a:xfrm>
            <a:off x="4205288" y="5718196"/>
            <a:ext cx="61055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The number of windows is not sufficient to describe the effective size or independence of a temporal dataset.</a:t>
            </a:r>
          </a:p>
        </p:txBody>
      </p:sp>
    </p:spTree>
    <p:extLst>
      <p:ext uri="{BB962C8B-B14F-4D97-AF65-F5344CB8AC3E}">
        <p14:creationId xmlns:p14="http://schemas.microsoft.com/office/powerpoint/2010/main" val="72714056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0D8322F-3737-6950-AFFA-734BD57BC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D. Leakage Caused by Window Generation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A962BE4-2E6A-3BF5-1C47-B780775D9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100642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5085469-6035-E5D9-EDDB-56EEF872C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Overlapping windows are strongly dependent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656899C-5430-1004-DF55-B383BEB9E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087811"/>
          </a:xfrm>
        </p:spPr>
        <p:txBody>
          <a:bodyPr>
            <a:normAutofit fontScale="62500" lnSpcReduction="20000"/>
          </a:bodyPr>
          <a:lstStyle/>
          <a:p>
            <a:r>
              <a:rPr lang="en-GB" dirty="0"/>
              <a:t>Consider a sequence: x[1], x[2], …, x[101]</a:t>
            </a:r>
          </a:p>
          <a:p>
            <a:r>
              <a:rPr lang="en-GB" dirty="0"/>
              <a:t>Generate two windows of length 100 with stride 1.</a:t>
            </a:r>
          </a:p>
          <a:p>
            <a:r>
              <a:rPr lang="en-GB" dirty="0"/>
              <a:t>Window A: [x[1], x[2], …, x[100]]</a:t>
            </a:r>
          </a:p>
          <a:p>
            <a:r>
              <a:rPr lang="en-GB" dirty="0"/>
              <a:t>Window B: [x[2], x[3], …, x[101]]</a:t>
            </a:r>
          </a:p>
          <a:p>
            <a:r>
              <a:rPr lang="en-GB" dirty="0"/>
              <a:t>The two windows share:</a:t>
            </a:r>
          </a:p>
          <a:p>
            <a:r>
              <a:rPr lang="en-GB" dirty="0"/>
              <a:t>99 observations out of 100</a:t>
            </a:r>
          </a:p>
          <a:p>
            <a:r>
              <a:rPr lang="en-GB" dirty="0"/>
              <a:t>Overlap fraction:</a:t>
            </a:r>
          </a:p>
          <a:p>
            <a:r>
              <a:rPr lang="en-GB" dirty="0"/>
              <a:t>99 / 100 = 0.99</a:t>
            </a:r>
          </a:p>
          <a:p>
            <a:r>
              <a:rPr lang="en-GB" b="1" dirty="0"/>
              <a:t>Consequence</a:t>
            </a:r>
          </a:p>
          <a:p>
            <a:r>
              <a:rPr lang="en-GB" dirty="0">
                <a:highlight>
                  <a:srgbClr val="FFFF00"/>
                </a:highlight>
              </a:rPr>
              <a:t>If Window A is used for training and Window B for testing, the test input is almost identical to a training input.</a:t>
            </a:r>
          </a:p>
          <a:p>
            <a:r>
              <a:rPr lang="en-GB" dirty="0"/>
              <a:t>The resulting test performance may reflect:</a:t>
            </a:r>
          </a:p>
          <a:p>
            <a:pPr lvl="1"/>
            <a:r>
              <a:rPr lang="en-GB" dirty="0"/>
              <a:t>memorization of local signal patterns;</a:t>
            </a:r>
          </a:p>
          <a:p>
            <a:pPr lvl="1"/>
            <a:r>
              <a:rPr lang="en-GB" dirty="0"/>
              <a:t>shared noise;</a:t>
            </a:r>
          </a:p>
          <a:p>
            <a:pPr lvl="1"/>
            <a:r>
              <a:rPr lang="en-GB" dirty="0"/>
              <a:t>shared event structure;</a:t>
            </a:r>
          </a:p>
          <a:p>
            <a:pPr lvl="1"/>
            <a:r>
              <a:rPr lang="en-GB" dirty="0"/>
              <a:t>duplicated raw measurements;</a:t>
            </a:r>
          </a:p>
          <a:p>
            <a:pPr lvl="1"/>
            <a:r>
              <a:rPr lang="en-GB" dirty="0"/>
              <a:t>rather than real generalization.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80E12C8-36C3-3758-1F24-8A0531D3521E}"/>
              </a:ext>
            </a:extLst>
          </p:cNvPr>
          <p:cNvSpPr txBox="1"/>
          <p:nvPr/>
        </p:nvSpPr>
        <p:spPr>
          <a:xfrm>
            <a:off x="7389340" y="4549676"/>
            <a:ext cx="480265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Important</a:t>
            </a:r>
          </a:p>
          <a:p>
            <a:r>
              <a:rPr lang="en-GB" sz="1800" b="1" dirty="0"/>
              <a:t>Overlap is not inherently incorrect.</a:t>
            </a:r>
          </a:p>
          <a:p>
            <a:r>
              <a:rPr lang="en-GB" sz="1800" dirty="0"/>
              <a:t>Overlapping windows can be useful for:</a:t>
            </a:r>
          </a:p>
          <a:p>
            <a:pPr lvl="1"/>
            <a:r>
              <a:rPr lang="en-GB" dirty="0"/>
              <a:t>increasing temporal resolution;</a:t>
            </a:r>
          </a:p>
          <a:p>
            <a:pPr lvl="1"/>
            <a:r>
              <a:rPr lang="en-GB" dirty="0"/>
              <a:t>locating short events;</a:t>
            </a:r>
          </a:p>
          <a:p>
            <a:pPr lvl="1"/>
            <a:r>
              <a:rPr lang="en-GB" dirty="0"/>
              <a:t>generating more training examples.</a:t>
            </a:r>
          </a:p>
          <a:p>
            <a:r>
              <a:rPr lang="en-GB" sz="1800" b="1" dirty="0">
                <a:highlight>
                  <a:srgbClr val="FFFF00"/>
                </a:highlight>
              </a:rPr>
              <a:t>The problem arises when related windows are distributed across partitions.</a:t>
            </a:r>
          </a:p>
        </p:txBody>
      </p:sp>
    </p:spTree>
    <p:extLst>
      <p:ext uri="{BB962C8B-B14F-4D97-AF65-F5344CB8AC3E}">
        <p14:creationId xmlns:p14="http://schemas.microsoft.com/office/powerpoint/2010/main" val="373382534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10528"/>
            <a:ext cx="11548872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1148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Overlapping windows are strongly dependent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29768" y="65836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Two windows may be different samples but almost identical inputs.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996696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0863072" y="1335024"/>
            <a:ext cx="5029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4944" y="1078992"/>
            <a:ext cx="3474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x[1]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91640" y="1078992"/>
            <a:ext cx="3474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x[11]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688336" y="1078992"/>
            <a:ext cx="3474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x[21]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85032" y="1078992"/>
            <a:ext cx="3474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x[31]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681728" y="1078992"/>
            <a:ext cx="3474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x[41]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678424" y="1078992"/>
            <a:ext cx="3474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x[51]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675120" y="1078992"/>
            <a:ext cx="3474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x[61]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671816" y="1078992"/>
            <a:ext cx="3474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x[71]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668512" y="1078992"/>
            <a:ext cx="3474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x[81]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665208" y="1078992"/>
            <a:ext cx="3474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x[91]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661904" y="1078992"/>
            <a:ext cx="3474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x[101]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60120" y="1874520"/>
            <a:ext cx="9052560" cy="502920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996696" y="1965046"/>
            <a:ext cx="8979408" cy="32186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A: x[1] ... x[100]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51560" y="2697480"/>
            <a:ext cx="9052560" cy="502920"/>
          </a:xfrm>
          <a:prstGeom prst="rect">
            <a:avLst/>
          </a:prstGeom>
          <a:solidFill>
            <a:srgbClr val="DC2626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1088136" y="2788006"/>
            <a:ext cx="8979408" cy="32186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B: x[2] ... x[101]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51560" y="3456432"/>
            <a:ext cx="8961120" cy="164592"/>
          </a:xfrm>
          <a:prstGeom prst="rect">
            <a:avLst/>
          </a:prstGeom>
          <a:solidFill>
            <a:srgbClr val="FDE68A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1188720" y="3703320"/>
            <a:ext cx="52120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region: 99 observations out of 100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492240" y="3657600"/>
            <a:ext cx="4389120" cy="658368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6601968" y="3657600"/>
            <a:ext cx="0" cy="658368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693408" y="3730752"/>
            <a:ext cx="411480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 is used for training and B for testing, the test input is almost duplicated.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60120" y="466344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7C3AED"/>
          </a:solidFill>
          <a:ln w="889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1005840" y="4737506"/>
            <a:ext cx="1920240" cy="26334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independent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46120" y="466344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EA580C"/>
          </a:solidFill>
          <a:ln w="889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3291840" y="4737506"/>
            <a:ext cx="1828800" cy="26334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noise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40680" y="4663440"/>
            <a:ext cx="2331720" cy="411480"/>
          </a:xfrm>
          <a:prstGeom prst="roundRect">
            <a:avLst>
              <a:gd name="adj" fmla="val 17778"/>
            </a:avLst>
          </a:prstGeom>
          <a:solidFill>
            <a:srgbClr val="0F766E"/>
          </a:solidFill>
          <a:ln w="889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5486400" y="4737506"/>
            <a:ext cx="2240280" cy="26334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event pattern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092440" y="466344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DC2626"/>
          </a:solidFill>
          <a:ln w="88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8138160" y="4737506"/>
            <a:ext cx="1828800" cy="26334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Leakage risk</a:t>
            </a:r>
            <a:endParaRPr lang="en-US" sz="10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0AB15A6-2644-50AE-25BA-FDCBBDBFA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incorrect workflow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0792400-AD6A-C0CB-164E-121C0937881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A common but </a:t>
            </a:r>
            <a:r>
              <a:rPr lang="en-GB" dirty="0">
                <a:highlight>
                  <a:srgbClr val="FF00FF"/>
                </a:highlight>
              </a:rPr>
              <a:t>problematic procedure </a:t>
            </a:r>
            <a:r>
              <a:rPr lang="en-GB" dirty="0"/>
              <a:t>is:</a:t>
            </a:r>
          </a:p>
          <a:p>
            <a:pPr lvl="1"/>
            <a:r>
              <a:rPr lang="en-GB" dirty="0"/>
              <a:t>complete recording</a:t>
            </a:r>
          </a:p>
          <a:p>
            <a:pPr lvl="1"/>
            <a:r>
              <a:rPr lang="en-GB" dirty="0"/>
              <a:t>        ↓</a:t>
            </a:r>
          </a:p>
          <a:p>
            <a:pPr lvl="1"/>
            <a:r>
              <a:rPr lang="en-GB" dirty="0"/>
              <a:t>generate all windows</a:t>
            </a:r>
          </a:p>
          <a:p>
            <a:pPr lvl="1"/>
            <a:r>
              <a:rPr lang="en-GB" dirty="0"/>
              <a:t>        ↓</a:t>
            </a:r>
          </a:p>
          <a:p>
            <a:pPr lvl="1"/>
            <a:r>
              <a:rPr lang="en-GB" dirty="0"/>
              <a:t>shuffle windows</a:t>
            </a:r>
          </a:p>
          <a:p>
            <a:pPr lvl="1"/>
            <a:r>
              <a:rPr lang="en-GB" dirty="0"/>
              <a:t>        ↓</a:t>
            </a:r>
          </a:p>
          <a:p>
            <a:pPr lvl="1"/>
            <a:r>
              <a:rPr lang="en-GB" dirty="0"/>
              <a:t>random train / validation / test split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78A06C3-895A-3840-08EA-641E1394097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Why it fails</a:t>
            </a:r>
          </a:p>
          <a:p>
            <a:r>
              <a:rPr lang="en-GB" dirty="0"/>
              <a:t>Suppose a signal contains one fault event.</a:t>
            </a:r>
          </a:p>
          <a:p>
            <a:pPr lvl="1"/>
            <a:r>
              <a:rPr lang="en-GB" dirty="0"/>
              <a:t>Many overlapping windows around that event may be generated.</a:t>
            </a:r>
          </a:p>
          <a:p>
            <a:r>
              <a:rPr lang="en-GB" dirty="0"/>
              <a:t>After shuffling:</a:t>
            </a:r>
          </a:p>
          <a:p>
            <a:pPr lvl="1"/>
            <a:r>
              <a:rPr lang="en-GB" dirty="0"/>
              <a:t>some event windows enter training;</a:t>
            </a:r>
          </a:p>
          <a:p>
            <a:pPr lvl="1"/>
            <a:r>
              <a:rPr lang="en-GB" dirty="0"/>
              <a:t>nearly identical event windows enter validation;</a:t>
            </a:r>
          </a:p>
          <a:p>
            <a:pPr lvl="1"/>
            <a:r>
              <a:rPr lang="en-GB" dirty="0"/>
              <a:t>other nearly identical windows enter test.</a:t>
            </a:r>
          </a:p>
          <a:p>
            <a:r>
              <a:rPr lang="en-GB" dirty="0">
                <a:highlight>
                  <a:srgbClr val="FFFF00"/>
                </a:highlight>
              </a:rPr>
              <a:t>The model is therefore tested on local patterns it has effectively already seen.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792144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87A29B-7300-D743-71C7-D22930ED1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Example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0D962F-3ECD-F842-F87A-5654D596F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Event occurs between times 500 and 550</a:t>
            </a:r>
          </a:p>
          <a:p>
            <a:r>
              <a:rPr lang="en-GB" dirty="0"/>
              <a:t>Training window: times 470–530</a:t>
            </a:r>
          </a:p>
          <a:p>
            <a:r>
              <a:rPr lang="en-GB" dirty="0"/>
              <a:t>Test window: times 480–540</a:t>
            </a:r>
          </a:p>
          <a:p>
            <a:r>
              <a:rPr lang="en-GB" dirty="0"/>
              <a:t>The two windows share most of their input and the same event.</a:t>
            </a:r>
          </a:p>
          <a:p>
            <a:r>
              <a:rPr lang="en-GB" b="1" dirty="0"/>
              <a:t>Apparent result</a:t>
            </a:r>
          </a:p>
          <a:p>
            <a:pPr lvl="1"/>
            <a:r>
              <a:rPr lang="en-GB" dirty="0"/>
              <a:t>Test accuracy = 99%</a:t>
            </a:r>
          </a:p>
          <a:p>
            <a:r>
              <a:rPr lang="en-GB" b="1" dirty="0"/>
              <a:t>Possible real deployment result</a:t>
            </a:r>
          </a:p>
          <a:p>
            <a:pPr lvl="1"/>
            <a:r>
              <a:rPr lang="en-GB" dirty="0"/>
              <a:t>Accuracy on a new recording = substantially lower</a:t>
            </a:r>
          </a:p>
          <a:p>
            <a:endParaRPr lang="en-GB" dirty="0"/>
          </a:p>
          <a:p>
            <a:r>
              <a:rPr lang="en-GB" dirty="0">
                <a:highlight>
                  <a:srgbClr val="FFFF00"/>
                </a:highlight>
              </a:rPr>
              <a:t>The original result answered:</a:t>
            </a:r>
          </a:p>
          <a:p>
            <a:r>
              <a:rPr lang="en-GB" dirty="0">
                <a:highlight>
                  <a:srgbClr val="FFFF00"/>
                </a:highlight>
              </a:rPr>
              <a:t>Can the model recognize almost duplicated windows?</a:t>
            </a:r>
          </a:p>
          <a:p>
            <a:r>
              <a:rPr lang="en-GB" dirty="0"/>
              <a:t>It did not necessarily answer:</a:t>
            </a:r>
          </a:p>
          <a:p>
            <a:r>
              <a:rPr lang="en-GB" dirty="0"/>
              <a:t>Can the model detect the event in new data?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0812242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10528"/>
            <a:ext cx="11548872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1148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Incorrect workflow: window first, then random split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29768" y="65836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This often tests near-duplicates, not actual generalization.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2240280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889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731520" y="1228588"/>
            <a:ext cx="2148840" cy="304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recording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953512" y="1380744"/>
            <a:ext cx="466344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3520440" y="1143000"/>
            <a:ext cx="2240280" cy="475488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 w="889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566160" y="1228588"/>
            <a:ext cx="2148840" cy="304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all overlapping windows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788152" y="1380744"/>
            <a:ext cx="466344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6355080" y="1143000"/>
            <a:ext cx="2240280" cy="475488"/>
          </a:xfrm>
          <a:prstGeom prst="roundRect">
            <a:avLst>
              <a:gd name="adj" fmla="val 15385"/>
            </a:avLst>
          </a:prstGeom>
          <a:solidFill>
            <a:srgbClr val="EA580C"/>
          </a:solidFill>
          <a:ln w="889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400800" y="1228588"/>
            <a:ext cx="2148840" cy="304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Shuffle windows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622792" y="1380744"/>
            <a:ext cx="466344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9189720" y="1143000"/>
            <a:ext cx="2240280" cy="475488"/>
          </a:xfrm>
          <a:prstGeom prst="roundRect">
            <a:avLst>
              <a:gd name="adj" fmla="val 15385"/>
            </a:avLst>
          </a:prstGeom>
          <a:solidFill>
            <a:srgbClr val="DC2626"/>
          </a:solidFill>
          <a:ln w="88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9235440" y="1228588"/>
            <a:ext cx="2148840" cy="304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train / validation / test split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69645" y="3284220"/>
            <a:ext cx="969264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0735437" y="3201924"/>
            <a:ext cx="5029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→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23925" y="3467100"/>
            <a:ext cx="9692640" cy="109728"/>
          </a:xfrm>
          <a:prstGeom prst="rect">
            <a:avLst/>
          </a:prstGeom>
          <a:solidFill>
            <a:srgbClr val="94A3B8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627245" y="2644140"/>
            <a:ext cx="1234440" cy="384048"/>
          </a:xfrm>
          <a:prstGeom prst="rect">
            <a:avLst/>
          </a:prstGeom>
          <a:solidFill>
            <a:srgbClr val="FCA5A5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883277" y="2717292"/>
            <a:ext cx="6858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987165" y="3860292"/>
            <a:ext cx="1828800" cy="237744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023741" y="3903086"/>
            <a:ext cx="1755648" cy="1521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70045" y="4198620"/>
            <a:ext cx="1828800" cy="237744"/>
          </a:xfrm>
          <a:prstGeom prst="rect">
            <a:avLst/>
          </a:prstGeom>
          <a:solidFill>
            <a:srgbClr val="DC2626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206621" y="4241414"/>
            <a:ext cx="1755648" cy="1521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52925" y="4536948"/>
            <a:ext cx="1828800" cy="237744"/>
          </a:xfrm>
          <a:prstGeom prst="rect">
            <a:avLst/>
          </a:prstGeom>
          <a:solidFill>
            <a:srgbClr val="F59E0B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4389501" y="4579742"/>
            <a:ext cx="1755648" cy="1521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35805" y="4875276"/>
            <a:ext cx="1828800" cy="237744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4572381" y="4918070"/>
            <a:ext cx="1755648" cy="1521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18685" y="5213604"/>
            <a:ext cx="1828800" cy="237744"/>
          </a:xfrm>
          <a:prstGeom prst="rect">
            <a:avLst/>
          </a:prstGeom>
          <a:solidFill>
            <a:srgbClr val="DC2626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4755261" y="5256398"/>
            <a:ext cx="1755648" cy="1521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69645" y="5753100"/>
            <a:ext cx="164592" cy="164592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1198245" y="5734812"/>
            <a:ext cx="12344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478405" y="5753100"/>
            <a:ext cx="164592" cy="164592"/>
          </a:xfrm>
          <a:prstGeom prst="rect">
            <a:avLst/>
          </a:prstGeom>
          <a:solidFill>
            <a:srgbClr val="F59E0B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2707005" y="5734812"/>
            <a:ext cx="12344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987165" y="5753100"/>
            <a:ext cx="164592" cy="164592"/>
          </a:xfrm>
          <a:prstGeom prst="rect">
            <a:avLst/>
          </a:prstGeom>
          <a:solidFill>
            <a:srgbClr val="DC2626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4215765" y="5734812"/>
            <a:ext cx="123444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324725" y="3924300"/>
            <a:ext cx="3657600" cy="1143000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7434453" y="3924300"/>
            <a:ext cx="0" cy="114300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7525893" y="3997452"/>
            <a:ext cx="3383280" cy="10149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Nearly identical windows around the same event are distributed across all partitions.</a:t>
            </a:r>
            <a:endParaRPr lang="en-US" sz="11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04FF0E-B70B-6D2A-BEB0-F67DCD459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>
                <a:highlight>
                  <a:srgbClr val="FFFF00"/>
                </a:highlight>
              </a:rPr>
              <a:t>correct split-before-windowing workflow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EED4CCF-9633-C597-439D-8B36AB854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 safer general procedure is:</a:t>
            </a:r>
          </a:p>
          <a:p>
            <a:pPr lvl="1"/>
            <a:r>
              <a:rPr lang="en-GB" dirty="0"/>
              <a:t>1. identify recordings, entities or temporal intervals</a:t>
            </a:r>
          </a:p>
          <a:p>
            <a:pPr lvl="1"/>
            <a:r>
              <a:rPr lang="en-GB" dirty="0"/>
              <a:t>2. assign them to training, validation and test</a:t>
            </a:r>
          </a:p>
          <a:p>
            <a:pPr lvl="1"/>
            <a:r>
              <a:rPr lang="en-GB" dirty="0"/>
              <a:t>3</a:t>
            </a:r>
            <a:r>
              <a:rPr lang="en-GB" dirty="0">
                <a:highlight>
                  <a:srgbClr val="FFFF00"/>
                </a:highlight>
              </a:rPr>
              <a:t>. generate windows separately within each partition</a:t>
            </a:r>
          </a:p>
          <a:p>
            <a:r>
              <a:rPr lang="en-GB" b="1" dirty="0"/>
              <a:t>Example: split by recording</a:t>
            </a:r>
          </a:p>
          <a:p>
            <a:pPr lvl="1"/>
            <a:r>
              <a:rPr lang="en-GB" dirty="0"/>
              <a:t>Recording 1 → training</a:t>
            </a:r>
          </a:p>
          <a:p>
            <a:pPr lvl="1"/>
            <a:r>
              <a:rPr lang="en-GB" dirty="0"/>
              <a:t>Recording 2 → training</a:t>
            </a:r>
          </a:p>
          <a:p>
            <a:pPr lvl="1"/>
            <a:r>
              <a:rPr lang="en-GB" dirty="0"/>
              <a:t>Recording 3 → validation</a:t>
            </a:r>
          </a:p>
          <a:p>
            <a:pPr lvl="1"/>
            <a:r>
              <a:rPr lang="en-GB" dirty="0"/>
              <a:t>Recording 4 → test</a:t>
            </a:r>
          </a:p>
          <a:p>
            <a:r>
              <a:rPr lang="en-GB" dirty="0"/>
              <a:t>Windows are generated only after the assignment.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DAEB782-DE2E-83A2-1DCB-64804CC8CAAA}"/>
              </a:ext>
            </a:extLst>
          </p:cNvPr>
          <p:cNvSpPr txBox="1"/>
          <p:nvPr/>
        </p:nvSpPr>
        <p:spPr>
          <a:xfrm>
            <a:off x="8030990" y="5022116"/>
            <a:ext cx="334186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Training windows:</a:t>
            </a:r>
          </a:p>
          <a:p>
            <a:pPr lvl="1"/>
            <a:r>
              <a:rPr lang="en-GB" sz="1600" dirty="0"/>
              <a:t>only from Recordings 1 and 2</a:t>
            </a:r>
          </a:p>
          <a:p>
            <a:r>
              <a:rPr lang="en-GB" sz="1800" dirty="0"/>
              <a:t>Validation windows:</a:t>
            </a:r>
          </a:p>
          <a:p>
            <a:pPr lvl="1"/>
            <a:r>
              <a:rPr lang="en-GB" sz="1600" dirty="0"/>
              <a:t>only from Recording 3</a:t>
            </a:r>
          </a:p>
          <a:p>
            <a:r>
              <a:rPr lang="en-GB" sz="1800" dirty="0"/>
              <a:t>Test windows:</a:t>
            </a:r>
          </a:p>
          <a:p>
            <a:pPr lvl="1"/>
            <a:r>
              <a:rPr lang="en-GB" sz="1600" dirty="0"/>
              <a:t>only from Recording 4</a:t>
            </a:r>
          </a:p>
        </p:txBody>
      </p:sp>
      <p:sp>
        <p:nvSpPr>
          <p:cNvPr id="6" name="Freccia a destra 5">
            <a:extLst>
              <a:ext uri="{FF2B5EF4-FFF2-40B4-BE49-F238E27FC236}">
                <a16:creationId xmlns:a16="http://schemas.microsoft.com/office/drawing/2014/main" id="{3456CD08-E2B4-5B6A-4B5D-5F9F67524D98}"/>
              </a:ext>
            </a:extLst>
          </p:cNvPr>
          <p:cNvSpPr/>
          <p:nvPr/>
        </p:nvSpPr>
        <p:spPr>
          <a:xfrm>
            <a:off x="6877050" y="5686425"/>
            <a:ext cx="781050" cy="3549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232477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E68D4F5-C9A6-4697-884E-F58F6E4C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Example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8A7FCCD-A728-72D1-9E79-E8C0D53DE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Example: </a:t>
            </a:r>
            <a:r>
              <a:rPr lang="en-GB" b="1" dirty="0">
                <a:highlight>
                  <a:srgbClr val="FFFF00"/>
                </a:highlight>
              </a:rPr>
              <a:t>one long series</a:t>
            </a:r>
          </a:p>
          <a:p>
            <a:r>
              <a:rPr lang="en-GB" dirty="0"/>
              <a:t>| training interval | validation interval | test interval |</a:t>
            </a:r>
          </a:p>
          <a:p>
            <a:r>
              <a:rPr lang="en-GB" dirty="0"/>
              <a:t>Window generation is performed independently within each interval.</a:t>
            </a:r>
          </a:p>
          <a:p>
            <a:r>
              <a:rPr lang="en-GB" dirty="0"/>
              <a:t>No window is allowed to cross a partition boundary.</a:t>
            </a:r>
          </a:p>
          <a:p>
            <a:endParaRPr lang="en-GB" b="1" dirty="0"/>
          </a:p>
          <a:p>
            <a:r>
              <a:rPr lang="en-GB" b="1" dirty="0"/>
              <a:t>Advantages</a:t>
            </a:r>
          </a:p>
          <a:p>
            <a:pPr lvl="1"/>
            <a:r>
              <a:rPr lang="en-GB" dirty="0"/>
              <a:t>raw observations are not shared across partitions;</a:t>
            </a:r>
          </a:p>
          <a:p>
            <a:pPr lvl="1"/>
            <a:r>
              <a:rPr lang="en-GB" dirty="0"/>
              <a:t>events are confined to one partition;</a:t>
            </a:r>
          </a:p>
          <a:p>
            <a:pPr lvl="1"/>
            <a:r>
              <a:rPr lang="en-GB" dirty="0"/>
              <a:t>target periods are easier to control;</a:t>
            </a:r>
          </a:p>
          <a:p>
            <a:pPr lvl="1"/>
            <a:r>
              <a:rPr lang="en-GB" dirty="0"/>
              <a:t>evaluation better reflects future or unseen data.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730231F-588B-94C3-AA2A-58E946E4B672}"/>
              </a:ext>
            </a:extLst>
          </p:cNvPr>
          <p:cNvSpPr txBox="1"/>
          <p:nvPr/>
        </p:nvSpPr>
        <p:spPr>
          <a:xfrm>
            <a:off x="8362949" y="5625220"/>
            <a:ext cx="361473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highlight>
                  <a:srgbClr val="FFFF00"/>
                </a:highlight>
              </a:rPr>
              <a:t>Split the highest-level independent units first; generate lower-level samples afterwards.</a:t>
            </a:r>
          </a:p>
        </p:txBody>
      </p:sp>
    </p:spTree>
    <p:extLst>
      <p:ext uri="{BB962C8B-B14F-4D97-AF65-F5344CB8AC3E}">
        <p14:creationId xmlns:p14="http://schemas.microsoft.com/office/powerpoint/2010/main" val="80741878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10528"/>
            <a:ext cx="11548872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1148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Correct workflow: split first, window afterwards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29768" y="65836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Define independent units or time intervals before generating samples.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" y="1005840"/>
            <a:ext cx="2194560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889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777240" y="1091428"/>
            <a:ext cx="2103120" cy="304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recordings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017520" y="1243584"/>
            <a:ext cx="54864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3657600" y="1005840"/>
            <a:ext cx="2743200" cy="475488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 w="889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703320" y="1091428"/>
            <a:ext cx="2651760" cy="304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Grouped / temporal split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92240" y="1243584"/>
            <a:ext cx="54864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7132320" y="1005840"/>
            <a:ext cx="3566160" cy="475488"/>
          </a:xfrm>
          <a:prstGeom prst="roundRect">
            <a:avLst>
              <a:gd name="adj" fmla="val 15385"/>
            </a:avLst>
          </a:prstGeom>
          <a:solidFill>
            <a:srgbClr val="0F766E"/>
          </a:solidFill>
          <a:ln w="889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7178040" y="1091428"/>
            <a:ext cx="3474720" cy="304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windows within each partition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4400" y="2148840"/>
            <a:ext cx="274320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1051560" y="2304288"/>
            <a:ext cx="24688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234440" y="2743200"/>
            <a:ext cx="1737360" cy="256032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1271016" y="2789286"/>
            <a:ext cx="1664208" cy="1638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1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417320" y="3127248"/>
            <a:ext cx="1737360" cy="256032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453896" y="3173334"/>
            <a:ext cx="1664208" cy="1638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2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600200" y="3511296"/>
            <a:ext cx="1737360" cy="256032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1636776" y="3557382"/>
            <a:ext cx="1664208" cy="1638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3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297680" y="2148840"/>
            <a:ext cx="274320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434840" y="2304288"/>
            <a:ext cx="24688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617720" y="2743200"/>
            <a:ext cx="1737360" cy="256032"/>
          </a:xfrm>
          <a:prstGeom prst="rect">
            <a:avLst/>
          </a:prstGeom>
          <a:solidFill>
            <a:srgbClr val="F59E0B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654296" y="2789286"/>
            <a:ext cx="1664208" cy="1638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1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800600" y="3127248"/>
            <a:ext cx="1737360" cy="256032"/>
          </a:xfrm>
          <a:prstGeom prst="rect">
            <a:avLst/>
          </a:prstGeom>
          <a:solidFill>
            <a:srgbClr val="F59E0B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4837176" y="3173334"/>
            <a:ext cx="1664208" cy="1638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2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983480" y="3511296"/>
            <a:ext cx="1737360" cy="256032"/>
          </a:xfrm>
          <a:prstGeom prst="rect">
            <a:avLst/>
          </a:prstGeom>
          <a:solidFill>
            <a:srgbClr val="F59E0B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5020056" y="3557382"/>
            <a:ext cx="1664208" cy="1638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3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680960" y="2148840"/>
            <a:ext cx="274320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7818120" y="2304288"/>
            <a:ext cx="24688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001000" y="2743200"/>
            <a:ext cx="1737360" cy="256032"/>
          </a:xfrm>
          <a:prstGeom prst="rect">
            <a:avLst/>
          </a:prstGeom>
          <a:solidFill>
            <a:srgbClr val="DC2626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8037576" y="2789286"/>
            <a:ext cx="1664208" cy="1638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1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183880" y="3127248"/>
            <a:ext cx="1737360" cy="256032"/>
          </a:xfrm>
          <a:prstGeom prst="rect">
            <a:avLst/>
          </a:prstGeom>
          <a:solidFill>
            <a:srgbClr val="DC2626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8220456" y="3173334"/>
            <a:ext cx="1664208" cy="1638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2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366760" y="3511296"/>
            <a:ext cx="1737360" cy="256032"/>
          </a:xfrm>
          <a:prstGeom prst="rect">
            <a:avLst/>
          </a:prstGeom>
          <a:solidFill>
            <a:srgbClr val="DC2626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8403336" y="3557382"/>
            <a:ext cx="1664208" cy="1638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3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611880" y="3291840"/>
            <a:ext cx="45720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6995160" y="3291840"/>
            <a:ext cx="45720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1097280" y="5074920"/>
            <a:ext cx="9784080" cy="658368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Shape 39"/>
          <p:cNvSpPr/>
          <p:nvPr/>
        </p:nvSpPr>
        <p:spPr>
          <a:xfrm>
            <a:off x="1207008" y="5074920"/>
            <a:ext cx="0" cy="658368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1298448" y="5148072"/>
            <a:ext cx="950976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 rule: </a:t>
            </a:r>
            <a:r>
              <a:rPr lang="en-US" sz="1100" b="1" dirty="0">
                <a:solidFill>
                  <a:srgbClr val="0F172A"/>
                </a:solidFill>
                <a:highlight>
                  <a:srgbClr val="FFFF00"/>
                </a:highlight>
                <a:latin typeface="Aptos" pitchFamily="34" charset="0"/>
                <a:ea typeface="Aptos" pitchFamily="34" charset="-122"/>
                <a:cs typeface="Aptos" pitchFamily="34" charset="-120"/>
              </a:rPr>
              <a:t>split the highest-level independent units first; generate lower-level samples afterwards.</a:t>
            </a:r>
            <a:endParaRPr lang="en-US" sz="1100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E63AE90-4FAB-965B-7FFF-54AA267CB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Windows must not cross split boundaries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6878214-E7D7-51D4-7F4E-75F4C02FBD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Consider a chronological split at time 1,000.</a:t>
            </a:r>
          </a:p>
          <a:p>
            <a:r>
              <a:rPr lang="en-GB" dirty="0"/>
              <a:t>Training: times 1–1,000</a:t>
            </a:r>
          </a:p>
          <a:p>
            <a:r>
              <a:rPr lang="en-GB" dirty="0"/>
              <a:t>Validation: times 1,001–1,300</a:t>
            </a:r>
          </a:p>
          <a:p>
            <a:r>
              <a:rPr lang="en-GB" dirty="0"/>
              <a:t>Suppose the input window has length 100.</a:t>
            </a:r>
          </a:p>
          <a:p>
            <a:r>
              <a:rPr lang="en-GB" dirty="0"/>
              <a:t>The following window is invalid:</a:t>
            </a:r>
          </a:p>
          <a:p>
            <a:r>
              <a:rPr lang="en-GB" dirty="0"/>
              <a:t>Input:</a:t>
            </a:r>
          </a:p>
          <a:p>
            <a:r>
              <a:rPr lang="en-GB" dirty="0"/>
              <a:t>times 950–1,049</a:t>
            </a:r>
          </a:p>
          <a:p>
            <a:r>
              <a:rPr lang="en-GB" dirty="0"/>
              <a:t>It contains:</a:t>
            </a:r>
          </a:p>
          <a:p>
            <a:r>
              <a:rPr lang="en-GB" dirty="0"/>
              <a:t>training observations from 950 to 1,000;</a:t>
            </a:r>
          </a:p>
          <a:p>
            <a:r>
              <a:rPr lang="en-GB" dirty="0"/>
              <a:t>validation observations from 1,001 to 1,049.</a:t>
            </a:r>
          </a:p>
          <a:p>
            <a:endParaRPr lang="en-GB" b="1" dirty="0"/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9114529-E4C1-803B-30C0-6A75AB9FFF2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b="1" dirty="0"/>
              <a:t>Why this is problematic</a:t>
            </a:r>
          </a:p>
          <a:p>
            <a:r>
              <a:rPr lang="en-GB" dirty="0"/>
              <a:t>The same sample belongs partly to two partitions.</a:t>
            </a:r>
          </a:p>
          <a:p>
            <a:r>
              <a:rPr lang="en-GB" dirty="0"/>
              <a:t>It may introduce:</a:t>
            </a:r>
          </a:p>
          <a:p>
            <a:pPr lvl="1"/>
            <a:r>
              <a:rPr lang="en-GB" dirty="0"/>
              <a:t>future information into training;</a:t>
            </a:r>
          </a:p>
          <a:p>
            <a:pPr lvl="1"/>
            <a:r>
              <a:rPr lang="en-GB" dirty="0"/>
              <a:t>shared observations across partitions;</a:t>
            </a:r>
          </a:p>
          <a:p>
            <a:pPr lvl="1"/>
            <a:r>
              <a:rPr lang="en-GB" dirty="0"/>
              <a:t>ambiguous ownership of the target.</a:t>
            </a:r>
          </a:p>
          <a:p>
            <a:endParaRPr lang="en-GB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69011E9-B364-1348-BB56-79E33EC4F7BA}"/>
              </a:ext>
            </a:extLst>
          </p:cNvPr>
          <p:cNvSpPr txBox="1"/>
          <p:nvPr/>
        </p:nvSpPr>
        <p:spPr>
          <a:xfrm>
            <a:off x="5520447" y="5086530"/>
            <a:ext cx="6099242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Discard crossing windows</a:t>
            </a:r>
          </a:p>
          <a:p>
            <a:pPr lvl="1"/>
            <a:r>
              <a:rPr lang="en-GB" sz="1600" dirty="0"/>
              <a:t>Generate </a:t>
            </a:r>
            <a:r>
              <a:rPr lang="en-GB" sz="1600" b="1" dirty="0"/>
              <a:t>training windows ending </a:t>
            </a:r>
            <a:r>
              <a:rPr lang="en-GB" sz="1600" dirty="0"/>
              <a:t>no later than time 1,000.</a:t>
            </a:r>
          </a:p>
          <a:p>
            <a:pPr lvl="1"/>
            <a:r>
              <a:rPr lang="en-GB" sz="1600" dirty="0"/>
              <a:t>Generate validation windows entirely inside the validation interval.</a:t>
            </a:r>
          </a:p>
        </p:txBody>
      </p:sp>
    </p:spTree>
    <p:extLst>
      <p:ext uri="{BB962C8B-B14F-4D97-AF65-F5344CB8AC3E}">
        <p14:creationId xmlns:p14="http://schemas.microsoft.com/office/powerpoint/2010/main" val="110352505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10528"/>
            <a:ext cx="11548872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656539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Lecture 2 — Block D: Window generation leakage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Windows must not cross split boundaries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29768" y="65836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75569"/>
                </a:solidFill>
                <a:highlight>
                  <a:srgbClr val="FFFF00"/>
                </a:highlight>
              </a:rPr>
              <a:t>A sample that spans two partitions has ambiguous ownership.</a:t>
            </a:r>
            <a:endParaRPr lang="en-US" sz="1150" b="1" dirty="0">
              <a:highlight>
                <a:srgbClr val="FFFF00"/>
              </a:highlight>
            </a:endParaRPr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1005840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0908792" y="1243584"/>
            <a:ext cx="5029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→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68680" y="1645920"/>
            <a:ext cx="4937760" cy="411480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905256" y="1719986"/>
            <a:ext cx="4864608" cy="26334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Training: times 1–1000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06440" y="1645920"/>
            <a:ext cx="4572000" cy="411480"/>
          </a:xfrm>
          <a:prstGeom prst="rect">
            <a:avLst/>
          </a:prstGeom>
          <a:solidFill>
            <a:srgbClr val="F59E0B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843016" y="1719986"/>
            <a:ext cx="4498848" cy="263347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Validation: times 1001–1300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06440" y="1097280"/>
            <a:ext cx="0" cy="1325880"/>
          </a:xfrm>
          <a:prstGeom prst="line">
            <a:avLst/>
          </a:prstGeom>
          <a:noFill/>
          <a:ln w="17780">
            <a:solidFill>
              <a:srgbClr val="0F172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349240" y="2450592"/>
            <a:ext cx="10972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boundary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74920" y="2743200"/>
            <a:ext cx="1600200" cy="292608"/>
          </a:xfrm>
          <a:prstGeom prst="rect">
            <a:avLst/>
          </a:prstGeom>
          <a:solidFill>
            <a:srgbClr val="DC2626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892040" y="3136392"/>
            <a:ext cx="20116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Invalid mixed window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57800" y="3364992"/>
            <a:ext cx="132588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times 950–1049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68680" y="3794760"/>
            <a:ext cx="4892040" cy="777240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978408" y="3794760"/>
            <a:ext cx="0" cy="77724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069848" y="3867912"/>
            <a:ext cx="4617720" cy="6492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F172A"/>
                </a:solidFill>
                <a:highlight>
                  <a:srgbClr val="FFFF00"/>
                </a:highlight>
                <a:latin typeface="Aptos" pitchFamily="34" charset="0"/>
                <a:ea typeface="Aptos" pitchFamily="34" charset="-122"/>
                <a:cs typeface="Aptos" pitchFamily="34" charset="-120"/>
              </a:rPr>
              <a:t>Strict partitioning: discard windows that cross the split boundary.</a:t>
            </a:r>
            <a:endParaRPr lang="en-US" sz="1100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10528"/>
            <a:ext cx="11548872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656539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Lecture 2 — Block D: Window generation leakage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 overlap and target overlap are different problems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29768" y="65836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A split must control both input intervals and target intervals.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14400" y="1325880"/>
            <a:ext cx="960120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0588752" y="1243584"/>
            <a:ext cx="5029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828800"/>
            <a:ext cx="9144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0" y="1783080"/>
            <a:ext cx="2743200" cy="329184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1865376" y="1842333"/>
            <a:ext cx="2670048" cy="21067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783080"/>
            <a:ext cx="1143000" cy="329184"/>
          </a:xfrm>
          <a:prstGeom prst="rect">
            <a:avLst/>
          </a:prstGeom>
          <a:solidFill>
            <a:srgbClr val="DC2626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745736" y="1842333"/>
            <a:ext cx="1069848" cy="21067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2697480"/>
            <a:ext cx="9144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26080" y="2651760"/>
            <a:ext cx="2743200" cy="329184"/>
          </a:xfrm>
          <a:prstGeom prst="rect">
            <a:avLst/>
          </a:prstGeom>
          <a:solidFill>
            <a:srgbClr val="F59E0B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2962656" y="2711013"/>
            <a:ext cx="2670048" cy="21067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B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06440" y="2651760"/>
            <a:ext cx="1143000" cy="329184"/>
          </a:xfrm>
          <a:prstGeom prst="rect">
            <a:avLst/>
          </a:prstGeom>
          <a:solidFill>
            <a:srgbClr val="EA580C"/>
          </a:solidFill>
          <a:ln w="1016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843016" y="2711013"/>
            <a:ext cx="1069848" cy="21067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B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3246120"/>
            <a:ext cx="960120" cy="182880"/>
          </a:xfrm>
          <a:prstGeom prst="rect">
            <a:avLst/>
          </a:prstGeom>
          <a:solidFill>
            <a:srgbClr val="FDE68A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160520" y="3520440"/>
            <a:ext cx="23774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A appears inside input 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4617720"/>
            <a:ext cx="18288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overlap example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971800" y="4572000"/>
            <a:ext cx="1325880" cy="310896"/>
          </a:xfrm>
          <a:prstGeom prst="rect">
            <a:avLst/>
          </a:prstGeom>
          <a:solidFill>
            <a:srgbClr val="DC2626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3008376" y="4627961"/>
            <a:ext cx="1252728" cy="19897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94760" y="4983480"/>
            <a:ext cx="1325880" cy="310896"/>
          </a:xfrm>
          <a:prstGeom prst="rect">
            <a:avLst/>
          </a:prstGeom>
          <a:solidFill>
            <a:srgbClr val="EA580C"/>
          </a:solidFill>
          <a:ln w="1016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3831336" y="5039441"/>
            <a:ext cx="1252728" cy="19897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B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94760" y="5440680"/>
            <a:ext cx="502920" cy="164592"/>
          </a:xfrm>
          <a:prstGeom prst="rect">
            <a:avLst/>
          </a:prstGeom>
          <a:solidFill>
            <a:srgbClr val="FDE68A"/>
          </a:solidFill>
          <a:ln w="1016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407408" y="5385816"/>
            <a:ext cx="19202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target period</a:t>
            </a:r>
            <a:endParaRPr lang="en-US" sz="1000" dirty="0"/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EB3C9A09-8B47-A119-335B-36B3C399199C}"/>
              </a:ext>
            </a:extLst>
          </p:cNvPr>
          <p:cNvSpPr txBox="1"/>
          <p:nvPr/>
        </p:nvSpPr>
        <p:spPr>
          <a:xfrm>
            <a:off x="7371944" y="2168010"/>
            <a:ext cx="482005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This is not necessarily an issue (it’s quite normal).</a:t>
            </a:r>
          </a:p>
          <a:p>
            <a:r>
              <a:rPr lang="en-GB" sz="1400" dirty="0"/>
              <a:t>The problem arises when this overlap crosses the split in the wrong direction. For example, </a:t>
            </a:r>
            <a:r>
              <a:rPr lang="en-GB" sz="1400" b="1" dirty="0"/>
              <a:t>if a training input contains values belonging to the validation or test target period, </a:t>
            </a:r>
            <a:r>
              <a:rPr lang="en-GB" sz="1400" b="1" dirty="0">
                <a:highlight>
                  <a:srgbClr val="FFFF00"/>
                </a:highlight>
              </a:rPr>
              <a:t>then training has access to future evaluation information.</a:t>
            </a:r>
            <a:r>
              <a:rPr lang="en-GB" sz="1400" b="1" dirty="0"/>
              <a:t> That is leakage.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138304C1-9E65-7920-5DD9-1B0EEE7B2353}"/>
              </a:ext>
            </a:extLst>
          </p:cNvPr>
          <p:cNvSpPr txBox="1"/>
          <p:nvPr/>
        </p:nvSpPr>
        <p:spPr>
          <a:xfrm>
            <a:off x="5852160" y="4498848"/>
            <a:ext cx="540274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highlight>
                  <a:srgbClr val="FFFF00"/>
                </a:highlight>
              </a:rPr>
              <a:t>Within the </a:t>
            </a:r>
            <a:r>
              <a:rPr lang="en-GB" sz="1400" b="1" dirty="0">
                <a:highlight>
                  <a:srgbClr val="FFFF00"/>
                </a:highlight>
              </a:rPr>
              <a:t>same partition</a:t>
            </a:r>
            <a:r>
              <a:rPr lang="en-GB" sz="1400" dirty="0">
                <a:highlight>
                  <a:srgbClr val="FFFF00"/>
                </a:highlight>
              </a:rPr>
              <a:t>, this can be legitimate when using overlapping multi-step windows</a:t>
            </a:r>
            <a:r>
              <a:rPr lang="en-GB" sz="1400" dirty="0"/>
              <a:t>. Across </a:t>
            </a:r>
            <a:r>
              <a:rPr lang="en-GB" sz="1400" b="1" dirty="0"/>
              <a:t>training, validation, and test partitions</a:t>
            </a:r>
            <a:r>
              <a:rPr lang="en-GB" sz="1400" dirty="0"/>
              <a:t>, however, shared target periods should generally be avoided because the same outcome would contribute to more than one stage of model development or evaluation.</a:t>
            </a: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C595E30B-B43E-6570-3DAE-26FF328A9E88}"/>
              </a:ext>
            </a:extLst>
          </p:cNvPr>
          <p:cNvSpPr txBox="1"/>
          <p:nvPr/>
        </p:nvSpPr>
        <p:spPr>
          <a:xfrm>
            <a:off x="1200880" y="5790599"/>
            <a:ext cx="40797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/>
              <a:t>Shared target period — acceptable within a partition, but avoid across train/validation/test.</a:t>
            </a: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58A09AEB-F6B9-E030-C951-63C506C0FE0A}"/>
              </a:ext>
            </a:extLst>
          </p:cNvPr>
          <p:cNvSpPr txBox="1"/>
          <p:nvPr/>
        </p:nvSpPr>
        <p:spPr>
          <a:xfrm>
            <a:off x="1799033" y="3866160"/>
            <a:ext cx="40646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/>
              <a:t>Target A later becomes input B — valid if it is already observed at B's prediction time.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BC5983-C2A6-3C3E-DA6D-0076886FD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Events can generate many correlated labels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EC25398-852B-95EC-C76C-0804D305C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Suppose one fault occurs at time 1,000.</a:t>
            </a:r>
          </a:p>
          <a:p>
            <a:r>
              <a:rPr lang="en-GB" b="1" dirty="0"/>
              <a:t>A future-event label is defined as: positive if a fault occurs within the next 100 time steps</a:t>
            </a:r>
          </a:p>
          <a:p>
            <a:r>
              <a:rPr lang="en-GB" dirty="0"/>
              <a:t>Then windows ending at: t = 900, 901, 902, …, 999 may all receive a positive label because they </a:t>
            </a:r>
            <a:r>
              <a:rPr lang="en-GB" b="1" dirty="0"/>
              <a:t>refer to the same future event.</a:t>
            </a:r>
          </a:p>
          <a:p>
            <a:r>
              <a:rPr lang="en-GB" b="1" dirty="0"/>
              <a:t>Consequence</a:t>
            </a:r>
          </a:p>
          <a:p>
            <a:pPr lvl="1"/>
            <a:r>
              <a:rPr lang="en-GB" dirty="0"/>
              <a:t>One physical event may generate many positive samples.</a:t>
            </a:r>
          </a:p>
          <a:p>
            <a:pPr lvl="1"/>
            <a:r>
              <a:rPr lang="en-GB" dirty="0"/>
              <a:t>If these samples are randomly divided:</a:t>
            </a:r>
          </a:p>
          <a:p>
            <a:pPr lvl="2"/>
            <a:r>
              <a:rPr lang="en-GB" dirty="0"/>
              <a:t>the same event appears in training;</a:t>
            </a:r>
          </a:p>
          <a:p>
            <a:pPr lvl="2"/>
            <a:r>
              <a:rPr lang="en-GB" dirty="0"/>
              <a:t>the same event appears in validation;</a:t>
            </a:r>
          </a:p>
          <a:p>
            <a:pPr lvl="2"/>
            <a:r>
              <a:rPr lang="en-GB" dirty="0"/>
              <a:t>the same event appears in test.</a:t>
            </a:r>
          </a:p>
          <a:p>
            <a:pPr lvl="1"/>
            <a:r>
              <a:rPr lang="en-GB" dirty="0"/>
              <a:t>The reported sample-level performance is then overly optimistic.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698873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A85D24-798D-EEF9-BC88-C43CF764C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Correct</a:t>
            </a:r>
            <a:r>
              <a:rPr lang="it-IT" dirty="0"/>
              <a:t> </a:t>
            </a:r>
            <a:r>
              <a:rPr lang="it-IT" dirty="0" err="1"/>
              <a:t>principle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3FF4CC1-31E8-AB04-4314-0FF986D14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b="1" dirty="0"/>
              <a:t>Correct principle</a:t>
            </a:r>
          </a:p>
          <a:p>
            <a:pPr lvl="1"/>
            <a:r>
              <a:rPr lang="en-GB" dirty="0"/>
              <a:t>All samples associated with the same event should generally be kept in the same partition.</a:t>
            </a:r>
          </a:p>
          <a:p>
            <a:r>
              <a:rPr lang="en-GB" b="1" dirty="0">
                <a:highlight>
                  <a:srgbClr val="FFFF00"/>
                </a:highlight>
              </a:rPr>
              <a:t>Event-level grouping</a:t>
            </a:r>
          </a:p>
          <a:p>
            <a:r>
              <a:rPr lang="en-GB" dirty="0">
                <a:highlight>
                  <a:srgbClr val="FFFF00"/>
                </a:highlight>
              </a:rPr>
              <a:t>Define an </a:t>
            </a:r>
            <a:r>
              <a:rPr lang="en-GB" dirty="0" err="1">
                <a:highlight>
                  <a:srgbClr val="FFFF00"/>
                </a:highlight>
              </a:rPr>
              <a:t>event_id</a:t>
            </a:r>
            <a:r>
              <a:rPr lang="en-GB" dirty="0">
                <a:highlight>
                  <a:srgbClr val="FFFF00"/>
                </a:highlight>
              </a:rPr>
              <a:t> and assign:</a:t>
            </a:r>
          </a:p>
          <a:p>
            <a:pPr lvl="1"/>
            <a:r>
              <a:rPr lang="en-GB" dirty="0"/>
              <a:t>all windows related to event 1 → one partition</a:t>
            </a:r>
          </a:p>
          <a:p>
            <a:pPr lvl="1"/>
            <a:r>
              <a:rPr lang="en-GB" dirty="0"/>
              <a:t>all windows related to event 2 → one partition</a:t>
            </a:r>
          </a:p>
          <a:p>
            <a:endParaRPr lang="en-GB" b="1" dirty="0"/>
          </a:p>
          <a:p>
            <a:r>
              <a:rPr lang="en-GB" b="1" dirty="0"/>
              <a:t>Evaluation implication</a:t>
            </a:r>
          </a:p>
          <a:p>
            <a:r>
              <a:rPr lang="en-GB" dirty="0"/>
              <a:t>Report both:</a:t>
            </a:r>
          </a:p>
          <a:p>
            <a:pPr lvl="1"/>
            <a:r>
              <a:rPr lang="en-GB" dirty="0"/>
              <a:t>window-level metrics;</a:t>
            </a:r>
          </a:p>
          <a:p>
            <a:pPr lvl="1"/>
            <a:r>
              <a:rPr lang="en-GB" dirty="0"/>
              <a:t>event-level metrics.</a:t>
            </a:r>
          </a:p>
          <a:p>
            <a:r>
              <a:rPr lang="en-GB" dirty="0"/>
              <a:t>A model may correctly classify many windows around one easy event while missing several other events entirely.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277775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10528"/>
            <a:ext cx="11548872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656539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Lecture 2 — Block D: Window generation leakage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event can generate many correlated labels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29768" y="65836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Future-event labelling can turn one physical event into many positive samples.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914400" y="1417320"/>
            <a:ext cx="969264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0680192" y="1335024"/>
            <a:ext cx="5029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→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046720" y="1078992"/>
            <a:ext cx="320040" cy="685800"/>
          </a:xfrm>
          <a:prstGeom prst="rect">
            <a:avLst/>
          </a:prstGeom>
          <a:solidFill>
            <a:srgbClr val="FCA5A5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920240" y="2331720"/>
            <a:ext cx="2057400" cy="146304"/>
          </a:xfrm>
          <a:prstGeom prst="rect">
            <a:avLst/>
          </a:prstGeom>
          <a:solidFill>
            <a:srgbClr val="DC2626">
              <a:alpha val="85000"/>
            </a:srgbClr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331720" y="2542032"/>
            <a:ext cx="2057400" cy="146304"/>
          </a:xfrm>
          <a:prstGeom prst="rect">
            <a:avLst/>
          </a:prstGeom>
          <a:solidFill>
            <a:srgbClr val="DC2626">
              <a:alpha val="85000"/>
            </a:srgbClr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743200" y="2752344"/>
            <a:ext cx="2057400" cy="146304"/>
          </a:xfrm>
          <a:prstGeom prst="rect">
            <a:avLst/>
          </a:prstGeom>
          <a:solidFill>
            <a:srgbClr val="DC2626">
              <a:alpha val="85000"/>
            </a:srgbClr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3154680" y="2962656"/>
            <a:ext cx="2057400" cy="146304"/>
          </a:xfrm>
          <a:prstGeom prst="rect">
            <a:avLst/>
          </a:prstGeom>
          <a:solidFill>
            <a:srgbClr val="DC2626">
              <a:alpha val="85000"/>
            </a:srgbClr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3566160" y="3172968"/>
            <a:ext cx="2057400" cy="146304"/>
          </a:xfrm>
          <a:prstGeom prst="rect">
            <a:avLst/>
          </a:prstGeom>
          <a:solidFill>
            <a:srgbClr val="DC2626">
              <a:alpha val="85000"/>
            </a:srgbClr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3977640" y="2331720"/>
            <a:ext cx="2057400" cy="146304"/>
          </a:xfrm>
          <a:prstGeom prst="rect">
            <a:avLst/>
          </a:prstGeom>
          <a:solidFill>
            <a:srgbClr val="DC2626">
              <a:alpha val="85000"/>
            </a:srgbClr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4389120" y="2542032"/>
            <a:ext cx="2057400" cy="146304"/>
          </a:xfrm>
          <a:prstGeom prst="rect">
            <a:avLst/>
          </a:prstGeom>
          <a:solidFill>
            <a:srgbClr val="DC2626">
              <a:alpha val="85000"/>
            </a:srgbClr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4800600" y="2752344"/>
            <a:ext cx="2057400" cy="146304"/>
          </a:xfrm>
          <a:prstGeom prst="rect">
            <a:avLst/>
          </a:prstGeom>
          <a:solidFill>
            <a:srgbClr val="DC2626">
              <a:alpha val="85000"/>
            </a:srgbClr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5212080" y="2962656"/>
            <a:ext cx="2057400" cy="146304"/>
          </a:xfrm>
          <a:prstGeom prst="rect">
            <a:avLst/>
          </a:prstGeom>
          <a:solidFill>
            <a:srgbClr val="DC2626">
              <a:alpha val="85000"/>
            </a:srgbClr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5623560" y="3172968"/>
            <a:ext cx="2057400" cy="146304"/>
          </a:xfrm>
          <a:prstGeom prst="rect">
            <a:avLst/>
          </a:prstGeom>
          <a:solidFill>
            <a:srgbClr val="DC2626">
              <a:alpha val="85000"/>
            </a:srgbClr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1920240" y="3657600"/>
            <a:ext cx="50292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 windows ending before the same future event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55180" y="1837944"/>
            <a:ext cx="2103120" cy="2809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latin typeface="Aptos" pitchFamily="34" charset="0"/>
                <a:ea typeface="Aptos" pitchFamily="34" charset="-122"/>
                <a:cs typeface="Aptos" pitchFamily="34" charset="-120"/>
              </a:rPr>
              <a:t>event_id = 17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68680" y="4709160"/>
            <a:ext cx="4709160" cy="841248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978408" y="4709160"/>
            <a:ext cx="0" cy="841248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1069848" y="4782312"/>
            <a:ext cx="443484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these windows are randomly split, the same event can appear in training, validation and test.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80760" y="4709160"/>
            <a:ext cx="4709160" cy="841248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6190488" y="4709160"/>
            <a:ext cx="0" cy="841248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6281928" y="4782312"/>
            <a:ext cx="443484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all samples related to the same event in one partition.</a:t>
            </a:r>
            <a:endParaRPr lang="en-US" sz="11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5DE1E1-CEB4-BEC6-599D-D9DC5DBB8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When is a temporal gap required?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430E99D-EA9D-8D4C-2C2B-3008E07EB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>
                <a:highlight>
                  <a:srgbClr val="FFFF00"/>
                </a:highlight>
              </a:rPr>
              <a:t>A gap, or embargo interval</a:t>
            </a:r>
            <a:r>
              <a:rPr lang="en-GB" dirty="0"/>
              <a:t>, is an unused temporal region between partitions.</a:t>
            </a:r>
          </a:p>
          <a:p>
            <a:r>
              <a:rPr lang="en-GB" dirty="0"/>
              <a:t>|------ training ------| gap |------ validation ------|</a:t>
            </a:r>
          </a:p>
          <a:p>
            <a:r>
              <a:rPr lang="en-GB" b="1" dirty="0"/>
              <a:t>Purpose</a:t>
            </a:r>
          </a:p>
          <a:p>
            <a:r>
              <a:rPr lang="en-GB" dirty="0"/>
              <a:t>A gap reduces dependence or direct information overlap close to the split boundary.</a:t>
            </a:r>
          </a:p>
          <a:p>
            <a:r>
              <a:rPr lang="en-GB" b="1" dirty="0"/>
              <a:t>A gap may be needed when</a:t>
            </a:r>
          </a:p>
          <a:p>
            <a:pPr lvl="1"/>
            <a:r>
              <a:rPr lang="en-GB" dirty="0"/>
              <a:t>input windows are long;</a:t>
            </a:r>
          </a:p>
          <a:p>
            <a:pPr lvl="1"/>
            <a:r>
              <a:rPr lang="en-GB" dirty="0"/>
              <a:t>forecast horizons are long;</a:t>
            </a:r>
          </a:p>
          <a:p>
            <a:pPr lvl="1"/>
            <a:r>
              <a:rPr lang="en-GB" dirty="0"/>
              <a:t>target intervals overlap;</a:t>
            </a:r>
          </a:p>
          <a:p>
            <a:pPr lvl="1"/>
            <a:r>
              <a:rPr lang="en-GB" dirty="0"/>
              <a:t>rolling features use long lookback periods;</a:t>
            </a:r>
          </a:p>
          <a:p>
            <a:pPr lvl="1"/>
            <a:r>
              <a:rPr lang="en-GB" dirty="0"/>
              <a:t>labels depend on future events;</a:t>
            </a:r>
          </a:p>
          <a:p>
            <a:pPr lvl="1"/>
            <a:r>
              <a:rPr lang="en-GB" dirty="0"/>
              <a:t>events extend across boundaries;</a:t>
            </a:r>
          </a:p>
          <a:p>
            <a:pPr lvl="1"/>
            <a:r>
              <a:rPr lang="en-GB" dirty="0"/>
              <a:t>adjacent observations are nearly duplicated;</a:t>
            </a:r>
          </a:p>
          <a:p>
            <a:pPr lvl="1"/>
            <a:r>
              <a:rPr lang="en-GB" dirty="0"/>
              <a:t>a physical process has strong temporal persistence.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F53E153-45B6-18A7-5F1A-FFA361D0AA79}"/>
              </a:ext>
            </a:extLst>
          </p:cNvPr>
          <p:cNvSpPr txBox="1"/>
          <p:nvPr/>
        </p:nvSpPr>
        <p:spPr>
          <a:xfrm>
            <a:off x="5846322" y="4243971"/>
            <a:ext cx="332686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Feature lookback: the historical time span used to compute the model inputs available at prediction time.</a:t>
            </a:r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FEF97C9E-F97C-B227-9F4D-DA36C55B3D02}"/>
              </a:ext>
            </a:extLst>
          </p:cNvPr>
          <p:cNvCxnSpPr/>
          <p:nvPr/>
        </p:nvCxnSpPr>
        <p:spPr>
          <a:xfrm flipV="1">
            <a:off x="4581728" y="4474723"/>
            <a:ext cx="914400" cy="1070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140809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9072D1-F584-0029-34A1-CD4FBC327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Example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4246339-19D9-CFFE-43C8-F1C9F72EC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Suppose:</a:t>
            </a:r>
          </a:p>
          <a:p>
            <a:r>
              <a:rPr lang="en-GB" dirty="0"/>
              <a:t>input window length = 100; forecast horizon = 20</a:t>
            </a:r>
          </a:p>
          <a:p>
            <a:r>
              <a:rPr lang="en-GB" dirty="0"/>
              <a:t>A training sample ending at time 1,000 may use:</a:t>
            </a:r>
          </a:p>
          <a:p>
            <a:r>
              <a:rPr lang="en-GB" dirty="0"/>
              <a:t>input: 901–1,000; target: 1,001–1,020</a:t>
            </a:r>
          </a:p>
          <a:p>
            <a:r>
              <a:rPr lang="en-GB" dirty="0"/>
              <a:t>If validation begins at 1,001, the training target overlaps with the validation period.</a:t>
            </a:r>
          </a:p>
          <a:p>
            <a:r>
              <a:rPr lang="en-GB" dirty="0"/>
              <a:t>One solution is to stop generating training samples early enough that all training targets end before validation.</a:t>
            </a:r>
          </a:p>
          <a:p>
            <a:r>
              <a:rPr lang="en-GB" b="1" dirty="0"/>
              <a:t>Gap length</a:t>
            </a:r>
          </a:p>
          <a:p>
            <a:r>
              <a:rPr lang="en-GB" dirty="0"/>
              <a:t>There is no universal gap size.</a:t>
            </a:r>
          </a:p>
          <a:p>
            <a:r>
              <a:rPr lang="en-GB" dirty="0"/>
              <a:t>It depends on:</a:t>
            </a:r>
          </a:p>
          <a:p>
            <a:pPr lvl="1"/>
            <a:r>
              <a:rPr lang="en-GB" dirty="0"/>
              <a:t>maximum input lookback;</a:t>
            </a:r>
          </a:p>
          <a:p>
            <a:pPr lvl="1"/>
            <a:r>
              <a:rPr lang="en-GB" dirty="0"/>
              <a:t>maximum target horizon;</a:t>
            </a:r>
          </a:p>
          <a:p>
            <a:pPr lvl="1"/>
            <a:r>
              <a:rPr lang="en-GB" dirty="0"/>
              <a:t>feature lookback;</a:t>
            </a:r>
          </a:p>
          <a:p>
            <a:pPr lvl="1"/>
            <a:r>
              <a:rPr lang="en-GB" dirty="0"/>
              <a:t>label construction;</a:t>
            </a:r>
          </a:p>
          <a:p>
            <a:pPr lvl="1"/>
            <a:r>
              <a:rPr lang="en-GB" dirty="0"/>
              <a:t>physical dependence.</a:t>
            </a:r>
          </a:p>
        </p:txBody>
      </p:sp>
    </p:spTree>
    <p:extLst>
      <p:ext uri="{BB962C8B-B14F-4D97-AF65-F5344CB8AC3E}">
        <p14:creationId xmlns:p14="http://schemas.microsoft.com/office/powerpoint/2010/main" val="211285374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10528"/>
            <a:ext cx="11548872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656539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Lecture 2 — Block D: Window generation leakage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Temporal gap / embargo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29768" y="65836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A gap reduces direct overlap or strong dependence near a split boundary.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68680" y="1508760"/>
            <a:ext cx="987552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0817352" y="1426464"/>
            <a:ext cx="5029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→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" y="1874520"/>
            <a:ext cx="3657600" cy="502920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950976" y="1965046"/>
            <a:ext cx="3584448" cy="32186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1874520"/>
            <a:ext cx="1005840" cy="502920"/>
          </a:xfrm>
          <a:prstGeom prst="rect">
            <a:avLst/>
          </a:prstGeom>
          <a:solidFill>
            <a:srgbClr val="CBD5E1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608576" y="1965046"/>
            <a:ext cx="932688" cy="32186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577840" y="1874520"/>
            <a:ext cx="3657600" cy="502920"/>
          </a:xfrm>
          <a:prstGeom prst="rect">
            <a:avLst/>
          </a:prstGeom>
          <a:solidFill>
            <a:srgbClr val="F59E0B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614416" y="1965046"/>
            <a:ext cx="3584448" cy="32186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51560" y="3154680"/>
            <a:ext cx="2194560" cy="402336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 w="889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1097280" y="3227100"/>
            <a:ext cx="2103120" cy="25749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input window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0" y="3154680"/>
            <a:ext cx="2194560" cy="402336"/>
          </a:xfrm>
          <a:prstGeom prst="roundRect">
            <a:avLst>
              <a:gd name="adj" fmla="val 18182"/>
            </a:avLst>
          </a:prstGeom>
          <a:solidFill>
            <a:srgbClr val="EA580C"/>
          </a:solidFill>
          <a:ln w="889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703320" y="3227100"/>
            <a:ext cx="2103120" cy="25749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forecast horizon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0" y="3154680"/>
            <a:ext cx="2194560" cy="402336"/>
          </a:xfrm>
          <a:prstGeom prst="roundRect">
            <a:avLst>
              <a:gd name="adj" fmla="val 18182"/>
            </a:avLst>
          </a:prstGeom>
          <a:solidFill>
            <a:srgbClr val="0F766E"/>
          </a:solidFill>
          <a:ln w="889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446520" y="3227100"/>
            <a:ext cx="2103120" cy="25749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rolling features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0" y="3931920"/>
            <a:ext cx="2194560" cy="402336"/>
          </a:xfrm>
          <a:prstGeom prst="roundRect">
            <a:avLst>
              <a:gd name="adj" fmla="val 18182"/>
            </a:avLst>
          </a:prstGeom>
          <a:solidFill>
            <a:srgbClr val="DC2626"/>
          </a:solidFill>
          <a:ln w="889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703320" y="4004340"/>
            <a:ext cx="2103120" cy="25749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spans boundary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69848" y="4559015"/>
            <a:ext cx="960120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length depends on input lookback, target horizon, feature lookback, event duration and temporal persistence.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280160" y="5623560"/>
            <a:ext cx="9052560" cy="384048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1389888" y="5623560"/>
            <a:ext cx="0" cy="384048"/>
          </a:xfrm>
          <a:prstGeom prst="line">
            <a:avLst/>
          </a:prstGeom>
          <a:noFill/>
          <a:ln w="381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1481328" y="5696712"/>
            <a:ext cx="87782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gap is not a universal fix; it prevents specific forms of overlap when those forms are present.</a:t>
            </a:r>
            <a:endParaRPr lang="en-US" sz="11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2E5A253-7F45-6764-6F81-AA6FD293D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determine safe window boundaries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6D5A6AE-0BD0-3C9D-B1FF-24F4E599C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For every sample, define four quantities:</a:t>
            </a:r>
          </a:p>
          <a:p>
            <a:pPr lvl="1"/>
            <a:r>
              <a:rPr lang="en-GB" dirty="0"/>
              <a:t>input start, input end</a:t>
            </a:r>
          </a:p>
          <a:p>
            <a:pPr lvl="1"/>
            <a:r>
              <a:rPr lang="en-GB" dirty="0"/>
              <a:t>target start, target end</a:t>
            </a:r>
          </a:p>
          <a:p>
            <a:r>
              <a:rPr lang="en-GB" dirty="0"/>
              <a:t>Example:</a:t>
            </a:r>
          </a:p>
          <a:p>
            <a:pPr lvl="1"/>
            <a:r>
              <a:rPr lang="en-GB" dirty="0"/>
              <a:t>Input interval: [</a:t>
            </a:r>
            <a:r>
              <a:rPr lang="en-GB" dirty="0" err="1"/>
              <a:t>input_start</a:t>
            </a:r>
            <a:r>
              <a:rPr lang="en-GB" dirty="0"/>
              <a:t>, </a:t>
            </a:r>
            <a:r>
              <a:rPr lang="en-GB" dirty="0" err="1"/>
              <a:t>input_end</a:t>
            </a:r>
            <a:r>
              <a:rPr lang="en-GB" dirty="0"/>
              <a:t>]</a:t>
            </a:r>
          </a:p>
          <a:p>
            <a:pPr lvl="1"/>
            <a:r>
              <a:rPr lang="en-GB" dirty="0"/>
              <a:t>Target interval: [</a:t>
            </a:r>
            <a:r>
              <a:rPr lang="en-GB" dirty="0" err="1"/>
              <a:t>target_start</a:t>
            </a:r>
            <a:r>
              <a:rPr lang="en-GB" dirty="0"/>
              <a:t>, </a:t>
            </a:r>
            <a:r>
              <a:rPr lang="en-GB" dirty="0" err="1"/>
              <a:t>target_end</a:t>
            </a:r>
            <a:r>
              <a:rPr lang="en-GB" dirty="0"/>
              <a:t>]</a:t>
            </a:r>
          </a:p>
          <a:p>
            <a:r>
              <a:rPr lang="en-GB" b="1" dirty="0"/>
              <a:t>Training sample condition</a:t>
            </a:r>
          </a:p>
          <a:p>
            <a:pPr lvl="1"/>
            <a:r>
              <a:rPr lang="en-GB" dirty="0"/>
              <a:t>A training sample is valid only if:</a:t>
            </a:r>
          </a:p>
          <a:p>
            <a:pPr lvl="1"/>
            <a:r>
              <a:rPr lang="en-GB" dirty="0" err="1"/>
              <a:t>input_end</a:t>
            </a:r>
            <a:r>
              <a:rPr lang="en-GB" dirty="0"/>
              <a:t> is inside the training interval</a:t>
            </a:r>
          </a:p>
          <a:p>
            <a:pPr lvl="1"/>
            <a:r>
              <a:rPr lang="en-GB" dirty="0"/>
              <a:t>and</a:t>
            </a:r>
          </a:p>
          <a:p>
            <a:pPr lvl="1"/>
            <a:r>
              <a:rPr lang="en-GB" dirty="0" err="1"/>
              <a:t>target_end</a:t>
            </a:r>
            <a:r>
              <a:rPr lang="en-GB" dirty="0"/>
              <a:t> is inside the training interval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361922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BDE4B0-43CD-27F0-B734-3EC905570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Validation sample condition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C4504E0-4EE0-8435-2ED4-341286F1C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5418666" cy="3880773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A validation sample </a:t>
            </a:r>
            <a:r>
              <a:rPr lang="en-GB" dirty="0">
                <a:highlight>
                  <a:srgbClr val="FFFF00"/>
                </a:highlight>
              </a:rPr>
              <a:t>is valid only if its target belongs to the validation interval.</a:t>
            </a:r>
          </a:p>
          <a:p>
            <a:r>
              <a:rPr lang="en-GB" dirty="0">
                <a:highlight>
                  <a:srgbClr val="FFFF00"/>
                </a:highlight>
              </a:rPr>
              <a:t>Its input may be handled in two ways.</a:t>
            </a:r>
          </a:p>
          <a:p>
            <a:r>
              <a:rPr lang="en-GB" b="1" dirty="0">
                <a:highlight>
                  <a:srgbClr val="FFFF00"/>
                </a:highlight>
              </a:rPr>
              <a:t>Strict partitioning</a:t>
            </a:r>
          </a:p>
          <a:p>
            <a:pPr lvl="1"/>
            <a:r>
              <a:rPr lang="en-GB" dirty="0"/>
              <a:t>Both input and target must be entirely inside validation.</a:t>
            </a:r>
          </a:p>
          <a:p>
            <a:pPr lvl="1"/>
            <a:r>
              <a:rPr lang="en-GB" dirty="0"/>
              <a:t>Advantages:</a:t>
            </a:r>
          </a:p>
          <a:p>
            <a:pPr lvl="2"/>
            <a:r>
              <a:rPr lang="en-GB" dirty="0"/>
              <a:t>complete separation;</a:t>
            </a:r>
          </a:p>
          <a:p>
            <a:pPr lvl="2"/>
            <a:r>
              <a:rPr lang="en-GB" dirty="0"/>
              <a:t>simple interpretation.</a:t>
            </a:r>
          </a:p>
          <a:p>
            <a:r>
              <a:rPr lang="en-GB" b="1" dirty="0">
                <a:highlight>
                  <a:srgbClr val="FFFF00"/>
                </a:highlight>
              </a:rPr>
              <a:t>Operational-context evaluation</a:t>
            </a:r>
          </a:p>
          <a:p>
            <a:pPr lvl="1"/>
            <a:r>
              <a:rPr lang="en-GB" dirty="0"/>
              <a:t>The target is in validation, while the input may include earlier historical observations.</a:t>
            </a:r>
          </a:p>
          <a:p>
            <a:pPr lvl="1"/>
            <a:r>
              <a:rPr lang="en-GB" dirty="0"/>
              <a:t>Advantages:</a:t>
            </a:r>
          </a:p>
          <a:p>
            <a:pPr lvl="2"/>
            <a:r>
              <a:rPr lang="en-GB" dirty="0"/>
              <a:t>reproduces realistic online forecasting;</a:t>
            </a:r>
          </a:p>
          <a:p>
            <a:pPr lvl="2"/>
            <a:r>
              <a:rPr lang="en-GB" dirty="0"/>
              <a:t>allows predictions at the beginning of the validation interval.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CFB19CA-D20E-F10D-60A2-D250A687B44D}"/>
              </a:ext>
            </a:extLst>
          </p:cNvPr>
          <p:cNvSpPr txBox="1"/>
          <p:nvPr/>
        </p:nvSpPr>
        <p:spPr>
          <a:xfrm>
            <a:off x="7159557" y="4855858"/>
            <a:ext cx="494813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400" b="1" dirty="0">
                <a:solidFill>
                  <a:schemeClr val="bg1">
                    <a:lumMod val="85000"/>
                  </a:schemeClr>
                </a:solidFill>
              </a:rPr>
              <a:t>Historical observations from earlier periods may still be used as inputs when they would be available at prediction time.</a:t>
            </a:r>
            <a:endParaRPr lang="en-GB" sz="1400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buNone/>
            </a:pPr>
            <a:endParaRPr lang="en-GB" sz="1400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buNone/>
            </a:pPr>
            <a:r>
              <a:rPr lang="en-GB" sz="1400" dirty="0">
                <a:solidFill>
                  <a:schemeClr val="bg1">
                    <a:lumMod val="85000"/>
                  </a:schemeClr>
                </a:solidFill>
              </a:rPr>
              <a:t>The same calendar period can serve as validation during development and later serve as past context for predictions in a subsequent test period.</a:t>
            </a:r>
          </a:p>
        </p:txBody>
      </p:sp>
    </p:spTree>
    <p:extLst>
      <p:ext uri="{BB962C8B-B14F-4D97-AF65-F5344CB8AC3E}">
        <p14:creationId xmlns:p14="http://schemas.microsoft.com/office/powerpoint/2010/main" val="13611152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542A23-6422-1139-5E12-319260724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Auditing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DACB589-716F-A8BD-F906-045F9354B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/>
              <a:t>Implementation recommendation</a:t>
            </a:r>
          </a:p>
          <a:p>
            <a:pPr lvl="1"/>
            <a:r>
              <a:rPr lang="en-GB" dirty="0"/>
              <a:t>Store explicit metadata for every sample:</a:t>
            </a:r>
          </a:p>
          <a:p>
            <a:pPr lvl="1"/>
            <a:r>
              <a:rPr lang="en-GB" dirty="0" err="1"/>
              <a:t>entity_id</a:t>
            </a:r>
            <a:endParaRPr lang="en-GB" dirty="0"/>
          </a:p>
          <a:p>
            <a:pPr lvl="1"/>
            <a:r>
              <a:rPr lang="en-GB" dirty="0" err="1"/>
              <a:t>sequence_id</a:t>
            </a:r>
            <a:endParaRPr lang="en-GB" dirty="0"/>
          </a:p>
          <a:p>
            <a:pPr lvl="1"/>
            <a:r>
              <a:rPr lang="en-GB" dirty="0" err="1"/>
              <a:t>input_start</a:t>
            </a:r>
            <a:endParaRPr lang="en-GB" dirty="0"/>
          </a:p>
          <a:p>
            <a:pPr lvl="1"/>
            <a:r>
              <a:rPr lang="en-GB" dirty="0" err="1"/>
              <a:t>input_end</a:t>
            </a:r>
            <a:endParaRPr lang="en-GB" dirty="0"/>
          </a:p>
          <a:p>
            <a:pPr lvl="1"/>
            <a:r>
              <a:rPr lang="en-GB" dirty="0" err="1"/>
              <a:t>target_start</a:t>
            </a:r>
            <a:endParaRPr lang="en-GB" dirty="0"/>
          </a:p>
          <a:p>
            <a:pPr lvl="1"/>
            <a:r>
              <a:rPr lang="en-GB" dirty="0" err="1"/>
              <a:t>target_end</a:t>
            </a:r>
            <a:endParaRPr lang="en-GB" dirty="0"/>
          </a:p>
          <a:p>
            <a:pPr lvl="1"/>
            <a:r>
              <a:rPr lang="en-GB" dirty="0" err="1"/>
              <a:t>event_id</a:t>
            </a:r>
            <a:endParaRPr lang="en-GB" dirty="0"/>
          </a:p>
          <a:p>
            <a:pPr lvl="1"/>
            <a:r>
              <a:rPr lang="en-GB" dirty="0"/>
              <a:t>partition</a:t>
            </a:r>
          </a:p>
          <a:p>
            <a:r>
              <a:rPr lang="en-GB" dirty="0"/>
              <a:t>This makes overlap and leakage checks auditable.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762741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10528"/>
            <a:ext cx="11548872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656539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Lecture 2 — Block D: Window generation leakage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 window boundaries need explicit metadata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29768" y="65836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75569"/>
                </a:solidFill>
              </a:rPr>
              <a:t>Store interval and group identifiers </a:t>
            </a:r>
            <a:r>
              <a:rPr lang="en-US" sz="1150" b="1" dirty="0">
                <a:solidFill>
                  <a:srgbClr val="475569"/>
                </a:solidFill>
                <a:highlight>
                  <a:srgbClr val="FFFF00"/>
                </a:highlight>
              </a:rPr>
              <a:t>for every generated sample</a:t>
            </a:r>
            <a:r>
              <a:rPr lang="en-US" sz="1150" b="1" dirty="0">
                <a:solidFill>
                  <a:srgbClr val="475569"/>
                </a:solidFill>
              </a:rPr>
              <a:t>.</a:t>
            </a:r>
            <a:endParaRPr lang="en-US" sz="1150" b="1" dirty="0"/>
          </a:p>
        </p:txBody>
      </p:sp>
      <p:sp>
        <p:nvSpPr>
          <p:cNvPr id="6" name="Shape 4"/>
          <p:cNvSpPr/>
          <p:nvPr/>
        </p:nvSpPr>
        <p:spPr>
          <a:xfrm>
            <a:off x="868680" y="1234440"/>
            <a:ext cx="987552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0817352" y="1152144"/>
            <a:ext cx="5029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→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0" y="1600200"/>
            <a:ext cx="2834640" cy="347472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865376" y="1662745"/>
            <a:ext cx="2761488" cy="22238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interval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83480" y="1600200"/>
            <a:ext cx="1600200" cy="347472"/>
          </a:xfrm>
          <a:prstGeom prst="rect">
            <a:avLst/>
          </a:prstGeom>
          <a:solidFill>
            <a:srgbClr val="DC2626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020056" y="1662745"/>
            <a:ext cx="1527048" cy="22238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interval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00200" y="2011680"/>
            <a:ext cx="8229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input_start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60520" y="2011680"/>
            <a:ext cx="8229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input_end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617720" y="2267712"/>
            <a:ext cx="9144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target_start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263640" y="2011680"/>
            <a:ext cx="8229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target_end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77240" y="2788920"/>
            <a:ext cx="1143000" cy="402336"/>
          </a:xfrm>
          <a:prstGeom prst="rect">
            <a:avLst/>
          </a:prstGeom>
          <a:solidFill>
            <a:srgbClr val="1E293B"/>
          </a:solidFill>
          <a:ln w="1016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804672" y="2880360"/>
            <a:ext cx="108813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entity_id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1920240" y="2788920"/>
            <a:ext cx="1143000" cy="402336"/>
          </a:xfrm>
          <a:prstGeom prst="rect">
            <a:avLst/>
          </a:prstGeom>
          <a:solidFill>
            <a:srgbClr val="1E293B"/>
          </a:solidFill>
          <a:ln w="1016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947672" y="2880360"/>
            <a:ext cx="108813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sequence_id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3063240" y="2788920"/>
            <a:ext cx="1325880" cy="402336"/>
          </a:xfrm>
          <a:prstGeom prst="rect">
            <a:avLst/>
          </a:prstGeom>
          <a:solidFill>
            <a:srgbClr val="1E293B"/>
          </a:solidFill>
          <a:ln w="1016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3090672" y="2880360"/>
            <a:ext cx="127101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input_start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4389120" y="2788920"/>
            <a:ext cx="1097280" cy="402336"/>
          </a:xfrm>
          <a:prstGeom prst="rect">
            <a:avLst/>
          </a:prstGeom>
          <a:solidFill>
            <a:srgbClr val="1E293B"/>
          </a:solidFill>
          <a:ln w="1016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416552" y="2880360"/>
            <a:ext cx="104241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input_end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5486400" y="2788920"/>
            <a:ext cx="1005840" cy="402336"/>
          </a:xfrm>
          <a:prstGeom prst="rect">
            <a:avLst/>
          </a:prstGeom>
          <a:solidFill>
            <a:srgbClr val="1E293B"/>
          </a:solidFill>
          <a:ln w="1016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5513832" y="2880360"/>
            <a:ext cx="95097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target_start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6492240" y="2788920"/>
            <a:ext cx="1143000" cy="402336"/>
          </a:xfrm>
          <a:prstGeom prst="rect">
            <a:avLst/>
          </a:prstGeom>
          <a:solidFill>
            <a:srgbClr val="1E293B"/>
          </a:solidFill>
          <a:ln w="1016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519672" y="2880360"/>
            <a:ext cx="108813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target_end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7635240" y="2788920"/>
            <a:ext cx="914400" cy="402336"/>
          </a:xfrm>
          <a:prstGeom prst="rect">
            <a:avLst/>
          </a:prstGeom>
          <a:solidFill>
            <a:srgbClr val="1E293B"/>
          </a:solidFill>
          <a:ln w="1016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7662672" y="2880360"/>
            <a:ext cx="85953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event_id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8549640" y="2788920"/>
            <a:ext cx="1005840" cy="402336"/>
          </a:xfrm>
          <a:prstGeom prst="rect">
            <a:avLst/>
          </a:prstGeom>
          <a:solidFill>
            <a:srgbClr val="1E293B"/>
          </a:solidFill>
          <a:ln w="1016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8577072" y="2880360"/>
            <a:ext cx="950976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partition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777240" y="3209544"/>
            <a:ext cx="1143000" cy="347472"/>
          </a:xfrm>
          <a:prstGeom prst="rect">
            <a:avLst/>
          </a:prstGeom>
          <a:solidFill>
            <a:srgbClr val="EEF2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804672" y="3291840"/>
            <a:ext cx="108813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M03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1920240" y="3209544"/>
            <a:ext cx="1143000" cy="347472"/>
          </a:xfrm>
          <a:prstGeom prst="rect">
            <a:avLst/>
          </a:prstGeom>
          <a:solidFill>
            <a:srgbClr val="EEF2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1947672" y="3291840"/>
            <a:ext cx="108813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C12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3063240" y="3209544"/>
            <a:ext cx="1325880" cy="347472"/>
          </a:xfrm>
          <a:prstGeom prst="rect">
            <a:avLst/>
          </a:prstGeom>
          <a:solidFill>
            <a:srgbClr val="EEF2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3090672" y="3291840"/>
            <a:ext cx="127101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901</a:t>
            </a:r>
            <a:endParaRPr lang="en-US" sz="830" dirty="0"/>
          </a:p>
        </p:txBody>
      </p:sp>
      <p:sp>
        <p:nvSpPr>
          <p:cNvPr id="38" name="Shape 36"/>
          <p:cNvSpPr/>
          <p:nvPr/>
        </p:nvSpPr>
        <p:spPr>
          <a:xfrm>
            <a:off x="4389120" y="3209544"/>
            <a:ext cx="1097280" cy="347472"/>
          </a:xfrm>
          <a:prstGeom prst="rect">
            <a:avLst/>
          </a:prstGeom>
          <a:solidFill>
            <a:srgbClr val="EEF2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4416552" y="3291840"/>
            <a:ext cx="104241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1000</a:t>
            </a:r>
            <a:endParaRPr lang="en-US" sz="830" dirty="0"/>
          </a:p>
        </p:txBody>
      </p:sp>
      <p:sp>
        <p:nvSpPr>
          <p:cNvPr id="40" name="Shape 38"/>
          <p:cNvSpPr/>
          <p:nvPr/>
        </p:nvSpPr>
        <p:spPr>
          <a:xfrm>
            <a:off x="5486400" y="3209544"/>
            <a:ext cx="1005840" cy="347472"/>
          </a:xfrm>
          <a:prstGeom prst="rect">
            <a:avLst/>
          </a:prstGeom>
          <a:solidFill>
            <a:srgbClr val="EEF2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5513832" y="3291840"/>
            <a:ext cx="95097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1001</a:t>
            </a:r>
            <a:endParaRPr lang="en-US" sz="830" dirty="0"/>
          </a:p>
        </p:txBody>
      </p:sp>
      <p:sp>
        <p:nvSpPr>
          <p:cNvPr id="42" name="Shape 40"/>
          <p:cNvSpPr/>
          <p:nvPr/>
        </p:nvSpPr>
        <p:spPr>
          <a:xfrm>
            <a:off x="6492240" y="3209544"/>
            <a:ext cx="1143000" cy="347472"/>
          </a:xfrm>
          <a:prstGeom prst="rect">
            <a:avLst/>
          </a:prstGeom>
          <a:solidFill>
            <a:srgbClr val="EEF2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6519672" y="3291840"/>
            <a:ext cx="108813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1020</a:t>
            </a:r>
            <a:endParaRPr lang="en-US" sz="830" dirty="0"/>
          </a:p>
        </p:txBody>
      </p:sp>
      <p:sp>
        <p:nvSpPr>
          <p:cNvPr id="44" name="Shape 42"/>
          <p:cNvSpPr/>
          <p:nvPr/>
        </p:nvSpPr>
        <p:spPr>
          <a:xfrm>
            <a:off x="7635240" y="3209544"/>
            <a:ext cx="914400" cy="347472"/>
          </a:xfrm>
          <a:prstGeom prst="rect">
            <a:avLst/>
          </a:prstGeom>
          <a:solidFill>
            <a:srgbClr val="EEF2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7662672" y="3291840"/>
            <a:ext cx="85953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E17</a:t>
            </a:r>
            <a:endParaRPr lang="en-US" sz="830" dirty="0"/>
          </a:p>
        </p:txBody>
      </p:sp>
      <p:sp>
        <p:nvSpPr>
          <p:cNvPr id="46" name="Shape 44"/>
          <p:cNvSpPr/>
          <p:nvPr/>
        </p:nvSpPr>
        <p:spPr>
          <a:xfrm>
            <a:off x="8549640" y="3209544"/>
            <a:ext cx="1005840" cy="347472"/>
          </a:xfrm>
          <a:prstGeom prst="rect">
            <a:avLst/>
          </a:prstGeom>
          <a:solidFill>
            <a:srgbClr val="EEF2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8577072" y="3291840"/>
            <a:ext cx="95097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</a:t>
            </a:r>
            <a:endParaRPr lang="en-US" sz="830" dirty="0"/>
          </a:p>
        </p:txBody>
      </p:sp>
      <p:sp>
        <p:nvSpPr>
          <p:cNvPr id="48" name="Shape 46"/>
          <p:cNvSpPr/>
          <p:nvPr/>
        </p:nvSpPr>
        <p:spPr>
          <a:xfrm>
            <a:off x="777240" y="3593592"/>
            <a:ext cx="1143000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804672" y="3675888"/>
            <a:ext cx="108813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M03</a:t>
            </a:r>
            <a:endParaRPr lang="en-US" sz="830" dirty="0"/>
          </a:p>
        </p:txBody>
      </p:sp>
      <p:sp>
        <p:nvSpPr>
          <p:cNvPr id="50" name="Shape 48"/>
          <p:cNvSpPr/>
          <p:nvPr/>
        </p:nvSpPr>
        <p:spPr>
          <a:xfrm>
            <a:off x="1920240" y="3593592"/>
            <a:ext cx="1143000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9"/>
          <p:cNvSpPr/>
          <p:nvPr/>
        </p:nvSpPr>
        <p:spPr>
          <a:xfrm>
            <a:off x="1947672" y="3675888"/>
            <a:ext cx="108813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C13</a:t>
            </a:r>
            <a:endParaRPr lang="en-US" sz="830" dirty="0"/>
          </a:p>
        </p:txBody>
      </p:sp>
      <p:sp>
        <p:nvSpPr>
          <p:cNvPr id="52" name="Shape 50"/>
          <p:cNvSpPr/>
          <p:nvPr/>
        </p:nvSpPr>
        <p:spPr>
          <a:xfrm>
            <a:off x="3063240" y="3593592"/>
            <a:ext cx="1325880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Text 51"/>
          <p:cNvSpPr/>
          <p:nvPr/>
        </p:nvSpPr>
        <p:spPr>
          <a:xfrm>
            <a:off x="3090672" y="3675888"/>
            <a:ext cx="127101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1101</a:t>
            </a:r>
            <a:endParaRPr lang="en-US" sz="830" dirty="0"/>
          </a:p>
        </p:txBody>
      </p:sp>
      <p:sp>
        <p:nvSpPr>
          <p:cNvPr id="54" name="Shape 52"/>
          <p:cNvSpPr/>
          <p:nvPr/>
        </p:nvSpPr>
        <p:spPr>
          <a:xfrm>
            <a:off x="4389120" y="3593592"/>
            <a:ext cx="1097280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/>
          <p:nvPr/>
        </p:nvSpPr>
        <p:spPr>
          <a:xfrm>
            <a:off x="4416552" y="3675888"/>
            <a:ext cx="104241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1200</a:t>
            </a:r>
            <a:endParaRPr lang="en-US" sz="830" dirty="0"/>
          </a:p>
        </p:txBody>
      </p:sp>
      <p:sp>
        <p:nvSpPr>
          <p:cNvPr id="56" name="Shape 54"/>
          <p:cNvSpPr/>
          <p:nvPr/>
        </p:nvSpPr>
        <p:spPr>
          <a:xfrm>
            <a:off x="5486400" y="3593592"/>
            <a:ext cx="1005840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Text 55"/>
          <p:cNvSpPr/>
          <p:nvPr/>
        </p:nvSpPr>
        <p:spPr>
          <a:xfrm>
            <a:off x="5513832" y="3675888"/>
            <a:ext cx="95097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1201</a:t>
            </a:r>
            <a:endParaRPr lang="en-US" sz="830" dirty="0"/>
          </a:p>
        </p:txBody>
      </p:sp>
      <p:sp>
        <p:nvSpPr>
          <p:cNvPr id="58" name="Shape 56"/>
          <p:cNvSpPr/>
          <p:nvPr/>
        </p:nvSpPr>
        <p:spPr>
          <a:xfrm>
            <a:off x="6492240" y="3593592"/>
            <a:ext cx="1143000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/>
          <p:nvPr/>
        </p:nvSpPr>
        <p:spPr>
          <a:xfrm>
            <a:off x="6519672" y="3675888"/>
            <a:ext cx="108813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1220</a:t>
            </a:r>
            <a:endParaRPr lang="en-US" sz="830" dirty="0"/>
          </a:p>
        </p:txBody>
      </p:sp>
      <p:sp>
        <p:nvSpPr>
          <p:cNvPr id="60" name="Shape 58"/>
          <p:cNvSpPr/>
          <p:nvPr/>
        </p:nvSpPr>
        <p:spPr>
          <a:xfrm>
            <a:off x="7635240" y="3593592"/>
            <a:ext cx="914400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Text 59"/>
          <p:cNvSpPr/>
          <p:nvPr/>
        </p:nvSpPr>
        <p:spPr>
          <a:xfrm>
            <a:off x="7662672" y="3675888"/>
            <a:ext cx="85953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830" dirty="0"/>
          </a:p>
        </p:txBody>
      </p:sp>
      <p:sp>
        <p:nvSpPr>
          <p:cNvPr id="62" name="Shape 60"/>
          <p:cNvSpPr/>
          <p:nvPr/>
        </p:nvSpPr>
        <p:spPr>
          <a:xfrm>
            <a:off x="8549640" y="3593592"/>
            <a:ext cx="1005840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Text 61"/>
          <p:cNvSpPr/>
          <p:nvPr/>
        </p:nvSpPr>
        <p:spPr>
          <a:xfrm>
            <a:off x="8577072" y="3675888"/>
            <a:ext cx="95097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</a:t>
            </a:r>
            <a:endParaRPr lang="en-US" sz="830" dirty="0"/>
          </a:p>
        </p:txBody>
      </p:sp>
      <p:sp>
        <p:nvSpPr>
          <p:cNvPr id="64" name="Shape 62"/>
          <p:cNvSpPr/>
          <p:nvPr/>
        </p:nvSpPr>
        <p:spPr>
          <a:xfrm>
            <a:off x="777240" y="3977640"/>
            <a:ext cx="1143000" cy="347472"/>
          </a:xfrm>
          <a:prstGeom prst="rect">
            <a:avLst/>
          </a:prstGeom>
          <a:solidFill>
            <a:srgbClr val="EEF2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Text 63"/>
          <p:cNvSpPr/>
          <p:nvPr/>
        </p:nvSpPr>
        <p:spPr>
          <a:xfrm>
            <a:off x="804672" y="4059936"/>
            <a:ext cx="108813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M07</a:t>
            </a:r>
            <a:endParaRPr lang="en-US" sz="830" dirty="0"/>
          </a:p>
        </p:txBody>
      </p:sp>
      <p:sp>
        <p:nvSpPr>
          <p:cNvPr id="66" name="Shape 64"/>
          <p:cNvSpPr/>
          <p:nvPr/>
        </p:nvSpPr>
        <p:spPr>
          <a:xfrm>
            <a:off x="1920240" y="3977640"/>
            <a:ext cx="1143000" cy="347472"/>
          </a:xfrm>
          <a:prstGeom prst="rect">
            <a:avLst/>
          </a:prstGeom>
          <a:solidFill>
            <a:srgbClr val="EEF2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Text 65"/>
          <p:cNvSpPr/>
          <p:nvPr/>
        </p:nvSpPr>
        <p:spPr>
          <a:xfrm>
            <a:off x="1947672" y="4059936"/>
            <a:ext cx="108813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C01</a:t>
            </a:r>
            <a:endParaRPr lang="en-US" sz="830" dirty="0"/>
          </a:p>
        </p:txBody>
      </p:sp>
      <p:sp>
        <p:nvSpPr>
          <p:cNvPr id="68" name="Shape 66"/>
          <p:cNvSpPr/>
          <p:nvPr/>
        </p:nvSpPr>
        <p:spPr>
          <a:xfrm>
            <a:off x="3063240" y="3977640"/>
            <a:ext cx="1325880" cy="347472"/>
          </a:xfrm>
          <a:prstGeom prst="rect">
            <a:avLst/>
          </a:prstGeom>
          <a:solidFill>
            <a:srgbClr val="EEF2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Text 67"/>
          <p:cNvSpPr/>
          <p:nvPr/>
        </p:nvSpPr>
        <p:spPr>
          <a:xfrm>
            <a:off x="3090672" y="4059936"/>
            <a:ext cx="127101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201</a:t>
            </a:r>
            <a:endParaRPr lang="en-US" sz="830" dirty="0"/>
          </a:p>
        </p:txBody>
      </p:sp>
      <p:sp>
        <p:nvSpPr>
          <p:cNvPr id="70" name="Shape 68"/>
          <p:cNvSpPr/>
          <p:nvPr/>
        </p:nvSpPr>
        <p:spPr>
          <a:xfrm>
            <a:off x="4389120" y="3977640"/>
            <a:ext cx="1097280" cy="347472"/>
          </a:xfrm>
          <a:prstGeom prst="rect">
            <a:avLst/>
          </a:prstGeom>
          <a:solidFill>
            <a:srgbClr val="EEF2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Text 69"/>
          <p:cNvSpPr/>
          <p:nvPr/>
        </p:nvSpPr>
        <p:spPr>
          <a:xfrm>
            <a:off x="4416552" y="4059936"/>
            <a:ext cx="104241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300</a:t>
            </a:r>
            <a:endParaRPr lang="en-US" sz="830" dirty="0"/>
          </a:p>
        </p:txBody>
      </p:sp>
      <p:sp>
        <p:nvSpPr>
          <p:cNvPr id="72" name="Shape 70"/>
          <p:cNvSpPr/>
          <p:nvPr/>
        </p:nvSpPr>
        <p:spPr>
          <a:xfrm>
            <a:off x="5486400" y="3977640"/>
            <a:ext cx="1005840" cy="347472"/>
          </a:xfrm>
          <a:prstGeom prst="rect">
            <a:avLst/>
          </a:prstGeom>
          <a:solidFill>
            <a:srgbClr val="EEF2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Text 71"/>
          <p:cNvSpPr/>
          <p:nvPr/>
        </p:nvSpPr>
        <p:spPr>
          <a:xfrm>
            <a:off x="5513832" y="4059936"/>
            <a:ext cx="95097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301</a:t>
            </a:r>
            <a:endParaRPr lang="en-US" sz="830" dirty="0"/>
          </a:p>
        </p:txBody>
      </p:sp>
      <p:sp>
        <p:nvSpPr>
          <p:cNvPr id="74" name="Shape 72"/>
          <p:cNvSpPr/>
          <p:nvPr/>
        </p:nvSpPr>
        <p:spPr>
          <a:xfrm>
            <a:off x="6492240" y="3977640"/>
            <a:ext cx="1143000" cy="347472"/>
          </a:xfrm>
          <a:prstGeom prst="rect">
            <a:avLst/>
          </a:prstGeom>
          <a:solidFill>
            <a:srgbClr val="EEF2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Text 73"/>
          <p:cNvSpPr/>
          <p:nvPr/>
        </p:nvSpPr>
        <p:spPr>
          <a:xfrm>
            <a:off x="6519672" y="4059936"/>
            <a:ext cx="108813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320</a:t>
            </a:r>
            <a:endParaRPr lang="en-US" sz="830" dirty="0"/>
          </a:p>
        </p:txBody>
      </p:sp>
      <p:sp>
        <p:nvSpPr>
          <p:cNvPr id="76" name="Shape 74"/>
          <p:cNvSpPr/>
          <p:nvPr/>
        </p:nvSpPr>
        <p:spPr>
          <a:xfrm>
            <a:off x="7635240" y="3977640"/>
            <a:ext cx="914400" cy="347472"/>
          </a:xfrm>
          <a:prstGeom prst="rect">
            <a:avLst/>
          </a:prstGeom>
          <a:solidFill>
            <a:srgbClr val="EEF2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7" name="Text 75"/>
          <p:cNvSpPr/>
          <p:nvPr/>
        </p:nvSpPr>
        <p:spPr>
          <a:xfrm>
            <a:off x="7662672" y="4059936"/>
            <a:ext cx="85953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E21</a:t>
            </a:r>
            <a:endParaRPr lang="en-US" sz="830" dirty="0"/>
          </a:p>
        </p:txBody>
      </p:sp>
      <p:sp>
        <p:nvSpPr>
          <p:cNvPr id="78" name="Shape 76"/>
          <p:cNvSpPr/>
          <p:nvPr/>
        </p:nvSpPr>
        <p:spPr>
          <a:xfrm>
            <a:off x="8549640" y="3977640"/>
            <a:ext cx="1005840" cy="347472"/>
          </a:xfrm>
          <a:prstGeom prst="rect">
            <a:avLst/>
          </a:prstGeom>
          <a:solidFill>
            <a:srgbClr val="EEF2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" name="Text 77"/>
          <p:cNvSpPr/>
          <p:nvPr/>
        </p:nvSpPr>
        <p:spPr>
          <a:xfrm>
            <a:off x="8577072" y="4059936"/>
            <a:ext cx="950976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830" dirty="0"/>
          </a:p>
        </p:txBody>
      </p:sp>
      <p:sp>
        <p:nvSpPr>
          <p:cNvPr id="80" name="Shape 78"/>
          <p:cNvSpPr/>
          <p:nvPr/>
        </p:nvSpPr>
        <p:spPr>
          <a:xfrm>
            <a:off x="1051560" y="5074920"/>
            <a:ext cx="9692640" cy="621792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1" name="Shape 79"/>
          <p:cNvSpPr/>
          <p:nvPr/>
        </p:nvSpPr>
        <p:spPr>
          <a:xfrm>
            <a:off x="1161288" y="5074920"/>
            <a:ext cx="0" cy="621792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2" name="Text 80"/>
          <p:cNvSpPr/>
          <p:nvPr/>
        </p:nvSpPr>
        <p:spPr>
          <a:xfrm>
            <a:off x="1252728" y="5148072"/>
            <a:ext cx="941832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Auditable sample metadata makes leakage checks explicit and reproducible.</a:t>
            </a:r>
            <a:endParaRPr lang="en-US" sz="11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70DBBC0-1E42-8F12-679D-E4DAD8938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Window count is not the effective sample size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E5FCFA1-B056-8EFB-23BC-AF7B0B7CF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Overlapping windows can produce a very large nominal dataset.</a:t>
            </a:r>
          </a:p>
          <a:p>
            <a:r>
              <a:rPr lang="en-GB" dirty="0"/>
              <a:t>Example:</a:t>
            </a:r>
          </a:p>
          <a:p>
            <a:r>
              <a:rPr lang="en-GB" dirty="0"/>
              <a:t>one recording length = 100,000 time steps, window length = 1,000, stride = 1</a:t>
            </a:r>
          </a:p>
          <a:p>
            <a:r>
              <a:rPr lang="en-GB" dirty="0"/>
              <a:t>Approximate number of windows: 99,001</a:t>
            </a:r>
          </a:p>
          <a:p>
            <a:r>
              <a:rPr lang="en-GB" b="1" dirty="0"/>
              <a:t>This does not mean the dataset contains 99,001 independent examples.</a:t>
            </a:r>
          </a:p>
          <a:p>
            <a:r>
              <a:rPr lang="en-GB" dirty="0"/>
              <a:t>Consecutive windows differ by only one time step.</a:t>
            </a:r>
          </a:p>
          <a:p>
            <a:r>
              <a:rPr lang="en-GB" b="1" dirty="0"/>
              <a:t>Consequences</a:t>
            </a:r>
          </a:p>
          <a:p>
            <a:pPr lvl="1"/>
            <a:r>
              <a:rPr lang="en-GB" dirty="0"/>
              <a:t>effective information content is much smaller;</a:t>
            </a:r>
          </a:p>
          <a:p>
            <a:pPr lvl="1"/>
            <a:r>
              <a:rPr lang="en-GB" dirty="0"/>
              <a:t>confidence intervals based on independent samples may be misleading;</a:t>
            </a:r>
          </a:p>
          <a:p>
            <a:pPr lvl="1"/>
            <a:r>
              <a:rPr lang="en-GB" dirty="0"/>
              <a:t>class counts may overstate the number of independent events;</a:t>
            </a:r>
          </a:p>
          <a:p>
            <a:pPr lvl="1"/>
            <a:r>
              <a:rPr lang="en-GB" dirty="0"/>
              <a:t>random window splitting becomes particularly unreliable.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164101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7DBDC3-A3C8-9FCC-A232-6127296A8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Better dataset summaries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50A44F5-842F-E97B-2E99-7565589F3F4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In addition to the number of windows, report:</a:t>
            </a:r>
          </a:p>
          <a:p>
            <a:pPr lvl="1"/>
            <a:r>
              <a:rPr lang="en-GB" dirty="0"/>
              <a:t>number of entities;</a:t>
            </a:r>
          </a:p>
          <a:p>
            <a:pPr lvl="1"/>
            <a:r>
              <a:rPr lang="en-GB" dirty="0"/>
              <a:t>number of recordings;</a:t>
            </a:r>
          </a:p>
          <a:p>
            <a:pPr lvl="1"/>
            <a:r>
              <a:rPr lang="en-GB" dirty="0"/>
              <a:t>number of independent cycles;</a:t>
            </a:r>
          </a:p>
          <a:p>
            <a:pPr lvl="1"/>
            <a:r>
              <a:rPr lang="en-GB" dirty="0"/>
              <a:t>number of events;</a:t>
            </a:r>
          </a:p>
          <a:p>
            <a:pPr lvl="1"/>
            <a:r>
              <a:rPr lang="en-GB" dirty="0"/>
              <a:t>total temporal duration;</a:t>
            </a:r>
          </a:p>
          <a:p>
            <a:pPr lvl="1"/>
            <a:r>
              <a:rPr lang="en-GB" dirty="0"/>
              <a:t>stride;</a:t>
            </a:r>
          </a:p>
          <a:p>
            <a:pPr lvl="1"/>
            <a:r>
              <a:rPr lang="en-GB" dirty="0"/>
              <a:t>overlap fraction.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ED0C706-F0A0-E6AE-4C0E-F238C09B358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/>
              <a:t>Example</a:t>
            </a:r>
          </a:p>
          <a:p>
            <a:r>
              <a:rPr lang="en-GB" dirty="0"/>
              <a:t>Instead of reporting only: 50,000 training windows</a:t>
            </a:r>
          </a:p>
          <a:p>
            <a:r>
              <a:rPr lang="en-GB" dirty="0"/>
              <a:t>report:</a:t>
            </a:r>
          </a:p>
          <a:p>
            <a:pPr lvl="1"/>
            <a:r>
              <a:rPr lang="en-GB" dirty="0"/>
              <a:t>50,000 windows</a:t>
            </a:r>
          </a:p>
          <a:p>
            <a:pPr lvl="1"/>
            <a:r>
              <a:rPr lang="en-GB" dirty="0"/>
              <a:t>from 40 machines</a:t>
            </a:r>
          </a:p>
          <a:p>
            <a:pPr lvl="1"/>
            <a:r>
              <a:rPr lang="en-GB" dirty="0"/>
              <a:t>covering 320 operating cycles</a:t>
            </a:r>
          </a:p>
          <a:p>
            <a:pPr lvl="1"/>
            <a:r>
              <a:rPr lang="en-GB" dirty="0"/>
              <a:t>and 75 independent fault events</a:t>
            </a:r>
          </a:p>
          <a:p>
            <a:pPr marL="0" indent="0">
              <a:buNone/>
            </a:pPr>
            <a:endParaRPr lang="en-GB" b="1" dirty="0"/>
          </a:p>
          <a:p>
            <a:r>
              <a:rPr lang="en-GB" dirty="0">
                <a:highlight>
                  <a:srgbClr val="FFFF00"/>
                </a:highlight>
              </a:rPr>
              <a:t>More overlapping windows provide denser sampling, not necessarily more independent evidence.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948049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10528"/>
            <a:ext cx="11548872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656539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Lecture 2 — Block D: Window generation leakage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Window count is not the effective sample size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29768" y="65836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Dense overlap gives dense sampling, not independent evidence.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22960" y="1234440"/>
            <a:ext cx="3931920" cy="393192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051560" y="1481328"/>
            <a:ext cx="34747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Nominal dataset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143000" y="2011680"/>
            <a:ext cx="2560320" cy="100584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188720" y="2121408"/>
            <a:ext cx="2560320" cy="100584"/>
          </a:xfrm>
          <a:prstGeom prst="rect">
            <a:avLst/>
          </a:prstGeom>
          <a:solidFill>
            <a:srgbClr val="2563EB">
              <a:alpha val="98000"/>
            </a:srgbClr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234440" y="2231136"/>
            <a:ext cx="2560320" cy="100584"/>
          </a:xfrm>
          <a:prstGeom prst="rect">
            <a:avLst/>
          </a:prstGeom>
          <a:solidFill>
            <a:srgbClr val="2563EB">
              <a:alpha val="96000"/>
            </a:srgbClr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1280160" y="2340864"/>
            <a:ext cx="2560320" cy="100584"/>
          </a:xfrm>
          <a:prstGeom prst="rect">
            <a:avLst/>
          </a:prstGeom>
          <a:solidFill>
            <a:srgbClr val="2563EB">
              <a:alpha val="94000"/>
            </a:srgbClr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325880" y="2450592"/>
            <a:ext cx="2560320" cy="100584"/>
          </a:xfrm>
          <a:prstGeom prst="rect">
            <a:avLst/>
          </a:prstGeom>
          <a:solidFill>
            <a:srgbClr val="2563EB">
              <a:alpha val="92000"/>
            </a:srgbClr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1371600" y="2560320"/>
            <a:ext cx="2560320" cy="100584"/>
          </a:xfrm>
          <a:prstGeom prst="rect">
            <a:avLst/>
          </a:prstGeom>
          <a:solidFill>
            <a:srgbClr val="2563EB">
              <a:alpha val="90000"/>
            </a:srgbClr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1417320" y="2670048"/>
            <a:ext cx="2560320" cy="100584"/>
          </a:xfrm>
          <a:prstGeom prst="rect">
            <a:avLst/>
          </a:prstGeom>
          <a:solidFill>
            <a:srgbClr val="2563EB">
              <a:alpha val="88000"/>
            </a:srgbClr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1463040" y="2779776"/>
            <a:ext cx="2560320" cy="100584"/>
          </a:xfrm>
          <a:prstGeom prst="rect">
            <a:avLst/>
          </a:prstGeom>
          <a:solidFill>
            <a:srgbClr val="2563EB">
              <a:alpha val="86000"/>
            </a:srgbClr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1508760" y="2889504"/>
            <a:ext cx="2560320" cy="100584"/>
          </a:xfrm>
          <a:prstGeom prst="rect">
            <a:avLst/>
          </a:prstGeom>
          <a:solidFill>
            <a:srgbClr val="2563EB">
              <a:alpha val="84000"/>
            </a:srgbClr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1554480" y="2999232"/>
            <a:ext cx="2560320" cy="100584"/>
          </a:xfrm>
          <a:prstGeom prst="rect">
            <a:avLst/>
          </a:prstGeom>
          <a:solidFill>
            <a:srgbClr val="2563EB">
              <a:alpha val="82000"/>
            </a:srgbClr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1600200" y="3108960"/>
            <a:ext cx="2560320" cy="100584"/>
          </a:xfrm>
          <a:prstGeom prst="rect">
            <a:avLst/>
          </a:prstGeom>
          <a:solidFill>
            <a:srgbClr val="2563EB">
              <a:alpha val="80000"/>
            </a:srgbClr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1645920" y="3218688"/>
            <a:ext cx="2560320" cy="100584"/>
          </a:xfrm>
          <a:prstGeom prst="rect">
            <a:avLst/>
          </a:prstGeom>
          <a:solidFill>
            <a:srgbClr val="2563EB">
              <a:alpha val="78000"/>
            </a:srgbClr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1325880" y="3886200"/>
            <a:ext cx="22860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99,001 windows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25880" y="4407408"/>
            <a:ext cx="228600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recording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length = 100,000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 = 1,000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stride = 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0" y="1234440"/>
            <a:ext cx="3931920" cy="393192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6812280" y="1481328"/>
            <a:ext cx="34747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Effective evidence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7406640" y="2103120"/>
            <a:ext cx="411480" cy="411480"/>
          </a:xfrm>
          <a:prstGeom prst="ellipse">
            <a:avLst/>
          </a:prstGeom>
          <a:solidFill>
            <a:srgbClr val="7C3AED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7178040" y="2606040"/>
            <a:ext cx="8686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 machines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229600" y="2423160"/>
            <a:ext cx="411480" cy="411480"/>
          </a:xfrm>
          <a:prstGeom prst="ellipse">
            <a:avLst/>
          </a:prstGeom>
          <a:solidFill>
            <a:srgbClr val="0F766E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8001000" y="2926080"/>
            <a:ext cx="8686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320 cycles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006840" y="2148840"/>
            <a:ext cx="411480" cy="411480"/>
          </a:xfrm>
          <a:prstGeom prst="ellipse">
            <a:avLst/>
          </a:prstGeom>
          <a:solidFill>
            <a:srgbClr val="EA580C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8778240" y="2651760"/>
            <a:ext cx="8686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 events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818120" y="3246120"/>
            <a:ext cx="411480" cy="411480"/>
          </a:xfrm>
          <a:prstGeom prst="ellipse">
            <a:avLst/>
          </a:prstGeom>
          <a:solidFill>
            <a:srgbClr val="DC2626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7589520" y="3749040"/>
            <a:ext cx="8686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duration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235440" y="3337560"/>
            <a:ext cx="411480" cy="411480"/>
          </a:xfrm>
          <a:prstGeom prst="ellipse">
            <a:avLst/>
          </a:prstGeom>
          <a:solidFill>
            <a:srgbClr val="16A34A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9006840" y="3840480"/>
            <a:ext cx="8686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regimes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903720" y="4224528"/>
            <a:ext cx="33375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entities, recordings, cycles, events and temporal duration, not only windows.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074920" y="3154680"/>
            <a:ext cx="1097280" cy="0"/>
          </a:xfrm>
          <a:prstGeom prst="line">
            <a:avLst/>
          </a:prstGeom>
          <a:noFill/>
          <a:ln w="2159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5074920" y="2788920"/>
            <a:ext cx="10972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equal to</a:t>
            </a:r>
            <a:endParaRPr lang="en-US" sz="11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10528"/>
            <a:ext cx="11548872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656539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Lecture 2 — Block D: Window generation leakage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Window-leakage checklist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1234440"/>
            <a:ext cx="50292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941832" y="1453896"/>
            <a:ext cx="182880" cy="1828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280160" y="1353312"/>
            <a:ext cx="123444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unit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43200" y="1353312"/>
            <a:ext cx="269748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recording / entity / site / event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777240" y="2313432"/>
            <a:ext cx="50292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941832" y="2532888"/>
            <a:ext cx="182880" cy="1828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280160" y="2432304"/>
            <a:ext cx="123444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order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743200" y="2432304"/>
            <a:ext cx="269748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partitions before windows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777240" y="3392424"/>
            <a:ext cx="50292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941832" y="3611880"/>
            <a:ext cx="182880" cy="1828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280160" y="3511296"/>
            <a:ext cx="123444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intervals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743200" y="3511296"/>
            <a:ext cx="269748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raw observations across partitions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777240" y="4471416"/>
            <a:ext cx="50292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941832" y="4690872"/>
            <a:ext cx="182880" cy="1828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1280160" y="4590288"/>
            <a:ext cx="123444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intervals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743200" y="4590288"/>
            <a:ext cx="269748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target overlap or target-to-input leakage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263640" y="1234440"/>
            <a:ext cx="50292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6428232" y="1453896"/>
            <a:ext cx="182880" cy="1828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766560" y="1353312"/>
            <a:ext cx="123444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grouping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229600" y="1353312"/>
            <a:ext cx="269748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physical event stays in one partition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6263640" y="2313432"/>
            <a:ext cx="50292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6428232" y="2532888"/>
            <a:ext cx="182880" cy="1828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6766560" y="2432304"/>
            <a:ext cx="123444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lookback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229600" y="2432304"/>
            <a:ext cx="269748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rolling features respect boundaries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6263640" y="3392424"/>
            <a:ext cx="50292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6428232" y="3611880"/>
            <a:ext cx="182880" cy="1828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6766560" y="3511296"/>
            <a:ext cx="123444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/ embargo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229600" y="3511296"/>
            <a:ext cx="269748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 with lookback and horizon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6263640" y="4471416"/>
            <a:ext cx="50292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6428232" y="4690872"/>
            <a:ext cx="182880" cy="1828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6766560" y="4590288"/>
            <a:ext cx="123444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229600" y="4590288"/>
            <a:ext cx="269748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entities, events, stride, overlap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1143000" y="5715000"/>
            <a:ext cx="950976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1252728" y="5715000"/>
            <a:ext cx="0" cy="45720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1344168" y="5788152"/>
            <a:ext cx="923544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split is credible only when recordings, entities, input intervals, target intervals and events are controlled</a:t>
            </a: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2257B9-EBA6-025C-D8EC-E897035C6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Block </a:t>
            </a:r>
            <a:r>
              <a:rPr lang="en-GB" dirty="0"/>
              <a:t>2.E — Leakage from Preprocessing and Feature Construction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B5E3632-B6F6-F4FA-58E7-3217DE3BE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b="1" dirty="0"/>
          </a:p>
          <a:p>
            <a:r>
              <a:rPr lang="en-GB" b="1" dirty="0"/>
              <a:t>Leakage can occur before the model sees the data.</a:t>
            </a:r>
          </a:p>
          <a:p>
            <a:endParaRPr lang="en-GB" b="1" dirty="0"/>
          </a:p>
          <a:p>
            <a:r>
              <a:rPr lang="en-GB" b="1" dirty="0"/>
              <a:t>The entire data-processing pipeline must respect the evaluation boundary.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6037978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C1FFC4-AAC1-F0EA-936D-ED91C2068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Preprocessing can also leak information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4BE18AB-9D29-3211-21D3-9D112AD58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Avoiding overlap between training and test samples is not sufficient.</a:t>
            </a:r>
          </a:p>
          <a:p>
            <a:r>
              <a:rPr lang="en-GB" dirty="0"/>
              <a:t>Information can also move across partitions through preprocessing.</a:t>
            </a:r>
          </a:p>
          <a:p>
            <a:r>
              <a:rPr lang="en-GB" b="1" dirty="0"/>
              <a:t>General rule</a:t>
            </a:r>
          </a:p>
          <a:p>
            <a:r>
              <a:rPr lang="en-GB" dirty="0">
                <a:highlight>
                  <a:srgbClr val="FFFF00"/>
                </a:highlight>
              </a:rPr>
              <a:t>Any transformation that </a:t>
            </a:r>
            <a:r>
              <a:rPr lang="en-GB" b="1" dirty="0">
                <a:highlight>
                  <a:srgbClr val="FFFF00"/>
                </a:highlight>
              </a:rPr>
              <a:t>estimates parameters from the data</a:t>
            </a:r>
            <a:r>
              <a:rPr lang="en-GB" dirty="0">
                <a:highlight>
                  <a:srgbClr val="FFFF00"/>
                </a:highlight>
              </a:rPr>
              <a:t> must be fitted using the training data only.</a:t>
            </a:r>
          </a:p>
          <a:p>
            <a:r>
              <a:rPr lang="en-GB" dirty="0"/>
              <a:t>Examples:</a:t>
            </a:r>
          </a:p>
          <a:p>
            <a:pPr lvl="1"/>
            <a:r>
              <a:rPr lang="en-GB" dirty="0"/>
              <a:t>mean and standard deviation for standardization; minimum and maximum values; imputation parameters; PCA components; feature-selection criteria; target encoding; thresholds derived from the data.</a:t>
            </a:r>
          </a:p>
          <a:p>
            <a:endParaRPr lang="en-GB" b="1" dirty="0"/>
          </a:p>
          <a:p>
            <a:r>
              <a:rPr lang="en-GB" b="1" dirty="0"/>
              <a:t>Incorrect workflow</a:t>
            </a:r>
          </a:p>
          <a:p>
            <a:pPr lvl="1"/>
            <a:r>
              <a:rPr lang="en-GB" dirty="0"/>
              <a:t>complete dataset</a:t>
            </a:r>
          </a:p>
          <a:p>
            <a:pPr lvl="1"/>
            <a:r>
              <a:rPr lang="en-GB" dirty="0"/>
              <a:t>      ↓</a:t>
            </a:r>
          </a:p>
          <a:p>
            <a:pPr lvl="1"/>
            <a:r>
              <a:rPr lang="en-GB" dirty="0"/>
              <a:t>fit preprocessing</a:t>
            </a:r>
          </a:p>
          <a:p>
            <a:pPr lvl="1"/>
            <a:r>
              <a:rPr lang="en-GB" dirty="0"/>
              <a:t>      ↓</a:t>
            </a:r>
          </a:p>
          <a:p>
            <a:pPr lvl="1"/>
            <a:r>
              <a:rPr lang="en-GB" dirty="0"/>
              <a:t>train / validation / test split</a:t>
            </a:r>
          </a:p>
          <a:p>
            <a:pPr lvl="1"/>
            <a:r>
              <a:rPr lang="en-GB" dirty="0"/>
              <a:t>Validation and test observations influence the transformation applied to the training set.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876507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AA566E-794B-6E34-BFAF-4AAD51B8D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Correct</a:t>
            </a:r>
            <a:r>
              <a:rPr lang="it-IT" dirty="0"/>
              <a:t> workflow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7DA1EC6-3D1E-D1A9-79E7-7E973E748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Correct workflow</a:t>
            </a:r>
          </a:p>
          <a:p>
            <a:r>
              <a:rPr lang="en-GB" dirty="0"/>
              <a:t>split data</a:t>
            </a:r>
          </a:p>
          <a:p>
            <a:r>
              <a:rPr lang="en-GB" dirty="0"/>
              <a:t>   ↓</a:t>
            </a:r>
          </a:p>
          <a:p>
            <a:r>
              <a:rPr lang="en-GB" dirty="0">
                <a:highlight>
                  <a:srgbClr val="FFFF00"/>
                </a:highlight>
              </a:rPr>
              <a:t>fit preprocessing on training</a:t>
            </a:r>
          </a:p>
          <a:p>
            <a:r>
              <a:rPr lang="en-GB" dirty="0"/>
              <a:t>   ↓</a:t>
            </a:r>
          </a:p>
          <a:p>
            <a:r>
              <a:rPr lang="en-GB" dirty="0">
                <a:highlight>
                  <a:srgbClr val="FFFF00"/>
                </a:highlight>
              </a:rPr>
              <a:t>transform training, validation and test using the same fitted parameters</a:t>
            </a:r>
          </a:p>
          <a:p>
            <a:pPr marL="0" indent="0">
              <a:buNone/>
            </a:pPr>
            <a:endParaRPr lang="en-GB" b="1" dirty="0"/>
          </a:p>
          <a:p>
            <a:r>
              <a:rPr lang="en-GB" dirty="0"/>
              <a:t>The validation and test sets must be treated as unavailable when preprocessing parameters are estimated.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860366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097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9A17"/>
                </a:solidFill>
              </a:rPr>
              <a:t>2.E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Preprocessing leakage: wrong and correct workflows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02920" y="786384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Validation and test observations must not influence fitted transformations.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73152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Incorrect workflow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1554480"/>
            <a:ext cx="2511552" cy="685800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61360" y="1897380"/>
            <a:ext cx="109728" cy="0"/>
          </a:xfrm>
          <a:prstGeom prst="line">
            <a:avLst/>
          </a:prstGeom>
          <a:noFill/>
          <a:ln w="20320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3407664" y="1554480"/>
            <a:ext cx="2511552" cy="685800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preprocessing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37504" y="1897380"/>
            <a:ext cx="109728" cy="0"/>
          </a:xfrm>
          <a:prstGeom prst="line">
            <a:avLst/>
          </a:prstGeom>
          <a:noFill/>
          <a:ln w="20320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6083808" y="1554480"/>
            <a:ext cx="2511552" cy="685800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into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train/val/test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235430" y="2423160"/>
            <a:ext cx="300001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Problem: validation and test values influence the representation used during training.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3152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C9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workflow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3840480"/>
            <a:ext cx="2511552" cy="685800"/>
          </a:xfrm>
          <a:prstGeom prst="roundRect">
            <a:avLst/>
          </a:prstGeom>
          <a:solidFill>
            <a:srgbClr val="5C9A17"/>
          </a:solidFill>
          <a:ln w="12700">
            <a:solidFill>
              <a:srgbClr val="5C9A1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61360" y="4183380"/>
            <a:ext cx="109728" cy="0"/>
          </a:xfrm>
          <a:prstGeom prst="line">
            <a:avLst/>
          </a:prstGeom>
          <a:noFill/>
          <a:ln w="20320">
            <a:solidFill>
              <a:srgbClr val="5C9A1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3407664" y="3840480"/>
            <a:ext cx="2511552" cy="685800"/>
          </a:xfrm>
          <a:prstGeom prst="roundRect">
            <a:avLst/>
          </a:prstGeom>
          <a:solidFill>
            <a:srgbClr val="5C9A17"/>
          </a:solidFill>
          <a:ln w="12700">
            <a:solidFill>
              <a:srgbClr val="5C9A1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 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937504" y="4183380"/>
            <a:ext cx="109728" cy="0"/>
          </a:xfrm>
          <a:prstGeom prst="line">
            <a:avLst/>
          </a:prstGeom>
          <a:noFill/>
          <a:ln w="20320">
            <a:solidFill>
              <a:srgbClr val="5C9A1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6083808" y="3840480"/>
            <a:ext cx="2511552" cy="685800"/>
          </a:xfrm>
          <a:prstGeom prst="roundRect">
            <a:avLst/>
          </a:prstGeom>
          <a:solidFill>
            <a:srgbClr val="5C9A17"/>
          </a:solidFill>
          <a:ln w="12700">
            <a:solidFill>
              <a:srgbClr val="5C9A1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partitions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080760" y="4709160"/>
            <a:ext cx="3154680" cy="585216"/>
          </a:xfrm>
          <a:prstGeom prst="rect">
            <a:avLst/>
          </a:prstGeom>
          <a:solidFill>
            <a:srgbClr val="FFFFFF"/>
          </a:solidFill>
          <a:ln w="15240">
            <a:solidFill>
              <a:srgbClr val="5C9A1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Fitted parameters are learned only from training data, then applied unchanged to validation and test.</a:t>
            </a:r>
            <a:endParaRPr lang="en-US" sz="95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605D4E-A90D-0ECF-B386-C19731C8F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standardization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8DB20DC-67AE-4EAC-1223-032A6F8B3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Suppose one feature is standardized as: standardized value = (value − mean) / standard deviation</a:t>
            </a:r>
          </a:p>
          <a:p>
            <a:r>
              <a:rPr lang="en-GB" dirty="0"/>
              <a:t>The mean and standard deviation must be estimated from the training set.</a:t>
            </a:r>
          </a:p>
          <a:p>
            <a:endParaRPr lang="en-GB" b="1" dirty="0"/>
          </a:p>
          <a:p>
            <a:r>
              <a:rPr lang="en-GB" b="1" dirty="0"/>
              <a:t>Incorrect</a:t>
            </a:r>
          </a:p>
          <a:p>
            <a:r>
              <a:rPr lang="en-GB" dirty="0"/>
              <a:t>mean = mean of training + validation + test</a:t>
            </a:r>
          </a:p>
          <a:p>
            <a:r>
              <a:rPr lang="en-GB" dirty="0"/>
              <a:t>std  = std of training + validation + test</a:t>
            </a:r>
          </a:p>
          <a:p>
            <a:r>
              <a:rPr lang="en-GB" dirty="0">
                <a:highlight>
                  <a:srgbClr val="FFFF00"/>
                </a:highlight>
              </a:rPr>
              <a:t>The transformation contains information about future or unseen data.</a:t>
            </a:r>
          </a:p>
          <a:p>
            <a:endParaRPr lang="en-GB" b="1" dirty="0"/>
          </a:p>
          <a:p>
            <a:r>
              <a:rPr lang="en-GB" b="1" dirty="0"/>
              <a:t>Correct</a:t>
            </a:r>
          </a:p>
          <a:p>
            <a:r>
              <a:rPr lang="en-GB" dirty="0"/>
              <a:t>training mean = mean(training); training std  = std(training)</a:t>
            </a:r>
          </a:p>
          <a:p>
            <a:r>
              <a:rPr lang="en-GB" dirty="0"/>
              <a:t>Then apply:</a:t>
            </a:r>
          </a:p>
          <a:p>
            <a:pPr lvl="1"/>
            <a:r>
              <a:rPr lang="en-GB" dirty="0"/>
              <a:t>training: (value − training mean) / training std</a:t>
            </a:r>
          </a:p>
          <a:p>
            <a:pPr lvl="1"/>
            <a:r>
              <a:rPr lang="en-GB" dirty="0"/>
              <a:t>validation: (value − training mean) / training std</a:t>
            </a:r>
          </a:p>
          <a:p>
            <a:pPr lvl="1"/>
            <a:r>
              <a:rPr lang="en-GB" dirty="0"/>
              <a:t>test: (value − training mean) / training std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000262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3DF12A6-9DCF-A7A1-2F58-F0DC2FCEE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Why does this matter?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96F69A0-FFC4-FAED-2303-0FF36DFC4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Suppose a process gradually drifts upward.</a:t>
            </a:r>
          </a:p>
          <a:p>
            <a:r>
              <a:rPr lang="en-GB" dirty="0"/>
              <a:t>The test period has much larger values than the training period.</a:t>
            </a:r>
          </a:p>
          <a:p>
            <a:r>
              <a:rPr lang="en-GB" dirty="0"/>
              <a:t>If the global mean is used, the training data are normalized using information about that future drift.</a:t>
            </a:r>
          </a:p>
          <a:p>
            <a:r>
              <a:rPr lang="en-GB" dirty="0"/>
              <a:t>The model therefore receives an unrealistically favourable representation.</a:t>
            </a:r>
          </a:p>
          <a:p>
            <a:endParaRPr lang="en-GB" b="1" dirty="0"/>
          </a:p>
          <a:p>
            <a:r>
              <a:rPr lang="en-GB" b="1" dirty="0"/>
              <a:t>Consequence</a:t>
            </a:r>
          </a:p>
          <a:p>
            <a:r>
              <a:rPr lang="en-GB" dirty="0"/>
              <a:t>Different distributions in validation or test should be visible.</a:t>
            </a:r>
          </a:p>
          <a:p>
            <a:r>
              <a:rPr lang="en-GB" dirty="0"/>
              <a:t>They may represent exactly the distribution shift that the evaluation is intended to measure.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233933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097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9A17"/>
                </a:solidFill>
              </a:rPr>
              <a:t>2.E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Standardization under temporal drift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02920" y="786384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Using the full-series mean can hide the very shift that test evaluation should measure.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77240" y="4114800"/>
            <a:ext cx="813816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777240" y="1280160"/>
            <a:ext cx="0" cy="283464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502920" y="10972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641080" y="48280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→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77240" y="4443984"/>
            <a:ext cx="43891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5166360" y="4443984"/>
            <a:ext cx="16916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6858000" y="4443984"/>
            <a:ext cx="20574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2423160" y="45720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349240" y="45720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498080" y="45720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77240" y="3657600"/>
            <a:ext cx="1097280" cy="0"/>
          </a:xfrm>
          <a:prstGeom prst="line">
            <a:avLst/>
          </a:prstGeom>
          <a:noFill/>
          <a:ln w="2921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1874520" y="3429000"/>
            <a:ext cx="1097280" cy="0"/>
          </a:xfrm>
          <a:prstGeom prst="line">
            <a:avLst/>
          </a:prstGeom>
          <a:noFill/>
          <a:ln w="2921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2971800" y="3337560"/>
            <a:ext cx="1097280" cy="0"/>
          </a:xfrm>
          <a:prstGeom prst="line">
            <a:avLst/>
          </a:prstGeom>
          <a:noFill/>
          <a:ln w="2921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4069080" y="3154680"/>
            <a:ext cx="1097280" cy="0"/>
          </a:xfrm>
          <a:prstGeom prst="line">
            <a:avLst/>
          </a:prstGeom>
          <a:noFill/>
          <a:ln w="2921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5166360" y="2880360"/>
            <a:ext cx="822960" cy="0"/>
          </a:xfrm>
          <a:prstGeom prst="line">
            <a:avLst/>
          </a:prstGeom>
          <a:noFill/>
          <a:ln w="2921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5989320" y="2514600"/>
            <a:ext cx="868680" cy="0"/>
          </a:xfrm>
          <a:prstGeom prst="line">
            <a:avLst/>
          </a:prstGeom>
          <a:noFill/>
          <a:ln w="2921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9"/>
          <p:cNvSpPr/>
          <p:nvPr/>
        </p:nvSpPr>
        <p:spPr>
          <a:xfrm>
            <a:off x="6858000" y="2240280"/>
            <a:ext cx="1051560" cy="0"/>
          </a:xfrm>
          <a:prstGeom prst="line">
            <a:avLst/>
          </a:prstGeom>
          <a:noFill/>
          <a:ln w="2921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0"/>
          <p:cNvSpPr/>
          <p:nvPr/>
        </p:nvSpPr>
        <p:spPr>
          <a:xfrm>
            <a:off x="7909560" y="1874520"/>
            <a:ext cx="1005840" cy="0"/>
          </a:xfrm>
          <a:prstGeom prst="line">
            <a:avLst/>
          </a:prstGeom>
          <a:noFill/>
          <a:ln w="2921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1"/>
          <p:cNvSpPr/>
          <p:nvPr/>
        </p:nvSpPr>
        <p:spPr>
          <a:xfrm>
            <a:off x="822960" y="3337560"/>
            <a:ext cx="429768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960120" y="313639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mean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822960" y="2606040"/>
            <a:ext cx="8046720" cy="0"/>
          </a:xfrm>
          <a:prstGeom prst="line">
            <a:avLst/>
          </a:prstGeom>
          <a:noFill/>
          <a:ln w="1778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7269480" y="2444367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full-series mean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822960" y="5074920"/>
            <a:ext cx="333756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5C9A1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Correct: fit mean and standard deviation on training only.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663440" y="5074920"/>
            <a:ext cx="361188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Incorrect: full-series statistics use future distribution information.</a:t>
            </a:r>
            <a:endParaRPr lang="en-US" sz="95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1345F9-68AF-5744-F49A-4EBD42FAB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Fitted transformations vs deterministic transformations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6571D50-9484-71E9-AB11-47D6C11068E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Fitted transformation</a:t>
            </a:r>
          </a:p>
          <a:p>
            <a:r>
              <a:rPr lang="en-GB" dirty="0">
                <a:highlight>
                  <a:srgbClr val="FFFF00"/>
                </a:highlight>
              </a:rPr>
              <a:t>The transformation depends on parameters estimated from a dataset.</a:t>
            </a:r>
          </a:p>
          <a:p>
            <a:r>
              <a:rPr lang="en-GB" dirty="0"/>
              <a:t>Examples:</a:t>
            </a:r>
          </a:p>
          <a:p>
            <a:pPr lvl="1"/>
            <a:r>
              <a:rPr lang="en-GB" dirty="0"/>
              <a:t>standardization;</a:t>
            </a:r>
          </a:p>
          <a:p>
            <a:pPr lvl="1"/>
            <a:r>
              <a:rPr lang="en-GB" dirty="0"/>
              <a:t>PCA;</a:t>
            </a:r>
          </a:p>
          <a:p>
            <a:pPr lvl="1"/>
            <a:r>
              <a:rPr lang="en-GB" dirty="0"/>
              <a:t>learned imputation;</a:t>
            </a:r>
          </a:p>
          <a:p>
            <a:pPr lvl="1"/>
            <a:r>
              <a:rPr lang="en-GB" dirty="0"/>
              <a:t>feature selection;</a:t>
            </a:r>
          </a:p>
          <a:p>
            <a:pPr lvl="1"/>
            <a:r>
              <a:rPr lang="en-GB" dirty="0"/>
              <a:t>target encoding.</a:t>
            </a:r>
          </a:p>
          <a:p>
            <a:r>
              <a:rPr lang="en-GB" dirty="0"/>
              <a:t>These parameters must be estimated from training data only.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8B1885C8-CB63-3C23-6164-A0787F61EE9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/>
              <a:t>Deterministic transformation</a:t>
            </a:r>
          </a:p>
          <a:p>
            <a:r>
              <a:rPr lang="en-GB" dirty="0"/>
              <a:t>The transformation is fully defined </a:t>
            </a:r>
            <a:r>
              <a:rPr lang="en-GB" b="1" dirty="0"/>
              <a:t>without estimating global parameters.</a:t>
            </a:r>
          </a:p>
          <a:p>
            <a:r>
              <a:rPr lang="en-GB" dirty="0"/>
              <a:t>Examples:</a:t>
            </a:r>
          </a:p>
          <a:p>
            <a:pPr lvl="1"/>
            <a:r>
              <a:rPr lang="en-GB" dirty="0"/>
              <a:t>difference at time t = x[t] − x[t−1]</a:t>
            </a:r>
          </a:p>
          <a:p>
            <a:pPr lvl="1"/>
            <a:r>
              <a:rPr lang="en-GB" dirty="0"/>
              <a:t>hour-of-day feature = hour associated with timestamp t</a:t>
            </a:r>
          </a:p>
          <a:p>
            <a:pPr lvl="1"/>
            <a:r>
              <a:rPr lang="en-GB" dirty="0"/>
              <a:t>absolute value = abs(x[t])</a:t>
            </a:r>
          </a:p>
          <a:p>
            <a:r>
              <a:rPr lang="en-GB" dirty="0"/>
              <a:t>These transformations do not automatically introduce leakage.</a:t>
            </a:r>
          </a:p>
          <a:p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2B16F26-499B-40DF-F795-CE416CE91721}"/>
              </a:ext>
            </a:extLst>
          </p:cNvPr>
          <p:cNvSpPr txBox="1"/>
          <p:nvPr/>
        </p:nvSpPr>
        <p:spPr>
          <a:xfrm>
            <a:off x="7042825" y="1284069"/>
            <a:ext cx="38083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Not every transformation must be learned from training data.</a:t>
            </a:r>
          </a:p>
        </p:txBody>
      </p:sp>
    </p:spTree>
    <p:extLst>
      <p:ext uri="{BB962C8B-B14F-4D97-AF65-F5344CB8AC3E}">
        <p14:creationId xmlns:p14="http://schemas.microsoft.com/office/powerpoint/2010/main" val="89121869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A6B7469-D1F0-7402-9F95-91D1970FB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However</a:t>
            </a:r>
            <a:r>
              <a:rPr lang="it-IT" dirty="0"/>
              <a:t>…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FCBA3C1-E5FB-7FFC-5DAE-83908D92C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987776" cy="3880773"/>
          </a:xfrm>
        </p:spPr>
        <p:txBody>
          <a:bodyPr/>
          <a:lstStyle/>
          <a:p>
            <a:r>
              <a:rPr lang="en-GB" b="1" dirty="0"/>
              <a:t>A deterministic transformation may still use future information</a:t>
            </a:r>
            <a:r>
              <a:rPr lang="en-GB" dirty="0"/>
              <a:t>.</a:t>
            </a:r>
          </a:p>
          <a:p>
            <a:r>
              <a:rPr lang="en-GB" dirty="0"/>
              <a:t>Example:</a:t>
            </a:r>
          </a:p>
          <a:p>
            <a:r>
              <a:rPr lang="en-GB" dirty="0" err="1"/>
              <a:t>centered</a:t>
            </a:r>
            <a:r>
              <a:rPr lang="en-GB" dirty="0"/>
              <a:t> moving average at time t = average of observations before AND after t</a:t>
            </a:r>
          </a:p>
          <a:p>
            <a:r>
              <a:rPr lang="en-GB" b="1" dirty="0"/>
              <a:t>The computation is deterministic</a:t>
            </a:r>
            <a:r>
              <a:rPr lang="en-GB" dirty="0"/>
              <a:t>, but it is non-causal.</a:t>
            </a:r>
          </a:p>
          <a:p>
            <a:r>
              <a:rPr lang="en-GB" b="1" dirty="0"/>
              <a:t>Therefore, two questions must be asked</a:t>
            </a:r>
          </a:p>
          <a:p>
            <a:r>
              <a:rPr lang="en-GB" b="1" dirty="0"/>
              <a:t>Does the transformation learn parameters from data?</a:t>
            </a:r>
            <a:endParaRPr lang="en-GB" dirty="0"/>
          </a:p>
          <a:p>
            <a:r>
              <a:rPr lang="en-GB" b="1" dirty="0">
                <a:highlight>
                  <a:srgbClr val="FFFF00"/>
                </a:highlight>
              </a:rPr>
              <a:t>Does the transformation use information unavailable at prediction time?</a:t>
            </a:r>
            <a:endParaRPr lang="en-GB" dirty="0">
              <a:highlight>
                <a:srgbClr val="FFFF00"/>
              </a:highlight>
            </a:endParaRPr>
          </a:p>
          <a:p>
            <a:r>
              <a:rPr lang="en-GB" dirty="0"/>
              <a:t>Both must be checked.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913228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097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9A17"/>
                </a:solidFill>
              </a:rPr>
              <a:t>2.E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questions for every transformation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02920" y="786384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A transformation can leak by learning from future partitions or by using unavailable future values.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3657600" y="1097280"/>
            <a:ext cx="2743200" cy="5029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Transformation to be applied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0" y="1600200"/>
            <a:ext cx="0" cy="411480"/>
          </a:xfrm>
          <a:prstGeom prst="line">
            <a:avLst/>
          </a:prstGeom>
          <a:noFill/>
          <a:ln w="19050">
            <a:solidFill>
              <a:srgbClr val="5C9A1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3291840" y="2057400"/>
            <a:ext cx="3474720" cy="6400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5C9A1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Does it estimate parameters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data?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 flipH="1">
            <a:off x="2514600" y="2697480"/>
            <a:ext cx="1143000" cy="731520"/>
          </a:xfrm>
          <a:prstGeom prst="line">
            <a:avLst/>
          </a:prstGeom>
          <a:noFill/>
          <a:ln w="1651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6400800" y="2697480"/>
            <a:ext cx="1280160" cy="731520"/>
          </a:xfrm>
          <a:prstGeom prst="line">
            <a:avLst/>
          </a:prstGeom>
          <a:noFill/>
          <a:ln w="1651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1143000" y="3429000"/>
            <a:ext cx="2468880" cy="731520"/>
          </a:xfrm>
          <a:prstGeom prst="roundRect">
            <a:avLst/>
          </a:prstGeom>
          <a:solidFill>
            <a:srgbClr val="5C9A17"/>
          </a:solidFill>
          <a:ln w="12700">
            <a:solidFill>
              <a:srgbClr val="5C9A1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 on training only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46520" y="3429000"/>
            <a:ext cx="2468880" cy="73152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information timing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029200" y="4251960"/>
            <a:ext cx="0" cy="457200"/>
          </a:xfrm>
          <a:prstGeom prst="line">
            <a:avLst/>
          </a:prstGeom>
          <a:noFill/>
          <a:ln w="19050">
            <a:solidFill>
              <a:srgbClr val="5C9A1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3108960" y="4709160"/>
            <a:ext cx="3840480" cy="6858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Does it use </a:t>
            </a:r>
            <a:r>
              <a:rPr lang="en-US" sz="1200" b="1" dirty="0">
                <a:solidFill>
                  <a:srgbClr val="111827"/>
                </a:solidFill>
                <a:highlight>
                  <a:srgbClr val="FFFF00"/>
                </a:highlight>
                <a:latin typeface="Aptos" pitchFamily="34" charset="0"/>
                <a:ea typeface="Aptos" pitchFamily="34" charset="-122"/>
                <a:cs typeface="Aptos" pitchFamily="34" charset="-120"/>
              </a:rPr>
              <a:t>values unavailable</a:t>
            </a:r>
            <a:endParaRPr lang="en-US" sz="1200" dirty="0">
              <a:highlight>
                <a:srgbClr val="FFFF00"/>
              </a:highlight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highlight>
                  <a:srgbClr val="FFFF00"/>
                </a:highlight>
                <a:latin typeface="Aptos" pitchFamily="34" charset="0"/>
                <a:ea typeface="Aptos" pitchFamily="34" charset="-122"/>
                <a:cs typeface="Aptos" pitchFamily="34" charset="-120"/>
              </a:rPr>
              <a:t>at prediction time</a:t>
            </a:r>
            <a:r>
              <a:rPr lang="en-US" sz="12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14400" y="5623560"/>
            <a:ext cx="37947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centered smoothing,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realized weather,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cycle-level normalization before cycle end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120640" y="5623560"/>
            <a:ext cx="37947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C9A1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lag difference,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hour-of-day, planned promotion,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causal (i.e., no future info is used) rolling mean</a:t>
            </a:r>
            <a:endParaRPr lang="en-US" sz="10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4232CB-203B-0CF6-C85B-A6F979C70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Temporal feature leakage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3043191-570B-AF3A-9E13-4C3324BD7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Temporal features are especially prone to subtle leakage.</a:t>
            </a:r>
          </a:p>
          <a:p>
            <a:endParaRPr lang="en-GB" b="1" dirty="0"/>
          </a:p>
          <a:p>
            <a:r>
              <a:rPr lang="en-GB" b="1" dirty="0"/>
              <a:t>Valid causal rolling feature</a:t>
            </a:r>
          </a:p>
          <a:p>
            <a:r>
              <a:rPr lang="en-GB" dirty="0"/>
              <a:t>At time t: rolling mean = average of x[t−L+1], ..., x[t]</a:t>
            </a:r>
          </a:p>
          <a:p>
            <a:r>
              <a:rPr lang="en-GB" dirty="0"/>
              <a:t>Only current and previous observations are used.</a:t>
            </a:r>
          </a:p>
          <a:p>
            <a:endParaRPr lang="en-GB" b="1" dirty="0"/>
          </a:p>
          <a:p>
            <a:r>
              <a:rPr lang="en-GB" b="1" dirty="0"/>
              <a:t>Invalid </a:t>
            </a:r>
            <a:r>
              <a:rPr lang="en-GB" b="1" dirty="0" err="1"/>
              <a:t>centered</a:t>
            </a:r>
            <a:r>
              <a:rPr lang="en-GB" b="1" dirty="0"/>
              <a:t> rolling feature for online prediction</a:t>
            </a:r>
          </a:p>
          <a:p>
            <a:r>
              <a:rPr lang="en-GB" dirty="0" err="1"/>
              <a:t>centered</a:t>
            </a:r>
            <a:r>
              <a:rPr lang="en-GB" dirty="0"/>
              <a:t> mean = average of values before and after t</a:t>
            </a:r>
          </a:p>
          <a:p>
            <a:r>
              <a:rPr lang="en-GB" dirty="0"/>
              <a:t>Observations after t are used.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347082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3C5660-AE24-6098-C8DE-974088D5F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Other potential sources of leakage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58F9513-96A4-EDD4-F62E-BB0C7F9F7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b="1" dirty="0"/>
              <a:t>Other potential sources of leakage</a:t>
            </a:r>
          </a:p>
          <a:p>
            <a:pPr lvl="1"/>
            <a:r>
              <a:rPr lang="en-GB" dirty="0"/>
              <a:t>bidirectional smoothing;</a:t>
            </a:r>
          </a:p>
          <a:p>
            <a:pPr lvl="1"/>
            <a:r>
              <a:rPr lang="en-GB" dirty="0"/>
              <a:t>interpolation using future observations;</a:t>
            </a:r>
          </a:p>
          <a:p>
            <a:pPr lvl="1"/>
            <a:r>
              <a:rPr lang="en-GB" dirty="0"/>
              <a:t>filtering that uses both sides of the signal;</a:t>
            </a:r>
          </a:p>
          <a:p>
            <a:pPr lvl="1"/>
            <a:r>
              <a:rPr lang="en-GB" dirty="0"/>
              <a:t>statistics calculated over a complete recording;</a:t>
            </a:r>
          </a:p>
          <a:p>
            <a:pPr lvl="1"/>
            <a:r>
              <a:rPr lang="en-GB" dirty="0"/>
              <a:t>normalization performed independently on a complete future sequence;</a:t>
            </a:r>
          </a:p>
          <a:p>
            <a:pPr lvl="1"/>
            <a:r>
              <a:rPr lang="en-GB" dirty="0"/>
              <a:t>aggregates including the target interval.</a:t>
            </a:r>
          </a:p>
          <a:p>
            <a:endParaRPr lang="en-GB" b="1" dirty="0"/>
          </a:p>
          <a:p>
            <a:r>
              <a:rPr lang="en-GB" b="1" dirty="0"/>
              <a:t>Example: sequence normalization</a:t>
            </a:r>
          </a:p>
          <a:p>
            <a:r>
              <a:rPr lang="en-GB" dirty="0"/>
              <a:t>Suppose each complete machine cycle is normalized using: cycle mean, cycle standard deviation</a:t>
            </a:r>
          </a:p>
          <a:p>
            <a:r>
              <a:rPr lang="en-GB" dirty="0">
                <a:highlight>
                  <a:srgbClr val="FFFF00"/>
                </a:highlight>
              </a:rPr>
              <a:t>If the prediction is produced halfway through the cycle, these quantities may include measurements occurring after prediction time.</a:t>
            </a:r>
          </a:p>
          <a:p>
            <a:r>
              <a:rPr lang="en-GB" dirty="0"/>
              <a:t>The transformation is therefore not causal.</a:t>
            </a:r>
          </a:p>
          <a:p>
            <a:pPr marL="0" indent="0">
              <a:buNone/>
            </a:pPr>
            <a:endParaRPr lang="en-GB" b="1" dirty="0"/>
          </a:p>
          <a:p>
            <a:r>
              <a:rPr lang="en-GB" dirty="0"/>
              <a:t>A feature may be mathematically valid but operationally unavailable.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80831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097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9A17"/>
                </a:solidFill>
              </a:rPr>
              <a:t>2.E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Temporal feature leakage: causal vs centered rolling windows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02920" y="786384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A deterministic feature can still be invalid if it uses future observations.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822960" y="1828800"/>
            <a:ext cx="146304" cy="146304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731520" y="20574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t1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1417320" y="1828800"/>
            <a:ext cx="146304" cy="146304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1325880" y="20574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t2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2011680" y="1828800"/>
            <a:ext cx="146304" cy="146304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1920240" y="20574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t3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2606040" y="1828800"/>
            <a:ext cx="146304" cy="146304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2514600" y="20574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t4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3200400" y="1828800"/>
            <a:ext cx="146304" cy="146304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3108960" y="20574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t5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3794760" y="1828800"/>
            <a:ext cx="146304" cy="146304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3703320" y="20574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t6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4389120" y="1828800"/>
            <a:ext cx="146304" cy="146304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4297680" y="20574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t7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4983480" y="1828800"/>
            <a:ext cx="146304" cy="146304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4892040" y="20574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t8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5577840" y="1828800"/>
            <a:ext cx="146304" cy="146304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5486400" y="20574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t9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6172200" y="1828800"/>
            <a:ext cx="146304" cy="146304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6080760" y="20574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t10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640080" y="1901952"/>
            <a:ext cx="585216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4"/>
          <p:cNvSpPr/>
          <p:nvPr/>
        </p:nvSpPr>
        <p:spPr>
          <a:xfrm>
            <a:off x="3867912" y="1508760"/>
            <a:ext cx="0" cy="1965960"/>
          </a:xfrm>
          <a:prstGeom prst="line">
            <a:avLst/>
          </a:prstGeom>
          <a:noFill/>
          <a:ln w="1524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/>
          <p:nvPr/>
        </p:nvSpPr>
        <p:spPr>
          <a:xfrm>
            <a:off x="3291840" y="1234440"/>
            <a:ext cx="1143000" cy="201168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1182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prediction time t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011680" y="2514600"/>
            <a:ext cx="1856232" cy="0"/>
          </a:xfrm>
          <a:prstGeom prst="line">
            <a:avLst/>
          </a:prstGeom>
          <a:noFill/>
          <a:ln w="50800">
            <a:solidFill>
              <a:srgbClr val="5C9A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7"/>
          <p:cNvSpPr/>
          <p:nvPr/>
        </p:nvSpPr>
        <p:spPr>
          <a:xfrm>
            <a:off x="2308860" y="27432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C9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causal rolling mean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892808" y="29718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only x[t−L+1], ..., x[t]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2606040" y="3794760"/>
            <a:ext cx="2971800" cy="0"/>
          </a:xfrm>
          <a:prstGeom prst="line">
            <a:avLst/>
          </a:prstGeom>
          <a:noFill/>
          <a:ln w="508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0"/>
          <p:cNvSpPr/>
          <p:nvPr/>
        </p:nvSpPr>
        <p:spPr>
          <a:xfrm>
            <a:off x="3200400" y="40233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centered rolling mean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448556" y="4251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values after t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777240" y="4983480"/>
            <a:ext cx="320040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5C9A1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Valid for online prediction: current and past values only.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4572000" y="4983480"/>
            <a:ext cx="356616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Invalid for online prediction: future values affect the feature at time t.</a:t>
            </a:r>
            <a:endParaRPr lang="en-US" sz="95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D99AE1-1A82-533E-B86D-F40A7926C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Known future information vs realized future information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7644604-A7E1-4DA5-DE6D-2ED8E3104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Some future variables are legitimately available when a prediction is produced.</a:t>
            </a:r>
          </a:p>
          <a:p>
            <a:r>
              <a:rPr lang="en-GB" b="1" dirty="0">
                <a:highlight>
                  <a:srgbClr val="FFFF00"/>
                </a:highlight>
              </a:rPr>
              <a:t>Future-known covariates</a:t>
            </a:r>
          </a:p>
          <a:p>
            <a:r>
              <a:rPr lang="en-GB" dirty="0"/>
              <a:t>Examples:</a:t>
            </a:r>
          </a:p>
          <a:p>
            <a:pPr lvl="1"/>
            <a:r>
              <a:rPr lang="en-GB" dirty="0"/>
              <a:t>day of week; holiday calendar; scheduled production; planned promotion; contractual price; planned maintenance.</a:t>
            </a:r>
          </a:p>
          <a:p>
            <a:r>
              <a:rPr lang="en-GB" dirty="0"/>
              <a:t>These values may be used for future horizons because they are known in advance.</a:t>
            </a:r>
          </a:p>
          <a:p>
            <a:endParaRPr lang="en-GB" b="1" dirty="0"/>
          </a:p>
          <a:p>
            <a:r>
              <a:rPr lang="en-GB" b="1" dirty="0"/>
              <a:t>Future-realized variables</a:t>
            </a:r>
          </a:p>
          <a:p>
            <a:r>
              <a:rPr lang="en-GB" dirty="0"/>
              <a:t>Examples:</a:t>
            </a:r>
          </a:p>
          <a:p>
            <a:pPr lvl="1"/>
            <a:r>
              <a:rPr lang="en-GB" dirty="0"/>
              <a:t>actual future weather; future measured temperature; realized competitor price; future sensor values; actual future demand.</a:t>
            </a:r>
          </a:p>
          <a:p>
            <a:r>
              <a:rPr lang="en-GB" dirty="0"/>
              <a:t>These are not available when the prediction is generated.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464301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436F31-B6FB-5996-C2AF-81E19A686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demand forecasting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CD86F18-BFF0-321A-1F0C-A168968FC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At prediction time:</a:t>
            </a:r>
          </a:p>
          <a:p>
            <a:pPr lvl="1"/>
            <a:r>
              <a:rPr lang="en-GB" dirty="0"/>
              <a:t>past demand              → valid</a:t>
            </a:r>
          </a:p>
          <a:p>
            <a:pPr lvl="1"/>
            <a:r>
              <a:rPr lang="en-GB" dirty="0"/>
              <a:t>future calendar          → valid</a:t>
            </a:r>
          </a:p>
          <a:p>
            <a:pPr lvl="1"/>
            <a:r>
              <a:rPr lang="en-GB" dirty="0"/>
              <a:t>planned promotion        → valid</a:t>
            </a:r>
          </a:p>
          <a:p>
            <a:pPr lvl="1"/>
            <a:r>
              <a:rPr lang="en-GB" dirty="0"/>
              <a:t>weather forecast         → potentially valid</a:t>
            </a:r>
          </a:p>
          <a:p>
            <a:pPr lvl="1"/>
            <a:r>
              <a:rPr lang="en-GB" dirty="0"/>
              <a:t>actual future weather    → invalid</a:t>
            </a:r>
          </a:p>
          <a:p>
            <a:pPr lvl="1"/>
            <a:r>
              <a:rPr lang="en-GB" dirty="0"/>
              <a:t>future demand            → target</a:t>
            </a:r>
          </a:p>
          <a:p>
            <a:pPr marL="0" indent="0">
              <a:buNone/>
            </a:pPr>
            <a:endParaRPr lang="en-GB" b="1" dirty="0"/>
          </a:p>
          <a:p>
            <a:r>
              <a:rPr lang="en-GB" dirty="0"/>
              <a:t>Using a </a:t>
            </a:r>
            <a:r>
              <a:rPr lang="en-GB" b="1" dirty="0"/>
              <a:t>weather forecast</a:t>
            </a:r>
            <a:r>
              <a:rPr lang="en-GB" dirty="0"/>
              <a:t> is different from using the </a:t>
            </a:r>
            <a:r>
              <a:rPr lang="en-GB" b="1" dirty="0"/>
              <a:t>weather that actually occurred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The first may be available at inference.</a:t>
            </a:r>
          </a:p>
          <a:p>
            <a:pPr lvl="1"/>
            <a:r>
              <a:rPr lang="en-GB" dirty="0"/>
              <a:t>The second contains future information.</a:t>
            </a:r>
          </a:p>
          <a:p>
            <a:pPr marL="0" indent="0">
              <a:buNone/>
            </a:pPr>
            <a:endParaRPr lang="en-GB" b="1" dirty="0"/>
          </a:p>
          <a:p>
            <a:r>
              <a:rPr lang="en-GB" dirty="0">
                <a:highlight>
                  <a:srgbClr val="FFFF00"/>
                </a:highlight>
              </a:rPr>
              <a:t>For every feature, ask: Could this exact value be obtained by the deployed system at prediction time?</a:t>
            </a:r>
          </a:p>
        </p:txBody>
      </p:sp>
    </p:spTree>
    <p:extLst>
      <p:ext uri="{BB962C8B-B14F-4D97-AF65-F5344CB8AC3E}">
        <p14:creationId xmlns:p14="http://schemas.microsoft.com/office/powerpoint/2010/main" val="192754572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097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9A17"/>
                </a:solidFill>
              </a:rPr>
              <a:t>2.E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Known future information vs realized future information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02920" y="786384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Future variables are valid only if the deployed system actually knows them in advance.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77240" y="2468880"/>
            <a:ext cx="804672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868680" y="39319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092440" y="39319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617720" y="1188720"/>
            <a:ext cx="0" cy="2743200"/>
          </a:xfrm>
          <a:prstGeom prst="line">
            <a:avLst/>
          </a:prstGeom>
          <a:noFill/>
          <a:ln w="1778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4023360" y="1024128"/>
            <a:ext cx="1143000" cy="201168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1182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prediction time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05840" y="1508760"/>
            <a:ext cx="196596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 demand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583680" y="1508760"/>
            <a:ext cx="1234440" cy="256032"/>
          </a:xfrm>
          <a:prstGeom prst="roundRect">
            <a:avLst/>
          </a:prstGeom>
          <a:solidFill>
            <a:srgbClr val="5C9A17"/>
          </a:solidFill>
          <a:ln w="12700">
            <a:solidFill>
              <a:srgbClr val="5C9A1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063240" y="1636776"/>
            <a:ext cx="1417320" cy="0"/>
          </a:xfrm>
          <a:prstGeom prst="line">
            <a:avLst/>
          </a:prstGeom>
          <a:noFill/>
          <a:ln w="25400">
            <a:solidFill>
              <a:srgbClr val="5C9A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1005840" y="1920240"/>
            <a:ext cx="196596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calendar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583680" y="1920240"/>
            <a:ext cx="1234440" cy="256032"/>
          </a:xfrm>
          <a:prstGeom prst="roundRect">
            <a:avLst/>
          </a:prstGeom>
          <a:solidFill>
            <a:srgbClr val="5C9A17"/>
          </a:solidFill>
          <a:ln w="12700">
            <a:solidFill>
              <a:srgbClr val="5C9A1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54880" y="2048256"/>
            <a:ext cx="1691640" cy="0"/>
          </a:xfrm>
          <a:prstGeom prst="line">
            <a:avLst/>
          </a:prstGeom>
          <a:noFill/>
          <a:ln w="25400">
            <a:solidFill>
              <a:srgbClr val="5C9A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1005840" y="2331720"/>
            <a:ext cx="196596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planned promotion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583680" y="2331720"/>
            <a:ext cx="1234440" cy="256032"/>
          </a:xfrm>
          <a:prstGeom prst="roundRect">
            <a:avLst/>
          </a:prstGeom>
          <a:solidFill>
            <a:srgbClr val="5C9A17"/>
          </a:solidFill>
          <a:ln w="12700">
            <a:solidFill>
              <a:srgbClr val="5C9A1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754880" y="2459736"/>
            <a:ext cx="1691640" cy="0"/>
          </a:xfrm>
          <a:prstGeom prst="line">
            <a:avLst/>
          </a:prstGeom>
          <a:noFill/>
          <a:ln w="25400">
            <a:solidFill>
              <a:srgbClr val="5C9A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1005840" y="2743200"/>
            <a:ext cx="196596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weather forecast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583680" y="2743200"/>
            <a:ext cx="1234440" cy="25603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potentially valid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754880" y="2871216"/>
            <a:ext cx="16916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1005840" y="3154680"/>
            <a:ext cx="196596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future weather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583680" y="3154680"/>
            <a:ext cx="1234440" cy="256032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invalid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754880" y="3282696"/>
            <a:ext cx="169164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1005840" y="3566160"/>
            <a:ext cx="1965960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demand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6583680" y="3566160"/>
            <a:ext cx="1234440" cy="256032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754880" y="3694176"/>
            <a:ext cx="169164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960120" y="5029200"/>
            <a:ext cx="5760720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5C9A1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Ask for every feature: could this exact value be obtained at prediction time?</a:t>
            </a:r>
            <a:endParaRPr lang="en-US" sz="95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CD27B53-1C8D-72B5-9219-F7ADCC667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Target leakage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4217806-DC3C-98FD-CECE-523E1E603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The most severe form of leakage occurs when the input contains information derived directly or indirectly from the target.</a:t>
            </a:r>
          </a:p>
          <a:p>
            <a:endParaRPr lang="en-GB" b="1" dirty="0"/>
          </a:p>
          <a:p>
            <a:r>
              <a:rPr lang="en-GB" b="1" dirty="0"/>
              <a:t>Direct target leakage</a:t>
            </a:r>
          </a:p>
          <a:p>
            <a:r>
              <a:rPr lang="en-GB" dirty="0"/>
              <a:t>Example:</a:t>
            </a:r>
          </a:p>
          <a:p>
            <a:pPr lvl="1"/>
            <a:r>
              <a:rPr lang="en-GB" dirty="0"/>
              <a:t>Predict whether a machine will fail within the next 24 hours using a feature: hours until next failure. The target is effectively included in the input.</a:t>
            </a:r>
          </a:p>
          <a:p>
            <a:endParaRPr lang="en-GB" b="1" dirty="0"/>
          </a:p>
          <a:p>
            <a:r>
              <a:rPr lang="en-GB" b="1" dirty="0"/>
              <a:t>Indirect target leakage</a:t>
            </a:r>
          </a:p>
          <a:p>
            <a:r>
              <a:rPr lang="en-GB" dirty="0"/>
              <a:t>A feature may be strongly related to the target because it is recorded only after the outcome becomes known.</a:t>
            </a:r>
          </a:p>
          <a:p>
            <a:r>
              <a:rPr lang="en-GB" dirty="0"/>
              <a:t>Examples:</a:t>
            </a:r>
          </a:p>
          <a:p>
            <a:pPr lvl="1"/>
            <a:r>
              <a:rPr lang="en-GB" dirty="0"/>
              <a:t>maintenance action performed after failure; final quality-control result; post-event diagnostic code; customer status updated after churn; final cycle duration when prediction is required before cycle completion.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08995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3CBDB6-38EC-4C70-0552-09D091B0B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Proxy leakage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95A0336-9980-B5C2-5335-3B3374048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it-IT" b="1" dirty="0"/>
              <a:t>Proxy leakage</a:t>
            </a:r>
            <a:endParaRPr lang="en-GB" b="1" dirty="0"/>
          </a:p>
          <a:p>
            <a:r>
              <a:rPr lang="en-GB" dirty="0"/>
              <a:t>A variable may encode the target unintentionally.</a:t>
            </a:r>
          </a:p>
          <a:p>
            <a:r>
              <a:rPr lang="en-GB" dirty="0"/>
              <a:t>Example:</a:t>
            </a:r>
          </a:p>
          <a:p>
            <a:pPr lvl="1"/>
            <a:r>
              <a:rPr lang="en-GB" b="1" dirty="0" err="1"/>
              <a:t>record_id</a:t>
            </a:r>
            <a:r>
              <a:rPr lang="en-GB" b="1" dirty="0"/>
              <a:t>, if recording IDs were assigned differently to normal and faulty experiments.</a:t>
            </a:r>
          </a:p>
          <a:p>
            <a:endParaRPr lang="en-GB" b="1" dirty="0"/>
          </a:p>
          <a:p>
            <a:r>
              <a:rPr lang="en-GB" b="1" dirty="0"/>
              <a:t>Leakage through data preparation</a:t>
            </a:r>
          </a:p>
          <a:p>
            <a:r>
              <a:rPr lang="en-GB" dirty="0"/>
              <a:t>Examples:</a:t>
            </a:r>
          </a:p>
          <a:p>
            <a:pPr lvl="1"/>
            <a:r>
              <a:rPr lang="en-GB" dirty="0"/>
              <a:t>selecting features using the complete dataset;</a:t>
            </a:r>
          </a:p>
          <a:p>
            <a:pPr lvl="1"/>
            <a:r>
              <a:rPr lang="en-GB" dirty="0"/>
              <a:t>balancing classes before splitting;</a:t>
            </a:r>
          </a:p>
          <a:p>
            <a:pPr lvl="1"/>
            <a:r>
              <a:rPr lang="en-GB" dirty="0"/>
              <a:t>choosing thresholds using test labels;</a:t>
            </a:r>
          </a:p>
          <a:p>
            <a:pPr lvl="1"/>
            <a:r>
              <a:rPr lang="en-GB" dirty="0"/>
              <a:t>filtering samples based on future outcomes.</a:t>
            </a:r>
          </a:p>
          <a:p>
            <a:endParaRPr lang="en-GB" dirty="0"/>
          </a:p>
          <a:p>
            <a:r>
              <a:rPr lang="en-GB" dirty="0"/>
              <a:t>Availability and causal timing of each feature must be verified.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461040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097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9A17"/>
                </a:solidFill>
              </a:rPr>
              <a:t>2.E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leakage: timing of features matters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02920" y="786384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A feature may be highly predictive because it is recorded after the outcome is already known.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822960" y="2651760"/>
            <a:ext cx="786384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5577840" y="1463040"/>
            <a:ext cx="0" cy="2560320"/>
          </a:xfrm>
          <a:prstGeom prst="line">
            <a:avLst/>
          </a:prstGeom>
          <a:noFill/>
          <a:ln w="2032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5074920" y="1280160"/>
            <a:ext cx="1005840" cy="201168"/>
          </a:xfrm>
          <a:prstGeom prst="roundRect">
            <a:avLst/>
          </a:prstGeom>
          <a:solidFill>
            <a:srgbClr val="DC2626"/>
          </a:solidFill>
          <a:ln w="6350">
            <a:solidFill>
              <a:srgbClr val="DC2626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failure event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88720" y="1920240"/>
            <a:ext cx="2194560" cy="4114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 history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97880" y="1737360"/>
            <a:ext cx="2057400" cy="658368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maintenance action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failure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89320" y="3108960"/>
            <a:ext cx="1828800" cy="53035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quality-control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645920" y="28346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 history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806440" y="38404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highlight>
                  <a:srgbClr val="FFFF00"/>
                </a:highlight>
                <a:latin typeface="Aptos" pitchFamily="34" charset="0"/>
                <a:ea typeface="Aptos" pitchFamily="34" charset="-122"/>
                <a:cs typeface="Aptos" pitchFamily="34" charset="-120"/>
              </a:rPr>
              <a:t>post-outcome information</a:t>
            </a:r>
            <a:endParaRPr lang="en-US" sz="900" dirty="0">
              <a:highlight>
                <a:srgbClr val="FFFF00"/>
              </a:highlight>
            </a:endParaRPr>
          </a:p>
        </p:txBody>
      </p:sp>
      <p:sp>
        <p:nvSpPr>
          <p:cNvPr id="14" name="Text 11"/>
          <p:cNvSpPr/>
          <p:nvPr/>
        </p:nvSpPr>
        <p:spPr>
          <a:xfrm>
            <a:off x="777240" y="4754880"/>
            <a:ext cx="388620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Direct leakage: a feature such as hours until next failure includes the target itself.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937760" y="4754880"/>
            <a:ext cx="384048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Proxy leakage: identifiers or operational codes may encode the outcome indirectly.</a:t>
            </a:r>
            <a:endParaRPr lang="en-US" sz="95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90678B2-7F00-4916-3D02-D1FF6E774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Split first, fit preprocessing second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C5B5CE0-3EA1-B7E8-40A7-FEDBE3EA9A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8"/>
            <a:ext cx="5160102" cy="4522313"/>
          </a:xfrm>
        </p:spPr>
        <p:txBody>
          <a:bodyPr>
            <a:normAutofit fontScale="32500" lnSpcReduction="20000"/>
          </a:bodyPr>
          <a:lstStyle/>
          <a:p>
            <a:r>
              <a:rPr lang="en-GB" sz="2800" dirty="0"/>
              <a:t>Treat preprocessing, feature construction, feature selection, and prediction as a single modelling pipeline that is fitted using training data only.</a:t>
            </a:r>
          </a:p>
          <a:p>
            <a:r>
              <a:rPr lang="en-GB" sz="2800" dirty="0"/>
              <a:t>raw training data</a:t>
            </a:r>
          </a:p>
          <a:p>
            <a:r>
              <a:rPr lang="en-GB" sz="2800" dirty="0"/>
              <a:t>      ↓</a:t>
            </a:r>
          </a:p>
          <a:p>
            <a:r>
              <a:rPr lang="en-GB" sz="2800" b="1" dirty="0"/>
              <a:t>fit preprocessing</a:t>
            </a:r>
          </a:p>
          <a:p>
            <a:r>
              <a:rPr lang="en-GB" sz="2800" b="1" dirty="0"/>
              <a:t>      ↓</a:t>
            </a:r>
          </a:p>
          <a:p>
            <a:r>
              <a:rPr lang="en-GB" sz="2800" b="1" dirty="0"/>
              <a:t>transform training data</a:t>
            </a:r>
          </a:p>
          <a:p>
            <a:r>
              <a:rPr lang="en-GB" sz="2800" dirty="0"/>
              <a:t>      ↓</a:t>
            </a:r>
          </a:p>
          <a:p>
            <a:r>
              <a:rPr lang="en-GB" sz="2800" dirty="0"/>
              <a:t>fit model</a:t>
            </a:r>
          </a:p>
          <a:p>
            <a:endParaRPr lang="en-GB" sz="2800" dirty="0"/>
          </a:p>
          <a:p>
            <a:r>
              <a:rPr lang="en-GB" sz="2800" dirty="0"/>
              <a:t>For validation:</a:t>
            </a:r>
          </a:p>
          <a:p>
            <a:r>
              <a:rPr lang="en-GB" sz="2800" dirty="0"/>
              <a:t>raw validation data</a:t>
            </a:r>
          </a:p>
          <a:p>
            <a:r>
              <a:rPr lang="en-GB" sz="2800" dirty="0"/>
              <a:t>      ↓</a:t>
            </a:r>
          </a:p>
          <a:p>
            <a:r>
              <a:rPr lang="en-GB" sz="2800" b="1" dirty="0"/>
              <a:t>apply preprocessing fitted on training</a:t>
            </a:r>
          </a:p>
          <a:p>
            <a:r>
              <a:rPr lang="en-GB" sz="2800" dirty="0"/>
              <a:t>      ↓</a:t>
            </a:r>
          </a:p>
          <a:p>
            <a:r>
              <a:rPr lang="en-GB" sz="2800" b="1" dirty="0"/>
              <a:t>apply trained model</a:t>
            </a:r>
          </a:p>
          <a:p>
            <a:r>
              <a:rPr lang="en-GB" sz="2800" dirty="0"/>
              <a:t>      ↓</a:t>
            </a:r>
          </a:p>
          <a:p>
            <a:r>
              <a:rPr lang="en-GB" sz="2800" dirty="0"/>
              <a:t>compute validation metric</a:t>
            </a:r>
          </a:p>
          <a:p>
            <a:endParaRPr lang="en-GB" dirty="0"/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0C3379A-02A8-A24A-5DF4-84CA37F68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4565" y="2200548"/>
            <a:ext cx="5007341" cy="3880773"/>
          </a:xfrm>
        </p:spPr>
        <p:txBody>
          <a:bodyPr>
            <a:normAutofit fontScale="32500" lnSpcReduction="20000"/>
          </a:bodyPr>
          <a:lstStyle/>
          <a:p>
            <a:r>
              <a:rPr lang="en-GB" sz="3000" b="1" dirty="0"/>
              <a:t>During rolling or expanding validation</a:t>
            </a:r>
          </a:p>
          <a:p>
            <a:r>
              <a:rPr lang="en-GB" sz="3000" b="1" dirty="0"/>
              <a:t>At every evaluation origin:</a:t>
            </a:r>
          </a:p>
          <a:p>
            <a:pPr lvl="1"/>
            <a:r>
              <a:rPr lang="en-GB" sz="2800" dirty="0"/>
              <a:t>define the currently available training interval;</a:t>
            </a:r>
          </a:p>
          <a:p>
            <a:pPr lvl="1"/>
            <a:r>
              <a:rPr lang="en-GB" sz="2800" dirty="0"/>
              <a:t>fit preprocessing using that interval;</a:t>
            </a:r>
          </a:p>
          <a:p>
            <a:pPr lvl="1"/>
            <a:r>
              <a:rPr lang="en-GB" sz="2800" dirty="0"/>
              <a:t>transform the current training data;</a:t>
            </a:r>
          </a:p>
          <a:p>
            <a:pPr lvl="1"/>
            <a:r>
              <a:rPr lang="en-GB" sz="2800" dirty="0"/>
              <a:t>fit the model;</a:t>
            </a:r>
          </a:p>
          <a:p>
            <a:pPr lvl="1"/>
            <a:r>
              <a:rPr lang="en-GB" sz="2800" dirty="0"/>
              <a:t>transform the following validation interval;</a:t>
            </a:r>
          </a:p>
          <a:p>
            <a:pPr lvl="1"/>
            <a:r>
              <a:rPr lang="en-GB" sz="2800" dirty="0"/>
              <a:t>evaluate.</a:t>
            </a:r>
          </a:p>
          <a:p>
            <a:r>
              <a:rPr lang="en-GB" sz="3000" b="1" dirty="0"/>
              <a:t>Preprocessing should therefore be refitted whenever the training set changes</a:t>
            </a:r>
            <a:r>
              <a:rPr lang="en-GB" dirty="0"/>
              <a:t>.</a:t>
            </a:r>
          </a:p>
          <a:p>
            <a:endParaRPr lang="en-GB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B5335A27-9B7B-11A3-CD06-88B82FAD2A20}"/>
              </a:ext>
            </a:extLst>
          </p:cNvPr>
          <p:cNvSpPr txBox="1"/>
          <p:nvPr/>
        </p:nvSpPr>
        <p:spPr>
          <a:xfrm>
            <a:off x="2245259" y="1284069"/>
            <a:ext cx="68120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Fit preprocessing parameters on the training data only, then apply the fitted transformation to validation and test data.</a:t>
            </a:r>
          </a:p>
        </p:txBody>
      </p:sp>
    </p:spTree>
    <p:extLst>
      <p:ext uri="{BB962C8B-B14F-4D97-AF65-F5344CB8AC3E}">
        <p14:creationId xmlns:p14="http://schemas.microsoft.com/office/powerpoint/2010/main" val="413687552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26B18E3-20F9-00F5-B3D2-949E4C22E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 of pipeline components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B1551E0-1CDE-20EF-6CA3-DBC90E6C8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GB" dirty="0"/>
              <a:t>imputation</a:t>
            </a:r>
          </a:p>
          <a:p>
            <a:r>
              <a:rPr lang="en-GB" dirty="0"/>
              <a:t>   ↓</a:t>
            </a:r>
          </a:p>
          <a:p>
            <a:r>
              <a:rPr lang="en-GB" dirty="0"/>
              <a:t>standardization</a:t>
            </a:r>
          </a:p>
          <a:p>
            <a:r>
              <a:rPr lang="en-GB" dirty="0"/>
              <a:t>   ↓</a:t>
            </a:r>
          </a:p>
          <a:p>
            <a:r>
              <a:rPr lang="en-GB" dirty="0"/>
              <a:t>feature extraction</a:t>
            </a:r>
          </a:p>
          <a:p>
            <a:r>
              <a:rPr lang="en-GB" dirty="0"/>
              <a:t>   ↓</a:t>
            </a:r>
          </a:p>
          <a:p>
            <a:r>
              <a:rPr lang="en-GB" dirty="0"/>
              <a:t>feature selection</a:t>
            </a:r>
          </a:p>
          <a:p>
            <a:r>
              <a:rPr lang="en-GB" dirty="0"/>
              <a:t>   ↓</a:t>
            </a:r>
          </a:p>
          <a:p>
            <a:r>
              <a:rPr lang="en-GB" dirty="0"/>
              <a:t>predictive model</a:t>
            </a:r>
          </a:p>
          <a:p>
            <a:r>
              <a:rPr lang="en-GB" dirty="0"/>
              <a:t>Every fitted component must respect the same training boundary.</a:t>
            </a:r>
          </a:p>
          <a:p>
            <a:endParaRPr lang="en-GB" b="1" dirty="0"/>
          </a:p>
          <a:p>
            <a:r>
              <a:rPr lang="en-GB" b="1" dirty="0"/>
              <a:t>Practical implementation</a:t>
            </a:r>
          </a:p>
          <a:p>
            <a:r>
              <a:rPr lang="en-GB" dirty="0"/>
              <a:t>Using a software pipeline helps ensure that:</a:t>
            </a:r>
          </a:p>
          <a:p>
            <a:pPr lvl="1"/>
            <a:r>
              <a:rPr lang="en-GB" dirty="0"/>
              <a:t>fitted transformations are learned from training only;</a:t>
            </a:r>
          </a:p>
          <a:p>
            <a:pPr lvl="1"/>
            <a:r>
              <a:rPr lang="en-GB" dirty="0"/>
              <a:t>exactly the same transformations are applied to validation and test;</a:t>
            </a:r>
          </a:p>
          <a:p>
            <a:pPr lvl="1"/>
            <a:r>
              <a:rPr lang="en-GB" dirty="0"/>
              <a:t>model evaluation is reproducible.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988749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097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9A17"/>
                </a:solidFill>
              </a:rPr>
              <a:t>2.E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full pipeline must respect the evaluation boundary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02920" y="786384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Preprocessing, feature transformations and the model form one trainable pipeline.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777240" y="1097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1508760"/>
            <a:ext cx="1911096" cy="5943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training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706624" y="1805940"/>
            <a:ext cx="109728" cy="0"/>
          </a:xfrm>
          <a:prstGeom prst="line">
            <a:avLst/>
          </a:prstGeom>
          <a:noFill/>
          <a:ln w="20320">
            <a:solidFill>
              <a:srgbClr val="5C9A1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2852928" y="1508760"/>
            <a:ext cx="1911096" cy="5943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preprocessing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82312" y="1805940"/>
            <a:ext cx="109728" cy="0"/>
          </a:xfrm>
          <a:prstGeom prst="line">
            <a:avLst/>
          </a:prstGeom>
          <a:noFill/>
          <a:ln w="20320">
            <a:solidFill>
              <a:srgbClr val="5C9A1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4928616" y="1508760"/>
            <a:ext cx="1911096" cy="5943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858000" y="1805940"/>
            <a:ext cx="109728" cy="0"/>
          </a:xfrm>
          <a:prstGeom prst="line">
            <a:avLst/>
          </a:prstGeom>
          <a:noFill/>
          <a:ln w="20320">
            <a:solidFill>
              <a:srgbClr val="5C9A1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7004304" y="1508760"/>
            <a:ext cx="1911096" cy="5943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77240" y="2834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/ Test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77240" y="3246120"/>
            <a:ext cx="1911096" cy="5943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validation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test data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706624" y="3543300"/>
            <a:ext cx="109728" cy="0"/>
          </a:xfrm>
          <a:prstGeom prst="line">
            <a:avLst/>
          </a:prstGeom>
          <a:noFill/>
          <a:ln w="20320">
            <a:solidFill>
              <a:srgbClr val="5C9A1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2852928" y="3246120"/>
            <a:ext cx="1911096" cy="5943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training-fitted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preprocessing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782312" y="3543300"/>
            <a:ext cx="109728" cy="0"/>
          </a:xfrm>
          <a:prstGeom prst="line">
            <a:avLst/>
          </a:prstGeom>
          <a:noFill/>
          <a:ln w="20320">
            <a:solidFill>
              <a:srgbClr val="5C9A1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4928616" y="3246120"/>
            <a:ext cx="1911096" cy="5943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trained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858000" y="3543300"/>
            <a:ext cx="109728" cy="0"/>
          </a:xfrm>
          <a:prstGeom prst="line">
            <a:avLst/>
          </a:prstGeom>
          <a:noFill/>
          <a:ln w="20320">
            <a:solidFill>
              <a:srgbClr val="5C9A1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7004304" y="3246120"/>
            <a:ext cx="1911096" cy="59436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51560" y="4983480"/>
            <a:ext cx="694944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5C9A1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If the training interval changes in a rolling-origin evaluation, the fitted preprocessing must be refitted using the new training interval.</a:t>
            </a:r>
            <a:endParaRPr lang="en-US" sz="95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4FE284-3AFA-6844-6BA0-EA8C71586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Block </a:t>
            </a:r>
            <a:r>
              <a:rPr lang="en-GB" dirty="0"/>
              <a:t>2.F — Validation, Model Selection and Final Testing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1CD68D3-D2DF-A7A6-76B8-1265ECF2C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968305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4439DE5-B8FC-C359-A7E8-6C8BA1F07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Validation is part of model development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838CDB3-53F8-A79F-6E25-8D8906DE4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The validation set is not an independent final assessment.</a:t>
            </a:r>
          </a:p>
          <a:p>
            <a:r>
              <a:rPr lang="en-GB" dirty="0"/>
              <a:t>Its performance is repeatedly observed during development.</a:t>
            </a:r>
          </a:p>
          <a:p>
            <a:r>
              <a:rPr lang="en-GB" b="1" dirty="0"/>
              <a:t>Validation may influence</a:t>
            </a:r>
          </a:p>
          <a:p>
            <a:pPr lvl="1"/>
            <a:r>
              <a:rPr lang="en-GB" dirty="0"/>
              <a:t>window length;</a:t>
            </a:r>
          </a:p>
          <a:p>
            <a:pPr lvl="1"/>
            <a:r>
              <a:rPr lang="en-GB" dirty="0"/>
              <a:t>stride;</a:t>
            </a:r>
          </a:p>
          <a:p>
            <a:pPr lvl="1"/>
            <a:r>
              <a:rPr lang="en-GB" dirty="0"/>
              <a:t>selected input variables;</a:t>
            </a:r>
          </a:p>
          <a:p>
            <a:pPr lvl="1"/>
            <a:r>
              <a:rPr lang="en-GB" dirty="0"/>
              <a:t>engineered features;</a:t>
            </a:r>
          </a:p>
          <a:p>
            <a:pPr lvl="1"/>
            <a:r>
              <a:rPr lang="en-GB" dirty="0"/>
              <a:t>model family;</a:t>
            </a:r>
          </a:p>
          <a:p>
            <a:pPr lvl="1"/>
            <a:r>
              <a:rPr lang="en-GB" dirty="0"/>
              <a:t>model complexity;</a:t>
            </a:r>
          </a:p>
          <a:p>
            <a:pPr lvl="1"/>
            <a:r>
              <a:rPr lang="en-GB" dirty="0"/>
              <a:t>regularization;</a:t>
            </a:r>
          </a:p>
          <a:p>
            <a:pPr lvl="1"/>
            <a:r>
              <a:rPr lang="en-GB" dirty="0"/>
              <a:t>learning settings;</a:t>
            </a:r>
          </a:p>
          <a:p>
            <a:pPr lvl="1"/>
            <a:r>
              <a:rPr lang="en-GB" dirty="0"/>
              <a:t>stopping criteria;</a:t>
            </a:r>
          </a:p>
          <a:p>
            <a:pPr lvl="1"/>
            <a:r>
              <a:rPr lang="en-GB" dirty="0"/>
              <a:t>classification threshold.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876926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788351-5392-4DC2-B87D-BFFA6F423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Example</a:t>
            </a:r>
            <a:r>
              <a:rPr lang="it-IT" dirty="0"/>
              <a:t> and </a:t>
            </a:r>
            <a:r>
              <a:rPr lang="it-IT" dirty="0" err="1"/>
              <a:t>consequence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0BBF3AB-D003-A117-994C-5F4D4D4A4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b="1" dirty="0"/>
              <a:t>Suppose three models are evaluated:</a:t>
            </a:r>
          </a:p>
          <a:p>
            <a:pPr lvl="1"/>
            <a:r>
              <a:rPr lang="en-GB" dirty="0"/>
              <a:t>Model A: validation accuracy = 82%</a:t>
            </a:r>
          </a:p>
          <a:p>
            <a:pPr lvl="1"/>
            <a:r>
              <a:rPr lang="en-GB" dirty="0"/>
              <a:t>Model B: validation accuracy = 87%</a:t>
            </a:r>
          </a:p>
          <a:p>
            <a:pPr lvl="1"/>
            <a:r>
              <a:rPr lang="en-GB" dirty="0"/>
              <a:t>Model C: validation accuracy = 84%</a:t>
            </a:r>
          </a:p>
          <a:p>
            <a:r>
              <a:rPr lang="en-GB" dirty="0"/>
              <a:t>Model B is selected because of its validation performance.</a:t>
            </a:r>
          </a:p>
          <a:p>
            <a:r>
              <a:rPr lang="en-GB" dirty="0"/>
              <a:t>Therefore: information from the validation set has influenced the final model choice.</a:t>
            </a:r>
          </a:p>
          <a:p>
            <a:r>
              <a:rPr lang="en-GB" dirty="0"/>
              <a:t>This is legitimate. But the validation score is no longer an unbiased estimate of completely unseen-data performance.</a:t>
            </a:r>
          </a:p>
          <a:p>
            <a:endParaRPr lang="en-GB" b="1" dirty="0"/>
          </a:p>
          <a:p>
            <a:r>
              <a:rPr lang="en-GB" b="1" dirty="0"/>
              <a:t>Key distinction</a:t>
            </a:r>
          </a:p>
          <a:p>
            <a:r>
              <a:rPr lang="en-GB" dirty="0"/>
              <a:t>Training data   → fit parameters</a:t>
            </a:r>
          </a:p>
          <a:p>
            <a:endParaRPr lang="en-GB" dirty="0"/>
          </a:p>
          <a:p>
            <a:r>
              <a:rPr lang="en-GB" dirty="0"/>
              <a:t>Validation data → choose the modelling solution</a:t>
            </a:r>
          </a:p>
          <a:p>
            <a:endParaRPr lang="en-GB" dirty="0"/>
          </a:p>
          <a:p>
            <a:r>
              <a:rPr lang="en-GB" dirty="0"/>
              <a:t>Test data       → evaluate the chosen solution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444624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097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9A17"/>
                </a:solidFill>
              </a:rPr>
              <a:t>2.F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 is part of model development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02920" y="786384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Validation data guide decisions; test data evaluate the final frozen solution.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85800" y="1828800"/>
            <a:ext cx="1569110" cy="64008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data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273198" y="2148840"/>
            <a:ext cx="109728" cy="0"/>
          </a:xfrm>
          <a:prstGeom prst="line">
            <a:avLst/>
          </a:prstGeom>
          <a:noFill/>
          <a:ln w="20320">
            <a:solidFill>
              <a:srgbClr val="5C9A1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2419502" y="1828800"/>
            <a:ext cx="1569110" cy="64008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006901" y="2148840"/>
            <a:ext cx="109728" cy="0"/>
          </a:xfrm>
          <a:prstGeom prst="line">
            <a:avLst/>
          </a:prstGeom>
          <a:noFill/>
          <a:ln w="20320">
            <a:solidFill>
              <a:srgbClr val="5C9A1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4153205" y="1828800"/>
            <a:ext cx="1569110" cy="64008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40603" y="2148840"/>
            <a:ext cx="109728" cy="0"/>
          </a:xfrm>
          <a:prstGeom prst="line">
            <a:avLst/>
          </a:prstGeom>
          <a:noFill/>
          <a:ln w="20320">
            <a:solidFill>
              <a:srgbClr val="5C9A1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5886907" y="1828800"/>
            <a:ext cx="1569110" cy="640080"/>
          </a:xfrm>
          <a:prstGeom prst="roundRect">
            <a:avLst/>
          </a:prstGeom>
          <a:solidFill>
            <a:srgbClr val="5C9A17"/>
          </a:solidFill>
          <a:ln w="12700">
            <a:solidFill>
              <a:srgbClr val="5C9A1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474306" y="2148840"/>
            <a:ext cx="109728" cy="0"/>
          </a:xfrm>
          <a:prstGeom prst="line">
            <a:avLst/>
          </a:prstGeom>
          <a:noFill/>
          <a:ln w="20320">
            <a:solidFill>
              <a:srgbClr val="5C9A1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7620610" y="1828800"/>
            <a:ext cx="1569110" cy="640080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77240" y="26974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 parameters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74320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features, window length, model, hyperparameters, threshold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772400" y="26974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assessment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97280" y="4343400"/>
            <a:ext cx="676656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</a:rPr>
              <a:t>Once validation scores influence choices, validation performance is no longer a fully independent estimate of final performance.</a:t>
            </a:r>
            <a:endParaRPr lang="en-US" sz="950" b="1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197C3C8-347B-9A59-E9EC-A3636558A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Repeated model selection can overfit the validation set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5528339-2749-7782-494F-D88650633D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dirty="0"/>
              <a:t>Validation does not need to enter the optimization algorithm directly for overfitting to occur.</a:t>
            </a:r>
          </a:p>
          <a:p>
            <a:r>
              <a:rPr lang="en-GB" dirty="0"/>
              <a:t>Suppose we repeatedly try:</a:t>
            </a:r>
          </a:p>
          <a:p>
            <a:pPr lvl="1"/>
            <a:r>
              <a:rPr lang="en-GB" dirty="0"/>
              <a:t>different window lengths;</a:t>
            </a:r>
          </a:p>
          <a:p>
            <a:pPr lvl="1"/>
            <a:r>
              <a:rPr lang="en-GB" dirty="0"/>
              <a:t>different features;</a:t>
            </a:r>
          </a:p>
          <a:p>
            <a:pPr lvl="1"/>
            <a:r>
              <a:rPr lang="en-GB" dirty="0"/>
              <a:t>different models;</a:t>
            </a:r>
          </a:p>
          <a:p>
            <a:pPr lvl="1"/>
            <a:r>
              <a:rPr lang="en-GB" dirty="0"/>
              <a:t>different hyperparameters;</a:t>
            </a:r>
          </a:p>
          <a:p>
            <a:pPr lvl="1"/>
            <a:r>
              <a:rPr lang="en-GB" dirty="0"/>
              <a:t>different random seeds.</a:t>
            </a:r>
          </a:p>
          <a:p>
            <a:r>
              <a:rPr lang="en-GB" dirty="0"/>
              <a:t>Each new decision is based on validation performance.</a:t>
            </a:r>
          </a:p>
          <a:p>
            <a:r>
              <a:rPr lang="en-GB" b="1" dirty="0"/>
              <a:t>Example</a:t>
            </a:r>
          </a:p>
          <a:p>
            <a:pPr lvl="1"/>
            <a:r>
              <a:rPr lang="en-GB" dirty="0"/>
              <a:t>experiment 1 → validation score</a:t>
            </a:r>
          </a:p>
          <a:p>
            <a:pPr lvl="1"/>
            <a:r>
              <a:rPr lang="en-GB" dirty="0"/>
              <a:t>experiment 2 → validation score</a:t>
            </a:r>
          </a:p>
          <a:p>
            <a:pPr lvl="1"/>
            <a:r>
              <a:rPr lang="en-GB" dirty="0"/>
              <a:t>experiment 3 → validation score</a:t>
            </a:r>
          </a:p>
          <a:p>
            <a:pPr lvl="1"/>
            <a:r>
              <a:rPr lang="en-GB" dirty="0"/>
              <a:t>...</a:t>
            </a:r>
          </a:p>
          <a:p>
            <a:pPr lvl="1"/>
            <a:r>
              <a:rPr lang="en-GB" dirty="0"/>
              <a:t>experiment 50 → validation score</a:t>
            </a:r>
          </a:p>
          <a:p>
            <a:r>
              <a:rPr lang="en-GB" dirty="0"/>
              <a:t>After many experiments, the highest validation score may reflect both authentic model quality and </a:t>
            </a:r>
            <a:r>
              <a:rPr lang="en-GB" dirty="0" err="1"/>
              <a:t>favorable</a:t>
            </a:r>
            <a:r>
              <a:rPr lang="en-GB" dirty="0"/>
              <a:t> random fluctuations on that particular validation set.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030801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EB077F-3E79-0DEB-3A47-290645F03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Consequence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0D5C35B-8078-93FB-90B8-A3FBEC457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The selected model may be specialized to:</a:t>
            </a:r>
          </a:p>
          <a:p>
            <a:pPr lvl="1"/>
            <a:r>
              <a:rPr lang="en-GB" dirty="0"/>
              <a:t>the particular validation period;</a:t>
            </a:r>
          </a:p>
          <a:p>
            <a:pPr lvl="1"/>
            <a:r>
              <a:rPr lang="en-GB" dirty="0"/>
              <a:t>the particular validation entities;</a:t>
            </a:r>
          </a:p>
          <a:p>
            <a:pPr lvl="1"/>
            <a:r>
              <a:rPr lang="en-GB" dirty="0"/>
              <a:t>noise in the validation labels;</a:t>
            </a:r>
          </a:p>
          <a:p>
            <a:pPr lvl="1"/>
            <a:r>
              <a:rPr lang="en-GB" dirty="0"/>
              <a:t>unusual conditions occurring in that split.</a:t>
            </a:r>
          </a:p>
          <a:p>
            <a:r>
              <a:rPr lang="en-GB" b="1" dirty="0"/>
              <a:t>This is why the test set is required</a:t>
            </a:r>
          </a:p>
          <a:p>
            <a:pPr lvl="1"/>
            <a:r>
              <a:rPr lang="en-GB" dirty="0"/>
              <a:t>The test set provides a new evaluation after all model-selection decisions have been frozen.</a:t>
            </a:r>
          </a:p>
          <a:p>
            <a:r>
              <a:rPr lang="en-GB" b="1" dirty="0"/>
              <a:t>Practical implication</a:t>
            </a:r>
          </a:p>
          <a:p>
            <a:pPr lvl="1"/>
            <a:r>
              <a:rPr lang="en-GB" dirty="0"/>
              <a:t>When many development choices are explored:</a:t>
            </a:r>
          </a:p>
          <a:p>
            <a:pPr lvl="1"/>
            <a:r>
              <a:rPr lang="en-GB" dirty="0"/>
              <a:t>use sufficiently representative validation data;</a:t>
            </a:r>
          </a:p>
          <a:p>
            <a:pPr lvl="1"/>
            <a:r>
              <a:rPr lang="en-GB" dirty="0"/>
              <a:t>consider several validation periods or groups;</a:t>
            </a:r>
          </a:p>
          <a:p>
            <a:pPr lvl="1"/>
            <a:r>
              <a:rPr lang="en-GB" dirty="0"/>
              <a:t>report variability across validation conditions;</a:t>
            </a:r>
          </a:p>
          <a:p>
            <a:pPr lvl="1"/>
            <a:r>
              <a:rPr lang="en-GB" dirty="0"/>
              <a:t>keep a really untouched final test set.</a:t>
            </a:r>
          </a:p>
          <a:p>
            <a:endParaRPr lang="en-GB" dirty="0"/>
          </a:p>
          <a:p>
            <a:r>
              <a:rPr lang="en-GB" b="1" dirty="0"/>
              <a:t>Validation guides optimization of the modelling process; testing evaluates the result of that process.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5527612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097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9A17"/>
                </a:solidFill>
              </a:rPr>
              <a:t>2.F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Repeated validation can overfit the validation set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02920" y="786384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The best validation score among many experiments is partly influenced by random variation.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94360" y="10241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score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777240" y="4297680"/>
            <a:ext cx="795528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777240" y="1188720"/>
            <a:ext cx="0" cy="310896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1005840" y="2560320"/>
            <a:ext cx="292608" cy="1737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1417320" y="2011680"/>
            <a:ext cx="292608" cy="2286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1828800" y="2834640"/>
            <a:ext cx="292608" cy="1463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2240280" y="2468880"/>
            <a:ext cx="292608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2651760" y="1828800"/>
            <a:ext cx="292608" cy="2468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3063240" y="2286000"/>
            <a:ext cx="292608" cy="2011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3474720" y="1463040"/>
            <a:ext cx="292608" cy="2834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3886200" y="2651760"/>
            <a:ext cx="292608" cy="1645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4297680" y="2103120"/>
            <a:ext cx="292608" cy="2194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4709160" y="1920240"/>
            <a:ext cx="292608" cy="2377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5120640" y="1325880"/>
            <a:ext cx="292608" cy="2971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5532120" y="2377440"/>
            <a:ext cx="292608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5943600" y="2743200"/>
            <a:ext cx="292608" cy="1554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9"/>
          <p:cNvSpPr/>
          <p:nvPr/>
        </p:nvSpPr>
        <p:spPr>
          <a:xfrm>
            <a:off x="6355080" y="1645920"/>
            <a:ext cx="292608" cy="2651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0"/>
          <p:cNvSpPr/>
          <p:nvPr/>
        </p:nvSpPr>
        <p:spPr>
          <a:xfrm>
            <a:off x="6766560" y="2194560"/>
            <a:ext cx="292608" cy="2103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1"/>
          <p:cNvSpPr/>
          <p:nvPr/>
        </p:nvSpPr>
        <p:spPr>
          <a:xfrm>
            <a:off x="7178040" y="1554480"/>
            <a:ext cx="292608" cy="2743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2"/>
          <p:cNvSpPr/>
          <p:nvPr/>
        </p:nvSpPr>
        <p:spPr>
          <a:xfrm>
            <a:off x="7589520" y="2468880"/>
            <a:ext cx="292608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>
            <a:off x="8001000" y="1737360"/>
            <a:ext cx="292608" cy="2560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4617720" y="1051560"/>
            <a:ext cx="1325880" cy="201168"/>
          </a:xfrm>
          <a:prstGeom prst="roundRect">
            <a:avLst/>
          </a:prstGeom>
          <a:solidFill>
            <a:srgbClr val="DC2626"/>
          </a:solidFill>
          <a:ln w="6350">
            <a:solidFill>
              <a:srgbClr val="DC2626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best observed score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5257800" y="1325880"/>
            <a:ext cx="0" cy="45720"/>
          </a:xfrm>
          <a:prstGeom prst="line">
            <a:avLst/>
          </a:prstGeom>
          <a:noFill/>
          <a:ln w="17780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914400" y="4892040"/>
            <a:ext cx="420624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</a:rPr>
              <a:t>More experiments increase the chance that one model matches peculiarities of the validation period.</a:t>
            </a:r>
            <a:endParaRPr lang="en-US" sz="950" b="1" dirty="0"/>
          </a:p>
        </p:txBody>
      </p:sp>
      <p:sp>
        <p:nvSpPr>
          <p:cNvPr id="30" name="Text 27"/>
          <p:cNvSpPr/>
          <p:nvPr/>
        </p:nvSpPr>
        <p:spPr>
          <a:xfrm>
            <a:off x="5440680" y="4892040"/>
            <a:ext cx="329184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5C9A1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A separate untouched test set evaluates the selected solution after development is frozen.</a:t>
            </a:r>
            <a:endParaRPr lang="en-US" sz="95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ACE84E-1C52-690A-C882-8CC30D7A6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test set must stay untouched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77C5D97-C569-2FD2-DE96-F102A0357F4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The test set should not be used to: choose features; select the model family; tune hyperparameters; compare alternative window lengths; choose the classification threshold.</a:t>
            </a:r>
          </a:p>
          <a:p>
            <a:r>
              <a:rPr lang="en-GB" b="1" dirty="0"/>
              <a:t>Incorrect development cycle</a:t>
            </a:r>
          </a:p>
          <a:p>
            <a:r>
              <a:rPr lang="en-GB" dirty="0"/>
              <a:t>train model</a:t>
            </a:r>
          </a:p>
          <a:p>
            <a:r>
              <a:rPr lang="en-GB" dirty="0"/>
              <a:t>     ↓</a:t>
            </a:r>
          </a:p>
          <a:p>
            <a:r>
              <a:rPr lang="en-GB" dirty="0"/>
              <a:t>check test score</a:t>
            </a:r>
          </a:p>
          <a:p>
            <a:r>
              <a:rPr lang="en-GB" dirty="0"/>
              <a:t>     ↓</a:t>
            </a:r>
          </a:p>
          <a:p>
            <a:r>
              <a:rPr lang="en-GB" dirty="0"/>
              <a:t>modify model</a:t>
            </a:r>
          </a:p>
          <a:p>
            <a:r>
              <a:rPr lang="en-GB" dirty="0"/>
              <a:t>     ↓</a:t>
            </a:r>
          </a:p>
          <a:p>
            <a:r>
              <a:rPr lang="en-GB" dirty="0"/>
              <a:t>check test score again</a:t>
            </a:r>
          </a:p>
          <a:p>
            <a:r>
              <a:rPr lang="en-GB" dirty="0"/>
              <a:t>     ↓</a:t>
            </a:r>
          </a:p>
          <a:p>
            <a:r>
              <a:rPr lang="en-GB" dirty="0"/>
              <a:t>modify model again</a:t>
            </a:r>
          </a:p>
          <a:p>
            <a:r>
              <a:rPr lang="en-GB" dirty="0"/>
              <a:t>After repeated use, the test set has effectively become another validation set.</a:t>
            </a:r>
          </a:p>
          <a:p>
            <a:endParaRPr lang="en-GB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E4816E0-77FD-C5EC-C281-CF2873274D9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b="1" dirty="0"/>
              <a:t>Correct development cycle</a:t>
            </a:r>
          </a:p>
          <a:p>
            <a:r>
              <a:rPr lang="en-GB" dirty="0"/>
              <a:t>training + validation</a:t>
            </a:r>
          </a:p>
          <a:p>
            <a:r>
              <a:rPr lang="en-GB" dirty="0"/>
              <a:t>        ↓</a:t>
            </a:r>
          </a:p>
          <a:p>
            <a:r>
              <a:rPr lang="en-GB" dirty="0"/>
              <a:t>develop and select solution</a:t>
            </a:r>
          </a:p>
          <a:p>
            <a:r>
              <a:rPr lang="en-GB" dirty="0"/>
              <a:t>        ↓</a:t>
            </a:r>
          </a:p>
          <a:p>
            <a:r>
              <a:rPr lang="en-GB" dirty="0"/>
              <a:t>freeze modelling decisions</a:t>
            </a:r>
          </a:p>
          <a:p>
            <a:r>
              <a:rPr lang="en-GB" dirty="0"/>
              <a:t>        ↓</a:t>
            </a:r>
          </a:p>
          <a:p>
            <a:r>
              <a:rPr lang="en-GB" dirty="0"/>
              <a:t>evaluate once on test</a:t>
            </a:r>
          </a:p>
          <a:p>
            <a:endParaRPr lang="en-GB" b="1" dirty="0"/>
          </a:p>
          <a:p>
            <a:r>
              <a:rPr lang="en-GB" b="1" dirty="0"/>
              <a:t>If the test result is disappointing</a:t>
            </a:r>
          </a:p>
          <a:p>
            <a:r>
              <a:rPr lang="en-GB" dirty="0"/>
              <a:t>It may reveal that the selected solution does not generalize sufficiently.</a:t>
            </a:r>
          </a:p>
          <a:p>
            <a:r>
              <a:rPr lang="en-GB" dirty="0"/>
              <a:t>However, if development is resumed using that knowledge, the original test set is no longer a completely untouched test set for the revised solution.</a:t>
            </a:r>
          </a:p>
          <a:p>
            <a:r>
              <a:rPr lang="en-GB" b="1" dirty="0"/>
              <a:t>A new independent assessment may then be required.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6824705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1097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9A17"/>
                </a:solidFill>
              </a:rPr>
              <a:t>2.F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test set must stay untouched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02920" y="786384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Repeated use of the test set turns it into another validation set.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822960" y="1143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Incorrect cycle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97280" y="1691640"/>
            <a:ext cx="1234440" cy="5029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743200" y="1691640"/>
            <a:ext cx="1371600" cy="502920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score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26280" y="1691640"/>
            <a:ext cx="1325880" cy="50292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331720" y="1938528"/>
            <a:ext cx="365760" cy="0"/>
          </a:xfrm>
          <a:prstGeom prst="line">
            <a:avLst/>
          </a:prstGeom>
          <a:noFill/>
          <a:ln w="17780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4114800" y="1938528"/>
            <a:ext cx="365760" cy="0"/>
          </a:xfrm>
          <a:prstGeom prst="line">
            <a:avLst/>
          </a:prstGeom>
          <a:noFill/>
          <a:ln w="17780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5166360" y="2331720"/>
            <a:ext cx="0" cy="731520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1965960" y="32918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performance influences development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2296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5C9A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cycle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97280" y="4572000"/>
            <a:ext cx="1658112" cy="59436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773680" y="4869180"/>
            <a:ext cx="109728" cy="0"/>
          </a:xfrm>
          <a:prstGeom prst="line">
            <a:avLst/>
          </a:prstGeom>
          <a:noFill/>
          <a:ln w="20320">
            <a:solidFill>
              <a:srgbClr val="5C9A1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2919984" y="4572000"/>
            <a:ext cx="1658112" cy="594360"/>
          </a:xfrm>
          <a:prstGeom prst="roundRect">
            <a:avLst/>
          </a:prstGeom>
          <a:solidFill>
            <a:srgbClr val="5C9A17"/>
          </a:solidFill>
          <a:ln w="12700">
            <a:solidFill>
              <a:srgbClr val="5C9A1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freeze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96384" y="4869180"/>
            <a:ext cx="109728" cy="0"/>
          </a:xfrm>
          <a:prstGeom prst="line">
            <a:avLst/>
          </a:prstGeom>
          <a:noFill/>
          <a:ln w="20320">
            <a:solidFill>
              <a:srgbClr val="5C9A17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4742688" y="4572000"/>
            <a:ext cx="1658112" cy="594360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once on test</a:t>
            </a:r>
            <a:endParaRPr lang="en-US" sz="1000" dirty="0"/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4F929F61-AFD8-9B0B-A656-31573135AFCB}"/>
              </a:ext>
            </a:extLst>
          </p:cNvPr>
          <p:cNvSpPr/>
          <p:nvPr/>
        </p:nvSpPr>
        <p:spPr>
          <a:xfrm flipH="1" flipV="1">
            <a:off x="1753985" y="3104341"/>
            <a:ext cx="3406139" cy="1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53F4824F-C279-4078-F4E3-ED128B8A84D9}"/>
              </a:ext>
            </a:extLst>
          </p:cNvPr>
          <p:cNvSpPr/>
          <p:nvPr/>
        </p:nvSpPr>
        <p:spPr>
          <a:xfrm flipH="1" flipV="1">
            <a:off x="1737360" y="2257829"/>
            <a:ext cx="8313" cy="725515"/>
          </a:xfrm>
          <a:prstGeom prst="line">
            <a:avLst/>
          </a:prstGeom>
          <a:noFill/>
          <a:ln w="15240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9EACC22-1533-57E3-1CB6-304955F30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After model selection: can training and validation be combined?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5A2A708-ABBD-2794-4F85-353C15518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b="1" dirty="0"/>
              <a:t>Once:</a:t>
            </a:r>
          </a:p>
          <a:p>
            <a:pPr lvl="1"/>
            <a:r>
              <a:rPr lang="en-GB" dirty="0"/>
              <a:t>the model family has been selected;</a:t>
            </a:r>
          </a:p>
          <a:p>
            <a:pPr lvl="1"/>
            <a:r>
              <a:rPr lang="en-GB" dirty="0"/>
              <a:t>hyperparameters are fixed;</a:t>
            </a:r>
          </a:p>
          <a:p>
            <a:pPr lvl="1"/>
            <a:r>
              <a:rPr lang="en-GB" dirty="0"/>
              <a:t>preprocessing decisions are fixed;</a:t>
            </a:r>
          </a:p>
          <a:p>
            <a:pPr lvl="1"/>
            <a:r>
              <a:rPr lang="en-GB" dirty="0"/>
              <a:t>thresholds are fixed;</a:t>
            </a:r>
          </a:p>
          <a:p>
            <a:r>
              <a:rPr lang="en-GB" dirty="0"/>
              <a:t>the validation data may be incorporated into the final training set.</a:t>
            </a:r>
          </a:p>
          <a:p>
            <a:r>
              <a:rPr lang="en-GB" b="1" dirty="0"/>
              <a:t>Development stage</a:t>
            </a:r>
          </a:p>
          <a:p>
            <a:pPr lvl="1"/>
            <a:r>
              <a:rPr lang="en-GB" dirty="0"/>
              <a:t>training → fit candidate models</a:t>
            </a:r>
          </a:p>
          <a:p>
            <a:pPr lvl="1"/>
            <a:r>
              <a:rPr lang="en-GB" dirty="0"/>
              <a:t>validation → select model and hyperparameters</a:t>
            </a:r>
          </a:p>
          <a:p>
            <a:r>
              <a:rPr lang="en-GB" b="1" dirty="0"/>
              <a:t>Final fitting stage</a:t>
            </a:r>
          </a:p>
          <a:p>
            <a:pPr lvl="1"/>
            <a:r>
              <a:rPr lang="en-GB" b="1" dirty="0"/>
              <a:t>training + validation</a:t>
            </a:r>
          </a:p>
          <a:p>
            <a:pPr lvl="1"/>
            <a:r>
              <a:rPr lang="en-GB" dirty="0"/>
              <a:t>        ↓</a:t>
            </a:r>
          </a:p>
          <a:p>
            <a:pPr lvl="1"/>
            <a:r>
              <a:rPr lang="en-GB" dirty="0"/>
              <a:t>refit preprocessing</a:t>
            </a:r>
          </a:p>
          <a:p>
            <a:pPr lvl="1"/>
            <a:r>
              <a:rPr lang="en-GB" dirty="0"/>
              <a:t>        ↓</a:t>
            </a:r>
          </a:p>
          <a:p>
            <a:pPr lvl="1"/>
            <a:r>
              <a:rPr lang="en-GB" dirty="0"/>
              <a:t>refit selected model</a:t>
            </a:r>
          </a:p>
          <a:p>
            <a:pPr lvl="1"/>
            <a:r>
              <a:rPr lang="en-GB" dirty="0"/>
              <a:t>The final model can then be evaluated on the untouched test set.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0509588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1F4F5F-5100-09BB-B49A-7AD46ACA0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Why </a:t>
            </a:r>
            <a:r>
              <a:rPr lang="it-IT" dirty="0" err="1"/>
              <a:t>refit</a:t>
            </a:r>
            <a:r>
              <a:rPr lang="it-IT" dirty="0"/>
              <a:t>?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2CAF7E-35D9-CC5C-9D5A-E30CDD4F9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b="1" dirty="0"/>
              <a:t>Why refit?</a:t>
            </a:r>
          </a:p>
          <a:p>
            <a:r>
              <a:rPr lang="en-GB" dirty="0"/>
              <a:t>Validation observations contain useful information.</a:t>
            </a:r>
          </a:p>
          <a:p>
            <a:r>
              <a:rPr lang="en-GB" dirty="0"/>
              <a:t>Once they are no longer needed for model selection, excluding them may unnecessarily reduce the available training data.</a:t>
            </a:r>
          </a:p>
          <a:p>
            <a:r>
              <a:rPr lang="en-GB" b="1" dirty="0"/>
              <a:t>Conditions</a:t>
            </a:r>
          </a:p>
          <a:p>
            <a:r>
              <a:rPr lang="en-GB" dirty="0"/>
              <a:t>The procedure is valid only if:</a:t>
            </a:r>
          </a:p>
          <a:p>
            <a:pPr lvl="1"/>
            <a:r>
              <a:rPr lang="en-GB" dirty="0"/>
              <a:t>all modelling decisions are already fixed;</a:t>
            </a:r>
          </a:p>
          <a:p>
            <a:pPr lvl="1"/>
            <a:r>
              <a:rPr lang="en-GB" dirty="0"/>
              <a:t>the test set is left untouched;</a:t>
            </a:r>
          </a:p>
          <a:p>
            <a:pPr lvl="1"/>
            <a:r>
              <a:rPr lang="en-GB" dirty="0"/>
              <a:t>preprocessing is refitted using the combined training + validation data;</a:t>
            </a:r>
          </a:p>
          <a:p>
            <a:pPr lvl="1"/>
            <a:r>
              <a:rPr lang="en-GB" dirty="0"/>
              <a:t>the final model is not modified after observing test performance.</a:t>
            </a:r>
          </a:p>
          <a:p>
            <a:r>
              <a:rPr lang="en-GB" b="1" dirty="0"/>
              <a:t>Temporal interpretation</a:t>
            </a:r>
          </a:p>
          <a:p>
            <a:r>
              <a:rPr lang="en-GB" dirty="0"/>
              <a:t>For a chronological split:</a:t>
            </a:r>
          </a:p>
          <a:p>
            <a:r>
              <a:rPr lang="en-GB" dirty="0"/>
              <a:t>|------ training ------|-- validation --|-- test --|</a:t>
            </a:r>
          </a:p>
          <a:p>
            <a:r>
              <a:rPr lang="en-GB" dirty="0"/>
              <a:t>after model selection:</a:t>
            </a:r>
          </a:p>
          <a:p>
            <a:r>
              <a:rPr lang="en-GB" dirty="0"/>
              <a:t>|-------- final training --------|-- test --|</a:t>
            </a:r>
          </a:p>
          <a:p>
            <a:r>
              <a:rPr lang="en-GB" dirty="0"/>
              <a:t>This resembles a deployment made immediately after the test period using all historical information available at that time.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6175863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097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9A17"/>
                </a:solidFill>
              </a:rPr>
              <a:t>2.F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After model selection, training and validation can be combined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02920" y="786384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Once decisions are fixed, validation data may be used for final fitting before testing.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868680" y="1170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Development stage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68680" y="1572768"/>
            <a:ext cx="429768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5166360" y="1572768"/>
            <a:ext cx="16459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6812280" y="1572768"/>
            <a:ext cx="182880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2514600" y="163677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394960" y="163677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269480" y="163677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383280" y="213969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and hyperparameters selected using validation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6868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highlight>
                  <a:srgbClr val="FFFF00"/>
                </a:highlight>
                <a:latin typeface="Aptos" pitchFamily="34" charset="0"/>
                <a:ea typeface="Aptos" pitchFamily="34" charset="-122"/>
                <a:cs typeface="Aptos" pitchFamily="34" charset="-120"/>
              </a:rPr>
              <a:t>Final fitting </a:t>
            </a:r>
            <a:r>
              <a:rPr lang="en-US" sz="13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68680" y="3931920"/>
            <a:ext cx="5943600" cy="347472"/>
          </a:xfrm>
          <a:prstGeom prst="rect">
            <a:avLst/>
          </a:prstGeom>
          <a:solidFill>
            <a:srgbClr val="5C9A17"/>
          </a:solidFill>
          <a:ln w="12700">
            <a:solidFill>
              <a:srgbClr val="5C9A1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6812280" y="3931920"/>
            <a:ext cx="182880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2926080" y="399592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training = training + validation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269480" y="39959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43000" y="5074920"/>
            <a:ext cx="5120640" cy="594360"/>
          </a:xfrm>
          <a:prstGeom prst="rect">
            <a:avLst/>
          </a:prstGeom>
          <a:solidFill>
            <a:srgbClr val="FFFFFF"/>
          </a:solidFill>
          <a:ln w="15240">
            <a:solidFill>
              <a:srgbClr val="5C9A1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111827"/>
                </a:solidFill>
              </a:rPr>
              <a:t>Allowed only after all decisions are fixed and before the untouched test evaluation</a:t>
            </a:r>
            <a:r>
              <a:rPr lang="en-US" sz="950" dirty="0">
                <a:solidFill>
                  <a:srgbClr val="111827"/>
                </a:solidFill>
              </a:rPr>
              <a:t>.</a:t>
            </a:r>
            <a:endParaRPr lang="en-US" sz="95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5063DB-9B30-EBC7-14B3-35B7D6A3D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Classification thresholds are model-selection parameters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F1C45EF-3D11-E5C6-AF59-1F3BAC11D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A classifier often produces a score or probability rather than a final decision.</a:t>
            </a:r>
          </a:p>
          <a:p>
            <a:r>
              <a:rPr lang="en-GB" dirty="0"/>
              <a:t>Example:</a:t>
            </a:r>
          </a:p>
          <a:p>
            <a:pPr lvl="1"/>
            <a:r>
              <a:rPr lang="en-GB" dirty="0"/>
              <a:t>P(fault) = 0.63</a:t>
            </a:r>
          </a:p>
          <a:p>
            <a:pPr lvl="1"/>
            <a:r>
              <a:rPr lang="en-GB" dirty="0"/>
              <a:t>A decision threshold is needed:</a:t>
            </a:r>
          </a:p>
          <a:p>
            <a:pPr lvl="1"/>
            <a:r>
              <a:rPr lang="en-GB" dirty="0"/>
              <a:t>predict fault if P(fault) ≥ threshold</a:t>
            </a:r>
          </a:p>
          <a:p>
            <a:r>
              <a:rPr lang="en-GB" dirty="0"/>
              <a:t>The default threshold 0.5 is not necessarily optimal.</a:t>
            </a:r>
          </a:p>
          <a:p>
            <a:endParaRPr lang="en-GB" b="1" dirty="0"/>
          </a:p>
          <a:p>
            <a:r>
              <a:rPr lang="en-GB" b="1" dirty="0"/>
              <a:t>Different thresholds produce different trade-offs</a:t>
            </a:r>
          </a:p>
          <a:p>
            <a:pPr lvl="1"/>
            <a:r>
              <a:rPr lang="en-GB" dirty="0"/>
              <a:t>A lower threshold may:</a:t>
            </a:r>
          </a:p>
          <a:p>
            <a:pPr lvl="2"/>
            <a:r>
              <a:rPr lang="en-GB" dirty="0"/>
              <a:t>detect more events;</a:t>
            </a:r>
          </a:p>
          <a:p>
            <a:pPr lvl="2"/>
            <a:r>
              <a:rPr lang="en-GB" dirty="0"/>
              <a:t>increase false alarms.</a:t>
            </a:r>
          </a:p>
          <a:p>
            <a:pPr lvl="1"/>
            <a:r>
              <a:rPr lang="en-GB" dirty="0"/>
              <a:t>A higher threshold may:</a:t>
            </a:r>
          </a:p>
          <a:p>
            <a:pPr lvl="2"/>
            <a:r>
              <a:rPr lang="en-GB" dirty="0"/>
              <a:t>reduce false alarms;</a:t>
            </a:r>
          </a:p>
          <a:p>
            <a:pPr lvl="2"/>
            <a:r>
              <a:rPr lang="en-GB" dirty="0"/>
              <a:t>miss more events.</a:t>
            </a:r>
          </a:p>
          <a:p>
            <a:r>
              <a:rPr lang="en-GB" b="1" dirty="0"/>
              <a:t>Threshold selection must use validation data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85274433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80EB49-394A-0298-EBB9-4C785D2B9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Example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1C73279-9F9D-F2E2-6799-C9B3A33D6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threshold = 0.30 → high recall, many false alarms</a:t>
            </a:r>
          </a:p>
          <a:p>
            <a:r>
              <a:rPr lang="en-GB" dirty="0"/>
              <a:t>threshold = 0.55 → balanced solution</a:t>
            </a:r>
          </a:p>
          <a:p>
            <a:r>
              <a:rPr lang="en-GB" dirty="0"/>
              <a:t>threshold = 0.80 → few false alarms, many missed events</a:t>
            </a:r>
          </a:p>
          <a:p>
            <a:r>
              <a:rPr lang="en-GB" dirty="0"/>
              <a:t>Choose the threshold using:</a:t>
            </a:r>
          </a:p>
          <a:p>
            <a:pPr lvl="1"/>
            <a:r>
              <a:rPr lang="en-GB" dirty="0"/>
              <a:t>validation performance;</a:t>
            </a:r>
          </a:p>
          <a:p>
            <a:pPr lvl="1"/>
            <a:r>
              <a:rPr lang="en-GB" dirty="0"/>
              <a:t>operational costs;</a:t>
            </a:r>
          </a:p>
          <a:p>
            <a:pPr lvl="1"/>
            <a:r>
              <a:rPr lang="en-GB" dirty="0"/>
              <a:t>required recall;</a:t>
            </a:r>
          </a:p>
          <a:p>
            <a:pPr lvl="1"/>
            <a:r>
              <a:rPr lang="en-GB" dirty="0"/>
              <a:t>acceptable false-alarm rate.</a:t>
            </a:r>
          </a:p>
          <a:p>
            <a:r>
              <a:rPr lang="en-GB" b="1" dirty="0"/>
              <a:t>Test-set rule</a:t>
            </a:r>
          </a:p>
          <a:p>
            <a:pPr lvl="1"/>
            <a:r>
              <a:rPr lang="en-GB" dirty="0"/>
              <a:t>The selected threshold must then stay fixed during test evaluation.</a:t>
            </a:r>
          </a:p>
          <a:p>
            <a:r>
              <a:rPr lang="en-GB" b="1" dirty="0"/>
              <a:t>Important consequence</a:t>
            </a:r>
          </a:p>
          <a:p>
            <a:r>
              <a:rPr lang="en-GB" dirty="0"/>
              <a:t>The threshold is part of the model-development process even if the predictive model itself does not change.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6845555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097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9A17"/>
                </a:solidFill>
              </a:rPr>
              <a:t>2.F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Classification thresholds are model-selection parameters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02920" y="786384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The threshold changes the trade-off between missed events and false alarms.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914400" y="2194560"/>
            <a:ext cx="740664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914400" y="2121408"/>
            <a:ext cx="0" cy="146304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777240" y="235915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655064" y="2121408"/>
            <a:ext cx="0" cy="146304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2395728" y="2121408"/>
            <a:ext cx="0" cy="146304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2258568" y="235915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0.2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136392" y="2121408"/>
            <a:ext cx="0" cy="146304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3877056" y="2121408"/>
            <a:ext cx="0" cy="146304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3739896" y="235915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617720" y="2121408"/>
            <a:ext cx="0" cy="146304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5358384" y="2121408"/>
            <a:ext cx="0" cy="146304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5221224" y="235915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099048" y="2121408"/>
            <a:ext cx="0" cy="146304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6839712" y="2121408"/>
            <a:ext cx="0" cy="146304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6702552" y="235915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7580376" y="2121408"/>
            <a:ext cx="0" cy="146304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9"/>
          <p:cNvSpPr/>
          <p:nvPr/>
        </p:nvSpPr>
        <p:spPr>
          <a:xfrm>
            <a:off x="8321040" y="2121408"/>
            <a:ext cx="0" cy="146304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8183880" y="235915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297680" y="26974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136392" y="1417320"/>
            <a:ext cx="0" cy="68580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2542032" y="1078992"/>
            <a:ext cx="1188720" cy="201168"/>
          </a:xfrm>
          <a:prstGeom prst="roundRect">
            <a:avLst/>
          </a:prstGeom>
          <a:solidFill>
            <a:srgbClr val="F59E0B"/>
          </a:solidFill>
          <a:ln w="6350">
            <a:solidFill>
              <a:srgbClr val="F59E0B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low threshold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099048" y="1417320"/>
            <a:ext cx="0" cy="68580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/>
          <p:nvPr/>
        </p:nvSpPr>
        <p:spPr>
          <a:xfrm>
            <a:off x="5504688" y="1078992"/>
            <a:ext cx="1188720" cy="201168"/>
          </a:xfrm>
          <a:prstGeom prst="roundRect">
            <a:avLst/>
          </a:prstGeom>
          <a:solidFill>
            <a:srgbClr val="DC2626"/>
          </a:solidFill>
          <a:ln w="6350">
            <a:solidFill>
              <a:srgbClr val="DC2626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high threshold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868680" y="3063240"/>
            <a:ext cx="2103120" cy="5943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detects more events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false alarms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383280" y="3063240"/>
            <a:ext cx="2194560" cy="5943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5C9A1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balanced choice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on validation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989320" y="3063240"/>
            <a:ext cx="2103120" cy="5943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fewer alarms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missed events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2103120" y="4800600"/>
            <a:ext cx="4754880" cy="548640"/>
          </a:xfrm>
          <a:prstGeom prst="rect">
            <a:avLst/>
          </a:prstGeom>
          <a:solidFill>
            <a:srgbClr val="FFFFFF"/>
          </a:solidFill>
          <a:ln w="15240">
            <a:solidFill>
              <a:srgbClr val="5C9A1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The selected threshold must be kept fixed during final test evaluation.</a:t>
            </a:r>
            <a:endParaRPr lang="en-US" sz="95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C8BC87-BF49-E247-02CA-AC821C20A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Final evaluation should report more than one number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905C7ED-62AD-F9AE-9C74-6F34DB5A9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dirty="0"/>
              <a:t>A final test score should answer the operational question as completely as possible.</a:t>
            </a:r>
          </a:p>
          <a:p>
            <a:r>
              <a:rPr lang="en-GB" b="1" dirty="0"/>
              <a:t>For forecasting</a:t>
            </a:r>
          </a:p>
          <a:p>
            <a:r>
              <a:rPr lang="en-GB" dirty="0"/>
              <a:t>Report, where relevant:</a:t>
            </a:r>
          </a:p>
          <a:p>
            <a:pPr lvl="1"/>
            <a:r>
              <a:rPr lang="en-GB" dirty="0"/>
              <a:t>aggregate MAE or RMSE;</a:t>
            </a:r>
          </a:p>
          <a:p>
            <a:pPr lvl="1"/>
            <a:r>
              <a:rPr lang="en-GB" dirty="0"/>
              <a:t>error by forecast horizon;</a:t>
            </a:r>
          </a:p>
          <a:p>
            <a:pPr lvl="1"/>
            <a:r>
              <a:rPr lang="en-GB" dirty="0"/>
              <a:t>error over time;</a:t>
            </a:r>
          </a:p>
          <a:p>
            <a:pPr lvl="1"/>
            <a:r>
              <a:rPr lang="en-GB" dirty="0"/>
              <a:t>performance during peaks or unusual regimes;</a:t>
            </a:r>
          </a:p>
          <a:p>
            <a:pPr lvl="1"/>
            <a:r>
              <a:rPr lang="en-GB" dirty="0"/>
              <a:t>performance relative to a naïve baseline.</a:t>
            </a:r>
          </a:p>
          <a:p>
            <a:r>
              <a:rPr lang="en-GB" b="1" dirty="0"/>
              <a:t>For classification</a:t>
            </a:r>
          </a:p>
          <a:p>
            <a:r>
              <a:rPr lang="en-GB" dirty="0"/>
              <a:t>Report:</a:t>
            </a:r>
          </a:p>
          <a:p>
            <a:pPr lvl="1"/>
            <a:r>
              <a:rPr lang="en-GB" dirty="0"/>
              <a:t>confusion matrix;</a:t>
            </a:r>
          </a:p>
          <a:p>
            <a:pPr lvl="1"/>
            <a:r>
              <a:rPr lang="en-GB" dirty="0"/>
              <a:t>precision;</a:t>
            </a:r>
          </a:p>
          <a:p>
            <a:pPr lvl="1"/>
            <a:r>
              <a:rPr lang="en-GB" dirty="0"/>
              <a:t>recall;</a:t>
            </a:r>
          </a:p>
          <a:p>
            <a:pPr lvl="1"/>
            <a:r>
              <a:rPr lang="en-GB" dirty="0"/>
              <a:t>F1 score;</a:t>
            </a:r>
          </a:p>
          <a:p>
            <a:pPr lvl="1"/>
            <a:r>
              <a:rPr lang="en-GB" dirty="0"/>
              <a:t>class-specific performance;</a:t>
            </a:r>
          </a:p>
          <a:p>
            <a:pPr lvl="1"/>
            <a:r>
              <a:rPr lang="en-GB" dirty="0"/>
              <a:t>performance under the selected threshold.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0940066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3B9109-A9B1-E814-F62B-ABEB0F884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Final evaluation should report more than one number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18E3045-A663-74C3-D513-F6CEC540C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b="1" dirty="0"/>
              <a:t>For grouped datasets</a:t>
            </a:r>
          </a:p>
          <a:p>
            <a:r>
              <a:rPr lang="en-GB" dirty="0"/>
              <a:t>Report performance:</a:t>
            </a:r>
          </a:p>
          <a:p>
            <a:pPr lvl="1"/>
            <a:r>
              <a:rPr lang="en-GB" dirty="0"/>
              <a:t>across individual entities;</a:t>
            </a:r>
          </a:p>
          <a:p>
            <a:pPr lvl="1"/>
            <a:r>
              <a:rPr lang="en-GB" dirty="0"/>
              <a:t>across sites;</a:t>
            </a:r>
          </a:p>
          <a:p>
            <a:pPr lvl="1"/>
            <a:r>
              <a:rPr lang="en-GB" dirty="0"/>
              <a:t>across sequences;</a:t>
            </a:r>
          </a:p>
          <a:p>
            <a:pPr lvl="1"/>
            <a:r>
              <a:rPr lang="en-GB" dirty="0"/>
              <a:t>as an aggregate.</a:t>
            </a:r>
          </a:p>
          <a:p>
            <a:r>
              <a:rPr lang="en-GB" b="1" dirty="0"/>
              <a:t>For event detection</a:t>
            </a:r>
          </a:p>
          <a:p>
            <a:r>
              <a:rPr lang="en-GB" dirty="0"/>
              <a:t>Consider:</a:t>
            </a:r>
          </a:p>
          <a:p>
            <a:pPr lvl="1"/>
            <a:r>
              <a:rPr lang="en-GB" dirty="0"/>
              <a:t>event-level recall;</a:t>
            </a:r>
          </a:p>
          <a:p>
            <a:pPr lvl="1"/>
            <a:r>
              <a:rPr lang="en-GB" dirty="0"/>
              <a:t>missed events;</a:t>
            </a:r>
          </a:p>
          <a:p>
            <a:pPr lvl="1"/>
            <a:r>
              <a:rPr lang="en-GB" dirty="0"/>
              <a:t>false alarms;</a:t>
            </a:r>
          </a:p>
          <a:p>
            <a:pPr lvl="1"/>
            <a:r>
              <a:rPr lang="en-GB" dirty="0"/>
              <a:t>detection delay or anticipation time.</a:t>
            </a:r>
          </a:p>
          <a:p>
            <a:r>
              <a:rPr lang="en-GB" b="1" dirty="0"/>
              <a:t>Why?</a:t>
            </a:r>
          </a:p>
          <a:p>
            <a:r>
              <a:rPr lang="en-GB" dirty="0"/>
              <a:t>Two models with similar average performance may fail under very different conditions.</a:t>
            </a:r>
          </a:p>
          <a:p>
            <a:endParaRPr lang="en-GB" dirty="0"/>
          </a:p>
          <a:p>
            <a:r>
              <a:rPr lang="en-GB" b="1" dirty="0">
                <a:highlight>
                  <a:srgbClr val="FFFF00"/>
                </a:highlight>
              </a:rPr>
              <a:t>The final test should characterize where the model works, where it fails, and whether those failures matter operationally.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4987468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097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9A17"/>
                </a:solidFill>
              </a:rPr>
              <a:t>2.F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evaluation should report more than one number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02920" y="786384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Averages can hide failures at specific horizons, classes, entities or events.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777240" y="1143000"/>
            <a:ext cx="2377440" cy="411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by horizon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097280" y="2697480"/>
            <a:ext cx="201168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1463040" y="2496312"/>
            <a:ext cx="20116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1828800" y="2295144"/>
            <a:ext cx="201168" cy="8595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2194560" y="2093976"/>
            <a:ext cx="201168" cy="10607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2560320" y="1892808"/>
            <a:ext cx="201168" cy="1261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1188720" y="326440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horizon →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657600" y="1143000"/>
            <a:ext cx="2377440" cy="411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confusion by class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023360" y="2103120"/>
            <a:ext cx="329184" cy="329184"/>
          </a:xfrm>
          <a:prstGeom prst="rect">
            <a:avLst/>
          </a:prstGeom>
          <a:solidFill>
            <a:srgbClr val="5C9A17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4407408" y="2103120"/>
            <a:ext cx="329184" cy="329184"/>
          </a:xfrm>
          <a:prstGeom prst="rect">
            <a:avLst/>
          </a:prstGeom>
          <a:solidFill>
            <a:srgbClr val="F59E0B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4791456" y="2103120"/>
            <a:ext cx="329184" cy="329184"/>
          </a:xfrm>
          <a:prstGeom prst="rect">
            <a:avLst/>
          </a:prstGeom>
          <a:solidFill>
            <a:srgbClr val="DC2626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4023360" y="2487168"/>
            <a:ext cx="329184" cy="329184"/>
          </a:xfrm>
          <a:prstGeom prst="rect">
            <a:avLst/>
          </a:prstGeom>
          <a:solidFill>
            <a:srgbClr val="F59E0B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4407408" y="2487168"/>
            <a:ext cx="329184" cy="329184"/>
          </a:xfrm>
          <a:prstGeom prst="rect">
            <a:avLst/>
          </a:prstGeom>
          <a:solidFill>
            <a:srgbClr val="5C9A17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4791456" y="2487168"/>
            <a:ext cx="329184" cy="329184"/>
          </a:xfrm>
          <a:prstGeom prst="rect">
            <a:avLst/>
          </a:prstGeom>
          <a:solidFill>
            <a:srgbClr val="DC2626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4023360" y="2871216"/>
            <a:ext cx="329184" cy="329184"/>
          </a:xfrm>
          <a:prstGeom prst="rect">
            <a:avLst/>
          </a:prstGeom>
          <a:solidFill>
            <a:srgbClr val="F59E0B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8"/>
          <p:cNvSpPr/>
          <p:nvPr/>
        </p:nvSpPr>
        <p:spPr>
          <a:xfrm>
            <a:off x="4407408" y="2871216"/>
            <a:ext cx="329184" cy="329184"/>
          </a:xfrm>
          <a:prstGeom prst="rect">
            <a:avLst/>
          </a:prstGeom>
          <a:solidFill>
            <a:srgbClr val="F59E0B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9"/>
          <p:cNvSpPr/>
          <p:nvPr/>
        </p:nvSpPr>
        <p:spPr>
          <a:xfrm>
            <a:off x="4791456" y="2871216"/>
            <a:ext cx="329184" cy="329184"/>
          </a:xfrm>
          <a:prstGeom prst="rect">
            <a:avLst/>
          </a:prstGeom>
          <a:solidFill>
            <a:srgbClr val="5C9A17">
              <a:alpha val="9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6537960" y="1143000"/>
            <a:ext cx="2377440" cy="411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Grouped 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by entity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858000" y="2240280"/>
            <a:ext cx="201168" cy="91440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2"/>
          <p:cNvSpPr/>
          <p:nvPr/>
        </p:nvSpPr>
        <p:spPr>
          <a:xfrm>
            <a:off x="7178040" y="2057400"/>
            <a:ext cx="201168" cy="109728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>
            <a:off x="7498080" y="2560320"/>
            <a:ext cx="201168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4"/>
          <p:cNvSpPr/>
          <p:nvPr/>
        </p:nvSpPr>
        <p:spPr>
          <a:xfrm>
            <a:off x="7818120" y="1920240"/>
            <a:ext cx="201168" cy="123444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5"/>
          <p:cNvSpPr/>
          <p:nvPr/>
        </p:nvSpPr>
        <p:spPr>
          <a:xfrm>
            <a:off x="8138160" y="2377440"/>
            <a:ext cx="201168" cy="77724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6995160" y="32918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entity C fails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2560320" y="3931920"/>
            <a:ext cx="3108960" cy="457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detection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misses / false alarms / delay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521798" y="5042780"/>
            <a:ext cx="2055137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29"/>
          <p:cNvSpPr/>
          <p:nvPr/>
        </p:nvSpPr>
        <p:spPr>
          <a:xfrm>
            <a:off x="3200400" y="4709160"/>
            <a:ext cx="640080" cy="201168"/>
          </a:xfrm>
          <a:prstGeom prst="roundRect">
            <a:avLst/>
          </a:prstGeom>
          <a:solidFill>
            <a:srgbClr val="F59E0B"/>
          </a:solidFill>
          <a:ln w="6350">
            <a:solidFill>
              <a:srgbClr val="F59E0B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alarm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5257800" y="4709160"/>
            <a:ext cx="640080" cy="201168"/>
          </a:xfrm>
          <a:prstGeom prst="roundRect">
            <a:avLst/>
          </a:prstGeom>
          <a:solidFill>
            <a:srgbClr val="DC2626"/>
          </a:solidFill>
          <a:ln w="6350">
            <a:solidFill>
              <a:srgbClr val="DC2626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event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3520440" y="5074920"/>
            <a:ext cx="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2"/>
          <p:cNvSpPr/>
          <p:nvPr/>
        </p:nvSpPr>
        <p:spPr>
          <a:xfrm>
            <a:off x="5577840" y="5074920"/>
            <a:ext cx="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3"/>
          <p:cNvSpPr/>
          <p:nvPr/>
        </p:nvSpPr>
        <p:spPr>
          <a:xfrm>
            <a:off x="3977640" y="52760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anticipation time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234440" y="5989320"/>
            <a:ext cx="6629400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5C9A1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The final report should explain where the model works, where it fails, and whether failures matter operationally.</a:t>
            </a:r>
            <a:endParaRPr lang="en-US" sz="95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9B7581-93FE-AF49-DE14-562AD924B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End-to-end evaluation workflow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2129CA8-58E6-32E2-2C5F-B89BBF688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dirty="0"/>
              <a:t>A complete temporal evaluation can be summarized as follows.</a:t>
            </a:r>
          </a:p>
          <a:p>
            <a:r>
              <a:rPr lang="en-GB" b="1" dirty="0"/>
              <a:t>Step 1 — Define deployment</a:t>
            </a:r>
          </a:p>
          <a:p>
            <a:pPr lvl="1"/>
            <a:r>
              <a:rPr lang="en-GB" dirty="0"/>
              <a:t>prediction time (when is the prediction made, and what information is available at that moment);</a:t>
            </a:r>
          </a:p>
          <a:p>
            <a:pPr lvl="1"/>
            <a:r>
              <a:rPr lang="en-GB" dirty="0"/>
              <a:t>expected future conditions;</a:t>
            </a:r>
          </a:p>
          <a:p>
            <a:pPr lvl="1"/>
            <a:r>
              <a:rPr lang="en-GB" dirty="0"/>
              <a:t>entities and environments of interest.</a:t>
            </a:r>
          </a:p>
          <a:p>
            <a:r>
              <a:rPr lang="en-GB" b="1" dirty="0"/>
              <a:t>Step 2 — Define partitions</a:t>
            </a:r>
            <a:endParaRPr lang="en-GB" dirty="0"/>
          </a:p>
          <a:p>
            <a:pPr lvl="1"/>
            <a:r>
              <a:rPr lang="en-GB" dirty="0"/>
              <a:t>temporal boundaries;</a:t>
            </a:r>
          </a:p>
          <a:p>
            <a:pPr lvl="1"/>
            <a:r>
              <a:rPr lang="en-GB" dirty="0"/>
              <a:t>sequence or entity groups;</a:t>
            </a:r>
          </a:p>
          <a:p>
            <a:pPr lvl="1"/>
            <a:r>
              <a:rPr lang="en-GB" dirty="0"/>
              <a:t>validation strategy;</a:t>
            </a:r>
          </a:p>
          <a:p>
            <a:pPr lvl="1"/>
            <a:r>
              <a:rPr lang="en-GB" dirty="0"/>
              <a:t>final test set.</a:t>
            </a:r>
          </a:p>
          <a:p>
            <a:r>
              <a:rPr lang="en-GB" b="1" dirty="0"/>
              <a:t>Step 3 — Generate samples</a:t>
            </a:r>
          </a:p>
          <a:p>
            <a:r>
              <a:rPr lang="en-GB" dirty="0"/>
              <a:t>Within the appropriate partitions:</a:t>
            </a:r>
          </a:p>
          <a:p>
            <a:pPr lvl="1"/>
            <a:r>
              <a:rPr lang="en-GB" dirty="0"/>
              <a:t>create windows;</a:t>
            </a:r>
          </a:p>
          <a:p>
            <a:pPr lvl="1"/>
            <a:r>
              <a:rPr lang="en-GB" dirty="0"/>
              <a:t>align targets;</a:t>
            </a:r>
          </a:p>
          <a:p>
            <a:pPr lvl="1"/>
            <a:r>
              <a:rPr lang="en-GB" dirty="0"/>
              <a:t>group event-related samples;</a:t>
            </a:r>
          </a:p>
          <a:p>
            <a:pPr lvl="1"/>
            <a:r>
              <a:rPr lang="en-GB" dirty="0"/>
              <a:t>avoid unwanted overlap.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4965592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CF0EAA4-C7AD-3243-5769-D487AF6D9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End-to-end evaluation workflow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C75B056-4E28-896D-FA53-C1D488F9F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b="1" dirty="0"/>
              <a:t>Step 4 — Fit the complete pipeline</a:t>
            </a:r>
          </a:p>
          <a:p>
            <a:r>
              <a:rPr lang="en-GB" dirty="0"/>
              <a:t>Using training data only:</a:t>
            </a:r>
          </a:p>
          <a:p>
            <a:pPr lvl="1"/>
            <a:r>
              <a:rPr lang="en-GB" dirty="0"/>
              <a:t>preprocessing;</a:t>
            </a:r>
          </a:p>
          <a:p>
            <a:pPr lvl="1"/>
            <a:r>
              <a:rPr lang="en-GB" dirty="0"/>
              <a:t>feature transformations;</a:t>
            </a:r>
          </a:p>
          <a:p>
            <a:pPr lvl="1"/>
            <a:r>
              <a:rPr lang="en-GB" dirty="0"/>
              <a:t>predictive model.</a:t>
            </a:r>
          </a:p>
          <a:p>
            <a:r>
              <a:rPr lang="en-GB" b="1" dirty="0"/>
              <a:t>Step 5 — Develop using validation data</a:t>
            </a:r>
          </a:p>
          <a:p>
            <a:r>
              <a:rPr lang="en-GB" dirty="0"/>
              <a:t>Use validation results to select:</a:t>
            </a:r>
          </a:p>
          <a:p>
            <a:pPr lvl="1"/>
            <a:r>
              <a:rPr lang="en-GB" dirty="0"/>
              <a:t>features;</a:t>
            </a:r>
          </a:p>
          <a:p>
            <a:pPr lvl="1"/>
            <a:r>
              <a:rPr lang="en-GB" dirty="0"/>
              <a:t>models;</a:t>
            </a:r>
          </a:p>
          <a:p>
            <a:pPr lvl="1"/>
            <a:r>
              <a:rPr lang="en-GB" dirty="0"/>
              <a:t>hyperparameters;</a:t>
            </a:r>
          </a:p>
          <a:p>
            <a:pPr lvl="1"/>
            <a:r>
              <a:rPr lang="en-GB" dirty="0"/>
              <a:t>thresholds.</a:t>
            </a:r>
          </a:p>
          <a:p>
            <a:r>
              <a:rPr lang="en-GB" b="1" dirty="0"/>
              <a:t>Step 6 — Freeze the solution</a:t>
            </a:r>
          </a:p>
          <a:p>
            <a:pPr lvl="1"/>
            <a:r>
              <a:rPr lang="en-GB" dirty="0"/>
              <a:t>No further decisions should depend on the test set.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8382810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74480F-8E95-03E2-BFAD-DCDB0583B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End-to-end evaluation workflow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5BEA11C-120C-B8E6-69C7-180FFB638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Step 7 — Final test</a:t>
            </a:r>
          </a:p>
          <a:p>
            <a:pPr lvl="1"/>
            <a:r>
              <a:rPr lang="en-GB" dirty="0"/>
              <a:t>Evaluate under the intended deployment conditions.</a:t>
            </a:r>
          </a:p>
          <a:p>
            <a:r>
              <a:rPr lang="en-GB" b="1" dirty="0"/>
              <a:t>Step 8 — Report the protocol</a:t>
            </a:r>
          </a:p>
          <a:p>
            <a:pPr lvl="1"/>
            <a:r>
              <a:rPr lang="en-GB" dirty="0"/>
              <a:t>temporal intervals;</a:t>
            </a:r>
          </a:p>
          <a:p>
            <a:pPr lvl="1"/>
            <a:r>
              <a:rPr lang="en-GB" dirty="0"/>
              <a:t>entities and groups;</a:t>
            </a:r>
          </a:p>
          <a:p>
            <a:pPr lvl="1"/>
            <a:r>
              <a:rPr lang="en-GB" dirty="0"/>
              <a:t>window construction;</a:t>
            </a:r>
          </a:p>
          <a:p>
            <a:pPr lvl="1"/>
            <a:r>
              <a:rPr lang="en-GB" dirty="0"/>
              <a:t>preprocessing;</a:t>
            </a:r>
          </a:p>
          <a:p>
            <a:pPr lvl="1"/>
            <a:r>
              <a:rPr lang="en-GB" dirty="0"/>
              <a:t>validation strategy;</a:t>
            </a:r>
          </a:p>
          <a:p>
            <a:pPr lvl="1"/>
            <a:r>
              <a:rPr lang="en-GB" dirty="0"/>
              <a:t>final metrics.</a:t>
            </a:r>
          </a:p>
          <a:p>
            <a:endParaRPr lang="en-GB" dirty="0"/>
          </a:p>
          <a:p>
            <a:r>
              <a:rPr lang="en-GB" dirty="0"/>
              <a:t>Reliable performance estimates depend as much on </a:t>
            </a:r>
            <a:r>
              <a:rPr lang="en-GB" b="1" dirty="0"/>
              <a:t>evaluation design</a:t>
            </a:r>
            <a:r>
              <a:rPr lang="en-GB" dirty="0"/>
              <a:t> as on the predictive algorithm itself.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6678935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evaluation workflow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12064" y="896112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deployment assumptions, partitioning, sample construction, modelling and reporting as one evaluation protocol.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87068" y="1920240"/>
            <a:ext cx="82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875788" y="1920240"/>
            <a:ext cx="82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4508" y="1920240"/>
            <a:ext cx="82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53228" y="1920240"/>
            <a:ext cx="82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41948" y="1920240"/>
            <a:ext cx="82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30668" y="1920240"/>
            <a:ext cx="82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19388" y="1920240"/>
            <a:ext cx="82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691640"/>
            <a:ext cx="1078992" cy="676656"/>
          </a:xfrm>
          <a:prstGeom prst="roundRect">
            <a:avLst>
              <a:gd name="adj" fmla="val 10811"/>
            </a:avLst>
          </a:prstGeom>
          <a:solidFill>
            <a:srgbClr val="0F172A"/>
          </a:solidFill>
          <a:ln>
            <a:solidFill>
              <a:srgbClr val="0F172A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</a:t>
            </a:r>
            <a:endParaRPr lang="en-US" sz="910" dirty="0"/>
          </a:p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</a:t>
            </a:r>
            <a:endParaRPr lang="en-US" sz="910" dirty="0"/>
          </a:p>
        </p:txBody>
      </p:sp>
      <p:sp>
        <p:nvSpPr>
          <p:cNvPr id="12" name="Text 10"/>
          <p:cNvSpPr/>
          <p:nvPr/>
        </p:nvSpPr>
        <p:spPr>
          <a:xfrm>
            <a:off x="1783080" y="1691640"/>
            <a:ext cx="1078992" cy="676656"/>
          </a:xfrm>
          <a:prstGeom prst="roundRect">
            <a:avLst>
              <a:gd name="adj" fmla="val 10811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</a:t>
            </a:r>
            <a:endParaRPr lang="en-US" sz="910" dirty="0"/>
          </a:p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partitions</a:t>
            </a:r>
            <a:endParaRPr lang="en-US" sz="910" dirty="0"/>
          </a:p>
        </p:txBody>
      </p:sp>
      <p:sp>
        <p:nvSpPr>
          <p:cNvPr id="13" name="Text 11"/>
          <p:cNvSpPr/>
          <p:nvPr/>
        </p:nvSpPr>
        <p:spPr>
          <a:xfrm>
            <a:off x="2971800" y="1691640"/>
            <a:ext cx="1078992" cy="676656"/>
          </a:xfrm>
          <a:prstGeom prst="roundRect">
            <a:avLst>
              <a:gd name="adj" fmla="val 10811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</a:t>
            </a:r>
            <a:endParaRPr lang="en-US" sz="910" dirty="0"/>
          </a:p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samples</a:t>
            </a:r>
            <a:endParaRPr lang="en-US" sz="910" dirty="0"/>
          </a:p>
        </p:txBody>
      </p:sp>
      <p:sp>
        <p:nvSpPr>
          <p:cNvPr id="14" name="Text 12"/>
          <p:cNvSpPr/>
          <p:nvPr/>
        </p:nvSpPr>
        <p:spPr>
          <a:xfrm>
            <a:off x="4160520" y="1691640"/>
            <a:ext cx="1078992" cy="676656"/>
          </a:xfrm>
          <a:prstGeom prst="roundRect">
            <a:avLst>
              <a:gd name="adj" fmla="val 10811"/>
            </a:avLst>
          </a:prstGeom>
          <a:solidFill>
            <a:srgbClr val="65A30D"/>
          </a:solidFill>
          <a:ln>
            <a:solidFill>
              <a:srgbClr val="65A30D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 full</a:t>
            </a:r>
            <a:endParaRPr lang="en-US" sz="910" dirty="0"/>
          </a:p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</a:t>
            </a:r>
            <a:endParaRPr lang="en-US" sz="910" dirty="0"/>
          </a:p>
        </p:txBody>
      </p:sp>
      <p:sp>
        <p:nvSpPr>
          <p:cNvPr id="15" name="Text 13"/>
          <p:cNvSpPr/>
          <p:nvPr/>
        </p:nvSpPr>
        <p:spPr>
          <a:xfrm>
            <a:off x="5349240" y="1691640"/>
            <a:ext cx="1078992" cy="676656"/>
          </a:xfrm>
          <a:prstGeom prst="roundRect">
            <a:avLst>
              <a:gd name="adj" fmla="val 10811"/>
            </a:avLst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using</a:t>
            </a:r>
            <a:endParaRPr lang="en-US" sz="910" dirty="0"/>
          </a:p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910" dirty="0"/>
          </a:p>
        </p:txBody>
      </p:sp>
      <p:sp>
        <p:nvSpPr>
          <p:cNvPr id="16" name="Text 14"/>
          <p:cNvSpPr/>
          <p:nvPr/>
        </p:nvSpPr>
        <p:spPr>
          <a:xfrm>
            <a:off x="6537960" y="1691640"/>
            <a:ext cx="1078992" cy="676656"/>
          </a:xfrm>
          <a:prstGeom prst="roundRect">
            <a:avLst>
              <a:gd name="adj" fmla="val 10811"/>
            </a:avLst>
          </a:prstGeom>
          <a:solidFill>
            <a:srgbClr val="65A30D"/>
          </a:solidFill>
          <a:ln>
            <a:solidFill>
              <a:srgbClr val="65A30D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Freeze</a:t>
            </a:r>
            <a:endParaRPr lang="en-US" sz="910" dirty="0"/>
          </a:p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910" dirty="0"/>
          </a:p>
        </p:txBody>
      </p:sp>
      <p:sp>
        <p:nvSpPr>
          <p:cNvPr id="17" name="Text 15"/>
          <p:cNvSpPr/>
          <p:nvPr/>
        </p:nvSpPr>
        <p:spPr>
          <a:xfrm>
            <a:off x="7726680" y="1691640"/>
            <a:ext cx="1078992" cy="676656"/>
          </a:xfrm>
          <a:prstGeom prst="roundRect">
            <a:avLst>
              <a:gd name="adj" fmla="val 10811"/>
            </a:avLst>
          </a:prstGeom>
          <a:solidFill>
            <a:srgbClr val="DC2626"/>
          </a:solidFill>
          <a:ln>
            <a:solidFill>
              <a:srgbClr val="DC2626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</a:t>
            </a:r>
            <a:endParaRPr lang="en-US" sz="910" dirty="0"/>
          </a:p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910" dirty="0"/>
          </a:p>
        </p:txBody>
      </p:sp>
      <p:sp>
        <p:nvSpPr>
          <p:cNvPr id="18" name="Text 16"/>
          <p:cNvSpPr/>
          <p:nvPr/>
        </p:nvSpPr>
        <p:spPr>
          <a:xfrm>
            <a:off x="8915400" y="1691640"/>
            <a:ext cx="1078992" cy="676656"/>
          </a:xfrm>
          <a:prstGeom prst="roundRect">
            <a:avLst>
              <a:gd name="adj" fmla="val 10811"/>
            </a:avLst>
          </a:prstGeom>
          <a:solidFill>
            <a:srgbClr val="0F172A"/>
          </a:solidFill>
          <a:ln>
            <a:solidFill>
              <a:srgbClr val="0F172A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</a:t>
            </a:r>
            <a:endParaRPr lang="en-US" sz="910" dirty="0"/>
          </a:p>
          <a:p>
            <a:pPr marL="0" indent="0" algn="ctr">
              <a:buNone/>
            </a:pPr>
            <a:r>
              <a:rPr lang="en-US" sz="9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</a:t>
            </a:r>
            <a:endParaRPr lang="en-US" sz="910" dirty="0"/>
          </a:p>
        </p:txBody>
      </p:sp>
      <p:sp>
        <p:nvSpPr>
          <p:cNvPr id="19" name="Text 17"/>
          <p:cNvSpPr/>
          <p:nvPr/>
        </p:nvSpPr>
        <p:spPr>
          <a:xfrm>
            <a:off x="475488" y="3328415"/>
            <a:ext cx="2423160" cy="987552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3970">
            <a:solidFill>
              <a:srgbClr val="0F172A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Deployment assumptions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prediction time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expected novelty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operational unit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3090672" y="3328415"/>
            <a:ext cx="2606040" cy="987552"/>
          </a:xfrm>
          <a:prstGeom prst="roundRect">
            <a:avLst>
              <a:gd name="adj" fmla="val 5556"/>
            </a:avLst>
          </a:prstGeom>
          <a:solidFill>
            <a:srgbClr val="EFF6FF"/>
          </a:solidFill>
          <a:ln w="13970">
            <a:solidFill>
              <a:srgbClr val="2563EB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Partition rules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temporal boundaries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entity / group boundaries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validation strategy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5888736" y="3328415"/>
            <a:ext cx="2697480" cy="987552"/>
          </a:xfrm>
          <a:prstGeom prst="roundRect">
            <a:avLst>
              <a:gd name="adj" fmla="val 5556"/>
            </a:avLst>
          </a:prstGeom>
          <a:solidFill>
            <a:srgbClr val="F0FDF4"/>
          </a:solidFill>
          <a:ln w="13970">
            <a:solidFill>
              <a:srgbClr val="65A30D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Sample construction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window length and stride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target alignment / horizon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event or cycle grouping</a:t>
            </a:r>
            <a:endParaRPr lang="en-US" sz="870" dirty="0"/>
          </a:p>
        </p:txBody>
      </p:sp>
      <p:sp>
        <p:nvSpPr>
          <p:cNvPr id="22" name="Text 20"/>
          <p:cNvSpPr/>
          <p:nvPr/>
        </p:nvSpPr>
        <p:spPr>
          <a:xfrm>
            <a:off x="8778240" y="3328415"/>
            <a:ext cx="2331720" cy="987552"/>
          </a:xfrm>
          <a:prstGeom prst="roundRect">
            <a:avLst>
              <a:gd name="adj" fmla="val 5556"/>
            </a:avLst>
          </a:prstGeom>
          <a:solidFill>
            <a:srgbClr val="FEF2F2"/>
          </a:solidFill>
          <a:ln w="13970">
            <a:solidFill>
              <a:srgbClr val="DC2626"/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Evaluation protocol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metrics and thresholds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subgroup analysis</a:t>
            </a:r>
            <a:endParaRPr lang="en-US" sz="870" dirty="0"/>
          </a:p>
          <a:p>
            <a:pPr marL="0" indent="0">
              <a:buNone/>
            </a:pPr>
            <a:r>
              <a:rPr lang="en-US" sz="8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reported limitations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3393300" y="2852928"/>
            <a:ext cx="396188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1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checklists tied to specific workflow stages.</a:t>
            </a:r>
            <a:endParaRPr lang="en-US" sz="1210" dirty="0"/>
          </a:p>
        </p:txBody>
      </p:sp>
      <p:sp>
        <p:nvSpPr>
          <p:cNvPr id="24" name="Text 22"/>
          <p:cNvSpPr/>
          <p:nvPr/>
        </p:nvSpPr>
        <p:spPr>
          <a:xfrm>
            <a:off x="1143000" y="5376672"/>
            <a:ext cx="745236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65A30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Reliable performance estimates depend as much on evaluation design as on the predictive algorithm itself.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320040" y="6510528"/>
            <a:ext cx="1156716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502920" y="6601968"/>
            <a:ext cx="4937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dirty="0">
                <a:solidFill>
                  <a:srgbClr val="64748B"/>
                </a:solidFill>
              </a:rPr>
              <a:t>Lecture 2 — Block F: End-to-end temporal evaluation workflow</a:t>
            </a:r>
            <a:endParaRPr lang="en-US" sz="73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A6574DE-B693-0CA8-38DD-633788738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Transition to baselines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D22954D-7BEE-7013-1735-553BEF362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Once a valid evaluation protocol has been established, the next question is: What is the simplest credible method that the advanced model must outperform?</a:t>
            </a:r>
          </a:p>
          <a:p>
            <a:r>
              <a:rPr lang="en-GB" dirty="0"/>
              <a:t>Before using recurrent networks, temporal CNNs or transformers, we should establish strong reference models.</a:t>
            </a:r>
          </a:p>
          <a:p>
            <a:r>
              <a:rPr lang="en-GB" dirty="0"/>
              <a:t>These include:</a:t>
            </a:r>
          </a:p>
          <a:p>
            <a:pPr lvl="1"/>
            <a:r>
              <a:rPr lang="en-GB" dirty="0"/>
              <a:t>persistence and seasonal-naïve forecasting;</a:t>
            </a:r>
          </a:p>
          <a:p>
            <a:pPr lvl="1"/>
            <a:r>
              <a:rPr lang="en-GB" dirty="0"/>
              <a:t>moving averages and smoothing;</a:t>
            </a:r>
          </a:p>
          <a:p>
            <a:pPr lvl="1"/>
            <a:r>
              <a:rPr lang="en-GB" dirty="0"/>
              <a:t>linear models using lagged observations;</a:t>
            </a:r>
          </a:p>
          <a:p>
            <a:pPr lvl="1"/>
            <a:r>
              <a:rPr lang="en-GB" dirty="0"/>
              <a:t>statistical and spectral temporal features;</a:t>
            </a:r>
          </a:p>
          <a:p>
            <a:pPr lvl="1"/>
            <a:r>
              <a:rPr lang="en-GB" dirty="0"/>
              <a:t>logistic and linear regression;</a:t>
            </a:r>
          </a:p>
          <a:p>
            <a:pPr lvl="1"/>
            <a:r>
              <a:rPr lang="en-GB" dirty="0"/>
              <a:t>tree-based models;</a:t>
            </a:r>
          </a:p>
          <a:p>
            <a:pPr lvl="1"/>
            <a:r>
              <a:rPr lang="en-GB" dirty="0"/>
              <a:t>distance-based and fast time-series classification methods.</a:t>
            </a:r>
          </a:p>
          <a:p>
            <a:endParaRPr lang="en-GB" dirty="0"/>
          </a:p>
          <a:p>
            <a:r>
              <a:rPr lang="en-GB" dirty="0"/>
              <a:t>This motivates the next topic:</a:t>
            </a:r>
          </a:p>
          <a:p>
            <a:r>
              <a:rPr lang="en-GB" b="1" dirty="0"/>
              <a:t>Traditional baselines and feature-based machine learning.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7286176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1097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9A17"/>
                </a:solidFill>
              </a:rPr>
              <a:t>Transition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502920" y="41148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valid evaluation to baselines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02920" y="786384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Once the evaluation protocol is credible, the next step is to define what the model must outperform.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914400" y="1325880"/>
            <a:ext cx="1316736" cy="548640"/>
          </a:xfrm>
          <a:prstGeom prst="roundRect">
            <a:avLst/>
          </a:prstGeom>
          <a:solidFill>
            <a:srgbClr val="5C9A17"/>
          </a:solidFill>
          <a:ln w="12700">
            <a:solidFill>
              <a:srgbClr val="5C9A1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persistence /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seasonal naïve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2432304" y="1828800"/>
            <a:ext cx="1316736" cy="54864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smoothing /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lag models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950208" y="2331720"/>
            <a:ext cx="1316736" cy="54864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feature-based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468112" y="2834640"/>
            <a:ext cx="1316736" cy="54864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 CNN /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RNN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986016" y="3337560"/>
            <a:ext cx="1316736" cy="548640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transformers /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 models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051560" y="4572000"/>
            <a:ext cx="66751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1828800" y="48006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increase complexity only if validation evidence and operational value justify it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280160" y="5623560"/>
            <a:ext cx="612648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5C9A1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</a:rPr>
              <a:t>Next: traditional baselines and feature-based machine learning for forecasting, regression and classification.</a:t>
            </a:r>
            <a:endParaRPr lang="en-US" sz="950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0C408BE9-F541-8867-BE99-C6DBFE2367FF}"/>
              </a:ext>
            </a:extLst>
          </p:cNvPr>
          <p:cNvSpPr txBox="1"/>
          <p:nvPr/>
        </p:nvSpPr>
        <p:spPr>
          <a:xfrm>
            <a:off x="4904232" y="1230868"/>
            <a:ext cx="485546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GB" sz="1400" dirty="0"/>
              <a:t>Lag-based models use selected past samples explicitly;</a:t>
            </a:r>
          </a:p>
          <a:p>
            <a:pPr marL="285750" indent="-285750">
              <a:buFontTx/>
              <a:buChar char="-"/>
            </a:pPr>
            <a:r>
              <a:rPr lang="en-GB" sz="1400" dirty="0"/>
              <a:t>Feature-based ML may additionally summarize or transform the history into engineered descriptors.</a:t>
            </a:r>
            <a:endParaRPr lang="en-GB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EA998F-CF01-9FF9-A2C0-E8230B430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Term</a:t>
            </a:r>
            <a:r>
              <a:rPr lang="it-IT" dirty="0"/>
              <a:t> e</a:t>
            </a:r>
            <a:r>
              <a:rPr lang="it-IT"/>
              <a:t>xplanation</a:t>
            </a:r>
            <a:r>
              <a:rPr lang="it-IT" dirty="0"/>
              <a:t> </a:t>
            </a:r>
            <a:r>
              <a:rPr lang="it-IT" dirty="0" err="1"/>
              <a:t>exercise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3D2852E-1128-9633-EC88-329978ED1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b="1" dirty="0"/>
              <a:t>Prediction time</a:t>
            </a:r>
            <a:r>
              <a:rPr lang="en-GB" dirty="0"/>
              <a:t> — When exactly is the prediction made, and what information is available at that moment?</a:t>
            </a:r>
          </a:p>
          <a:p>
            <a:pPr lvl="1"/>
            <a:r>
              <a:rPr lang="en-GB" dirty="0"/>
              <a:t>Example: </a:t>
            </a:r>
            <a:r>
              <a:rPr lang="en-GB" i="1" dirty="0"/>
              <a:t>predict product quality at the end of a production cycle using measurements available up to 30 seconds before completion.</a:t>
            </a:r>
            <a:r>
              <a:rPr lang="en-GB" dirty="0"/>
              <a:t> </a:t>
            </a:r>
          </a:p>
          <a:p>
            <a:r>
              <a:rPr lang="en-GB" b="1" dirty="0"/>
              <a:t>Expected novelty</a:t>
            </a:r>
            <a:r>
              <a:rPr lang="en-GB" dirty="0"/>
              <a:t> — What is expected to be different at deployment compared with training?</a:t>
            </a:r>
          </a:p>
          <a:p>
            <a:pPr lvl="1"/>
            <a:r>
              <a:rPr lang="en-GB" dirty="0"/>
              <a:t>Example: </a:t>
            </a:r>
            <a:r>
              <a:rPr lang="en-GB" i="1" dirty="0"/>
              <a:t>future time periods, unseen machines, a new production site, or a new operating regime.</a:t>
            </a:r>
            <a:br>
              <a:rPr lang="en-GB" dirty="0"/>
            </a:br>
            <a:r>
              <a:rPr lang="en-GB" dirty="0"/>
              <a:t>This determines what type of generalization the evaluation should test. </a:t>
            </a:r>
          </a:p>
          <a:p>
            <a:r>
              <a:rPr lang="en-GB" b="1" dirty="0"/>
              <a:t>Operational unit</a:t>
            </a:r>
            <a:r>
              <a:rPr lang="en-GB" dirty="0"/>
              <a:t> — What real-world object or event receives one prediction?</a:t>
            </a:r>
          </a:p>
          <a:p>
            <a:pPr lvl="1"/>
            <a:r>
              <a:rPr lang="en-GB" dirty="0"/>
              <a:t>Example: </a:t>
            </a:r>
            <a:r>
              <a:rPr lang="en-GB" i="1" dirty="0"/>
              <a:t>one machine cycle, one patient episode, one turbine, one hour of operation.</a:t>
            </a:r>
            <a:br>
              <a:rPr lang="en-GB" dirty="0"/>
            </a:br>
            <a:r>
              <a:rPr lang="en-GB" dirty="0"/>
              <a:t>This helps determine how samples should be grouped and split. </a:t>
            </a:r>
          </a:p>
          <a:p>
            <a:r>
              <a:rPr lang="en-GB" b="1" dirty="0"/>
              <a:t>Validation strategy</a:t>
            </a:r>
            <a:r>
              <a:rPr lang="en-GB" dirty="0"/>
              <a:t> — How will model choices be made without using the test set?</a:t>
            </a:r>
          </a:p>
          <a:p>
            <a:pPr lvl="1"/>
            <a:r>
              <a:rPr lang="en-GB" dirty="0"/>
              <a:t>Example: </a:t>
            </a:r>
            <a:r>
              <a:rPr lang="en-GB" i="1" dirty="0"/>
              <a:t>a chronological validation period, rolling-origin validation, or leave-one-machine-out validation.</a:t>
            </a:r>
            <a:br>
              <a:rPr lang="en-GB" dirty="0"/>
            </a:br>
            <a:r>
              <a:rPr lang="en-GB" dirty="0"/>
              <a:t>It should resemble the intended deployment setting. </a:t>
            </a:r>
          </a:p>
          <a:p>
            <a:r>
              <a:rPr lang="en-GB" b="1" dirty="0"/>
              <a:t>Reported limitations</a:t>
            </a:r>
            <a:r>
              <a:rPr lang="en-GB" dirty="0"/>
              <a:t> — Which aspects of deployment are not fully represented by the </a:t>
            </a:r>
            <a:r>
              <a:rPr lang="en-GB"/>
              <a:t>evaluation?</a:t>
            </a:r>
          </a:p>
          <a:p>
            <a:pPr lvl="1"/>
            <a:r>
              <a:rPr lang="en-GB"/>
              <a:t>Example</a:t>
            </a:r>
            <a:r>
              <a:rPr lang="en-GB" dirty="0"/>
              <a:t>: </a:t>
            </a:r>
            <a:r>
              <a:rPr lang="en-GB" i="1" dirty="0"/>
              <a:t>only one site was tested, rare faults were underrepresented, or performance under major regime changes is unknown.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1213515"/>
      </p:ext>
    </p:extLst>
  </p:cSld>
  <p:clrMapOvr>
    <a:masterClrMapping/>
  </p:clrMapOvr>
</p:sld>
</file>

<file path=ppt/theme/theme1.xml><?xml version="1.0" encoding="utf-8"?>
<a:theme xmlns:a="http://schemas.openxmlformats.org/drawingml/2006/main" name="Sfaccettatura">
  <a:themeElements>
    <a:clrScheme name="Sfaccettatur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Sfaccettatur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faccettatur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Sfaccettatura</Template>
  <TotalTime>4440</TotalTime>
  <Words>11107</Words>
  <Application>Microsoft Office PowerPoint</Application>
  <PresentationFormat>Widescreen</PresentationFormat>
  <Paragraphs>2077</Paragraphs>
  <Slides>132</Slides>
  <Notes>36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132</vt:i4>
      </vt:variant>
    </vt:vector>
  </HeadingPairs>
  <TitlesOfParts>
    <vt:vector size="140" baseType="lpstr">
      <vt:lpstr>Aptos</vt:lpstr>
      <vt:lpstr>Aptos Display</vt:lpstr>
      <vt:lpstr>Aptos Narrow</vt:lpstr>
      <vt:lpstr>Arial</vt:lpstr>
      <vt:lpstr>Courier New</vt:lpstr>
      <vt:lpstr>Trebuchet MS</vt:lpstr>
      <vt:lpstr>Wingdings 3</vt:lpstr>
      <vt:lpstr>Sfaccettatura</vt:lpstr>
      <vt:lpstr>2- Training, Validation, Test and Data Leakage</vt:lpstr>
      <vt:lpstr>Learning objectives</vt:lpstr>
      <vt:lpstr>Blocks in the lecture</vt:lpstr>
      <vt:lpstr>A. What Does the Test Set Represent?</vt:lpstr>
      <vt:lpstr>Training, validation and test have different roles</vt:lpstr>
      <vt:lpstr>Training, validation and test have different roles</vt:lpstr>
      <vt:lpstr>Presentazione standard di PowerPoint</vt:lpstr>
      <vt:lpstr>Presentazione standard di PowerPoint</vt:lpstr>
      <vt:lpstr>Generalization has multiple dimensions</vt:lpstr>
      <vt:lpstr>Generalization has multiple dimensions</vt:lpstr>
      <vt:lpstr>Presentazione standard di PowerPoint</vt:lpstr>
      <vt:lpstr>The test set should reproduce deployment conditions</vt:lpstr>
      <vt:lpstr>The test set should reproduce deployment conditions</vt:lpstr>
      <vt:lpstr>A high score may answer the wrong question</vt:lpstr>
      <vt:lpstr>A high score may answer the wrong question</vt:lpstr>
      <vt:lpstr>Presentazione standard di PowerPoint</vt:lpstr>
      <vt:lpstr>B. Splitting One Long Time Series</vt:lpstr>
      <vt:lpstr>Splitting One Long Time Series - Chronological holdout</vt:lpstr>
      <vt:lpstr>Splitting One Long Time Series - Chronological holdout</vt:lpstr>
      <vt:lpstr>Presentazione standard di PowerPoint</vt:lpstr>
      <vt:lpstr>Why random splitting can be misleading</vt:lpstr>
      <vt:lpstr>Why random splitting can be misleading</vt:lpstr>
      <vt:lpstr>1. Fixed-origin evaluation</vt:lpstr>
      <vt:lpstr>Presentazione standard di PowerPoint</vt:lpstr>
      <vt:lpstr>2. Expanding-window evaluation</vt:lpstr>
      <vt:lpstr>Expanding-window evaluation</vt:lpstr>
      <vt:lpstr>3. Sliding-window evaluation</vt:lpstr>
      <vt:lpstr>Sliding-window evaluation</vt:lpstr>
      <vt:lpstr>Expanding or sliding training window?</vt:lpstr>
      <vt:lpstr>Practical decision criteria </vt:lpstr>
      <vt:lpstr>Presentazione standard di PowerPoint</vt:lpstr>
      <vt:lpstr>Choosing temporal interval lengths</vt:lpstr>
      <vt:lpstr>Choosing temporal interval lengths</vt:lpstr>
      <vt:lpstr>Percentage splits are not sufficient descriptions</vt:lpstr>
      <vt:lpstr>Percentage splits should be accompanied by a clear description of how the data are partitioned</vt:lpstr>
      <vt:lpstr>2.C — Multiple Sequences, Groups and Entities</vt:lpstr>
      <vt:lpstr>Temporal datasets often have a grouped structure</vt:lpstr>
      <vt:lpstr>Example dataset </vt:lpstr>
      <vt:lpstr>Example dataset </vt:lpstr>
      <vt:lpstr>Presentazione standard di PowerPoint</vt:lpstr>
      <vt:lpstr>Window-level, sequence-level and entity-level splits – 1. Window-level split</vt:lpstr>
      <vt:lpstr>2. Sequence-level split</vt:lpstr>
      <vt:lpstr>3. Entity-level split</vt:lpstr>
      <vt:lpstr>Comparison</vt:lpstr>
      <vt:lpstr>Temporal generalization within known entities</vt:lpstr>
      <vt:lpstr>Example</vt:lpstr>
      <vt:lpstr>Presentazione standard di PowerPoint</vt:lpstr>
      <vt:lpstr>Generalization to unseen entities</vt:lpstr>
      <vt:lpstr>Example </vt:lpstr>
      <vt:lpstr>Presentazione standard di PowerPoint</vt:lpstr>
      <vt:lpstr>Combined temporal and entity generalization</vt:lpstr>
      <vt:lpstr>Possible test scenarios</vt:lpstr>
      <vt:lpstr>Combined temporal and entity generalization</vt:lpstr>
      <vt:lpstr>Presentazione standard di PowerPoint</vt:lpstr>
      <vt:lpstr>Sites, environments and acquisition systems</vt:lpstr>
      <vt:lpstr>Site-level holdout </vt:lpstr>
      <vt:lpstr>Presentazione standard di PowerPoint</vt:lpstr>
      <vt:lpstr>Documenting a grouped evaluation protocol</vt:lpstr>
      <vt:lpstr>Example of an adequate description </vt:lpstr>
      <vt:lpstr>D. Leakage Caused by Window Generation</vt:lpstr>
      <vt:lpstr>Overlapping windows are strongly dependent</vt:lpstr>
      <vt:lpstr>Presentazione standard di PowerPoint</vt:lpstr>
      <vt:lpstr>The incorrect workflow</vt:lpstr>
      <vt:lpstr>Example </vt:lpstr>
      <vt:lpstr>Presentazione standard di PowerPoint</vt:lpstr>
      <vt:lpstr>The correct split-before-windowing workflow</vt:lpstr>
      <vt:lpstr>Example</vt:lpstr>
      <vt:lpstr>Presentazione standard di PowerPoint</vt:lpstr>
      <vt:lpstr>Windows must not cross split boundaries</vt:lpstr>
      <vt:lpstr>Presentazione standard di PowerPoint</vt:lpstr>
      <vt:lpstr>Presentazione standard di PowerPoint</vt:lpstr>
      <vt:lpstr>Events can generate many correlated labels</vt:lpstr>
      <vt:lpstr>Correct principle</vt:lpstr>
      <vt:lpstr>Presentazione standard di PowerPoint</vt:lpstr>
      <vt:lpstr>When is a temporal gap required?</vt:lpstr>
      <vt:lpstr>Example</vt:lpstr>
      <vt:lpstr>Presentazione standard di PowerPoint</vt:lpstr>
      <vt:lpstr>How to determine safe window boundaries</vt:lpstr>
      <vt:lpstr>Validation sample condition </vt:lpstr>
      <vt:lpstr>Auditing</vt:lpstr>
      <vt:lpstr>Presentazione standard di PowerPoint</vt:lpstr>
      <vt:lpstr>Window count is not the effective sample size</vt:lpstr>
      <vt:lpstr>Better dataset summaries</vt:lpstr>
      <vt:lpstr>Presentazione standard di PowerPoint</vt:lpstr>
      <vt:lpstr>Presentazione standard di PowerPoint</vt:lpstr>
      <vt:lpstr>Block 2.E — Leakage from Preprocessing and Feature Construction</vt:lpstr>
      <vt:lpstr>Preprocessing can also leak information</vt:lpstr>
      <vt:lpstr>Correct workflow</vt:lpstr>
      <vt:lpstr>Presentazione standard di PowerPoint</vt:lpstr>
      <vt:lpstr>Example: standardization</vt:lpstr>
      <vt:lpstr>Why does this matter? </vt:lpstr>
      <vt:lpstr>Presentazione standard di PowerPoint</vt:lpstr>
      <vt:lpstr>Fitted transformations vs deterministic transformations</vt:lpstr>
      <vt:lpstr>However…</vt:lpstr>
      <vt:lpstr>Presentazione standard di PowerPoint</vt:lpstr>
      <vt:lpstr>Temporal feature leakage</vt:lpstr>
      <vt:lpstr>Other potential sources of leakage</vt:lpstr>
      <vt:lpstr>Presentazione standard di PowerPoint</vt:lpstr>
      <vt:lpstr>Known future information vs realized future information</vt:lpstr>
      <vt:lpstr>Example: demand forecasting</vt:lpstr>
      <vt:lpstr>Presentazione standard di PowerPoint</vt:lpstr>
      <vt:lpstr>Target leakage</vt:lpstr>
      <vt:lpstr>Proxy leakage</vt:lpstr>
      <vt:lpstr>Presentazione standard di PowerPoint</vt:lpstr>
      <vt:lpstr>Split first, fit preprocessing second</vt:lpstr>
      <vt:lpstr>Examples of pipeline components</vt:lpstr>
      <vt:lpstr>Presentazione standard di PowerPoint</vt:lpstr>
      <vt:lpstr>Block 2.F — Validation, Model Selection and Final Testing</vt:lpstr>
      <vt:lpstr>Validation is part of model development</vt:lpstr>
      <vt:lpstr>Example and consequence</vt:lpstr>
      <vt:lpstr>Presentazione standard di PowerPoint</vt:lpstr>
      <vt:lpstr>Repeated model selection can overfit the validation set</vt:lpstr>
      <vt:lpstr>Consequence </vt:lpstr>
      <vt:lpstr>Presentazione standard di PowerPoint</vt:lpstr>
      <vt:lpstr>The test set must stay untouched</vt:lpstr>
      <vt:lpstr>Presentazione standard di PowerPoint</vt:lpstr>
      <vt:lpstr>After model selection: can training and validation be combined?</vt:lpstr>
      <vt:lpstr>Why refit?</vt:lpstr>
      <vt:lpstr>Presentazione standard di PowerPoint</vt:lpstr>
      <vt:lpstr>Classification thresholds are model-selection parameters</vt:lpstr>
      <vt:lpstr>Example</vt:lpstr>
      <vt:lpstr>Presentazione standard di PowerPoint</vt:lpstr>
      <vt:lpstr>Final evaluation should report more than one number</vt:lpstr>
      <vt:lpstr>Final evaluation should report more than one number</vt:lpstr>
      <vt:lpstr>Presentazione standard di PowerPoint</vt:lpstr>
      <vt:lpstr>End-to-end evaluation workflow</vt:lpstr>
      <vt:lpstr>End-to-end evaluation workflow</vt:lpstr>
      <vt:lpstr>End-to-end evaluation workflow</vt:lpstr>
      <vt:lpstr>Presentazione standard di PowerPoint</vt:lpstr>
      <vt:lpstr>Transition to baselines</vt:lpstr>
      <vt:lpstr>Presentazione standard di PowerPoint</vt:lpstr>
      <vt:lpstr>Term explanation exercise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Francesco Bellotti</dc:creator>
  <cp:lastModifiedBy>Francesco Bellotti</cp:lastModifiedBy>
  <cp:revision>1</cp:revision>
  <dcterms:created xsi:type="dcterms:W3CDTF">2026-08-05T08:43:00Z</dcterms:created>
  <dcterms:modified xsi:type="dcterms:W3CDTF">2026-09-30T09:54:59Z</dcterms:modified>
</cp:coreProperties>
</file>