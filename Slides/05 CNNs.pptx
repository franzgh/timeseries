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5"/>
  </p:notesMasterIdLst>
  <p:sldIdLst>
    <p:sldId id="256" r:id="rId2"/>
    <p:sldId id="270" r:id="rId3"/>
    <p:sldId id="271" r:id="rId4"/>
    <p:sldId id="257" r:id="rId5"/>
    <p:sldId id="272" r:id="rId6"/>
    <p:sldId id="258" r:id="rId7"/>
    <p:sldId id="273" r:id="rId8"/>
    <p:sldId id="274" r:id="rId9"/>
    <p:sldId id="259" r:id="rId10"/>
    <p:sldId id="275" r:id="rId11"/>
    <p:sldId id="260" r:id="rId12"/>
    <p:sldId id="276" r:id="rId13"/>
    <p:sldId id="261" r:id="rId14"/>
    <p:sldId id="277" r:id="rId15"/>
    <p:sldId id="278" r:id="rId16"/>
    <p:sldId id="262" r:id="rId17"/>
    <p:sldId id="279" r:id="rId18"/>
    <p:sldId id="281" r:id="rId19"/>
    <p:sldId id="263" r:id="rId20"/>
    <p:sldId id="280" r:id="rId21"/>
    <p:sldId id="282" r:id="rId22"/>
    <p:sldId id="283" r:id="rId23"/>
    <p:sldId id="264" r:id="rId24"/>
    <p:sldId id="284" r:id="rId25"/>
    <p:sldId id="265" r:id="rId26"/>
    <p:sldId id="285" r:id="rId27"/>
    <p:sldId id="292" r:id="rId28"/>
    <p:sldId id="266" r:id="rId29"/>
    <p:sldId id="286" r:id="rId30"/>
    <p:sldId id="313" r:id="rId31"/>
    <p:sldId id="267" r:id="rId32"/>
    <p:sldId id="287" r:id="rId33"/>
    <p:sldId id="314" r:id="rId34"/>
    <p:sldId id="288" r:id="rId35"/>
    <p:sldId id="289" r:id="rId36"/>
    <p:sldId id="268" r:id="rId37"/>
    <p:sldId id="290" r:id="rId38"/>
    <p:sldId id="269" r:id="rId39"/>
    <p:sldId id="291" r:id="rId40"/>
    <p:sldId id="315" r:id="rId41"/>
    <p:sldId id="316" r:id="rId42"/>
    <p:sldId id="341" r:id="rId43"/>
    <p:sldId id="293" r:id="rId44"/>
    <p:sldId id="317" r:id="rId45"/>
    <p:sldId id="294" r:id="rId46"/>
    <p:sldId id="318" r:id="rId47"/>
    <p:sldId id="342" r:id="rId48"/>
    <p:sldId id="295" r:id="rId49"/>
    <p:sldId id="319" r:id="rId50"/>
    <p:sldId id="343" r:id="rId51"/>
    <p:sldId id="296" r:id="rId52"/>
    <p:sldId id="320" r:id="rId53"/>
    <p:sldId id="344" r:id="rId54"/>
    <p:sldId id="297" r:id="rId55"/>
    <p:sldId id="321" r:id="rId56"/>
    <p:sldId id="345" r:id="rId57"/>
    <p:sldId id="298" r:id="rId58"/>
    <p:sldId id="322" r:id="rId59"/>
    <p:sldId id="346" r:id="rId60"/>
    <p:sldId id="299" r:id="rId61"/>
    <p:sldId id="323" r:id="rId62"/>
    <p:sldId id="300" r:id="rId63"/>
    <p:sldId id="324" r:id="rId64"/>
    <p:sldId id="301" r:id="rId65"/>
    <p:sldId id="325" r:id="rId66"/>
    <p:sldId id="347" r:id="rId67"/>
    <p:sldId id="326" r:id="rId68"/>
    <p:sldId id="327" r:id="rId69"/>
    <p:sldId id="302" r:id="rId70"/>
    <p:sldId id="328" r:id="rId71"/>
    <p:sldId id="348" r:id="rId72"/>
    <p:sldId id="329" r:id="rId73"/>
    <p:sldId id="303" r:id="rId74"/>
    <p:sldId id="330" r:id="rId75"/>
    <p:sldId id="349" r:id="rId76"/>
    <p:sldId id="304" r:id="rId77"/>
    <p:sldId id="331" r:id="rId78"/>
    <p:sldId id="350" r:id="rId79"/>
    <p:sldId id="305" r:id="rId80"/>
    <p:sldId id="332" r:id="rId81"/>
    <p:sldId id="351" r:id="rId82"/>
    <p:sldId id="306" r:id="rId83"/>
    <p:sldId id="333" r:id="rId84"/>
    <p:sldId id="352" r:id="rId85"/>
    <p:sldId id="307" r:id="rId86"/>
    <p:sldId id="334" r:id="rId87"/>
    <p:sldId id="308" r:id="rId88"/>
    <p:sldId id="335" r:id="rId89"/>
    <p:sldId id="336" r:id="rId90"/>
    <p:sldId id="309" r:id="rId91"/>
    <p:sldId id="337" r:id="rId92"/>
    <p:sldId id="353" r:id="rId93"/>
    <p:sldId id="310" r:id="rId94"/>
    <p:sldId id="338" r:id="rId95"/>
    <p:sldId id="354" r:id="rId96"/>
    <p:sldId id="311" r:id="rId97"/>
    <p:sldId id="339" r:id="rId98"/>
    <p:sldId id="340" r:id="rId99"/>
    <p:sldId id="312" r:id="rId100"/>
    <p:sldId id="369" r:id="rId101"/>
    <p:sldId id="370" r:id="rId102"/>
    <p:sldId id="395" r:id="rId103"/>
    <p:sldId id="355" r:id="rId104"/>
    <p:sldId id="371" r:id="rId105"/>
    <p:sldId id="396" r:id="rId106"/>
    <p:sldId id="372" r:id="rId107"/>
    <p:sldId id="356" r:id="rId108"/>
    <p:sldId id="373" r:id="rId109"/>
    <p:sldId id="357" r:id="rId110"/>
    <p:sldId id="374" r:id="rId111"/>
    <p:sldId id="397" r:id="rId112"/>
    <p:sldId id="375" r:id="rId113"/>
    <p:sldId id="358" r:id="rId114"/>
    <p:sldId id="376" r:id="rId115"/>
    <p:sldId id="400" r:id="rId116"/>
    <p:sldId id="359" r:id="rId117"/>
    <p:sldId id="377" r:id="rId118"/>
    <p:sldId id="378" r:id="rId119"/>
    <p:sldId id="360" r:id="rId120"/>
    <p:sldId id="379" r:id="rId121"/>
    <p:sldId id="398" r:id="rId122"/>
    <p:sldId id="380" r:id="rId123"/>
    <p:sldId id="399" r:id="rId124"/>
    <p:sldId id="381" r:id="rId125"/>
    <p:sldId id="382" r:id="rId126"/>
    <p:sldId id="383" r:id="rId127"/>
    <p:sldId id="384" r:id="rId128"/>
    <p:sldId id="385" r:id="rId129"/>
    <p:sldId id="361" r:id="rId130"/>
    <p:sldId id="386" r:id="rId131"/>
    <p:sldId id="362" r:id="rId132"/>
    <p:sldId id="387" r:id="rId133"/>
    <p:sldId id="363" r:id="rId134"/>
    <p:sldId id="388" r:id="rId135"/>
    <p:sldId id="364" r:id="rId136"/>
    <p:sldId id="389" r:id="rId137"/>
    <p:sldId id="365" r:id="rId138"/>
    <p:sldId id="390" r:id="rId139"/>
    <p:sldId id="366" r:id="rId140"/>
    <p:sldId id="391" r:id="rId141"/>
    <p:sldId id="392" r:id="rId142"/>
    <p:sldId id="367" r:id="rId143"/>
    <p:sldId id="368" r:id="rId144"/>
    <p:sldId id="393" r:id="rId145"/>
    <p:sldId id="394" r:id="rId146"/>
    <p:sldId id="415" r:id="rId147"/>
    <p:sldId id="416" r:id="rId148"/>
    <p:sldId id="401" r:id="rId149"/>
    <p:sldId id="417" r:id="rId150"/>
    <p:sldId id="418" r:id="rId151"/>
    <p:sldId id="402" r:id="rId152"/>
    <p:sldId id="419" r:id="rId153"/>
    <p:sldId id="420" r:id="rId154"/>
    <p:sldId id="403" r:id="rId155"/>
    <p:sldId id="421" r:id="rId156"/>
    <p:sldId id="445" r:id="rId157"/>
    <p:sldId id="422" r:id="rId158"/>
    <p:sldId id="404" r:id="rId159"/>
    <p:sldId id="423" r:id="rId160"/>
    <p:sldId id="424" r:id="rId161"/>
    <p:sldId id="405" r:id="rId162"/>
    <p:sldId id="425" r:id="rId163"/>
    <p:sldId id="446" r:id="rId164"/>
    <p:sldId id="406" r:id="rId165"/>
    <p:sldId id="426" r:id="rId166"/>
    <p:sldId id="407" r:id="rId167"/>
    <p:sldId id="427" r:id="rId168"/>
    <p:sldId id="447" r:id="rId169"/>
    <p:sldId id="448" r:id="rId170"/>
    <p:sldId id="428" r:id="rId171"/>
    <p:sldId id="429" r:id="rId172"/>
    <p:sldId id="430" r:id="rId173"/>
    <p:sldId id="449" r:id="rId174"/>
    <p:sldId id="408" r:id="rId175"/>
    <p:sldId id="409" r:id="rId176"/>
    <p:sldId id="432" r:id="rId177"/>
    <p:sldId id="433" r:id="rId178"/>
    <p:sldId id="410" r:id="rId179"/>
    <p:sldId id="434" r:id="rId180"/>
    <p:sldId id="435" r:id="rId181"/>
    <p:sldId id="451" r:id="rId182"/>
    <p:sldId id="411" r:id="rId183"/>
    <p:sldId id="436" r:id="rId184"/>
    <p:sldId id="443" r:id="rId185"/>
    <p:sldId id="413" r:id="rId186"/>
    <p:sldId id="437" r:id="rId187"/>
    <p:sldId id="438" r:id="rId188"/>
    <p:sldId id="439" r:id="rId189"/>
    <p:sldId id="412" r:id="rId190"/>
    <p:sldId id="440" r:id="rId191"/>
    <p:sldId id="441" r:id="rId192"/>
    <p:sldId id="450" r:id="rId193"/>
    <p:sldId id="442" r:id="rId194"/>
    <p:sldId id="444" r:id="rId195"/>
    <p:sldId id="452" r:id="rId196"/>
    <p:sldId id="505" r:id="rId197"/>
    <p:sldId id="506" r:id="rId198"/>
    <p:sldId id="500" r:id="rId199"/>
    <p:sldId id="501" r:id="rId200"/>
    <p:sldId id="470" r:id="rId201"/>
    <p:sldId id="453" r:id="rId202"/>
    <p:sldId id="471" r:id="rId203"/>
    <p:sldId id="503" r:id="rId204"/>
    <p:sldId id="472" r:id="rId205"/>
    <p:sldId id="455" r:id="rId206"/>
    <p:sldId id="473" r:id="rId207"/>
    <p:sldId id="456" r:id="rId208"/>
    <p:sldId id="474" r:id="rId209"/>
    <p:sldId id="457" r:id="rId210"/>
    <p:sldId id="504" r:id="rId211"/>
    <p:sldId id="475" r:id="rId212"/>
    <p:sldId id="458" r:id="rId213"/>
    <p:sldId id="476" r:id="rId214"/>
    <p:sldId id="477" r:id="rId215"/>
    <p:sldId id="459" r:id="rId216"/>
    <p:sldId id="480" r:id="rId217"/>
    <p:sldId id="460" r:id="rId218"/>
    <p:sldId id="481" r:id="rId219"/>
    <p:sldId id="482" r:id="rId220"/>
    <p:sldId id="461" r:id="rId221"/>
    <p:sldId id="483" r:id="rId222"/>
    <p:sldId id="484" r:id="rId223"/>
    <p:sldId id="485" r:id="rId224"/>
    <p:sldId id="462" r:id="rId225"/>
    <p:sldId id="486" r:id="rId226"/>
    <p:sldId id="463" r:id="rId227"/>
    <p:sldId id="487" r:id="rId228"/>
    <p:sldId id="488" r:id="rId229"/>
    <p:sldId id="489" r:id="rId230"/>
    <p:sldId id="490" r:id="rId231"/>
    <p:sldId id="464" r:id="rId232"/>
    <p:sldId id="491" r:id="rId233"/>
    <p:sldId id="492" r:id="rId234"/>
    <p:sldId id="465" r:id="rId235"/>
    <p:sldId id="493" r:id="rId236"/>
    <p:sldId id="466" r:id="rId237"/>
    <p:sldId id="494" r:id="rId238"/>
    <p:sldId id="467" r:id="rId239"/>
    <p:sldId id="495" r:id="rId240"/>
    <p:sldId id="496" r:id="rId241"/>
    <p:sldId id="497" r:id="rId242"/>
    <p:sldId id="498" r:id="rId243"/>
    <p:sldId id="468" r:id="rId244"/>
    <p:sldId id="499" r:id="rId245"/>
    <p:sldId id="469" r:id="rId246"/>
    <p:sldId id="507" r:id="rId247"/>
    <p:sldId id="511" r:id="rId248"/>
    <p:sldId id="508" r:id="rId249"/>
    <p:sldId id="509" r:id="rId250"/>
    <p:sldId id="510" r:id="rId251"/>
    <p:sldId id="512" r:id="rId252"/>
    <p:sldId id="515" r:id="rId253"/>
    <p:sldId id="516" r:id="rId254"/>
    <p:sldId id="517" r:id="rId255"/>
    <p:sldId id="513" r:id="rId256"/>
    <p:sldId id="518" r:id="rId257"/>
    <p:sldId id="519" r:id="rId258"/>
    <p:sldId id="520" r:id="rId259"/>
    <p:sldId id="521" r:id="rId260"/>
    <p:sldId id="514" r:id="rId261"/>
    <p:sldId id="522" r:id="rId262"/>
    <p:sldId id="523" r:id="rId263"/>
    <p:sldId id="524" r:id="rId264"/>
  </p:sldIdLst>
  <p:sldSz cx="12192000" cy="6858000"/>
  <p:notesSz cx="6797675" cy="992822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61908A-1B6A-4D2A-BA81-23ACA28410F1}" v="89" dt="2026-10-11T21:05:26.3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271" autoAdjust="0"/>
    <p:restoredTop sz="94660"/>
  </p:normalViewPr>
  <p:slideViewPr>
    <p:cSldViewPr snapToGrid="0">
      <p:cViewPr varScale="1">
        <p:scale>
          <a:sx n="83" d="100"/>
          <a:sy n="83" d="100"/>
        </p:scale>
        <p:origin x="96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63" Type="http://schemas.openxmlformats.org/officeDocument/2006/relationships/slide" Target="slides/slide62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226" Type="http://schemas.openxmlformats.org/officeDocument/2006/relationships/slide" Target="slides/slide225.xml"/><Relationship Id="rId268" Type="http://schemas.openxmlformats.org/officeDocument/2006/relationships/theme" Target="theme/theme1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slide" Target="slides/slide215.xml"/><Relationship Id="rId237" Type="http://schemas.openxmlformats.org/officeDocument/2006/relationships/slide" Target="slides/slide236.xml"/><Relationship Id="rId258" Type="http://schemas.openxmlformats.org/officeDocument/2006/relationships/slide" Target="slides/slide257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27" Type="http://schemas.openxmlformats.org/officeDocument/2006/relationships/slide" Target="slides/slide226.xml"/><Relationship Id="rId248" Type="http://schemas.openxmlformats.org/officeDocument/2006/relationships/slide" Target="slides/slide247.xml"/><Relationship Id="rId269" Type="http://schemas.openxmlformats.org/officeDocument/2006/relationships/tableStyles" Target="tableStyles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slide" Target="slides/slide216.xml"/><Relationship Id="rId6" Type="http://schemas.openxmlformats.org/officeDocument/2006/relationships/slide" Target="slides/slide5.xml"/><Relationship Id="rId238" Type="http://schemas.openxmlformats.org/officeDocument/2006/relationships/slide" Target="slides/slide237.xml"/><Relationship Id="rId259" Type="http://schemas.openxmlformats.org/officeDocument/2006/relationships/slide" Target="slides/slide258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270" Type="http://schemas.microsoft.com/office/2016/11/relationships/changesInfo" Target="changesInfos/changesInfo1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28" Type="http://schemas.openxmlformats.org/officeDocument/2006/relationships/slide" Target="slides/slide227.xml"/><Relationship Id="rId249" Type="http://schemas.openxmlformats.org/officeDocument/2006/relationships/slide" Target="slides/slide248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260" Type="http://schemas.openxmlformats.org/officeDocument/2006/relationships/slide" Target="slides/slide259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8" Type="http://schemas.openxmlformats.org/officeDocument/2006/relationships/slide" Target="slides/slide217.xml"/><Relationship Id="rId239" Type="http://schemas.openxmlformats.org/officeDocument/2006/relationships/slide" Target="slides/slide238.xml"/><Relationship Id="rId250" Type="http://schemas.openxmlformats.org/officeDocument/2006/relationships/slide" Target="slides/slide249.xml"/><Relationship Id="rId271" Type="http://schemas.microsoft.com/office/2015/10/relationships/revisionInfo" Target="revisionInfo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229" Type="http://schemas.openxmlformats.org/officeDocument/2006/relationships/slide" Target="slides/slide228.xml"/><Relationship Id="rId240" Type="http://schemas.openxmlformats.org/officeDocument/2006/relationships/slide" Target="slides/slide239.xml"/><Relationship Id="rId261" Type="http://schemas.openxmlformats.org/officeDocument/2006/relationships/slide" Target="slides/slide260.xml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8" Type="http://schemas.openxmlformats.org/officeDocument/2006/relationships/slide" Target="slides/slide7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219" Type="http://schemas.openxmlformats.org/officeDocument/2006/relationships/slide" Target="slides/slide218.xml"/><Relationship Id="rId230" Type="http://schemas.openxmlformats.org/officeDocument/2006/relationships/slide" Target="slides/slide229.xml"/><Relationship Id="rId251" Type="http://schemas.openxmlformats.org/officeDocument/2006/relationships/slide" Target="slides/slide250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220" Type="http://schemas.openxmlformats.org/officeDocument/2006/relationships/slide" Target="slides/slide219.xml"/><Relationship Id="rId241" Type="http://schemas.openxmlformats.org/officeDocument/2006/relationships/slide" Target="slides/slide24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262" Type="http://schemas.openxmlformats.org/officeDocument/2006/relationships/slide" Target="slides/slide261.xml"/><Relationship Id="rId78" Type="http://schemas.openxmlformats.org/officeDocument/2006/relationships/slide" Target="slides/slide77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64" Type="http://schemas.openxmlformats.org/officeDocument/2006/relationships/slide" Target="slides/slide163.xml"/><Relationship Id="rId185" Type="http://schemas.openxmlformats.org/officeDocument/2006/relationships/slide" Target="slides/slide184.xml"/><Relationship Id="rId9" Type="http://schemas.openxmlformats.org/officeDocument/2006/relationships/slide" Target="slides/slide8.xml"/><Relationship Id="rId210" Type="http://schemas.openxmlformats.org/officeDocument/2006/relationships/slide" Target="slides/slide209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252" Type="http://schemas.openxmlformats.org/officeDocument/2006/relationships/slide" Target="slides/slide251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242" Type="http://schemas.openxmlformats.org/officeDocument/2006/relationships/slide" Target="slides/slide241.xml"/><Relationship Id="rId263" Type="http://schemas.openxmlformats.org/officeDocument/2006/relationships/slide" Target="slides/slide262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32" Type="http://schemas.openxmlformats.org/officeDocument/2006/relationships/slide" Target="slides/slide231.xml"/><Relationship Id="rId253" Type="http://schemas.openxmlformats.org/officeDocument/2006/relationships/slide" Target="slides/slide252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243" Type="http://schemas.openxmlformats.org/officeDocument/2006/relationships/slide" Target="slides/slide242.xml"/><Relationship Id="rId264" Type="http://schemas.openxmlformats.org/officeDocument/2006/relationships/slide" Target="slides/slide263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33" Type="http://schemas.openxmlformats.org/officeDocument/2006/relationships/slide" Target="slides/slide232.xml"/><Relationship Id="rId254" Type="http://schemas.openxmlformats.org/officeDocument/2006/relationships/slide" Target="slides/slide253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223" Type="http://schemas.openxmlformats.org/officeDocument/2006/relationships/slide" Target="slides/slide222.xml"/><Relationship Id="rId244" Type="http://schemas.openxmlformats.org/officeDocument/2006/relationships/slide" Target="slides/slide243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265" Type="http://schemas.openxmlformats.org/officeDocument/2006/relationships/notesMaster" Target="notesMasters/notesMaster1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34" Type="http://schemas.openxmlformats.org/officeDocument/2006/relationships/slide" Target="slides/slide233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55" Type="http://schemas.openxmlformats.org/officeDocument/2006/relationships/slide" Target="slides/slide254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245" Type="http://schemas.openxmlformats.org/officeDocument/2006/relationships/slide" Target="slides/slide244.xml"/><Relationship Id="rId266" Type="http://schemas.openxmlformats.org/officeDocument/2006/relationships/presProps" Target="presProps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5" Type="http://schemas.openxmlformats.org/officeDocument/2006/relationships/slide" Target="slides/slide234.xml"/><Relationship Id="rId256" Type="http://schemas.openxmlformats.org/officeDocument/2006/relationships/slide" Target="slides/slide255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179" Type="http://schemas.openxmlformats.org/officeDocument/2006/relationships/slide" Target="slides/slide17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5" Type="http://schemas.openxmlformats.org/officeDocument/2006/relationships/slide" Target="slides/slide224.xml"/><Relationship Id="rId246" Type="http://schemas.openxmlformats.org/officeDocument/2006/relationships/slide" Target="slides/slide245.xml"/><Relationship Id="rId267" Type="http://schemas.openxmlformats.org/officeDocument/2006/relationships/viewProps" Target="viewProps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94" Type="http://schemas.openxmlformats.org/officeDocument/2006/relationships/slide" Target="slides/slide93.xml"/><Relationship Id="rId148" Type="http://schemas.openxmlformats.org/officeDocument/2006/relationships/slide" Target="slides/slide147.xml"/><Relationship Id="rId169" Type="http://schemas.openxmlformats.org/officeDocument/2006/relationships/slide" Target="slides/slide168.xml"/><Relationship Id="rId4" Type="http://schemas.openxmlformats.org/officeDocument/2006/relationships/slide" Target="slides/slide3.xml"/><Relationship Id="rId180" Type="http://schemas.openxmlformats.org/officeDocument/2006/relationships/slide" Target="slides/slide179.xml"/><Relationship Id="rId215" Type="http://schemas.openxmlformats.org/officeDocument/2006/relationships/slide" Target="slides/slide214.xml"/><Relationship Id="rId236" Type="http://schemas.openxmlformats.org/officeDocument/2006/relationships/slide" Target="slides/slide235.xml"/><Relationship Id="rId257" Type="http://schemas.openxmlformats.org/officeDocument/2006/relationships/slide" Target="slides/slide256.xml"/><Relationship Id="rId42" Type="http://schemas.openxmlformats.org/officeDocument/2006/relationships/slide" Target="slides/slide41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47" Type="http://schemas.openxmlformats.org/officeDocument/2006/relationships/slide" Target="slides/slide246.xml"/><Relationship Id="rId107" Type="http://schemas.openxmlformats.org/officeDocument/2006/relationships/slide" Target="slides/slide10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esco Bellotti" userId="f453232b-f87d-4756-9d8b-c09bc835cc42" providerId="ADAL" clId="{C7FEA3FA-4936-41E1-B7FA-CA082069F7F7}"/>
    <pc:docChg chg="undo redo custSel addSld delSld modSld sldOrd modNotesMaster">
      <pc:chgData name="Francesco Bellotti" userId="f453232b-f87d-4756-9d8b-c09bc835cc42" providerId="ADAL" clId="{C7FEA3FA-4936-41E1-B7FA-CA082069F7F7}" dt="2026-10-11T21:06:05.359" v="10294" actId="20577"/>
      <pc:docMkLst>
        <pc:docMk/>
      </pc:docMkLst>
      <pc:sldChg chg="modSp mod">
        <pc:chgData name="Francesco Bellotti" userId="f453232b-f87d-4756-9d8b-c09bc835cc42" providerId="ADAL" clId="{C7FEA3FA-4936-41E1-B7FA-CA082069F7F7}" dt="2026-10-06T20:42:10.144" v="6035" actId="20577"/>
        <pc:sldMkLst>
          <pc:docMk/>
          <pc:sldMk cId="783246927" sldId="256"/>
        </pc:sldMkLst>
        <pc:spChg chg="mod">
          <ac:chgData name="Francesco Bellotti" userId="f453232b-f87d-4756-9d8b-c09bc835cc42" providerId="ADAL" clId="{C7FEA3FA-4936-41E1-B7FA-CA082069F7F7}" dt="2026-10-06T20:42:10.144" v="6035" actId="20577"/>
          <ac:spMkLst>
            <pc:docMk/>
            <pc:sldMk cId="783246927" sldId="256"/>
            <ac:spMk id="2" creationId="{21831838-57B7-AE67-BA9E-3B0B7A9312B6}"/>
          </ac:spMkLst>
        </pc:spChg>
      </pc:sldChg>
      <pc:sldChg chg="modSp mod">
        <pc:chgData name="Francesco Bellotti" userId="f453232b-f87d-4756-9d8b-c09bc835cc42" providerId="ADAL" clId="{C7FEA3FA-4936-41E1-B7FA-CA082069F7F7}" dt="2026-10-06T21:21:39.607" v="6040" actId="13926"/>
        <pc:sldMkLst>
          <pc:docMk/>
          <pc:sldMk cId="0" sldId="257"/>
        </pc:sldMkLst>
        <pc:spChg chg="mod">
          <ac:chgData name="Francesco Bellotti" userId="f453232b-f87d-4756-9d8b-c09bc835cc42" providerId="ADAL" clId="{C7FEA3FA-4936-41E1-B7FA-CA082069F7F7}" dt="2026-10-06T21:21:35.775" v="6039" actId="13926"/>
          <ac:spMkLst>
            <pc:docMk/>
            <pc:sldMk cId="0" sldId="257"/>
            <ac:spMk id="6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6T21:21:30.302" v="6038" actId="13926"/>
          <ac:spMkLst>
            <pc:docMk/>
            <pc:sldMk cId="0" sldId="257"/>
            <ac:spMk id="31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6T21:21:39.607" v="6040" actId="13926"/>
          <ac:spMkLst>
            <pc:docMk/>
            <pc:sldMk cId="0" sldId="257"/>
            <ac:spMk id="56" creationId="{00000000-0000-0000-0000-000000000000}"/>
          </ac:spMkLst>
        </pc:spChg>
      </pc:sldChg>
      <pc:sldChg chg="delSp modSp mod">
        <pc:chgData name="Francesco Bellotti" userId="f453232b-f87d-4756-9d8b-c09bc835cc42" providerId="ADAL" clId="{C7FEA3FA-4936-41E1-B7FA-CA082069F7F7}" dt="2026-10-06T21:22:31.271" v="6044" actId="113"/>
        <pc:sldMkLst>
          <pc:docMk/>
          <pc:sldMk cId="0" sldId="258"/>
        </pc:sldMkLst>
        <pc:spChg chg="mod">
          <ac:chgData name="Francesco Bellotti" userId="f453232b-f87d-4756-9d8b-c09bc835cc42" providerId="ADAL" clId="{C7FEA3FA-4936-41E1-B7FA-CA082069F7F7}" dt="2026-10-06T21:22:31.271" v="6044" actId="113"/>
          <ac:spMkLst>
            <pc:docMk/>
            <pc:sldMk cId="0" sldId="258"/>
            <ac:spMk id="5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6T21:22:10.917" v="6041" actId="13926"/>
          <ac:spMkLst>
            <pc:docMk/>
            <pc:sldMk cId="0" sldId="258"/>
            <ac:spMk id="163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10-07T05:34:35.848" v="6082" actId="113"/>
        <pc:sldMkLst>
          <pc:docMk/>
          <pc:sldMk cId="0" sldId="259"/>
        </pc:sldMkLst>
        <pc:spChg chg="mod">
          <ac:chgData name="Francesco Bellotti" userId="f453232b-f87d-4756-9d8b-c09bc835cc42" providerId="ADAL" clId="{C7FEA3FA-4936-41E1-B7FA-CA082069F7F7}" dt="2026-10-07T05:34:35.848" v="6082" actId="113"/>
          <ac:spMkLst>
            <pc:docMk/>
            <pc:sldMk cId="0" sldId="259"/>
            <ac:spMk id="5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05:34:11.317" v="6077" actId="1076"/>
          <ac:spMkLst>
            <pc:docMk/>
            <pc:sldMk cId="0" sldId="259"/>
            <ac:spMk id="18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05:34:11.317" v="6077" actId="1076"/>
          <ac:spMkLst>
            <pc:docMk/>
            <pc:sldMk cId="0" sldId="259"/>
            <ac:spMk id="19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05:34:11.317" v="6077" actId="1076"/>
          <ac:spMkLst>
            <pc:docMk/>
            <pc:sldMk cId="0" sldId="259"/>
            <ac:spMk id="23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05:34:11.317" v="6077" actId="1076"/>
          <ac:spMkLst>
            <pc:docMk/>
            <pc:sldMk cId="0" sldId="259"/>
            <ac:spMk id="24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05:34:11.317" v="6077" actId="1076"/>
          <ac:spMkLst>
            <pc:docMk/>
            <pc:sldMk cId="0" sldId="259"/>
            <ac:spMk id="25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05:34:11.317" v="6077" actId="1076"/>
          <ac:spMkLst>
            <pc:docMk/>
            <pc:sldMk cId="0" sldId="259"/>
            <ac:spMk id="26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05:34:11.317" v="6077" actId="1076"/>
          <ac:spMkLst>
            <pc:docMk/>
            <pc:sldMk cId="0" sldId="259"/>
            <ac:spMk id="27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05:34:29.509" v="6081" actId="13926"/>
          <ac:spMkLst>
            <pc:docMk/>
            <pc:sldMk cId="0" sldId="259"/>
            <ac:spMk id="54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10-07T05:36:11.171" v="6102" actId="13926"/>
        <pc:sldMkLst>
          <pc:docMk/>
          <pc:sldMk cId="0" sldId="260"/>
        </pc:sldMkLst>
        <pc:spChg chg="mod">
          <ac:chgData name="Francesco Bellotti" userId="f453232b-f87d-4756-9d8b-c09bc835cc42" providerId="ADAL" clId="{C7FEA3FA-4936-41E1-B7FA-CA082069F7F7}" dt="2026-10-07T05:36:03.846" v="6101" actId="13926"/>
          <ac:spMkLst>
            <pc:docMk/>
            <pc:sldMk cId="0" sldId="260"/>
            <ac:spMk id="4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05:36:11.171" v="6102" actId="13926"/>
          <ac:spMkLst>
            <pc:docMk/>
            <pc:sldMk cId="0" sldId="260"/>
            <ac:spMk id="5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10-07T05:38:20.929" v="6107" actId="403"/>
        <pc:sldMkLst>
          <pc:docMk/>
          <pc:sldMk cId="0" sldId="261"/>
        </pc:sldMkLst>
        <pc:spChg chg="mod">
          <ac:chgData name="Francesco Bellotti" userId="f453232b-f87d-4756-9d8b-c09bc835cc42" providerId="ADAL" clId="{C7FEA3FA-4936-41E1-B7FA-CA082069F7F7}" dt="2026-10-07T05:38:05.657" v="6103" actId="13926"/>
          <ac:spMkLst>
            <pc:docMk/>
            <pc:sldMk cId="0" sldId="261"/>
            <ac:spMk id="8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05:38:10.065" v="6104" actId="13926"/>
          <ac:spMkLst>
            <pc:docMk/>
            <pc:sldMk cId="0" sldId="261"/>
            <ac:spMk id="40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05:38:20.929" v="6107" actId="403"/>
          <ac:spMkLst>
            <pc:docMk/>
            <pc:sldMk cId="0" sldId="261"/>
            <ac:spMk id="56" creationId="{00000000-0000-0000-0000-000000000000}"/>
          </ac:spMkLst>
        </pc:spChg>
      </pc:sldChg>
      <pc:sldChg chg="delSp modSp mod">
        <pc:chgData name="Francesco Bellotti" userId="f453232b-f87d-4756-9d8b-c09bc835cc42" providerId="ADAL" clId="{C7FEA3FA-4936-41E1-B7FA-CA082069F7F7}" dt="2026-10-07T05:44:52.516" v="6257" actId="478"/>
        <pc:sldMkLst>
          <pc:docMk/>
          <pc:sldMk cId="0" sldId="262"/>
        </pc:sldMkLst>
        <pc:spChg chg="mod">
          <ac:chgData name="Francesco Bellotti" userId="f453232b-f87d-4756-9d8b-c09bc835cc42" providerId="ADAL" clId="{C7FEA3FA-4936-41E1-B7FA-CA082069F7F7}" dt="2026-10-07T05:40:08.648" v="6112" actId="13926"/>
          <ac:spMkLst>
            <pc:docMk/>
            <pc:sldMk cId="0" sldId="262"/>
            <ac:spMk id="5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05:39:58.461" v="6110" actId="13926"/>
          <ac:spMkLst>
            <pc:docMk/>
            <pc:sldMk cId="0" sldId="262"/>
            <ac:spMk id="6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05:40:03.003" v="6111" actId="13926"/>
          <ac:spMkLst>
            <pc:docMk/>
            <pc:sldMk cId="0" sldId="262"/>
            <ac:spMk id="24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05:44:30.942" v="6255" actId="20577"/>
          <ac:spMkLst>
            <pc:docMk/>
            <pc:sldMk cId="0" sldId="262"/>
            <ac:spMk id="67" creationId="{F483DCC1-EA1C-7D2F-AA63-CA318E5A9454}"/>
          </ac:spMkLst>
        </pc:spChg>
      </pc:sldChg>
      <pc:sldChg chg="modSp mod">
        <pc:chgData name="Francesco Bellotti" userId="f453232b-f87d-4756-9d8b-c09bc835cc42" providerId="ADAL" clId="{C7FEA3FA-4936-41E1-B7FA-CA082069F7F7}" dt="2026-10-07T05:50:57.377" v="6343" actId="403"/>
        <pc:sldMkLst>
          <pc:docMk/>
          <pc:sldMk cId="0" sldId="263"/>
        </pc:sldMkLst>
        <pc:spChg chg="mod">
          <ac:chgData name="Francesco Bellotti" userId="f453232b-f87d-4756-9d8b-c09bc835cc42" providerId="ADAL" clId="{C7FEA3FA-4936-41E1-B7FA-CA082069F7F7}" dt="2026-10-07T05:50:34.437" v="6337" actId="1076"/>
          <ac:spMkLst>
            <pc:docMk/>
            <pc:sldMk cId="0" sldId="263"/>
            <ac:spMk id="19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05:50:45.139" v="6339" actId="1076"/>
          <ac:spMkLst>
            <pc:docMk/>
            <pc:sldMk cId="0" sldId="263"/>
            <ac:spMk id="20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05:50:40.584" v="6338" actId="1076"/>
          <ac:spMkLst>
            <pc:docMk/>
            <pc:sldMk cId="0" sldId="263"/>
            <ac:spMk id="22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05:50:21.992" v="6335" actId="403"/>
          <ac:spMkLst>
            <pc:docMk/>
            <pc:sldMk cId="0" sldId="263"/>
            <ac:spMk id="25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05:50:57.377" v="6343" actId="403"/>
          <ac:spMkLst>
            <pc:docMk/>
            <pc:sldMk cId="0" sldId="263"/>
            <ac:spMk id="30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10-07T05:52:10.369" v="6358" actId="13926"/>
        <pc:sldMkLst>
          <pc:docMk/>
          <pc:sldMk cId="0" sldId="264"/>
        </pc:sldMkLst>
        <pc:spChg chg="mod">
          <ac:chgData name="Francesco Bellotti" userId="f453232b-f87d-4756-9d8b-c09bc835cc42" providerId="ADAL" clId="{C7FEA3FA-4936-41E1-B7FA-CA082069F7F7}" dt="2026-10-07T05:52:10.369" v="6358" actId="13926"/>
          <ac:spMkLst>
            <pc:docMk/>
            <pc:sldMk cId="0" sldId="264"/>
            <ac:spMk id="4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05:52:02.275" v="6357" actId="20577"/>
          <ac:spMkLst>
            <pc:docMk/>
            <pc:sldMk cId="0" sldId="264"/>
            <ac:spMk id="47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10-07T05:54:00.916" v="6380" actId="113"/>
        <pc:sldMkLst>
          <pc:docMk/>
          <pc:sldMk cId="0" sldId="265"/>
        </pc:sldMkLst>
        <pc:spChg chg="mod">
          <ac:chgData name="Francesco Bellotti" userId="f453232b-f87d-4756-9d8b-c09bc835cc42" providerId="ADAL" clId="{C7FEA3FA-4936-41E1-B7FA-CA082069F7F7}" dt="2026-10-07T05:54:00.916" v="6380" actId="113"/>
          <ac:spMkLst>
            <pc:docMk/>
            <pc:sldMk cId="0" sldId="265"/>
            <ac:spMk id="34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10-07T06:14:50.281" v="6672" actId="1076"/>
        <pc:sldMkLst>
          <pc:docMk/>
          <pc:sldMk cId="0" sldId="266"/>
        </pc:sldMkLst>
        <pc:spChg chg="mod">
          <ac:chgData name="Francesco Bellotti" userId="f453232b-f87d-4756-9d8b-c09bc835cc42" providerId="ADAL" clId="{C7FEA3FA-4936-41E1-B7FA-CA082069F7F7}" dt="2026-10-07T05:56:14.939" v="6387" actId="13926"/>
          <ac:spMkLst>
            <pc:docMk/>
            <pc:sldMk cId="0" sldId="266"/>
            <ac:spMk id="5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06:14:50.281" v="6672" actId="1076"/>
          <ac:spMkLst>
            <pc:docMk/>
            <pc:sldMk cId="0" sldId="266"/>
            <ac:spMk id="14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05:56:34.187" v="6391" actId="403"/>
          <ac:spMkLst>
            <pc:docMk/>
            <pc:sldMk cId="0" sldId="266"/>
            <ac:spMk id="21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10-07T05:58:49.590" v="6422" actId="20577"/>
        <pc:sldMkLst>
          <pc:docMk/>
          <pc:sldMk cId="0" sldId="267"/>
        </pc:sldMkLst>
        <pc:spChg chg="mod">
          <ac:chgData name="Francesco Bellotti" userId="f453232b-f87d-4756-9d8b-c09bc835cc42" providerId="ADAL" clId="{C7FEA3FA-4936-41E1-B7FA-CA082069F7F7}" dt="2026-10-07T05:58:49.590" v="6422" actId="20577"/>
          <ac:spMkLst>
            <pc:docMk/>
            <pc:sldMk cId="0" sldId="267"/>
            <ac:spMk id="15" creationId="{00000000-0000-0000-0000-000000000000}"/>
          </ac:spMkLst>
        </pc:spChg>
      </pc:sldChg>
      <pc:sldChg chg="addSp delSp modSp mod">
        <pc:chgData name="Francesco Bellotti" userId="f453232b-f87d-4756-9d8b-c09bc835cc42" providerId="ADAL" clId="{C7FEA3FA-4936-41E1-B7FA-CA082069F7F7}" dt="2026-10-07T06:08:02.154" v="6551" actId="113"/>
        <pc:sldMkLst>
          <pc:docMk/>
          <pc:sldMk cId="0" sldId="268"/>
        </pc:sldMkLst>
        <pc:spChg chg="mod">
          <ac:chgData name="Francesco Bellotti" userId="f453232b-f87d-4756-9d8b-c09bc835cc42" providerId="ADAL" clId="{C7FEA3FA-4936-41E1-B7FA-CA082069F7F7}" dt="2026-10-07T06:07:51.468" v="6550" actId="403"/>
          <ac:spMkLst>
            <pc:docMk/>
            <pc:sldMk cId="0" sldId="268"/>
            <ac:spMk id="5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06:05:13.613" v="6517" actId="164"/>
          <ac:spMkLst>
            <pc:docMk/>
            <pc:sldMk cId="0" sldId="268"/>
            <ac:spMk id="6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06:05:13.613" v="6517" actId="164"/>
          <ac:spMkLst>
            <pc:docMk/>
            <pc:sldMk cId="0" sldId="268"/>
            <ac:spMk id="7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06:07:01.406" v="6535" actId="1076"/>
          <ac:spMkLst>
            <pc:docMk/>
            <pc:sldMk cId="0" sldId="268"/>
            <ac:spMk id="8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06:05:25.147" v="6518" actId="164"/>
          <ac:spMkLst>
            <pc:docMk/>
            <pc:sldMk cId="0" sldId="268"/>
            <ac:spMk id="9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06:05:25.147" v="6518" actId="164"/>
          <ac:spMkLst>
            <pc:docMk/>
            <pc:sldMk cId="0" sldId="268"/>
            <ac:spMk id="10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06:05:33.058" v="6519" actId="164"/>
          <ac:spMkLst>
            <pc:docMk/>
            <pc:sldMk cId="0" sldId="268"/>
            <ac:spMk id="12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06:05:33.058" v="6519" actId="164"/>
          <ac:spMkLst>
            <pc:docMk/>
            <pc:sldMk cId="0" sldId="268"/>
            <ac:spMk id="13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06:05:49.909" v="6520" actId="164"/>
          <ac:spMkLst>
            <pc:docMk/>
            <pc:sldMk cId="0" sldId="268"/>
            <ac:spMk id="15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06:05:49.909" v="6520" actId="164"/>
          <ac:spMkLst>
            <pc:docMk/>
            <pc:sldMk cId="0" sldId="268"/>
            <ac:spMk id="16" creationId="{00000000-0000-0000-0000-000000000000}"/>
          </ac:spMkLst>
        </pc:spChg>
        <pc:spChg chg="add del mod">
          <ac:chgData name="Francesco Bellotti" userId="f453232b-f87d-4756-9d8b-c09bc835cc42" providerId="ADAL" clId="{C7FEA3FA-4936-41E1-B7FA-CA082069F7F7}" dt="2026-10-07T06:07:30.881" v="6544" actId="478"/>
          <ac:spMkLst>
            <pc:docMk/>
            <pc:sldMk cId="0" sldId="268"/>
            <ac:spMk id="17" creationId="{00000000-0000-0000-0000-000000000000}"/>
          </ac:spMkLst>
        </pc:spChg>
        <pc:spChg chg="add del mod">
          <ac:chgData name="Francesco Bellotti" userId="f453232b-f87d-4756-9d8b-c09bc835cc42" providerId="ADAL" clId="{C7FEA3FA-4936-41E1-B7FA-CA082069F7F7}" dt="2026-10-07T06:07:30.881" v="6544" actId="478"/>
          <ac:spMkLst>
            <pc:docMk/>
            <pc:sldMk cId="0" sldId="268"/>
            <ac:spMk id="18" creationId="{00000000-0000-0000-0000-000000000000}"/>
          </ac:spMkLst>
        </pc:spChg>
        <pc:spChg chg="add del mod">
          <ac:chgData name="Francesco Bellotti" userId="f453232b-f87d-4756-9d8b-c09bc835cc42" providerId="ADAL" clId="{C7FEA3FA-4936-41E1-B7FA-CA082069F7F7}" dt="2026-10-07T06:07:30.346" v="6543" actId="478"/>
          <ac:spMkLst>
            <pc:docMk/>
            <pc:sldMk cId="0" sldId="268"/>
            <ac:spMk id="19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06:08:02.154" v="6551" actId="113"/>
          <ac:spMkLst>
            <pc:docMk/>
            <pc:sldMk cId="0" sldId="268"/>
            <ac:spMk id="21" creationId="{00000000-0000-0000-0000-000000000000}"/>
          </ac:spMkLst>
        </pc:spChg>
        <pc:spChg chg="add mod">
          <ac:chgData name="Francesco Bellotti" userId="f453232b-f87d-4756-9d8b-c09bc835cc42" providerId="ADAL" clId="{C7FEA3FA-4936-41E1-B7FA-CA082069F7F7}" dt="2026-10-07T06:07:06.767" v="6537" actId="1076"/>
          <ac:spMkLst>
            <pc:docMk/>
            <pc:sldMk cId="0" sldId="268"/>
            <ac:spMk id="27" creationId="{8B90590F-7949-E7B8-9B81-081720E8D8FD}"/>
          </ac:spMkLst>
        </pc:spChg>
        <pc:spChg chg="add mod">
          <ac:chgData name="Francesco Bellotti" userId="f453232b-f87d-4756-9d8b-c09bc835cc42" providerId="ADAL" clId="{C7FEA3FA-4936-41E1-B7FA-CA082069F7F7}" dt="2026-10-07T06:07:12.378" v="6539" actId="1076"/>
          <ac:spMkLst>
            <pc:docMk/>
            <pc:sldMk cId="0" sldId="268"/>
            <ac:spMk id="29" creationId="{95EA96A3-C7C9-83F6-B0E7-2090C3CD9FFA}"/>
          </ac:spMkLst>
        </pc:spChg>
        <pc:grpChg chg="add mod">
          <ac:chgData name="Francesco Bellotti" userId="f453232b-f87d-4756-9d8b-c09bc835cc42" providerId="ADAL" clId="{C7FEA3FA-4936-41E1-B7FA-CA082069F7F7}" dt="2026-10-07T06:07:16.207" v="6540" actId="1076"/>
          <ac:grpSpMkLst>
            <pc:docMk/>
            <pc:sldMk cId="0" sldId="268"/>
            <ac:grpSpMk id="22" creationId="{E1BD0312-DB9E-8FD9-3957-F4F711DF6ED3}"/>
          </ac:grpSpMkLst>
        </pc:grpChg>
        <pc:grpChg chg="add mod">
          <ac:chgData name="Francesco Bellotti" userId="f453232b-f87d-4756-9d8b-c09bc835cc42" providerId="ADAL" clId="{C7FEA3FA-4936-41E1-B7FA-CA082069F7F7}" dt="2026-10-07T06:06:18.280" v="6527" actId="1076"/>
          <ac:grpSpMkLst>
            <pc:docMk/>
            <pc:sldMk cId="0" sldId="268"/>
            <ac:grpSpMk id="23" creationId="{0A2A9E73-33D1-4669-FF52-DD539EC43E26}"/>
          </ac:grpSpMkLst>
        </pc:grpChg>
        <pc:grpChg chg="add mod">
          <ac:chgData name="Francesco Bellotti" userId="f453232b-f87d-4756-9d8b-c09bc835cc42" providerId="ADAL" clId="{C7FEA3FA-4936-41E1-B7FA-CA082069F7F7}" dt="2026-10-07T06:06:22.829" v="6528" actId="1076"/>
          <ac:grpSpMkLst>
            <pc:docMk/>
            <pc:sldMk cId="0" sldId="268"/>
            <ac:grpSpMk id="24" creationId="{B2774334-669B-A723-8813-44E637E225EB}"/>
          </ac:grpSpMkLst>
        </pc:grpChg>
        <pc:grpChg chg="add mod">
          <ac:chgData name="Francesco Bellotti" userId="f453232b-f87d-4756-9d8b-c09bc835cc42" providerId="ADAL" clId="{C7FEA3FA-4936-41E1-B7FA-CA082069F7F7}" dt="2026-10-07T06:06:29.654" v="6529" actId="1076"/>
          <ac:grpSpMkLst>
            <pc:docMk/>
            <pc:sldMk cId="0" sldId="268"/>
            <ac:grpSpMk id="25" creationId="{EF7C0E72-EEE1-AF89-CC91-CE1D678A20AB}"/>
          </ac:grpSpMkLst>
        </pc:grpChg>
      </pc:sldChg>
      <pc:sldChg chg="mod modShow">
        <pc:chgData name="Francesco Bellotti" userId="f453232b-f87d-4756-9d8b-c09bc835cc42" providerId="ADAL" clId="{C7FEA3FA-4936-41E1-B7FA-CA082069F7F7}" dt="2026-10-07T06:08:48.356" v="6553" actId="729"/>
        <pc:sldMkLst>
          <pc:docMk/>
          <pc:sldMk cId="0" sldId="269"/>
        </pc:sldMkLst>
      </pc:sldChg>
      <pc:sldChg chg="modSp mod">
        <pc:chgData name="Francesco Bellotti" userId="f453232b-f87d-4756-9d8b-c09bc835cc42" providerId="ADAL" clId="{C7FEA3FA-4936-41E1-B7FA-CA082069F7F7}" dt="2026-10-06T21:18:51.121" v="6037" actId="13926"/>
        <pc:sldMkLst>
          <pc:docMk/>
          <pc:sldMk cId="238951223" sldId="271"/>
        </pc:sldMkLst>
        <pc:spChg chg="mod">
          <ac:chgData name="Francesco Bellotti" userId="f453232b-f87d-4756-9d8b-c09bc835cc42" providerId="ADAL" clId="{C7FEA3FA-4936-41E1-B7FA-CA082069F7F7}" dt="2026-10-06T21:18:51.121" v="6037" actId="13926"/>
          <ac:spMkLst>
            <pc:docMk/>
            <pc:sldMk cId="238951223" sldId="271"/>
            <ac:spMk id="3" creationId="{9509E53A-0A97-321A-9F04-636041CEF070}"/>
          </ac:spMkLst>
        </pc:spChg>
      </pc:sldChg>
      <pc:sldChg chg="modSp mod">
        <pc:chgData name="Francesco Bellotti" userId="f453232b-f87d-4756-9d8b-c09bc835cc42" providerId="ADAL" clId="{C7FEA3FA-4936-41E1-B7FA-CA082069F7F7}" dt="2026-10-07T05:32:29.229" v="6046" actId="13926"/>
        <pc:sldMkLst>
          <pc:docMk/>
          <pc:sldMk cId="2683559224" sldId="273"/>
        </pc:sldMkLst>
        <pc:spChg chg="mod">
          <ac:chgData name="Francesco Bellotti" userId="f453232b-f87d-4756-9d8b-c09bc835cc42" providerId="ADAL" clId="{C7FEA3FA-4936-41E1-B7FA-CA082069F7F7}" dt="2026-10-07T05:32:29.229" v="6046" actId="13926"/>
          <ac:spMkLst>
            <pc:docMk/>
            <pc:sldMk cId="2683559224" sldId="273"/>
            <ac:spMk id="3" creationId="{7B9E44AE-D500-C92E-219D-FF69C95EA4A0}"/>
          </ac:spMkLst>
        </pc:spChg>
      </pc:sldChg>
      <pc:sldChg chg="modSp mod">
        <pc:chgData name="Francesco Bellotti" userId="f453232b-f87d-4756-9d8b-c09bc835cc42" providerId="ADAL" clId="{C7FEA3FA-4936-41E1-B7FA-CA082069F7F7}" dt="2026-10-07T05:33:32.226" v="6076" actId="20577"/>
        <pc:sldMkLst>
          <pc:docMk/>
          <pc:sldMk cId="2790023836" sldId="274"/>
        </pc:sldMkLst>
        <pc:spChg chg="mod">
          <ac:chgData name="Francesco Bellotti" userId="f453232b-f87d-4756-9d8b-c09bc835cc42" providerId="ADAL" clId="{C7FEA3FA-4936-41E1-B7FA-CA082069F7F7}" dt="2026-10-07T05:33:32.226" v="6076" actId="20577"/>
          <ac:spMkLst>
            <pc:docMk/>
            <pc:sldMk cId="2790023836" sldId="274"/>
            <ac:spMk id="3" creationId="{1E6E3625-16D8-DE90-D15F-2317F53703D1}"/>
          </ac:spMkLst>
        </pc:spChg>
      </pc:sldChg>
      <pc:sldChg chg="modSp mod">
        <pc:chgData name="Francesco Bellotti" userId="f453232b-f87d-4756-9d8b-c09bc835cc42" providerId="ADAL" clId="{C7FEA3FA-4936-41E1-B7FA-CA082069F7F7}" dt="2026-10-07T05:35:48.456" v="6100" actId="13926"/>
        <pc:sldMkLst>
          <pc:docMk/>
          <pc:sldMk cId="928543162" sldId="275"/>
        </pc:sldMkLst>
        <pc:spChg chg="mod">
          <ac:chgData name="Francesco Bellotti" userId="f453232b-f87d-4756-9d8b-c09bc835cc42" providerId="ADAL" clId="{C7FEA3FA-4936-41E1-B7FA-CA082069F7F7}" dt="2026-10-07T05:35:48.456" v="6100" actId="13926"/>
          <ac:spMkLst>
            <pc:docMk/>
            <pc:sldMk cId="928543162" sldId="275"/>
            <ac:spMk id="3" creationId="{631DEF20-B204-97B0-CD1F-EDC48FDC12A4}"/>
          </ac:spMkLst>
        </pc:spChg>
      </pc:sldChg>
      <pc:sldChg chg="modSp mod">
        <pc:chgData name="Francesco Bellotti" userId="f453232b-f87d-4756-9d8b-c09bc835cc42" providerId="ADAL" clId="{C7FEA3FA-4936-41E1-B7FA-CA082069F7F7}" dt="2026-10-07T05:39:18.634" v="6109" actId="13926"/>
        <pc:sldMkLst>
          <pc:docMk/>
          <pc:sldMk cId="582652260" sldId="278"/>
        </pc:sldMkLst>
        <pc:spChg chg="mod">
          <ac:chgData name="Francesco Bellotti" userId="f453232b-f87d-4756-9d8b-c09bc835cc42" providerId="ADAL" clId="{C7FEA3FA-4936-41E1-B7FA-CA082069F7F7}" dt="2026-10-07T05:38:49.202" v="6108" actId="13926"/>
          <ac:spMkLst>
            <pc:docMk/>
            <pc:sldMk cId="582652260" sldId="278"/>
            <ac:spMk id="3" creationId="{6849B969-9CBC-AF58-F033-50245EFD176C}"/>
          </ac:spMkLst>
        </pc:spChg>
        <pc:spChg chg="mod">
          <ac:chgData name="Francesco Bellotti" userId="f453232b-f87d-4756-9d8b-c09bc835cc42" providerId="ADAL" clId="{C7FEA3FA-4936-41E1-B7FA-CA082069F7F7}" dt="2026-10-07T05:39:18.634" v="6109" actId="13926"/>
          <ac:spMkLst>
            <pc:docMk/>
            <pc:sldMk cId="582652260" sldId="278"/>
            <ac:spMk id="4" creationId="{C69980AA-D55B-88A0-E72F-1CCAC9EF0991}"/>
          </ac:spMkLst>
        </pc:spChg>
      </pc:sldChg>
      <pc:sldChg chg="addSp modSp mod">
        <pc:chgData name="Francesco Bellotti" userId="f453232b-f87d-4756-9d8b-c09bc835cc42" providerId="ADAL" clId="{C7FEA3FA-4936-41E1-B7FA-CA082069F7F7}" dt="2026-10-07T05:49:12.569" v="6316" actId="1076"/>
        <pc:sldMkLst>
          <pc:docMk/>
          <pc:sldMk cId="21637793" sldId="279"/>
        </pc:sldMkLst>
        <pc:spChg chg="mod">
          <ac:chgData name="Francesco Bellotti" userId="f453232b-f87d-4756-9d8b-c09bc835cc42" providerId="ADAL" clId="{C7FEA3FA-4936-41E1-B7FA-CA082069F7F7}" dt="2026-10-07T05:45:55.284" v="6259" actId="13926"/>
          <ac:spMkLst>
            <pc:docMk/>
            <pc:sldMk cId="21637793" sldId="279"/>
            <ac:spMk id="3" creationId="{DD2546D6-2783-E9C9-E52F-AE423C8AC439}"/>
          </ac:spMkLst>
        </pc:spChg>
        <pc:spChg chg="add mod">
          <ac:chgData name="Francesco Bellotti" userId="f453232b-f87d-4756-9d8b-c09bc835cc42" providerId="ADAL" clId="{C7FEA3FA-4936-41E1-B7FA-CA082069F7F7}" dt="2026-10-07T05:43:04.023" v="6201" actId="20577"/>
          <ac:spMkLst>
            <pc:docMk/>
            <pc:sldMk cId="21637793" sldId="279"/>
            <ac:spMk id="4" creationId="{D813F817-4DD5-7150-5F0E-7EB21D0EB9CE}"/>
          </ac:spMkLst>
        </pc:spChg>
        <pc:spChg chg="add mod">
          <ac:chgData name="Francesco Bellotti" userId="f453232b-f87d-4756-9d8b-c09bc835cc42" providerId="ADAL" clId="{C7FEA3FA-4936-41E1-B7FA-CA082069F7F7}" dt="2026-10-07T05:49:12.569" v="6316" actId="1076"/>
          <ac:spMkLst>
            <pc:docMk/>
            <pc:sldMk cId="21637793" sldId="279"/>
            <ac:spMk id="6" creationId="{8B6947E6-495C-3FA8-4564-23BBD5806855}"/>
          </ac:spMkLst>
        </pc:spChg>
      </pc:sldChg>
      <pc:sldChg chg="modSp mod">
        <pc:chgData name="Francesco Bellotti" userId="f453232b-f87d-4756-9d8b-c09bc835cc42" providerId="ADAL" clId="{C7FEA3FA-4936-41E1-B7FA-CA082069F7F7}" dt="2026-10-07T05:49:47.507" v="6319" actId="13926"/>
        <pc:sldMkLst>
          <pc:docMk/>
          <pc:sldMk cId="3096628543" sldId="281"/>
        </pc:sldMkLst>
        <pc:spChg chg="mod">
          <ac:chgData name="Francesco Bellotti" userId="f453232b-f87d-4756-9d8b-c09bc835cc42" providerId="ADAL" clId="{C7FEA3FA-4936-41E1-B7FA-CA082069F7F7}" dt="2026-10-07T05:49:47.507" v="6319" actId="13926"/>
          <ac:spMkLst>
            <pc:docMk/>
            <pc:sldMk cId="3096628543" sldId="281"/>
            <ac:spMk id="3" creationId="{E6C54E94-8136-1A1F-CE03-8ED81B8D4DAD}"/>
          </ac:spMkLst>
        </pc:spChg>
      </pc:sldChg>
      <pc:sldChg chg="modSp mod">
        <pc:chgData name="Francesco Bellotti" userId="f453232b-f87d-4756-9d8b-c09bc835cc42" providerId="ADAL" clId="{C7FEA3FA-4936-41E1-B7FA-CA082069F7F7}" dt="2026-10-07T15:40:27.375" v="7335" actId="13926"/>
        <pc:sldMkLst>
          <pc:docMk/>
          <pc:sldMk cId="1467282175" sldId="283"/>
        </pc:sldMkLst>
        <pc:spChg chg="mod">
          <ac:chgData name="Francesco Bellotti" userId="f453232b-f87d-4756-9d8b-c09bc835cc42" providerId="ADAL" clId="{C7FEA3FA-4936-41E1-B7FA-CA082069F7F7}" dt="2026-10-07T15:40:27.375" v="7335" actId="13926"/>
          <ac:spMkLst>
            <pc:docMk/>
            <pc:sldMk cId="1467282175" sldId="283"/>
            <ac:spMk id="3" creationId="{08C0EC01-206A-7884-56ED-88C84046456C}"/>
          </ac:spMkLst>
        </pc:spChg>
      </pc:sldChg>
      <pc:sldChg chg="modSp mod">
        <pc:chgData name="Francesco Bellotti" userId="f453232b-f87d-4756-9d8b-c09bc835cc42" providerId="ADAL" clId="{C7FEA3FA-4936-41E1-B7FA-CA082069F7F7}" dt="2026-10-07T05:53:34.309" v="6376" actId="13926"/>
        <pc:sldMkLst>
          <pc:docMk/>
          <pc:sldMk cId="549060177" sldId="284"/>
        </pc:sldMkLst>
        <pc:spChg chg="mod">
          <ac:chgData name="Francesco Bellotti" userId="f453232b-f87d-4756-9d8b-c09bc835cc42" providerId="ADAL" clId="{C7FEA3FA-4936-41E1-B7FA-CA082069F7F7}" dt="2026-10-07T05:52:57.989" v="6373" actId="13926"/>
          <ac:spMkLst>
            <pc:docMk/>
            <pc:sldMk cId="549060177" sldId="284"/>
            <ac:spMk id="2" creationId="{3F0C4C8B-AC29-B370-B1AC-144F06616EBD}"/>
          </ac:spMkLst>
        </pc:spChg>
        <pc:spChg chg="mod">
          <ac:chgData name="Francesco Bellotti" userId="f453232b-f87d-4756-9d8b-c09bc835cc42" providerId="ADAL" clId="{C7FEA3FA-4936-41E1-B7FA-CA082069F7F7}" dt="2026-10-07T05:52:49.458" v="6372" actId="13926"/>
          <ac:spMkLst>
            <pc:docMk/>
            <pc:sldMk cId="549060177" sldId="284"/>
            <ac:spMk id="3" creationId="{502BDD6A-A3FC-4425-BB50-E9DDAF9AD244}"/>
          </ac:spMkLst>
        </pc:spChg>
        <pc:spChg chg="mod">
          <ac:chgData name="Francesco Bellotti" userId="f453232b-f87d-4756-9d8b-c09bc835cc42" providerId="ADAL" clId="{C7FEA3FA-4936-41E1-B7FA-CA082069F7F7}" dt="2026-10-07T05:53:34.309" v="6376" actId="13926"/>
          <ac:spMkLst>
            <pc:docMk/>
            <pc:sldMk cId="549060177" sldId="284"/>
            <ac:spMk id="4" creationId="{D2DCDEED-15E5-D749-5425-1291C0096142}"/>
          </ac:spMkLst>
        </pc:spChg>
      </pc:sldChg>
      <pc:sldChg chg="modSp mod">
        <pc:chgData name="Francesco Bellotti" userId="f453232b-f87d-4756-9d8b-c09bc835cc42" providerId="ADAL" clId="{C7FEA3FA-4936-41E1-B7FA-CA082069F7F7}" dt="2026-10-07T05:56:58.658" v="6407" actId="20577"/>
        <pc:sldMkLst>
          <pc:docMk/>
          <pc:sldMk cId="2264435684" sldId="285"/>
        </pc:sldMkLst>
        <pc:spChg chg="mod">
          <ac:chgData name="Francesco Bellotti" userId="f453232b-f87d-4756-9d8b-c09bc835cc42" providerId="ADAL" clId="{C7FEA3FA-4936-41E1-B7FA-CA082069F7F7}" dt="2026-10-07T05:56:58.658" v="6407" actId="20577"/>
          <ac:spMkLst>
            <pc:docMk/>
            <pc:sldMk cId="2264435684" sldId="285"/>
            <ac:spMk id="3" creationId="{CB157CE6-1BD1-0877-B2CE-478D5E591E9C}"/>
          </ac:spMkLst>
        </pc:spChg>
        <pc:spChg chg="mod">
          <ac:chgData name="Francesco Bellotti" userId="f453232b-f87d-4756-9d8b-c09bc835cc42" providerId="ADAL" clId="{C7FEA3FA-4936-41E1-B7FA-CA082069F7F7}" dt="2026-10-07T05:55:22.072" v="6383" actId="13926"/>
          <ac:spMkLst>
            <pc:docMk/>
            <pc:sldMk cId="2264435684" sldId="285"/>
            <ac:spMk id="4" creationId="{EEA402CE-610D-3360-88D0-C884A13A6D10}"/>
          </ac:spMkLst>
        </pc:spChg>
      </pc:sldChg>
      <pc:sldChg chg="modSp mod">
        <pc:chgData name="Francesco Bellotti" userId="f453232b-f87d-4756-9d8b-c09bc835cc42" providerId="ADAL" clId="{C7FEA3FA-4936-41E1-B7FA-CA082069F7F7}" dt="2026-10-07T05:57:53.689" v="6411" actId="13926"/>
        <pc:sldMkLst>
          <pc:docMk/>
          <pc:sldMk cId="2223382473" sldId="286"/>
        </pc:sldMkLst>
        <pc:spChg chg="mod">
          <ac:chgData name="Francesco Bellotti" userId="f453232b-f87d-4756-9d8b-c09bc835cc42" providerId="ADAL" clId="{C7FEA3FA-4936-41E1-B7FA-CA082069F7F7}" dt="2026-10-07T05:57:53.689" v="6411" actId="13926"/>
          <ac:spMkLst>
            <pc:docMk/>
            <pc:sldMk cId="2223382473" sldId="286"/>
            <ac:spMk id="2" creationId="{0D007C3C-1E68-B3C8-5A37-F558293CC72E}"/>
          </ac:spMkLst>
        </pc:spChg>
        <pc:spChg chg="mod">
          <ac:chgData name="Francesco Bellotti" userId="f453232b-f87d-4756-9d8b-c09bc835cc42" providerId="ADAL" clId="{C7FEA3FA-4936-41E1-B7FA-CA082069F7F7}" dt="2026-10-07T05:57:47.560" v="6410" actId="13926"/>
          <ac:spMkLst>
            <pc:docMk/>
            <pc:sldMk cId="2223382473" sldId="286"/>
            <ac:spMk id="3" creationId="{4A02E282-B0A1-7F83-B108-18D3C94F10BC}"/>
          </ac:spMkLst>
        </pc:spChg>
      </pc:sldChg>
      <pc:sldChg chg="modSp mod">
        <pc:chgData name="Francesco Bellotti" userId="f453232b-f87d-4756-9d8b-c09bc835cc42" providerId="ADAL" clId="{C7FEA3FA-4936-41E1-B7FA-CA082069F7F7}" dt="2026-10-07T05:59:59.670" v="6424" actId="113"/>
        <pc:sldMkLst>
          <pc:docMk/>
          <pc:sldMk cId="754612367" sldId="287"/>
        </pc:sldMkLst>
        <pc:spChg chg="mod">
          <ac:chgData name="Francesco Bellotti" userId="f453232b-f87d-4756-9d8b-c09bc835cc42" providerId="ADAL" clId="{C7FEA3FA-4936-41E1-B7FA-CA082069F7F7}" dt="2026-10-07T05:59:55.024" v="6423" actId="113"/>
          <ac:spMkLst>
            <pc:docMk/>
            <pc:sldMk cId="754612367" sldId="287"/>
            <ac:spMk id="3" creationId="{0D60491F-DD92-A130-B961-9F7A3104C556}"/>
          </ac:spMkLst>
        </pc:spChg>
        <pc:spChg chg="mod">
          <ac:chgData name="Francesco Bellotti" userId="f453232b-f87d-4756-9d8b-c09bc835cc42" providerId="ADAL" clId="{C7FEA3FA-4936-41E1-B7FA-CA082069F7F7}" dt="2026-10-07T05:59:59.670" v="6424" actId="113"/>
          <ac:spMkLst>
            <pc:docMk/>
            <pc:sldMk cId="754612367" sldId="287"/>
            <ac:spMk id="4" creationId="{94C18707-9CD5-419C-E263-C505BB2CAAAD}"/>
          </ac:spMkLst>
        </pc:spChg>
      </pc:sldChg>
      <pc:sldChg chg="modSp mod">
        <pc:chgData name="Francesco Bellotti" userId="f453232b-f87d-4756-9d8b-c09bc835cc42" providerId="ADAL" clId="{C7FEA3FA-4936-41E1-B7FA-CA082069F7F7}" dt="2026-10-07T06:02:07.857" v="6508" actId="113"/>
        <pc:sldMkLst>
          <pc:docMk/>
          <pc:sldMk cId="1407114158" sldId="288"/>
        </pc:sldMkLst>
        <pc:spChg chg="mod">
          <ac:chgData name="Francesco Bellotti" userId="f453232b-f87d-4756-9d8b-c09bc835cc42" providerId="ADAL" clId="{C7FEA3FA-4936-41E1-B7FA-CA082069F7F7}" dt="2026-10-07T06:02:07.857" v="6508" actId="113"/>
          <ac:spMkLst>
            <pc:docMk/>
            <pc:sldMk cId="1407114158" sldId="288"/>
            <ac:spMk id="5" creationId="{0591354C-2470-FE0B-1177-36E8B493ED47}"/>
          </ac:spMkLst>
        </pc:spChg>
      </pc:sldChg>
      <pc:sldChg chg="modSp mod">
        <pc:chgData name="Francesco Bellotti" userId="f453232b-f87d-4756-9d8b-c09bc835cc42" providerId="ADAL" clId="{C7FEA3FA-4936-41E1-B7FA-CA082069F7F7}" dt="2026-10-07T06:04:13.424" v="6514" actId="13926"/>
        <pc:sldMkLst>
          <pc:docMk/>
          <pc:sldMk cId="2175240754" sldId="289"/>
        </pc:sldMkLst>
        <pc:spChg chg="mod">
          <ac:chgData name="Francesco Bellotti" userId="f453232b-f87d-4756-9d8b-c09bc835cc42" providerId="ADAL" clId="{C7FEA3FA-4936-41E1-B7FA-CA082069F7F7}" dt="2026-10-07T06:04:13.424" v="6514" actId="13926"/>
          <ac:spMkLst>
            <pc:docMk/>
            <pc:sldMk cId="2175240754" sldId="289"/>
            <ac:spMk id="4" creationId="{6B11C1E1-3370-B0A7-AF1E-96F103F11E10}"/>
          </ac:spMkLst>
        </pc:spChg>
      </pc:sldChg>
      <pc:sldChg chg="mod modShow">
        <pc:chgData name="Francesco Bellotti" userId="f453232b-f87d-4756-9d8b-c09bc835cc42" providerId="ADAL" clId="{C7FEA3FA-4936-41E1-B7FA-CA082069F7F7}" dt="2026-10-07T06:08:40.809" v="6552" actId="729"/>
        <pc:sldMkLst>
          <pc:docMk/>
          <pc:sldMk cId="4243716377" sldId="290"/>
        </pc:sldMkLst>
      </pc:sldChg>
      <pc:sldChg chg="modSp mod">
        <pc:chgData name="Francesco Bellotti" userId="f453232b-f87d-4756-9d8b-c09bc835cc42" providerId="ADAL" clId="{C7FEA3FA-4936-41E1-B7FA-CA082069F7F7}" dt="2026-10-07T06:10:25.296" v="6581" actId="20577"/>
        <pc:sldMkLst>
          <pc:docMk/>
          <pc:sldMk cId="2210487157" sldId="291"/>
        </pc:sldMkLst>
        <pc:spChg chg="mod">
          <ac:chgData name="Francesco Bellotti" userId="f453232b-f87d-4756-9d8b-c09bc835cc42" providerId="ADAL" clId="{C7FEA3FA-4936-41E1-B7FA-CA082069F7F7}" dt="2026-10-07T06:09:50.531" v="6555" actId="13926"/>
          <ac:spMkLst>
            <pc:docMk/>
            <pc:sldMk cId="2210487157" sldId="291"/>
            <ac:spMk id="3" creationId="{97AD4D3F-7C34-87C8-6885-4086470D4F19}"/>
          </ac:spMkLst>
        </pc:spChg>
        <pc:spChg chg="mod">
          <ac:chgData name="Francesco Bellotti" userId="f453232b-f87d-4756-9d8b-c09bc835cc42" providerId="ADAL" clId="{C7FEA3FA-4936-41E1-B7FA-CA082069F7F7}" dt="2026-10-07T06:10:25.296" v="6581" actId="20577"/>
          <ac:spMkLst>
            <pc:docMk/>
            <pc:sldMk cId="2210487157" sldId="291"/>
            <ac:spMk id="4" creationId="{5722A8BA-6220-BEC3-A384-C0062A985868}"/>
          </ac:spMkLst>
        </pc:spChg>
      </pc:sldChg>
      <pc:sldChg chg="modSp add mod setBg modNotes">
        <pc:chgData name="Francesco Bellotti" userId="f453232b-f87d-4756-9d8b-c09bc835cc42" providerId="ADAL" clId="{C7FEA3FA-4936-41E1-B7FA-CA082069F7F7}" dt="2026-10-06T07:38:53.886" v="5989"/>
        <pc:sldMkLst>
          <pc:docMk/>
          <pc:sldMk cId="0" sldId="293"/>
        </pc:sldMkLst>
      </pc:sldChg>
      <pc:sldChg chg="addSp delSp modSp add mod setBg modNotes">
        <pc:chgData name="Francesco Bellotti" userId="f453232b-f87d-4756-9d8b-c09bc835cc42" providerId="ADAL" clId="{C7FEA3FA-4936-41E1-B7FA-CA082069F7F7}" dt="2026-10-07T06:15:56.545" v="6681" actId="13926"/>
        <pc:sldMkLst>
          <pc:docMk/>
          <pc:sldMk cId="0" sldId="294"/>
        </pc:sldMkLst>
        <pc:spChg chg="mod">
          <ac:chgData name="Francesco Bellotti" userId="f453232b-f87d-4756-9d8b-c09bc835cc42" providerId="ADAL" clId="{C7FEA3FA-4936-41E1-B7FA-CA082069F7F7}" dt="2026-10-07T06:15:56.545" v="6681" actId="13926"/>
          <ac:spMkLst>
            <pc:docMk/>
            <pc:sldMk cId="0" sldId="294"/>
            <ac:spMk id="60" creationId="{00000000-0000-0000-0000-000000000000}"/>
          </ac:spMkLst>
        </pc:spChg>
      </pc:sldChg>
      <pc:sldChg chg="modSp add mod setBg modNotes">
        <pc:chgData name="Francesco Bellotti" userId="f453232b-f87d-4756-9d8b-c09bc835cc42" providerId="ADAL" clId="{C7FEA3FA-4936-41E1-B7FA-CA082069F7F7}" dt="2026-10-07T06:16:19.940" v="6682" actId="13926"/>
        <pc:sldMkLst>
          <pc:docMk/>
          <pc:sldMk cId="0" sldId="295"/>
        </pc:sldMkLst>
        <pc:spChg chg="mod">
          <ac:chgData name="Francesco Bellotti" userId="f453232b-f87d-4756-9d8b-c09bc835cc42" providerId="ADAL" clId="{C7FEA3FA-4936-41E1-B7FA-CA082069F7F7}" dt="2026-10-07T06:16:19.940" v="6682" actId="13926"/>
          <ac:spMkLst>
            <pc:docMk/>
            <pc:sldMk cId="0" sldId="295"/>
            <ac:spMk id="93" creationId="{00000000-0000-0000-0000-000000000000}"/>
          </ac:spMkLst>
        </pc:spChg>
      </pc:sldChg>
      <pc:sldChg chg="modSp add mod setBg modNotes">
        <pc:chgData name="Francesco Bellotti" userId="f453232b-f87d-4756-9d8b-c09bc835cc42" providerId="ADAL" clId="{C7FEA3FA-4936-41E1-B7FA-CA082069F7F7}" dt="2026-10-07T06:18:18.063" v="6693" actId="13926"/>
        <pc:sldMkLst>
          <pc:docMk/>
          <pc:sldMk cId="0" sldId="296"/>
        </pc:sldMkLst>
        <pc:spChg chg="mod">
          <ac:chgData name="Francesco Bellotti" userId="f453232b-f87d-4756-9d8b-c09bc835cc42" providerId="ADAL" clId="{C7FEA3FA-4936-41E1-B7FA-CA082069F7F7}" dt="2026-10-07T06:18:18.063" v="6693" actId="13926"/>
          <ac:spMkLst>
            <pc:docMk/>
            <pc:sldMk cId="0" sldId="296"/>
            <ac:spMk id="149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06:17:06.567" v="6685" actId="403"/>
          <ac:spMkLst>
            <pc:docMk/>
            <pc:sldMk cId="0" sldId="296"/>
            <ac:spMk id="150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06:17:19.787" v="6686" actId="113"/>
          <ac:spMkLst>
            <pc:docMk/>
            <pc:sldMk cId="0" sldId="296"/>
            <ac:spMk id="152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06:18:09.419" v="6692" actId="1076"/>
          <ac:spMkLst>
            <pc:docMk/>
            <pc:sldMk cId="0" sldId="296"/>
            <ac:spMk id="163" creationId="{00000000-0000-0000-0000-000000000000}"/>
          </ac:spMkLst>
        </pc:spChg>
      </pc:sldChg>
      <pc:sldChg chg="modSp add mod setBg modNotes">
        <pc:chgData name="Francesco Bellotti" userId="f453232b-f87d-4756-9d8b-c09bc835cc42" providerId="ADAL" clId="{C7FEA3FA-4936-41E1-B7FA-CA082069F7F7}" dt="2026-10-07T06:20:56.461" v="6707" actId="113"/>
        <pc:sldMkLst>
          <pc:docMk/>
          <pc:sldMk cId="0" sldId="297"/>
        </pc:sldMkLst>
        <pc:spChg chg="mod">
          <ac:chgData name="Francesco Bellotti" userId="f453232b-f87d-4756-9d8b-c09bc835cc42" providerId="ADAL" clId="{C7FEA3FA-4936-41E1-B7FA-CA082069F7F7}" dt="2026-10-07T06:20:48.562" v="6706" actId="403"/>
          <ac:spMkLst>
            <pc:docMk/>
            <pc:sldMk cId="0" sldId="297"/>
            <ac:spMk id="169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06:20:56.461" v="6707" actId="113"/>
          <ac:spMkLst>
            <pc:docMk/>
            <pc:sldMk cId="0" sldId="297"/>
            <ac:spMk id="171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06:20:26.061" v="6702" actId="1076"/>
          <ac:spMkLst>
            <pc:docMk/>
            <pc:sldMk cId="0" sldId="297"/>
            <ac:spMk id="173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06:20:33.104" v="6703" actId="1076"/>
          <ac:spMkLst>
            <pc:docMk/>
            <pc:sldMk cId="0" sldId="297"/>
            <ac:spMk id="174" creationId="{00000000-0000-0000-0000-000000000000}"/>
          </ac:spMkLst>
        </pc:spChg>
      </pc:sldChg>
      <pc:sldChg chg="modSp add mod setBg modNotes">
        <pc:chgData name="Francesco Bellotti" userId="f453232b-f87d-4756-9d8b-c09bc835cc42" providerId="ADAL" clId="{C7FEA3FA-4936-41E1-B7FA-CA082069F7F7}" dt="2026-10-07T06:21:58.094" v="6711" actId="113"/>
        <pc:sldMkLst>
          <pc:docMk/>
          <pc:sldMk cId="0" sldId="298"/>
        </pc:sldMkLst>
        <pc:spChg chg="mod">
          <ac:chgData name="Francesco Bellotti" userId="f453232b-f87d-4756-9d8b-c09bc835cc42" providerId="ADAL" clId="{C7FEA3FA-4936-41E1-B7FA-CA082069F7F7}" dt="2026-10-07T06:21:58.094" v="6711" actId="113"/>
          <ac:spMkLst>
            <pc:docMk/>
            <pc:sldMk cId="0" sldId="298"/>
            <ac:spMk id="204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06:21:52.382" v="6710" actId="113"/>
          <ac:spMkLst>
            <pc:docMk/>
            <pc:sldMk cId="0" sldId="298"/>
            <ac:spMk id="206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06:21:34.358" v="6709" actId="13926"/>
          <ac:spMkLst>
            <pc:docMk/>
            <pc:sldMk cId="0" sldId="298"/>
            <ac:spMk id="231" creationId="{00000000-0000-0000-0000-000000000000}"/>
          </ac:spMkLst>
        </pc:spChg>
      </pc:sldChg>
      <pc:sldChg chg="addSp delSp modSp add mod setBg modNotes">
        <pc:chgData name="Francesco Bellotti" userId="f453232b-f87d-4756-9d8b-c09bc835cc42" providerId="ADAL" clId="{C7FEA3FA-4936-41E1-B7FA-CA082069F7F7}" dt="2026-10-07T06:24:32.932" v="6722"/>
        <pc:sldMkLst>
          <pc:docMk/>
          <pc:sldMk cId="0" sldId="299"/>
        </pc:sldMkLst>
        <pc:spChg chg="mod">
          <ac:chgData name="Francesco Bellotti" userId="f453232b-f87d-4756-9d8b-c09bc835cc42" providerId="ADAL" clId="{C7FEA3FA-4936-41E1-B7FA-CA082069F7F7}" dt="2026-10-07T06:24:32.932" v="6722"/>
          <ac:spMkLst>
            <pc:docMk/>
            <pc:sldMk cId="0" sldId="299"/>
            <ac:spMk id="235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06:23:53.948" v="6717" actId="403"/>
          <ac:spMkLst>
            <pc:docMk/>
            <pc:sldMk cId="0" sldId="299"/>
            <ac:spMk id="237" creationId="{00000000-0000-0000-0000-000000000000}"/>
          </ac:spMkLst>
        </pc:spChg>
      </pc:sldChg>
      <pc:sldChg chg="addSp delSp modSp add mod setBg chgLayout modNotes">
        <pc:chgData name="Francesco Bellotti" userId="f453232b-f87d-4756-9d8b-c09bc835cc42" providerId="ADAL" clId="{C7FEA3FA-4936-41E1-B7FA-CA082069F7F7}" dt="2026-10-10T10:01:00.292" v="8049" actId="20577"/>
        <pc:sldMkLst>
          <pc:docMk/>
          <pc:sldMk cId="0" sldId="300"/>
        </pc:sldMkLst>
        <pc:spChg chg="add del mod">
          <ac:chgData name="Francesco Bellotti" userId="f453232b-f87d-4756-9d8b-c09bc835cc42" providerId="ADAL" clId="{C7FEA3FA-4936-41E1-B7FA-CA082069F7F7}" dt="2026-10-10T10:00:16.871" v="7978" actId="478"/>
          <ac:spMkLst>
            <pc:docMk/>
            <pc:sldMk cId="0" sldId="300"/>
            <ac:spMk id="3" creationId="{A805C92B-2A40-BACF-4123-9257D50B2985}"/>
          </ac:spMkLst>
        </pc:spChg>
        <pc:spChg chg="mod">
          <ac:chgData name="Francesco Bellotti" userId="f453232b-f87d-4756-9d8b-c09bc835cc42" providerId="ADAL" clId="{C7FEA3FA-4936-41E1-B7FA-CA082069F7F7}" dt="2026-10-10T10:01:00.292" v="8049" actId="20577"/>
          <ac:spMkLst>
            <pc:docMk/>
            <pc:sldMk cId="0" sldId="300"/>
            <ac:spMk id="256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10T10:00:47.053" v="8015" actId="20577"/>
          <ac:spMkLst>
            <pc:docMk/>
            <pc:sldMk cId="0" sldId="300"/>
            <ac:spMk id="282" creationId="{00000000-0000-0000-0000-000000000000}"/>
          </ac:spMkLst>
        </pc:spChg>
      </pc:sldChg>
      <pc:sldChg chg="modSp add mod setBg modNotes">
        <pc:chgData name="Francesco Bellotti" userId="f453232b-f87d-4756-9d8b-c09bc835cc42" providerId="ADAL" clId="{C7FEA3FA-4936-41E1-B7FA-CA082069F7F7}" dt="2026-10-07T06:27:55.674" v="6729" actId="113"/>
        <pc:sldMkLst>
          <pc:docMk/>
          <pc:sldMk cId="0" sldId="301"/>
        </pc:sldMkLst>
        <pc:spChg chg="mod">
          <ac:chgData name="Francesco Bellotti" userId="f453232b-f87d-4756-9d8b-c09bc835cc42" providerId="ADAL" clId="{C7FEA3FA-4936-41E1-B7FA-CA082069F7F7}" dt="2026-10-07T06:27:55.674" v="6729" actId="113"/>
          <ac:spMkLst>
            <pc:docMk/>
            <pc:sldMk cId="0" sldId="301"/>
            <ac:spMk id="288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06:27:11.122" v="6727" actId="113"/>
          <ac:spMkLst>
            <pc:docMk/>
            <pc:sldMk cId="0" sldId="301"/>
            <ac:spMk id="315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06:27:16.098" v="6728" actId="113"/>
          <ac:spMkLst>
            <pc:docMk/>
            <pc:sldMk cId="0" sldId="301"/>
            <ac:spMk id="340" creationId="{00000000-0000-0000-0000-000000000000}"/>
          </ac:spMkLst>
        </pc:spChg>
      </pc:sldChg>
      <pc:sldChg chg="modSp add mod setBg modNotes">
        <pc:chgData name="Francesco Bellotti" userId="f453232b-f87d-4756-9d8b-c09bc835cc42" providerId="ADAL" clId="{C7FEA3FA-4936-41E1-B7FA-CA082069F7F7}" dt="2026-10-06T07:38:53.886" v="5989"/>
        <pc:sldMkLst>
          <pc:docMk/>
          <pc:sldMk cId="0" sldId="302"/>
        </pc:sldMkLst>
      </pc:sldChg>
      <pc:sldChg chg="modSp add mod setBg modNotes">
        <pc:chgData name="Francesco Bellotti" userId="f453232b-f87d-4756-9d8b-c09bc835cc42" providerId="ADAL" clId="{C7FEA3FA-4936-41E1-B7FA-CA082069F7F7}" dt="2026-10-07T06:39:19.680" v="6780" actId="113"/>
        <pc:sldMkLst>
          <pc:docMk/>
          <pc:sldMk cId="0" sldId="303"/>
        </pc:sldMkLst>
        <pc:spChg chg="mod">
          <ac:chgData name="Francesco Bellotti" userId="f453232b-f87d-4756-9d8b-c09bc835cc42" providerId="ADAL" clId="{C7FEA3FA-4936-41E1-B7FA-CA082069F7F7}" dt="2026-10-07T06:39:19.680" v="6780" actId="113"/>
          <ac:spMkLst>
            <pc:docMk/>
            <pc:sldMk cId="0" sldId="303"/>
            <ac:spMk id="361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06:39:15.461" v="6779" actId="403"/>
          <ac:spMkLst>
            <pc:docMk/>
            <pc:sldMk cId="0" sldId="303"/>
            <ac:spMk id="363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06:38:56.320" v="6777" actId="1076"/>
          <ac:spMkLst>
            <pc:docMk/>
            <pc:sldMk cId="0" sldId="303"/>
            <ac:spMk id="384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06:38:56.320" v="6777" actId="1076"/>
          <ac:spMkLst>
            <pc:docMk/>
            <pc:sldMk cId="0" sldId="303"/>
            <ac:spMk id="385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06:38:56.320" v="6777" actId="1076"/>
          <ac:spMkLst>
            <pc:docMk/>
            <pc:sldMk cId="0" sldId="303"/>
            <ac:spMk id="386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06:38:56.320" v="6777" actId="1076"/>
          <ac:spMkLst>
            <pc:docMk/>
            <pc:sldMk cId="0" sldId="303"/>
            <ac:spMk id="387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06:38:56.320" v="6777" actId="1076"/>
          <ac:spMkLst>
            <pc:docMk/>
            <pc:sldMk cId="0" sldId="303"/>
            <ac:spMk id="388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06:38:56.320" v="6777" actId="1076"/>
          <ac:spMkLst>
            <pc:docMk/>
            <pc:sldMk cId="0" sldId="303"/>
            <ac:spMk id="389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06:38:45.964" v="6776" actId="1076"/>
          <ac:spMkLst>
            <pc:docMk/>
            <pc:sldMk cId="0" sldId="303"/>
            <ac:spMk id="390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06:38:45.964" v="6776" actId="1076"/>
          <ac:spMkLst>
            <pc:docMk/>
            <pc:sldMk cId="0" sldId="303"/>
            <ac:spMk id="391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06:38:39.843" v="6775" actId="1076"/>
          <ac:spMkLst>
            <pc:docMk/>
            <pc:sldMk cId="0" sldId="303"/>
            <ac:spMk id="392" creationId="{00000000-0000-0000-0000-000000000000}"/>
          </ac:spMkLst>
        </pc:spChg>
      </pc:sldChg>
      <pc:sldChg chg="modSp add mod setBg modNotes">
        <pc:chgData name="Francesco Bellotti" userId="f453232b-f87d-4756-9d8b-c09bc835cc42" providerId="ADAL" clId="{C7FEA3FA-4936-41E1-B7FA-CA082069F7F7}" dt="2026-10-10T12:36:06.882" v="8066" actId="113"/>
        <pc:sldMkLst>
          <pc:docMk/>
          <pc:sldMk cId="0" sldId="304"/>
        </pc:sldMkLst>
        <pc:spChg chg="mod">
          <ac:chgData name="Francesco Bellotti" userId="f453232b-f87d-4756-9d8b-c09bc835cc42" providerId="ADAL" clId="{C7FEA3FA-4936-41E1-B7FA-CA082069F7F7}" dt="2026-10-10T12:36:06.882" v="8066" actId="113"/>
          <ac:spMkLst>
            <pc:docMk/>
            <pc:sldMk cId="0" sldId="304"/>
            <ac:spMk id="395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06:39:39.626" v="6781" actId="113"/>
          <ac:spMkLst>
            <pc:docMk/>
            <pc:sldMk cId="0" sldId="304"/>
            <ac:spMk id="396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06:40:20.883" v="6795" actId="1076"/>
          <ac:spMkLst>
            <pc:docMk/>
            <pc:sldMk cId="0" sldId="304"/>
            <ac:spMk id="417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06:40:13.760" v="6794" actId="1076"/>
          <ac:spMkLst>
            <pc:docMk/>
            <pc:sldMk cId="0" sldId="304"/>
            <ac:spMk id="418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06:40:13.760" v="6794" actId="1076"/>
          <ac:spMkLst>
            <pc:docMk/>
            <pc:sldMk cId="0" sldId="304"/>
            <ac:spMk id="419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06:40:13.760" v="6794" actId="1076"/>
          <ac:spMkLst>
            <pc:docMk/>
            <pc:sldMk cId="0" sldId="304"/>
            <ac:spMk id="420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06:40:13.760" v="6794" actId="1076"/>
          <ac:spMkLst>
            <pc:docMk/>
            <pc:sldMk cId="0" sldId="304"/>
            <ac:spMk id="421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06:40:13.760" v="6794" actId="1076"/>
          <ac:spMkLst>
            <pc:docMk/>
            <pc:sldMk cId="0" sldId="304"/>
            <ac:spMk id="422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06:40:13.760" v="6794" actId="1076"/>
          <ac:spMkLst>
            <pc:docMk/>
            <pc:sldMk cId="0" sldId="304"/>
            <ac:spMk id="423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06:40:30.621" v="6796" actId="1076"/>
          <ac:spMkLst>
            <pc:docMk/>
            <pc:sldMk cId="0" sldId="304"/>
            <ac:spMk id="424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06:40:30.621" v="6796" actId="1076"/>
          <ac:spMkLst>
            <pc:docMk/>
            <pc:sldMk cId="0" sldId="304"/>
            <ac:spMk id="425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06:40:42.760" v="6798" actId="1076"/>
          <ac:spMkLst>
            <pc:docMk/>
            <pc:sldMk cId="0" sldId="304"/>
            <ac:spMk id="426" creationId="{00000000-0000-0000-0000-000000000000}"/>
          </ac:spMkLst>
        </pc:spChg>
      </pc:sldChg>
      <pc:sldChg chg="modSp add mod setBg modNotes">
        <pc:chgData name="Francesco Bellotti" userId="f453232b-f87d-4756-9d8b-c09bc835cc42" providerId="ADAL" clId="{C7FEA3FA-4936-41E1-B7FA-CA082069F7F7}" dt="2026-10-06T07:38:53.886" v="5989"/>
        <pc:sldMkLst>
          <pc:docMk/>
          <pc:sldMk cId="0" sldId="305"/>
        </pc:sldMkLst>
      </pc:sldChg>
      <pc:sldChg chg="addSp modSp add mod setBg modNotes">
        <pc:chgData name="Francesco Bellotti" userId="f453232b-f87d-4756-9d8b-c09bc835cc42" providerId="ADAL" clId="{C7FEA3FA-4936-41E1-B7FA-CA082069F7F7}" dt="2026-10-10T12:52:34.359" v="8296" actId="20577"/>
        <pc:sldMkLst>
          <pc:docMk/>
          <pc:sldMk cId="0" sldId="306"/>
        </pc:sldMkLst>
        <pc:spChg chg="add mod">
          <ac:chgData name="Francesco Bellotti" userId="f453232b-f87d-4756-9d8b-c09bc835cc42" providerId="ADAL" clId="{C7FEA3FA-4936-41E1-B7FA-CA082069F7F7}" dt="2026-10-10T12:52:23.193" v="8293" actId="1076"/>
          <ac:spMkLst>
            <pc:docMk/>
            <pc:sldMk cId="0" sldId="306"/>
            <ac:spMk id="2" creationId="{CD82F328-5AA6-32C5-A8F6-B9A0F6D7A5D9}"/>
          </ac:spMkLst>
        </pc:spChg>
        <pc:spChg chg="mod">
          <ac:chgData name="Francesco Bellotti" userId="f453232b-f87d-4756-9d8b-c09bc835cc42" providerId="ADAL" clId="{C7FEA3FA-4936-41E1-B7FA-CA082069F7F7}" dt="2026-10-10T12:38:08.412" v="8067"/>
          <ac:spMkLst>
            <pc:docMk/>
            <pc:sldMk cId="0" sldId="306"/>
            <ac:spMk id="445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10T12:38:29.327" v="8068" actId="1076"/>
          <ac:spMkLst>
            <pc:docMk/>
            <pc:sldMk cId="0" sldId="306"/>
            <ac:spMk id="448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10T12:38:29.327" v="8068" actId="1076"/>
          <ac:spMkLst>
            <pc:docMk/>
            <pc:sldMk cId="0" sldId="306"/>
            <ac:spMk id="449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10T12:38:29.327" v="8068" actId="1076"/>
          <ac:spMkLst>
            <pc:docMk/>
            <pc:sldMk cId="0" sldId="306"/>
            <ac:spMk id="450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10T12:38:29.327" v="8068" actId="1076"/>
          <ac:spMkLst>
            <pc:docMk/>
            <pc:sldMk cId="0" sldId="306"/>
            <ac:spMk id="451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10T12:38:29.327" v="8068" actId="1076"/>
          <ac:spMkLst>
            <pc:docMk/>
            <pc:sldMk cId="0" sldId="306"/>
            <ac:spMk id="452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10T12:38:29.327" v="8068" actId="1076"/>
          <ac:spMkLst>
            <pc:docMk/>
            <pc:sldMk cId="0" sldId="306"/>
            <ac:spMk id="453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10T12:38:29.327" v="8068" actId="1076"/>
          <ac:spMkLst>
            <pc:docMk/>
            <pc:sldMk cId="0" sldId="306"/>
            <ac:spMk id="454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10T12:38:29.327" v="8068" actId="1076"/>
          <ac:spMkLst>
            <pc:docMk/>
            <pc:sldMk cId="0" sldId="306"/>
            <ac:spMk id="455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10T12:38:29.327" v="8068" actId="1076"/>
          <ac:spMkLst>
            <pc:docMk/>
            <pc:sldMk cId="0" sldId="306"/>
            <ac:spMk id="456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10T12:52:34.359" v="8296" actId="20577"/>
          <ac:spMkLst>
            <pc:docMk/>
            <pc:sldMk cId="0" sldId="306"/>
            <ac:spMk id="457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10T12:52:17.076" v="8291" actId="164"/>
          <ac:spMkLst>
            <pc:docMk/>
            <pc:sldMk cId="0" sldId="306"/>
            <ac:spMk id="459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10T12:52:17.076" v="8291" actId="164"/>
          <ac:spMkLst>
            <pc:docMk/>
            <pc:sldMk cId="0" sldId="306"/>
            <ac:spMk id="460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10T12:52:17.076" v="8291" actId="164"/>
          <ac:spMkLst>
            <pc:docMk/>
            <pc:sldMk cId="0" sldId="306"/>
            <ac:spMk id="461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10T12:52:17.076" v="8291" actId="164"/>
          <ac:spMkLst>
            <pc:docMk/>
            <pc:sldMk cId="0" sldId="306"/>
            <ac:spMk id="463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10T12:52:17.076" v="8291" actId="164"/>
          <ac:spMkLst>
            <pc:docMk/>
            <pc:sldMk cId="0" sldId="306"/>
            <ac:spMk id="466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10T12:52:17.076" v="8291" actId="164"/>
          <ac:spMkLst>
            <pc:docMk/>
            <pc:sldMk cId="0" sldId="306"/>
            <ac:spMk id="470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10T12:52:17.076" v="8291" actId="164"/>
          <ac:spMkLst>
            <pc:docMk/>
            <pc:sldMk cId="0" sldId="306"/>
            <ac:spMk id="473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10T12:52:17.076" v="8291" actId="164"/>
          <ac:spMkLst>
            <pc:docMk/>
            <pc:sldMk cId="0" sldId="306"/>
            <ac:spMk id="474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10T12:52:17.076" v="8291" actId="164"/>
          <ac:spMkLst>
            <pc:docMk/>
            <pc:sldMk cId="0" sldId="306"/>
            <ac:spMk id="477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10T12:52:17.076" v="8291" actId="164"/>
          <ac:spMkLst>
            <pc:docMk/>
            <pc:sldMk cId="0" sldId="306"/>
            <ac:spMk id="481" creationId="{00000000-0000-0000-0000-000000000000}"/>
          </ac:spMkLst>
        </pc:spChg>
        <pc:grpChg chg="mod">
          <ac:chgData name="Francesco Bellotti" userId="f453232b-f87d-4756-9d8b-c09bc835cc42" providerId="ADAL" clId="{C7FEA3FA-4936-41E1-B7FA-CA082069F7F7}" dt="2026-10-10T12:52:20.251" v="8292" actId="1076"/>
          <ac:grpSpMkLst>
            <pc:docMk/>
            <pc:sldMk cId="0" sldId="306"/>
            <ac:grpSpMk id="3" creationId="{3435FF8F-D6EA-AE6B-9E18-5C1C8E1B1864}"/>
          </ac:grpSpMkLst>
        </pc:grpChg>
      </pc:sldChg>
      <pc:sldChg chg="modSp add mod setBg modNotes">
        <pc:chgData name="Francesco Bellotti" userId="f453232b-f87d-4756-9d8b-c09bc835cc42" providerId="ADAL" clId="{C7FEA3FA-4936-41E1-B7FA-CA082069F7F7}" dt="2026-10-07T06:48:09.352" v="6835" actId="1076"/>
        <pc:sldMkLst>
          <pc:docMk/>
          <pc:sldMk cId="0" sldId="307"/>
        </pc:sldMkLst>
        <pc:spChg chg="mod">
          <ac:chgData name="Francesco Bellotti" userId="f453232b-f87d-4756-9d8b-c09bc835cc42" providerId="ADAL" clId="{C7FEA3FA-4936-41E1-B7FA-CA082069F7F7}" dt="2026-10-07T06:48:09.352" v="6835" actId="1076"/>
          <ac:spMkLst>
            <pc:docMk/>
            <pc:sldMk cId="0" sldId="307"/>
            <ac:spMk id="513" creationId="{00000000-0000-0000-0000-000000000000}"/>
          </ac:spMkLst>
        </pc:spChg>
      </pc:sldChg>
      <pc:sldChg chg="modSp add mod setBg modNotes">
        <pc:chgData name="Francesco Bellotti" userId="f453232b-f87d-4756-9d8b-c09bc835cc42" providerId="ADAL" clId="{C7FEA3FA-4936-41E1-B7FA-CA082069F7F7}" dt="2026-10-07T06:50:06.186" v="6839" actId="113"/>
        <pc:sldMkLst>
          <pc:docMk/>
          <pc:sldMk cId="0" sldId="308"/>
        </pc:sldMkLst>
        <pc:spChg chg="mod">
          <ac:chgData name="Francesco Bellotti" userId="f453232b-f87d-4756-9d8b-c09bc835cc42" providerId="ADAL" clId="{C7FEA3FA-4936-41E1-B7FA-CA082069F7F7}" dt="2026-10-07T06:50:06.186" v="6839" actId="113"/>
          <ac:spMkLst>
            <pc:docMk/>
            <pc:sldMk cId="0" sldId="308"/>
            <ac:spMk id="522" creationId="{00000000-0000-0000-0000-000000000000}"/>
          </ac:spMkLst>
        </pc:spChg>
      </pc:sldChg>
      <pc:sldChg chg="modSp add mod setBg modNotes">
        <pc:chgData name="Francesco Bellotti" userId="f453232b-f87d-4756-9d8b-c09bc835cc42" providerId="ADAL" clId="{C7FEA3FA-4936-41E1-B7FA-CA082069F7F7}" dt="2026-10-07T06:53:07.341" v="6851" actId="1076"/>
        <pc:sldMkLst>
          <pc:docMk/>
          <pc:sldMk cId="0" sldId="309"/>
        </pc:sldMkLst>
        <pc:spChg chg="mod">
          <ac:chgData name="Francesco Bellotti" userId="f453232b-f87d-4756-9d8b-c09bc835cc42" providerId="ADAL" clId="{C7FEA3FA-4936-41E1-B7FA-CA082069F7F7}" dt="2026-10-07T06:53:07.341" v="6851" actId="1076"/>
          <ac:spMkLst>
            <pc:docMk/>
            <pc:sldMk cId="0" sldId="309"/>
            <ac:spMk id="563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06:53:01.299" v="6850" actId="1076"/>
          <ac:spMkLst>
            <pc:docMk/>
            <pc:sldMk cId="0" sldId="309"/>
            <ac:spMk id="564" creationId="{00000000-0000-0000-0000-000000000000}"/>
          </ac:spMkLst>
        </pc:spChg>
      </pc:sldChg>
      <pc:sldChg chg="addSp modSp add mod setBg modNotes">
        <pc:chgData name="Francesco Bellotti" userId="f453232b-f87d-4756-9d8b-c09bc835cc42" providerId="ADAL" clId="{C7FEA3FA-4936-41E1-B7FA-CA082069F7F7}" dt="2026-10-06T07:38:53.886" v="5989"/>
        <pc:sldMkLst>
          <pc:docMk/>
          <pc:sldMk cId="0" sldId="310"/>
        </pc:sldMkLst>
      </pc:sldChg>
      <pc:sldChg chg="delSp modSp add mod setBg modNotes">
        <pc:chgData name="Francesco Bellotti" userId="f453232b-f87d-4756-9d8b-c09bc835cc42" providerId="ADAL" clId="{C7FEA3FA-4936-41E1-B7FA-CA082069F7F7}" dt="2026-10-07T06:57:22.421" v="6873" actId="113"/>
        <pc:sldMkLst>
          <pc:docMk/>
          <pc:sldMk cId="0" sldId="311"/>
        </pc:sldMkLst>
        <pc:spChg chg="mod">
          <ac:chgData name="Francesco Bellotti" userId="f453232b-f87d-4756-9d8b-c09bc835cc42" providerId="ADAL" clId="{C7FEA3FA-4936-41E1-B7FA-CA082069F7F7}" dt="2026-10-07T06:57:22.421" v="6873" actId="113"/>
          <ac:spMkLst>
            <pc:docMk/>
            <pc:sldMk cId="0" sldId="311"/>
            <ac:spMk id="592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06:57:15.979" v="6872" actId="403"/>
          <ac:spMkLst>
            <pc:docMk/>
            <pc:sldMk cId="0" sldId="311"/>
            <ac:spMk id="594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06:56:35.655" v="6862" actId="1076"/>
          <ac:spMkLst>
            <pc:docMk/>
            <pc:sldMk cId="0" sldId="311"/>
            <ac:spMk id="600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06:56:50.883" v="6865" actId="1076"/>
          <ac:spMkLst>
            <pc:docMk/>
            <pc:sldMk cId="0" sldId="311"/>
            <ac:spMk id="609" creationId="{00000000-0000-0000-0000-000000000000}"/>
          </ac:spMkLst>
        </pc:spChg>
      </pc:sldChg>
      <pc:sldChg chg="delSp modSp add mod setBg modNotes">
        <pc:chgData name="Francesco Bellotti" userId="f453232b-f87d-4756-9d8b-c09bc835cc42" providerId="ADAL" clId="{C7FEA3FA-4936-41E1-B7FA-CA082069F7F7}" dt="2026-10-07T07:00:30.065" v="6927" actId="478"/>
        <pc:sldMkLst>
          <pc:docMk/>
          <pc:sldMk cId="0" sldId="312"/>
        </pc:sldMkLst>
        <pc:spChg chg="mod">
          <ac:chgData name="Francesco Bellotti" userId="f453232b-f87d-4756-9d8b-c09bc835cc42" providerId="ADAL" clId="{C7FEA3FA-4936-41E1-B7FA-CA082069F7F7}" dt="2026-10-07T07:00:04.253" v="6926" actId="20577"/>
          <ac:spMkLst>
            <pc:docMk/>
            <pc:sldMk cId="0" sldId="312"/>
            <ac:spMk id="624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10-07T05:58:24.877" v="6416" actId="113"/>
        <pc:sldMkLst>
          <pc:docMk/>
          <pc:sldMk cId="826823834" sldId="313"/>
        </pc:sldMkLst>
        <pc:spChg chg="mod">
          <ac:chgData name="Francesco Bellotti" userId="f453232b-f87d-4756-9d8b-c09bc835cc42" providerId="ADAL" clId="{C7FEA3FA-4936-41E1-B7FA-CA082069F7F7}" dt="2026-10-07T05:58:24.877" v="6416" actId="113"/>
          <ac:spMkLst>
            <pc:docMk/>
            <pc:sldMk cId="826823834" sldId="313"/>
            <ac:spMk id="3" creationId="{9A473440-99C0-A752-B1E5-E59093F3B14E}"/>
          </ac:spMkLst>
        </pc:spChg>
      </pc:sldChg>
      <pc:sldChg chg="modSp mod">
        <pc:chgData name="Francesco Bellotti" userId="f453232b-f87d-4756-9d8b-c09bc835cc42" providerId="ADAL" clId="{C7FEA3FA-4936-41E1-B7FA-CA082069F7F7}" dt="2026-10-07T06:00:58.972" v="6496" actId="113"/>
        <pc:sldMkLst>
          <pc:docMk/>
          <pc:sldMk cId="49087715" sldId="314"/>
        </pc:sldMkLst>
        <pc:spChg chg="mod">
          <ac:chgData name="Francesco Bellotti" userId="f453232b-f87d-4756-9d8b-c09bc835cc42" providerId="ADAL" clId="{C7FEA3FA-4936-41E1-B7FA-CA082069F7F7}" dt="2026-10-07T06:00:58.972" v="6496" actId="113"/>
          <ac:spMkLst>
            <pc:docMk/>
            <pc:sldMk cId="49087715" sldId="314"/>
            <ac:spMk id="3" creationId="{6901DAC6-9E2F-D4ED-FE22-7C6B2DC80695}"/>
          </ac:spMkLst>
        </pc:spChg>
      </pc:sldChg>
      <pc:sldChg chg="addSp modSp mod">
        <pc:chgData name="Francesco Bellotti" userId="f453232b-f87d-4756-9d8b-c09bc835cc42" providerId="ADAL" clId="{C7FEA3FA-4936-41E1-B7FA-CA082069F7F7}" dt="2026-10-07T06:13:57.058" v="6646" actId="1076"/>
        <pc:sldMkLst>
          <pc:docMk/>
          <pc:sldMk cId="3925621374" sldId="316"/>
        </pc:sldMkLst>
        <pc:spChg chg="mod">
          <ac:chgData name="Francesco Bellotti" userId="f453232b-f87d-4756-9d8b-c09bc835cc42" providerId="ADAL" clId="{C7FEA3FA-4936-41E1-B7FA-CA082069F7F7}" dt="2026-10-07T06:13:01.534" v="6618" actId="20577"/>
          <ac:spMkLst>
            <pc:docMk/>
            <pc:sldMk cId="3925621374" sldId="316"/>
            <ac:spMk id="3" creationId="{F7B17177-4F41-3698-2D0F-F790497B0ADD}"/>
          </ac:spMkLst>
        </pc:spChg>
        <pc:spChg chg="add mod">
          <ac:chgData name="Francesco Bellotti" userId="f453232b-f87d-4756-9d8b-c09bc835cc42" providerId="ADAL" clId="{C7FEA3FA-4936-41E1-B7FA-CA082069F7F7}" dt="2026-10-07T06:13:57.058" v="6646" actId="1076"/>
          <ac:spMkLst>
            <pc:docMk/>
            <pc:sldMk cId="3925621374" sldId="316"/>
            <ac:spMk id="5" creationId="{24FCB5D6-A373-5099-DF5E-2024AEA85D90}"/>
          </ac:spMkLst>
        </pc:spChg>
        <pc:spChg chg="add mod">
          <ac:chgData name="Francesco Bellotti" userId="f453232b-f87d-4756-9d8b-c09bc835cc42" providerId="ADAL" clId="{C7FEA3FA-4936-41E1-B7FA-CA082069F7F7}" dt="2026-10-07T06:13:34.862" v="6642" actId="1076"/>
          <ac:spMkLst>
            <pc:docMk/>
            <pc:sldMk cId="3925621374" sldId="316"/>
            <ac:spMk id="7" creationId="{42694521-B3BB-40F5-7E16-4CAD7AA50374}"/>
          </ac:spMkLst>
        </pc:spChg>
        <pc:spChg chg="add mod">
          <ac:chgData name="Francesco Bellotti" userId="f453232b-f87d-4756-9d8b-c09bc835cc42" providerId="ADAL" clId="{C7FEA3FA-4936-41E1-B7FA-CA082069F7F7}" dt="2026-10-07T06:12:57.974" v="6617" actId="1076"/>
          <ac:spMkLst>
            <pc:docMk/>
            <pc:sldMk cId="3925621374" sldId="316"/>
            <ac:spMk id="9" creationId="{CE61BACF-27BE-5B72-DBA9-D79BF9A265AC}"/>
          </ac:spMkLst>
        </pc:spChg>
      </pc:sldChg>
      <pc:sldChg chg="modSp mod">
        <pc:chgData name="Francesco Bellotti" userId="f453232b-f87d-4756-9d8b-c09bc835cc42" providerId="ADAL" clId="{C7FEA3FA-4936-41E1-B7FA-CA082069F7F7}" dt="2026-10-07T06:19:33.419" v="6699" actId="113"/>
        <pc:sldMkLst>
          <pc:docMk/>
          <pc:sldMk cId="2266772865" sldId="320"/>
        </pc:sldMkLst>
        <pc:spChg chg="mod">
          <ac:chgData name="Francesco Bellotti" userId="f453232b-f87d-4756-9d8b-c09bc835cc42" providerId="ADAL" clId="{C7FEA3FA-4936-41E1-B7FA-CA082069F7F7}" dt="2026-10-07T06:19:25.646" v="6698" actId="13926"/>
          <ac:spMkLst>
            <pc:docMk/>
            <pc:sldMk cId="2266772865" sldId="320"/>
            <ac:spMk id="2" creationId="{C154DC37-DA20-8722-EB5F-7A7C6F5A8459}"/>
          </ac:spMkLst>
        </pc:spChg>
        <pc:spChg chg="mod">
          <ac:chgData name="Francesco Bellotti" userId="f453232b-f87d-4756-9d8b-c09bc835cc42" providerId="ADAL" clId="{C7FEA3FA-4936-41E1-B7FA-CA082069F7F7}" dt="2026-10-07T06:19:33.419" v="6699" actId="113"/>
          <ac:spMkLst>
            <pc:docMk/>
            <pc:sldMk cId="2266772865" sldId="320"/>
            <ac:spMk id="3" creationId="{55866395-61CD-39CC-E0EE-2B7967938C34}"/>
          </ac:spMkLst>
        </pc:spChg>
      </pc:sldChg>
      <pc:sldChg chg="modSp mod">
        <pc:chgData name="Francesco Bellotti" userId="f453232b-f87d-4756-9d8b-c09bc835cc42" providerId="ADAL" clId="{C7FEA3FA-4936-41E1-B7FA-CA082069F7F7}" dt="2026-10-10T10:00:06.384" v="7977" actId="20577"/>
        <pc:sldMkLst>
          <pc:docMk/>
          <pc:sldMk cId="2229856518" sldId="323"/>
        </pc:sldMkLst>
        <pc:spChg chg="mod">
          <ac:chgData name="Francesco Bellotti" userId="f453232b-f87d-4756-9d8b-c09bc835cc42" providerId="ADAL" clId="{C7FEA3FA-4936-41E1-B7FA-CA082069F7F7}" dt="2026-10-10T10:00:06.384" v="7977" actId="20577"/>
          <ac:spMkLst>
            <pc:docMk/>
            <pc:sldMk cId="2229856518" sldId="323"/>
            <ac:spMk id="2" creationId="{3DD7E02C-7C5B-9E60-F168-418A927D9D95}"/>
          </ac:spMkLst>
        </pc:spChg>
      </pc:sldChg>
      <pc:sldChg chg="delSp modSp mod">
        <pc:chgData name="Francesco Bellotti" userId="f453232b-f87d-4756-9d8b-c09bc835cc42" providerId="ADAL" clId="{C7FEA3FA-4936-41E1-B7FA-CA082069F7F7}" dt="2026-10-07T06:26:39.666" v="6726" actId="13926"/>
        <pc:sldMkLst>
          <pc:docMk/>
          <pc:sldMk cId="697788154" sldId="324"/>
        </pc:sldMkLst>
        <pc:spChg chg="mod">
          <ac:chgData name="Francesco Bellotti" userId="f453232b-f87d-4756-9d8b-c09bc835cc42" providerId="ADAL" clId="{C7FEA3FA-4936-41E1-B7FA-CA082069F7F7}" dt="2026-10-07T06:26:39.666" v="6726" actId="13926"/>
          <ac:spMkLst>
            <pc:docMk/>
            <pc:sldMk cId="697788154" sldId="324"/>
            <ac:spMk id="2" creationId="{CB9D6281-ABAE-E0EB-380F-2F7EDB8CAB15}"/>
          </ac:spMkLst>
        </pc:spChg>
      </pc:sldChg>
      <pc:sldChg chg="modSp mod">
        <pc:chgData name="Francesco Bellotti" userId="f453232b-f87d-4756-9d8b-c09bc835cc42" providerId="ADAL" clId="{C7FEA3FA-4936-41E1-B7FA-CA082069F7F7}" dt="2026-10-10T12:29:54.641" v="8062" actId="20577"/>
        <pc:sldMkLst>
          <pc:docMk/>
          <pc:sldMk cId="3660563507" sldId="325"/>
        </pc:sldMkLst>
        <pc:spChg chg="mod">
          <ac:chgData name="Francesco Bellotti" userId="f453232b-f87d-4756-9d8b-c09bc835cc42" providerId="ADAL" clId="{C7FEA3FA-4936-41E1-B7FA-CA082069F7F7}" dt="2026-10-10T12:29:54.641" v="8062" actId="20577"/>
          <ac:spMkLst>
            <pc:docMk/>
            <pc:sldMk cId="3660563507" sldId="325"/>
            <ac:spMk id="4" creationId="{E5496631-F91E-D882-928D-A206E574B3D3}"/>
          </ac:spMkLst>
        </pc:spChg>
      </pc:sldChg>
      <pc:sldChg chg="modSp mod">
        <pc:chgData name="Francesco Bellotti" userId="f453232b-f87d-4756-9d8b-c09bc835cc42" providerId="ADAL" clId="{C7FEA3FA-4936-41E1-B7FA-CA082069F7F7}" dt="2026-10-07T06:36:07.025" v="6739" actId="13926"/>
        <pc:sldMkLst>
          <pc:docMk/>
          <pc:sldMk cId="2120659926" sldId="327"/>
        </pc:sldMkLst>
        <pc:spChg chg="mod">
          <ac:chgData name="Francesco Bellotti" userId="f453232b-f87d-4756-9d8b-c09bc835cc42" providerId="ADAL" clId="{C7FEA3FA-4936-41E1-B7FA-CA082069F7F7}" dt="2026-10-07T06:36:00.925" v="6737" actId="27636"/>
          <ac:spMkLst>
            <pc:docMk/>
            <pc:sldMk cId="2120659926" sldId="327"/>
            <ac:spMk id="3" creationId="{0DF852EB-1FDE-C5FD-4840-AE9D47FF0CDC}"/>
          </ac:spMkLst>
        </pc:spChg>
        <pc:spChg chg="mod">
          <ac:chgData name="Francesco Bellotti" userId="f453232b-f87d-4756-9d8b-c09bc835cc42" providerId="ADAL" clId="{C7FEA3FA-4936-41E1-B7FA-CA082069F7F7}" dt="2026-10-07T06:36:00.932" v="6738" actId="27636"/>
          <ac:spMkLst>
            <pc:docMk/>
            <pc:sldMk cId="2120659926" sldId="327"/>
            <ac:spMk id="4" creationId="{553BAFCD-4D42-57E4-F7AF-EC8EFEB5E70B}"/>
          </ac:spMkLst>
        </pc:spChg>
        <pc:spChg chg="mod">
          <ac:chgData name="Francesco Bellotti" userId="f453232b-f87d-4756-9d8b-c09bc835cc42" providerId="ADAL" clId="{C7FEA3FA-4936-41E1-B7FA-CA082069F7F7}" dt="2026-10-07T06:36:07.025" v="6739" actId="13926"/>
          <ac:spMkLst>
            <pc:docMk/>
            <pc:sldMk cId="2120659926" sldId="327"/>
            <ac:spMk id="6" creationId="{C43C51EF-E447-B1FB-CE65-5D74E7791061}"/>
          </ac:spMkLst>
        </pc:spChg>
      </pc:sldChg>
      <pc:sldChg chg="modSp mod">
        <pc:chgData name="Francesco Bellotti" userId="f453232b-f87d-4756-9d8b-c09bc835cc42" providerId="ADAL" clId="{C7FEA3FA-4936-41E1-B7FA-CA082069F7F7}" dt="2026-10-07T06:37:10.738" v="6741" actId="13926"/>
        <pc:sldMkLst>
          <pc:docMk/>
          <pc:sldMk cId="1597001309" sldId="328"/>
        </pc:sldMkLst>
        <pc:spChg chg="mod">
          <ac:chgData name="Francesco Bellotti" userId="f453232b-f87d-4756-9d8b-c09bc835cc42" providerId="ADAL" clId="{C7FEA3FA-4936-41E1-B7FA-CA082069F7F7}" dt="2026-10-07T06:37:10.738" v="6741" actId="13926"/>
          <ac:spMkLst>
            <pc:docMk/>
            <pc:sldMk cId="1597001309" sldId="328"/>
            <ac:spMk id="2" creationId="{3EABB787-DD6F-2EF4-4F94-07A38774CC25}"/>
          </ac:spMkLst>
        </pc:spChg>
        <pc:spChg chg="mod">
          <ac:chgData name="Francesco Bellotti" userId="f453232b-f87d-4756-9d8b-c09bc835cc42" providerId="ADAL" clId="{C7FEA3FA-4936-41E1-B7FA-CA082069F7F7}" dt="2026-10-07T06:36:52.848" v="6740" actId="13926"/>
          <ac:spMkLst>
            <pc:docMk/>
            <pc:sldMk cId="1597001309" sldId="328"/>
            <ac:spMk id="3" creationId="{48FC9461-C945-D12B-D838-B7FD9B446535}"/>
          </ac:spMkLst>
        </pc:spChg>
      </pc:sldChg>
      <pc:sldChg chg="modSp mod">
        <pc:chgData name="Francesco Bellotti" userId="f453232b-f87d-4756-9d8b-c09bc835cc42" providerId="ADAL" clId="{C7FEA3FA-4936-41E1-B7FA-CA082069F7F7}" dt="2026-10-10T12:35:17.844" v="8064" actId="113"/>
        <pc:sldMkLst>
          <pc:docMk/>
          <pc:sldMk cId="2283685381" sldId="329"/>
        </pc:sldMkLst>
        <pc:spChg chg="mod">
          <ac:chgData name="Francesco Bellotti" userId="f453232b-f87d-4756-9d8b-c09bc835cc42" providerId="ADAL" clId="{C7FEA3FA-4936-41E1-B7FA-CA082069F7F7}" dt="2026-10-07T06:37:54.563" v="6746" actId="27636"/>
          <ac:spMkLst>
            <pc:docMk/>
            <pc:sldMk cId="2283685381" sldId="329"/>
            <ac:spMk id="3" creationId="{8144638D-CB99-882C-C0ED-408530E1E129}"/>
          </ac:spMkLst>
        </pc:spChg>
        <pc:spChg chg="mod">
          <ac:chgData name="Francesco Bellotti" userId="f453232b-f87d-4756-9d8b-c09bc835cc42" providerId="ADAL" clId="{C7FEA3FA-4936-41E1-B7FA-CA082069F7F7}" dt="2026-10-10T12:35:17.844" v="8064" actId="113"/>
          <ac:spMkLst>
            <pc:docMk/>
            <pc:sldMk cId="2283685381" sldId="329"/>
            <ac:spMk id="4" creationId="{D292038F-52C9-2B57-F37F-108C6119BF5A}"/>
          </ac:spMkLst>
        </pc:spChg>
      </pc:sldChg>
      <pc:sldChg chg="modSp mod">
        <pc:chgData name="Francesco Bellotti" userId="f453232b-f87d-4756-9d8b-c09bc835cc42" providerId="ADAL" clId="{C7FEA3FA-4936-41E1-B7FA-CA082069F7F7}" dt="2026-10-07T06:40:59.907" v="6799" actId="113"/>
        <pc:sldMkLst>
          <pc:docMk/>
          <pc:sldMk cId="3864299925" sldId="331"/>
        </pc:sldMkLst>
        <pc:spChg chg="mod">
          <ac:chgData name="Francesco Bellotti" userId="f453232b-f87d-4756-9d8b-c09bc835cc42" providerId="ADAL" clId="{C7FEA3FA-4936-41E1-B7FA-CA082069F7F7}" dt="2026-10-07T06:40:59.907" v="6799" actId="113"/>
          <ac:spMkLst>
            <pc:docMk/>
            <pc:sldMk cId="3864299925" sldId="331"/>
            <ac:spMk id="3" creationId="{89A3B1FA-0F52-FE22-8391-0FFCD74EC7B1}"/>
          </ac:spMkLst>
        </pc:spChg>
      </pc:sldChg>
      <pc:sldChg chg="modSp mod">
        <pc:chgData name="Francesco Bellotti" userId="f453232b-f87d-4756-9d8b-c09bc835cc42" providerId="ADAL" clId="{C7FEA3FA-4936-41E1-B7FA-CA082069F7F7}" dt="2026-10-10T12:46:05.003" v="8141" actId="27636"/>
        <pc:sldMkLst>
          <pc:docMk/>
          <pc:sldMk cId="2737591008" sldId="332"/>
        </pc:sldMkLst>
        <pc:spChg chg="mod">
          <ac:chgData name="Francesco Bellotti" userId="f453232b-f87d-4756-9d8b-c09bc835cc42" providerId="ADAL" clId="{C7FEA3FA-4936-41E1-B7FA-CA082069F7F7}" dt="2026-10-10T12:46:05.003" v="8141" actId="27636"/>
          <ac:spMkLst>
            <pc:docMk/>
            <pc:sldMk cId="2737591008" sldId="332"/>
            <ac:spMk id="2" creationId="{E8E43A33-14CD-61A5-416D-40D7752DDBE7}"/>
          </ac:spMkLst>
        </pc:spChg>
        <pc:spChg chg="mod">
          <ac:chgData name="Francesco Bellotti" userId="f453232b-f87d-4756-9d8b-c09bc835cc42" providerId="ADAL" clId="{C7FEA3FA-4936-41E1-B7FA-CA082069F7F7}" dt="2026-10-07T06:42:52.080" v="6822" actId="113"/>
          <ac:spMkLst>
            <pc:docMk/>
            <pc:sldMk cId="2737591008" sldId="332"/>
            <ac:spMk id="3" creationId="{D1E94EF9-9BDA-2590-C56F-E0829A5B7B55}"/>
          </ac:spMkLst>
        </pc:spChg>
      </pc:sldChg>
      <pc:sldChg chg="modSp mod">
        <pc:chgData name="Francesco Bellotti" userId="f453232b-f87d-4756-9d8b-c09bc835cc42" providerId="ADAL" clId="{C7FEA3FA-4936-41E1-B7FA-CA082069F7F7}" dt="2026-10-07T06:45:41.564" v="6834" actId="20577"/>
        <pc:sldMkLst>
          <pc:docMk/>
          <pc:sldMk cId="4033642218" sldId="333"/>
        </pc:sldMkLst>
        <pc:spChg chg="mod">
          <ac:chgData name="Francesco Bellotti" userId="f453232b-f87d-4756-9d8b-c09bc835cc42" providerId="ADAL" clId="{C7FEA3FA-4936-41E1-B7FA-CA082069F7F7}" dt="2026-10-07T06:45:41.564" v="6834" actId="20577"/>
          <ac:spMkLst>
            <pc:docMk/>
            <pc:sldMk cId="4033642218" sldId="333"/>
            <ac:spMk id="2" creationId="{D2096C06-3D3C-FA9B-16D7-D96BCB2CDB51}"/>
          </ac:spMkLst>
        </pc:spChg>
      </pc:sldChg>
      <pc:sldChg chg="modSp mod">
        <pc:chgData name="Francesco Bellotti" userId="f453232b-f87d-4756-9d8b-c09bc835cc42" providerId="ADAL" clId="{C7FEA3FA-4936-41E1-B7FA-CA082069F7F7}" dt="2026-10-07T06:49:40.648" v="6838" actId="13926"/>
        <pc:sldMkLst>
          <pc:docMk/>
          <pc:sldMk cId="1467709667" sldId="334"/>
        </pc:sldMkLst>
        <pc:spChg chg="mod">
          <ac:chgData name="Francesco Bellotti" userId="f453232b-f87d-4756-9d8b-c09bc835cc42" providerId="ADAL" clId="{C7FEA3FA-4936-41E1-B7FA-CA082069F7F7}" dt="2026-10-07T06:48:52.186" v="6837" actId="13926"/>
          <ac:spMkLst>
            <pc:docMk/>
            <pc:sldMk cId="1467709667" sldId="334"/>
            <ac:spMk id="3" creationId="{BC9FD407-AF7B-21EF-16C6-4E9D28CB46E1}"/>
          </ac:spMkLst>
        </pc:spChg>
        <pc:spChg chg="mod">
          <ac:chgData name="Francesco Bellotti" userId="f453232b-f87d-4756-9d8b-c09bc835cc42" providerId="ADAL" clId="{C7FEA3FA-4936-41E1-B7FA-CA082069F7F7}" dt="2026-10-07T06:49:40.648" v="6838" actId="13926"/>
          <ac:spMkLst>
            <pc:docMk/>
            <pc:sldMk cId="1467709667" sldId="334"/>
            <ac:spMk id="4" creationId="{CB384348-E243-18F0-DF45-D4AF3A4F46A2}"/>
          </ac:spMkLst>
        </pc:spChg>
        <pc:spChg chg="mod">
          <ac:chgData name="Francesco Bellotti" userId="f453232b-f87d-4756-9d8b-c09bc835cc42" providerId="ADAL" clId="{C7FEA3FA-4936-41E1-B7FA-CA082069F7F7}" dt="2026-10-07T06:48:32.373" v="6836" actId="13926"/>
          <ac:spMkLst>
            <pc:docMk/>
            <pc:sldMk cId="1467709667" sldId="334"/>
            <ac:spMk id="6" creationId="{D8C4E32F-1A36-304A-0EB1-996BF3FC52F8}"/>
          </ac:spMkLst>
        </pc:spChg>
      </pc:sldChg>
      <pc:sldChg chg="modSp mod">
        <pc:chgData name="Francesco Bellotti" userId="f453232b-f87d-4756-9d8b-c09bc835cc42" providerId="ADAL" clId="{C7FEA3FA-4936-41E1-B7FA-CA082069F7F7}" dt="2026-10-07T06:52:09.089" v="6844" actId="113"/>
        <pc:sldMkLst>
          <pc:docMk/>
          <pc:sldMk cId="601889228" sldId="335"/>
        </pc:sldMkLst>
        <pc:spChg chg="mod">
          <ac:chgData name="Francesco Bellotti" userId="f453232b-f87d-4756-9d8b-c09bc835cc42" providerId="ADAL" clId="{C7FEA3FA-4936-41E1-B7FA-CA082069F7F7}" dt="2026-10-07T06:51:49.260" v="6841" actId="13926"/>
          <ac:spMkLst>
            <pc:docMk/>
            <pc:sldMk cId="601889228" sldId="335"/>
            <ac:spMk id="2" creationId="{F68044E9-ABAD-495D-292F-BD063C19626F}"/>
          </ac:spMkLst>
        </pc:spChg>
        <pc:spChg chg="mod">
          <ac:chgData name="Francesco Bellotti" userId="f453232b-f87d-4756-9d8b-c09bc835cc42" providerId="ADAL" clId="{C7FEA3FA-4936-41E1-B7FA-CA082069F7F7}" dt="2026-10-07T06:52:09.089" v="6844" actId="113"/>
          <ac:spMkLst>
            <pc:docMk/>
            <pc:sldMk cId="601889228" sldId="335"/>
            <ac:spMk id="4" creationId="{56CDD897-A342-345F-D001-9938AEE55A6C}"/>
          </ac:spMkLst>
        </pc:spChg>
      </pc:sldChg>
      <pc:sldChg chg="modSp mod">
        <pc:chgData name="Francesco Bellotti" userId="f453232b-f87d-4756-9d8b-c09bc835cc42" providerId="ADAL" clId="{C7FEA3FA-4936-41E1-B7FA-CA082069F7F7}" dt="2026-10-07T06:52:45.078" v="6849" actId="113"/>
        <pc:sldMkLst>
          <pc:docMk/>
          <pc:sldMk cId="1119020416" sldId="336"/>
        </pc:sldMkLst>
        <pc:spChg chg="mod">
          <ac:chgData name="Francesco Bellotti" userId="f453232b-f87d-4756-9d8b-c09bc835cc42" providerId="ADAL" clId="{C7FEA3FA-4936-41E1-B7FA-CA082069F7F7}" dt="2026-10-07T06:52:23.356" v="6846" actId="13926"/>
          <ac:spMkLst>
            <pc:docMk/>
            <pc:sldMk cId="1119020416" sldId="336"/>
            <ac:spMk id="3" creationId="{DC4ED0D8-6C36-478D-5573-79511973D7AF}"/>
          </ac:spMkLst>
        </pc:spChg>
        <pc:spChg chg="mod">
          <ac:chgData name="Francesco Bellotti" userId="f453232b-f87d-4756-9d8b-c09bc835cc42" providerId="ADAL" clId="{C7FEA3FA-4936-41E1-B7FA-CA082069F7F7}" dt="2026-10-07T06:52:45.078" v="6849" actId="113"/>
          <ac:spMkLst>
            <pc:docMk/>
            <pc:sldMk cId="1119020416" sldId="336"/>
            <ac:spMk id="4" creationId="{8F1DED26-45B9-8DD9-7DEB-EFF0E9BE8235}"/>
          </ac:spMkLst>
        </pc:spChg>
      </pc:sldChg>
      <pc:sldChg chg="modSp mod">
        <pc:chgData name="Francesco Bellotti" userId="f453232b-f87d-4756-9d8b-c09bc835cc42" providerId="ADAL" clId="{C7FEA3FA-4936-41E1-B7FA-CA082069F7F7}" dt="2026-10-07T06:55:51.897" v="6859" actId="13926"/>
        <pc:sldMkLst>
          <pc:docMk/>
          <pc:sldMk cId="1382198095" sldId="338"/>
        </pc:sldMkLst>
        <pc:spChg chg="mod">
          <ac:chgData name="Francesco Bellotti" userId="f453232b-f87d-4756-9d8b-c09bc835cc42" providerId="ADAL" clId="{C7FEA3FA-4936-41E1-B7FA-CA082069F7F7}" dt="2026-10-07T06:55:51.897" v="6859" actId="13926"/>
          <ac:spMkLst>
            <pc:docMk/>
            <pc:sldMk cId="1382198095" sldId="338"/>
            <ac:spMk id="3" creationId="{420B147F-7C01-886D-F7D3-C930D353B86B}"/>
          </ac:spMkLst>
        </pc:spChg>
      </pc:sldChg>
      <pc:sldChg chg="modSp mod">
        <pc:chgData name="Francesco Bellotti" userId="f453232b-f87d-4756-9d8b-c09bc835cc42" providerId="ADAL" clId="{C7FEA3FA-4936-41E1-B7FA-CA082069F7F7}" dt="2026-10-07T06:57:48.014" v="6874" actId="13926"/>
        <pc:sldMkLst>
          <pc:docMk/>
          <pc:sldMk cId="2152776416" sldId="339"/>
        </pc:sldMkLst>
        <pc:spChg chg="mod">
          <ac:chgData name="Francesco Bellotti" userId="f453232b-f87d-4756-9d8b-c09bc835cc42" providerId="ADAL" clId="{C7FEA3FA-4936-41E1-B7FA-CA082069F7F7}" dt="2026-10-07T06:57:48.014" v="6874" actId="13926"/>
          <ac:spMkLst>
            <pc:docMk/>
            <pc:sldMk cId="2152776416" sldId="339"/>
            <ac:spMk id="6" creationId="{242AF5CA-04FD-9167-57A9-92C201A0F376}"/>
          </ac:spMkLst>
        </pc:spChg>
      </pc:sldChg>
      <pc:sldChg chg="modSp mod">
        <pc:chgData name="Francesco Bellotti" userId="f453232b-f87d-4756-9d8b-c09bc835cc42" providerId="ADAL" clId="{C7FEA3FA-4936-41E1-B7FA-CA082069F7F7}" dt="2026-10-07T06:59:47.386" v="6917" actId="13926"/>
        <pc:sldMkLst>
          <pc:docMk/>
          <pc:sldMk cId="2863979447" sldId="340"/>
        </pc:sldMkLst>
        <pc:spChg chg="mod">
          <ac:chgData name="Francesco Bellotti" userId="f453232b-f87d-4756-9d8b-c09bc835cc42" providerId="ADAL" clId="{C7FEA3FA-4936-41E1-B7FA-CA082069F7F7}" dt="2026-10-07T06:59:38.035" v="6916" actId="20577"/>
          <ac:spMkLst>
            <pc:docMk/>
            <pc:sldMk cId="2863979447" sldId="340"/>
            <ac:spMk id="2" creationId="{CB55A08F-751D-F316-F3E7-33164CD2EC57}"/>
          </ac:spMkLst>
        </pc:spChg>
        <pc:spChg chg="mod">
          <ac:chgData name="Francesco Bellotti" userId="f453232b-f87d-4756-9d8b-c09bc835cc42" providerId="ADAL" clId="{C7FEA3FA-4936-41E1-B7FA-CA082069F7F7}" dt="2026-10-07T06:59:47.386" v="6917" actId="13926"/>
          <ac:spMkLst>
            <pc:docMk/>
            <pc:sldMk cId="2863979447" sldId="340"/>
            <ac:spMk id="3" creationId="{3FD44B1E-CCA6-FCE2-7CB0-56B617A93269}"/>
          </ac:spMkLst>
        </pc:spChg>
      </pc:sldChg>
      <pc:sldChg chg="modSp mod">
        <pc:chgData name="Francesco Bellotti" userId="f453232b-f87d-4756-9d8b-c09bc835cc42" providerId="ADAL" clId="{C7FEA3FA-4936-41E1-B7FA-CA082069F7F7}" dt="2026-10-07T06:20:05.402" v="6701" actId="13926"/>
        <pc:sldMkLst>
          <pc:docMk/>
          <pc:sldMk cId="243148251" sldId="344"/>
        </pc:sldMkLst>
        <pc:spChg chg="mod">
          <ac:chgData name="Francesco Bellotti" userId="f453232b-f87d-4756-9d8b-c09bc835cc42" providerId="ADAL" clId="{C7FEA3FA-4936-41E1-B7FA-CA082069F7F7}" dt="2026-10-07T06:20:05.402" v="6701" actId="13926"/>
          <ac:spMkLst>
            <pc:docMk/>
            <pc:sldMk cId="243148251" sldId="344"/>
            <ac:spMk id="3" creationId="{32318DB9-DCA8-4251-8277-C1D1A909F375}"/>
          </ac:spMkLst>
        </pc:spChg>
      </pc:sldChg>
      <pc:sldChg chg="modSp mod">
        <pc:chgData name="Francesco Bellotti" userId="f453232b-f87d-4756-9d8b-c09bc835cc42" providerId="ADAL" clId="{C7FEA3FA-4936-41E1-B7FA-CA082069F7F7}" dt="2026-10-07T06:23:35.561" v="6713" actId="13926"/>
        <pc:sldMkLst>
          <pc:docMk/>
          <pc:sldMk cId="3773352420" sldId="346"/>
        </pc:sldMkLst>
        <pc:spChg chg="mod">
          <ac:chgData name="Francesco Bellotti" userId="f453232b-f87d-4756-9d8b-c09bc835cc42" providerId="ADAL" clId="{C7FEA3FA-4936-41E1-B7FA-CA082069F7F7}" dt="2026-10-07T06:23:35.561" v="6713" actId="13926"/>
          <ac:spMkLst>
            <pc:docMk/>
            <pc:sldMk cId="3773352420" sldId="346"/>
            <ac:spMk id="3" creationId="{849D5CEC-2CC8-B3F7-76B5-C0548B94F923}"/>
          </ac:spMkLst>
        </pc:spChg>
      </pc:sldChg>
      <pc:sldChg chg="modSp mod">
        <pc:chgData name="Francesco Bellotti" userId="f453232b-f87d-4756-9d8b-c09bc835cc42" providerId="ADAL" clId="{C7FEA3FA-4936-41E1-B7FA-CA082069F7F7}" dt="2026-10-07T06:30:20.004" v="6731" actId="13926"/>
        <pc:sldMkLst>
          <pc:docMk/>
          <pc:sldMk cId="1881384902" sldId="347"/>
        </pc:sldMkLst>
        <pc:spChg chg="mod">
          <ac:chgData name="Francesco Bellotti" userId="f453232b-f87d-4756-9d8b-c09bc835cc42" providerId="ADAL" clId="{C7FEA3FA-4936-41E1-B7FA-CA082069F7F7}" dt="2026-10-07T06:30:20.004" v="6731" actId="13926"/>
          <ac:spMkLst>
            <pc:docMk/>
            <pc:sldMk cId="1881384902" sldId="347"/>
            <ac:spMk id="6" creationId="{816AE70A-0FD3-B2BB-438E-F08B798CD0DE}"/>
          </ac:spMkLst>
        </pc:spChg>
      </pc:sldChg>
      <pc:sldChg chg="modSp mod">
        <pc:chgData name="Francesco Bellotti" userId="f453232b-f87d-4756-9d8b-c09bc835cc42" providerId="ADAL" clId="{C7FEA3FA-4936-41E1-B7FA-CA082069F7F7}" dt="2026-10-07T06:37:27.935" v="6743" actId="113"/>
        <pc:sldMkLst>
          <pc:docMk/>
          <pc:sldMk cId="2704023557" sldId="348"/>
        </pc:sldMkLst>
        <pc:spChg chg="mod">
          <ac:chgData name="Francesco Bellotti" userId="f453232b-f87d-4756-9d8b-c09bc835cc42" providerId="ADAL" clId="{C7FEA3FA-4936-41E1-B7FA-CA082069F7F7}" dt="2026-10-07T06:37:27.935" v="6743" actId="113"/>
          <ac:spMkLst>
            <pc:docMk/>
            <pc:sldMk cId="2704023557" sldId="348"/>
            <ac:spMk id="3" creationId="{1569F3D7-4239-7AC7-B6D8-EDB62C7C9288}"/>
          </ac:spMkLst>
        </pc:spChg>
      </pc:sldChg>
      <pc:sldChg chg="modSp mod">
        <pc:chgData name="Francesco Bellotti" userId="f453232b-f87d-4756-9d8b-c09bc835cc42" providerId="ADAL" clId="{C7FEA3FA-4936-41E1-B7FA-CA082069F7F7}" dt="2026-10-07T06:41:26.502" v="6817" actId="20577"/>
        <pc:sldMkLst>
          <pc:docMk/>
          <pc:sldMk cId="1510785851" sldId="350"/>
        </pc:sldMkLst>
        <pc:spChg chg="mod">
          <ac:chgData name="Francesco Bellotti" userId="f453232b-f87d-4756-9d8b-c09bc835cc42" providerId="ADAL" clId="{C7FEA3FA-4936-41E1-B7FA-CA082069F7F7}" dt="2026-10-07T06:41:26.502" v="6817" actId="20577"/>
          <ac:spMkLst>
            <pc:docMk/>
            <pc:sldMk cId="1510785851" sldId="350"/>
            <ac:spMk id="3" creationId="{EF351A63-587D-4726-72C1-9742CF462983}"/>
          </ac:spMkLst>
        </pc:spChg>
      </pc:sldChg>
      <pc:sldChg chg="modSp mod">
        <pc:chgData name="Francesco Bellotti" userId="f453232b-f87d-4756-9d8b-c09bc835cc42" providerId="ADAL" clId="{C7FEA3FA-4936-41E1-B7FA-CA082069F7F7}" dt="2026-10-10T12:50:48.926" v="8288" actId="20577"/>
        <pc:sldMkLst>
          <pc:docMk/>
          <pc:sldMk cId="3273551048" sldId="351"/>
        </pc:sldMkLst>
        <pc:spChg chg="mod">
          <ac:chgData name="Francesco Bellotti" userId="f453232b-f87d-4756-9d8b-c09bc835cc42" providerId="ADAL" clId="{C7FEA3FA-4936-41E1-B7FA-CA082069F7F7}" dt="2026-10-10T12:50:48.926" v="8288" actId="20577"/>
          <ac:spMkLst>
            <pc:docMk/>
            <pc:sldMk cId="3273551048" sldId="351"/>
            <ac:spMk id="3" creationId="{5D69A0D2-9827-5F5F-0044-C653406AAADF}"/>
          </ac:spMkLst>
        </pc:spChg>
      </pc:sldChg>
      <pc:sldChg chg="modSp mod">
        <pc:chgData name="Francesco Bellotti" userId="f453232b-f87d-4756-9d8b-c09bc835cc42" providerId="ADAL" clId="{C7FEA3FA-4936-41E1-B7FA-CA082069F7F7}" dt="2026-10-07T06:53:59.345" v="6854" actId="113"/>
        <pc:sldMkLst>
          <pc:docMk/>
          <pc:sldMk cId="329853352" sldId="353"/>
        </pc:sldMkLst>
        <pc:spChg chg="mod">
          <ac:chgData name="Francesco Bellotti" userId="f453232b-f87d-4756-9d8b-c09bc835cc42" providerId="ADAL" clId="{C7FEA3FA-4936-41E1-B7FA-CA082069F7F7}" dt="2026-10-07T06:53:59.345" v="6854" actId="113"/>
          <ac:spMkLst>
            <pc:docMk/>
            <pc:sldMk cId="329853352" sldId="353"/>
            <ac:spMk id="3" creationId="{6D8ABC89-930A-ADC1-9698-ACD76CDC47DB}"/>
          </ac:spMkLst>
        </pc:spChg>
      </pc:sldChg>
      <pc:sldChg chg="delSp modSp mod">
        <pc:chgData name="Francesco Bellotti" userId="f453232b-f87d-4756-9d8b-c09bc835cc42" providerId="ADAL" clId="{C7FEA3FA-4936-41E1-B7FA-CA082069F7F7}" dt="2026-10-07T07:01:50.111" v="6938" actId="478"/>
        <pc:sldMkLst>
          <pc:docMk/>
          <pc:sldMk cId="0" sldId="355"/>
        </pc:sldMkLst>
        <pc:spChg chg="mod">
          <ac:chgData name="Francesco Bellotti" userId="f453232b-f87d-4756-9d8b-c09bc835cc42" providerId="ADAL" clId="{C7FEA3FA-4936-41E1-B7FA-CA082069F7F7}" dt="2026-10-07T07:01:13.118" v="6929" actId="13926"/>
          <ac:spMkLst>
            <pc:docMk/>
            <pc:sldMk cId="0" sldId="355"/>
            <ac:spMk id="5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07:01:39.944" v="6936" actId="1076"/>
          <ac:spMkLst>
            <pc:docMk/>
            <pc:sldMk cId="0" sldId="355"/>
            <ac:spMk id="27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07:01:45.026" v="6937" actId="1076"/>
          <ac:spMkLst>
            <pc:docMk/>
            <pc:sldMk cId="0" sldId="355"/>
            <ac:spMk id="28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07:01:29.625" v="6930" actId="1076"/>
          <ac:spMkLst>
            <pc:docMk/>
            <pc:sldMk cId="0" sldId="355"/>
            <ac:spMk id="30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07:00:59.950" v="6928" actId="13926"/>
          <ac:spMkLst>
            <pc:docMk/>
            <pc:sldMk cId="0" sldId="355"/>
            <ac:spMk id="32" creationId="{00000000-0000-0000-0000-000000000000}"/>
          </ac:spMkLst>
        </pc:spChg>
      </pc:sldChg>
      <pc:sldChg chg="addSp modSp mod">
        <pc:chgData name="Francesco Bellotti" userId="f453232b-f87d-4756-9d8b-c09bc835cc42" providerId="ADAL" clId="{C7FEA3FA-4936-41E1-B7FA-CA082069F7F7}" dt="2026-10-07T11:20:26.771" v="6961" actId="1076"/>
        <pc:sldMkLst>
          <pc:docMk/>
          <pc:sldMk cId="0" sldId="356"/>
        </pc:sldMkLst>
        <pc:spChg chg="mod">
          <ac:chgData name="Francesco Bellotti" userId="f453232b-f87d-4756-9d8b-c09bc835cc42" providerId="ADAL" clId="{C7FEA3FA-4936-41E1-B7FA-CA082069F7F7}" dt="2026-10-07T11:17:39.089" v="6941" actId="13926"/>
          <ac:spMkLst>
            <pc:docMk/>
            <pc:sldMk cId="0" sldId="356"/>
            <ac:spMk id="4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11:17:56.523" v="6943" actId="14100"/>
          <ac:spMkLst>
            <pc:docMk/>
            <pc:sldMk cId="0" sldId="356"/>
            <ac:spMk id="51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11:18:14.143" v="6946" actId="14100"/>
          <ac:spMkLst>
            <pc:docMk/>
            <pc:sldMk cId="0" sldId="356"/>
            <ac:spMk id="57" creationId="{00000000-0000-0000-0000-000000000000}"/>
          </ac:spMkLst>
        </pc:spChg>
        <pc:spChg chg="add mod">
          <ac:chgData name="Francesco Bellotti" userId="f453232b-f87d-4756-9d8b-c09bc835cc42" providerId="ADAL" clId="{C7FEA3FA-4936-41E1-B7FA-CA082069F7F7}" dt="2026-10-07T11:18:37.473" v="6949" actId="14100"/>
          <ac:spMkLst>
            <pc:docMk/>
            <pc:sldMk cId="0" sldId="356"/>
            <ac:spMk id="66" creationId="{8BF3558E-BBC2-24B9-86CA-0D117E9CC787}"/>
          </ac:spMkLst>
        </pc:spChg>
        <pc:spChg chg="add mod">
          <ac:chgData name="Francesco Bellotti" userId="f453232b-f87d-4756-9d8b-c09bc835cc42" providerId="ADAL" clId="{C7FEA3FA-4936-41E1-B7FA-CA082069F7F7}" dt="2026-10-07T11:20:26.771" v="6961" actId="1076"/>
          <ac:spMkLst>
            <pc:docMk/>
            <pc:sldMk cId="0" sldId="356"/>
            <ac:spMk id="68" creationId="{379BEC87-9638-8F74-0087-839D6F7478C8}"/>
          </ac:spMkLst>
        </pc:spChg>
      </pc:sldChg>
      <pc:sldChg chg="addSp delSp modSp mod">
        <pc:chgData name="Francesco Bellotti" userId="f453232b-f87d-4756-9d8b-c09bc835cc42" providerId="ADAL" clId="{C7FEA3FA-4936-41E1-B7FA-CA082069F7F7}" dt="2026-10-10T21:56:12.081" v="8337" actId="27636"/>
        <pc:sldMkLst>
          <pc:docMk/>
          <pc:sldMk cId="0" sldId="359"/>
        </pc:sldMkLst>
        <pc:spChg chg="mod">
          <ac:chgData name="Francesco Bellotti" userId="f453232b-f87d-4756-9d8b-c09bc835cc42" providerId="ADAL" clId="{C7FEA3FA-4936-41E1-B7FA-CA082069F7F7}" dt="2026-10-10T21:55:36.213" v="8330" actId="1076"/>
          <ac:spMkLst>
            <pc:docMk/>
            <pc:sldMk cId="0" sldId="359"/>
            <ac:spMk id="8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10T21:54:50.308" v="8326" actId="1076"/>
          <ac:spMkLst>
            <pc:docMk/>
            <pc:sldMk cId="0" sldId="359"/>
            <ac:spMk id="13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11:29:17.084" v="6994" actId="1076"/>
          <ac:spMkLst>
            <pc:docMk/>
            <pc:sldMk cId="0" sldId="359"/>
            <ac:spMk id="14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10T21:56:12.081" v="8337" actId="27636"/>
          <ac:spMkLst>
            <pc:docMk/>
            <pc:sldMk cId="0" sldId="359"/>
            <ac:spMk id="15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10T21:55:07.286" v="8327"/>
          <ac:spMkLst>
            <pc:docMk/>
            <pc:sldMk cId="0" sldId="359"/>
            <ac:spMk id="17" creationId="{00000000-0000-0000-0000-000000000000}"/>
          </ac:spMkLst>
        </pc:spChg>
        <pc:spChg chg="add del">
          <ac:chgData name="Francesco Bellotti" userId="f453232b-f87d-4756-9d8b-c09bc835cc42" providerId="ADAL" clId="{C7FEA3FA-4936-41E1-B7FA-CA082069F7F7}" dt="2026-10-10T21:56:02.471" v="8333" actId="478"/>
          <ac:spMkLst>
            <pc:docMk/>
            <pc:sldMk cId="0" sldId="359"/>
            <ac:spMk id="19" creationId="{A29E87EC-A47C-7532-3911-F56200FB1838}"/>
          </ac:spMkLst>
        </pc:spChg>
      </pc:sldChg>
      <pc:sldChg chg="modSp mod">
        <pc:chgData name="Francesco Bellotti" userId="f453232b-f87d-4756-9d8b-c09bc835cc42" providerId="ADAL" clId="{C7FEA3FA-4936-41E1-B7FA-CA082069F7F7}" dt="2026-10-10T21:54:05.079" v="8321" actId="207"/>
        <pc:sldMkLst>
          <pc:docMk/>
          <pc:sldMk cId="0" sldId="360"/>
        </pc:sldMkLst>
        <pc:spChg chg="mod">
          <ac:chgData name="Francesco Bellotti" userId="f453232b-f87d-4756-9d8b-c09bc835cc42" providerId="ADAL" clId="{C7FEA3FA-4936-41E1-B7FA-CA082069F7F7}" dt="2026-10-07T11:30:02.697" v="6997" actId="13926"/>
          <ac:spMkLst>
            <pc:docMk/>
            <pc:sldMk cId="0" sldId="360"/>
            <ac:spMk id="4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11:31:01.474" v="6998" actId="13926"/>
          <ac:spMkLst>
            <pc:docMk/>
            <pc:sldMk cId="0" sldId="360"/>
            <ac:spMk id="5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10T21:53:37.071" v="8316" actId="207"/>
          <ac:spMkLst>
            <pc:docMk/>
            <pc:sldMk cId="0" sldId="360"/>
            <ac:spMk id="11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10T21:53:46.189" v="8317" actId="207"/>
          <ac:spMkLst>
            <pc:docMk/>
            <pc:sldMk cId="0" sldId="360"/>
            <ac:spMk id="17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10T21:53:55.726" v="8318" actId="207"/>
          <ac:spMkLst>
            <pc:docMk/>
            <pc:sldMk cId="0" sldId="360"/>
            <ac:spMk id="23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10T21:54:05.079" v="8321" actId="207"/>
          <ac:spMkLst>
            <pc:docMk/>
            <pc:sldMk cId="0" sldId="360"/>
            <ac:spMk id="29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10-10T21:59:44.189" v="8346" actId="207"/>
        <pc:sldMkLst>
          <pc:docMk/>
          <pc:sldMk cId="0" sldId="361"/>
        </pc:sldMkLst>
        <pc:spChg chg="mod">
          <ac:chgData name="Francesco Bellotti" userId="f453232b-f87d-4756-9d8b-c09bc835cc42" providerId="ADAL" clId="{C7FEA3FA-4936-41E1-B7FA-CA082069F7F7}" dt="2026-10-07T11:46:02.718" v="7036" actId="13926"/>
          <ac:spMkLst>
            <pc:docMk/>
            <pc:sldMk cId="0" sldId="361"/>
            <ac:spMk id="4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10T21:59:44.189" v="8346" actId="207"/>
          <ac:spMkLst>
            <pc:docMk/>
            <pc:sldMk cId="0" sldId="361"/>
            <ac:spMk id="8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11:44:02.750" v="7034" actId="1076"/>
          <ac:spMkLst>
            <pc:docMk/>
            <pc:sldMk cId="0" sldId="361"/>
            <ac:spMk id="24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10-10T22:00:16.047" v="8351" actId="207"/>
        <pc:sldMkLst>
          <pc:docMk/>
          <pc:sldMk cId="0" sldId="362"/>
        </pc:sldMkLst>
        <pc:spChg chg="mod">
          <ac:chgData name="Francesco Bellotti" userId="f453232b-f87d-4756-9d8b-c09bc835cc42" providerId="ADAL" clId="{C7FEA3FA-4936-41E1-B7FA-CA082069F7F7}" dt="2026-10-07T11:46:07.781" v="7037" actId="13926"/>
          <ac:spMkLst>
            <pc:docMk/>
            <pc:sldMk cId="0" sldId="362"/>
            <ac:spMk id="4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10T21:59:55.271" v="8347" actId="207"/>
          <ac:spMkLst>
            <pc:docMk/>
            <pc:sldMk cId="0" sldId="362"/>
            <ac:spMk id="7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10T22:00:04.586" v="8348" actId="208"/>
          <ac:spMkLst>
            <pc:docMk/>
            <pc:sldMk cId="0" sldId="362"/>
            <ac:spMk id="22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10T22:00:16.047" v="8351" actId="207"/>
          <ac:spMkLst>
            <pc:docMk/>
            <pc:sldMk cId="0" sldId="362"/>
            <ac:spMk id="23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10-07T11:48:54.742" v="7044" actId="403"/>
        <pc:sldMkLst>
          <pc:docMk/>
          <pc:sldMk cId="0" sldId="363"/>
        </pc:sldMkLst>
        <pc:spChg chg="mod">
          <ac:chgData name="Francesco Bellotti" userId="f453232b-f87d-4756-9d8b-c09bc835cc42" providerId="ADAL" clId="{C7FEA3FA-4936-41E1-B7FA-CA082069F7F7}" dt="2026-10-07T11:48:54.742" v="7044" actId="403"/>
          <ac:spMkLst>
            <pc:docMk/>
            <pc:sldMk cId="0" sldId="363"/>
            <ac:spMk id="31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10-07T11:58:57.793" v="7045" actId="113"/>
        <pc:sldMkLst>
          <pc:docMk/>
          <pc:sldMk cId="0" sldId="364"/>
        </pc:sldMkLst>
        <pc:spChg chg="mod">
          <ac:chgData name="Francesco Bellotti" userId="f453232b-f87d-4756-9d8b-c09bc835cc42" providerId="ADAL" clId="{C7FEA3FA-4936-41E1-B7FA-CA082069F7F7}" dt="2026-10-07T11:58:57.793" v="7045" actId="113"/>
          <ac:spMkLst>
            <pc:docMk/>
            <pc:sldMk cId="0" sldId="364"/>
            <ac:spMk id="5" creationId="{00000000-0000-0000-0000-000000000000}"/>
          </ac:spMkLst>
        </pc:spChg>
      </pc:sldChg>
      <pc:sldChg chg="ord">
        <pc:chgData name="Francesco Bellotti" userId="f453232b-f87d-4756-9d8b-c09bc835cc42" providerId="ADAL" clId="{C7FEA3FA-4936-41E1-B7FA-CA082069F7F7}" dt="2026-10-07T12:00:22.020" v="7057"/>
        <pc:sldMkLst>
          <pc:docMk/>
          <pc:sldMk cId="0" sldId="365"/>
        </pc:sldMkLst>
      </pc:sldChg>
      <pc:sldChg chg="modSp mod">
        <pc:chgData name="Francesco Bellotti" userId="f453232b-f87d-4756-9d8b-c09bc835cc42" providerId="ADAL" clId="{C7FEA3FA-4936-41E1-B7FA-CA082069F7F7}" dt="2026-10-07T12:01:04.186" v="7058" actId="113"/>
        <pc:sldMkLst>
          <pc:docMk/>
          <pc:sldMk cId="0" sldId="366"/>
        </pc:sldMkLst>
        <pc:spChg chg="mod">
          <ac:chgData name="Francesco Bellotti" userId="f453232b-f87d-4756-9d8b-c09bc835cc42" providerId="ADAL" clId="{C7FEA3FA-4936-41E1-B7FA-CA082069F7F7}" dt="2026-10-07T12:01:04.186" v="7058" actId="113"/>
          <ac:spMkLst>
            <pc:docMk/>
            <pc:sldMk cId="0" sldId="366"/>
            <ac:spMk id="5" creationId="{00000000-0000-0000-0000-000000000000}"/>
          </ac:spMkLst>
        </pc:spChg>
      </pc:sldChg>
      <pc:sldChg chg="delSp modSp mod">
        <pc:chgData name="Francesco Bellotti" userId="f453232b-f87d-4756-9d8b-c09bc835cc42" providerId="ADAL" clId="{C7FEA3FA-4936-41E1-B7FA-CA082069F7F7}" dt="2026-10-07T12:04:55.140" v="7129" actId="20577"/>
        <pc:sldMkLst>
          <pc:docMk/>
          <pc:sldMk cId="0" sldId="368"/>
        </pc:sldMkLst>
        <pc:spChg chg="mod">
          <ac:chgData name="Francesco Bellotti" userId="f453232b-f87d-4756-9d8b-c09bc835cc42" providerId="ADAL" clId="{C7FEA3FA-4936-41E1-B7FA-CA082069F7F7}" dt="2026-10-07T12:04:55.140" v="7129" actId="20577"/>
          <ac:spMkLst>
            <pc:docMk/>
            <pc:sldMk cId="0" sldId="368"/>
            <ac:spMk id="36" creationId="{B81BA28C-648F-A194-9691-05A0A48DA073}"/>
          </ac:spMkLst>
        </pc:spChg>
      </pc:sldChg>
      <pc:sldChg chg="modSp mod">
        <pc:chgData name="Francesco Bellotti" userId="f453232b-f87d-4756-9d8b-c09bc835cc42" providerId="ADAL" clId="{C7FEA3FA-4936-41E1-B7FA-CA082069F7F7}" dt="2026-10-07T07:02:02.523" v="6939" actId="13926"/>
        <pc:sldMkLst>
          <pc:docMk/>
          <pc:sldMk cId="3026766227" sldId="370"/>
        </pc:sldMkLst>
        <pc:spChg chg="mod">
          <ac:chgData name="Francesco Bellotti" userId="f453232b-f87d-4756-9d8b-c09bc835cc42" providerId="ADAL" clId="{C7FEA3FA-4936-41E1-B7FA-CA082069F7F7}" dt="2026-10-07T07:02:02.523" v="6939" actId="13926"/>
          <ac:spMkLst>
            <pc:docMk/>
            <pc:sldMk cId="3026766227" sldId="370"/>
            <ac:spMk id="3" creationId="{1894FC09-0715-C26E-2208-DCCA39897144}"/>
          </ac:spMkLst>
        </pc:spChg>
      </pc:sldChg>
      <pc:sldChg chg="modSp mod">
        <pc:chgData name="Francesco Bellotti" userId="f453232b-f87d-4756-9d8b-c09bc835cc42" providerId="ADAL" clId="{C7FEA3FA-4936-41E1-B7FA-CA082069F7F7}" dt="2026-10-07T11:19:05.694" v="6952" actId="20577"/>
        <pc:sldMkLst>
          <pc:docMk/>
          <pc:sldMk cId="1581367185" sldId="372"/>
        </pc:sldMkLst>
        <pc:spChg chg="mod">
          <ac:chgData name="Francesco Bellotti" userId="f453232b-f87d-4756-9d8b-c09bc835cc42" providerId="ADAL" clId="{C7FEA3FA-4936-41E1-B7FA-CA082069F7F7}" dt="2026-10-07T11:19:05.694" v="6952" actId="20577"/>
          <ac:spMkLst>
            <pc:docMk/>
            <pc:sldMk cId="1581367185" sldId="372"/>
            <ac:spMk id="4" creationId="{B5A14495-D945-DC2C-356F-AE259A7B632F}"/>
          </ac:spMkLst>
        </pc:spChg>
      </pc:sldChg>
      <pc:sldChg chg="mod modShow">
        <pc:chgData name="Francesco Bellotti" userId="f453232b-f87d-4756-9d8b-c09bc835cc42" providerId="ADAL" clId="{C7FEA3FA-4936-41E1-B7FA-CA082069F7F7}" dt="2026-10-07T11:20:57.122" v="6962" actId="729"/>
        <pc:sldMkLst>
          <pc:docMk/>
          <pc:sldMk cId="2310245722" sldId="373"/>
        </pc:sldMkLst>
      </pc:sldChg>
      <pc:sldChg chg="modSp mod">
        <pc:chgData name="Francesco Bellotti" userId="f453232b-f87d-4756-9d8b-c09bc835cc42" providerId="ADAL" clId="{C7FEA3FA-4936-41E1-B7FA-CA082069F7F7}" dt="2026-10-07T11:24:22.527" v="6967" actId="13926"/>
        <pc:sldMkLst>
          <pc:docMk/>
          <pc:sldMk cId="532791983" sldId="375"/>
        </pc:sldMkLst>
        <pc:spChg chg="mod">
          <ac:chgData name="Francesco Bellotti" userId="f453232b-f87d-4756-9d8b-c09bc835cc42" providerId="ADAL" clId="{C7FEA3FA-4936-41E1-B7FA-CA082069F7F7}" dt="2026-10-07T11:23:51.437" v="6964" actId="13926"/>
          <ac:spMkLst>
            <pc:docMk/>
            <pc:sldMk cId="532791983" sldId="375"/>
            <ac:spMk id="3" creationId="{C4B4AF48-A276-926E-E683-5527C4B756E4}"/>
          </ac:spMkLst>
        </pc:spChg>
        <pc:spChg chg="mod">
          <ac:chgData name="Francesco Bellotti" userId="f453232b-f87d-4756-9d8b-c09bc835cc42" providerId="ADAL" clId="{C7FEA3FA-4936-41E1-B7FA-CA082069F7F7}" dt="2026-10-07T11:24:22.527" v="6967" actId="13926"/>
          <ac:spMkLst>
            <pc:docMk/>
            <pc:sldMk cId="532791983" sldId="375"/>
            <ac:spMk id="4" creationId="{9B0DB639-A479-D2FE-1EBF-A58218F17064}"/>
          </ac:spMkLst>
        </pc:spChg>
      </pc:sldChg>
      <pc:sldChg chg="modSp mod">
        <pc:chgData name="Francesco Bellotti" userId="f453232b-f87d-4756-9d8b-c09bc835cc42" providerId="ADAL" clId="{C7FEA3FA-4936-41E1-B7FA-CA082069F7F7}" dt="2026-10-07T11:26:27.641" v="6970" actId="13926"/>
        <pc:sldMkLst>
          <pc:docMk/>
          <pc:sldMk cId="28467829" sldId="376"/>
        </pc:sldMkLst>
        <pc:spChg chg="mod">
          <ac:chgData name="Francesco Bellotti" userId="f453232b-f87d-4756-9d8b-c09bc835cc42" providerId="ADAL" clId="{C7FEA3FA-4936-41E1-B7FA-CA082069F7F7}" dt="2026-10-07T11:26:27.641" v="6970" actId="13926"/>
          <ac:spMkLst>
            <pc:docMk/>
            <pc:sldMk cId="28467829" sldId="376"/>
            <ac:spMk id="3" creationId="{3E1B9BE6-8E5A-F39F-8A90-3217DDCDC190}"/>
          </ac:spMkLst>
        </pc:spChg>
      </pc:sldChg>
      <pc:sldChg chg="modSp mod">
        <pc:chgData name="Francesco Bellotti" userId="f453232b-f87d-4756-9d8b-c09bc835cc42" providerId="ADAL" clId="{C7FEA3FA-4936-41E1-B7FA-CA082069F7F7}" dt="2026-10-07T11:29:39.897" v="6996" actId="13926"/>
        <pc:sldMkLst>
          <pc:docMk/>
          <pc:sldMk cId="1835786380" sldId="377"/>
        </pc:sldMkLst>
        <pc:spChg chg="mod">
          <ac:chgData name="Francesco Bellotti" userId="f453232b-f87d-4756-9d8b-c09bc835cc42" providerId="ADAL" clId="{C7FEA3FA-4936-41E1-B7FA-CA082069F7F7}" dt="2026-10-07T11:29:39.897" v="6996" actId="13926"/>
          <ac:spMkLst>
            <pc:docMk/>
            <pc:sldMk cId="1835786380" sldId="377"/>
            <ac:spMk id="4" creationId="{80DB23ED-2639-ADBB-5F4F-967D9BF0D742}"/>
          </ac:spMkLst>
        </pc:spChg>
      </pc:sldChg>
      <pc:sldChg chg="modSp mod">
        <pc:chgData name="Francesco Bellotti" userId="f453232b-f87d-4756-9d8b-c09bc835cc42" providerId="ADAL" clId="{C7FEA3FA-4936-41E1-B7FA-CA082069F7F7}" dt="2026-10-10T21:58:56.901" v="8343" actId="27636"/>
        <pc:sldMkLst>
          <pc:docMk/>
          <pc:sldMk cId="2312316822" sldId="379"/>
        </pc:sldMkLst>
        <pc:spChg chg="mod">
          <ac:chgData name="Francesco Bellotti" userId="f453232b-f87d-4756-9d8b-c09bc835cc42" providerId="ADAL" clId="{C7FEA3FA-4936-41E1-B7FA-CA082069F7F7}" dt="2026-10-10T21:58:56.901" v="8343" actId="27636"/>
          <ac:spMkLst>
            <pc:docMk/>
            <pc:sldMk cId="2312316822" sldId="379"/>
            <ac:spMk id="3" creationId="{B7802759-DF73-C1EF-2431-2B8F1B76F29C}"/>
          </ac:spMkLst>
        </pc:spChg>
      </pc:sldChg>
      <pc:sldChg chg="modSp mod">
        <pc:chgData name="Francesco Bellotti" userId="f453232b-f87d-4756-9d8b-c09bc835cc42" providerId="ADAL" clId="{C7FEA3FA-4936-41E1-B7FA-CA082069F7F7}" dt="2026-10-07T11:39:46.956" v="7006" actId="13926"/>
        <pc:sldMkLst>
          <pc:docMk/>
          <pc:sldMk cId="4214933141" sldId="380"/>
        </pc:sldMkLst>
        <pc:spChg chg="mod">
          <ac:chgData name="Francesco Bellotti" userId="f453232b-f87d-4756-9d8b-c09bc835cc42" providerId="ADAL" clId="{C7FEA3FA-4936-41E1-B7FA-CA082069F7F7}" dt="2026-10-07T11:39:37.710" v="7004" actId="13926"/>
          <ac:spMkLst>
            <pc:docMk/>
            <pc:sldMk cId="4214933141" sldId="380"/>
            <ac:spMk id="2" creationId="{FE147FD4-B52F-859B-8350-171F9C7E47AD}"/>
          </ac:spMkLst>
        </pc:spChg>
        <pc:spChg chg="mod">
          <ac:chgData name="Francesco Bellotti" userId="f453232b-f87d-4756-9d8b-c09bc835cc42" providerId="ADAL" clId="{C7FEA3FA-4936-41E1-B7FA-CA082069F7F7}" dt="2026-10-07T11:39:46.956" v="7006" actId="13926"/>
          <ac:spMkLst>
            <pc:docMk/>
            <pc:sldMk cId="4214933141" sldId="380"/>
            <ac:spMk id="3" creationId="{5462B126-2B61-86FA-AB29-A93CCE3FE1FE}"/>
          </ac:spMkLst>
        </pc:spChg>
      </pc:sldChg>
      <pc:sldChg chg="modSp mod">
        <pc:chgData name="Francesco Bellotti" userId="f453232b-f87d-4756-9d8b-c09bc835cc42" providerId="ADAL" clId="{C7FEA3FA-4936-41E1-B7FA-CA082069F7F7}" dt="2026-10-07T11:41:57.257" v="7015" actId="13926"/>
        <pc:sldMkLst>
          <pc:docMk/>
          <pc:sldMk cId="4032876451" sldId="381"/>
        </pc:sldMkLst>
        <pc:spChg chg="mod">
          <ac:chgData name="Francesco Bellotti" userId="f453232b-f87d-4756-9d8b-c09bc835cc42" providerId="ADAL" clId="{C7FEA3FA-4936-41E1-B7FA-CA082069F7F7}" dt="2026-10-07T11:41:57.257" v="7015" actId="13926"/>
          <ac:spMkLst>
            <pc:docMk/>
            <pc:sldMk cId="4032876451" sldId="381"/>
            <ac:spMk id="3" creationId="{60AFDC18-4966-C77F-2E3E-B84B1CD7B6F9}"/>
          </ac:spMkLst>
        </pc:spChg>
      </pc:sldChg>
      <pc:sldChg chg="modSp mod">
        <pc:chgData name="Francesco Bellotti" userId="f453232b-f87d-4756-9d8b-c09bc835cc42" providerId="ADAL" clId="{C7FEA3FA-4936-41E1-B7FA-CA082069F7F7}" dt="2026-10-07T11:31:38.378" v="6999" actId="13926"/>
        <pc:sldMkLst>
          <pc:docMk/>
          <pc:sldMk cId="261264088" sldId="382"/>
        </pc:sldMkLst>
        <pc:spChg chg="mod">
          <ac:chgData name="Francesco Bellotti" userId="f453232b-f87d-4756-9d8b-c09bc835cc42" providerId="ADAL" clId="{C7FEA3FA-4936-41E1-B7FA-CA082069F7F7}" dt="2026-10-07T11:31:38.378" v="6999" actId="13926"/>
          <ac:spMkLst>
            <pc:docMk/>
            <pc:sldMk cId="261264088" sldId="382"/>
            <ac:spMk id="3" creationId="{CF652E91-475F-654D-D4CA-CAA42D1DD8B2}"/>
          </ac:spMkLst>
        </pc:spChg>
      </pc:sldChg>
      <pc:sldChg chg="modSp mod">
        <pc:chgData name="Francesco Bellotti" userId="f453232b-f87d-4756-9d8b-c09bc835cc42" providerId="ADAL" clId="{C7FEA3FA-4936-41E1-B7FA-CA082069F7F7}" dt="2026-10-07T11:42:45.762" v="7018" actId="13926"/>
        <pc:sldMkLst>
          <pc:docMk/>
          <pc:sldMk cId="244204693" sldId="384"/>
        </pc:sldMkLst>
        <pc:spChg chg="mod">
          <ac:chgData name="Francesco Bellotti" userId="f453232b-f87d-4756-9d8b-c09bc835cc42" providerId="ADAL" clId="{C7FEA3FA-4936-41E1-B7FA-CA082069F7F7}" dt="2026-10-07T11:42:31.634" v="7016" actId="13926"/>
          <ac:spMkLst>
            <pc:docMk/>
            <pc:sldMk cId="244204693" sldId="384"/>
            <ac:spMk id="3" creationId="{EFA40C0F-56B0-3793-71C8-50DEB6097FA9}"/>
          </ac:spMkLst>
        </pc:spChg>
        <pc:spChg chg="mod">
          <ac:chgData name="Francesco Bellotti" userId="f453232b-f87d-4756-9d8b-c09bc835cc42" providerId="ADAL" clId="{C7FEA3FA-4936-41E1-B7FA-CA082069F7F7}" dt="2026-10-07T11:42:45.762" v="7018" actId="13926"/>
          <ac:spMkLst>
            <pc:docMk/>
            <pc:sldMk cId="244204693" sldId="384"/>
            <ac:spMk id="4" creationId="{7B5C80C6-2B66-4A24-A8A0-0FED7A23098A}"/>
          </ac:spMkLst>
        </pc:spChg>
      </pc:sldChg>
      <pc:sldChg chg="modSp mod">
        <pc:chgData name="Francesco Bellotti" userId="f453232b-f87d-4756-9d8b-c09bc835cc42" providerId="ADAL" clId="{C7FEA3FA-4936-41E1-B7FA-CA082069F7F7}" dt="2026-10-07T11:43:50.344" v="7033" actId="13926"/>
        <pc:sldMkLst>
          <pc:docMk/>
          <pc:sldMk cId="3146893580" sldId="385"/>
        </pc:sldMkLst>
        <pc:spChg chg="mod">
          <ac:chgData name="Francesco Bellotti" userId="f453232b-f87d-4756-9d8b-c09bc835cc42" providerId="ADAL" clId="{C7FEA3FA-4936-41E1-B7FA-CA082069F7F7}" dt="2026-10-07T11:43:04.866" v="7031" actId="20577"/>
          <ac:spMkLst>
            <pc:docMk/>
            <pc:sldMk cId="3146893580" sldId="385"/>
            <ac:spMk id="3" creationId="{5C3F66CA-CBFF-411B-D60E-5BDDA2DA3384}"/>
          </ac:spMkLst>
        </pc:spChg>
        <pc:spChg chg="mod">
          <ac:chgData name="Francesco Bellotti" userId="f453232b-f87d-4756-9d8b-c09bc835cc42" providerId="ADAL" clId="{C7FEA3FA-4936-41E1-B7FA-CA082069F7F7}" dt="2026-10-07T11:43:50.344" v="7033" actId="13926"/>
          <ac:spMkLst>
            <pc:docMk/>
            <pc:sldMk cId="3146893580" sldId="385"/>
            <ac:spMk id="4" creationId="{E38EDBCC-FC96-A4C3-F641-E36F7A558347}"/>
          </ac:spMkLst>
        </pc:spChg>
      </pc:sldChg>
      <pc:sldChg chg="modSp mod">
        <pc:chgData name="Francesco Bellotti" userId="f453232b-f87d-4756-9d8b-c09bc835cc42" providerId="ADAL" clId="{C7FEA3FA-4936-41E1-B7FA-CA082069F7F7}" dt="2026-10-07T11:45:45.437" v="7035" actId="13926"/>
        <pc:sldMkLst>
          <pc:docMk/>
          <pc:sldMk cId="2351455085" sldId="386"/>
        </pc:sldMkLst>
        <pc:spChg chg="mod">
          <ac:chgData name="Francesco Bellotti" userId="f453232b-f87d-4756-9d8b-c09bc835cc42" providerId="ADAL" clId="{C7FEA3FA-4936-41E1-B7FA-CA082069F7F7}" dt="2026-10-07T11:45:45.437" v="7035" actId="13926"/>
          <ac:spMkLst>
            <pc:docMk/>
            <pc:sldMk cId="2351455085" sldId="386"/>
            <ac:spMk id="4" creationId="{A36834F2-10D7-B35D-0820-681465E0AC5C}"/>
          </ac:spMkLst>
        </pc:spChg>
      </pc:sldChg>
      <pc:sldChg chg="modSp mod">
        <pc:chgData name="Francesco Bellotti" userId="f453232b-f87d-4756-9d8b-c09bc835cc42" providerId="ADAL" clId="{C7FEA3FA-4936-41E1-B7FA-CA082069F7F7}" dt="2026-10-07T11:48:35.105" v="7043" actId="13926"/>
        <pc:sldMkLst>
          <pc:docMk/>
          <pc:sldMk cId="4270430494" sldId="387"/>
        </pc:sldMkLst>
        <pc:spChg chg="mod">
          <ac:chgData name="Francesco Bellotti" userId="f453232b-f87d-4756-9d8b-c09bc835cc42" providerId="ADAL" clId="{C7FEA3FA-4936-41E1-B7FA-CA082069F7F7}" dt="2026-10-07T11:47:39.659" v="7039" actId="115"/>
          <ac:spMkLst>
            <pc:docMk/>
            <pc:sldMk cId="4270430494" sldId="387"/>
            <ac:spMk id="2" creationId="{F5DD7D58-F9E3-294D-ADD3-EA7F6BB37F98}"/>
          </ac:spMkLst>
        </pc:spChg>
        <pc:spChg chg="mod">
          <ac:chgData name="Francesco Bellotti" userId="f453232b-f87d-4756-9d8b-c09bc835cc42" providerId="ADAL" clId="{C7FEA3FA-4936-41E1-B7FA-CA082069F7F7}" dt="2026-10-07T11:48:23.654" v="7041" actId="13926"/>
          <ac:spMkLst>
            <pc:docMk/>
            <pc:sldMk cId="4270430494" sldId="387"/>
            <ac:spMk id="3" creationId="{1C3B2042-DDDC-45F4-5D04-17E33FB358EB}"/>
          </ac:spMkLst>
        </pc:spChg>
        <pc:spChg chg="mod">
          <ac:chgData name="Francesco Bellotti" userId="f453232b-f87d-4756-9d8b-c09bc835cc42" providerId="ADAL" clId="{C7FEA3FA-4936-41E1-B7FA-CA082069F7F7}" dt="2026-10-07T11:48:35.105" v="7043" actId="13926"/>
          <ac:spMkLst>
            <pc:docMk/>
            <pc:sldMk cId="4270430494" sldId="387"/>
            <ac:spMk id="4" creationId="{C644F014-2766-FF4C-6EC1-F16C60B817BC}"/>
          </ac:spMkLst>
        </pc:spChg>
        <pc:spChg chg="mod">
          <ac:chgData name="Francesco Bellotti" userId="f453232b-f87d-4756-9d8b-c09bc835cc42" providerId="ADAL" clId="{C7FEA3FA-4936-41E1-B7FA-CA082069F7F7}" dt="2026-10-07T11:48:27.063" v="7042" actId="13926"/>
          <ac:spMkLst>
            <pc:docMk/>
            <pc:sldMk cId="4270430494" sldId="387"/>
            <ac:spMk id="7" creationId="{9BB95004-2298-2C5E-1C9E-A783A22995EE}"/>
          </ac:spMkLst>
        </pc:spChg>
      </pc:sldChg>
      <pc:sldChg chg="modSp mod">
        <pc:chgData name="Francesco Bellotti" userId="f453232b-f87d-4756-9d8b-c09bc835cc42" providerId="ADAL" clId="{C7FEA3FA-4936-41E1-B7FA-CA082069F7F7}" dt="2026-10-07T12:00:04.713" v="7055" actId="20577"/>
        <pc:sldMkLst>
          <pc:docMk/>
          <pc:sldMk cId="769377120" sldId="389"/>
        </pc:sldMkLst>
        <pc:spChg chg="mod">
          <ac:chgData name="Francesco Bellotti" userId="f453232b-f87d-4756-9d8b-c09bc835cc42" providerId="ADAL" clId="{C7FEA3FA-4936-41E1-B7FA-CA082069F7F7}" dt="2026-10-07T12:00:04.713" v="7055" actId="20577"/>
          <ac:spMkLst>
            <pc:docMk/>
            <pc:sldMk cId="769377120" sldId="389"/>
            <ac:spMk id="3" creationId="{9548B63E-CEFB-8661-8CF7-C898987ADA25}"/>
          </ac:spMkLst>
        </pc:spChg>
        <pc:spChg chg="mod">
          <ac:chgData name="Francesco Bellotti" userId="f453232b-f87d-4756-9d8b-c09bc835cc42" providerId="ADAL" clId="{C7FEA3FA-4936-41E1-B7FA-CA082069F7F7}" dt="2026-10-07T11:59:17.359" v="7046" actId="13926"/>
          <ac:spMkLst>
            <pc:docMk/>
            <pc:sldMk cId="769377120" sldId="389"/>
            <ac:spMk id="4" creationId="{84AD3482-C9C2-8BC4-314D-F1EC62C44339}"/>
          </ac:spMkLst>
        </pc:spChg>
      </pc:sldChg>
      <pc:sldChg chg="modSp mod">
        <pc:chgData name="Francesco Bellotti" userId="f453232b-f87d-4756-9d8b-c09bc835cc42" providerId="ADAL" clId="{C7FEA3FA-4936-41E1-B7FA-CA082069F7F7}" dt="2026-10-07T12:02:02.258" v="7063" actId="13926"/>
        <pc:sldMkLst>
          <pc:docMk/>
          <pc:sldMk cId="2758736647" sldId="391"/>
        </pc:sldMkLst>
        <pc:spChg chg="mod">
          <ac:chgData name="Francesco Bellotti" userId="f453232b-f87d-4756-9d8b-c09bc835cc42" providerId="ADAL" clId="{C7FEA3FA-4936-41E1-B7FA-CA082069F7F7}" dt="2026-10-07T12:01:21.487" v="7059" actId="13926"/>
          <ac:spMkLst>
            <pc:docMk/>
            <pc:sldMk cId="2758736647" sldId="391"/>
            <ac:spMk id="2" creationId="{5F0324BA-1772-8F90-D7B8-0BC1D06BBA67}"/>
          </ac:spMkLst>
        </pc:spChg>
        <pc:spChg chg="mod">
          <ac:chgData name="Francesco Bellotti" userId="f453232b-f87d-4756-9d8b-c09bc835cc42" providerId="ADAL" clId="{C7FEA3FA-4936-41E1-B7FA-CA082069F7F7}" dt="2026-10-07T12:01:29.116" v="7060" actId="13926"/>
          <ac:spMkLst>
            <pc:docMk/>
            <pc:sldMk cId="2758736647" sldId="391"/>
            <ac:spMk id="3" creationId="{2BAEFA1F-531A-7C23-ACA5-7E18072240F0}"/>
          </ac:spMkLst>
        </pc:spChg>
        <pc:spChg chg="mod">
          <ac:chgData name="Francesco Bellotti" userId="f453232b-f87d-4756-9d8b-c09bc835cc42" providerId="ADAL" clId="{C7FEA3FA-4936-41E1-B7FA-CA082069F7F7}" dt="2026-10-07T12:02:02.258" v="7063" actId="13926"/>
          <ac:spMkLst>
            <pc:docMk/>
            <pc:sldMk cId="2758736647" sldId="391"/>
            <ac:spMk id="4" creationId="{B83E0B1B-4F67-BE04-A55E-8D12BBEBC7E0}"/>
          </ac:spMkLst>
        </pc:spChg>
      </pc:sldChg>
      <pc:sldChg chg="addSp modSp mod">
        <pc:chgData name="Francesco Bellotti" userId="f453232b-f87d-4756-9d8b-c09bc835cc42" providerId="ADAL" clId="{C7FEA3FA-4936-41E1-B7FA-CA082069F7F7}" dt="2026-10-07T12:03:26.675" v="7108" actId="1076"/>
        <pc:sldMkLst>
          <pc:docMk/>
          <pc:sldMk cId="184050551" sldId="392"/>
        </pc:sldMkLst>
        <pc:spChg chg="mod">
          <ac:chgData name="Francesco Bellotti" userId="f453232b-f87d-4756-9d8b-c09bc835cc42" providerId="ADAL" clId="{C7FEA3FA-4936-41E1-B7FA-CA082069F7F7}" dt="2026-10-07T12:02:30.383" v="7067" actId="20577"/>
          <ac:spMkLst>
            <pc:docMk/>
            <pc:sldMk cId="184050551" sldId="392"/>
            <ac:spMk id="2" creationId="{995006E9-08A1-5FC7-6037-CD4C27975DDE}"/>
          </ac:spMkLst>
        </pc:spChg>
        <pc:spChg chg="mod">
          <ac:chgData name="Francesco Bellotti" userId="f453232b-f87d-4756-9d8b-c09bc835cc42" providerId="ADAL" clId="{C7FEA3FA-4936-41E1-B7FA-CA082069F7F7}" dt="2026-10-07T12:02:26.705" v="7065" actId="13926"/>
          <ac:spMkLst>
            <pc:docMk/>
            <pc:sldMk cId="184050551" sldId="392"/>
            <ac:spMk id="4" creationId="{DF075992-2DA4-1C4F-A87D-95D1F8F414CC}"/>
          </ac:spMkLst>
        </pc:spChg>
        <pc:spChg chg="add mod">
          <ac:chgData name="Francesco Bellotti" userId="f453232b-f87d-4756-9d8b-c09bc835cc42" providerId="ADAL" clId="{C7FEA3FA-4936-41E1-B7FA-CA082069F7F7}" dt="2026-10-07T12:03:10.403" v="7106" actId="1076"/>
          <ac:spMkLst>
            <pc:docMk/>
            <pc:sldMk cId="184050551" sldId="392"/>
            <ac:spMk id="5" creationId="{7564E325-F40B-5023-B70E-11C3C3D20A33}"/>
          </ac:spMkLst>
        </pc:spChg>
        <pc:spChg chg="mod">
          <ac:chgData name="Francesco Bellotti" userId="f453232b-f87d-4756-9d8b-c09bc835cc42" providerId="ADAL" clId="{C7FEA3FA-4936-41E1-B7FA-CA082069F7F7}" dt="2026-10-07T12:03:26.675" v="7108" actId="1076"/>
          <ac:spMkLst>
            <pc:docMk/>
            <pc:sldMk cId="184050551" sldId="392"/>
            <ac:spMk id="6" creationId="{1E4D60D6-85F9-97F8-68A7-70705C2F2C87}"/>
          </ac:spMkLst>
        </pc:spChg>
      </pc:sldChg>
      <pc:sldChg chg="modSp mod">
        <pc:chgData name="Francesco Bellotti" userId="f453232b-f87d-4756-9d8b-c09bc835cc42" providerId="ADAL" clId="{C7FEA3FA-4936-41E1-B7FA-CA082069F7F7}" dt="2026-10-07T12:06:25.693" v="7203" actId="20577"/>
        <pc:sldMkLst>
          <pc:docMk/>
          <pc:sldMk cId="2146626683" sldId="393"/>
        </pc:sldMkLst>
        <pc:spChg chg="mod">
          <ac:chgData name="Francesco Bellotti" userId="f453232b-f87d-4756-9d8b-c09bc835cc42" providerId="ADAL" clId="{C7FEA3FA-4936-41E1-B7FA-CA082069F7F7}" dt="2026-10-07T12:06:25.693" v="7203" actId="20577"/>
          <ac:spMkLst>
            <pc:docMk/>
            <pc:sldMk cId="2146626683" sldId="393"/>
            <ac:spMk id="2" creationId="{A7EE84BB-02D3-A6FE-D89E-E071A68AE670}"/>
          </ac:spMkLst>
        </pc:spChg>
        <pc:spChg chg="mod">
          <ac:chgData name="Francesco Bellotti" userId="f453232b-f87d-4756-9d8b-c09bc835cc42" providerId="ADAL" clId="{C7FEA3FA-4936-41E1-B7FA-CA082069F7F7}" dt="2026-10-07T12:05:20.795" v="7130" actId="13926"/>
          <ac:spMkLst>
            <pc:docMk/>
            <pc:sldMk cId="2146626683" sldId="393"/>
            <ac:spMk id="4" creationId="{2B63E6CB-8DD7-A598-F97B-A4548F7D0F5C}"/>
          </ac:spMkLst>
        </pc:spChg>
      </pc:sldChg>
      <pc:sldChg chg="modSp mod">
        <pc:chgData name="Francesco Bellotti" userId="f453232b-f87d-4756-9d8b-c09bc835cc42" providerId="ADAL" clId="{C7FEA3FA-4936-41E1-B7FA-CA082069F7F7}" dt="2026-10-07T12:07:22.152" v="7207" actId="13926"/>
        <pc:sldMkLst>
          <pc:docMk/>
          <pc:sldMk cId="560600140" sldId="394"/>
        </pc:sldMkLst>
        <pc:spChg chg="mod">
          <ac:chgData name="Francesco Bellotti" userId="f453232b-f87d-4756-9d8b-c09bc835cc42" providerId="ADAL" clId="{C7FEA3FA-4936-41E1-B7FA-CA082069F7F7}" dt="2026-10-07T12:07:22.152" v="7207" actId="13926"/>
          <ac:spMkLst>
            <pc:docMk/>
            <pc:sldMk cId="560600140" sldId="394"/>
            <ac:spMk id="2" creationId="{9D743B98-62CB-A24E-71C7-DE1760DE3A8F}"/>
          </ac:spMkLst>
        </pc:spChg>
        <pc:spChg chg="mod">
          <ac:chgData name="Francesco Bellotti" userId="f453232b-f87d-4756-9d8b-c09bc835cc42" providerId="ADAL" clId="{C7FEA3FA-4936-41E1-B7FA-CA082069F7F7}" dt="2026-10-07T12:07:13.340" v="7206" actId="13926"/>
          <ac:spMkLst>
            <pc:docMk/>
            <pc:sldMk cId="560600140" sldId="394"/>
            <ac:spMk id="3" creationId="{60747B43-CD06-5DEF-BFD8-C8C2D45817D3}"/>
          </ac:spMkLst>
        </pc:spChg>
        <pc:spChg chg="mod">
          <ac:chgData name="Francesco Bellotti" userId="f453232b-f87d-4756-9d8b-c09bc835cc42" providerId="ADAL" clId="{C7FEA3FA-4936-41E1-B7FA-CA082069F7F7}" dt="2026-10-07T12:07:02.235" v="7205" actId="13926"/>
          <ac:spMkLst>
            <pc:docMk/>
            <pc:sldMk cId="560600140" sldId="394"/>
            <ac:spMk id="4" creationId="{95F46FB6-BFEB-D42D-5F5C-820ED12B71F4}"/>
          </ac:spMkLst>
        </pc:spChg>
      </pc:sldChg>
      <pc:sldChg chg="modSp mod">
        <pc:chgData name="Francesco Bellotti" userId="f453232b-f87d-4756-9d8b-c09bc835cc42" providerId="ADAL" clId="{C7FEA3FA-4936-41E1-B7FA-CA082069F7F7}" dt="2026-10-07T07:02:54.996" v="6940" actId="13926"/>
        <pc:sldMkLst>
          <pc:docMk/>
          <pc:sldMk cId="1724414524" sldId="396"/>
        </pc:sldMkLst>
        <pc:spChg chg="mod">
          <ac:chgData name="Francesco Bellotti" userId="f453232b-f87d-4756-9d8b-c09bc835cc42" providerId="ADAL" clId="{C7FEA3FA-4936-41E1-B7FA-CA082069F7F7}" dt="2026-10-07T07:02:54.996" v="6940" actId="13926"/>
          <ac:spMkLst>
            <pc:docMk/>
            <pc:sldMk cId="1724414524" sldId="396"/>
            <ac:spMk id="3" creationId="{05B96A8D-4013-16F6-5D24-E31E9D963814}"/>
          </ac:spMkLst>
        </pc:spChg>
      </pc:sldChg>
      <pc:sldChg chg="modSp mod">
        <pc:chgData name="Francesco Bellotti" userId="f453232b-f87d-4756-9d8b-c09bc835cc42" providerId="ADAL" clId="{C7FEA3FA-4936-41E1-B7FA-CA082069F7F7}" dt="2026-10-07T11:24:54.407" v="6968" actId="13926"/>
        <pc:sldMkLst>
          <pc:docMk/>
          <pc:sldMk cId="159246458" sldId="397"/>
        </pc:sldMkLst>
        <pc:spChg chg="mod">
          <ac:chgData name="Francesco Bellotti" userId="f453232b-f87d-4756-9d8b-c09bc835cc42" providerId="ADAL" clId="{C7FEA3FA-4936-41E1-B7FA-CA082069F7F7}" dt="2026-10-07T11:24:54.407" v="6968" actId="13926"/>
          <ac:spMkLst>
            <pc:docMk/>
            <pc:sldMk cId="159246458" sldId="397"/>
            <ac:spMk id="3" creationId="{D12BC83A-D7AB-725F-83DC-27ECDBDDA7FA}"/>
          </ac:spMkLst>
        </pc:spChg>
      </pc:sldChg>
      <pc:sldChg chg="modSp mod">
        <pc:chgData name="Francesco Bellotti" userId="f453232b-f87d-4756-9d8b-c09bc835cc42" providerId="ADAL" clId="{C7FEA3FA-4936-41E1-B7FA-CA082069F7F7}" dt="2026-10-10T21:59:19.797" v="8345" actId="13926"/>
        <pc:sldMkLst>
          <pc:docMk/>
          <pc:sldMk cId="1366107149" sldId="398"/>
        </pc:sldMkLst>
        <pc:spChg chg="mod">
          <ac:chgData name="Francesco Bellotti" userId="f453232b-f87d-4756-9d8b-c09bc835cc42" providerId="ADAL" clId="{C7FEA3FA-4936-41E1-B7FA-CA082069F7F7}" dt="2026-10-07T11:33:02.005" v="7002" actId="13926"/>
          <ac:spMkLst>
            <pc:docMk/>
            <pc:sldMk cId="1366107149" sldId="398"/>
            <ac:spMk id="2" creationId="{397274AF-2132-C065-2B41-1AB074F6E326}"/>
          </ac:spMkLst>
        </pc:spChg>
        <pc:spChg chg="mod">
          <ac:chgData name="Francesco Bellotti" userId="f453232b-f87d-4756-9d8b-c09bc835cc42" providerId="ADAL" clId="{C7FEA3FA-4936-41E1-B7FA-CA082069F7F7}" dt="2026-10-10T21:59:19.797" v="8345" actId="13926"/>
          <ac:spMkLst>
            <pc:docMk/>
            <pc:sldMk cId="1366107149" sldId="398"/>
            <ac:spMk id="3" creationId="{FB91B38E-6718-F987-DB34-083E9F105041}"/>
          </ac:spMkLst>
        </pc:spChg>
      </pc:sldChg>
      <pc:sldChg chg="modSp mod">
        <pc:chgData name="Francesco Bellotti" userId="f453232b-f87d-4756-9d8b-c09bc835cc42" providerId="ADAL" clId="{C7FEA3FA-4936-41E1-B7FA-CA082069F7F7}" dt="2026-10-07T11:40:58.575" v="7009" actId="113"/>
        <pc:sldMkLst>
          <pc:docMk/>
          <pc:sldMk cId="408617577" sldId="399"/>
        </pc:sldMkLst>
        <pc:spChg chg="mod">
          <ac:chgData name="Francesco Bellotti" userId="f453232b-f87d-4756-9d8b-c09bc835cc42" providerId="ADAL" clId="{C7FEA3FA-4936-41E1-B7FA-CA082069F7F7}" dt="2026-10-07T11:40:18.437" v="7008" actId="13926"/>
          <ac:spMkLst>
            <pc:docMk/>
            <pc:sldMk cId="408617577" sldId="399"/>
            <ac:spMk id="3" creationId="{AFEEA17F-CE43-26B0-2A7C-8CFD960D7C9D}"/>
          </ac:spMkLst>
        </pc:spChg>
        <pc:spChg chg="mod">
          <ac:chgData name="Francesco Bellotti" userId="f453232b-f87d-4756-9d8b-c09bc835cc42" providerId="ADAL" clId="{C7FEA3FA-4936-41E1-B7FA-CA082069F7F7}" dt="2026-10-07T11:40:58.575" v="7009" actId="113"/>
          <ac:spMkLst>
            <pc:docMk/>
            <pc:sldMk cId="408617577" sldId="399"/>
            <ac:spMk id="5" creationId="{20A2AD61-D985-557A-B647-AC67FC5467F7}"/>
          </ac:spMkLst>
        </pc:spChg>
      </pc:sldChg>
      <pc:sldChg chg="modSp mod">
        <pc:chgData name="Francesco Bellotti" userId="f453232b-f87d-4756-9d8b-c09bc835cc42" providerId="ADAL" clId="{C7FEA3FA-4936-41E1-B7FA-CA082069F7F7}" dt="2026-10-07T11:27:45.918" v="6987" actId="13926"/>
        <pc:sldMkLst>
          <pc:docMk/>
          <pc:sldMk cId="2052466221" sldId="400"/>
        </pc:sldMkLst>
        <pc:spChg chg="mod">
          <ac:chgData name="Francesco Bellotti" userId="f453232b-f87d-4756-9d8b-c09bc835cc42" providerId="ADAL" clId="{C7FEA3FA-4936-41E1-B7FA-CA082069F7F7}" dt="2026-10-07T11:27:45.918" v="6987" actId="13926"/>
          <ac:spMkLst>
            <pc:docMk/>
            <pc:sldMk cId="2052466221" sldId="400"/>
            <ac:spMk id="3" creationId="{69C3E16D-7565-0221-F1BE-63726BD3570F}"/>
          </ac:spMkLst>
        </pc:spChg>
      </pc:sldChg>
      <pc:sldChg chg="modSp mod">
        <pc:chgData name="Francesco Bellotti" userId="f453232b-f87d-4756-9d8b-c09bc835cc42" providerId="ADAL" clId="{C7FEA3FA-4936-41E1-B7FA-CA082069F7F7}" dt="2026-10-07T12:19:48.050" v="7258" actId="403"/>
        <pc:sldMkLst>
          <pc:docMk/>
          <pc:sldMk cId="0" sldId="406"/>
        </pc:sldMkLst>
        <pc:spChg chg="mod">
          <ac:chgData name="Francesco Bellotti" userId="f453232b-f87d-4756-9d8b-c09bc835cc42" providerId="ADAL" clId="{C7FEA3FA-4936-41E1-B7FA-CA082069F7F7}" dt="2026-10-07T12:19:48.050" v="7258" actId="403"/>
          <ac:spMkLst>
            <pc:docMk/>
            <pc:sldMk cId="0" sldId="406"/>
            <ac:spMk id="45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10-07T12:20:23.423" v="7260" actId="113"/>
        <pc:sldMkLst>
          <pc:docMk/>
          <pc:sldMk cId="0" sldId="407"/>
        </pc:sldMkLst>
        <pc:spChg chg="mod">
          <ac:chgData name="Francesco Bellotti" userId="f453232b-f87d-4756-9d8b-c09bc835cc42" providerId="ADAL" clId="{C7FEA3FA-4936-41E1-B7FA-CA082069F7F7}" dt="2026-10-07T12:20:23.423" v="7260" actId="113"/>
          <ac:spMkLst>
            <pc:docMk/>
            <pc:sldMk cId="0" sldId="407"/>
            <ac:spMk id="7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10-10T22:07:46.400" v="8413" actId="20577"/>
        <pc:sldMkLst>
          <pc:docMk/>
          <pc:sldMk cId="0" sldId="408"/>
        </pc:sldMkLst>
        <pc:spChg chg="mod">
          <ac:chgData name="Francesco Bellotti" userId="f453232b-f87d-4756-9d8b-c09bc835cc42" providerId="ADAL" clId="{C7FEA3FA-4936-41E1-B7FA-CA082069F7F7}" dt="2026-10-07T15:15:59.232" v="7286" actId="13926"/>
          <ac:spMkLst>
            <pc:docMk/>
            <pc:sldMk cId="0" sldId="408"/>
            <ac:spMk id="6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15:15:07.772" v="7281" actId="403"/>
          <ac:spMkLst>
            <pc:docMk/>
            <pc:sldMk cId="0" sldId="408"/>
            <ac:spMk id="7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10T22:07:46.400" v="8413" actId="20577"/>
          <ac:spMkLst>
            <pc:docMk/>
            <pc:sldMk cId="0" sldId="408"/>
            <ac:spMk id="25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7T15:15:54.229" v="7285" actId="113"/>
          <ac:spMkLst>
            <pc:docMk/>
            <pc:sldMk cId="0" sldId="408"/>
            <ac:spMk id="26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10-10T22:08:10.437" v="8414" actId="207"/>
        <pc:sldMkLst>
          <pc:docMk/>
          <pc:sldMk cId="0" sldId="409"/>
        </pc:sldMkLst>
        <pc:spChg chg="mod">
          <ac:chgData name="Francesco Bellotti" userId="f453232b-f87d-4756-9d8b-c09bc835cc42" providerId="ADAL" clId="{C7FEA3FA-4936-41E1-B7FA-CA082069F7F7}" dt="2026-10-07T15:17:23.289" v="7290" actId="113"/>
          <ac:spMkLst>
            <pc:docMk/>
            <pc:sldMk cId="0" sldId="409"/>
            <ac:spMk id="7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10T22:08:10.437" v="8414" actId="207"/>
          <ac:spMkLst>
            <pc:docMk/>
            <pc:sldMk cId="0" sldId="409"/>
            <ac:spMk id="12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10-07T15:23:57.399" v="7312" actId="207"/>
        <pc:sldMkLst>
          <pc:docMk/>
          <pc:sldMk cId="0" sldId="411"/>
        </pc:sldMkLst>
        <pc:spChg chg="mod">
          <ac:chgData name="Francesco Bellotti" userId="f453232b-f87d-4756-9d8b-c09bc835cc42" providerId="ADAL" clId="{C7FEA3FA-4936-41E1-B7FA-CA082069F7F7}" dt="2026-10-07T15:23:57.399" v="7312" actId="207"/>
          <ac:spMkLst>
            <pc:docMk/>
            <pc:sldMk cId="0" sldId="411"/>
            <ac:spMk id="57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10-09T13:36:12.727" v="7352" actId="113"/>
        <pc:sldMkLst>
          <pc:docMk/>
          <pc:sldMk cId="0" sldId="412"/>
        </pc:sldMkLst>
        <pc:spChg chg="mod">
          <ac:chgData name="Francesco Bellotti" userId="f453232b-f87d-4756-9d8b-c09bc835cc42" providerId="ADAL" clId="{C7FEA3FA-4936-41E1-B7FA-CA082069F7F7}" dt="2026-10-09T13:36:12.727" v="7352" actId="113"/>
          <ac:spMkLst>
            <pc:docMk/>
            <pc:sldMk cId="0" sldId="412"/>
            <ac:spMk id="7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10-07T15:26:46.826" v="7332" actId="113"/>
        <pc:sldMkLst>
          <pc:docMk/>
          <pc:sldMk cId="0" sldId="413"/>
        </pc:sldMkLst>
        <pc:spChg chg="mod">
          <ac:chgData name="Francesco Bellotti" userId="f453232b-f87d-4756-9d8b-c09bc835cc42" providerId="ADAL" clId="{C7FEA3FA-4936-41E1-B7FA-CA082069F7F7}" dt="2026-10-07T15:26:46.826" v="7332" actId="113"/>
          <ac:spMkLst>
            <pc:docMk/>
            <pc:sldMk cId="0" sldId="413"/>
            <ac:spMk id="60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10-07T12:11:11.484" v="7210" actId="13926"/>
        <pc:sldMkLst>
          <pc:docMk/>
          <pc:sldMk cId="896565581" sldId="416"/>
        </pc:sldMkLst>
        <pc:spChg chg="mod">
          <ac:chgData name="Francesco Bellotti" userId="f453232b-f87d-4756-9d8b-c09bc835cc42" providerId="ADAL" clId="{C7FEA3FA-4936-41E1-B7FA-CA082069F7F7}" dt="2026-10-07T12:11:11.484" v="7210" actId="13926"/>
          <ac:spMkLst>
            <pc:docMk/>
            <pc:sldMk cId="896565581" sldId="416"/>
            <ac:spMk id="4" creationId="{E6841F3B-383C-58EF-BED6-1A3A602775F2}"/>
          </ac:spMkLst>
        </pc:spChg>
      </pc:sldChg>
      <pc:sldChg chg="modSp mod">
        <pc:chgData name="Francesco Bellotti" userId="f453232b-f87d-4756-9d8b-c09bc835cc42" providerId="ADAL" clId="{C7FEA3FA-4936-41E1-B7FA-CA082069F7F7}" dt="2026-10-07T12:12:00.971" v="7211" actId="13926"/>
        <pc:sldMkLst>
          <pc:docMk/>
          <pc:sldMk cId="1478570440" sldId="418"/>
        </pc:sldMkLst>
        <pc:spChg chg="mod">
          <ac:chgData name="Francesco Bellotti" userId="f453232b-f87d-4756-9d8b-c09bc835cc42" providerId="ADAL" clId="{C7FEA3FA-4936-41E1-B7FA-CA082069F7F7}" dt="2026-10-07T12:12:00.971" v="7211" actId="13926"/>
          <ac:spMkLst>
            <pc:docMk/>
            <pc:sldMk cId="1478570440" sldId="418"/>
            <ac:spMk id="2" creationId="{004A7E09-C9BD-08F7-DE33-296D7ADD9A9B}"/>
          </ac:spMkLst>
        </pc:spChg>
      </pc:sldChg>
      <pc:sldChg chg="modSp mod">
        <pc:chgData name="Francesco Bellotti" userId="f453232b-f87d-4756-9d8b-c09bc835cc42" providerId="ADAL" clId="{C7FEA3FA-4936-41E1-B7FA-CA082069F7F7}" dt="2026-10-07T12:12:50.125" v="7229" actId="20577"/>
        <pc:sldMkLst>
          <pc:docMk/>
          <pc:sldMk cId="889180471" sldId="419"/>
        </pc:sldMkLst>
        <pc:spChg chg="mod">
          <ac:chgData name="Francesco Bellotti" userId="f453232b-f87d-4756-9d8b-c09bc835cc42" providerId="ADAL" clId="{C7FEA3FA-4936-41E1-B7FA-CA082069F7F7}" dt="2026-10-07T12:12:40.885" v="7213" actId="27636"/>
          <ac:spMkLst>
            <pc:docMk/>
            <pc:sldMk cId="889180471" sldId="419"/>
            <ac:spMk id="3" creationId="{ED7A2628-CB37-F40F-2BCD-8C9AD5285ECF}"/>
          </ac:spMkLst>
        </pc:spChg>
        <pc:spChg chg="mod">
          <ac:chgData name="Francesco Bellotti" userId="f453232b-f87d-4756-9d8b-c09bc835cc42" providerId="ADAL" clId="{C7FEA3FA-4936-41E1-B7FA-CA082069F7F7}" dt="2026-10-07T12:12:50.125" v="7229" actId="20577"/>
          <ac:spMkLst>
            <pc:docMk/>
            <pc:sldMk cId="889180471" sldId="419"/>
            <ac:spMk id="4" creationId="{9EDA3DA0-7B36-C2E5-B9B7-49B216F81205}"/>
          </ac:spMkLst>
        </pc:spChg>
      </pc:sldChg>
      <pc:sldChg chg="modSp mod">
        <pc:chgData name="Francesco Bellotti" userId="f453232b-f87d-4756-9d8b-c09bc835cc42" providerId="ADAL" clId="{C7FEA3FA-4936-41E1-B7FA-CA082069F7F7}" dt="2026-10-07T12:13:41.225" v="7234" actId="113"/>
        <pc:sldMkLst>
          <pc:docMk/>
          <pc:sldMk cId="753363720" sldId="420"/>
        </pc:sldMkLst>
        <pc:spChg chg="mod">
          <ac:chgData name="Francesco Bellotti" userId="f453232b-f87d-4756-9d8b-c09bc835cc42" providerId="ADAL" clId="{C7FEA3FA-4936-41E1-B7FA-CA082069F7F7}" dt="2026-10-07T12:13:21.710" v="7232" actId="1076"/>
          <ac:spMkLst>
            <pc:docMk/>
            <pc:sldMk cId="753363720" sldId="420"/>
            <ac:spMk id="2" creationId="{0ABD8E78-A4B5-6AEC-851C-B07B23502552}"/>
          </ac:spMkLst>
        </pc:spChg>
        <pc:spChg chg="mod">
          <ac:chgData name="Francesco Bellotti" userId="f453232b-f87d-4756-9d8b-c09bc835cc42" providerId="ADAL" clId="{C7FEA3FA-4936-41E1-B7FA-CA082069F7F7}" dt="2026-10-07T12:13:41.225" v="7234" actId="113"/>
          <ac:spMkLst>
            <pc:docMk/>
            <pc:sldMk cId="753363720" sldId="420"/>
            <ac:spMk id="3" creationId="{9A2C8876-66B7-9C53-21D9-7B41EBD7560A}"/>
          </ac:spMkLst>
        </pc:spChg>
      </pc:sldChg>
      <pc:sldChg chg="modSp mod">
        <pc:chgData name="Francesco Bellotti" userId="f453232b-f87d-4756-9d8b-c09bc835cc42" providerId="ADAL" clId="{C7FEA3FA-4936-41E1-B7FA-CA082069F7F7}" dt="2026-10-07T12:14:20.295" v="7236" actId="113"/>
        <pc:sldMkLst>
          <pc:docMk/>
          <pc:sldMk cId="3578145917" sldId="421"/>
        </pc:sldMkLst>
        <pc:spChg chg="mod">
          <ac:chgData name="Francesco Bellotti" userId="f453232b-f87d-4756-9d8b-c09bc835cc42" providerId="ADAL" clId="{C7FEA3FA-4936-41E1-B7FA-CA082069F7F7}" dt="2026-10-07T12:14:20.295" v="7236" actId="113"/>
          <ac:spMkLst>
            <pc:docMk/>
            <pc:sldMk cId="3578145917" sldId="421"/>
            <ac:spMk id="3" creationId="{F4281DF5-990D-4A2A-1926-8AEE65661F16}"/>
          </ac:spMkLst>
        </pc:spChg>
      </pc:sldChg>
      <pc:sldChg chg="modSp mod">
        <pc:chgData name="Francesco Bellotti" userId="f453232b-f87d-4756-9d8b-c09bc835cc42" providerId="ADAL" clId="{C7FEA3FA-4936-41E1-B7FA-CA082069F7F7}" dt="2026-10-07T12:15:19.722" v="7240" actId="13926"/>
        <pc:sldMkLst>
          <pc:docMk/>
          <pc:sldMk cId="162846657" sldId="422"/>
        </pc:sldMkLst>
        <pc:spChg chg="mod">
          <ac:chgData name="Francesco Bellotti" userId="f453232b-f87d-4756-9d8b-c09bc835cc42" providerId="ADAL" clId="{C7FEA3FA-4936-41E1-B7FA-CA082069F7F7}" dt="2026-10-07T12:15:19.722" v="7240" actId="13926"/>
          <ac:spMkLst>
            <pc:docMk/>
            <pc:sldMk cId="162846657" sldId="422"/>
            <ac:spMk id="4" creationId="{20C00B19-5C20-23B1-7D09-6CAE43E99A5F}"/>
          </ac:spMkLst>
        </pc:spChg>
      </pc:sldChg>
      <pc:sldChg chg="modSp mod">
        <pc:chgData name="Francesco Bellotti" userId="f453232b-f87d-4756-9d8b-c09bc835cc42" providerId="ADAL" clId="{C7FEA3FA-4936-41E1-B7FA-CA082069F7F7}" dt="2026-10-07T12:16:47.918" v="7251" actId="113"/>
        <pc:sldMkLst>
          <pc:docMk/>
          <pc:sldMk cId="3969670919" sldId="423"/>
        </pc:sldMkLst>
        <pc:spChg chg="mod">
          <ac:chgData name="Francesco Bellotti" userId="f453232b-f87d-4756-9d8b-c09bc835cc42" providerId="ADAL" clId="{C7FEA3FA-4936-41E1-B7FA-CA082069F7F7}" dt="2026-10-07T12:16:31.607" v="7249" actId="20577"/>
          <ac:spMkLst>
            <pc:docMk/>
            <pc:sldMk cId="3969670919" sldId="423"/>
            <ac:spMk id="2" creationId="{404E0086-EAED-4775-AF8D-B5F5EF68171B}"/>
          </ac:spMkLst>
        </pc:spChg>
        <pc:spChg chg="mod">
          <ac:chgData name="Francesco Bellotti" userId="f453232b-f87d-4756-9d8b-c09bc835cc42" providerId="ADAL" clId="{C7FEA3FA-4936-41E1-B7FA-CA082069F7F7}" dt="2026-10-07T12:16:47.918" v="7251" actId="113"/>
          <ac:spMkLst>
            <pc:docMk/>
            <pc:sldMk cId="3969670919" sldId="423"/>
            <ac:spMk id="4" creationId="{FCFF346F-CDDA-9D45-4272-BDF80597B18B}"/>
          </ac:spMkLst>
        </pc:spChg>
      </pc:sldChg>
      <pc:sldChg chg="modSp mod">
        <pc:chgData name="Francesco Bellotti" userId="f453232b-f87d-4756-9d8b-c09bc835cc42" providerId="ADAL" clId="{C7FEA3FA-4936-41E1-B7FA-CA082069F7F7}" dt="2026-10-10T22:03:18.266" v="8361" actId="13926"/>
        <pc:sldMkLst>
          <pc:docMk/>
          <pc:sldMk cId="1374202784" sldId="424"/>
        </pc:sldMkLst>
        <pc:spChg chg="mod">
          <ac:chgData name="Francesco Bellotti" userId="f453232b-f87d-4756-9d8b-c09bc835cc42" providerId="ADAL" clId="{C7FEA3FA-4936-41E1-B7FA-CA082069F7F7}" dt="2026-10-10T22:02:40.032" v="8357" actId="27636"/>
          <ac:spMkLst>
            <pc:docMk/>
            <pc:sldMk cId="1374202784" sldId="424"/>
            <ac:spMk id="3" creationId="{12B880C4-AED6-1C6C-14EE-3336BACA99B9}"/>
          </ac:spMkLst>
        </pc:spChg>
        <pc:spChg chg="mod">
          <ac:chgData name="Francesco Bellotti" userId="f453232b-f87d-4756-9d8b-c09bc835cc42" providerId="ADAL" clId="{C7FEA3FA-4936-41E1-B7FA-CA082069F7F7}" dt="2026-10-10T22:03:18.266" v="8361" actId="13926"/>
          <ac:spMkLst>
            <pc:docMk/>
            <pc:sldMk cId="1374202784" sldId="424"/>
            <ac:spMk id="4" creationId="{BB09A67B-BA4B-7F72-E436-306AED70CA81}"/>
          </ac:spMkLst>
        </pc:spChg>
      </pc:sldChg>
      <pc:sldChg chg="modSp mod">
        <pc:chgData name="Francesco Bellotti" userId="f453232b-f87d-4756-9d8b-c09bc835cc42" providerId="ADAL" clId="{C7FEA3FA-4936-41E1-B7FA-CA082069F7F7}" dt="2026-10-07T12:18:06.531" v="7255" actId="13926"/>
        <pc:sldMkLst>
          <pc:docMk/>
          <pc:sldMk cId="2279420097" sldId="425"/>
        </pc:sldMkLst>
        <pc:spChg chg="mod">
          <ac:chgData name="Francesco Bellotti" userId="f453232b-f87d-4756-9d8b-c09bc835cc42" providerId="ADAL" clId="{C7FEA3FA-4936-41E1-B7FA-CA082069F7F7}" dt="2026-10-07T12:18:06.531" v="7255" actId="13926"/>
          <ac:spMkLst>
            <pc:docMk/>
            <pc:sldMk cId="2279420097" sldId="425"/>
            <ac:spMk id="2" creationId="{750B7EB2-6773-68FF-6214-05B57B1E8AF0}"/>
          </ac:spMkLst>
        </pc:spChg>
      </pc:sldChg>
      <pc:sldChg chg="modSp mod">
        <pc:chgData name="Francesco Bellotti" userId="f453232b-f87d-4756-9d8b-c09bc835cc42" providerId="ADAL" clId="{C7FEA3FA-4936-41E1-B7FA-CA082069F7F7}" dt="2026-10-07T12:20:10.795" v="7259" actId="13926"/>
        <pc:sldMkLst>
          <pc:docMk/>
          <pc:sldMk cId="2464871777" sldId="426"/>
        </pc:sldMkLst>
        <pc:spChg chg="mod">
          <ac:chgData name="Francesco Bellotti" userId="f453232b-f87d-4756-9d8b-c09bc835cc42" providerId="ADAL" clId="{C7FEA3FA-4936-41E1-B7FA-CA082069F7F7}" dt="2026-10-07T12:20:10.795" v="7259" actId="13926"/>
          <ac:spMkLst>
            <pc:docMk/>
            <pc:sldMk cId="2464871777" sldId="426"/>
            <ac:spMk id="4" creationId="{DED75D5B-FE0F-94B7-8D41-2C9751247779}"/>
          </ac:spMkLst>
        </pc:spChg>
      </pc:sldChg>
      <pc:sldChg chg="modSp mod">
        <pc:chgData name="Francesco Bellotti" userId="f453232b-f87d-4756-9d8b-c09bc835cc42" providerId="ADAL" clId="{C7FEA3FA-4936-41E1-B7FA-CA082069F7F7}" dt="2026-10-07T12:21:56.844" v="7263" actId="13926"/>
        <pc:sldMkLst>
          <pc:docMk/>
          <pc:sldMk cId="1956005274" sldId="427"/>
        </pc:sldMkLst>
        <pc:spChg chg="mod">
          <ac:chgData name="Francesco Bellotti" userId="f453232b-f87d-4756-9d8b-c09bc835cc42" providerId="ADAL" clId="{C7FEA3FA-4936-41E1-B7FA-CA082069F7F7}" dt="2026-10-07T12:21:56.844" v="7263" actId="13926"/>
          <ac:spMkLst>
            <pc:docMk/>
            <pc:sldMk cId="1956005274" sldId="427"/>
            <ac:spMk id="2" creationId="{71E99804-6D61-0977-EDCC-F4D071937444}"/>
          </ac:spMkLst>
        </pc:spChg>
        <pc:spChg chg="mod">
          <ac:chgData name="Francesco Bellotti" userId="f453232b-f87d-4756-9d8b-c09bc835cc42" providerId="ADAL" clId="{C7FEA3FA-4936-41E1-B7FA-CA082069F7F7}" dt="2026-10-07T12:21:47.028" v="7262" actId="13926"/>
          <ac:spMkLst>
            <pc:docMk/>
            <pc:sldMk cId="1956005274" sldId="427"/>
            <ac:spMk id="3" creationId="{99B146BB-646F-1D74-D6C4-0D49A0016ABE}"/>
          </ac:spMkLst>
        </pc:spChg>
      </pc:sldChg>
      <pc:sldChg chg="modSp mod">
        <pc:chgData name="Francesco Bellotti" userId="f453232b-f87d-4756-9d8b-c09bc835cc42" providerId="ADAL" clId="{C7FEA3FA-4936-41E1-B7FA-CA082069F7F7}" dt="2026-10-07T15:13:28.917" v="7270" actId="13926"/>
        <pc:sldMkLst>
          <pc:docMk/>
          <pc:sldMk cId="865209300" sldId="429"/>
        </pc:sldMkLst>
        <pc:spChg chg="mod">
          <ac:chgData name="Francesco Bellotti" userId="f453232b-f87d-4756-9d8b-c09bc835cc42" providerId="ADAL" clId="{C7FEA3FA-4936-41E1-B7FA-CA082069F7F7}" dt="2026-10-07T15:13:15.209" v="7268" actId="13926"/>
          <ac:spMkLst>
            <pc:docMk/>
            <pc:sldMk cId="865209300" sldId="429"/>
            <ac:spMk id="3" creationId="{BC3E412E-E842-017C-235D-1543B1B0B7DA}"/>
          </ac:spMkLst>
        </pc:spChg>
        <pc:spChg chg="mod">
          <ac:chgData name="Francesco Bellotti" userId="f453232b-f87d-4756-9d8b-c09bc835cc42" providerId="ADAL" clId="{C7FEA3FA-4936-41E1-B7FA-CA082069F7F7}" dt="2026-10-07T15:13:28.917" v="7270" actId="13926"/>
          <ac:spMkLst>
            <pc:docMk/>
            <pc:sldMk cId="865209300" sldId="429"/>
            <ac:spMk id="4" creationId="{801FE181-51E2-0EA3-6447-A2343110FBFE}"/>
          </ac:spMkLst>
        </pc:spChg>
      </pc:sldChg>
      <pc:sldChg chg="modSp mod">
        <pc:chgData name="Francesco Bellotti" userId="f453232b-f87d-4756-9d8b-c09bc835cc42" providerId="ADAL" clId="{C7FEA3FA-4936-41E1-B7FA-CA082069F7F7}" dt="2026-10-10T22:06:19.662" v="8377" actId="20577"/>
        <pc:sldMkLst>
          <pc:docMk/>
          <pc:sldMk cId="54759106" sldId="430"/>
        </pc:sldMkLst>
        <pc:spChg chg="mod">
          <ac:chgData name="Francesco Bellotti" userId="f453232b-f87d-4756-9d8b-c09bc835cc42" providerId="ADAL" clId="{C7FEA3FA-4936-41E1-B7FA-CA082069F7F7}" dt="2026-10-10T22:06:19.662" v="8377" actId="20577"/>
          <ac:spMkLst>
            <pc:docMk/>
            <pc:sldMk cId="54759106" sldId="430"/>
            <ac:spMk id="2" creationId="{A34A45B3-8143-5453-101E-9191C5512A37}"/>
          </ac:spMkLst>
        </pc:spChg>
      </pc:sldChg>
      <pc:sldChg chg="modSp mod">
        <pc:chgData name="Francesco Bellotti" userId="f453232b-f87d-4756-9d8b-c09bc835cc42" providerId="ADAL" clId="{C7FEA3FA-4936-41E1-B7FA-CA082069F7F7}" dt="2026-10-07T15:17:59.984" v="7293" actId="13926"/>
        <pc:sldMkLst>
          <pc:docMk/>
          <pc:sldMk cId="269516" sldId="432"/>
        </pc:sldMkLst>
        <pc:spChg chg="mod">
          <ac:chgData name="Francesco Bellotti" userId="f453232b-f87d-4756-9d8b-c09bc835cc42" providerId="ADAL" clId="{C7FEA3FA-4936-41E1-B7FA-CA082069F7F7}" dt="2026-10-07T15:17:59.984" v="7293" actId="13926"/>
          <ac:spMkLst>
            <pc:docMk/>
            <pc:sldMk cId="269516" sldId="432"/>
            <ac:spMk id="4" creationId="{ACF3DBAC-482B-62D3-B839-19728E5640B2}"/>
          </ac:spMkLst>
        </pc:spChg>
      </pc:sldChg>
      <pc:sldChg chg="addSp modSp mod">
        <pc:chgData name="Francesco Bellotti" userId="f453232b-f87d-4756-9d8b-c09bc835cc42" providerId="ADAL" clId="{C7FEA3FA-4936-41E1-B7FA-CA082069F7F7}" dt="2026-10-10T22:11:47.566" v="8476" actId="108"/>
        <pc:sldMkLst>
          <pc:docMk/>
          <pc:sldMk cId="3416492718" sldId="433"/>
        </pc:sldMkLst>
        <pc:spChg chg="mod">
          <ac:chgData name="Francesco Bellotti" userId="f453232b-f87d-4756-9d8b-c09bc835cc42" providerId="ADAL" clId="{C7FEA3FA-4936-41E1-B7FA-CA082069F7F7}" dt="2026-10-10T22:11:47.566" v="8476" actId="108"/>
          <ac:spMkLst>
            <pc:docMk/>
            <pc:sldMk cId="3416492718" sldId="433"/>
            <ac:spMk id="2" creationId="{6C29A2E8-1470-432F-07FD-6D01ABB7D4A6}"/>
          </ac:spMkLst>
        </pc:spChg>
        <pc:spChg chg="mod">
          <ac:chgData name="Francesco Bellotti" userId="f453232b-f87d-4756-9d8b-c09bc835cc42" providerId="ADAL" clId="{C7FEA3FA-4936-41E1-B7FA-CA082069F7F7}" dt="2026-10-07T15:18:22.382" v="7295" actId="113"/>
          <ac:spMkLst>
            <pc:docMk/>
            <pc:sldMk cId="3416492718" sldId="433"/>
            <ac:spMk id="3" creationId="{134223EB-5E84-4AE5-8320-15E6A3668842}"/>
          </ac:spMkLst>
        </pc:spChg>
        <pc:spChg chg="mod">
          <ac:chgData name="Francesco Bellotti" userId="f453232b-f87d-4756-9d8b-c09bc835cc42" providerId="ADAL" clId="{C7FEA3FA-4936-41E1-B7FA-CA082069F7F7}" dt="2026-10-10T22:10:24.944" v="8415" actId="207"/>
          <ac:spMkLst>
            <pc:docMk/>
            <pc:sldMk cId="3416492718" sldId="433"/>
            <ac:spMk id="4" creationId="{8B24C7CA-580F-A2C6-A81F-61485B296DFE}"/>
          </ac:spMkLst>
        </pc:spChg>
        <pc:spChg chg="add mod">
          <ac:chgData name="Francesco Bellotti" userId="f453232b-f87d-4756-9d8b-c09bc835cc42" providerId="ADAL" clId="{C7FEA3FA-4936-41E1-B7FA-CA082069F7F7}" dt="2026-10-10T22:11:12.013" v="8470" actId="1076"/>
          <ac:spMkLst>
            <pc:docMk/>
            <pc:sldMk cId="3416492718" sldId="433"/>
            <ac:spMk id="5" creationId="{E5A08AAF-5384-0EED-818C-317A596649CA}"/>
          </ac:spMkLst>
        </pc:spChg>
        <pc:cxnChg chg="add mod">
          <ac:chgData name="Francesco Bellotti" userId="f453232b-f87d-4756-9d8b-c09bc835cc42" providerId="ADAL" clId="{C7FEA3FA-4936-41E1-B7FA-CA082069F7F7}" dt="2026-10-10T22:11:20.457" v="8472" actId="14100"/>
          <ac:cxnSpMkLst>
            <pc:docMk/>
            <pc:sldMk cId="3416492718" sldId="433"/>
            <ac:cxnSpMk id="7" creationId="{C217DB32-733B-0503-BBDE-7C7E33C2818B}"/>
          </ac:cxnSpMkLst>
        </pc:cxnChg>
        <pc:cxnChg chg="add mod">
          <ac:chgData name="Francesco Bellotti" userId="f453232b-f87d-4756-9d8b-c09bc835cc42" providerId="ADAL" clId="{C7FEA3FA-4936-41E1-B7FA-CA082069F7F7}" dt="2026-10-10T22:11:29.179" v="8475" actId="14100"/>
          <ac:cxnSpMkLst>
            <pc:docMk/>
            <pc:sldMk cId="3416492718" sldId="433"/>
            <ac:cxnSpMk id="9" creationId="{55036307-CCE2-96F4-A8F2-663604075291}"/>
          </ac:cxnSpMkLst>
        </pc:cxnChg>
      </pc:sldChg>
      <pc:sldChg chg="modSp mod">
        <pc:chgData name="Francesco Bellotti" userId="f453232b-f87d-4756-9d8b-c09bc835cc42" providerId="ADAL" clId="{C7FEA3FA-4936-41E1-B7FA-CA082069F7F7}" dt="2026-10-07T15:21:35.161" v="7304" actId="13926"/>
        <pc:sldMkLst>
          <pc:docMk/>
          <pc:sldMk cId="4004356196" sldId="434"/>
        </pc:sldMkLst>
        <pc:spChg chg="mod">
          <ac:chgData name="Francesco Bellotti" userId="f453232b-f87d-4756-9d8b-c09bc835cc42" providerId="ADAL" clId="{C7FEA3FA-4936-41E1-B7FA-CA082069F7F7}" dt="2026-10-07T15:21:35.161" v="7304" actId="13926"/>
          <ac:spMkLst>
            <pc:docMk/>
            <pc:sldMk cId="4004356196" sldId="434"/>
            <ac:spMk id="4" creationId="{8F9FEF18-F818-A2F0-F999-B042CBFE8A01}"/>
          </ac:spMkLst>
        </pc:spChg>
      </pc:sldChg>
      <pc:sldChg chg="modSp mod">
        <pc:chgData name="Francesco Bellotti" userId="f453232b-f87d-4756-9d8b-c09bc835cc42" providerId="ADAL" clId="{C7FEA3FA-4936-41E1-B7FA-CA082069F7F7}" dt="2026-10-07T15:23:00.315" v="7309" actId="13926"/>
        <pc:sldMkLst>
          <pc:docMk/>
          <pc:sldMk cId="1222769705" sldId="435"/>
        </pc:sldMkLst>
        <pc:spChg chg="mod">
          <ac:chgData name="Francesco Bellotti" userId="f453232b-f87d-4756-9d8b-c09bc835cc42" providerId="ADAL" clId="{C7FEA3FA-4936-41E1-B7FA-CA082069F7F7}" dt="2026-10-07T15:22:47.260" v="7306" actId="13926"/>
          <ac:spMkLst>
            <pc:docMk/>
            <pc:sldMk cId="1222769705" sldId="435"/>
            <ac:spMk id="3" creationId="{8E035E24-A6CF-6450-75F2-B20ADCAFA458}"/>
          </ac:spMkLst>
        </pc:spChg>
        <pc:spChg chg="mod">
          <ac:chgData name="Francesco Bellotti" userId="f453232b-f87d-4756-9d8b-c09bc835cc42" providerId="ADAL" clId="{C7FEA3FA-4936-41E1-B7FA-CA082069F7F7}" dt="2026-10-07T15:23:00.315" v="7309" actId="13926"/>
          <ac:spMkLst>
            <pc:docMk/>
            <pc:sldMk cId="1222769705" sldId="435"/>
            <ac:spMk id="4" creationId="{98C925AE-522D-202E-C165-A61A502F92C6}"/>
          </ac:spMkLst>
        </pc:spChg>
      </pc:sldChg>
      <pc:sldChg chg="modSp mod">
        <pc:chgData name="Francesco Bellotti" userId="f453232b-f87d-4756-9d8b-c09bc835cc42" providerId="ADAL" clId="{C7FEA3FA-4936-41E1-B7FA-CA082069F7F7}" dt="2026-10-10T22:12:17.761" v="8479" actId="207"/>
        <pc:sldMkLst>
          <pc:docMk/>
          <pc:sldMk cId="3511716005" sldId="436"/>
        </pc:sldMkLst>
        <pc:spChg chg="mod">
          <ac:chgData name="Francesco Bellotti" userId="f453232b-f87d-4756-9d8b-c09bc835cc42" providerId="ADAL" clId="{C7FEA3FA-4936-41E1-B7FA-CA082069F7F7}" dt="2026-10-10T22:12:12.880" v="8478" actId="207"/>
          <ac:spMkLst>
            <pc:docMk/>
            <pc:sldMk cId="3511716005" sldId="436"/>
            <ac:spMk id="3" creationId="{DC19CCF3-FCE9-D776-FD24-2B60C92BFCB5}"/>
          </ac:spMkLst>
        </pc:spChg>
        <pc:spChg chg="mod">
          <ac:chgData name="Francesco Bellotti" userId="f453232b-f87d-4756-9d8b-c09bc835cc42" providerId="ADAL" clId="{C7FEA3FA-4936-41E1-B7FA-CA082069F7F7}" dt="2026-10-10T22:12:17.761" v="8479" actId="207"/>
          <ac:spMkLst>
            <pc:docMk/>
            <pc:sldMk cId="3511716005" sldId="436"/>
            <ac:spMk id="4" creationId="{9AB364C2-BCE9-A7E5-4ADE-BAA05D298C47}"/>
          </ac:spMkLst>
        </pc:spChg>
        <pc:spChg chg="mod">
          <ac:chgData name="Francesco Bellotti" userId="f453232b-f87d-4756-9d8b-c09bc835cc42" providerId="ADAL" clId="{C7FEA3FA-4936-41E1-B7FA-CA082069F7F7}" dt="2026-10-07T15:25:16.183" v="7320" actId="113"/>
          <ac:spMkLst>
            <pc:docMk/>
            <pc:sldMk cId="3511716005" sldId="436"/>
            <ac:spMk id="6" creationId="{7F2F5046-E75F-FE36-6589-8A171937CF05}"/>
          </ac:spMkLst>
        </pc:spChg>
      </pc:sldChg>
      <pc:sldChg chg="modSp mod">
        <pc:chgData name="Francesco Bellotti" userId="f453232b-f87d-4756-9d8b-c09bc835cc42" providerId="ADAL" clId="{C7FEA3FA-4936-41E1-B7FA-CA082069F7F7}" dt="2026-10-09T13:32:51.699" v="7340" actId="113"/>
        <pc:sldMkLst>
          <pc:docMk/>
          <pc:sldMk cId="2775160245" sldId="437"/>
        </pc:sldMkLst>
        <pc:spChg chg="mod">
          <ac:chgData name="Francesco Bellotti" userId="f453232b-f87d-4756-9d8b-c09bc835cc42" providerId="ADAL" clId="{C7FEA3FA-4936-41E1-B7FA-CA082069F7F7}" dt="2026-10-09T13:32:51.699" v="7340" actId="113"/>
          <ac:spMkLst>
            <pc:docMk/>
            <pc:sldMk cId="2775160245" sldId="437"/>
            <ac:spMk id="3" creationId="{68B6DDB2-1AC5-49B0-8BC7-AA939ACB912C}"/>
          </ac:spMkLst>
        </pc:spChg>
      </pc:sldChg>
      <pc:sldChg chg="modSp mod">
        <pc:chgData name="Francesco Bellotti" userId="f453232b-f87d-4756-9d8b-c09bc835cc42" providerId="ADAL" clId="{C7FEA3FA-4936-41E1-B7FA-CA082069F7F7}" dt="2026-10-09T13:34:02.172" v="7347" actId="20577"/>
        <pc:sldMkLst>
          <pc:docMk/>
          <pc:sldMk cId="420482092" sldId="438"/>
        </pc:sldMkLst>
        <pc:spChg chg="mod">
          <ac:chgData name="Francesco Bellotti" userId="f453232b-f87d-4756-9d8b-c09bc835cc42" providerId="ADAL" clId="{C7FEA3FA-4936-41E1-B7FA-CA082069F7F7}" dt="2026-10-09T13:34:02.172" v="7347" actId="20577"/>
          <ac:spMkLst>
            <pc:docMk/>
            <pc:sldMk cId="420482092" sldId="438"/>
            <ac:spMk id="4" creationId="{44A5AEBF-6F70-08B8-036F-A5B18693DE37}"/>
          </ac:spMkLst>
        </pc:spChg>
      </pc:sldChg>
      <pc:sldChg chg="modSp mod">
        <pc:chgData name="Francesco Bellotti" userId="f453232b-f87d-4756-9d8b-c09bc835cc42" providerId="ADAL" clId="{C7FEA3FA-4936-41E1-B7FA-CA082069F7F7}" dt="2026-10-09T13:35:17.367" v="7351" actId="13926"/>
        <pc:sldMkLst>
          <pc:docMk/>
          <pc:sldMk cId="2452159053" sldId="439"/>
        </pc:sldMkLst>
        <pc:spChg chg="mod">
          <ac:chgData name="Francesco Bellotti" userId="f453232b-f87d-4756-9d8b-c09bc835cc42" providerId="ADAL" clId="{C7FEA3FA-4936-41E1-B7FA-CA082069F7F7}" dt="2026-10-09T13:35:17.367" v="7351" actId="13926"/>
          <ac:spMkLst>
            <pc:docMk/>
            <pc:sldMk cId="2452159053" sldId="439"/>
            <ac:spMk id="4" creationId="{547FEBD2-CEA8-2988-6C0D-826921B70A44}"/>
          </ac:spMkLst>
        </pc:spChg>
      </pc:sldChg>
      <pc:sldChg chg="modSp mod">
        <pc:chgData name="Francesco Bellotti" userId="f453232b-f87d-4756-9d8b-c09bc835cc42" providerId="ADAL" clId="{C7FEA3FA-4936-41E1-B7FA-CA082069F7F7}" dt="2026-10-10T22:14:14.261" v="8527" actId="27636"/>
        <pc:sldMkLst>
          <pc:docMk/>
          <pc:sldMk cId="2019661679" sldId="440"/>
        </pc:sldMkLst>
        <pc:spChg chg="mod">
          <ac:chgData name="Francesco Bellotti" userId="f453232b-f87d-4756-9d8b-c09bc835cc42" providerId="ADAL" clId="{C7FEA3FA-4936-41E1-B7FA-CA082069F7F7}" dt="2026-10-10T22:14:14.261" v="8526" actId="27636"/>
          <ac:spMkLst>
            <pc:docMk/>
            <pc:sldMk cId="2019661679" sldId="440"/>
            <ac:spMk id="3" creationId="{9226A73C-70B0-43B3-7A98-0209652D82FB}"/>
          </ac:spMkLst>
        </pc:spChg>
        <pc:spChg chg="mod">
          <ac:chgData name="Francesco Bellotti" userId="f453232b-f87d-4756-9d8b-c09bc835cc42" providerId="ADAL" clId="{C7FEA3FA-4936-41E1-B7FA-CA082069F7F7}" dt="2026-10-10T22:14:14.261" v="8527" actId="27636"/>
          <ac:spMkLst>
            <pc:docMk/>
            <pc:sldMk cId="2019661679" sldId="440"/>
            <ac:spMk id="4" creationId="{28A8F827-3614-1D4E-A651-F0352E911042}"/>
          </ac:spMkLst>
        </pc:spChg>
      </pc:sldChg>
      <pc:sldChg chg="modSp mod">
        <pc:chgData name="Francesco Bellotti" userId="f453232b-f87d-4756-9d8b-c09bc835cc42" providerId="ADAL" clId="{C7FEA3FA-4936-41E1-B7FA-CA082069F7F7}" dt="2026-10-10T22:20:34.674" v="8544" actId="1076"/>
        <pc:sldMkLst>
          <pc:docMk/>
          <pc:sldMk cId="2444319482" sldId="442"/>
        </pc:sldMkLst>
        <pc:spChg chg="mod">
          <ac:chgData name="Francesco Bellotti" userId="f453232b-f87d-4756-9d8b-c09bc835cc42" providerId="ADAL" clId="{C7FEA3FA-4936-41E1-B7FA-CA082069F7F7}" dt="2026-10-10T22:20:17.582" v="8541" actId="27636"/>
          <ac:spMkLst>
            <pc:docMk/>
            <pc:sldMk cId="2444319482" sldId="442"/>
            <ac:spMk id="3" creationId="{F3BA3BC2-3A86-767A-DFF5-4FD51A1516BD}"/>
          </ac:spMkLst>
        </pc:spChg>
        <pc:spChg chg="mod">
          <ac:chgData name="Francesco Bellotti" userId="f453232b-f87d-4756-9d8b-c09bc835cc42" providerId="ADAL" clId="{C7FEA3FA-4936-41E1-B7FA-CA082069F7F7}" dt="2026-10-10T22:20:27.570" v="8543" actId="13926"/>
          <ac:spMkLst>
            <pc:docMk/>
            <pc:sldMk cId="2444319482" sldId="442"/>
            <ac:spMk id="4" creationId="{ADD6AE5A-AF51-4B5D-0FEB-33CF04A25A42}"/>
          </ac:spMkLst>
        </pc:spChg>
        <pc:spChg chg="mod">
          <ac:chgData name="Francesco Bellotti" userId="f453232b-f87d-4756-9d8b-c09bc835cc42" providerId="ADAL" clId="{C7FEA3FA-4936-41E1-B7FA-CA082069F7F7}" dt="2026-10-10T22:20:34.674" v="8544" actId="1076"/>
          <ac:spMkLst>
            <pc:docMk/>
            <pc:sldMk cId="2444319482" sldId="442"/>
            <ac:spMk id="6" creationId="{2419692D-DE7F-52E4-6805-CA43319BC33B}"/>
          </ac:spMkLst>
        </pc:spChg>
      </pc:sldChg>
      <pc:sldChg chg="modSp mod">
        <pc:chgData name="Francesco Bellotti" userId="f453232b-f87d-4756-9d8b-c09bc835cc42" providerId="ADAL" clId="{C7FEA3FA-4936-41E1-B7FA-CA082069F7F7}" dt="2026-10-07T15:26:12.036" v="7329" actId="113"/>
        <pc:sldMkLst>
          <pc:docMk/>
          <pc:sldMk cId="3214956456" sldId="443"/>
        </pc:sldMkLst>
        <pc:spChg chg="mod">
          <ac:chgData name="Francesco Bellotti" userId="f453232b-f87d-4756-9d8b-c09bc835cc42" providerId="ADAL" clId="{C7FEA3FA-4936-41E1-B7FA-CA082069F7F7}" dt="2026-10-07T15:26:12.036" v="7329" actId="113"/>
          <ac:spMkLst>
            <pc:docMk/>
            <pc:sldMk cId="3214956456" sldId="443"/>
            <ac:spMk id="3" creationId="{70DE6BF6-9889-72D5-2062-D33812A9FF75}"/>
          </ac:spMkLst>
        </pc:spChg>
        <pc:spChg chg="mod">
          <ac:chgData name="Francesco Bellotti" userId="f453232b-f87d-4756-9d8b-c09bc835cc42" providerId="ADAL" clId="{C7FEA3FA-4936-41E1-B7FA-CA082069F7F7}" dt="2026-10-07T15:26:03.690" v="7328" actId="13926"/>
          <ac:spMkLst>
            <pc:docMk/>
            <pc:sldMk cId="3214956456" sldId="443"/>
            <ac:spMk id="4" creationId="{4711508B-5919-C3E0-D7E4-C54917BA1E03}"/>
          </ac:spMkLst>
        </pc:spChg>
      </pc:sldChg>
      <pc:sldChg chg="modSp mod">
        <pc:chgData name="Francesco Bellotti" userId="f453232b-f87d-4756-9d8b-c09bc835cc42" providerId="ADAL" clId="{C7FEA3FA-4936-41E1-B7FA-CA082069F7F7}" dt="2026-10-10T22:22:47.206" v="8580" actId="20577"/>
        <pc:sldMkLst>
          <pc:docMk/>
          <pc:sldMk cId="2051480685" sldId="444"/>
        </pc:sldMkLst>
        <pc:spChg chg="mod">
          <ac:chgData name="Francesco Bellotti" userId="f453232b-f87d-4756-9d8b-c09bc835cc42" providerId="ADAL" clId="{C7FEA3FA-4936-41E1-B7FA-CA082069F7F7}" dt="2026-10-10T22:22:47.206" v="8580" actId="20577"/>
          <ac:spMkLst>
            <pc:docMk/>
            <pc:sldMk cId="2051480685" sldId="444"/>
            <ac:spMk id="3" creationId="{EC52302C-E7C3-D28E-8327-B39D5D3675C8}"/>
          </ac:spMkLst>
        </pc:spChg>
      </pc:sldChg>
      <pc:sldChg chg="modSp mod">
        <pc:chgData name="Francesco Bellotti" userId="f453232b-f87d-4756-9d8b-c09bc835cc42" providerId="ADAL" clId="{C7FEA3FA-4936-41E1-B7FA-CA082069F7F7}" dt="2026-10-07T12:14:45.885" v="7237" actId="13926"/>
        <pc:sldMkLst>
          <pc:docMk/>
          <pc:sldMk cId="3798864367" sldId="445"/>
        </pc:sldMkLst>
        <pc:spChg chg="mod">
          <ac:chgData name="Francesco Bellotti" userId="f453232b-f87d-4756-9d8b-c09bc835cc42" providerId="ADAL" clId="{C7FEA3FA-4936-41E1-B7FA-CA082069F7F7}" dt="2026-10-07T12:14:45.885" v="7237" actId="13926"/>
          <ac:spMkLst>
            <pc:docMk/>
            <pc:sldMk cId="3798864367" sldId="445"/>
            <ac:spMk id="4" creationId="{B5832E62-8792-8D75-D8D3-B01EF41EF372}"/>
          </ac:spMkLst>
        </pc:spChg>
      </pc:sldChg>
      <pc:sldChg chg="modSp mod">
        <pc:chgData name="Francesco Bellotti" userId="f453232b-f87d-4756-9d8b-c09bc835cc42" providerId="ADAL" clId="{C7FEA3FA-4936-41E1-B7FA-CA082069F7F7}" dt="2026-10-07T12:18:47.105" v="7257" actId="13926"/>
        <pc:sldMkLst>
          <pc:docMk/>
          <pc:sldMk cId="1270981713" sldId="446"/>
        </pc:sldMkLst>
        <pc:spChg chg="mod">
          <ac:chgData name="Francesco Bellotti" userId="f453232b-f87d-4756-9d8b-c09bc835cc42" providerId="ADAL" clId="{C7FEA3FA-4936-41E1-B7FA-CA082069F7F7}" dt="2026-10-07T12:18:47.105" v="7257" actId="13926"/>
          <ac:spMkLst>
            <pc:docMk/>
            <pc:sldMk cId="1270981713" sldId="446"/>
            <ac:spMk id="3" creationId="{C9FF336D-F394-9A7C-B7EA-8D8D494857D9}"/>
          </ac:spMkLst>
        </pc:spChg>
      </pc:sldChg>
      <pc:sldChg chg="modSp mod">
        <pc:chgData name="Francesco Bellotti" userId="f453232b-f87d-4756-9d8b-c09bc835cc42" providerId="ADAL" clId="{C7FEA3FA-4936-41E1-B7FA-CA082069F7F7}" dt="2026-10-07T12:22:09.432" v="7264" actId="13926"/>
        <pc:sldMkLst>
          <pc:docMk/>
          <pc:sldMk cId="1294244157" sldId="447"/>
        </pc:sldMkLst>
        <pc:spChg chg="mod">
          <ac:chgData name="Francesco Bellotti" userId="f453232b-f87d-4756-9d8b-c09bc835cc42" providerId="ADAL" clId="{C7FEA3FA-4936-41E1-B7FA-CA082069F7F7}" dt="2026-10-07T12:22:09.432" v="7264" actId="13926"/>
          <ac:spMkLst>
            <pc:docMk/>
            <pc:sldMk cId="1294244157" sldId="447"/>
            <ac:spMk id="3" creationId="{758138AC-F7B6-E626-2935-01DD66F825ED}"/>
          </ac:spMkLst>
        </pc:spChg>
      </pc:sldChg>
      <pc:sldChg chg="modSp mod">
        <pc:chgData name="Francesco Bellotti" userId="f453232b-f87d-4756-9d8b-c09bc835cc42" providerId="ADAL" clId="{C7FEA3FA-4936-41E1-B7FA-CA082069F7F7}" dt="2026-10-07T12:22:31.646" v="7267" actId="13926"/>
        <pc:sldMkLst>
          <pc:docMk/>
          <pc:sldMk cId="2723204341" sldId="448"/>
        </pc:sldMkLst>
        <pc:spChg chg="mod">
          <ac:chgData name="Francesco Bellotti" userId="f453232b-f87d-4756-9d8b-c09bc835cc42" providerId="ADAL" clId="{C7FEA3FA-4936-41E1-B7FA-CA082069F7F7}" dt="2026-10-07T12:22:31.646" v="7267" actId="13926"/>
          <ac:spMkLst>
            <pc:docMk/>
            <pc:sldMk cId="2723204341" sldId="448"/>
            <ac:spMk id="3" creationId="{B6B2C49B-F099-72D4-A941-FD3D1C4D11E0}"/>
          </ac:spMkLst>
        </pc:spChg>
      </pc:sldChg>
      <pc:sldChg chg="modSp mod">
        <pc:chgData name="Francesco Bellotti" userId="f453232b-f87d-4756-9d8b-c09bc835cc42" providerId="ADAL" clId="{C7FEA3FA-4936-41E1-B7FA-CA082069F7F7}" dt="2026-10-07T15:14:30.323" v="7278" actId="13926"/>
        <pc:sldMkLst>
          <pc:docMk/>
          <pc:sldMk cId="1960044243" sldId="449"/>
        </pc:sldMkLst>
        <pc:spChg chg="mod">
          <ac:chgData name="Francesco Bellotti" userId="f453232b-f87d-4756-9d8b-c09bc835cc42" providerId="ADAL" clId="{C7FEA3FA-4936-41E1-B7FA-CA082069F7F7}" dt="2026-10-07T15:14:30.323" v="7278" actId="13926"/>
          <ac:spMkLst>
            <pc:docMk/>
            <pc:sldMk cId="1960044243" sldId="449"/>
            <ac:spMk id="3" creationId="{C9FABF6A-2C56-D7E4-E84C-74834064B4A2}"/>
          </ac:spMkLst>
        </pc:spChg>
      </pc:sldChg>
      <pc:sldChg chg="modSp mod">
        <pc:chgData name="Francesco Bellotti" userId="f453232b-f87d-4756-9d8b-c09bc835cc42" providerId="ADAL" clId="{C7FEA3FA-4936-41E1-B7FA-CA082069F7F7}" dt="2026-10-07T15:23:39.509" v="7311" actId="13926"/>
        <pc:sldMkLst>
          <pc:docMk/>
          <pc:sldMk cId="3024998459" sldId="451"/>
        </pc:sldMkLst>
        <pc:spChg chg="mod">
          <ac:chgData name="Francesco Bellotti" userId="f453232b-f87d-4756-9d8b-c09bc835cc42" providerId="ADAL" clId="{C7FEA3FA-4936-41E1-B7FA-CA082069F7F7}" dt="2026-10-07T15:23:39.509" v="7311" actId="13926"/>
          <ac:spMkLst>
            <pc:docMk/>
            <pc:sldMk cId="3024998459" sldId="451"/>
            <ac:spMk id="3" creationId="{F58D2086-6B8E-00EF-00A1-EDA23B5C707E}"/>
          </ac:spMkLst>
        </pc:spChg>
      </pc:sldChg>
      <pc:sldChg chg="modSp mod">
        <pc:chgData name="Francesco Bellotti" userId="f453232b-f87d-4756-9d8b-c09bc835cc42" providerId="ADAL" clId="{C7FEA3FA-4936-41E1-B7FA-CA082069F7F7}" dt="2026-10-09T13:48:27.262" v="7362" actId="113"/>
        <pc:sldMkLst>
          <pc:docMk/>
          <pc:sldMk cId="2060776453" sldId="452"/>
        </pc:sldMkLst>
        <pc:spChg chg="mod">
          <ac:chgData name="Francesco Bellotti" userId="f453232b-f87d-4756-9d8b-c09bc835cc42" providerId="ADAL" clId="{C7FEA3FA-4936-41E1-B7FA-CA082069F7F7}" dt="2026-10-09T13:48:27.262" v="7362" actId="113"/>
          <ac:spMkLst>
            <pc:docMk/>
            <pc:sldMk cId="2060776453" sldId="452"/>
            <ac:spMk id="6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9T13:47:39.520" v="7360" actId="13926"/>
          <ac:spMkLst>
            <pc:docMk/>
            <pc:sldMk cId="2060776453" sldId="452"/>
            <ac:spMk id="19" creationId="{FDDD6A30-C532-1EFC-74BA-51C1A481540A}"/>
          </ac:spMkLst>
        </pc:spChg>
      </pc:sldChg>
      <pc:sldChg chg="addSp delSp modSp add mod setBg modNotes">
        <pc:chgData name="Francesco Bellotti" userId="f453232b-f87d-4756-9d8b-c09bc835cc42" providerId="ADAL" clId="{C7FEA3FA-4936-41E1-B7FA-CA082069F7F7}" dt="2026-10-06T07:38:53.886" v="5989"/>
        <pc:sldMkLst>
          <pc:docMk/>
          <pc:sldMk cId="0" sldId="453"/>
        </pc:sldMkLst>
      </pc:sldChg>
      <pc:sldChg chg="modSp add mod setBg modNotes">
        <pc:chgData name="Francesco Bellotti" userId="f453232b-f87d-4756-9d8b-c09bc835cc42" providerId="ADAL" clId="{C7FEA3FA-4936-41E1-B7FA-CA082069F7F7}" dt="2026-10-06T07:38:53.886" v="5989"/>
        <pc:sldMkLst>
          <pc:docMk/>
          <pc:sldMk cId="0" sldId="455"/>
        </pc:sldMkLst>
      </pc:sldChg>
      <pc:sldChg chg="addSp delSp modSp add mod setBg modNotes">
        <pc:chgData name="Francesco Bellotti" userId="f453232b-f87d-4756-9d8b-c09bc835cc42" providerId="ADAL" clId="{C7FEA3FA-4936-41E1-B7FA-CA082069F7F7}" dt="2026-10-09T16:49:05.524" v="7677" actId="11529"/>
        <pc:sldMkLst>
          <pc:docMk/>
          <pc:sldMk cId="0" sldId="456"/>
        </pc:sldMkLst>
        <pc:spChg chg="add mod">
          <ac:chgData name="Francesco Bellotti" userId="f453232b-f87d-4756-9d8b-c09bc835cc42" providerId="ADAL" clId="{C7FEA3FA-4936-41E1-B7FA-CA082069F7F7}" dt="2026-10-09T16:28:16.958" v="7612" actId="20577"/>
          <ac:spMkLst>
            <pc:docMk/>
            <pc:sldMk cId="0" sldId="456"/>
            <ac:spMk id="2" creationId="{8A864340-DFE3-45F4-C1AA-E5928DFC08F0}"/>
          </ac:spMkLst>
        </pc:spChg>
        <pc:spChg chg="add mod">
          <ac:chgData name="Francesco Bellotti" userId="f453232b-f87d-4756-9d8b-c09bc835cc42" providerId="ADAL" clId="{C7FEA3FA-4936-41E1-B7FA-CA082069F7F7}" dt="2026-10-09T16:48:59.449" v="7676" actId="14100"/>
          <ac:spMkLst>
            <pc:docMk/>
            <pc:sldMk cId="0" sldId="456"/>
            <ac:spMk id="4" creationId="{F479898F-4F29-F053-2117-503FA363D74E}"/>
          </ac:spMkLst>
        </pc:spChg>
        <pc:spChg chg="mod">
          <ac:chgData name="Francesco Bellotti" userId="f453232b-f87d-4756-9d8b-c09bc835cc42" providerId="ADAL" clId="{C7FEA3FA-4936-41E1-B7FA-CA082069F7F7}" dt="2026-10-09T16:08:36.164" v="7556" actId="20577"/>
          <ac:spMkLst>
            <pc:docMk/>
            <pc:sldMk cId="0" sldId="456"/>
            <ac:spMk id="241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9T14:30:39.236" v="7476" actId="1076"/>
          <ac:spMkLst>
            <pc:docMk/>
            <pc:sldMk cId="0" sldId="456"/>
            <ac:spMk id="249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9T14:30:45.224" v="7477" actId="14100"/>
          <ac:spMkLst>
            <pc:docMk/>
            <pc:sldMk cId="0" sldId="456"/>
            <ac:spMk id="250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9T14:28:08.269" v="7472" actId="113"/>
          <ac:spMkLst>
            <pc:docMk/>
            <pc:sldMk cId="0" sldId="456"/>
            <ac:spMk id="252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9T15:51:51.344" v="7480" actId="1076"/>
          <ac:spMkLst>
            <pc:docMk/>
            <pc:sldMk cId="0" sldId="456"/>
            <ac:spMk id="266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9T15:51:56.429" v="7483" actId="20577"/>
          <ac:spMkLst>
            <pc:docMk/>
            <pc:sldMk cId="0" sldId="456"/>
            <ac:spMk id="267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9T15:53:16.495" v="7547" actId="20577"/>
          <ac:spMkLst>
            <pc:docMk/>
            <pc:sldMk cId="0" sldId="456"/>
            <ac:spMk id="271" creationId="{00000000-0000-0000-0000-000000000000}"/>
          </ac:spMkLst>
        </pc:spChg>
        <pc:cxnChg chg="add">
          <ac:chgData name="Francesco Bellotti" userId="f453232b-f87d-4756-9d8b-c09bc835cc42" providerId="ADAL" clId="{C7FEA3FA-4936-41E1-B7FA-CA082069F7F7}" dt="2026-10-09T16:49:05.524" v="7677" actId="11529"/>
          <ac:cxnSpMkLst>
            <pc:docMk/>
            <pc:sldMk cId="0" sldId="456"/>
            <ac:cxnSpMk id="6" creationId="{7E1F0FB3-7ADF-107A-D0B0-AC00CA96A31D}"/>
          </ac:cxnSpMkLst>
        </pc:cxnChg>
      </pc:sldChg>
      <pc:sldChg chg="addSp delSp modSp add mod setBg modNotes">
        <pc:chgData name="Francesco Bellotti" userId="f453232b-f87d-4756-9d8b-c09bc835cc42" providerId="ADAL" clId="{C7FEA3FA-4936-41E1-B7FA-CA082069F7F7}" dt="2026-10-09T17:21:14.194" v="7729" actId="478"/>
        <pc:sldMkLst>
          <pc:docMk/>
          <pc:sldMk cId="0" sldId="457"/>
        </pc:sldMkLst>
        <pc:spChg chg="mod">
          <ac:chgData name="Francesco Bellotti" userId="f453232b-f87d-4756-9d8b-c09bc835cc42" providerId="ADAL" clId="{C7FEA3FA-4936-41E1-B7FA-CA082069F7F7}" dt="2026-10-09T17:10:55.661" v="7709" actId="1076"/>
          <ac:spMkLst>
            <pc:docMk/>
            <pc:sldMk cId="0" sldId="457"/>
            <ac:spMk id="9" creationId="{E37EB69D-7FD8-1CA0-0471-4F250C0637E7}"/>
          </ac:spMkLst>
        </pc:spChg>
        <pc:spChg chg="mod">
          <ac:chgData name="Francesco Bellotti" userId="f453232b-f87d-4756-9d8b-c09bc835cc42" providerId="ADAL" clId="{C7FEA3FA-4936-41E1-B7FA-CA082069F7F7}" dt="2026-10-09T16:55:45.388" v="7692" actId="947"/>
          <ac:spMkLst>
            <pc:docMk/>
            <pc:sldMk cId="0" sldId="457"/>
            <ac:spMk id="15" creationId="{91AAED90-7C10-7164-33C8-A7D04F894553}"/>
          </ac:spMkLst>
        </pc:spChg>
        <pc:spChg chg="mod">
          <ac:chgData name="Francesco Bellotti" userId="f453232b-f87d-4756-9d8b-c09bc835cc42" providerId="ADAL" clId="{C7FEA3FA-4936-41E1-B7FA-CA082069F7F7}" dt="2026-10-09T16:56:23.025" v="7697" actId="20577"/>
          <ac:spMkLst>
            <pc:docMk/>
            <pc:sldMk cId="0" sldId="457"/>
            <ac:spMk id="17" creationId="{62911262-01A0-7CFF-F60E-B633B95497A1}"/>
          </ac:spMkLst>
        </pc:spChg>
        <pc:spChg chg="mod">
          <ac:chgData name="Francesco Bellotti" userId="f453232b-f87d-4756-9d8b-c09bc835cc42" providerId="ADAL" clId="{C7FEA3FA-4936-41E1-B7FA-CA082069F7F7}" dt="2026-10-09T17:11:00.936" v="7712" actId="27636"/>
          <ac:spMkLst>
            <pc:docMk/>
            <pc:sldMk cId="0" sldId="457"/>
            <ac:spMk id="276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9T17:10:48.965" v="7708" actId="20577"/>
          <ac:spMkLst>
            <pc:docMk/>
            <pc:sldMk cId="0" sldId="457"/>
            <ac:spMk id="284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9T16:52:19.141" v="7689" actId="13926"/>
          <ac:spMkLst>
            <pc:docMk/>
            <pc:sldMk cId="0" sldId="457"/>
            <ac:spMk id="293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9T16:52:24.453" v="7690" actId="13926"/>
          <ac:spMkLst>
            <pc:docMk/>
            <pc:sldMk cId="0" sldId="457"/>
            <ac:spMk id="294" creationId="{00000000-0000-0000-0000-000000000000}"/>
          </ac:spMkLst>
        </pc:spChg>
      </pc:sldChg>
      <pc:sldChg chg="modSp add mod setBg modNotes">
        <pc:chgData name="Francesco Bellotti" userId="f453232b-f87d-4756-9d8b-c09bc835cc42" providerId="ADAL" clId="{C7FEA3FA-4936-41E1-B7FA-CA082069F7F7}" dt="2026-10-09T16:31:18.757" v="7631" actId="1076"/>
        <pc:sldMkLst>
          <pc:docMk/>
          <pc:sldMk cId="0" sldId="458"/>
        </pc:sldMkLst>
        <pc:spChg chg="mod">
          <ac:chgData name="Francesco Bellotti" userId="f453232b-f87d-4756-9d8b-c09bc835cc42" providerId="ADAL" clId="{C7FEA3FA-4936-41E1-B7FA-CA082069F7F7}" dt="2026-10-09T16:31:12.402" v="7630" actId="1076"/>
          <ac:spMkLst>
            <pc:docMk/>
            <pc:sldMk cId="0" sldId="458"/>
            <ac:spMk id="314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9T16:31:18.757" v="7631" actId="1076"/>
          <ac:spMkLst>
            <pc:docMk/>
            <pc:sldMk cId="0" sldId="458"/>
            <ac:spMk id="315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9T16:31:08.306" v="7629" actId="1076"/>
          <ac:spMkLst>
            <pc:docMk/>
            <pc:sldMk cId="0" sldId="458"/>
            <ac:spMk id="316" creationId="{00000000-0000-0000-0000-000000000000}"/>
          </ac:spMkLst>
        </pc:spChg>
      </pc:sldChg>
      <pc:sldChg chg="delSp modSp add mod ord setBg modNotes">
        <pc:chgData name="Francesco Bellotti" userId="f453232b-f87d-4756-9d8b-c09bc835cc42" providerId="ADAL" clId="{C7FEA3FA-4936-41E1-B7FA-CA082069F7F7}" dt="2026-10-09T17:14:43.699" v="7725" actId="478"/>
        <pc:sldMkLst>
          <pc:docMk/>
          <pc:sldMk cId="0" sldId="459"/>
        </pc:sldMkLst>
        <pc:spChg chg="mod">
          <ac:chgData name="Francesco Bellotti" userId="f453232b-f87d-4756-9d8b-c09bc835cc42" providerId="ADAL" clId="{C7FEA3FA-4936-41E1-B7FA-CA082069F7F7}" dt="2026-10-09T17:14:25.065" v="7723" actId="20577"/>
          <ac:spMkLst>
            <pc:docMk/>
            <pc:sldMk cId="0" sldId="459"/>
            <ac:spMk id="337" creationId="{00000000-0000-0000-0000-000000000000}"/>
          </ac:spMkLst>
        </pc:spChg>
      </pc:sldChg>
      <pc:sldChg chg="modSp add mod setBg modNotes">
        <pc:chgData name="Francesco Bellotti" userId="f453232b-f87d-4756-9d8b-c09bc835cc42" providerId="ADAL" clId="{C7FEA3FA-4936-41E1-B7FA-CA082069F7F7}" dt="2026-10-06T07:38:53.886" v="5989"/>
        <pc:sldMkLst>
          <pc:docMk/>
          <pc:sldMk cId="0" sldId="460"/>
        </pc:sldMkLst>
      </pc:sldChg>
      <pc:sldChg chg="modSp add mod ord setBg modNotes">
        <pc:chgData name="Francesco Bellotti" userId="f453232b-f87d-4756-9d8b-c09bc835cc42" providerId="ADAL" clId="{C7FEA3FA-4936-41E1-B7FA-CA082069F7F7}" dt="2026-10-06T07:38:53.886" v="5989"/>
        <pc:sldMkLst>
          <pc:docMk/>
          <pc:sldMk cId="0" sldId="461"/>
        </pc:sldMkLst>
      </pc:sldChg>
      <pc:sldChg chg="addSp delSp modSp add mod setBg modNotes">
        <pc:chgData name="Francesco Bellotti" userId="f453232b-f87d-4756-9d8b-c09bc835cc42" providerId="ADAL" clId="{C7FEA3FA-4936-41E1-B7FA-CA082069F7F7}" dt="2026-10-09T17:41:49.525" v="7820"/>
        <pc:sldMkLst>
          <pc:docMk/>
          <pc:sldMk cId="0" sldId="462"/>
        </pc:sldMkLst>
        <pc:spChg chg="mod">
          <ac:chgData name="Francesco Bellotti" userId="f453232b-f87d-4756-9d8b-c09bc835cc42" providerId="ADAL" clId="{C7FEA3FA-4936-41E1-B7FA-CA082069F7F7}" dt="2026-10-09T17:41:39.101" v="7817" actId="5793"/>
          <ac:spMkLst>
            <pc:docMk/>
            <pc:sldMk cId="0" sldId="462"/>
            <ac:spMk id="476" creationId="{00000000-0000-0000-0000-000000000000}"/>
          </ac:spMkLst>
        </pc:spChg>
      </pc:sldChg>
      <pc:sldChg chg="modSp add mod ord setBg modNotes">
        <pc:chgData name="Francesco Bellotti" userId="f453232b-f87d-4756-9d8b-c09bc835cc42" providerId="ADAL" clId="{C7FEA3FA-4936-41E1-B7FA-CA082069F7F7}" dt="2026-10-06T07:38:53.886" v="5989"/>
        <pc:sldMkLst>
          <pc:docMk/>
          <pc:sldMk cId="0" sldId="463"/>
        </pc:sldMkLst>
      </pc:sldChg>
      <pc:sldChg chg="modSp add mod setBg modNotes">
        <pc:chgData name="Francesco Bellotti" userId="f453232b-f87d-4756-9d8b-c09bc835cc42" providerId="ADAL" clId="{C7FEA3FA-4936-41E1-B7FA-CA082069F7F7}" dt="2026-10-06T07:38:53.886" v="5989"/>
        <pc:sldMkLst>
          <pc:docMk/>
          <pc:sldMk cId="0" sldId="464"/>
        </pc:sldMkLst>
      </pc:sldChg>
      <pc:sldChg chg="modSp add mod setBg modNotes">
        <pc:chgData name="Francesco Bellotti" userId="f453232b-f87d-4756-9d8b-c09bc835cc42" providerId="ADAL" clId="{C7FEA3FA-4936-41E1-B7FA-CA082069F7F7}" dt="2026-10-09T22:30:26.870" v="7854" actId="13926"/>
        <pc:sldMkLst>
          <pc:docMk/>
          <pc:sldMk cId="0" sldId="465"/>
        </pc:sldMkLst>
        <pc:spChg chg="mod">
          <ac:chgData name="Francesco Bellotti" userId="f453232b-f87d-4756-9d8b-c09bc835cc42" providerId="ADAL" clId="{C7FEA3FA-4936-41E1-B7FA-CA082069F7F7}" dt="2026-10-09T22:30:26.870" v="7854" actId="13926"/>
          <ac:spMkLst>
            <pc:docMk/>
            <pc:sldMk cId="0" sldId="465"/>
            <ac:spMk id="602" creationId="{00000000-0000-0000-0000-000000000000}"/>
          </ac:spMkLst>
        </pc:spChg>
      </pc:sldChg>
      <pc:sldChg chg="modSp add mod setBg modNotes">
        <pc:chgData name="Francesco Bellotti" userId="f453232b-f87d-4756-9d8b-c09bc835cc42" providerId="ADAL" clId="{C7FEA3FA-4936-41E1-B7FA-CA082069F7F7}" dt="2026-10-06T07:38:53.886" v="5989"/>
        <pc:sldMkLst>
          <pc:docMk/>
          <pc:sldMk cId="0" sldId="466"/>
        </pc:sldMkLst>
      </pc:sldChg>
      <pc:sldChg chg="addSp modSp add mod setBg modNotes">
        <pc:chgData name="Francesco Bellotti" userId="f453232b-f87d-4756-9d8b-c09bc835cc42" providerId="ADAL" clId="{C7FEA3FA-4936-41E1-B7FA-CA082069F7F7}" dt="2026-10-06T07:38:53.886" v="5989"/>
        <pc:sldMkLst>
          <pc:docMk/>
          <pc:sldMk cId="0" sldId="467"/>
        </pc:sldMkLst>
      </pc:sldChg>
      <pc:sldChg chg="modSp add mod setBg modNotes">
        <pc:chgData name="Francesco Bellotti" userId="f453232b-f87d-4756-9d8b-c09bc835cc42" providerId="ADAL" clId="{C7FEA3FA-4936-41E1-B7FA-CA082069F7F7}" dt="2026-10-10T08:34:41.138" v="7877" actId="13926"/>
        <pc:sldMkLst>
          <pc:docMk/>
          <pc:sldMk cId="0" sldId="468"/>
        </pc:sldMkLst>
        <pc:spChg chg="mod">
          <ac:chgData name="Francesco Bellotti" userId="f453232b-f87d-4756-9d8b-c09bc835cc42" providerId="ADAL" clId="{C7FEA3FA-4936-41E1-B7FA-CA082069F7F7}" dt="2026-10-10T08:34:41.138" v="7877" actId="13926"/>
          <ac:spMkLst>
            <pc:docMk/>
            <pc:sldMk cId="0" sldId="468"/>
            <ac:spMk id="693" creationId="{00000000-0000-0000-0000-000000000000}"/>
          </ac:spMkLst>
        </pc:spChg>
      </pc:sldChg>
      <pc:sldChg chg="delSp modSp add mod setBg modNotes">
        <pc:chgData name="Francesco Bellotti" userId="f453232b-f87d-4756-9d8b-c09bc835cc42" providerId="ADAL" clId="{C7FEA3FA-4936-41E1-B7FA-CA082069F7F7}" dt="2026-10-10T08:37:04.005" v="7906" actId="13926"/>
        <pc:sldMkLst>
          <pc:docMk/>
          <pc:sldMk cId="0" sldId="469"/>
        </pc:sldMkLst>
        <pc:spChg chg="mod">
          <ac:chgData name="Francesco Bellotti" userId="f453232b-f87d-4756-9d8b-c09bc835cc42" providerId="ADAL" clId="{C7FEA3FA-4936-41E1-B7FA-CA082069F7F7}" dt="2026-10-10T08:36:53.736" v="7905" actId="20577"/>
          <ac:spMkLst>
            <pc:docMk/>
            <pc:sldMk cId="0" sldId="469"/>
            <ac:spMk id="716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10T08:37:04.005" v="7906" actId="13926"/>
          <ac:spMkLst>
            <pc:docMk/>
            <pc:sldMk cId="0" sldId="469"/>
            <ac:spMk id="732" creationId="{00000000-0000-0000-0000-000000000000}"/>
          </ac:spMkLst>
        </pc:spChg>
        <pc:spChg chg="del">
          <ac:chgData name="Francesco Bellotti" userId="f453232b-f87d-4756-9d8b-c09bc835cc42" providerId="ADAL" clId="{C7FEA3FA-4936-41E1-B7FA-CA082069F7F7}" dt="2026-10-10T08:36:08.499" v="7878" actId="478"/>
          <ac:spMkLst>
            <pc:docMk/>
            <pc:sldMk cId="0" sldId="469"/>
            <ac:spMk id="735" creationId="{00000000-0000-0000-0000-000000000000}"/>
          </ac:spMkLst>
        </pc:spChg>
        <pc:spChg chg="del">
          <ac:chgData name="Francesco Bellotti" userId="f453232b-f87d-4756-9d8b-c09bc835cc42" providerId="ADAL" clId="{C7FEA3FA-4936-41E1-B7FA-CA082069F7F7}" dt="2026-10-10T08:36:08.499" v="7878" actId="478"/>
          <ac:spMkLst>
            <pc:docMk/>
            <pc:sldMk cId="0" sldId="469"/>
            <ac:spMk id="736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10-09T14:18:10.661" v="7405" actId="113"/>
        <pc:sldMkLst>
          <pc:docMk/>
          <pc:sldMk cId="1725002924" sldId="470"/>
        </pc:sldMkLst>
        <pc:spChg chg="mod">
          <ac:chgData name="Francesco Bellotti" userId="f453232b-f87d-4756-9d8b-c09bc835cc42" providerId="ADAL" clId="{C7FEA3FA-4936-41E1-B7FA-CA082069F7F7}" dt="2026-10-09T14:18:10.661" v="7405" actId="113"/>
          <ac:spMkLst>
            <pc:docMk/>
            <pc:sldMk cId="1725002924" sldId="470"/>
            <ac:spMk id="3" creationId="{C0A8C7E5-53E3-B25D-EFAA-0CF10EB6ECFC}"/>
          </ac:spMkLst>
        </pc:spChg>
        <pc:spChg chg="mod">
          <ac:chgData name="Francesco Bellotti" userId="f453232b-f87d-4756-9d8b-c09bc835cc42" providerId="ADAL" clId="{C7FEA3FA-4936-41E1-B7FA-CA082069F7F7}" dt="2026-10-09T14:17:52.326" v="7401" actId="113"/>
          <ac:spMkLst>
            <pc:docMk/>
            <pc:sldMk cId="1725002924" sldId="470"/>
            <ac:spMk id="4" creationId="{2C6B29FD-91E1-A31E-BAF9-CDF78C5143F0}"/>
          </ac:spMkLst>
        </pc:spChg>
      </pc:sldChg>
      <pc:sldChg chg="modSp mod">
        <pc:chgData name="Francesco Bellotti" userId="f453232b-f87d-4756-9d8b-c09bc835cc42" providerId="ADAL" clId="{C7FEA3FA-4936-41E1-B7FA-CA082069F7F7}" dt="2026-10-10T22:23:04.305" v="8581" actId="207"/>
        <pc:sldMkLst>
          <pc:docMk/>
          <pc:sldMk cId="2295196963" sldId="472"/>
        </pc:sldMkLst>
        <pc:spChg chg="mod">
          <ac:chgData name="Francesco Bellotti" userId="f453232b-f87d-4756-9d8b-c09bc835cc42" providerId="ADAL" clId="{C7FEA3FA-4936-41E1-B7FA-CA082069F7F7}" dt="2026-10-10T22:23:04.305" v="8581" actId="207"/>
          <ac:spMkLst>
            <pc:docMk/>
            <pc:sldMk cId="2295196963" sldId="472"/>
            <ac:spMk id="4" creationId="{B42B7E63-241E-1DBD-467E-3EF9E3381A52}"/>
          </ac:spMkLst>
        </pc:spChg>
      </pc:sldChg>
      <pc:sldChg chg="modSp mod">
        <pc:chgData name="Francesco Bellotti" userId="f453232b-f87d-4756-9d8b-c09bc835cc42" providerId="ADAL" clId="{C7FEA3FA-4936-41E1-B7FA-CA082069F7F7}" dt="2026-10-09T14:27:57.345" v="7471" actId="1076"/>
        <pc:sldMkLst>
          <pc:docMk/>
          <pc:sldMk cId="2676833424" sldId="473"/>
        </pc:sldMkLst>
        <pc:spChg chg="mod">
          <ac:chgData name="Francesco Bellotti" userId="f453232b-f87d-4756-9d8b-c09bc835cc42" providerId="ADAL" clId="{C7FEA3FA-4936-41E1-B7FA-CA082069F7F7}" dt="2026-10-09T14:27:07.298" v="7456" actId="27636"/>
          <ac:spMkLst>
            <pc:docMk/>
            <pc:sldMk cId="2676833424" sldId="473"/>
            <ac:spMk id="3" creationId="{35E91759-6941-7E93-BFBF-C2CC96822995}"/>
          </ac:spMkLst>
        </pc:spChg>
        <pc:spChg chg="mod">
          <ac:chgData name="Francesco Bellotti" userId="f453232b-f87d-4756-9d8b-c09bc835cc42" providerId="ADAL" clId="{C7FEA3FA-4936-41E1-B7FA-CA082069F7F7}" dt="2026-10-09T14:27:18.805" v="7461" actId="113"/>
          <ac:spMkLst>
            <pc:docMk/>
            <pc:sldMk cId="2676833424" sldId="473"/>
            <ac:spMk id="6" creationId="{8CA2C66D-168C-DAB1-1444-8297A313C57F}"/>
          </ac:spMkLst>
        </pc:spChg>
        <pc:spChg chg="mod">
          <ac:chgData name="Francesco Bellotti" userId="f453232b-f87d-4756-9d8b-c09bc835cc42" providerId="ADAL" clId="{C7FEA3FA-4936-41E1-B7FA-CA082069F7F7}" dt="2026-10-09T14:27:57.345" v="7471" actId="1076"/>
          <ac:spMkLst>
            <pc:docMk/>
            <pc:sldMk cId="2676833424" sldId="473"/>
            <ac:spMk id="8" creationId="{B64607ED-A556-A806-2450-39EF757704E3}"/>
          </ac:spMkLst>
        </pc:spChg>
      </pc:sldChg>
      <pc:sldChg chg="addSp delSp modSp mod">
        <pc:chgData name="Francesco Bellotti" userId="f453232b-f87d-4756-9d8b-c09bc835cc42" providerId="ADAL" clId="{C7FEA3FA-4936-41E1-B7FA-CA082069F7F7}" dt="2026-10-09T16:51:19.256" v="7687" actId="1076"/>
        <pc:sldMkLst>
          <pc:docMk/>
          <pc:sldMk cId="4037213394" sldId="474"/>
        </pc:sldMkLst>
        <pc:spChg chg="mod">
          <ac:chgData name="Francesco Bellotti" userId="f453232b-f87d-4756-9d8b-c09bc835cc42" providerId="ADAL" clId="{C7FEA3FA-4936-41E1-B7FA-CA082069F7F7}" dt="2026-10-09T16:51:12.095" v="7685" actId="113"/>
          <ac:spMkLst>
            <pc:docMk/>
            <pc:sldMk cId="4037213394" sldId="474"/>
            <ac:spMk id="3" creationId="{AE030905-6872-60FB-F682-E02BF80E413B}"/>
          </ac:spMkLst>
        </pc:spChg>
        <pc:picChg chg="add mod">
          <ac:chgData name="Francesco Bellotti" userId="f453232b-f87d-4756-9d8b-c09bc835cc42" providerId="ADAL" clId="{C7FEA3FA-4936-41E1-B7FA-CA082069F7F7}" dt="2026-10-09T16:51:19.256" v="7687" actId="1076"/>
          <ac:picMkLst>
            <pc:docMk/>
            <pc:sldMk cId="4037213394" sldId="474"/>
            <ac:picMk id="5" creationId="{37D34A2F-F069-0E82-1E78-514D05CA8B78}"/>
          </ac:picMkLst>
        </pc:picChg>
      </pc:sldChg>
      <pc:sldChg chg="modSp mod">
        <pc:chgData name="Francesco Bellotti" userId="f453232b-f87d-4756-9d8b-c09bc835cc42" providerId="ADAL" clId="{C7FEA3FA-4936-41E1-B7FA-CA082069F7F7}" dt="2026-10-09T16:40:50.437" v="7635" actId="113"/>
        <pc:sldMkLst>
          <pc:docMk/>
          <pc:sldMk cId="240193466" sldId="476"/>
        </pc:sldMkLst>
        <pc:spChg chg="mod">
          <ac:chgData name="Francesco Bellotti" userId="f453232b-f87d-4756-9d8b-c09bc835cc42" providerId="ADAL" clId="{C7FEA3FA-4936-41E1-B7FA-CA082069F7F7}" dt="2026-10-09T16:40:50.437" v="7635" actId="113"/>
          <ac:spMkLst>
            <pc:docMk/>
            <pc:sldMk cId="240193466" sldId="476"/>
            <ac:spMk id="3" creationId="{72D578F6-EDF3-2C9B-FD6A-CE36A28A5532}"/>
          </ac:spMkLst>
        </pc:spChg>
      </pc:sldChg>
      <pc:sldChg chg="modSp mod">
        <pc:chgData name="Francesco Bellotti" userId="f453232b-f87d-4756-9d8b-c09bc835cc42" providerId="ADAL" clId="{C7FEA3FA-4936-41E1-B7FA-CA082069F7F7}" dt="2026-10-09T17:35:01.966" v="7805" actId="113"/>
        <pc:sldMkLst>
          <pc:docMk/>
          <pc:sldMk cId="3493370717" sldId="481"/>
        </pc:sldMkLst>
        <pc:spChg chg="mod">
          <ac:chgData name="Francesco Bellotti" userId="f453232b-f87d-4756-9d8b-c09bc835cc42" providerId="ADAL" clId="{C7FEA3FA-4936-41E1-B7FA-CA082069F7F7}" dt="2026-10-09T17:35:01.966" v="7805" actId="113"/>
          <ac:spMkLst>
            <pc:docMk/>
            <pc:sldMk cId="3493370717" sldId="481"/>
            <ac:spMk id="6" creationId="{21B65AB4-59C5-CDF3-4C09-52DDC2D33ABD}"/>
          </ac:spMkLst>
        </pc:spChg>
      </pc:sldChg>
      <pc:sldChg chg="modSp mod">
        <pc:chgData name="Francesco Bellotti" userId="f453232b-f87d-4756-9d8b-c09bc835cc42" providerId="ADAL" clId="{C7FEA3FA-4936-41E1-B7FA-CA082069F7F7}" dt="2026-10-09T17:35:42.204" v="7807" actId="113"/>
        <pc:sldMkLst>
          <pc:docMk/>
          <pc:sldMk cId="4225101461" sldId="482"/>
        </pc:sldMkLst>
        <pc:spChg chg="mod">
          <ac:chgData name="Francesco Bellotti" userId="f453232b-f87d-4756-9d8b-c09bc835cc42" providerId="ADAL" clId="{C7FEA3FA-4936-41E1-B7FA-CA082069F7F7}" dt="2026-10-09T17:35:35" v="7806" actId="13926"/>
          <ac:spMkLst>
            <pc:docMk/>
            <pc:sldMk cId="4225101461" sldId="482"/>
            <ac:spMk id="3" creationId="{494565F2-4C1E-0BA6-A5B3-9B3C247547F6}"/>
          </ac:spMkLst>
        </pc:spChg>
        <pc:spChg chg="mod">
          <ac:chgData name="Francesco Bellotti" userId="f453232b-f87d-4756-9d8b-c09bc835cc42" providerId="ADAL" clId="{C7FEA3FA-4936-41E1-B7FA-CA082069F7F7}" dt="2026-10-09T17:35:42.204" v="7807" actId="113"/>
          <ac:spMkLst>
            <pc:docMk/>
            <pc:sldMk cId="4225101461" sldId="482"/>
            <ac:spMk id="4" creationId="{D8F55F39-33BF-89BE-4B1A-71982D106798}"/>
          </ac:spMkLst>
        </pc:spChg>
      </pc:sldChg>
      <pc:sldChg chg="modSp mod">
        <pc:chgData name="Francesco Bellotti" userId="f453232b-f87d-4756-9d8b-c09bc835cc42" providerId="ADAL" clId="{C7FEA3FA-4936-41E1-B7FA-CA082069F7F7}" dt="2026-10-09T17:37:36.798" v="7809" actId="20577"/>
        <pc:sldMkLst>
          <pc:docMk/>
          <pc:sldMk cId="1866504401" sldId="483"/>
        </pc:sldMkLst>
        <pc:spChg chg="mod">
          <ac:chgData name="Francesco Bellotti" userId="f453232b-f87d-4756-9d8b-c09bc835cc42" providerId="ADAL" clId="{C7FEA3FA-4936-41E1-B7FA-CA082069F7F7}" dt="2026-10-09T17:37:36.798" v="7809" actId="20577"/>
          <ac:spMkLst>
            <pc:docMk/>
            <pc:sldMk cId="1866504401" sldId="483"/>
            <ac:spMk id="4" creationId="{DB6A4C4E-E293-BE04-63D8-D3A7E2D53E91}"/>
          </ac:spMkLst>
        </pc:spChg>
      </pc:sldChg>
      <pc:sldChg chg="modSp mod">
        <pc:chgData name="Francesco Bellotti" userId="f453232b-f87d-4756-9d8b-c09bc835cc42" providerId="ADAL" clId="{C7FEA3FA-4936-41E1-B7FA-CA082069F7F7}" dt="2026-10-10T22:26:28.195" v="8590" actId="13926"/>
        <pc:sldMkLst>
          <pc:docMk/>
          <pc:sldMk cId="1287656630" sldId="484"/>
        </pc:sldMkLst>
        <pc:spChg chg="mod">
          <ac:chgData name="Francesco Bellotti" userId="f453232b-f87d-4756-9d8b-c09bc835cc42" providerId="ADAL" clId="{C7FEA3FA-4936-41E1-B7FA-CA082069F7F7}" dt="2026-10-10T22:26:28.195" v="8590" actId="13926"/>
          <ac:spMkLst>
            <pc:docMk/>
            <pc:sldMk cId="1287656630" sldId="484"/>
            <ac:spMk id="4" creationId="{4A23BA87-F261-C522-1931-22A173594174}"/>
          </ac:spMkLst>
        </pc:spChg>
      </pc:sldChg>
      <pc:sldChg chg="modSp mod">
        <pc:chgData name="Francesco Bellotti" userId="f453232b-f87d-4756-9d8b-c09bc835cc42" providerId="ADAL" clId="{C7FEA3FA-4936-41E1-B7FA-CA082069F7F7}" dt="2026-10-09T17:42:12.748" v="7821" actId="13926"/>
        <pc:sldMkLst>
          <pc:docMk/>
          <pc:sldMk cId="2721696616" sldId="486"/>
        </pc:sldMkLst>
        <pc:spChg chg="mod">
          <ac:chgData name="Francesco Bellotti" userId="f453232b-f87d-4756-9d8b-c09bc835cc42" providerId="ADAL" clId="{C7FEA3FA-4936-41E1-B7FA-CA082069F7F7}" dt="2026-10-09T17:42:12.748" v="7821" actId="13926"/>
          <ac:spMkLst>
            <pc:docMk/>
            <pc:sldMk cId="2721696616" sldId="486"/>
            <ac:spMk id="4" creationId="{7336C995-770F-CC43-1019-A719CC730DA7}"/>
          </ac:spMkLst>
        </pc:spChg>
      </pc:sldChg>
      <pc:sldChg chg="modSp mod">
        <pc:chgData name="Francesco Bellotti" userId="f453232b-f87d-4756-9d8b-c09bc835cc42" providerId="ADAL" clId="{C7FEA3FA-4936-41E1-B7FA-CA082069F7F7}" dt="2026-10-10T22:27:00.382" v="8592" actId="207"/>
        <pc:sldMkLst>
          <pc:docMk/>
          <pc:sldMk cId="1644574023" sldId="487"/>
        </pc:sldMkLst>
        <pc:spChg chg="mod">
          <ac:chgData name="Francesco Bellotti" userId="f453232b-f87d-4756-9d8b-c09bc835cc42" providerId="ADAL" clId="{C7FEA3FA-4936-41E1-B7FA-CA082069F7F7}" dt="2026-10-09T17:43:29.619" v="7832" actId="20577"/>
          <ac:spMkLst>
            <pc:docMk/>
            <pc:sldMk cId="1644574023" sldId="487"/>
            <ac:spMk id="2" creationId="{8EC7F93B-C763-EAA6-9815-41D8BD01F5C2}"/>
          </ac:spMkLst>
        </pc:spChg>
        <pc:spChg chg="mod">
          <ac:chgData name="Francesco Bellotti" userId="f453232b-f87d-4756-9d8b-c09bc835cc42" providerId="ADAL" clId="{C7FEA3FA-4936-41E1-B7FA-CA082069F7F7}" dt="2026-10-10T22:27:00.382" v="8592" actId="207"/>
          <ac:spMkLst>
            <pc:docMk/>
            <pc:sldMk cId="1644574023" sldId="487"/>
            <ac:spMk id="4" creationId="{DFA6BE33-81D6-7192-EC7F-DB52D9142F3C}"/>
          </ac:spMkLst>
        </pc:spChg>
      </pc:sldChg>
      <pc:sldChg chg="addSp modSp mod">
        <pc:chgData name="Francesco Bellotti" userId="f453232b-f87d-4756-9d8b-c09bc835cc42" providerId="ADAL" clId="{C7FEA3FA-4936-41E1-B7FA-CA082069F7F7}" dt="2026-10-10T22:28:47.887" v="8608" actId="13926"/>
        <pc:sldMkLst>
          <pc:docMk/>
          <pc:sldMk cId="3977574308" sldId="490"/>
        </pc:sldMkLst>
        <pc:spChg chg="add mod">
          <ac:chgData name="Francesco Bellotti" userId="f453232b-f87d-4756-9d8b-c09bc835cc42" providerId="ADAL" clId="{C7FEA3FA-4936-41E1-B7FA-CA082069F7F7}" dt="2026-10-10T22:28:47.887" v="8608" actId="13926"/>
          <ac:spMkLst>
            <pc:docMk/>
            <pc:sldMk cId="3977574308" sldId="490"/>
            <ac:spMk id="5" creationId="{406FECCB-3FB2-AD64-90AB-AE5FC7B1A8FE}"/>
          </ac:spMkLst>
        </pc:spChg>
      </pc:sldChg>
      <pc:sldChg chg="modSp mod ord">
        <pc:chgData name="Francesco Bellotti" userId="f453232b-f87d-4756-9d8b-c09bc835cc42" providerId="ADAL" clId="{C7FEA3FA-4936-41E1-B7FA-CA082069F7F7}" dt="2026-10-09T22:36:24.545" v="7861" actId="113"/>
        <pc:sldMkLst>
          <pc:docMk/>
          <pc:sldMk cId="1013271233" sldId="493"/>
        </pc:sldMkLst>
        <pc:spChg chg="mod">
          <ac:chgData name="Francesco Bellotti" userId="f453232b-f87d-4756-9d8b-c09bc835cc42" providerId="ADAL" clId="{C7FEA3FA-4936-41E1-B7FA-CA082069F7F7}" dt="2026-10-09T22:35:44.558" v="7857" actId="113"/>
          <ac:spMkLst>
            <pc:docMk/>
            <pc:sldMk cId="1013271233" sldId="493"/>
            <ac:spMk id="3" creationId="{CBB5C851-834B-A744-8402-EC5B0967AA6E}"/>
          </ac:spMkLst>
        </pc:spChg>
        <pc:spChg chg="mod">
          <ac:chgData name="Francesco Bellotti" userId="f453232b-f87d-4756-9d8b-c09bc835cc42" providerId="ADAL" clId="{C7FEA3FA-4936-41E1-B7FA-CA082069F7F7}" dt="2026-10-09T22:36:24.545" v="7861" actId="113"/>
          <ac:spMkLst>
            <pc:docMk/>
            <pc:sldMk cId="1013271233" sldId="493"/>
            <ac:spMk id="4" creationId="{3A92D5BC-C372-3018-6AD0-E601F85C5111}"/>
          </ac:spMkLst>
        </pc:spChg>
      </pc:sldChg>
      <pc:sldChg chg="modSp mod">
        <pc:chgData name="Francesco Bellotti" userId="f453232b-f87d-4756-9d8b-c09bc835cc42" providerId="ADAL" clId="{C7FEA3FA-4936-41E1-B7FA-CA082069F7F7}" dt="2026-10-09T22:37:26.126" v="7864" actId="13926"/>
        <pc:sldMkLst>
          <pc:docMk/>
          <pc:sldMk cId="141386819" sldId="494"/>
        </pc:sldMkLst>
        <pc:spChg chg="mod">
          <ac:chgData name="Francesco Bellotti" userId="f453232b-f87d-4756-9d8b-c09bc835cc42" providerId="ADAL" clId="{C7FEA3FA-4936-41E1-B7FA-CA082069F7F7}" dt="2026-10-09T22:37:26.126" v="7864" actId="13926"/>
          <ac:spMkLst>
            <pc:docMk/>
            <pc:sldMk cId="141386819" sldId="494"/>
            <ac:spMk id="3" creationId="{EE6BD6DB-536A-BE1E-C3A1-5C1C3DD5392F}"/>
          </ac:spMkLst>
        </pc:spChg>
      </pc:sldChg>
      <pc:sldChg chg="modSp mod">
        <pc:chgData name="Francesco Bellotti" userId="f453232b-f87d-4756-9d8b-c09bc835cc42" providerId="ADAL" clId="{C7FEA3FA-4936-41E1-B7FA-CA082069F7F7}" dt="2026-10-10T08:16:21.456" v="7867" actId="113"/>
        <pc:sldMkLst>
          <pc:docMk/>
          <pc:sldMk cId="2180139813" sldId="495"/>
        </pc:sldMkLst>
        <pc:spChg chg="mod">
          <ac:chgData name="Francesco Bellotti" userId="f453232b-f87d-4756-9d8b-c09bc835cc42" providerId="ADAL" clId="{C7FEA3FA-4936-41E1-B7FA-CA082069F7F7}" dt="2026-10-10T08:16:21.456" v="7867" actId="113"/>
          <ac:spMkLst>
            <pc:docMk/>
            <pc:sldMk cId="2180139813" sldId="495"/>
            <ac:spMk id="3" creationId="{D8A31AD5-70A4-B6E5-94AF-5E0292300616}"/>
          </ac:spMkLst>
        </pc:spChg>
      </pc:sldChg>
      <pc:sldChg chg="modSp mod">
        <pc:chgData name="Francesco Bellotti" userId="f453232b-f87d-4756-9d8b-c09bc835cc42" providerId="ADAL" clId="{C7FEA3FA-4936-41E1-B7FA-CA082069F7F7}" dt="2026-10-10T08:33:45.742" v="7874" actId="113"/>
        <pc:sldMkLst>
          <pc:docMk/>
          <pc:sldMk cId="3210242575" sldId="497"/>
        </pc:sldMkLst>
        <pc:spChg chg="mod">
          <ac:chgData name="Francesco Bellotti" userId="f453232b-f87d-4756-9d8b-c09bc835cc42" providerId="ADAL" clId="{C7FEA3FA-4936-41E1-B7FA-CA082069F7F7}" dt="2026-10-10T08:32:37.852" v="7868" actId="13926"/>
          <ac:spMkLst>
            <pc:docMk/>
            <pc:sldMk cId="3210242575" sldId="497"/>
            <ac:spMk id="2" creationId="{9C171DC7-D139-8332-1673-35CD6A314BE3}"/>
          </ac:spMkLst>
        </pc:spChg>
        <pc:spChg chg="mod">
          <ac:chgData name="Francesco Bellotti" userId="f453232b-f87d-4756-9d8b-c09bc835cc42" providerId="ADAL" clId="{C7FEA3FA-4936-41E1-B7FA-CA082069F7F7}" dt="2026-10-10T08:33:45.742" v="7874" actId="113"/>
          <ac:spMkLst>
            <pc:docMk/>
            <pc:sldMk cId="3210242575" sldId="497"/>
            <ac:spMk id="3" creationId="{B540595C-D055-B4BD-D8CB-1D6309458807}"/>
          </ac:spMkLst>
        </pc:spChg>
      </pc:sldChg>
      <pc:sldChg chg="modSp mod">
        <pc:chgData name="Francesco Bellotti" userId="f453232b-f87d-4756-9d8b-c09bc835cc42" providerId="ADAL" clId="{C7FEA3FA-4936-41E1-B7FA-CA082069F7F7}" dt="2026-10-10T08:34:19.532" v="7876" actId="13926"/>
        <pc:sldMkLst>
          <pc:docMk/>
          <pc:sldMk cId="2685610392" sldId="498"/>
        </pc:sldMkLst>
        <pc:spChg chg="mod">
          <ac:chgData name="Francesco Bellotti" userId="f453232b-f87d-4756-9d8b-c09bc835cc42" providerId="ADAL" clId="{C7FEA3FA-4936-41E1-B7FA-CA082069F7F7}" dt="2026-10-10T08:34:19.532" v="7876" actId="13926"/>
          <ac:spMkLst>
            <pc:docMk/>
            <pc:sldMk cId="2685610392" sldId="498"/>
            <ac:spMk id="3" creationId="{4A510C7E-07D0-1AA6-2761-67BA7F4C5B67}"/>
          </ac:spMkLst>
        </pc:spChg>
      </pc:sldChg>
      <pc:sldChg chg="modSp mod">
        <pc:chgData name="Francesco Bellotti" userId="f453232b-f87d-4756-9d8b-c09bc835cc42" providerId="ADAL" clId="{C7FEA3FA-4936-41E1-B7FA-CA082069F7F7}" dt="2026-10-09T16:46:36.347" v="7637" actId="1076"/>
        <pc:sldMkLst>
          <pc:docMk/>
          <pc:sldMk cId="4066008060" sldId="501"/>
        </pc:sldMkLst>
        <pc:picChg chg="mod">
          <ac:chgData name="Francesco Bellotti" userId="f453232b-f87d-4756-9d8b-c09bc835cc42" providerId="ADAL" clId="{C7FEA3FA-4936-41E1-B7FA-CA082069F7F7}" dt="2026-10-09T16:46:36.347" v="7637" actId="1076"/>
          <ac:picMkLst>
            <pc:docMk/>
            <pc:sldMk cId="4066008060" sldId="501"/>
            <ac:picMk id="9" creationId="{D58EC6B1-825E-666E-96C7-85FA8A237F12}"/>
          </ac:picMkLst>
        </pc:picChg>
      </pc:sldChg>
      <pc:sldChg chg="delSp modSp add mod setBg modNotes modNotesTx">
        <pc:chgData name="Francesco Bellotti" userId="f453232b-f87d-4756-9d8b-c09bc835cc42" providerId="ADAL" clId="{C7FEA3FA-4936-41E1-B7FA-CA082069F7F7}" dt="2026-10-09T14:22:12.116" v="7430" actId="20577"/>
        <pc:sldMkLst>
          <pc:docMk/>
          <pc:sldMk cId="0" sldId="503"/>
        </pc:sldMkLst>
        <pc:spChg chg="mod">
          <ac:chgData name="Francesco Bellotti" userId="f453232b-f87d-4756-9d8b-c09bc835cc42" providerId="ADAL" clId="{C7FEA3FA-4936-41E1-B7FA-CA082069F7F7}" dt="2026-10-09T14:21:15.910" v="7427" actId="20577"/>
          <ac:spMkLst>
            <pc:docMk/>
            <pc:sldMk cId="0" sldId="503"/>
            <ac:spMk id="3337" creationId="{F53C95C7-2F48-428A-9C26-4B554286E149}"/>
          </ac:spMkLst>
        </pc:spChg>
        <pc:spChg chg="mod">
          <ac:chgData name="Francesco Bellotti" userId="f453232b-f87d-4756-9d8b-c09bc835cc42" providerId="ADAL" clId="{C7FEA3FA-4936-41E1-B7FA-CA082069F7F7}" dt="2026-10-09T14:21:07.503" v="7407" actId="113"/>
          <ac:spMkLst>
            <pc:docMk/>
            <pc:sldMk cId="0" sldId="503"/>
            <ac:spMk id="3338" creationId="{E11FC509-88A3-6CF4-C6EC-D2A1E50D9CB4}"/>
          </ac:spMkLst>
        </pc:spChg>
      </pc:sldChg>
      <pc:sldChg chg="addSp delSp modSp mod">
        <pc:chgData name="Francesco Bellotti" userId="f453232b-f87d-4756-9d8b-c09bc835cc42" providerId="ADAL" clId="{C7FEA3FA-4936-41E1-B7FA-CA082069F7F7}" dt="2026-10-09T17:31:06.868" v="7802" actId="11529"/>
        <pc:sldMkLst>
          <pc:docMk/>
          <pc:sldMk cId="12471223" sldId="504"/>
        </pc:sldMkLst>
        <pc:spChg chg="add mod">
          <ac:chgData name="Francesco Bellotti" userId="f453232b-f87d-4756-9d8b-c09bc835cc42" providerId="ADAL" clId="{C7FEA3FA-4936-41E1-B7FA-CA082069F7F7}" dt="2026-10-09T17:23:18.807" v="7760" actId="14100"/>
          <ac:spMkLst>
            <pc:docMk/>
            <pc:sldMk cId="12471223" sldId="504"/>
            <ac:spMk id="8" creationId="{8F84824A-9FBF-4969-27D6-8218DC576BEB}"/>
          </ac:spMkLst>
        </pc:spChg>
        <pc:spChg chg="add mod">
          <ac:chgData name="Francesco Bellotti" userId="f453232b-f87d-4756-9d8b-c09bc835cc42" providerId="ADAL" clId="{C7FEA3FA-4936-41E1-B7FA-CA082069F7F7}" dt="2026-10-09T17:28:26.096" v="7768" actId="1076"/>
          <ac:spMkLst>
            <pc:docMk/>
            <pc:sldMk cId="12471223" sldId="504"/>
            <ac:spMk id="12" creationId="{F662E180-BABA-ABCE-20DA-5CF6C994A1AD}"/>
          </ac:spMkLst>
        </pc:spChg>
        <pc:spChg chg="add mod">
          <ac:chgData name="Francesco Bellotti" userId="f453232b-f87d-4756-9d8b-c09bc835cc42" providerId="ADAL" clId="{C7FEA3FA-4936-41E1-B7FA-CA082069F7F7}" dt="2026-10-09T17:31:00.148" v="7801" actId="113"/>
          <ac:spMkLst>
            <pc:docMk/>
            <pc:sldMk cId="12471223" sldId="504"/>
            <ac:spMk id="16" creationId="{C4C1B9CA-2AD4-C1E9-9270-CFEBC5577F03}"/>
          </ac:spMkLst>
        </pc:spChg>
        <pc:picChg chg="add mod ord">
          <ac:chgData name="Francesco Bellotti" userId="f453232b-f87d-4756-9d8b-c09bc835cc42" providerId="ADAL" clId="{C7FEA3FA-4936-41E1-B7FA-CA082069F7F7}" dt="2026-10-09T17:21:37.258" v="7733" actId="14100"/>
          <ac:picMkLst>
            <pc:docMk/>
            <pc:sldMk cId="12471223" sldId="504"/>
            <ac:picMk id="5" creationId="{6B378885-DADB-AF7E-8490-72980C28A531}"/>
          </ac:picMkLst>
        </pc:picChg>
        <pc:cxnChg chg="add">
          <ac:chgData name="Francesco Bellotti" userId="f453232b-f87d-4756-9d8b-c09bc835cc42" providerId="ADAL" clId="{C7FEA3FA-4936-41E1-B7FA-CA082069F7F7}" dt="2026-10-09T17:23:25.097" v="7761" actId="11529"/>
          <ac:cxnSpMkLst>
            <pc:docMk/>
            <pc:sldMk cId="12471223" sldId="504"/>
            <ac:cxnSpMk id="10" creationId="{1DA3BA51-8F6C-9ACC-0E3E-9FAC6505EB26}"/>
          </ac:cxnSpMkLst>
        </pc:cxnChg>
        <pc:cxnChg chg="add mod">
          <ac:chgData name="Francesco Bellotti" userId="f453232b-f87d-4756-9d8b-c09bc835cc42" providerId="ADAL" clId="{C7FEA3FA-4936-41E1-B7FA-CA082069F7F7}" dt="2026-10-09T17:28:35.376" v="7771" actId="14100"/>
          <ac:cxnSpMkLst>
            <pc:docMk/>
            <pc:sldMk cId="12471223" sldId="504"/>
            <ac:cxnSpMk id="13" creationId="{7A22B8A2-626D-6107-5F30-500C47E1496E}"/>
          </ac:cxnSpMkLst>
        </pc:cxnChg>
        <pc:cxnChg chg="add">
          <ac:chgData name="Francesco Bellotti" userId="f453232b-f87d-4756-9d8b-c09bc835cc42" providerId="ADAL" clId="{C7FEA3FA-4936-41E1-B7FA-CA082069F7F7}" dt="2026-10-09T17:31:06.868" v="7802" actId="11529"/>
          <ac:cxnSpMkLst>
            <pc:docMk/>
            <pc:sldMk cId="12471223" sldId="504"/>
            <ac:cxnSpMk id="18" creationId="{8A94A9A8-C989-9B22-70C3-154152D71D3D}"/>
          </ac:cxnSpMkLst>
        </pc:cxnChg>
      </pc:sldChg>
      <pc:sldChg chg="modSp add mod">
        <pc:chgData name="Francesco Bellotti" userId="f453232b-f87d-4756-9d8b-c09bc835cc42" providerId="ADAL" clId="{C7FEA3FA-4936-41E1-B7FA-CA082069F7F7}" dt="2026-10-06T18:50:00.809" v="5998" actId="13926"/>
        <pc:sldMkLst>
          <pc:docMk/>
          <pc:sldMk cId="3903502458" sldId="505"/>
        </pc:sldMkLst>
        <pc:spChg chg="mod">
          <ac:chgData name="Francesco Bellotti" userId="f453232b-f87d-4756-9d8b-c09bc835cc42" providerId="ADAL" clId="{C7FEA3FA-4936-41E1-B7FA-CA082069F7F7}" dt="2026-10-06T18:50:00.809" v="5998" actId="13926"/>
          <ac:spMkLst>
            <pc:docMk/>
            <pc:sldMk cId="3903502458" sldId="505"/>
            <ac:spMk id="3" creationId="{00000000-0000-0000-0000-000000000000}"/>
          </ac:spMkLst>
        </pc:spChg>
      </pc:sldChg>
      <pc:sldChg chg="delSp modSp add mod">
        <pc:chgData name="Francesco Bellotti" userId="f453232b-f87d-4756-9d8b-c09bc835cc42" providerId="ADAL" clId="{C7FEA3FA-4936-41E1-B7FA-CA082069F7F7}" dt="2026-10-09T14:14:30.097" v="7398" actId="478"/>
        <pc:sldMkLst>
          <pc:docMk/>
          <pc:sldMk cId="3953919856" sldId="506"/>
        </pc:sldMkLst>
        <pc:spChg chg="mod">
          <ac:chgData name="Francesco Bellotti" userId="f453232b-f87d-4756-9d8b-c09bc835cc42" providerId="ADAL" clId="{C7FEA3FA-4936-41E1-B7FA-CA082069F7F7}" dt="2026-10-09T14:14:15.695" v="7397" actId="404"/>
          <ac:spMkLst>
            <pc:docMk/>
            <pc:sldMk cId="3953919856" sldId="506"/>
            <ac:spMk id="18" creationId="{00000000-0000-0000-0000-000000000000}"/>
          </ac:spMkLst>
        </pc:spChg>
      </pc:sldChg>
      <pc:sldChg chg="addSp modSp new mod">
        <pc:chgData name="Francesco Bellotti" userId="f453232b-f87d-4756-9d8b-c09bc835cc42" providerId="ADAL" clId="{C7FEA3FA-4936-41E1-B7FA-CA082069F7F7}" dt="2026-10-11T18:15:55.746" v="9621" actId="404"/>
        <pc:sldMkLst>
          <pc:docMk/>
          <pc:sldMk cId="4261206315" sldId="507"/>
        </pc:sldMkLst>
        <pc:spChg chg="mod">
          <ac:chgData name="Francesco Bellotti" userId="f453232b-f87d-4756-9d8b-c09bc835cc42" providerId="ADAL" clId="{C7FEA3FA-4936-41E1-B7FA-CA082069F7F7}" dt="2026-10-10T22:32:51.225" v="8622" actId="20577"/>
          <ac:spMkLst>
            <pc:docMk/>
            <pc:sldMk cId="4261206315" sldId="507"/>
            <ac:spMk id="2" creationId="{676452A1-2838-180C-BC0D-4E34C82C5E81}"/>
          </ac:spMkLst>
        </pc:spChg>
        <pc:spChg chg="mod">
          <ac:chgData name="Francesco Bellotti" userId="f453232b-f87d-4756-9d8b-c09bc835cc42" providerId="ADAL" clId="{C7FEA3FA-4936-41E1-B7FA-CA082069F7F7}" dt="2026-10-11T18:15:55.746" v="9621" actId="404"/>
          <ac:spMkLst>
            <pc:docMk/>
            <pc:sldMk cId="4261206315" sldId="507"/>
            <ac:spMk id="3" creationId="{3CC44DFF-1530-CCF2-60DA-7169BAA4D3C5}"/>
          </ac:spMkLst>
        </pc:spChg>
        <pc:spChg chg="add mod">
          <ac:chgData name="Francesco Bellotti" userId="f453232b-f87d-4756-9d8b-c09bc835cc42" providerId="ADAL" clId="{C7FEA3FA-4936-41E1-B7FA-CA082069F7F7}" dt="2026-10-11T17:52:19.497" v="9133" actId="1076"/>
          <ac:spMkLst>
            <pc:docMk/>
            <pc:sldMk cId="4261206315" sldId="507"/>
            <ac:spMk id="5" creationId="{DB60B8A5-EB5B-95E9-86CE-F261B51BB642}"/>
          </ac:spMkLst>
        </pc:spChg>
      </pc:sldChg>
      <pc:sldChg chg="addSp modSp new mod">
        <pc:chgData name="Francesco Bellotti" userId="f453232b-f87d-4756-9d8b-c09bc835cc42" providerId="ADAL" clId="{C7FEA3FA-4936-41E1-B7FA-CA082069F7F7}" dt="2026-10-11T17:58:07.021" v="9219" actId="404"/>
        <pc:sldMkLst>
          <pc:docMk/>
          <pc:sldMk cId="2358296391" sldId="508"/>
        </pc:sldMkLst>
        <pc:spChg chg="mod">
          <ac:chgData name="Francesco Bellotti" userId="f453232b-f87d-4756-9d8b-c09bc835cc42" providerId="ADAL" clId="{C7FEA3FA-4936-41E1-B7FA-CA082069F7F7}" dt="2026-10-10T22:40:34.365" v="8833" actId="20577"/>
          <ac:spMkLst>
            <pc:docMk/>
            <pc:sldMk cId="2358296391" sldId="508"/>
            <ac:spMk id="2" creationId="{B7F0CE48-AB51-B014-9A95-720D9D59644A}"/>
          </ac:spMkLst>
        </pc:spChg>
        <pc:spChg chg="mod">
          <ac:chgData name="Francesco Bellotti" userId="f453232b-f87d-4756-9d8b-c09bc835cc42" providerId="ADAL" clId="{C7FEA3FA-4936-41E1-B7FA-CA082069F7F7}" dt="2026-10-11T17:58:07.021" v="9219" actId="404"/>
          <ac:spMkLst>
            <pc:docMk/>
            <pc:sldMk cId="2358296391" sldId="508"/>
            <ac:spMk id="3" creationId="{F18FF9F5-C7EB-8AD8-A9A1-5F93FF997331}"/>
          </ac:spMkLst>
        </pc:spChg>
        <pc:spChg chg="add mod">
          <ac:chgData name="Francesco Bellotti" userId="f453232b-f87d-4756-9d8b-c09bc835cc42" providerId="ADAL" clId="{C7FEA3FA-4936-41E1-B7FA-CA082069F7F7}" dt="2026-10-10T22:43:33.866" v="8932" actId="1076"/>
          <ac:spMkLst>
            <pc:docMk/>
            <pc:sldMk cId="2358296391" sldId="508"/>
            <ac:spMk id="5" creationId="{169DD700-9BF4-A6BE-BAF8-D2F5E1976E64}"/>
          </ac:spMkLst>
        </pc:spChg>
      </pc:sldChg>
      <pc:sldChg chg="modSp new mod">
        <pc:chgData name="Francesco Bellotti" userId="f453232b-f87d-4756-9d8b-c09bc835cc42" providerId="ADAL" clId="{C7FEA3FA-4936-41E1-B7FA-CA082069F7F7}" dt="2026-10-11T17:58:19.075" v="9220" actId="20577"/>
        <pc:sldMkLst>
          <pc:docMk/>
          <pc:sldMk cId="2205225287" sldId="509"/>
        </pc:sldMkLst>
        <pc:spChg chg="mod">
          <ac:chgData name="Francesco Bellotti" userId="f453232b-f87d-4756-9d8b-c09bc835cc42" providerId="ADAL" clId="{C7FEA3FA-4936-41E1-B7FA-CA082069F7F7}" dt="2026-10-10T22:43:07.211" v="8920" actId="20577"/>
          <ac:spMkLst>
            <pc:docMk/>
            <pc:sldMk cId="2205225287" sldId="509"/>
            <ac:spMk id="2" creationId="{BD325EAE-2768-8AFB-719C-8504BFFD6D24}"/>
          </ac:spMkLst>
        </pc:spChg>
        <pc:spChg chg="mod">
          <ac:chgData name="Francesco Bellotti" userId="f453232b-f87d-4756-9d8b-c09bc835cc42" providerId="ADAL" clId="{C7FEA3FA-4936-41E1-B7FA-CA082069F7F7}" dt="2026-10-11T17:58:19.075" v="9220" actId="20577"/>
          <ac:spMkLst>
            <pc:docMk/>
            <pc:sldMk cId="2205225287" sldId="509"/>
            <ac:spMk id="3" creationId="{F2CE7079-F708-4335-9D85-171C45C18085}"/>
          </ac:spMkLst>
        </pc:spChg>
      </pc:sldChg>
      <pc:sldChg chg="addSp modSp new mod">
        <pc:chgData name="Francesco Bellotti" userId="f453232b-f87d-4756-9d8b-c09bc835cc42" providerId="ADAL" clId="{C7FEA3FA-4936-41E1-B7FA-CA082069F7F7}" dt="2026-10-11T17:58:44.451" v="9221" actId="1076"/>
        <pc:sldMkLst>
          <pc:docMk/>
          <pc:sldMk cId="2085154385" sldId="510"/>
        </pc:sldMkLst>
        <pc:spChg chg="mod">
          <ac:chgData name="Francesco Bellotti" userId="f453232b-f87d-4756-9d8b-c09bc835cc42" providerId="ADAL" clId="{C7FEA3FA-4936-41E1-B7FA-CA082069F7F7}" dt="2026-10-10T22:45:47.275" v="8967"/>
          <ac:spMkLst>
            <pc:docMk/>
            <pc:sldMk cId="2085154385" sldId="510"/>
            <ac:spMk id="2" creationId="{919CC542-2BCA-06EE-5979-CEBE2D351E85}"/>
          </ac:spMkLst>
        </pc:spChg>
        <pc:spChg chg="mod">
          <ac:chgData name="Francesco Bellotti" userId="f453232b-f87d-4756-9d8b-c09bc835cc42" providerId="ADAL" clId="{C7FEA3FA-4936-41E1-B7FA-CA082069F7F7}" dt="2026-10-11T17:57:12.421" v="9185" actId="20577"/>
          <ac:spMkLst>
            <pc:docMk/>
            <pc:sldMk cId="2085154385" sldId="510"/>
            <ac:spMk id="3" creationId="{04C675D9-8AE6-0316-2618-B33459BA96CA}"/>
          </ac:spMkLst>
        </pc:spChg>
        <pc:spChg chg="add mod">
          <ac:chgData name="Francesco Bellotti" userId="f453232b-f87d-4756-9d8b-c09bc835cc42" providerId="ADAL" clId="{C7FEA3FA-4936-41E1-B7FA-CA082069F7F7}" dt="2026-10-11T17:58:44.451" v="9221" actId="1076"/>
          <ac:spMkLst>
            <pc:docMk/>
            <pc:sldMk cId="2085154385" sldId="510"/>
            <ac:spMk id="5" creationId="{81D57E70-79F1-19E5-C05C-AFF6D41444EF}"/>
          </ac:spMkLst>
        </pc:spChg>
        <pc:spChg chg="add mod">
          <ac:chgData name="Francesco Bellotti" userId="f453232b-f87d-4756-9d8b-c09bc835cc42" providerId="ADAL" clId="{C7FEA3FA-4936-41E1-B7FA-CA082069F7F7}" dt="2026-10-10T22:51:37.846" v="9097" actId="1076"/>
          <ac:spMkLst>
            <pc:docMk/>
            <pc:sldMk cId="2085154385" sldId="510"/>
            <ac:spMk id="7" creationId="{F8958C4A-F5E7-3D12-B225-D9B926CDA9AC}"/>
          </ac:spMkLst>
        </pc:spChg>
      </pc:sldChg>
      <pc:sldChg chg="delSp modSp new mod">
        <pc:chgData name="Francesco Bellotti" userId="f453232b-f87d-4756-9d8b-c09bc835cc42" providerId="ADAL" clId="{C7FEA3FA-4936-41E1-B7FA-CA082069F7F7}" dt="2026-10-11T17:59:10.230" v="9223" actId="478"/>
        <pc:sldMkLst>
          <pc:docMk/>
          <pc:sldMk cId="3834519640" sldId="511"/>
        </pc:sldMkLst>
        <pc:spChg chg="mod">
          <ac:chgData name="Francesco Bellotti" userId="f453232b-f87d-4756-9d8b-c09bc835cc42" providerId="ADAL" clId="{C7FEA3FA-4936-41E1-B7FA-CA082069F7F7}" dt="2026-10-10T22:51:54.862" v="9104" actId="20577"/>
          <ac:spMkLst>
            <pc:docMk/>
            <pc:sldMk cId="3834519640" sldId="511"/>
            <ac:spMk id="2" creationId="{07924950-47D9-7E76-D5EF-B79DC05DB68E}"/>
          </ac:spMkLst>
        </pc:spChg>
        <pc:spChg chg="del mod">
          <ac:chgData name="Francesco Bellotti" userId="f453232b-f87d-4756-9d8b-c09bc835cc42" providerId="ADAL" clId="{C7FEA3FA-4936-41E1-B7FA-CA082069F7F7}" dt="2026-10-11T17:59:10.230" v="9223" actId="478"/>
          <ac:spMkLst>
            <pc:docMk/>
            <pc:sldMk cId="3834519640" sldId="511"/>
            <ac:spMk id="3" creationId="{15CD87E6-57BE-1716-19BB-752FCAE27F6B}"/>
          </ac:spMkLst>
        </pc:spChg>
      </pc:sldChg>
      <pc:sldChg chg="delSp modSp new mod">
        <pc:chgData name="Francesco Bellotti" userId="f453232b-f87d-4756-9d8b-c09bc835cc42" providerId="ADAL" clId="{C7FEA3FA-4936-41E1-B7FA-CA082069F7F7}" dt="2026-10-11T17:59:23.142" v="9225" actId="478"/>
        <pc:sldMkLst>
          <pc:docMk/>
          <pc:sldMk cId="2516874098" sldId="512"/>
        </pc:sldMkLst>
        <pc:spChg chg="mod">
          <ac:chgData name="Francesco Bellotti" userId="f453232b-f87d-4756-9d8b-c09bc835cc42" providerId="ADAL" clId="{C7FEA3FA-4936-41E1-B7FA-CA082069F7F7}" dt="2026-10-10T22:52:01.191" v="9108" actId="20577"/>
          <ac:spMkLst>
            <pc:docMk/>
            <pc:sldMk cId="2516874098" sldId="512"/>
            <ac:spMk id="2" creationId="{18E1C21B-D114-56B8-A1F6-9247651D3A5A}"/>
          </ac:spMkLst>
        </pc:spChg>
        <pc:spChg chg="del mod">
          <ac:chgData name="Francesco Bellotti" userId="f453232b-f87d-4756-9d8b-c09bc835cc42" providerId="ADAL" clId="{C7FEA3FA-4936-41E1-B7FA-CA082069F7F7}" dt="2026-10-11T17:59:23.142" v="9225" actId="478"/>
          <ac:spMkLst>
            <pc:docMk/>
            <pc:sldMk cId="2516874098" sldId="512"/>
            <ac:spMk id="3" creationId="{B036429B-DADE-FD88-C3B7-5D42B37CF929}"/>
          </ac:spMkLst>
        </pc:spChg>
      </pc:sldChg>
      <pc:sldChg chg="delSp modSp new mod">
        <pc:chgData name="Francesco Bellotti" userId="f453232b-f87d-4756-9d8b-c09bc835cc42" providerId="ADAL" clId="{C7FEA3FA-4936-41E1-B7FA-CA082069F7F7}" dt="2026-10-11T17:59:28.841" v="9227" actId="478"/>
        <pc:sldMkLst>
          <pc:docMk/>
          <pc:sldMk cId="1357553668" sldId="513"/>
        </pc:sldMkLst>
        <pc:spChg chg="mod">
          <ac:chgData name="Francesco Bellotti" userId="f453232b-f87d-4756-9d8b-c09bc835cc42" providerId="ADAL" clId="{C7FEA3FA-4936-41E1-B7FA-CA082069F7F7}" dt="2026-10-10T22:52:07.253" v="9116" actId="20577"/>
          <ac:spMkLst>
            <pc:docMk/>
            <pc:sldMk cId="1357553668" sldId="513"/>
            <ac:spMk id="2" creationId="{BF0383F8-BDBA-D014-3590-86636E0144D0}"/>
          </ac:spMkLst>
        </pc:spChg>
        <pc:spChg chg="del mod">
          <ac:chgData name="Francesco Bellotti" userId="f453232b-f87d-4756-9d8b-c09bc835cc42" providerId="ADAL" clId="{C7FEA3FA-4936-41E1-B7FA-CA082069F7F7}" dt="2026-10-11T17:59:28.841" v="9227" actId="478"/>
          <ac:spMkLst>
            <pc:docMk/>
            <pc:sldMk cId="1357553668" sldId="513"/>
            <ac:spMk id="3" creationId="{A658E3DB-231E-EBF9-7236-33123A0E0F77}"/>
          </ac:spMkLst>
        </pc:spChg>
      </pc:sldChg>
      <pc:sldChg chg="addSp delSp modSp new mod modClrScheme chgLayout">
        <pc:chgData name="Francesco Bellotti" userId="f453232b-f87d-4756-9d8b-c09bc835cc42" providerId="ADAL" clId="{C7FEA3FA-4936-41E1-B7FA-CA082069F7F7}" dt="2026-10-11T18:17:59.848" v="9649"/>
        <pc:sldMkLst>
          <pc:docMk/>
          <pc:sldMk cId="3445133996" sldId="514"/>
        </pc:sldMkLst>
        <pc:spChg chg="mod ord">
          <ac:chgData name="Francesco Bellotti" userId="f453232b-f87d-4756-9d8b-c09bc835cc42" providerId="ADAL" clId="{C7FEA3FA-4936-41E1-B7FA-CA082069F7F7}" dt="2026-10-11T18:17:58.199" v="9648" actId="700"/>
          <ac:spMkLst>
            <pc:docMk/>
            <pc:sldMk cId="3445133996" sldId="514"/>
            <ac:spMk id="2" creationId="{C9E0B595-449D-13A9-4090-3E4C11388413}"/>
          </ac:spMkLst>
        </pc:spChg>
        <pc:spChg chg="del mod">
          <ac:chgData name="Francesco Bellotti" userId="f453232b-f87d-4756-9d8b-c09bc835cc42" providerId="ADAL" clId="{C7FEA3FA-4936-41E1-B7FA-CA082069F7F7}" dt="2026-10-11T17:59:35.051" v="9229" actId="478"/>
          <ac:spMkLst>
            <pc:docMk/>
            <pc:sldMk cId="3445133996" sldId="514"/>
            <ac:spMk id="3" creationId="{19160A65-5E2B-B461-604F-F35B052CB4D7}"/>
          </ac:spMkLst>
        </pc:spChg>
        <pc:spChg chg="add mod ord">
          <ac:chgData name="Francesco Bellotti" userId="f453232b-f87d-4756-9d8b-c09bc835cc42" providerId="ADAL" clId="{C7FEA3FA-4936-41E1-B7FA-CA082069F7F7}" dt="2026-10-11T18:17:59.848" v="9649"/>
          <ac:spMkLst>
            <pc:docMk/>
            <pc:sldMk cId="3445133996" sldId="514"/>
            <ac:spMk id="4" creationId="{8141988D-EB25-C863-58D9-5523C6AFA80C}"/>
          </ac:spMkLst>
        </pc:spChg>
      </pc:sldChg>
      <pc:sldChg chg="addSp modSp new mod">
        <pc:chgData name="Francesco Bellotti" userId="f453232b-f87d-4756-9d8b-c09bc835cc42" providerId="ADAL" clId="{C7FEA3FA-4936-41E1-B7FA-CA082069F7F7}" dt="2026-10-11T20:54:40.325" v="10155" actId="11529"/>
        <pc:sldMkLst>
          <pc:docMk/>
          <pc:sldMk cId="2004712969" sldId="515"/>
        </pc:sldMkLst>
        <pc:spChg chg="mod">
          <ac:chgData name="Francesco Bellotti" userId="f453232b-f87d-4756-9d8b-c09bc835cc42" providerId="ADAL" clId="{C7FEA3FA-4936-41E1-B7FA-CA082069F7F7}" dt="2026-10-11T18:16:38.731" v="9633" actId="20577"/>
          <ac:spMkLst>
            <pc:docMk/>
            <pc:sldMk cId="2004712969" sldId="515"/>
            <ac:spMk id="2" creationId="{18C3F8DE-26B3-24F3-3F2E-DC6C55AED2B3}"/>
          </ac:spMkLst>
        </pc:spChg>
        <pc:spChg chg="mod">
          <ac:chgData name="Francesco Bellotti" userId="f453232b-f87d-4756-9d8b-c09bc835cc42" providerId="ADAL" clId="{C7FEA3FA-4936-41E1-B7FA-CA082069F7F7}" dt="2026-10-11T20:21:01.958" v="9839" actId="20577"/>
          <ac:spMkLst>
            <pc:docMk/>
            <pc:sldMk cId="2004712969" sldId="515"/>
            <ac:spMk id="3" creationId="{A563CD2D-8E3B-17BB-BBA0-8CB848846248}"/>
          </ac:spMkLst>
        </pc:spChg>
        <pc:spChg chg="add mod">
          <ac:chgData name="Francesco Bellotti" userId="f453232b-f87d-4756-9d8b-c09bc835cc42" providerId="ADAL" clId="{C7FEA3FA-4936-41E1-B7FA-CA082069F7F7}" dt="2026-10-11T20:27:26.794" v="9924" actId="1076"/>
          <ac:spMkLst>
            <pc:docMk/>
            <pc:sldMk cId="2004712969" sldId="515"/>
            <ac:spMk id="4" creationId="{2A2965DC-57BD-B01C-3874-52B5960D8242}"/>
          </ac:spMkLst>
        </pc:spChg>
        <pc:spChg chg="add mod">
          <ac:chgData name="Francesco Bellotti" userId="f453232b-f87d-4756-9d8b-c09bc835cc42" providerId="ADAL" clId="{C7FEA3FA-4936-41E1-B7FA-CA082069F7F7}" dt="2026-10-11T20:37:39.097" v="9991" actId="113"/>
          <ac:spMkLst>
            <pc:docMk/>
            <pc:sldMk cId="2004712969" sldId="515"/>
            <ac:spMk id="5" creationId="{653A3D85-E6F9-DEDB-83FA-E84F4069EAC8}"/>
          </ac:spMkLst>
        </pc:spChg>
        <pc:spChg chg="add mod">
          <ac:chgData name="Francesco Bellotti" userId="f453232b-f87d-4756-9d8b-c09bc835cc42" providerId="ADAL" clId="{C7FEA3FA-4936-41E1-B7FA-CA082069F7F7}" dt="2026-10-11T20:54:32.312" v="10154" actId="20577"/>
          <ac:spMkLst>
            <pc:docMk/>
            <pc:sldMk cId="2004712969" sldId="515"/>
            <ac:spMk id="6" creationId="{0B5D9E64-C81C-5E09-47B6-ED85974F670B}"/>
          </ac:spMkLst>
        </pc:spChg>
        <pc:cxnChg chg="add">
          <ac:chgData name="Francesco Bellotti" userId="f453232b-f87d-4756-9d8b-c09bc835cc42" providerId="ADAL" clId="{C7FEA3FA-4936-41E1-B7FA-CA082069F7F7}" dt="2026-10-11T20:27:23.535" v="9923" actId="11529"/>
          <ac:cxnSpMkLst>
            <pc:docMk/>
            <pc:sldMk cId="2004712969" sldId="515"/>
            <ac:cxnSpMk id="7" creationId="{6492F7BA-1D68-5488-2713-3992B1665105}"/>
          </ac:cxnSpMkLst>
        </pc:cxnChg>
        <pc:cxnChg chg="add">
          <ac:chgData name="Francesco Bellotti" userId="f453232b-f87d-4756-9d8b-c09bc835cc42" providerId="ADAL" clId="{C7FEA3FA-4936-41E1-B7FA-CA082069F7F7}" dt="2026-10-11T20:54:40.325" v="10155" actId="11529"/>
          <ac:cxnSpMkLst>
            <pc:docMk/>
            <pc:sldMk cId="2004712969" sldId="515"/>
            <ac:cxnSpMk id="9" creationId="{9F540F58-FBD2-C082-A1BC-F9B1AE0345A8}"/>
          </ac:cxnSpMkLst>
        </pc:cxnChg>
      </pc:sldChg>
      <pc:sldChg chg="addSp modSp new mod">
        <pc:chgData name="Francesco Bellotti" userId="f453232b-f87d-4756-9d8b-c09bc835cc42" providerId="ADAL" clId="{C7FEA3FA-4936-41E1-B7FA-CA082069F7F7}" dt="2026-10-11T21:01:10.957" v="10271" actId="1076"/>
        <pc:sldMkLst>
          <pc:docMk/>
          <pc:sldMk cId="1109391815" sldId="516"/>
        </pc:sldMkLst>
        <pc:spChg chg="mod">
          <ac:chgData name="Francesco Bellotti" userId="f453232b-f87d-4756-9d8b-c09bc835cc42" providerId="ADAL" clId="{C7FEA3FA-4936-41E1-B7FA-CA082069F7F7}" dt="2026-10-11T18:04:37.223" v="9342" actId="20577"/>
          <ac:spMkLst>
            <pc:docMk/>
            <pc:sldMk cId="1109391815" sldId="516"/>
            <ac:spMk id="2" creationId="{4DC58067-9226-11A9-2ABC-218E79768B49}"/>
          </ac:spMkLst>
        </pc:spChg>
        <pc:spChg chg="mod">
          <ac:chgData name="Francesco Bellotti" userId="f453232b-f87d-4756-9d8b-c09bc835cc42" providerId="ADAL" clId="{C7FEA3FA-4936-41E1-B7FA-CA082069F7F7}" dt="2026-10-11T20:27:51.922" v="9926" actId="108"/>
          <ac:spMkLst>
            <pc:docMk/>
            <pc:sldMk cId="1109391815" sldId="516"/>
            <ac:spMk id="3" creationId="{249D02CC-6CDE-D377-2497-2C1742D7879C}"/>
          </ac:spMkLst>
        </pc:spChg>
        <pc:spChg chg="add mod">
          <ac:chgData name="Francesco Bellotti" userId="f453232b-f87d-4756-9d8b-c09bc835cc42" providerId="ADAL" clId="{C7FEA3FA-4936-41E1-B7FA-CA082069F7F7}" dt="2026-10-11T20:50:53.968" v="10106" actId="1076"/>
          <ac:spMkLst>
            <pc:docMk/>
            <pc:sldMk cId="1109391815" sldId="516"/>
            <ac:spMk id="4" creationId="{51587AA5-CB67-3821-B246-0AFC261D0165}"/>
          </ac:spMkLst>
        </pc:spChg>
        <pc:spChg chg="add mod">
          <ac:chgData name="Francesco Bellotti" userId="f453232b-f87d-4756-9d8b-c09bc835cc42" providerId="ADAL" clId="{C7FEA3FA-4936-41E1-B7FA-CA082069F7F7}" dt="2026-10-11T21:00:25.403" v="10218" actId="1076"/>
          <ac:spMkLst>
            <pc:docMk/>
            <pc:sldMk cId="1109391815" sldId="516"/>
            <ac:spMk id="5" creationId="{74E97428-E34A-4851-BE08-26A6B88D3ADB}"/>
          </ac:spMkLst>
        </pc:spChg>
        <pc:spChg chg="add mod">
          <ac:chgData name="Francesco Bellotti" userId="f453232b-f87d-4756-9d8b-c09bc835cc42" providerId="ADAL" clId="{C7FEA3FA-4936-41E1-B7FA-CA082069F7F7}" dt="2026-10-11T20:56:00.549" v="10189" actId="1076"/>
          <ac:spMkLst>
            <pc:docMk/>
            <pc:sldMk cId="1109391815" sldId="516"/>
            <ac:spMk id="14" creationId="{D1D6D8E7-5EB6-94DD-F7BD-30FE6C94E914}"/>
          </ac:spMkLst>
        </pc:spChg>
        <pc:spChg chg="add mod">
          <ac:chgData name="Francesco Bellotti" userId="f453232b-f87d-4756-9d8b-c09bc835cc42" providerId="ADAL" clId="{C7FEA3FA-4936-41E1-B7FA-CA082069F7F7}" dt="2026-10-11T21:01:10.957" v="10271" actId="1076"/>
          <ac:spMkLst>
            <pc:docMk/>
            <pc:sldMk cId="1109391815" sldId="516"/>
            <ac:spMk id="16" creationId="{BE7179C6-E11D-3579-3780-AFBE756AA59C}"/>
          </ac:spMkLst>
        </pc:spChg>
        <pc:cxnChg chg="add mod">
          <ac:chgData name="Francesco Bellotti" userId="f453232b-f87d-4756-9d8b-c09bc835cc42" providerId="ADAL" clId="{C7FEA3FA-4936-41E1-B7FA-CA082069F7F7}" dt="2026-10-11T21:00:36.444" v="10220" actId="14100"/>
          <ac:cxnSpMkLst>
            <pc:docMk/>
            <pc:sldMk cId="1109391815" sldId="516"/>
            <ac:cxnSpMk id="6" creationId="{EADEB41E-7149-5861-F80B-D9DE3F3EFFA5}"/>
          </ac:cxnSpMkLst>
        </pc:cxnChg>
        <pc:cxnChg chg="add mod">
          <ac:chgData name="Francesco Bellotti" userId="f453232b-f87d-4756-9d8b-c09bc835cc42" providerId="ADAL" clId="{C7FEA3FA-4936-41E1-B7FA-CA082069F7F7}" dt="2026-10-11T20:50:51.016" v="10105" actId="14100"/>
          <ac:cxnSpMkLst>
            <pc:docMk/>
            <pc:sldMk cId="1109391815" sldId="516"/>
            <ac:cxnSpMk id="8" creationId="{6EE0C086-E6B8-64FF-9B39-0D1D627C503E}"/>
          </ac:cxnSpMkLst>
        </pc:cxnChg>
        <pc:cxnChg chg="add mod">
          <ac:chgData name="Francesco Bellotti" userId="f453232b-f87d-4756-9d8b-c09bc835cc42" providerId="ADAL" clId="{C7FEA3FA-4936-41E1-B7FA-CA082069F7F7}" dt="2026-10-11T20:55:17.014" v="10157" actId="14100"/>
          <ac:cxnSpMkLst>
            <pc:docMk/>
            <pc:sldMk cId="1109391815" sldId="516"/>
            <ac:cxnSpMk id="11" creationId="{A59FD172-F49C-2E1A-3FD3-BE784BEAEA7C}"/>
          </ac:cxnSpMkLst>
        </pc:cxnChg>
      </pc:sldChg>
      <pc:sldChg chg="modSp new mod">
        <pc:chgData name="Francesco Bellotti" userId="f453232b-f87d-4756-9d8b-c09bc835cc42" providerId="ADAL" clId="{C7FEA3FA-4936-41E1-B7FA-CA082069F7F7}" dt="2026-10-11T20:51:23.536" v="10110" actId="113"/>
        <pc:sldMkLst>
          <pc:docMk/>
          <pc:sldMk cId="1961789823" sldId="517"/>
        </pc:sldMkLst>
        <pc:spChg chg="mod">
          <ac:chgData name="Francesco Bellotti" userId="f453232b-f87d-4756-9d8b-c09bc835cc42" providerId="ADAL" clId="{C7FEA3FA-4936-41E1-B7FA-CA082069F7F7}" dt="2026-10-11T20:40:19.839" v="9994" actId="21"/>
          <ac:spMkLst>
            <pc:docMk/>
            <pc:sldMk cId="1961789823" sldId="517"/>
            <ac:spMk id="2" creationId="{77E29142-43B0-7348-5182-B24703F3C43A}"/>
          </ac:spMkLst>
        </pc:spChg>
        <pc:spChg chg="mod">
          <ac:chgData name="Francesco Bellotti" userId="f453232b-f87d-4756-9d8b-c09bc835cc42" providerId="ADAL" clId="{C7FEA3FA-4936-41E1-B7FA-CA082069F7F7}" dt="2026-10-11T20:51:23.536" v="10110" actId="113"/>
          <ac:spMkLst>
            <pc:docMk/>
            <pc:sldMk cId="1961789823" sldId="517"/>
            <ac:spMk id="3" creationId="{4E61AD67-98E9-6478-EC02-C8FDA3A15E11}"/>
          </ac:spMkLst>
        </pc:spChg>
      </pc:sldChg>
      <pc:sldChg chg="addSp modSp new mod">
        <pc:chgData name="Francesco Bellotti" userId="f453232b-f87d-4756-9d8b-c09bc835cc42" providerId="ADAL" clId="{C7FEA3FA-4936-41E1-B7FA-CA082069F7F7}" dt="2026-10-11T20:44:12.913" v="10059" actId="1076"/>
        <pc:sldMkLst>
          <pc:docMk/>
          <pc:sldMk cId="1024975017" sldId="518"/>
        </pc:sldMkLst>
        <pc:spChg chg="mod">
          <ac:chgData name="Francesco Bellotti" userId="f453232b-f87d-4756-9d8b-c09bc835cc42" providerId="ADAL" clId="{C7FEA3FA-4936-41E1-B7FA-CA082069F7F7}" dt="2026-10-11T18:08:34.223" v="9429"/>
          <ac:spMkLst>
            <pc:docMk/>
            <pc:sldMk cId="1024975017" sldId="518"/>
            <ac:spMk id="2" creationId="{869DEEF4-BF5C-0101-7265-569138AFA735}"/>
          </ac:spMkLst>
        </pc:spChg>
        <pc:spChg chg="mod">
          <ac:chgData name="Francesco Bellotti" userId="f453232b-f87d-4756-9d8b-c09bc835cc42" providerId="ADAL" clId="{C7FEA3FA-4936-41E1-B7FA-CA082069F7F7}" dt="2026-10-11T20:33:13.374" v="9980" actId="404"/>
          <ac:spMkLst>
            <pc:docMk/>
            <pc:sldMk cId="1024975017" sldId="518"/>
            <ac:spMk id="3" creationId="{E36A698D-5EAF-3ABD-2524-89675592BF55}"/>
          </ac:spMkLst>
        </pc:spChg>
        <pc:spChg chg="add mod">
          <ac:chgData name="Francesco Bellotti" userId="f453232b-f87d-4756-9d8b-c09bc835cc42" providerId="ADAL" clId="{C7FEA3FA-4936-41E1-B7FA-CA082069F7F7}" dt="2026-10-11T20:43:51.587" v="10054" actId="1076"/>
          <ac:spMkLst>
            <pc:docMk/>
            <pc:sldMk cId="1024975017" sldId="518"/>
            <ac:spMk id="6" creationId="{761D20FB-C976-B59B-AFA0-8AF6A7B5DDDF}"/>
          </ac:spMkLst>
        </pc:spChg>
        <pc:picChg chg="add mod">
          <ac:chgData name="Francesco Bellotti" userId="f453232b-f87d-4756-9d8b-c09bc835cc42" providerId="ADAL" clId="{C7FEA3FA-4936-41E1-B7FA-CA082069F7F7}" dt="2026-10-11T20:44:12.913" v="10059" actId="1076"/>
          <ac:picMkLst>
            <pc:docMk/>
            <pc:sldMk cId="1024975017" sldId="518"/>
            <ac:picMk id="8" creationId="{771E9F0E-4C19-95D8-C666-24ADC0A20742}"/>
          </ac:picMkLst>
        </pc:picChg>
        <pc:cxnChg chg="add">
          <ac:chgData name="Francesco Bellotti" userId="f453232b-f87d-4756-9d8b-c09bc835cc42" providerId="ADAL" clId="{C7FEA3FA-4936-41E1-B7FA-CA082069F7F7}" dt="2026-10-11T20:42:45.672" v="10001" actId="11529"/>
          <ac:cxnSpMkLst>
            <pc:docMk/>
            <pc:sldMk cId="1024975017" sldId="518"/>
            <ac:cxnSpMk id="5" creationId="{719FB324-6ECD-4AB4-2629-EC9473C05D45}"/>
          </ac:cxnSpMkLst>
        </pc:cxnChg>
      </pc:sldChg>
      <pc:sldChg chg="new del">
        <pc:chgData name="Francesco Bellotti" userId="f453232b-f87d-4756-9d8b-c09bc835cc42" providerId="ADAL" clId="{C7FEA3FA-4936-41E1-B7FA-CA082069F7F7}" dt="2026-10-11T18:08:20.964" v="9426" actId="47"/>
        <pc:sldMkLst>
          <pc:docMk/>
          <pc:sldMk cId="1741321791" sldId="518"/>
        </pc:sldMkLst>
      </pc:sldChg>
      <pc:sldChg chg="modSp new mod">
        <pc:chgData name="Francesco Bellotti" userId="f453232b-f87d-4756-9d8b-c09bc835cc42" providerId="ADAL" clId="{C7FEA3FA-4936-41E1-B7FA-CA082069F7F7}" dt="2026-10-11T20:32:14.263" v="9953" actId="20577"/>
        <pc:sldMkLst>
          <pc:docMk/>
          <pc:sldMk cId="945533260" sldId="519"/>
        </pc:sldMkLst>
        <pc:spChg chg="mod">
          <ac:chgData name="Francesco Bellotti" userId="f453232b-f87d-4756-9d8b-c09bc835cc42" providerId="ADAL" clId="{C7FEA3FA-4936-41E1-B7FA-CA082069F7F7}" dt="2026-10-11T18:11:07.005" v="9530" actId="20577"/>
          <ac:spMkLst>
            <pc:docMk/>
            <pc:sldMk cId="945533260" sldId="519"/>
            <ac:spMk id="2" creationId="{9374A384-83D2-5074-CB8F-7E5ADBB0F9D7}"/>
          </ac:spMkLst>
        </pc:spChg>
        <pc:spChg chg="mod">
          <ac:chgData name="Francesco Bellotti" userId="f453232b-f87d-4756-9d8b-c09bc835cc42" providerId="ADAL" clId="{C7FEA3FA-4936-41E1-B7FA-CA082069F7F7}" dt="2026-10-11T20:32:14.263" v="9953" actId="20577"/>
          <ac:spMkLst>
            <pc:docMk/>
            <pc:sldMk cId="945533260" sldId="519"/>
            <ac:spMk id="3" creationId="{4C18EA21-F98C-AA9B-828A-B25F928450E7}"/>
          </ac:spMkLst>
        </pc:spChg>
      </pc:sldChg>
      <pc:sldChg chg="addSp modSp new mod">
        <pc:chgData name="Francesco Bellotti" userId="f453232b-f87d-4756-9d8b-c09bc835cc42" providerId="ADAL" clId="{C7FEA3FA-4936-41E1-B7FA-CA082069F7F7}" dt="2026-10-11T20:50:07.150" v="10077" actId="14100"/>
        <pc:sldMkLst>
          <pc:docMk/>
          <pc:sldMk cId="4109680836" sldId="520"/>
        </pc:sldMkLst>
        <pc:spChg chg="mod">
          <ac:chgData name="Francesco Bellotti" userId="f453232b-f87d-4756-9d8b-c09bc835cc42" providerId="ADAL" clId="{C7FEA3FA-4936-41E1-B7FA-CA082069F7F7}" dt="2026-10-11T20:49:16.764" v="10061" actId="113"/>
          <ac:spMkLst>
            <pc:docMk/>
            <pc:sldMk cId="4109680836" sldId="520"/>
            <ac:spMk id="3" creationId="{8980EC0D-8C90-4072-1E2C-6594991B0BA4}"/>
          </ac:spMkLst>
        </pc:spChg>
        <pc:spChg chg="add mod">
          <ac:chgData name="Francesco Bellotti" userId="f453232b-f87d-4756-9d8b-c09bc835cc42" providerId="ADAL" clId="{C7FEA3FA-4936-41E1-B7FA-CA082069F7F7}" dt="2026-10-11T20:49:50.153" v="10073" actId="1076"/>
          <ac:spMkLst>
            <pc:docMk/>
            <pc:sldMk cId="4109680836" sldId="520"/>
            <ac:spMk id="4" creationId="{AC97AE01-DCA7-5C54-4098-8C4A8ED49EE1}"/>
          </ac:spMkLst>
        </pc:spChg>
        <pc:cxnChg chg="add">
          <ac:chgData name="Francesco Bellotti" userId="f453232b-f87d-4756-9d8b-c09bc835cc42" providerId="ADAL" clId="{C7FEA3FA-4936-41E1-B7FA-CA082069F7F7}" dt="2026-10-11T20:49:56.774" v="10074" actId="11529"/>
          <ac:cxnSpMkLst>
            <pc:docMk/>
            <pc:sldMk cId="4109680836" sldId="520"/>
            <ac:cxnSpMk id="6" creationId="{832CB24D-D9AD-2EA9-3B9A-BF68D2E88312}"/>
          </ac:cxnSpMkLst>
        </pc:cxnChg>
        <pc:cxnChg chg="add mod">
          <ac:chgData name="Francesco Bellotti" userId="f453232b-f87d-4756-9d8b-c09bc835cc42" providerId="ADAL" clId="{C7FEA3FA-4936-41E1-B7FA-CA082069F7F7}" dt="2026-10-11T20:50:07.150" v="10077" actId="14100"/>
          <ac:cxnSpMkLst>
            <pc:docMk/>
            <pc:sldMk cId="4109680836" sldId="520"/>
            <ac:cxnSpMk id="7" creationId="{89A6CA6B-D874-7B96-70BE-C143BB5A9D9C}"/>
          </ac:cxnSpMkLst>
        </pc:cxnChg>
      </pc:sldChg>
      <pc:sldChg chg="modSp new mod">
        <pc:chgData name="Francesco Bellotti" userId="f453232b-f87d-4756-9d8b-c09bc835cc42" providerId="ADAL" clId="{C7FEA3FA-4936-41E1-B7FA-CA082069F7F7}" dt="2026-10-11T20:51:53.215" v="10111" actId="113"/>
        <pc:sldMkLst>
          <pc:docMk/>
          <pc:sldMk cId="4084312211" sldId="521"/>
        </pc:sldMkLst>
        <pc:spChg chg="mod">
          <ac:chgData name="Francesco Bellotti" userId="f453232b-f87d-4756-9d8b-c09bc835cc42" providerId="ADAL" clId="{C7FEA3FA-4936-41E1-B7FA-CA082069F7F7}" dt="2026-10-11T20:51:53.215" v="10111" actId="113"/>
          <ac:spMkLst>
            <pc:docMk/>
            <pc:sldMk cId="4084312211" sldId="521"/>
            <ac:spMk id="3" creationId="{1B96623F-CC67-5BE7-8857-76C8DEC34183}"/>
          </ac:spMkLst>
        </pc:spChg>
      </pc:sldChg>
      <pc:sldChg chg="addSp modSp new mod">
        <pc:chgData name="Francesco Bellotti" userId="f453232b-f87d-4756-9d8b-c09bc835cc42" providerId="ADAL" clId="{C7FEA3FA-4936-41E1-B7FA-CA082069F7F7}" dt="2026-10-11T20:58:13.479" v="10206" actId="20577"/>
        <pc:sldMkLst>
          <pc:docMk/>
          <pc:sldMk cId="1483755005" sldId="522"/>
        </pc:sldMkLst>
        <pc:spChg chg="mod">
          <ac:chgData name="Francesco Bellotti" userId="f453232b-f87d-4756-9d8b-c09bc835cc42" providerId="ADAL" clId="{C7FEA3FA-4936-41E1-B7FA-CA082069F7F7}" dt="2026-10-11T20:56:33.898" v="10190" actId="113"/>
          <ac:spMkLst>
            <pc:docMk/>
            <pc:sldMk cId="1483755005" sldId="522"/>
            <ac:spMk id="3" creationId="{21F598C3-E406-2BCA-2CFC-1A3E0442E023}"/>
          </ac:spMkLst>
        </pc:spChg>
        <pc:spChg chg="add mod">
          <ac:chgData name="Francesco Bellotti" userId="f453232b-f87d-4756-9d8b-c09bc835cc42" providerId="ADAL" clId="{C7FEA3FA-4936-41E1-B7FA-CA082069F7F7}" dt="2026-10-11T18:19:32.155" v="9674" actId="1076"/>
          <ac:spMkLst>
            <pc:docMk/>
            <pc:sldMk cId="1483755005" sldId="522"/>
            <ac:spMk id="5" creationId="{24C5A5FC-0FBC-AA94-67AA-FE66522B1617}"/>
          </ac:spMkLst>
        </pc:spChg>
        <pc:spChg chg="add mod">
          <ac:chgData name="Francesco Bellotti" userId="f453232b-f87d-4756-9d8b-c09bc835cc42" providerId="ADAL" clId="{C7FEA3FA-4936-41E1-B7FA-CA082069F7F7}" dt="2026-10-11T20:58:13.479" v="10206" actId="20577"/>
          <ac:spMkLst>
            <pc:docMk/>
            <pc:sldMk cId="1483755005" sldId="522"/>
            <ac:spMk id="6" creationId="{15FB6678-A492-C79C-0BBE-F943D1BFF3D0}"/>
          </ac:spMkLst>
        </pc:spChg>
        <pc:cxnChg chg="add">
          <ac:chgData name="Francesco Bellotti" userId="f453232b-f87d-4756-9d8b-c09bc835cc42" providerId="ADAL" clId="{C7FEA3FA-4936-41E1-B7FA-CA082069F7F7}" dt="2026-10-11T20:57:40.567" v="10198" actId="11529"/>
          <ac:cxnSpMkLst>
            <pc:docMk/>
            <pc:sldMk cId="1483755005" sldId="522"/>
            <ac:cxnSpMk id="8" creationId="{2775D0AA-8EDC-342D-368F-7E297B67EE6C}"/>
          </ac:cxnSpMkLst>
        </pc:cxnChg>
      </pc:sldChg>
      <pc:sldChg chg="addSp modSp new mod">
        <pc:chgData name="Francesco Bellotti" userId="f453232b-f87d-4756-9d8b-c09bc835cc42" providerId="ADAL" clId="{C7FEA3FA-4936-41E1-B7FA-CA082069F7F7}" dt="2026-10-11T21:06:05.359" v="10294" actId="20577"/>
        <pc:sldMkLst>
          <pc:docMk/>
          <pc:sldMk cId="1491362981" sldId="523"/>
        </pc:sldMkLst>
        <pc:spChg chg="mod">
          <ac:chgData name="Francesco Bellotti" userId="f453232b-f87d-4756-9d8b-c09bc835cc42" providerId="ADAL" clId="{C7FEA3FA-4936-41E1-B7FA-CA082069F7F7}" dt="2026-10-11T20:53:00.828" v="10113" actId="113"/>
          <ac:spMkLst>
            <pc:docMk/>
            <pc:sldMk cId="1491362981" sldId="523"/>
            <ac:spMk id="3" creationId="{53ACAD87-D849-F22C-7128-09DE7CFE70D5}"/>
          </ac:spMkLst>
        </pc:spChg>
        <pc:spChg chg="add mod">
          <ac:chgData name="Francesco Bellotti" userId="f453232b-f87d-4756-9d8b-c09bc835cc42" providerId="ADAL" clId="{C7FEA3FA-4936-41E1-B7FA-CA082069F7F7}" dt="2026-10-11T21:05:02.428" v="10273" actId="1076"/>
          <ac:spMkLst>
            <pc:docMk/>
            <pc:sldMk cId="1491362981" sldId="523"/>
            <ac:spMk id="5" creationId="{E4ECDA9C-8E6F-3C3A-FCAE-728AC75F070D}"/>
          </ac:spMkLst>
        </pc:spChg>
        <pc:spChg chg="add mod">
          <ac:chgData name="Francesco Bellotti" userId="f453232b-f87d-4756-9d8b-c09bc835cc42" providerId="ADAL" clId="{C7FEA3FA-4936-41E1-B7FA-CA082069F7F7}" dt="2026-10-11T21:06:05.359" v="10294" actId="20577"/>
          <ac:spMkLst>
            <pc:docMk/>
            <pc:sldMk cId="1491362981" sldId="523"/>
            <ac:spMk id="13" creationId="{C6F79937-8330-2C36-F8BA-81D5A311A88D}"/>
          </ac:spMkLst>
        </pc:spChg>
        <pc:cxnChg chg="add mod">
          <ac:chgData name="Francesco Bellotti" userId="f453232b-f87d-4756-9d8b-c09bc835cc42" providerId="ADAL" clId="{C7FEA3FA-4936-41E1-B7FA-CA082069F7F7}" dt="2026-10-11T21:05:11.083" v="10275" actId="14100"/>
          <ac:cxnSpMkLst>
            <pc:docMk/>
            <pc:sldMk cId="1491362981" sldId="523"/>
            <ac:cxnSpMk id="7" creationId="{C7A171B5-D44D-4BFE-7E4A-654B484CF325}"/>
          </ac:cxnSpMkLst>
        </pc:cxnChg>
        <pc:cxnChg chg="add mod">
          <ac:chgData name="Francesco Bellotti" userId="f453232b-f87d-4756-9d8b-c09bc835cc42" providerId="ADAL" clId="{C7FEA3FA-4936-41E1-B7FA-CA082069F7F7}" dt="2026-10-11T21:05:19.275" v="10278" actId="14100"/>
          <ac:cxnSpMkLst>
            <pc:docMk/>
            <pc:sldMk cId="1491362981" sldId="523"/>
            <ac:cxnSpMk id="9" creationId="{6681A1F3-3E65-0A8E-670A-5ABEC21A41B5}"/>
          </ac:cxnSpMkLst>
        </pc:cxnChg>
        <pc:cxnChg chg="add mod">
          <ac:chgData name="Francesco Bellotti" userId="f453232b-f87d-4756-9d8b-c09bc835cc42" providerId="ADAL" clId="{C7FEA3FA-4936-41E1-B7FA-CA082069F7F7}" dt="2026-10-11T21:05:24.770" v="10279"/>
          <ac:cxnSpMkLst>
            <pc:docMk/>
            <pc:sldMk cId="1491362981" sldId="523"/>
            <ac:cxnSpMk id="11" creationId="{576AA22C-5595-CA9B-E488-8D476831AB6A}"/>
          </ac:cxnSpMkLst>
        </pc:cxnChg>
      </pc:sldChg>
      <pc:sldChg chg="modSp new mod">
        <pc:chgData name="Francesco Bellotti" userId="f453232b-f87d-4756-9d8b-c09bc835cc42" providerId="ADAL" clId="{C7FEA3FA-4936-41E1-B7FA-CA082069F7F7}" dt="2026-10-11T20:58:33.836" v="10214" actId="20577"/>
        <pc:sldMkLst>
          <pc:docMk/>
          <pc:sldMk cId="1785187284" sldId="524"/>
        </pc:sldMkLst>
        <pc:spChg chg="mod">
          <ac:chgData name="Francesco Bellotti" userId="f453232b-f87d-4756-9d8b-c09bc835cc42" providerId="ADAL" clId="{C7FEA3FA-4936-41E1-B7FA-CA082069F7F7}" dt="2026-10-11T20:58:33.836" v="10214" actId="20577"/>
          <ac:spMkLst>
            <pc:docMk/>
            <pc:sldMk cId="1785187284" sldId="524"/>
            <ac:spMk id="3" creationId="{CE99A18F-721C-FF0F-7155-7489EEA75A2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80C684-3966-410E-B1C0-E14741641190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F9CD2F-782C-42AC-B06E-49F8C591122F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6745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4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5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2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5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9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6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7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1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3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9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2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5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7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0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4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6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1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4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8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3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ln w="0">
            <a:noFill/>
          </a:ln>
        </p:spPr>
      </p:sp>
      <p:sp>
        <p:nvSpPr>
          <p:cNvPr id="630" name="PlaceHolder 2"/>
          <p:cNvSpPr>
            <a:spLocks noGrp="1"/>
          </p:cNvSpPr>
          <p:nvPr>
            <p:ph type="body"/>
          </p:nvPr>
        </p:nvSpPr>
        <p:spPr>
          <a:xfrm>
            <a:off x="679768" y="4778056"/>
            <a:ext cx="5437783" cy="390875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PlaceHolder 3"/>
          <p:cNvSpPr>
            <a:spLocks noGrp="1"/>
          </p:cNvSpPr>
          <p:nvPr>
            <p:ph type="sldNum" idx="4"/>
          </p:nvPr>
        </p:nvSpPr>
        <p:spPr>
          <a:xfrm>
            <a:off x="3850589" y="9430250"/>
            <a:ext cx="2945302" cy="49758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63B75F-EEA0-4EA4-A0F8-948715B492F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43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ln w="0">
            <a:noFill/>
          </a:ln>
        </p:spPr>
      </p:sp>
      <p:sp>
        <p:nvSpPr>
          <p:cNvPr id="633" name="PlaceHolder 2"/>
          <p:cNvSpPr>
            <a:spLocks noGrp="1"/>
          </p:cNvSpPr>
          <p:nvPr>
            <p:ph type="body"/>
          </p:nvPr>
        </p:nvSpPr>
        <p:spPr>
          <a:xfrm>
            <a:off x="679768" y="4778056"/>
            <a:ext cx="5437783" cy="390875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PlaceHolder 3"/>
          <p:cNvSpPr>
            <a:spLocks noGrp="1"/>
          </p:cNvSpPr>
          <p:nvPr>
            <p:ph type="sldNum" idx="5"/>
          </p:nvPr>
        </p:nvSpPr>
        <p:spPr>
          <a:xfrm>
            <a:off x="3850589" y="9430250"/>
            <a:ext cx="2945302" cy="49758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384F240-EEA7-4584-8253-0C592447F6F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45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ln w="0">
            <a:noFill/>
          </a:ln>
        </p:spPr>
      </p:sp>
      <p:sp>
        <p:nvSpPr>
          <p:cNvPr id="636" name="PlaceHolder 2"/>
          <p:cNvSpPr>
            <a:spLocks noGrp="1"/>
          </p:cNvSpPr>
          <p:nvPr>
            <p:ph type="body"/>
          </p:nvPr>
        </p:nvSpPr>
        <p:spPr>
          <a:xfrm>
            <a:off x="679768" y="4778056"/>
            <a:ext cx="5437783" cy="390875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PlaceHolder 3"/>
          <p:cNvSpPr>
            <a:spLocks noGrp="1"/>
          </p:cNvSpPr>
          <p:nvPr>
            <p:ph type="sldNum" idx="6"/>
          </p:nvPr>
        </p:nvSpPr>
        <p:spPr>
          <a:xfrm>
            <a:off x="3850589" y="9430250"/>
            <a:ext cx="2945302" cy="49758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7ADDCFF-5593-4BFA-9788-560867A8113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48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ln w="0">
            <a:noFill/>
          </a:ln>
        </p:spPr>
      </p:sp>
      <p:sp>
        <p:nvSpPr>
          <p:cNvPr id="639" name="PlaceHolder 2"/>
          <p:cNvSpPr>
            <a:spLocks noGrp="1"/>
          </p:cNvSpPr>
          <p:nvPr>
            <p:ph type="body"/>
          </p:nvPr>
        </p:nvSpPr>
        <p:spPr>
          <a:xfrm>
            <a:off x="679768" y="4778056"/>
            <a:ext cx="5437783" cy="390875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PlaceHolder 3"/>
          <p:cNvSpPr>
            <a:spLocks noGrp="1"/>
          </p:cNvSpPr>
          <p:nvPr>
            <p:ph type="sldNum" idx="7"/>
          </p:nvPr>
        </p:nvSpPr>
        <p:spPr>
          <a:xfrm>
            <a:off x="3850589" y="9430250"/>
            <a:ext cx="2945302" cy="49758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72E2584-F789-4AEC-8BB6-4D3AC9BAF61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51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ln w="0">
            <a:noFill/>
          </a:ln>
        </p:spPr>
      </p:sp>
      <p:sp>
        <p:nvSpPr>
          <p:cNvPr id="642" name="PlaceHolder 2"/>
          <p:cNvSpPr>
            <a:spLocks noGrp="1"/>
          </p:cNvSpPr>
          <p:nvPr>
            <p:ph type="body"/>
          </p:nvPr>
        </p:nvSpPr>
        <p:spPr>
          <a:xfrm>
            <a:off x="679768" y="4778056"/>
            <a:ext cx="5437783" cy="390875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PlaceHolder 3"/>
          <p:cNvSpPr>
            <a:spLocks noGrp="1"/>
          </p:cNvSpPr>
          <p:nvPr>
            <p:ph type="sldNum" idx="8"/>
          </p:nvPr>
        </p:nvSpPr>
        <p:spPr>
          <a:xfrm>
            <a:off x="3850589" y="9430250"/>
            <a:ext cx="2945302" cy="49758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D301BC-63EF-4761-9F14-671BE697926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54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ln w="0">
            <a:noFill/>
          </a:ln>
        </p:spPr>
      </p:sp>
      <p:sp>
        <p:nvSpPr>
          <p:cNvPr id="645" name="PlaceHolder 2"/>
          <p:cNvSpPr>
            <a:spLocks noGrp="1"/>
          </p:cNvSpPr>
          <p:nvPr>
            <p:ph type="body"/>
          </p:nvPr>
        </p:nvSpPr>
        <p:spPr>
          <a:xfrm>
            <a:off x="679768" y="4778056"/>
            <a:ext cx="5437783" cy="390875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PlaceHolder 3"/>
          <p:cNvSpPr>
            <a:spLocks noGrp="1"/>
          </p:cNvSpPr>
          <p:nvPr>
            <p:ph type="sldNum" idx="9"/>
          </p:nvPr>
        </p:nvSpPr>
        <p:spPr>
          <a:xfrm>
            <a:off x="3850589" y="9430250"/>
            <a:ext cx="2945302" cy="49758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4B0C987-430C-48A8-9025-891CF3B7058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57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ln w="0">
            <a:noFill/>
          </a:ln>
        </p:spPr>
      </p:sp>
      <p:sp>
        <p:nvSpPr>
          <p:cNvPr id="648" name="PlaceHolder 2"/>
          <p:cNvSpPr>
            <a:spLocks noGrp="1"/>
          </p:cNvSpPr>
          <p:nvPr>
            <p:ph type="body"/>
          </p:nvPr>
        </p:nvSpPr>
        <p:spPr>
          <a:xfrm>
            <a:off x="679768" y="4778056"/>
            <a:ext cx="5437783" cy="390875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PlaceHolder 3"/>
          <p:cNvSpPr>
            <a:spLocks noGrp="1"/>
          </p:cNvSpPr>
          <p:nvPr>
            <p:ph type="sldNum" idx="10"/>
          </p:nvPr>
        </p:nvSpPr>
        <p:spPr>
          <a:xfrm>
            <a:off x="3850589" y="9430250"/>
            <a:ext cx="2945302" cy="49758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C448561-6EEC-4E05-8A88-8302FD804FA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60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ln w="0">
            <a:noFill/>
          </a:ln>
        </p:spPr>
      </p:sp>
      <p:sp>
        <p:nvSpPr>
          <p:cNvPr id="651" name="PlaceHolder 2"/>
          <p:cNvSpPr>
            <a:spLocks noGrp="1"/>
          </p:cNvSpPr>
          <p:nvPr>
            <p:ph type="body"/>
          </p:nvPr>
        </p:nvSpPr>
        <p:spPr>
          <a:xfrm>
            <a:off x="679768" y="4778056"/>
            <a:ext cx="5437783" cy="390875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PlaceHolder 3"/>
          <p:cNvSpPr>
            <a:spLocks noGrp="1"/>
          </p:cNvSpPr>
          <p:nvPr>
            <p:ph type="sldNum" idx="11"/>
          </p:nvPr>
        </p:nvSpPr>
        <p:spPr>
          <a:xfrm>
            <a:off x="3850589" y="9430250"/>
            <a:ext cx="2945302" cy="49758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DDDEEC-92D4-4823-8041-25A1D6C7B1C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62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ln w="0">
            <a:noFill/>
          </a:ln>
        </p:spPr>
      </p:sp>
      <p:sp>
        <p:nvSpPr>
          <p:cNvPr id="654" name="PlaceHolder 2"/>
          <p:cNvSpPr>
            <a:spLocks noGrp="1"/>
          </p:cNvSpPr>
          <p:nvPr>
            <p:ph type="body"/>
          </p:nvPr>
        </p:nvSpPr>
        <p:spPr>
          <a:xfrm>
            <a:off x="679768" y="4778056"/>
            <a:ext cx="5437783" cy="390875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PlaceHolder 3"/>
          <p:cNvSpPr>
            <a:spLocks noGrp="1"/>
          </p:cNvSpPr>
          <p:nvPr>
            <p:ph type="sldNum" idx="12"/>
          </p:nvPr>
        </p:nvSpPr>
        <p:spPr>
          <a:xfrm>
            <a:off x="3850589" y="9430250"/>
            <a:ext cx="2945302" cy="49758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3C03081-972E-4770-B683-AA59441FCE9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64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ln w="0">
            <a:noFill/>
          </a:ln>
        </p:spPr>
      </p:sp>
      <p:sp>
        <p:nvSpPr>
          <p:cNvPr id="657" name="PlaceHolder 2"/>
          <p:cNvSpPr>
            <a:spLocks noGrp="1"/>
          </p:cNvSpPr>
          <p:nvPr>
            <p:ph type="body"/>
          </p:nvPr>
        </p:nvSpPr>
        <p:spPr>
          <a:xfrm>
            <a:off x="679768" y="4778056"/>
            <a:ext cx="5437783" cy="390875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PlaceHolder 3"/>
          <p:cNvSpPr>
            <a:spLocks noGrp="1"/>
          </p:cNvSpPr>
          <p:nvPr>
            <p:ph type="sldNum" idx="13"/>
          </p:nvPr>
        </p:nvSpPr>
        <p:spPr>
          <a:xfrm>
            <a:off x="3850589" y="9430250"/>
            <a:ext cx="2945302" cy="49758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63B0858-1D02-4B2E-9848-4CB94749DD2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69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ln w="0">
            <a:noFill/>
          </a:ln>
        </p:spPr>
      </p:sp>
      <p:sp>
        <p:nvSpPr>
          <p:cNvPr id="660" name="PlaceHolder 2"/>
          <p:cNvSpPr>
            <a:spLocks noGrp="1"/>
          </p:cNvSpPr>
          <p:nvPr>
            <p:ph type="body"/>
          </p:nvPr>
        </p:nvSpPr>
        <p:spPr>
          <a:xfrm>
            <a:off x="679768" y="4778056"/>
            <a:ext cx="5437783" cy="390875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PlaceHolder 3"/>
          <p:cNvSpPr>
            <a:spLocks noGrp="1"/>
          </p:cNvSpPr>
          <p:nvPr>
            <p:ph type="sldNum" idx="14"/>
          </p:nvPr>
        </p:nvSpPr>
        <p:spPr>
          <a:xfrm>
            <a:off x="3850589" y="9430250"/>
            <a:ext cx="2945302" cy="49758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877BADA-D93F-46D8-AF33-6DA5DD8E933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73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ln w="0">
            <a:noFill/>
          </a:ln>
        </p:spPr>
      </p:sp>
      <p:sp>
        <p:nvSpPr>
          <p:cNvPr id="663" name="PlaceHolder 2"/>
          <p:cNvSpPr>
            <a:spLocks noGrp="1"/>
          </p:cNvSpPr>
          <p:nvPr>
            <p:ph type="body"/>
          </p:nvPr>
        </p:nvSpPr>
        <p:spPr>
          <a:xfrm>
            <a:off x="679768" y="4778056"/>
            <a:ext cx="5437783" cy="390875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4" name="PlaceHolder 3"/>
          <p:cNvSpPr>
            <a:spLocks noGrp="1"/>
          </p:cNvSpPr>
          <p:nvPr>
            <p:ph type="sldNum" idx="15"/>
          </p:nvPr>
        </p:nvSpPr>
        <p:spPr>
          <a:xfrm>
            <a:off x="3850589" y="9430250"/>
            <a:ext cx="2945302" cy="49758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D40A9A0-E301-478F-9B84-289868005CF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76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ln w="0">
            <a:noFill/>
          </a:ln>
        </p:spPr>
      </p:sp>
      <p:sp>
        <p:nvSpPr>
          <p:cNvPr id="666" name="PlaceHolder 2"/>
          <p:cNvSpPr>
            <a:spLocks noGrp="1"/>
          </p:cNvSpPr>
          <p:nvPr>
            <p:ph type="body"/>
          </p:nvPr>
        </p:nvSpPr>
        <p:spPr>
          <a:xfrm>
            <a:off x="679768" y="4778056"/>
            <a:ext cx="5437783" cy="390875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PlaceHolder 3"/>
          <p:cNvSpPr>
            <a:spLocks noGrp="1"/>
          </p:cNvSpPr>
          <p:nvPr>
            <p:ph type="sldNum" idx="16"/>
          </p:nvPr>
        </p:nvSpPr>
        <p:spPr>
          <a:xfrm>
            <a:off x="3850589" y="9430250"/>
            <a:ext cx="2945302" cy="49758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F562F18-CE66-456D-8B16-CF95B573AD8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79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ln w="0">
            <a:noFill/>
          </a:ln>
        </p:spPr>
      </p:sp>
      <p:sp>
        <p:nvSpPr>
          <p:cNvPr id="669" name="PlaceHolder 2"/>
          <p:cNvSpPr>
            <a:spLocks noGrp="1"/>
          </p:cNvSpPr>
          <p:nvPr>
            <p:ph type="body"/>
          </p:nvPr>
        </p:nvSpPr>
        <p:spPr>
          <a:xfrm>
            <a:off x="679768" y="4778056"/>
            <a:ext cx="5437783" cy="390875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PlaceHolder 3"/>
          <p:cNvSpPr>
            <a:spLocks noGrp="1"/>
          </p:cNvSpPr>
          <p:nvPr>
            <p:ph type="sldNum" idx="17"/>
          </p:nvPr>
        </p:nvSpPr>
        <p:spPr>
          <a:xfrm>
            <a:off x="3850589" y="9430250"/>
            <a:ext cx="2945302" cy="49758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2E6842-D1FE-42CA-87E0-4A9400B0D1A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82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ln w="0">
            <a:noFill/>
          </a:ln>
        </p:spPr>
      </p:sp>
      <p:sp>
        <p:nvSpPr>
          <p:cNvPr id="672" name="PlaceHolder 2"/>
          <p:cNvSpPr>
            <a:spLocks noGrp="1"/>
          </p:cNvSpPr>
          <p:nvPr>
            <p:ph type="body"/>
          </p:nvPr>
        </p:nvSpPr>
        <p:spPr>
          <a:xfrm>
            <a:off x="679768" y="4778056"/>
            <a:ext cx="5437783" cy="390875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3" name="PlaceHolder 3"/>
          <p:cNvSpPr>
            <a:spLocks noGrp="1"/>
          </p:cNvSpPr>
          <p:nvPr>
            <p:ph type="sldNum" idx="18"/>
          </p:nvPr>
        </p:nvSpPr>
        <p:spPr>
          <a:xfrm>
            <a:off x="3850589" y="9430250"/>
            <a:ext cx="2945302" cy="49758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563A00B-C794-412E-98E9-358A6284E29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ln w="0">
            <a:noFill/>
          </a:ln>
        </p:spPr>
      </p:sp>
      <p:sp>
        <p:nvSpPr>
          <p:cNvPr id="675" name="PlaceHolder 2"/>
          <p:cNvSpPr>
            <a:spLocks noGrp="1"/>
          </p:cNvSpPr>
          <p:nvPr>
            <p:ph type="body"/>
          </p:nvPr>
        </p:nvSpPr>
        <p:spPr>
          <a:xfrm>
            <a:off x="679768" y="4778056"/>
            <a:ext cx="5437783" cy="390875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PlaceHolder 3"/>
          <p:cNvSpPr>
            <a:spLocks noGrp="1"/>
          </p:cNvSpPr>
          <p:nvPr>
            <p:ph type="sldNum" idx="19"/>
          </p:nvPr>
        </p:nvSpPr>
        <p:spPr>
          <a:xfrm>
            <a:off x="3850589" y="9430250"/>
            <a:ext cx="2945302" cy="49758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F2D2AA3-9333-4E79-84C1-B4401A187F6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87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ln w="0">
            <a:noFill/>
          </a:ln>
        </p:spPr>
      </p:sp>
      <p:sp>
        <p:nvSpPr>
          <p:cNvPr id="678" name="PlaceHolder 2"/>
          <p:cNvSpPr>
            <a:spLocks noGrp="1"/>
          </p:cNvSpPr>
          <p:nvPr>
            <p:ph type="body"/>
          </p:nvPr>
        </p:nvSpPr>
        <p:spPr>
          <a:xfrm>
            <a:off x="679768" y="4778056"/>
            <a:ext cx="5437783" cy="390875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9" name="PlaceHolder 3"/>
          <p:cNvSpPr>
            <a:spLocks noGrp="1"/>
          </p:cNvSpPr>
          <p:nvPr>
            <p:ph type="sldNum" idx="20"/>
          </p:nvPr>
        </p:nvSpPr>
        <p:spPr>
          <a:xfrm>
            <a:off x="3850589" y="9430250"/>
            <a:ext cx="2945302" cy="49758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5EAAB5-C41F-442D-9324-7A49F8E2021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90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ln w="0">
            <a:noFill/>
          </a:ln>
        </p:spPr>
      </p:sp>
      <p:sp>
        <p:nvSpPr>
          <p:cNvPr id="681" name="PlaceHolder 2"/>
          <p:cNvSpPr>
            <a:spLocks noGrp="1"/>
          </p:cNvSpPr>
          <p:nvPr>
            <p:ph type="body"/>
          </p:nvPr>
        </p:nvSpPr>
        <p:spPr>
          <a:xfrm>
            <a:off x="679768" y="4778056"/>
            <a:ext cx="5437783" cy="390875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PlaceHolder 3"/>
          <p:cNvSpPr>
            <a:spLocks noGrp="1"/>
          </p:cNvSpPr>
          <p:nvPr>
            <p:ph type="sldNum" idx="21"/>
          </p:nvPr>
        </p:nvSpPr>
        <p:spPr>
          <a:xfrm>
            <a:off x="3850589" y="9430250"/>
            <a:ext cx="2945302" cy="49758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7FA3C86-D727-4424-AE50-880523A98F3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93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ln w="0">
            <a:noFill/>
          </a:ln>
        </p:spPr>
      </p:sp>
      <p:sp>
        <p:nvSpPr>
          <p:cNvPr id="684" name="PlaceHolder 2"/>
          <p:cNvSpPr>
            <a:spLocks noGrp="1"/>
          </p:cNvSpPr>
          <p:nvPr>
            <p:ph type="body"/>
          </p:nvPr>
        </p:nvSpPr>
        <p:spPr>
          <a:xfrm>
            <a:off x="679768" y="4778056"/>
            <a:ext cx="5437783" cy="390875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PlaceHolder 3"/>
          <p:cNvSpPr>
            <a:spLocks noGrp="1"/>
          </p:cNvSpPr>
          <p:nvPr>
            <p:ph type="sldNum" idx="22"/>
          </p:nvPr>
        </p:nvSpPr>
        <p:spPr>
          <a:xfrm>
            <a:off x="3850589" y="9430250"/>
            <a:ext cx="2945302" cy="49758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DA9820-953F-4681-80D4-E35A5019315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96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ln w="0">
            <a:noFill/>
          </a:ln>
        </p:spPr>
      </p:sp>
      <p:sp>
        <p:nvSpPr>
          <p:cNvPr id="687" name="PlaceHolder 2"/>
          <p:cNvSpPr>
            <a:spLocks noGrp="1"/>
          </p:cNvSpPr>
          <p:nvPr>
            <p:ph type="body"/>
          </p:nvPr>
        </p:nvSpPr>
        <p:spPr>
          <a:xfrm>
            <a:off x="679768" y="4778056"/>
            <a:ext cx="5437783" cy="390875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8" name="PlaceHolder 3"/>
          <p:cNvSpPr>
            <a:spLocks noGrp="1"/>
          </p:cNvSpPr>
          <p:nvPr>
            <p:ph type="sldNum" idx="23"/>
          </p:nvPr>
        </p:nvSpPr>
        <p:spPr>
          <a:xfrm>
            <a:off x="3850589" y="9430250"/>
            <a:ext cx="2945302" cy="49758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490880-7D01-4772-9E6A-C36C7E1EEBE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99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1024 = 512 (dilation rate) *2, which is the</a:t>
            </a:r>
            <a:r>
              <a:rPr lang="it-IT" baseline="0" dirty="0"/>
              <a:t> total number of covered inputs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12A7BB-C806-408E-98F8-F94064009E3A}" type="slidenum">
              <a:rPr lang="en-US" smtClean="0"/>
              <a:t>196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812990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Remember also: [3]*2 + [5]*3 = [3, 3, 5, 5, 5]</a:t>
            </a:r>
          </a:p>
          <a:p>
            <a:endParaRPr lang="it-IT" dirty="0"/>
          </a:p>
          <a:p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np</a:t>
            </a:r>
          </a:p>
          <a:p>
            <a:r>
              <a:rPr lang="en-US" dirty="0"/>
              <a:t>a = </a:t>
            </a:r>
            <a:r>
              <a:rPr lang="en-US" dirty="0" err="1"/>
              <a:t>np.array</a:t>
            </a:r>
            <a:r>
              <a:rPr lang="en-US" dirty="0"/>
              <a:t>([3, 2, 1])</a:t>
            </a:r>
          </a:p>
          <a:p>
            <a:r>
              <a:rPr lang="en-US" dirty="0"/>
              <a:t>print(a*2)</a:t>
            </a:r>
          </a:p>
          <a:p>
            <a:r>
              <a:rPr lang="en-US" dirty="0"/>
              <a:t>a = [3, 2, 1]</a:t>
            </a:r>
          </a:p>
          <a:p>
            <a:r>
              <a:rPr lang="en-US" dirty="0"/>
              <a:t>print(a*2)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12A7BB-C806-408E-98F8-F94064009E3A}" type="slidenum">
              <a:rPr lang="en-US" smtClean="0"/>
              <a:t>197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222396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ln w="0">
            <a:noFill/>
          </a:ln>
        </p:spPr>
      </p:sp>
      <p:sp>
        <p:nvSpPr>
          <p:cNvPr id="739" name="PlaceHolder 2"/>
          <p:cNvSpPr>
            <a:spLocks noGrp="1"/>
          </p:cNvSpPr>
          <p:nvPr>
            <p:ph type="body"/>
          </p:nvPr>
        </p:nvSpPr>
        <p:spPr>
          <a:xfrm>
            <a:off x="679768" y="4778056"/>
            <a:ext cx="5437783" cy="390875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0" name="PlaceHolder 3"/>
          <p:cNvSpPr>
            <a:spLocks noGrp="1"/>
          </p:cNvSpPr>
          <p:nvPr>
            <p:ph type="sldNum" idx="22"/>
          </p:nvPr>
        </p:nvSpPr>
        <p:spPr>
          <a:xfrm>
            <a:off x="3850589" y="9430250"/>
            <a:ext cx="2945302" cy="49758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A660A8-BACB-47F0-8C2C-3714BFF05C8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201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>
            <a:extLst>
              <a:ext uri="{FF2B5EF4-FFF2-40B4-BE49-F238E27FC236}">
                <a16:creationId xmlns:a16="http://schemas.microsoft.com/office/drawing/2014/main" id="{C53B9FCC-2B9F-4A8A-A0C9-8A20A3F0873B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08D7C5F-963B-4107-8188-0FB48FD42570}" type="slidenum">
              <a:rPr lang="it-IT" altLang="en-US"/>
              <a:pPr/>
              <a:t>203</a:t>
            </a:fld>
            <a:endParaRPr lang="it-IT" altLang="en-US"/>
          </a:p>
        </p:txBody>
      </p:sp>
      <p:sp>
        <p:nvSpPr>
          <p:cNvPr id="4097" name="Rectangle 1">
            <a:extLst>
              <a:ext uri="{FF2B5EF4-FFF2-40B4-BE49-F238E27FC236}">
                <a16:creationId xmlns:a16="http://schemas.microsoft.com/office/drawing/2014/main" id="{A59CF56E-3B0E-3E1E-2042-6C2C9598C588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422275" y="1241425"/>
            <a:ext cx="5953125" cy="33496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098" name="Text Box 2">
            <a:extLst>
              <a:ext uri="{FF2B5EF4-FFF2-40B4-BE49-F238E27FC236}">
                <a16:creationId xmlns:a16="http://schemas.microsoft.com/office/drawing/2014/main" id="{7F884A50-70BC-9CD3-4D30-5DD186DDC8F5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79768" y="4777958"/>
            <a:ext cx="5438140" cy="39092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eaLnBrk="1">
              <a:spcBef>
                <a:spcPts val="13"/>
              </a:spcBef>
              <a:spcAft>
                <a:spcPts val="13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</a:pPr>
            <a:endParaRPr lang="en-US" altLang="en-US" sz="2000" dirty="0"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099" name="Text Box 3">
            <a:extLst>
              <a:ext uri="{FF2B5EF4-FFF2-40B4-BE49-F238E27FC236}">
                <a16:creationId xmlns:a16="http://schemas.microsoft.com/office/drawing/2014/main" id="{D8357F7C-94EB-9AD9-A74D-211E2D7FE8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0443" y="9430091"/>
            <a:ext cx="2945659" cy="498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hangingPunct="1">
              <a:lnSpc>
                <a:spcPct val="100000"/>
              </a:lnSpc>
            </a:pPr>
            <a:fld id="{A6074EE3-090B-4101-A20C-2DC5F4B9BC7B}" type="slidenum">
              <a:rPr lang="en-US" altLang="en-US" sz="1200">
                <a:latin typeface="+mn-lt" charset="0"/>
                <a:cs typeface="+mn-ea" charset="0"/>
              </a:rPr>
              <a:pPr algn="r" hangingPunct="1">
                <a:lnSpc>
                  <a:spcPct val="100000"/>
                </a:lnSpc>
              </a:pPr>
              <a:t>203</a:t>
            </a:fld>
            <a:endParaRPr lang="en-US" altLang="en-US" sz="1200">
              <a:latin typeface="+mn-lt" charset="0"/>
              <a:cs typeface="+mn-ea" charset="0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ln w="0">
            <a:noFill/>
          </a:ln>
        </p:spPr>
      </p:sp>
      <p:sp>
        <p:nvSpPr>
          <p:cNvPr id="745" name="PlaceHolder 2"/>
          <p:cNvSpPr>
            <a:spLocks noGrp="1"/>
          </p:cNvSpPr>
          <p:nvPr>
            <p:ph type="body"/>
          </p:nvPr>
        </p:nvSpPr>
        <p:spPr>
          <a:xfrm>
            <a:off x="679768" y="4778056"/>
            <a:ext cx="5437783" cy="390875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6" name="PlaceHolder 3"/>
          <p:cNvSpPr>
            <a:spLocks noGrp="1"/>
          </p:cNvSpPr>
          <p:nvPr>
            <p:ph type="sldNum" idx="24"/>
          </p:nvPr>
        </p:nvSpPr>
        <p:spPr>
          <a:xfrm>
            <a:off x="3850589" y="9430250"/>
            <a:ext cx="2945302" cy="49758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F9907C1-D017-4A7D-8F91-19195FE0E7B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205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ln w="0">
            <a:noFill/>
          </a:ln>
        </p:spPr>
      </p:sp>
      <p:sp>
        <p:nvSpPr>
          <p:cNvPr id="748" name="PlaceHolder 2"/>
          <p:cNvSpPr>
            <a:spLocks noGrp="1"/>
          </p:cNvSpPr>
          <p:nvPr>
            <p:ph type="body"/>
          </p:nvPr>
        </p:nvSpPr>
        <p:spPr>
          <a:xfrm>
            <a:off x="679768" y="4778056"/>
            <a:ext cx="5437783" cy="390875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9" name="PlaceHolder 3"/>
          <p:cNvSpPr>
            <a:spLocks noGrp="1"/>
          </p:cNvSpPr>
          <p:nvPr>
            <p:ph type="sldNum" idx="25"/>
          </p:nvPr>
        </p:nvSpPr>
        <p:spPr>
          <a:xfrm>
            <a:off x="3850589" y="9430250"/>
            <a:ext cx="2945302" cy="49758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615F17D-45C6-48AB-9800-5EAFFFC6436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207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ln w="0">
            <a:noFill/>
          </a:ln>
        </p:spPr>
      </p:sp>
      <p:sp>
        <p:nvSpPr>
          <p:cNvPr id="751" name="PlaceHolder 2"/>
          <p:cNvSpPr>
            <a:spLocks noGrp="1"/>
          </p:cNvSpPr>
          <p:nvPr>
            <p:ph type="body"/>
          </p:nvPr>
        </p:nvSpPr>
        <p:spPr>
          <a:xfrm>
            <a:off x="679768" y="4778056"/>
            <a:ext cx="5437783" cy="390875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2" name="PlaceHolder 3"/>
          <p:cNvSpPr>
            <a:spLocks noGrp="1"/>
          </p:cNvSpPr>
          <p:nvPr>
            <p:ph type="sldNum" idx="26"/>
          </p:nvPr>
        </p:nvSpPr>
        <p:spPr>
          <a:xfrm>
            <a:off x="3850589" y="9430250"/>
            <a:ext cx="2945302" cy="49758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A2B609-D1DB-49F6-A221-537466EFA50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209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ln w="0">
            <a:noFill/>
          </a:ln>
        </p:spPr>
      </p:sp>
      <p:sp>
        <p:nvSpPr>
          <p:cNvPr id="754" name="PlaceHolder 2"/>
          <p:cNvSpPr>
            <a:spLocks noGrp="1"/>
          </p:cNvSpPr>
          <p:nvPr>
            <p:ph type="body"/>
          </p:nvPr>
        </p:nvSpPr>
        <p:spPr>
          <a:xfrm>
            <a:off x="679768" y="4778056"/>
            <a:ext cx="5437783" cy="390875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5" name="PlaceHolder 3"/>
          <p:cNvSpPr>
            <a:spLocks noGrp="1"/>
          </p:cNvSpPr>
          <p:nvPr>
            <p:ph type="sldNum" idx="27"/>
          </p:nvPr>
        </p:nvSpPr>
        <p:spPr>
          <a:xfrm>
            <a:off x="3850589" y="9430250"/>
            <a:ext cx="2945302" cy="49758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22D393B-C19A-4A80-B789-BD8698F4072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212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ln w="0">
            <a:noFill/>
          </a:ln>
        </p:spPr>
      </p:sp>
      <p:sp>
        <p:nvSpPr>
          <p:cNvPr id="757" name="PlaceHolder 2"/>
          <p:cNvSpPr>
            <a:spLocks noGrp="1"/>
          </p:cNvSpPr>
          <p:nvPr>
            <p:ph type="body"/>
          </p:nvPr>
        </p:nvSpPr>
        <p:spPr>
          <a:xfrm>
            <a:off x="679768" y="4778056"/>
            <a:ext cx="5437783" cy="390875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8" name="PlaceHolder 3"/>
          <p:cNvSpPr>
            <a:spLocks noGrp="1"/>
          </p:cNvSpPr>
          <p:nvPr>
            <p:ph type="sldNum" idx="28"/>
          </p:nvPr>
        </p:nvSpPr>
        <p:spPr>
          <a:xfrm>
            <a:off x="3850589" y="9430250"/>
            <a:ext cx="2945302" cy="49758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4AB9023-5311-4311-999A-CAD1362EAD7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215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ln w="0">
            <a:noFill/>
          </a:ln>
        </p:spPr>
      </p:sp>
      <p:sp>
        <p:nvSpPr>
          <p:cNvPr id="760" name="PlaceHolder 2"/>
          <p:cNvSpPr>
            <a:spLocks noGrp="1"/>
          </p:cNvSpPr>
          <p:nvPr>
            <p:ph type="body"/>
          </p:nvPr>
        </p:nvSpPr>
        <p:spPr>
          <a:xfrm>
            <a:off x="679768" y="4778056"/>
            <a:ext cx="5437783" cy="390875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1" name="PlaceHolder 3"/>
          <p:cNvSpPr>
            <a:spLocks noGrp="1"/>
          </p:cNvSpPr>
          <p:nvPr>
            <p:ph type="sldNum" idx="29"/>
          </p:nvPr>
        </p:nvSpPr>
        <p:spPr>
          <a:xfrm>
            <a:off x="3850589" y="9430250"/>
            <a:ext cx="2945302" cy="49758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9136A62-EB98-47D0-B97D-DE9D555DFD4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217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ln w="0">
            <a:noFill/>
          </a:ln>
        </p:spPr>
      </p:sp>
      <p:sp>
        <p:nvSpPr>
          <p:cNvPr id="763" name="PlaceHolder 2"/>
          <p:cNvSpPr>
            <a:spLocks noGrp="1"/>
          </p:cNvSpPr>
          <p:nvPr>
            <p:ph type="body"/>
          </p:nvPr>
        </p:nvSpPr>
        <p:spPr>
          <a:xfrm>
            <a:off x="679768" y="4778056"/>
            <a:ext cx="5437783" cy="390875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4" name="PlaceHolder 3"/>
          <p:cNvSpPr>
            <a:spLocks noGrp="1"/>
          </p:cNvSpPr>
          <p:nvPr>
            <p:ph type="sldNum" idx="30"/>
          </p:nvPr>
        </p:nvSpPr>
        <p:spPr>
          <a:xfrm>
            <a:off x="3850589" y="9430250"/>
            <a:ext cx="2945302" cy="49758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A04DE01-4B9E-40AB-A14A-82234DA70BC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220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ln w="0">
            <a:noFill/>
          </a:ln>
        </p:spPr>
      </p:sp>
      <p:sp>
        <p:nvSpPr>
          <p:cNvPr id="766" name="PlaceHolder 2"/>
          <p:cNvSpPr>
            <a:spLocks noGrp="1"/>
          </p:cNvSpPr>
          <p:nvPr>
            <p:ph type="body"/>
          </p:nvPr>
        </p:nvSpPr>
        <p:spPr>
          <a:xfrm>
            <a:off x="679768" y="4778056"/>
            <a:ext cx="5437783" cy="390875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7" name="PlaceHolder 3"/>
          <p:cNvSpPr>
            <a:spLocks noGrp="1"/>
          </p:cNvSpPr>
          <p:nvPr>
            <p:ph type="sldNum" idx="31"/>
          </p:nvPr>
        </p:nvSpPr>
        <p:spPr>
          <a:xfrm>
            <a:off x="3850589" y="9430250"/>
            <a:ext cx="2945302" cy="49758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B4EE75-F905-4EAA-8B3F-5208ABC45A5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224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ln w="0">
            <a:noFill/>
          </a:ln>
        </p:spPr>
      </p:sp>
      <p:sp>
        <p:nvSpPr>
          <p:cNvPr id="769" name="PlaceHolder 2"/>
          <p:cNvSpPr>
            <a:spLocks noGrp="1"/>
          </p:cNvSpPr>
          <p:nvPr>
            <p:ph type="body"/>
          </p:nvPr>
        </p:nvSpPr>
        <p:spPr>
          <a:xfrm>
            <a:off x="679768" y="4778056"/>
            <a:ext cx="5437783" cy="390875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0" name="PlaceHolder 3"/>
          <p:cNvSpPr>
            <a:spLocks noGrp="1"/>
          </p:cNvSpPr>
          <p:nvPr>
            <p:ph type="sldNum" idx="32"/>
          </p:nvPr>
        </p:nvSpPr>
        <p:spPr>
          <a:xfrm>
            <a:off x="3850589" y="9430250"/>
            <a:ext cx="2945302" cy="49758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0E856C3-0C44-4191-B08E-F32BCDCECBC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226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ln w="0">
            <a:noFill/>
          </a:ln>
        </p:spPr>
      </p:sp>
      <p:sp>
        <p:nvSpPr>
          <p:cNvPr id="772" name="PlaceHolder 2"/>
          <p:cNvSpPr>
            <a:spLocks noGrp="1"/>
          </p:cNvSpPr>
          <p:nvPr>
            <p:ph type="body"/>
          </p:nvPr>
        </p:nvSpPr>
        <p:spPr>
          <a:xfrm>
            <a:off x="679768" y="4778056"/>
            <a:ext cx="5437783" cy="390875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3" name="PlaceHolder 3"/>
          <p:cNvSpPr>
            <a:spLocks noGrp="1"/>
          </p:cNvSpPr>
          <p:nvPr>
            <p:ph type="sldNum" idx="33"/>
          </p:nvPr>
        </p:nvSpPr>
        <p:spPr>
          <a:xfrm>
            <a:off x="3850589" y="9430250"/>
            <a:ext cx="2945302" cy="49758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793AE85-8867-4A70-B13B-426DDE4106F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231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ln w="0">
            <a:noFill/>
          </a:ln>
        </p:spPr>
      </p:sp>
      <p:sp>
        <p:nvSpPr>
          <p:cNvPr id="775" name="PlaceHolder 2"/>
          <p:cNvSpPr>
            <a:spLocks noGrp="1"/>
          </p:cNvSpPr>
          <p:nvPr>
            <p:ph type="body"/>
          </p:nvPr>
        </p:nvSpPr>
        <p:spPr>
          <a:xfrm>
            <a:off x="679768" y="4778056"/>
            <a:ext cx="5437783" cy="390875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6" name="PlaceHolder 3"/>
          <p:cNvSpPr>
            <a:spLocks noGrp="1"/>
          </p:cNvSpPr>
          <p:nvPr>
            <p:ph type="sldNum" idx="34"/>
          </p:nvPr>
        </p:nvSpPr>
        <p:spPr>
          <a:xfrm>
            <a:off x="3850589" y="9430250"/>
            <a:ext cx="2945302" cy="49758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D80BDA8-24A9-46C2-ABD2-4F730B0BFE3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234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ln w="0">
            <a:noFill/>
          </a:ln>
        </p:spPr>
      </p:sp>
      <p:sp>
        <p:nvSpPr>
          <p:cNvPr id="778" name="PlaceHolder 2"/>
          <p:cNvSpPr>
            <a:spLocks noGrp="1"/>
          </p:cNvSpPr>
          <p:nvPr>
            <p:ph type="body"/>
          </p:nvPr>
        </p:nvSpPr>
        <p:spPr>
          <a:xfrm>
            <a:off x="679768" y="4778056"/>
            <a:ext cx="5437783" cy="390875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9" name="PlaceHolder 3"/>
          <p:cNvSpPr>
            <a:spLocks noGrp="1"/>
          </p:cNvSpPr>
          <p:nvPr>
            <p:ph type="sldNum" idx="35"/>
          </p:nvPr>
        </p:nvSpPr>
        <p:spPr>
          <a:xfrm>
            <a:off x="3850589" y="9430250"/>
            <a:ext cx="2945302" cy="49758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85F21B-AF60-4179-A10D-6DD53FB39DF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236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ln w="0">
            <a:noFill/>
          </a:ln>
        </p:spPr>
      </p:sp>
      <p:sp>
        <p:nvSpPr>
          <p:cNvPr id="781" name="PlaceHolder 2"/>
          <p:cNvSpPr>
            <a:spLocks noGrp="1"/>
          </p:cNvSpPr>
          <p:nvPr>
            <p:ph type="body"/>
          </p:nvPr>
        </p:nvSpPr>
        <p:spPr>
          <a:xfrm>
            <a:off x="679768" y="4778056"/>
            <a:ext cx="5437783" cy="390875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2" name="PlaceHolder 3"/>
          <p:cNvSpPr>
            <a:spLocks noGrp="1"/>
          </p:cNvSpPr>
          <p:nvPr>
            <p:ph type="sldNum" idx="36"/>
          </p:nvPr>
        </p:nvSpPr>
        <p:spPr>
          <a:xfrm>
            <a:off x="3850589" y="9430250"/>
            <a:ext cx="2945302" cy="49758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2CD652F-A8E3-475F-B331-B7C0146A558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238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ln w="0">
            <a:noFill/>
          </a:ln>
        </p:spPr>
      </p:sp>
      <p:sp>
        <p:nvSpPr>
          <p:cNvPr id="784" name="PlaceHolder 2"/>
          <p:cNvSpPr>
            <a:spLocks noGrp="1"/>
          </p:cNvSpPr>
          <p:nvPr>
            <p:ph type="body"/>
          </p:nvPr>
        </p:nvSpPr>
        <p:spPr>
          <a:xfrm>
            <a:off x="679768" y="4778056"/>
            <a:ext cx="5437783" cy="390875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5" name="PlaceHolder 3"/>
          <p:cNvSpPr>
            <a:spLocks noGrp="1"/>
          </p:cNvSpPr>
          <p:nvPr>
            <p:ph type="sldNum" idx="37"/>
          </p:nvPr>
        </p:nvSpPr>
        <p:spPr>
          <a:xfrm>
            <a:off x="3850589" y="9430250"/>
            <a:ext cx="2945302" cy="49758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6308BAE-3E71-4A02-B4C3-4A34D48A58D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243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ln w="0">
            <a:noFill/>
          </a:ln>
        </p:spPr>
      </p:sp>
      <p:sp>
        <p:nvSpPr>
          <p:cNvPr id="787" name="PlaceHolder 2"/>
          <p:cNvSpPr>
            <a:spLocks noGrp="1"/>
          </p:cNvSpPr>
          <p:nvPr>
            <p:ph type="body"/>
          </p:nvPr>
        </p:nvSpPr>
        <p:spPr>
          <a:xfrm>
            <a:off x="679768" y="4778056"/>
            <a:ext cx="5437783" cy="390875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8" name="PlaceHolder 3"/>
          <p:cNvSpPr>
            <a:spLocks noGrp="1"/>
          </p:cNvSpPr>
          <p:nvPr>
            <p:ph type="sldNum" idx="38"/>
          </p:nvPr>
        </p:nvSpPr>
        <p:spPr>
          <a:xfrm>
            <a:off x="3850589" y="9430250"/>
            <a:ext cx="2945302" cy="49758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84A0AF-E532-4F19-B07B-B453D0C2920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245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7DDAC-BC6D-4C79-9097-957B5282C400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229C9-AB0F-4527-ABBE-B2E70E6BC4A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4124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7DDAC-BC6D-4C79-9097-957B5282C400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229C9-AB0F-4527-ABBE-B2E70E6BC4A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2680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7DDAC-BC6D-4C79-9097-957B5282C400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229C9-AB0F-4527-ABBE-B2E70E6BC4A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8316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7DDAC-BC6D-4C79-9097-957B5282C400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229C9-AB0F-4527-ABBE-B2E70E6BC4A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1097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7DDAC-BC6D-4C79-9097-957B5282C400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229C9-AB0F-4527-ABBE-B2E70E6BC4A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9088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7DDAC-BC6D-4C79-9097-957B5282C400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229C9-AB0F-4527-ABBE-B2E70E6BC4A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6158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7DDAC-BC6D-4C79-9097-957B5282C400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229C9-AB0F-4527-ABBE-B2E70E6BC4A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1579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7DDAC-BC6D-4C79-9097-957B5282C400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229C9-AB0F-4527-ABBE-B2E70E6BC4A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9380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7DDAC-BC6D-4C79-9097-957B5282C400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229C9-AB0F-4527-ABBE-B2E70E6BC4A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6255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7DDAC-BC6D-4C79-9097-957B5282C400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229C9-AB0F-4527-ABBE-B2E70E6BC4A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5830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7DDAC-BC6D-4C79-9097-957B5282C400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229C9-AB0F-4527-ABBE-B2E70E6BC4A2}" type="slidenum">
              <a:rPr lang="en-GB" smtClean="0"/>
              <a:t>‹N›</a:t>
            </a:fld>
            <a:endParaRPr lang="en-GB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519013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7DDAC-BC6D-4C79-9097-957B5282C400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229C9-AB0F-4527-ABBE-B2E70E6BC4A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09205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 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7DDAC-BC6D-4C79-9097-957B5282C400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229C9-AB0F-4527-ABBE-B2E70E6BC4A2}" type="slidenum">
              <a:rPr lang="en-GB" smtClean="0"/>
              <a:t>‹N›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7147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7DDAC-BC6D-4C79-9097-957B5282C400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229C9-AB0F-4527-ABBE-B2E70E6BC4A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87464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7DDAC-BC6D-4C79-9097-957B5282C400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229C9-AB0F-4527-ABBE-B2E70E6BC4A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27109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7DDAC-BC6D-4C79-9097-957B5282C400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229C9-AB0F-4527-ABBE-B2E70E6BC4A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86001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48720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FIG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/>
          <p:cNvSpPr/>
          <p:nvPr/>
        </p:nvSpPr>
        <p:spPr>
          <a:xfrm>
            <a:off x="11109960" y="0"/>
            <a:ext cx="1078560" cy="6857640"/>
          </a:xfrm>
          <a:prstGeom prst="rect">
            <a:avLst/>
          </a:prstGeom>
          <a:solidFill>
            <a:srgbClr val="8BBF31"/>
          </a:solidFill>
          <a:ln w="12700">
            <a:solidFill>
              <a:srgbClr val="8BBF3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Shape 1"/>
          <p:cNvSpPr/>
          <p:nvPr/>
        </p:nvSpPr>
        <p:spPr>
          <a:xfrm>
            <a:off x="10927080" y="0"/>
            <a:ext cx="640080" cy="6858000"/>
          </a:xfrm>
          <a:prstGeom prst="line">
            <a:avLst/>
          </a:prstGeom>
          <a:ln w="7620">
            <a:solidFill>
              <a:srgbClr val="C8D1D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1"/>
          </p:nvPr>
        </p:nvSpPr>
        <p:spPr>
          <a:xfrm>
            <a:off x="1065276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rgbClr val="64748B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F3C4E17-B4E1-4640-928D-209246404250}" type="slidenum"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‹N›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Fai clic per modificare il formato del testo del titolo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Fai clic per modificare il formato del testo della struttura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Secondo livello struttura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Terzo livello struttura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livello struttura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livello struttura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Sesto livello struttura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Settimo livello struttura</a:t>
            </a:r>
          </a:p>
        </p:txBody>
      </p:sp>
    </p:spTree>
    <p:extLst>
      <p:ext uri="{BB962C8B-B14F-4D97-AF65-F5344CB8AC3E}">
        <p14:creationId xmlns:p14="http://schemas.microsoft.com/office/powerpoint/2010/main" val="444694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27DDAC-BC6D-4C79-9097-957B5282C400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57229C9-AB0F-4527-ABBE-B2E70E6BC4A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574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7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7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7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7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7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7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7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7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7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7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7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7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7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7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7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7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7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7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7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7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7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7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7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7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7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7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8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8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8.xml"/></Relationships>
</file>

<file path=ppt/slides/_rels/slide2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8.xml"/></Relationships>
</file>

<file path=ppt/slides/_rels/slide2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8.xml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8.xml"/></Relationships>
</file>

<file path=ppt/slides/_rels/slide2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8.xml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8.xml"/></Relationships>
</file>

<file path=ppt/slides/_rels/slide2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8.xml"/></Relationships>
</file>

<file path=ppt/slides/_rels/slide2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8.xml"/></Relationships>
</file>

<file path=ppt/slides/_rels/slide2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8.xml"/></Relationships>
</file>

<file path=ppt/slides/_rels/slide2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8.xml"/></Relationships>
</file>

<file path=ppt/slides/_rels/slide2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8.xml"/></Relationships>
</file>

<file path=ppt/slides/_rels/slide2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8.xml"/></Relationships>
</file>

<file path=ppt/slides/_rels/slide2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8.xml"/></Relationships>
</file>

<file path=ppt/slides/_rels/slide2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8.xml"/></Relationships>
</file>

<file path=ppt/slides/_rels/slide2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2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1831838-57B7-AE67-BA9E-3B0B7A9312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 err="1"/>
              <a:t>Convolutional</a:t>
            </a:r>
            <a:r>
              <a:rPr lang="it-IT" dirty="0"/>
              <a:t> </a:t>
            </a:r>
            <a:r>
              <a:rPr lang="it-IT" dirty="0" err="1"/>
              <a:t>neural</a:t>
            </a:r>
            <a:r>
              <a:rPr lang="it-IT" dirty="0"/>
              <a:t> networks</a:t>
            </a:r>
            <a:endParaRPr lang="en-GB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E30CCA44-2BC9-4454-F8D7-D7FC5338B0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3246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FF37F91-6C0F-5F8B-4D3E-ABFBA41E3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Outline</a:t>
            </a:r>
            <a:r>
              <a:rPr lang="it-IT" dirty="0"/>
              <a:t> of the </a:t>
            </a:r>
            <a:r>
              <a:rPr lang="it-IT" dirty="0" err="1"/>
              <a:t>lecture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E84D4A5-3E7C-B1F0-7017-26077ABFC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Block 5.A — From Recurrence to Temporal Convolution</a:t>
            </a:r>
          </a:p>
          <a:p>
            <a:r>
              <a:rPr lang="en-GB" dirty="0"/>
              <a:t>Block 5.B — One-Dimensional Temporal Convolution</a:t>
            </a:r>
          </a:p>
          <a:p>
            <a:r>
              <a:rPr lang="en-GB" dirty="0"/>
              <a:t>Block 5.C — Kernel Size, Stride and Padding</a:t>
            </a:r>
          </a:p>
          <a:p>
            <a:r>
              <a:rPr lang="en-GB" dirty="0"/>
              <a:t>Block 5.D — Temporal Pooling and </a:t>
            </a:r>
            <a:r>
              <a:rPr lang="en-GB" dirty="0" err="1"/>
              <a:t>Downsampling</a:t>
            </a:r>
            <a:endParaRPr lang="en-GB" dirty="0"/>
          </a:p>
          <a:p>
            <a:r>
              <a:rPr lang="en-GB" dirty="0"/>
              <a:t>Block 5.E — Receptive Field</a:t>
            </a:r>
          </a:p>
          <a:p>
            <a:r>
              <a:rPr lang="en-GB" dirty="0"/>
              <a:t>Block 5.F — Causal Convolution</a:t>
            </a:r>
          </a:p>
          <a:p>
            <a:r>
              <a:rPr lang="en-GB" b="1" dirty="0"/>
              <a:t>Block 5.G — Dilated Convolution</a:t>
            </a:r>
          </a:p>
          <a:p>
            <a:r>
              <a:rPr lang="en-GB" dirty="0"/>
              <a:t>Block 5.H — Temporal Convolutional Networks</a:t>
            </a:r>
          </a:p>
          <a:p>
            <a:r>
              <a:rPr lang="en-GB" dirty="0"/>
              <a:t>Block 5.I — </a:t>
            </a:r>
            <a:r>
              <a:rPr lang="en-GB" dirty="0" err="1"/>
              <a:t>WaveNet</a:t>
            </a:r>
            <a:r>
              <a:rPr lang="en-GB" dirty="0"/>
              <a:t> as an Influential Temporal Architecture</a:t>
            </a:r>
          </a:p>
          <a:p>
            <a:r>
              <a:rPr lang="en-GB" dirty="0"/>
              <a:t>Block 5.J — Temporal CNNs for Different Prediction Tasks</a:t>
            </a:r>
          </a:p>
          <a:p>
            <a:r>
              <a:rPr lang="en-GB" dirty="0"/>
              <a:t>Block 5.K — Multiscale Temporal Patterns</a:t>
            </a:r>
            <a:endParaRPr lang="en-GB" b="1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27814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2BA0FD2-A8BC-6F88-5C41-E0053A042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different way to process temporal information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509E53A-0A97-321A-9F04-636041CEF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/>
              <a:t>In Lecture 4, recurrent networks processed a sequence through a state that evolves over time.</a:t>
            </a:r>
          </a:p>
          <a:p>
            <a:r>
              <a:rPr lang="en-GB" dirty="0"/>
              <a:t>At each step: h[t] = f(x[t], h[t−1])</a:t>
            </a:r>
          </a:p>
          <a:p>
            <a:r>
              <a:rPr lang="en-GB" dirty="0"/>
              <a:t>Therefore: h[t] depends on h[t−1]; </a:t>
            </a:r>
          </a:p>
          <a:p>
            <a:pPr lvl="0"/>
            <a:r>
              <a:rPr lang="en-GB" dirty="0"/>
              <a:t>information is propagated sequentially through the hidden state; </a:t>
            </a:r>
          </a:p>
          <a:p>
            <a:pPr lvl="0"/>
            <a:r>
              <a:rPr lang="en-GB" dirty="0"/>
              <a:t>temporal steps cannot be processed completely independently. </a:t>
            </a:r>
          </a:p>
          <a:p>
            <a:r>
              <a:rPr lang="en-GB" b="1" dirty="0">
                <a:highlight>
                  <a:srgbClr val="FFFF00"/>
                </a:highlight>
              </a:rPr>
              <a:t>Recurrent view</a:t>
            </a:r>
          </a:p>
          <a:p>
            <a:r>
              <a:rPr lang="en-GB" dirty="0"/>
              <a:t>x[1] → h[1] → h[2] → h[3] → ... → h[T]</a:t>
            </a:r>
          </a:p>
          <a:p>
            <a:r>
              <a:rPr lang="en-GB" dirty="0"/>
              <a:t>          ↑         ↑         ↑</a:t>
            </a:r>
          </a:p>
          <a:p>
            <a:r>
              <a:rPr lang="en-GB" dirty="0"/>
              <a:t>         x[2]     x[3]      x[4]</a:t>
            </a:r>
          </a:p>
          <a:p>
            <a:r>
              <a:rPr lang="en-GB" b="1" dirty="0"/>
              <a:t>New question</a:t>
            </a:r>
          </a:p>
          <a:p>
            <a:r>
              <a:rPr lang="en-GB" dirty="0">
                <a:highlight>
                  <a:srgbClr val="FFFF00"/>
                </a:highlight>
              </a:rPr>
              <a:t>Can we learn useful temporal patterns without </a:t>
            </a:r>
            <a:r>
              <a:rPr lang="en-GB" b="1" dirty="0">
                <a:highlight>
                  <a:srgbClr val="FFFF00"/>
                </a:highlight>
              </a:rPr>
              <a:t>propagating one hidden state </a:t>
            </a:r>
            <a:r>
              <a:rPr lang="en-GB" dirty="0">
                <a:highlight>
                  <a:srgbClr val="FFFF00"/>
                </a:highlight>
              </a:rPr>
              <a:t>through the whole sequence?</a:t>
            </a:r>
          </a:p>
          <a:p>
            <a:r>
              <a:rPr lang="en-GB" b="1" dirty="0"/>
              <a:t>An alternative </a:t>
            </a:r>
            <a:r>
              <a:rPr lang="en-GB" dirty="0"/>
              <a:t>is to learn </a:t>
            </a:r>
            <a:r>
              <a:rPr lang="en-GB" b="1" dirty="0"/>
              <a:t>local pattern detectors</a:t>
            </a:r>
            <a:r>
              <a:rPr lang="en-GB" dirty="0"/>
              <a:t> that scan across time.</a:t>
            </a:r>
          </a:p>
          <a:p>
            <a:r>
              <a:rPr lang="en-GB" dirty="0"/>
              <a:t>This is the basic idea of temporal convolution.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951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08208" y="0"/>
            <a:ext cx="1380744" cy="6858000"/>
          </a:xfrm>
          <a:prstGeom prst="rect">
            <a:avLst/>
          </a:prstGeom>
          <a:solidFill>
            <a:srgbClr val="84B927">
              <a:alpha val="90000"/>
            </a:srgbClr>
          </a:solidFill>
          <a:ln w="12700">
            <a:solidFill>
              <a:srgbClr val="84B9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469880" y="0"/>
            <a:ext cx="256032" cy="6858000"/>
          </a:xfrm>
          <a:prstGeom prst="rect">
            <a:avLst/>
          </a:prstGeom>
          <a:solidFill>
            <a:srgbClr val="EAF6D6">
              <a:alpha val="90000"/>
            </a:srgbClr>
          </a:solidFill>
          <a:ln w="12700">
            <a:solidFill>
              <a:srgbClr val="EAF6D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458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recurrence to temporal convolution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8412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Two ways to learn representations from sequential data.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77240" y="141732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highlight>
                  <a:srgbClr val="FFFF00"/>
                </a:highlight>
              </a:rPr>
              <a:t>Recurrent view: information moves through a state</a:t>
            </a:r>
            <a:endParaRPr lang="en-US" sz="1100" dirty="0">
              <a:highlight>
                <a:srgbClr val="FFFF00"/>
              </a:highlight>
            </a:endParaRPr>
          </a:p>
        </p:txBody>
      </p:sp>
      <p:sp>
        <p:nvSpPr>
          <p:cNvPr id="7" name="Shape 5"/>
          <p:cNvSpPr/>
          <p:nvPr/>
        </p:nvSpPr>
        <p:spPr>
          <a:xfrm>
            <a:off x="914400" y="2331720"/>
            <a:ext cx="530352" cy="438912"/>
          </a:xfrm>
          <a:prstGeom prst="roundRect">
            <a:avLst>
              <a:gd name="adj" fmla="val 16667"/>
            </a:avLst>
          </a:prstGeom>
          <a:solidFill>
            <a:srgbClr val="EEF2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987552" y="2441448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h[1]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96696" y="1901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x[1]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179576" y="2121408"/>
            <a:ext cx="0" cy="210312"/>
          </a:xfrm>
          <a:prstGeom prst="line">
            <a:avLst/>
          </a:prstGeom>
          <a:noFill/>
          <a:ln w="1397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1828800" y="2331720"/>
            <a:ext cx="530352" cy="438912"/>
          </a:xfrm>
          <a:prstGeom prst="roundRect">
            <a:avLst>
              <a:gd name="adj" fmla="val 16667"/>
            </a:avLst>
          </a:prstGeom>
          <a:solidFill>
            <a:srgbClr val="EEF2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1901952" y="2441448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h[2]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444752" y="2551176"/>
            <a:ext cx="384048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911096" y="1901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x[2]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093976" y="2121408"/>
            <a:ext cx="0" cy="210312"/>
          </a:xfrm>
          <a:prstGeom prst="line">
            <a:avLst/>
          </a:prstGeom>
          <a:noFill/>
          <a:ln w="1397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2743200" y="2331720"/>
            <a:ext cx="530352" cy="438912"/>
          </a:xfrm>
          <a:prstGeom prst="roundRect">
            <a:avLst>
              <a:gd name="adj" fmla="val 16667"/>
            </a:avLst>
          </a:prstGeom>
          <a:solidFill>
            <a:srgbClr val="EEF2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2816352" y="2441448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h[3]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359152" y="2551176"/>
            <a:ext cx="384048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2825496" y="1901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x[3]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008376" y="2121408"/>
            <a:ext cx="0" cy="210312"/>
          </a:xfrm>
          <a:prstGeom prst="line">
            <a:avLst/>
          </a:prstGeom>
          <a:noFill/>
          <a:ln w="1397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3657600" y="2331720"/>
            <a:ext cx="530352" cy="438912"/>
          </a:xfrm>
          <a:prstGeom prst="roundRect">
            <a:avLst>
              <a:gd name="adj" fmla="val 16667"/>
            </a:avLst>
          </a:prstGeom>
          <a:solidFill>
            <a:srgbClr val="EEF2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3730752" y="2441448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h[4]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73552" y="2551176"/>
            <a:ext cx="384048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3739896" y="1901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x[4]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922776" y="2121408"/>
            <a:ext cx="0" cy="210312"/>
          </a:xfrm>
          <a:prstGeom prst="line">
            <a:avLst/>
          </a:prstGeom>
          <a:noFill/>
          <a:ln w="1397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4572000" y="2331720"/>
            <a:ext cx="530352" cy="438912"/>
          </a:xfrm>
          <a:prstGeom prst="roundRect">
            <a:avLst>
              <a:gd name="adj" fmla="val 16667"/>
            </a:avLst>
          </a:prstGeom>
          <a:solidFill>
            <a:srgbClr val="EEF2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4645152" y="2441448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h[5]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187952" y="2551176"/>
            <a:ext cx="384048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4654296" y="1901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x[5]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37176" y="2121408"/>
            <a:ext cx="0" cy="210312"/>
          </a:xfrm>
          <a:prstGeom prst="line">
            <a:avLst/>
          </a:prstGeom>
          <a:noFill/>
          <a:ln w="1397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777240" y="36118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highlight>
                  <a:srgbClr val="FFFF00"/>
                </a:highlight>
              </a:rPr>
              <a:t>Convolutional view: local filters scan temporal regions</a:t>
            </a:r>
            <a:endParaRPr lang="en-US" sz="1100" dirty="0">
              <a:highlight>
                <a:srgbClr val="FFFF00"/>
              </a:highlight>
            </a:endParaRPr>
          </a:p>
        </p:txBody>
      </p:sp>
      <p:sp>
        <p:nvSpPr>
          <p:cNvPr id="32" name="Shape 30"/>
          <p:cNvSpPr/>
          <p:nvPr/>
        </p:nvSpPr>
        <p:spPr>
          <a:xfrm>
            <a:off x="864108" y="4539996"/>
            <a:ext cx="100584" cy="100584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850392" y="4773168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475569"/>
                </a:solidFill>
              </a:rPr>
              <a:t>x1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1248156" y="4539996"/>
            <a:ext cx="100584" cy="100584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1234440" y="4773168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475569"/>
                </a:solidFill>
              </a:rPr>
              <a:t>x2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1632204" y="4539996"/>
            <a:ext cx="100584" cy="100584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1618488" y="4773168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475569"/>
                </a:solidFill>
              </a:rPr>
              <a:t>x3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2016252" y="4539996"/>
            <a:ext cx="100584" cy="100584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2002536" y="4773168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475569"/>
                </a:solidFill>
              </a:rPr>
              <a:t>x4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2400300" y="4539996"/>
            <a:ext cx="100584" cy="100584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2386584" y="4773168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475569"/>
                </a:solidFill>
              </a:rPr>
              <a:t>x5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2784348" y="4539996"/>
            <a:ext cx="100584" cy="100584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2770632" y="4773168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475569"/>
                </a:solidFill>
              </a:rPr>
              <a:t>x6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3168396" y="4539996"/>
            <a:ext cx="100584" cy="100584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3154680" y="4773168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475569"/>
                </a:solidFill>
              </a:rPr>
              <a:t>x7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3552444" y="4539996"/>
            <a:ext cx="100584" cy="100584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3538728" y="4773168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475569"/>
                </a:solidFill>
              </a:rPr>
              <a:t>x8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3936492" y="4539996"/>
            <a:ext cx="100584" cy="100584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Text 47"/>
          <p:cNvSpPr/>
          <p:nvPr/>
        </p:nvSpPr>
        <p:spPr>
          <a:xfrm>
            <a:off x="3922776" y="4773168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475569"/>
                </a:solidFill>
              </a:rPr>
              <a:t>x9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4320540" y="4539996"/>
            <a:ext cx="100584" cy="100584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9"/>
          <p:cNvSpPr/>
          <p:nvPr/>
        </p:nvSpPr>
        <p:spPr>
          <a:xfrm>
            <a:off x="4306824" y="4773168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475569"/>
                </a:solidFill>
              </a:rPr>
              <a:t>x10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841248" y="4370832"/>
            <a:ext cx="914400" cy="393192"/>
          </a:xfrm>
          <a:prstGeom prst="roundRect">
            <a:avLst>
              <a:gd name="adj" fmla="val 9302"/>
            </a:avLst>
          </a:prstGeom>
          <a:solidFill>
            <a:srgbClr val="EAF6D6">
              <a:alpha val="65000"/>
            </a:srgbClr>
          </a:solidFill>
          <a:ln w="17780">
            <a:solidFill>
              <a:srgbClr val="84B9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Shape 51"/>
          <p:cNvSpPr/>
          <p:nvPr/>
        </p:nvSpPr>
        <p:spPr>
          <a:xfrm>
            <a:off x="1609344" y="4370832"/>
            <a:ext cx="914400" cy="393192"/>
          </a:xfrm>
          <a:prstGeom prst="roundRect">
            <a:avLst>
              <a:gd name="adj" fmla="val 9302"/>
            </a:avLst>
          </a:prstGeom>
          <a:solidFill>
            <a:srgbClr val="EAF6D6">
              <a:alpha val="65000"/>
            </a:srgbClr>
          </a:solidFill>
          <a:ln w="17780">
            <a:solidFill>
              <a:srgbClr val="84B9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Shape 52"/>
          <p:cNvSpPr/>
          <p:nvPr/>
        </p:nvSpPr>
        <p:spPr>
          <a:xfrm>
            <a:off x="2377440" y="4370832"/>
            <a:ext cx="914400" cy="393192"/>
          </a:xfrm>
          <a:prstGeom prst="roundRect">
            <a:avLst>
              <a:gd name="adj" fmla="val 9302"/>
            </a:avLst>
          </a:prstGeom>
          <a:solidFill>
            <a:srgbClr val="EAF6D6">
              <a:alpha val="65000"/>
            </a:srgbClr>
          </a:solidFill>
          <a:ln w="17780">
            <a:solidFill>
              <a:srgbClr val="84B9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Shape 53"/>
          <p:cNvSpPr/>
          <p:nvPr/>
        </p:nvSpPr>
        <p:spPr>
          <a:xfrm>
            <a:off x="3145536" y="4370832"/>
            <a:ext cx="914400" cy="393192"/>
          </a:xfrm>
          <a:prstGeom prst="roundRect">
            <a:avLst>
              <a:gd name="adj" fmla="val 9302"/>
            </a:avLst>
          </a:prstGeom>
          <a:solidFill>
            <a:srgbClr val="EAF6D6">
              <a:alpha val="65000"/>
            </a:srgbClr>
          </a:solidFill>
          <a:ln w="17780">
            <a:solidFill>
              <a:srgbClr val="84B9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Text 54"/>
          <p:cNvSpPr/>
          <p:nvPr/>
        </p:nvSpPr>
        <p:spPr>
          <a:xfrm>
            <a:off x="1417320" y="406908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F7F2B"/>
                </a:solidFill>
                <a:highlight>
                  <a:srgbClr val="FFFF00"/>
                </a:highlight>
              </a:rPr>
              <a:t>same learned local detector</a:t>
            </a:r>
            <a:endParaRPr lang="en-US" sz="1000" dirty="0">
              <a:highlight>
                <a:srgbClr val="FFFF00"/>
              </a:highlight>
            </a:endParaRPr>
          </a:p>
        </p:txBody>
      </p:sp>
      <p:sp>
        <p:nvSpPr>
          <p:cNvPr id="57" name="Shape 55"/>
          <p:cNvSpPr/>
          <p:nvPr/>
        </p:nvSpPr>
        <p:spPr>
          <a:xfrm>
            <a:off x="502920" y="6236208"/>
            <a:ext cx="9829800" cy="411480"/>
          </a:xfrm>
          <a:prstGeom prst="rect">
            <a:avLst/>
          </a:prstGeom>
          <a:solidFill>
            <a:srgbClr val="FFFFFF">
              <a:alpha val="96000"/>
            </a:srgbClr>
          </a:solidFill>
          <a:ln w="7620">
            <a:solidFill>
              <a:srgbClr val="CBD5E1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Text 56"/>
          <p:cNvSpPr/>
          <p:nvPr/>
        </p:nvSpPr>
        <p:spPr>
          <a:xfrm>
            <a:off x="621792" y="6336792"/>
            <a:ext cx="9555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Lecture 5 starts from the RNN limitation: </a:t>
            </a:r>
            <a:r>
              <a:rPr lang="en-US" sz="1020" b="1" dirty="0">
                <a:solidFill>
                  <a:srgbClr val="111827"/>
                </a:solidFill>
              </a:rPr>
              <a:t>recurrence is sequential; convolution searches for learned local patterns.</a:t>
            </a:r>
            <a:endParaRPr lang="en-US" sz="102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C3213A7-4314-21E3-914E-AB55A111E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Temporal patterns often appear locally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6F82879-60BE-0C1B-4DB6-91CAECE5D9F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Many useful temporal phenomena can be recognized from a limited local interval.</a:t>
            </a:r>
          </a:p>
          <a:p>
            <a:r>
              <a:rPr lang="en-GB" dirty="0"/>
              <a:t>Examples:</a:t>
            </a:r>
          </a:p>
          <a:p>
            <a:pPr lvl="1"/>
            <a:r>
              <a:rPr lang="en-GB" dirty="0"/>
              <a:t>sharp increase followed by decay; </a:t>
            </a:r>
          </a:p>
          <a:p>
            <a:pPr lvl="1"/>
            <a:r>
              <a:rPr lang="en-GB" dirty="0"/>
              <a:t>repeated vibration burst; </a:t>
            </a:r>
          </a:p>
          <a:p>
            <a:pPr lvl="1"/>
            <a:r>
              <a:rPr lang="en-GB" dirty="0"/>
              <a:t>short oscillation; </a:t>
            </a:r>
          </a:p>
          <a:p>
            <a:pPr lvl="1"/>
            <a:r>
              <a:rPr lang="en-GB" dirty="0"/>
              <a:t>sudden pressure drop; </a:t>
            </a:r>
          </a:p>
          <a:p>
            <a:pPr lvl="1"/>
            <a:r>
              <a:rPr lang="en-GB" dirty="0"/>
              <a:t>local change in slope; </a:t>
            </a:r>
          </a:p>
          <a:p>
            <a:pPr lvl="1"/>
            <a:r>
              <a:rPr lang="en-GB" dirty="0"/>
              <a:t>characteristic transition between operating states. </a:t>
            </a:r>
          </a:p>
          <a:p>
            <a:r>
              <a:rPr lang="en-GB" dirty="0"/>
              <a:t>A pattern might look conceptually like:</a:t>
            </a:r>
          </a:p>
          <a:p>
            <a:pPr lvl="1"/>
            <a:r>
              <a:rPr lang="en-GB" dirty="0"/>
              <a:t>small rise → sharp peak → decay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F6F4B99-5CDB-6818-559F-C35CAC56C14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The exact time at which the pattern occurs may not matter.</a:t>
            </a:r>
          </a:p>
          <a:p>
            <a:r>
              <a:rPr lang="en-GB" dirty="0"/>
              <a:t>For example, the same fault signature might appear at:</a:t>
            </a:r>
          </a:p>
          <a:p>
            <a:pPr lvl="1"/>
            <a:r>
              <a:rPr lang="en-GB" dirty="0"/>
              <a:t>time step 150; </a:t>
            </a:r>
          </a:p>
          <a:p>
            <a:pPr lvl="1"/>
            <a:r>
              <a:rPr lang="en-GB" dirty="0"/>
              <a:t>time step 630; </a:t>
            </a:r>
          </a:p>
          <a:p>
            <a:pPr lvl="1"/>
            <a:r>
              <a:rPr lang="en-GB" dirty="0"/>
              <a:t>time step 1200. </a:t>
            </a:r>
          </a:p>
          <a:p>
            <a:r>
              <a:rPr lang="en-GB" b="1" dirty="0"/>
              <a:t>Desired property</a:t>
            </a:r>
          </a:p>
          <a:p>
            <a:pPr lvl="1"/>
            <a:r>
              <a:rPr lang="en-GB" dirty="0"/>
              <a:t>We would like to learn one detector and apply it at every temporal position.</a:t>
            </a:r>
          </a:p>
          <a:p>
            <a:pPr lvl="1"/>
            <a:r>
              <a:rPr lang="en-GB" dirty="0"/>
              <a:t>This is achieved by a </a:t>
            </a:r>
            <a:r>
              <a:rPr lang="en-GB" b="1" dirty="0"/>
              <a:t>convolutional filter</a:t>
            </a:r>
            <a:r>
              <a:rPr lang="en-GB" dirty="0"/>
              <a:t>.</a:t>
            </a:r>
          </a:p>
          <a:p>
            <a:r>
              <a:rPr lang="en-GB" b="1" dirty="0"/>
              <a:t>Temporal convolution searches for the same learned local pattern at many positions in a sequence.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61767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08208" y="0"/>
            <a:ext cx="1380744" cy="6858000"/>
          </a:xfrm>
          <a:prstGeom prst="rect">
            <a:avLst/>
          </a:prstGeom>
          <a:solidFill>
            <a:srgbClr val="84B927">
              <a:alpha val="90000"/>
            </a:srgbClr>
          </a:solidFill>
          <a:ln w="12700">
            <a:solidFill>
              <a:srgbClr val="84B9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469880" y="0"/>
            <a:ext cx="256032" cy="6858000"/>
          </a:xfrm>
          <a:prstGeom prst="rect">
            <a:avLst/>
          </a:prstGeom>
          <a:solidFill>
            <a:srgbClr val="EAF6D6">
              <a:alpha val="90000"/>
            </a:srgbClr>
          </a:solidFill>
          <a:ln w="12700">
            <a:solidFill>
              <a:srgbClr val="EAF6D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458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Temporal patterns often appear locally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8412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75569"/>
                </a:solidFill>
              </a:rPr>
              <a:t>The same local motif may occur at many/different positions in a long sequence.</a:t>
            </a:r>
            <a:endParaRPr lang="en-US" sz="1150" b="1" dirty="0"/>
          </a:p>
        </p:txBody>
      </p:sp>
      <p:sp>
        <p:nvSpPr>
          <p:cNvPr id="6" name="Shape 4"/>
          <p:cNvSpPr/>
          <p:nvPr/>
        </p:nvSpPr>
        <p:spPr>
          <a:xfrm>
            <a:off x="822960" y="3977640"/>
            <a:ext cx="731520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822960" y="3337560"/>
            <a:ext cx="49095" cy="26864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872055" y="3364424"/>
            <a:ext cx="49095" cy="26101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921151" y="3390525"/>
            <a:ext cx="49095" cy="24598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970246" y="3415123"/>
            <a:ext cx="49095" cy="22396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1019341" y="3437519"/>
            <a:ext cx="49095" cy="19559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1068437" y="3457078"/>
            <a:ext cx="49095" cy="16167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1117532" y="3473245"/>
            <a:ext cx="49095" cy="12315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1166627" y="3485560"/>
            <a:ext cx="49095" cy="8114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1215722" y="3493675"/>
            <a:ext cx="49095" cy="3683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1264818" y="3497358"/>
            <a:ext cx="49095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1313913" y="3496505"/>
            <a:ext cx="49095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1363008" y="3491141"/>
            <a:ext cx="49095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1412104" y="3481418"/>
            <a:ext cx="49095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1461199" y="3467611"/>
            <a:ext cx="49095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1510294" y="3450113"/>
            <a:ext cx="49095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1559390" y="3429420"/>
            <a:ext cx="49095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1608485" y="3406120"/>
            <a:ext cx="49095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1657580" y="3380874"/>
            <a:ext cx="49095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1706675" y="3354398"/>
            <a:ext cx="49095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1755771" y="3327445"/>
            <a:ext cx="49095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1804866" y="3300778"/>
            <a:ext cx="49095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1853961" y="3275156"/>
            <a:ext cx="49095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1903057" y="3251305"/>
            <a:ext cx="49095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1952152" y="3229902"/>
            <a:ext cx="49095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2001247" y="3211555"/>
            <a:ext cx="49095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2050343" y="3196784"/>
            <a:ext cx="49095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2099438" y="3186010"/>
            <a:ext cx="49095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2148533" y="3179536"/>
            <a:ext cx="49095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2197628" y="3177549"/>
            <a:ext cx="49095" cy="2554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2246724" y="3180102"/>
            <a:ext cx="49095" cy="7023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2295819" y="3187125"/>
            <a:ext cx="49095" cy="11293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2344914" y="3198418"/>
            <a:ext cx="49095" cy="15241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2394010" y="3213659"/>
            <a:ext cx="49095" cy="18757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2443105" y="3232417"/>
            <a:ext cx="49095" cy="2174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Shape 39"/>
          <p:cNvSpPr/>
          <p:nvPr/>
        </p:nvSpPr>
        <p:spPr>
          <a:xfrm>
            <a:off x="2492200" y="3254157"/>
            <a:ext cx="49095" cy="24105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Shape 40"/>
          <p:cNvSpPr/>
          <p:nvPr/>
        </p:nvSpPr>
        <p:spPr>
          <a:xfrm>
            <a:off x="2541296" y="3278261"/>
            <a:ext cx="49095" cy="25783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41"/>
          <p:cNvSpPr/>
          <p:nvPr/>
        </p:nvSpPr>
        <p:spPr>
          <a:xfrm>
            <a:off x="2590391" y="3304045"/>
            <a:ext cx="49095" cy="26728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Shape 42"/>
          <p:cNvSpPr/>
          <p:nvPr/>
        </p:nvSpPr>
        <p:spPr>
          <a:xfrm>
            <a:off x="2639486" y="3330772"/>
            <a:ext cx="49095" cy="2691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Shape 43"/>
          <p:cNvSpPr/>
          <p:nvPr/>
        </p:nvSpPr>
        <p:spPr>
          <a:xfrm>
            <a:off x="2688581" y="3357682"/>
            <a:ext cx="49095" cy="26323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Shape 44"/>
          <p:cNvSpPr/>
          <p:nvPr/>
        </p:nvSpPr>
        <p:spPr>
          <a:xfrm>
            <a:off x="2737677" y="3384005"/>
            <a:ext cx="49095" cy="2498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Shape 45"/>
          <p:cNvSpPr/>
          <p:nvPr/>
        </p:nvSpPr>
        <p:spPr>
          <a:xfrm>
            <a:off x="2786772" y="3408985"/>
            <a:ext cx="49095" cy="22917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Shape 46"/>
          <p:cNvSpPr/>
          <p:nvPr/>
        </p:nvSpPr>
        <p:spPr>
          <a:xfrm>
            <a:off x="2835867" y="3431902"/>
            <a:ext cx="49095" cy="20187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2884963" y="3452089"/>
            <a:ext cx="49095" cy="16862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Shape 48"/>
          <p:cNvSpPr/>
          <p:nvPr/>
        </p:nvSpPr>
        <p:spPr>
          <a:xfrm>
            <a:off x="2934058" y="3468951"/>
            <a:ext cx="49095" cy="13027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Shape 49"/>
          <p:cNvSpPr/>
          <p:nvPr/>
        </p:nvSpPr>
        <p:spPr>
          <a:xfrm>
            <a:off x="2983153" y="3481978"/>
            <a:ext cx="49095" cy="8781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Shape 50"/>
          <p:cNvSpPr/>
          <p:nvPr/>
        </p:nvSpPr>
        <p:spPr>
          <a:xfrm>
            <a:off x="3032249" y="3490759"/>
            <a:ext cx="49095" cy="4233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Shape 51"/>
          <p:cNvSpPr/>
          <p:nvPr/>
        </p:nvSpPr>
        <p:spPr>
          <a:xfrm>
            <a:off x="3081344" y="3494992"/>
            <a:ext cx="49095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Shape 52"/>
          <p:cNvSpPr/>
          <p:nvPr/>
        </p:nvSpPr>
        <p:spPr>
          <a:xfrm>
            <a:off x="3130439" y="3494487"/>
            <a:ext cx="49095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Shape 53"/>
          <p:cNvSpPr/>
          <p:nvPr/>
        </p:nvSpPr>
        <p:spPr>
          <a:xfrm>
            <a:off x="3179534" y="3489172"/>
            <a:ext cx="49095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Shape 54"/>
          <p:cNvSpPr/>
          <p:nvPr/>
        </p:nvSpPr>
        <p:spPr>
          <a:xfrm>
            <a:off x="3228630" y="3479092"/>
            <a:ext cx="49095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Shape 55"/>
          <p:cNvSpPr/>
          <p:nvPr/>
        </p:nvSpPr>
        <p:spPr>
          <a:xfrm>
            <a:off x="3277725" y="3464401"/>
            <a:ext cx="49095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Shape 56"/>
          <p:cNvSpPr/>
          <p:nvPr/>
        </p:nvSpPr>
        <p:spPr>
          <a:xfrm>
            <a:off x="3326820" y="3445365"/>
            <a:ext cx="49095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Shape 57"/>
          <p:cNvSpPr/>
          <p:nvPr/>
        </p:nvSpPr>
        <p:spPr>
          <a:xfrm>
            <a:off x="3375916" y="3422345"/>
            <a:ext cx="49095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Shape 58"/>
          <p:cNvSpPr/>
          <p:nvPr/>
        </p:nvSpPr>
        <p:spPr>
          <a:xfrm>
            <a:off x="3425011" y="3395794"/>
            <a:ext cx="49095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Shape 59"/>
          <p:cNvSpPr/>
          <p:nvPr/>
        </p:nvSpPr>
        <p:spPr>
          <a:xfrm>
            <a:off x="3474106" y="3366246"/>
            <a:ext cx="49095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" name="Shape 60"/>
          <p:cNvSpPr/>
          <p:nvPr/>
        </p:nvSpPr>
        <p:spPr>
          <a:xfrm>
            <a:off x="3523202" y="3334300"/>
            <a:ext cx="49095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Shape 61"/>
          <p:cNvSpPr/>
          <p:nvPr/>
        </p:nvSpPr>
        <p:spPr>
          <a:xfrm>
            <a:off x="3572297" y="3300618"/>
            <a:ext cx="49095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Shape 62"/>
          <p:cNvSpPr/>
          <p:nvPr/>
        </p:nvSpPr>
        <p:spPr>
          <a:xfrm>
            <a:off x="3621392" y="3265905"/>
            <a:ext cx="49095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Shape 63"/>
          <p:cNvSpPr/>
          <p:nvPr/>
        </p:nvSpPr>
        <p:spPr>
          <a:xfrm>
            <a:off x="3670488" y="3230904"/>
            <a:ext cx="49095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" name="Shape 64"/>
          <p:cNvSpPr/>
          <p:nvPr/>
        </p:nvSpPr>
        <p:spPr>
          <a:xfrm>
            <a:off x="3719583" y="3196383"/>
            <a:ext cx="49095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7" name="Shape 65"/>
          <p:cNvSpPr/>
          <p:nvPr/>
        </p:nvSpPr>
        <p:spPr>
          <a:xfrm>
            <a:off x="3768678" y="3163122"/>
            <a:ext cx="49095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8" name="Shape 66"/>
          <p:cNvSpPr/>
          <p:nvPr/>
        </p:nvSpPr>
        <p:spPr>
          <a:xfrm>
            <a:off x="3817773" y="3131899"/>
            <a:ext cx="49095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9" name="Shape 67"/>
          <p:cNvSpPr/>
          <p:nvPr/>
        </p:nvSpPr>
        <p:spPr>
          <a:xfrm>
            <a:off x="3866869" y="3103479"/>
            <a:ext cx="49095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0" name="Shape 68"/>
          <p:cNvSpPr/>
          <p:nvPr/>
        </p:nvSpPr>
        <p:spPr>
          <a:xfrm>
            <a:off x="3915964" y="3078589"/>
            <a:ext cx="49095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1" name="Shape 69"/>
          <p:cNvSpPr/>
          <p:nvPr/>
        </p:nvSpPr>
        <p:spPr>
          <a:xfrm>
            <a:off x="3965059" y="3057906"/>
            <a:ext cx="49095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2" name="Shape 70"/>
          <p:cNvSpPr/>
          <p:nvPr/>
        </p:nvSpPr>
        <p:spPr>
          <a:xfrm>
            <a:off x="4014155" y="3042029"/>
            <a:ext cx="49095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3" name="Shape 71"/>
          <p:cNvSpPr/>
          <p:nvPr/>
        </p:nvSpPr>
        <p:spPr>
          <a:xfrm>
            <a:off x="4063250" y="3031459"/>
            <a:ext cx="49095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4" name="Shape 72"/>
          <p:cNvSpPr/>
          <p:nvPr/>
        </p:nvSpPr>
        <p:spPr>
          <a:xfrm>
            <a:off x="4112345" y="3026573"/>
            <a:ext cx="49095" cy="1031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5" name="Shape 73"/>
          <p:cNvSpPr/>
          <p:nvPr/>
        </p:nvSpPr>
        <p:spPr>
          <a:xfrm>
            <a:off x="4161441" y="3027604"/>
            <a:ext cx="49095" cy="7013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6" name="Shape 74"/>
          <p:cNvSpPr/>
          <p:nvPr/>
        </p:nvSpPr>
        <p:spPr>
          <a:xfrm>
            <a:off x="4210536" y="3034617"/>
            <a:ext cx="49095" cy="12883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7" name="Shape 75"/>
          <p:cNvSpPr/>
          <p:nvPr/>
        </p:nvSpPr>
        <p:spPr>
          <a:xfrm>
            <a:off x="4259631" y="3047500"/>
            <a:ext cx="49095" cy="18451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8" name="Shape 76"/>
          <p:cNvSpPr/>
          <p:nvPr/>
        </p:nvSpPr>
        <p:spPr>
          <a:xfrm>
            <a:off x="4308726" y="3065950"/>
            <a:ext cx="49095" cy="2353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9" name="Shape 77"/>
          <p:cNvSpPr/>
          <p:nvPr/>
        </p:nvSpPr>
        <p:spPr>
          <a:xfrm>
            <a:off x="4357822" y="3089480"/>
            <a:ext cx="49095" cy="27941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0" name="Shape 78"/>
          <p:cNvSpPr/>
          <p:nvPr/>
        </p:nvSpPr>
        <p:spPr>
          <a:xfrm>
            <a:off x="4406917" y="3117421"/>
            <a:ext cx="49095" cy="31527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1" name="Shape 79"/>
          <p:cNvSpPr/>
          <p:nvPr/>
        </p:nvSpPr>
        <p:spPr>
          <a:xfrm>
            <a:off x="4456012" y="3148948"/>
            <a:ext cx="49095" cy="34154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2" name="Shape 80"/>
          <p:cNvSpPr/>
          <p:nvPr/>
        </p:nvSpPr>
        <p:spPr>
          <a:xfrm>
            <a:off x="4505108" y="3183101"/>
            <a:ext cx="49095" cy="35727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3" name="Shape 81"/>
          <p:cNvSpPr/>
          <p:nvPr/>
        </p:nvSpPr>
        <p:spPr>
          <a:xfrm>
            <a:off x="4554203" y="3218828"/>
            <a:ext cx="49095" cy="3619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4" name="Shape 82"/>
          <p:cNvSpPr/>
          <p:nvPr/>
        </p:nvSpPr>
        <p:spPr>
          <a:xfrm>
            <a:off x="4603298" y="3255018"/>
            <a:ext cx="49095" cy="35532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5" name="Shape 83"/>
          <p:cNvSpPr/>
          <p:nvPr/>
        </p:nvSpPr>
        <p:spPr>
          <a:xfrm>
            <a:off x="4652394" y="3290549"/>
            <a:ext cx="49095" cy="33787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6" name="Shape 84"/>
          <p:cNvSpPr/>
          <p:nvPr/>
        </p:nvSpPr>
        <p:spPr>
          <a:xfrm>
            <a:off x="4701489" y="3324337"/>
            <a:ext cx="49095" cy="31032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7" name="Shape 85"/>
          <p:cNvSpPr/>
          <p:nvPr/>
        </p:nvSpPr>
        <p:spPr>
          <a:xfrm>
            <a:off x="4750584" y="3355369"/>
            <a:ext cx="49095" cy="27382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8" name="Shape 86"/>
          <p:cNvSpPr/>
          <p:nvPr/>
        </p:nvSpPr>
        <p:spPr>
          <a:xfrm>
            <a:off x="4799679" y="3382752"/>
            <a:ext cx="49095" cy="22984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9" name="Shape 87"/>
          <p:cNvSpPr/>
          <p:nvPr/>
        </p:nvSpPr>
        <p:spPr>
          <a:xfrm>
            <a:off x="4848775" y="3405736"/>
            <a:ext cx="49095" cy="1801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0" name="Shape 88"/>
          <p:cNvSpPr/>
          <p:nvPr/>
        </p:nvSpPr>
        <p:spPr>
          <a:xfrm>
            <a:off x="4897870" y="3423746"/>
            <a:ext cx="49095" cy="12645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1" name="Shape 89"/>
          <p:cNvSpPr/>
          <p:nvPr/>
        </p:nvSpPr>
        <p:spPr>
          <a:xfrm>
            <a:off x="4946965" y="3436391"/>
            <a:ext cx="49095" cy="7085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2" name="Shape 90"/>
          <p:cNvSpPr/>
          <p:nvPr/>
        </p:nvSpPr>
        <p:spPr>
          <a:xfrm>
            <a:off x="4996061" y="3443476"/>
            <a:ext cx="49095" cy="1523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3" name="Shape 91"/>
          <p:cNvSpPr/>
          <p:nvPr/>
        </p:nvSpPr>
        <p:spPr>
          <a:xfrm>
            <a:off x="5045156" y="3444998"/>
            <a:ext cx="49095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4" name="Shape 92"/>
          <p:cNvSpPr/>
          <p:nvPr/>
        </p:nvSpPr>
        <p:spPr>
          <a:xfrm>
            <a:off x="5094251" y="3441140"/>
            <a:ext cx="49095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5" name="Shape 93"/>
          <p:cNvSpPr/>
          <p:nvPr/>
        </p:nvSpPr>
        <p:spPr>
          <a:xfrm>
            <a:off x="5143347" y="3432253"/>
            <a:ext cx="49095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6" name="Shape 94"/>
          <p:cNvSpPr/>
          <p:nvPr/>
        </p:nvSpPr>
        <p:spPr>
          <a:xfrm>
            <a:off x="5192442" y="3418838"/>
            <a:ext cx="49095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7" name="Shape 95"/>
          <p:cNvSpPr/>
          <p:nvPr/>
        </p:nvSpPr>
        <p:spPr>
          <a:xfrm>
            <a:off x="5241537" y="3401525"/>
            <a:ext cx="49095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8" name="Shape 96"/>
          <p:cNvSpPr/>
          <p:nvPr/>
        </p:nvSpPr>
        <p:spPr>
          <a:xfrm>
            <a:off x="5290632" y="3381041"/>
            <a:ext cx="49095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9" name="Shape 97"/>
          <p:cNvSpPr/>
          <p:nvPr/>
        </p:nvSpPr>
        <p:spPr>
          <a:xfrm>
            <a:off x="5339728" y="3358190"/>
            <a:ext cx="49095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0" name="Shape 98"/>
          <p:cNvSpPr/>
          <p:nvPr/>
        </p:nvSpPr>
        <p:spPr>
          <a:xfrm>
            <a:off x="5388823" y="3333823"/>
            <a:ext cx="49095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1" name="Shape 99"/>
          <p:cNvSpPr/>
          <p:nvPr/>
        </p:nvSpPr>
        <p:spPr>
          <a:xfrm>
            <a:off x="5437918" y="3308810"/>
            <a:ext cx="49095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2" name="Shape 100"/>
          <p:cNvSpPr/>
          <p:nvPr/>
        </p:nvSpPr>
        <p:spPr>
          <a:xfrm>
            <a:off x="5487014" y="3284014"/>
            <a:ext cx="49095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3" name="Shape 101"/>
          <p:cNvSpPr/>
          <p:nvPr/>
        </p:nvSpPr>
        <p:spPr>
          <a:xfrm>
            <a:off x="5536109" y="3260271"/>
            <a:ext cx="49095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4" name="Shape 102"/>
          <p:cNvSpPr/>
          <p:nvPr/>
        </p:nvSpPr>
        <p:spPr>
          <a:xfrm>
            <a:off x="5585204" y="3238362"/>
            <a:ext cx="49095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5" name="Shape 103"/>
          <p:cNvSpPr/>
          <p:nvPr/>
        </p:nvSpPr>
        <p:spPr>
          <a:xfrm>
            <a:off x="5634300" y="3218997"/>
            <a:ext cx="49095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6" name="Shape 104"/>
          <p:cNvSpPr/>
          <p:nvPr/>
        </p:nvSpPr>
        <p:spPr>
          <a:xfrm>
            <a:off x="5683395" y="3202794"/>
            <a:ext cx="49095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7" name="Shape 105"/>
          <p:cNvSpPr/>
          <p:nvPr/>
        </p:nvSpPr>
        <p:spPr>
          <a:xfrm>
            <a:off x="5732490" y="3190269"/>
            <a:ext cx="49095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8" name="Shape 106"/>
          <p:cNvSpPr/>
          <p:nvPr/>
        </p:nvSpPr>
        <p:spPr>
          <a:xfrm>
            <a:off x="5781586" y="3181818"/>
            <a:ext cx="49095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9" name="Shape 107"/>
          <p:cNvSpPr/>
          <p:nvPr/>
        </p:nvSpPr>
        <p:spPr>
          <a:xfrm>
            <a:off x="5830681" y="3177711"/>
            <a:ext cx="49095" cy="378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0" name="Shape 108"/>
          <p:cNvSpPr/>
          <p:nvPr/>
        </p:nvSpPr>
        <p:spPr>
          <a:xfrm>
            <a:off x="5879776" y="3178089"/>
            <a:ext cx="49095" cy="4868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1" name="Shape 109"/>
          <p:cNvSpPr/>
          <p:nvPr/>
        </p:nvSpPr>
        <p:spPr>
          <a:xfrm>
            <a:off x="5928871" y="3182957"/>
            <a:ext cx="49095" cy="9232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2" name="Shape 110"/>
          <p:cNvSpPr/>
          <p:nvPr/>
        </p:nvSpPr>
        <p:spPr>
          <a:xfrm>
            <a:off x="5977967" y="3192188"/>
            <a:ext cx="49095" cy="13341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3" name="Shape 111"/>
          <p:cNvSpPr/>
          <p:nvPr/>
        </p:nvSpPr>
        <p:spPr>
          <a:xfrm>
            <a:off x="6027062" y="3205529"/>
            <a:ext cx="49095" cy="17078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4" name="Shape 112"/>
          <p:cNvSpPr/>
          <p:nvPr/>
        </p:nvSpPr>
        <p:spPr>
          <a:xfrm>
            <a:off x="6076157" y="3222608"/>
            <a:ext cx="49095" cy="20334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5" name="Shape 113"/>
          <p:cNvSpPr/>
          <p:nvPr/>
        </p:nvSpPr>
        <p:spPr>
          <a:xfrm>
            <a:off x="6125253" y="3242942"/>
            <a:ext cx="49095" cy="23015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6" name="Shape 114"/>
          <p:cNvSpPr/>
          <p:nvPr/>
        </p:nvSpPr>
        <p:spPr>
          <a:xfrm>
            <a:off x="6174348" y="3265957"/>
            <a:ext cx="49095" cy="25045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7" name="Shape 115"/>
          <p:cNvSpPr/>
          <p:nvPr/>
        </p:nvSpPr>
        <p:spPr>
          <a:xfrm>
            <a:off x="6223443" y="3291002"/>
            <a:ext cx="49095" cy="26365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8" name="Shape 116"/>
          <p:cNvSpPr/>
          <p:nvPr/>
        </p:nvSpPr>
        <p:spPr>
          <a:xfrm>
            <a:off x="6272539" y="3317367"/>
            <a:ext cx="49095" cy="26937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9" name="Shape 117"/>
          <p:cNvSpPr/>
          <p:nvPr/>
        </p:nvSpPr>
        <p:spPr>
          <a:xfrm>
            <a:off x="6321634" y="3344304"/>
            <a:ext cx="49095" cy="26745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0" name="Shape 118"/>
          <p:cNvSpPr/>
          <p:nvPr/>
        </p:nvSpPr>
        <p:spPr>
          <a:xfrm>
            <a:off x="6370729" y="3371049"/>
            <a:ext cx="49095" cy="25794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1" name="Shape 119"/>
          <p:cNvSpPr/>
          <p:nvPr/>
        </p:nvSpPr>
        <p:spPr>
          <a:xfrm>
            <a:off x="6419824" y="3396843"/>
            <a:ext cx="49095" cy="24111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2" name="Shape 120"/>
          <p:cNvSpPr/>
          <p:nvPr/>
        </p:nvSpPr>
        <p:spPr>
          <a:xfrm>
            <a:off x="6468920" y="3420954"/>
            <a:ext cx="49095" cy="21744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3" name="Shape 121"/>
          <p:cNvSpPr/>
          <p:nvPr/>
        </p:nvSpPr>
        <p:spPr>
          <a:xfrm>
            <a:off x="6518015" y="3442698"/>
            <a:ext cx="49095" cy="1876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4" name="Shape 122"/>
          <p:cNvSpPr/>
          <p:nvPr/>
        </p:nvSpPr>
        <p:spPr>
          <a:xfrm>
            <a:off x="6567110" y="3461457"/>
            <a:ext cx="49095" cy="15243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5" name="Shape 123"/>
          <p:cNvSpPr/>
          <p:nvPr/>
        </p:nvSpPr>
        <p:spPr>
          <a:xfrm>
            <a:off x="6616206" y="3476700"/>
            <a:ext cx="49095" cy="11293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6" name="Shape 124"/>
          <p:cNvSpPr/>
          <p:nvPr/>
        </p:nvSpPr>
        <p:spPr>
          <a:xfrm>
            <a:off x="6665301" y="3487994"/>
            <a:ext cx="49095" cy="7023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7" name="Shape 125"/>
          <p:cNvSpPr/>
          <p:nvPr/>
        </p:nvSpPr>
        <p:spPr>
          <a:xfrm>
            <a:off x="6714396" y="3495017"/>
            <a:ext cx="49095" cy="2554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8" name="Shape 126"/>
          <p:cNvSpPr/>
          <p:nvPr/>
        </p:nvSpPr>
        <p:spPr>
          <a:xfrm>
            <a:off x="6763492" y="3497571"/>
            <a:ext cx="49095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9" name="Shape 127"/>
          <p:cNvSpPr/>
          <p:nvPr/>
        </p:nvSpPr>
        <p:spPr>
          <a:xfrm>
            <a:off x="6812587" y="3495583"/>
            <a:ext cx="49095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0" name="Shape 128"/>
          <p:cNvSpPr/>
          <p:nvPr/>
        </p:nvSpPr>
        <p:spPr>
          <a:xfrm>
            <a:off x="6861682" y="3489110"/>
            <a:ext cx="49095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1" name="Shape 129"/>
          <p:cNvSpPr/>
          <p:nvPr/>
        </p:nvSpPr>
        <p:spPr>
          <a:xfrm>
            <a:off x="6910777" y="3478336"/>
            <a:ext cx="49095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2" name="Shape 130"/>
          <p:cNvSpPr/>
          <p:nvPr/>
        </p:nvSpPr>
        <p:spPr>
          <a:xfrm>
            <a:off x="6959873" y="3463565"/>
            <a:ext cx="49095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3" name="Shape 131"/>
          <p:cNvSpPr/>
          <p:nvPr/>
        </p:nvSpPr>
        <p:spPr>
          <a:xfrm>
            <a:off x="7008968" y="3445218"/>
            <a:ext cx="49095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4" name="Shape 132"/>
          <p:cNvSpPr/>
          <p:nvPr/>
        </p:nvSpPr>
        <p:spPr>
          <a:xfrm>
            <a:off x="7058063" y="3423815"/>
            <a:ext cx="49095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5" name="Shape 133"/>
          <p:cNvSpPr/>
          <p:nvPr/>
        </p:nvSpPr>
        <p:spPr>
          <a:xfrm>
            <a:off x="7107159" y="3399964"/>
            <a:ext cx="49095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6" name="Shape 134"/>
          <p:cNvSpPr/>
          <p:nvPr/>
        </p:nvSpPr>
        <p:spPr>
          <a:xfrm>
            <a:off x="7156254" y="3374342"/>
            <a:ext cx="49095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7" name="Shape 135"/>
          <p:cNvSpPr/>
          <p:nvPr/>
        </p:nvSpPr>
        <p:spPr>
          <a:xfrm>
            <a:off x="7205349" y="3347675"/>
            <a:ext cx="49095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8" name="Shape 136"/>
          <p:cNvSpPr/>
          <p:nvPr/>
        </p:nvSpPr>
        <p:spPr>
          <a:xfrm>
            <a:off x="7254445" y="3320722"/>
            <a:ext cx="49095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9" name="Shape 137"/>
          <p:cNvSpPr/>
          <p:nvPr/>
        </p:nvSpPr>
        <p:spPr>
          <a:xfrm>
            <a:off x="7303540" y="3294246"/>
            <a:ext cx="49095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0" name="Shape 138"/>
          <p:cNvSpPr/>
          <p:nvPr/>
        </p:nvSpPr>
        <p:spPr>
          <a:xfrm>
            <a:off x="7352635" y="3269000"/>
            <a:ext cx="49095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1" name="Shape 139"/>
          <p:cNvSpPr/>
          <p:nvPr/>
        </p:nvSpPr>
        <p:spPr>
          <a:xfrm>
            <a:off x="7401730" y="3245700"/>
            <a:ext cx="49095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2" name="Shape 140"/>
          <p:cNvSpPr/>
          <p:nvPr/>
        </p:nvSpPr>
        <p:spPr>
          <a:xfrm>
            <a:off x="7450826" y="3225007"/>
            <a:ext cx="49095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3" name="Shape 141"/>
          <p:cNvSpPr/>
          <p:nvPr/>
        </p:nvSpPr>
        <p:spPr>
          <a:xfrm>
            <a:off x="7499921" y="3207509"/>
            <a:ext cx="49095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4" name="Shape 142"/>
          <p:cNvSpPr/>
          <p:nvPr/>
        </p:nvSpPr>
        <p:spPr>
          <a:xfrm>
            <a:off x="7549016" y="3193702"/>
            <a:ext cx="49095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5" name="Shape 143"/>
          <p:cNvSpPr/>
          <p:nvPr/>
        </p:nvSpPr>
        <p:spPr>
          <a:xfrm>
            <a:off x="7598112" y="3183979"/>
            <a:ext cx="49095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6" name="Shape 144"/>
          <p:cNvSpPr/>
          <p:nvPr/>
        </p:nvSpPr>
        <p:spPr>
          <a:xfrm>
            <a:off x="7647207" y="3178615"/>
            <a:ext cx="49095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7" name="Shape 145"/>
          <p:cNvSpPr/>
          <p:nvPr/>
        </p:nvSpPr>
        <p:spPr>
          <a:xfrm>
            <a:off x="7696302" y="3177762"/>
            <a:ext cx="49095" cy="3683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8" name="Shape 146"/>
          <p:cNvSpPr/>
          <p:nvPr/>
        </p:nvSpPr>
        <p:spPr>
          <a:xfrm>
            <a:off x="7745398" y="3181445"/>
            <a:ext cx="49095" cy="8114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9" name="Shape 147"/>
          <p:cNvSpPr/>
          <p:nvPr/>
        </p:nvSpPr>
        <p:spPr>
          <a:xfrm>
            <a:off x="7794493" y="3189560"/>
            <a:ext cx="49095" cy="12315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0" name="Shape 148"/>
          <p:cNvSpPr/>
          <p:nvPr/>
        </p:nvSpPr>
        <p:spPr>
          <a:xfrm>
            <a:off x="7843588" y="3201875"/>
            <a:ext cx="49095" cy="16167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1" name="Shape 149"/>
          <p:cNvSpPr/>
          <p:nvPr/>
        </p:nvSpPr>
        <p:spPr>
          <a:xfrm>
            <a:off x="7892683" y="3218042"/>
            <a:ext cx="49095" cy="19559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2" name="Shape 150"/>
          <p:cNvSpPr/>
          <p:nvPr/>
        </p:nvSpPr>
        <p:spPr>
          <a:xfrm>
            <a:off x="7941779" y="3237601"/>
            <a:ext cx="49095" cy="22396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3" name="Shape 151"/>
          <p:cNvSpPr/>
          <p:nvPr/>
        </p:nvSpPr>
        <p:spPr>
          <a:xfrm>
            <a:off x="7990874" y="3259997"/>
            <a:ext cx="49095" cy="24598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4" name="Shape 152"/>
          <p:cNvSpPr/>
          <p:nvPr/>
        </p:nvSpPr>
        <p:spPr>
          <a:xfrm>
            <a:off x="8039969" y="3284595"/>
            <a:ext cx="49095" cy="26101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5" name="Shape 153"/>
          <p:cNvSpPr/>
          <p:nvPr/>
        </p:nvSpPr>
        <p:spPr>
          <a:xfrm>
            <a:off x="8089065" y="3310696"/>
            <a:ext cx="49095" cy="26864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6" name="Shape 154"/>
          <p:cNvSpPr/>
          <p:nvPr/>
        </p:nvSpPr>
        <p:spPr>
          <a:xfrm>
            <a:off x="1600200" y="2788920"/>
            <a:ext cx="1143000" cy="1097280"/>
          </a:xfrm>
          <a:prstGeom prst="roundRect">
            <a:avLst>
              <a:gd name="adj" fmla="val 3333"/>
            </a:avLst>
          </a:prstGeom>
          <a:solidFill>
            <a:srgbClr val="EAF6D6">
              <a:alpha val="62000"/>
            </a:srgbClr>
          </a:solidFill>
          <a:ln w="22860">
            <a:solidFill>
              <a:srgbClr val="84B9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7" name="Text 155"/>
          <p:cNvSpPr/>
          <p:nvPr/>
        </p:nvSpPr>
        <p:spPr>
          <a:xfrm>
            <a:off x="1600200" y="400507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4F7F2B"/>
                </a:solidFill>
              </a:rPr>
              <a:t>position 1</a:t>
            </a:r>
            <a:endParaRPr lang="en-US" sz="900" dirty="0"/>
          </a:p>
        </p:txBody>
      </p:sp>
      <p:sp>
        <p:nvSpPr>
          <p:cNvPr id="158" name="Shape 156"/>
          <p:cNvSpPr/>
          <p:nvPr/>
        </p:nvSpPr>
        <p:spPr>
          <a:xfrm>
            <a:off x="4069080" y="2788920"/>
            <a:ext cx="1143000" cy="1097280"/>
          </a:xfrm>
          <a:prstGeom prst="roundRect">
            <a:avLst>
              <a:gd name="adj" fmla="val 3333"/>
            </a:avLst>
          </a:prstGeom>
          <a:solidFill>
            <a:srgbClr val="EAF6D6">
              <a:alpha val="62000"/>
            </a:srgbClr>
          </a:solidFill>
          <a:ln w="22860">
            <a:solidFill>
              <a:srgbClr val="84B9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9" name="Text 157"/>
          <p:cNvSpPr/>
          <p:nvPr/>
        </p:nvSpPr>
        <p:spPr>
          <a:xfrm>
            <a:off x="4069080" y="400507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4F7F2B"/>
                </a:solidFill>
              </a:rPr>
              <a:t>position 2</a:t>
            </a:r>
            <a:endParaRPr lang="en-US" sz="900" dirty="0"/>
          </a:p>
        </p:txBody>
      </p:sp>
      <p:sp>
        <p:nvSpPr>
          <p:cNvPr id="160" name="Shape 158"/>
          <p:cNvSpPr/>
          <p:nvPr/>
        </p:nvSpPr>
        <p:spPr>
          <a:xfrm>
            <a:off x="6355080" y="2788920"/>
            <a:ext cx="1143000" cy="1097280"/>
          </a:xfrm>
          <a:prstGeom prst="roundRect">
            <a:avLst>
              <a:gd name="adj" fmla="val 3333"/>
            </a:avLst>
          </a:prstGeom>
          <a:solidFill>
            <a:srgbClr val="EAF6D6">
              <a:alpha val="62000"/>
            </a:srgbClr>
          </a:solidFill>
          <a:ln w="22860">
            <a:solidFill>
              <a:srgbClr val="84B9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1" name="Text 159"/>
          <p:cNvSpPr/>
          <p:nvPr/>
        </p:nvSpPr>
        <p:spPr>
          <a:xfrm>
            <a:off x="6355080" y="400507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4F7F2B"/>
                </a:solidFill>
              </a:rPr>
              <a:t>position 3</a:t>
            </a:r>
            <a:endParaRPr lang="en-US" sz="900" dirty="0"/>
          </a:p>
        </p:txBody>
      </p:sp>
      <p:sp>
        <p:nvSpPr>
          <p:cNvPr id="162" name="Shape 160"/>
          <p:cNvSpPr/>
          <p:nvPr/>
        </p:nvSpPr>
        <p:spPr>
          <a:xfrm>
            <a:off x="868680" y="484632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3" name="Text 161"/>
          <p:cNvSpPr/>
          <p:nvPr/>
        </p:nvSpPr>
        <p:spPr>
          <a:xfrm>
            <a:off x="941832" y="5125212"/>
            <a:ext cx="2596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highlight>
                  <a:srgbClr val="FFFF00"/>
                </a:highlight>
              </a:rPr>
              <a:t>local motif</a:t>
            </a:r>
            <a:endParaRPr lang="en-US" sz="1200" dirty="0">
              <a:highlight>
                <a:srgbClr val="FFFF00"/>
              </a:highlight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highlight>
                  <a:srgbClr val="FFFF00"/>
                </a:highlight>
              </a:rPr>
              <a:t>small rise → peak → decay</a:t>
            </a:r>
            <a:endParaRPr lang="en-US" sz="1200" dirty="0">
              <a:highlight>
                <a:srgbClr val="FFFF00"/>
              </a:highlight>
            </a:endParaRPr>
          </a:p>
        </p:txBody>
      </p:sp>
      <p:sp>
        <p:nvSpPr>
          <p:cNvPr id="164" name="Shape 162"/>
          <p:cNvSpPr/>
          <p:nvPr/>
        </p:nvSpPr>
        <p:spPr>
          <a:xfrm>
            <a:off x="3611880" y="5239512"/>
            <a:ext cx="777240" cy="0"/>
          </a:xfrm>
          <a:prstGeom prst="line">
            <a:avLst/>
          </a:prstGeom>
          <a:noFill/>
          <a:ln w="17780">
            <a:solidFill>
              <a:srgbClr val="F59E0B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65" name="Text 163"/>
          <p:cNvSpPr/>
          <p:nvPr/>
        </p:nvSpPr>
        <p:spPr>
          <a:xfrm>
            <a:off x="4297680" y="4983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</a:rPr>
              <a:t>Goal: learn one detector and apply it everywhere.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26C1307-6471-BABF-920D-5157E97D0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From local region to learned activation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B9E44AE-D500-C92E-219D-FF69C95EA4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>
                <a:highlight>
                  <a:srgbClr val="FFFF00"/>
                </a:highlight>
              </a:rPr>
              <a:t>Consider a local region of a signal: x[t], x[t+1], ..., x[t+K−1]</a:t>
            </a:r>
          </a:p>
          <a:p>
            <a:r>
              <a:rPr lang="en-GB" dirty="0">
                <a:highlight>
                  <a:srgbClr val="FFFF00"/>
                </a:highlight>
              </a:rPr>
              <a:t>A learned transformation is applied to this region.</a:t>
            </a:r>
          </a:p>
          <a:p>
            <a:r>
              <a:rPr lang="en-GB" dirty="0"/>
              <a:t>Conceptually:</a:t>
            </a:r>
          </a:p>
          <a:p>
            <a:r>
              <a:rPr lang="en-GB" dirty="0"/>
              <a:t>local temporal region</a:t>
            </a:r>
          </a:p>
          <a:p>
            <a:r>
              <a:rPr lang="en-GB" dirty="0"/>
              <a:t>        ↓</a:t>
            </a:r>
          </a:p>
          <a:p>
            <a:r>
              <a:rPr lang="en-GB" dirty="0"/>
              <a:t>learned filter</a:t>
            </a:r>
          </a:p>
          <a:p>
            <a:r>
              <a:rPr lang="en-GB" dirty="0"/>
              <a:t>        ↓</a:t>
            </a:r>
          </a:p>
          <a:p>
            <a:r>
              <a:rPr lang="en-GB" dirty="0"/>
              <a:t>activation</a:t>
            </a:r>
          </a:p>
          <a:p>
            <a:r>
              <a:rPr lang="en-GB" b="1" dirty="0">
                <a:highlight>
                  <a:srgbClr val="FFFF00"/>
                </a:highlight>
              </a:rPr>
              <a:t>The activation indicates how strongly the local region matches the pattern represented by the filter.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83559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38955-3A11-62E5-59EA-02743F314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0D6BBC1-0914-1D16-187E-3B20F0291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From local region to learned activation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E6E3625-16D8-DE90-D15F-2317F53703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b="1" dirty="0">
                <a:highlight>
                  <a:srgbClr val="FFFF00"/>
                </a:highlight>
              </a:rPr>
              <a:t>Then the filter moves</a:t>
            </a:r>
          </a:p>
          <a:p>
            <a:pPr lvl="1"/>
            <a:r>
              <a:rPr lang="en-GB" dirty="0"/>
              <a:t>The same filter is applied to:</a:t>
            </a:r>
          </a:p>
          <a:p>
            <a:pPr lvl="1"/>
            <a:r>
              <a:rPr lang="en-GB" dirty="0"/>
              <a:t>x[t+1], ..., x[</a:t>
            </a:r>
            <a:r>
              <a:rPr lang="en-GB" dirty="0" err="1"/>
              <a:t>t+K</a:t>
            </a:r>
            <a:r>
              <a:rPr lang="en-GB" dirty="0"/>
              <a:t>]</a:t>
            </a:r>
          </a:p>
          <a:p>
            <a:pPr lvl="1"/>
            <a:r>
              <a:rPr lang="en-GB" dirty="0"/>
              <a:t>then:</a:t>
            </a:r>
          </a:p>
          <a:p>
            <a:pPr lvl="1"/>
            <a:r>
              <a:rPr lang="en-GB" dirty="0"/>
              <a:t>x[t+2], ..., x[t+K+1]</a:t>
            </a:r>
          </a:p>
          <a:p>
            <a:pPr lvl="1"/>
            <a:r>
              <a:rPr lang="en-GB" dirty="0"/>
              <a:t>and so on.</a:t>
            </a:r>
          </a:p>
          <a:p>
            <a:endParaRPr lang="en-GB" b="1" dirty="0"/>
          </a:p>
          <a:p>
            <a:endParaRPr lang="en-GB" b="1" dirty="0"/>
          </a:p>
          <a:p>
            <a:r>
              <a:rPr lang="en-GB" dirty="0">
                <a:highlight>
                  <a:srgbClr val="FFFF00"/>
                </a:highlight>
              </a:rPr>
              <a:t>The same filter parameters are reused across time.</a:t>
            </a:r>
          </a:p>
          <a:p>
            <a:r>
              <a:rPr lang="en-GB" dirty="0"/>
              <a:t>This is </a:t>
            </a:r>
            <a:r>
              <a:rPr lang="en-GB" dirty="0">
                <a:highlight>
                  <a:srgbClr val="FFFF00"/>
                </a:highlight>
              </a:rPr>
              <a:t>analogous to parameter sharing in an RNN</a:t>
            </a:r>
            <a:r>
              <a:rPr lang="en-GB" dirty="0"/>
              <a:t>, but the computation is organized differently.</a:t>
            </a:r>
          </a:p>
          <a:p>
            <a:pPr lvl="1"/>
            <a:r>
              <a:rPr lang="en-GB" b="1" dirty="0"/>
              <a:t>RNN</a:t>
            </a:r>
          </a:p>
          <a:p>
            <a:pPr lvl="1"/>
            <a:r>
              <a:rPr lang="en-GB" dirty="0"/>
              <a:t>Shared transformation across recurrent state updates (and inputs).</a:t>
            </a:r>
          </a:p>
          <a:p>
            <a:pPr lvl="1"/>
            <a:r>
              <a:rPr lang="en-GB" b="1" dirty="0"/>
              <a:t>CNN</a:t>
            </a:r>
          </a:p>
          <a:p>
            <a:pPr lvl="1"/>
            <a:r>
              <a:rPr lang="en-GB" dirty="0"/>
              <a:t>Shared local detector across (segments of) temporal positions.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90023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08208" y="0"/>
            <a:ext cx="1380744" cy="6858000"/>
          </a:xfrm>
          <a:prstGeom prst="rect">
            <a:avLst/>
          </a:prstGeom>
          <a:solidFill>
            <a:srgbClr val="84B927">
              <a:alpha val="90000"/>
            </a:srgbClr>
          </a:solidFill>
          <a:ln w="12700">
            <a:solidFill>
              <a:srgbClr val="84B9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469880" y="0"/>
            <a:ext cx="256032" cy="6858000"/>
          </a:xfrm>
          <a:prstGeom prst="rect">
            <a:avLst/>
          </a:prstGeom>
          <a:solidFill>
            <a:srgbClr val="EAF6D6">
              <a:alpha val="90000"/>
            </a:srgbClr>
          </a:solidFill>
          <a:ln w="12700">
            <a:solidFill>
              <a:srgbClr val="EAF6D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458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local region to learned activation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8412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75569"/>
                </a:solidFill>
              </a:rPr>
              <a:t>A temporal filter converts a short subsequence into one response value.</a:t>
            </a:r>
            <a:endParaRPr lang="en-US" sz="1150" b="1" dirty="0"/>
          </a:p>
        </p:txBody>
      </p:sp>
      <p:sp>
        <p:nvSpPr>
          <p:cNvPr id="6" name="Shape 4"/>
          <p:cNvSpPr/>
          <p:nvPr/>
        </p:nvSpPr>
        <p:spPr>
          <a:xfrm>
            <a:off x="777240" y="2011680"/>
            <a:ext cx="429768" cy="384048"/>
          </a:xfrm>
          <a:prstGeom prst="roundRect">
            <a:avLst>
              <a:gd name="adj" fmla="val 1904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850392" y="2093976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11827"/>
                </a:solidFill>
              </a:rPr>
              <a:t>x[t+0]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280160" y="2011680"/>
            <a:ext cx="429768" cy="384048"/>
          </a:xfrm>
          <a:prstGeom prst="roundRect">
            <a:avLst>
              <a:gd name="adj" fmla="val 1904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353312" y="2093976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11827"/>
                </a:solidFill>
              </a:rPr>
              <a:t>x[t+1]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783080" y="2011680"/>
            <a:ext cx="429768" cy="384048"/>
          </a:xfrm>
          <a:prstGeom prst="roundRect">
            <a:avLst>
              <a:gd name="adj" fmla="val 1904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856232" y="2093976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11827"/>
                </a:solidFill>
              </a:rPr>
              <a:t>x[t+2]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286000" y="2011680"/>
            <a:ext cx="429768" cy="384048"/>
          </a:xfrm>
          <a:prstGeom prst="roundRect">
            <a:avLst>
              <a:gd name="adj" fmla="val 1904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2359152" y="2093976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11827"/>
                </a:solidFill>
              </a:rPr>
              <a:t>x[t+3]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788920" y="2011680"/>
            <a:ext cx="429768" cy="384048"/>
          </a:xfrm>
          <a:prstGeom prst="roundRect">
            <a:avLst>
              <a:gd name="adj" fmla="val 1904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2862072" y="2093976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11827"/>
                </a:solidFill>
              </a:rPr>
              <a:t>x[t+4]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91840" y="2011680"/>
            <a:ext cx="429768" cy="384048"/>
          </a:xfrm>
          <a:prstGeom prst="roundRect">
            <a:avLst>
              <a:gd name="adj" fmla="val 1904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3364992" y="2093976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11827"/>
                </a:solidFill>
              </a:rPr>
              <a:t>x[t+5]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872484" y="2072070"/>
            <a:ext cx="429768" cy="384048"/>
          </a:xfrm>
          <a:prstGeom prst="roundRect">
            <a:avLst>
              <a:gd name="adj" fmla="val 1904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3945636" y="2154366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11827"/>
                </a:solidFill>
              </a:rPr>
              <a:t>x[t+6]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216152" y="1874520"/>
            <a:ext cx="1508760" cy="658368"/>
          </a:xfrm>
          <a:prstGeom prst="roundRect">
            <a:avLst>
              <a:gd name="adj" fmla="val 6944"/>
            </a:avLst>
          </a:prstGeom>
          <a:solidFill>
            <a:srgbClr val="EAF6D6">
              <a:alpha val="70000"/>
            </a:srgbClr>
          </a:solidFill>
          <a:ln w="25400">
            <a:solidFill>
              <a:srgbClr val="84B9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1353312" y="15087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7F2B"/>
                </a:solidFill>
              </a:rPr>
              <a:t>local region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4F7F2B"/>
                </a:solidFill>
              </a:rPr>
              <a:t>K = 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017520" y="2203704"/>
            <a:ext cx="685800" cy="0"/>
          </a:xfrm>
          <a:prstGeom prst="line">
            <a:avLst/>
          </a:prstGeom>
          <a:noFill/>
          <a:ln w="2032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3826764" y="1843470"/>
            <a:ext cx="1143000" cy="822960"/>
          </a:xfrm>
          <a:prstGeom prst="roundRect">
            <a:avLst>
              <a:gd name="adj" fmla="val 8889"/>
            </a:avLst>
          </a:prstGeom>
          <a:solidFill>
            <a:srgbClr val="EEF2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3899916" y="2145222"/>
            <a:ext cx="996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</a:rPr>
              <a:t>learned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</a:rPr>
              <a:t>filter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152644" y="2264094"/>
            <a:ext cx="685800" cy="0"/>
          </a:xfrm>
          <a:prstGeom prst="line">
            <a:avLst/>
          </a:prstGeom>
          <a:noFill/>
          <a:ln w="2032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5911596" y="1907478"/>
            <a:ext cx="1234440" cy="685800"/>
          </a:xfrm>
          <a:prstGeom prst="roundRect">
            <a:avLst>
              <a:gd name="adj" fmla="val 10667"/>
            </a:avLst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5984748" y="2140650"/>
            <a:ext cx="1088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</a:rPr>
              <a:t>activation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</a:rPr>
              <a:t>2.8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77240" y="370332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1827"/>
                </a:solidFill>
              </a:rPr>
              <a:t>The same filter then moves to the next local region.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09828" y="4384548"/>
            <a:ext cx="100584" cy="100584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1239012" y="4384548"/>
            <a:ext cx="100584" cy="100584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1568196" y="4384548"/>
            <a:ext cx="100584" cy="100584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1897380" y="4384548"/>
            <a:ext cx="100584" cy="100584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2226564" y="4384548"/>
            <a:ext cx="100584" cy="100584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2555748" y="4384548"/>
            <a:ext cx="100584" cy="100584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2884932" y="4384548"/>
            <a:ext cx="100584" cy="100584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914400" y="4297680"/>
            <a:ext cx="932688" cy="274320"/>
          </a:xfrm>
          <a:prstGeom prst="roundRect">
            <a:avLst>
              <a:gd name="adj" fmla="val 10000"/>
            </a:avLst>
          </a:prstGeom>
          <a:solidFill>
            <a:srgbClr val="EAF6D6">
              <a:alpha val="55000"/>
            </a:srgbClr>
          </a:solidFill>
          <a:ln w="15240">
            <a:solidFill>
              <a:srgbClr val="84B9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909828" y="4786884"/>
            <a:ext cx="100584" cy="100584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1239012" y="4786884"/>
            <a:ext cx="100584" cy="100584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1568196" y="4786884"/>
            <a:ext cx="100584" cy="100584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1897380" y="4786884"/>
            <a:ext cx="100584" cy="100584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Shape 39"/>
          <p:cNvSpPr/>
          <p:nvPr/>
        </p:nvSpPr>
        <p:spPr>
          <a:xfrm>
            <a:off x="2226564" y="4786884"/>
            <a:ext cx="100584" cy="100584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Shape 40"/>
          <p:cNvSpPr/>
          <p:nvPr/>
        </p:nvSpPr>
        <p:spPr>
          <a:xfrm>
            <a:off x="2555748" y="4786884"/>
            <a:ext cx="100584" cy="100584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41"/>
          <p:cNvSpPr/>
          <p:nvPr/>
        </p:nvSpPr>
        <p:spPr>
          <a:xfrm>
            <a:off x="2884932" y="4786884"/>
            <a:ext cx="100584" cy="100584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Shape 42"/>
          <p:cNvSpPr/>
          <p:nvPr/>
        </p:nvSpPr>
        <p:spPr>
          <a:xfrm>
            <a:off x="1243584" y="4700016"/>
            <a:ext cx="932688" cy="274320"/>
          </a:xfrm>
          <a:prstGeom prst="roundRect">
            <a:avLst>
              <a:gd name="adj" fmla="val 10000"/>
            </a:avLst>
          </a:prstGeom>
          <a:solidFill>
            <a:srgbClr val="EAF6D6">
              <a:alpha val="55000"/>
            </a:srgbClr>
          </a:solidFill>
          <a:ln w="15240">
            <a:solidFill>
              <a:srgbClr val="84B9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Shape 43"/>
          <p:cNvSpPr/>
          <p:nvPr/>
        </p:nvSpPr>
        <p:spPr>
          <a:xfrm>
            <a:off x="909828" y="5189220"/>
            <a:ext cx="100584" cy="100584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Shape 44"/>
          <p:cNvSpPr/>
          <p:nvPr/>
        </p:nvSpPr>
        <p:spPr>
          <a:xfrm>
            <a:off x="1239012" y="5189220"/>
            <a:ext cx="100584" cy="100584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Shape 45"/>
          <p:cNvSpPr/>
          <p:nvPr/>
        </p:nvSpPr>
        <p:spPr>
          <a:xfrm>
            <a:off x="1568196" y="5189220"/>
            <a:ext cx="100584" cy="100584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Shape 46"/>
          <p:cNvSpPr/>
          <p:nvPr/>
        </p:nvSpPr>
        <p:spPr>
          <a:xfrm>
            <a:off x="1897380" y="5189220"/>
            <a:ext cx="100584" cy="100584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2226564" y="5189220"/>
            <a:ext cx="100584" cy="100584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Shape 48"/>
          <p:cNvSpPr/>
          <p:nvPr/>
        </p:nvSpPr>
        <p:spPr>
          <a:xfrm>
            <a:off x="2555748" y="5189220"/>
            <a:ext cx="100584" cy="100584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Shape 49"/>
          <p:cNvSpPr/>
          <p:nvPr/>
        </p:nvSpPr>
        <p:spPr>
          <a:xfrm>
            <a:off x="2884932" y="5189220"/>
            <a:ext cx="100584" cy="100584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Shape 50"/>
          <p:cNvSpPr/>
          <p:nvPr/>
        </p:nvSpPr>
        <p:spPr>
          <a:xfrm>
            <a:off x="1572768" y="5102352"/>
            <a:ext cx="932688" cy="274320"/>
          </a:xfrm>
          <a:prstGeom prst="roundRect">
            <a:avLst>
              <a:gd name="adj" fmla="val 10000"/>
            </a:avLst>
          </a:prstGeom>
          <a:solidFill>
            <a:srgbClr val="EAF6D6">
              <a:alpha val="55000"/>
            </a:srgbClr>
          </a:solidFill>
          <a:ln w="15240">
            <a:solidFill>
              <a:srgbClr val="84B9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Shape 51"/>
          <p:cNvSpPr/>
          <p:nvPr/>
        </p:nvSpPr>
        <p:spPr>
          <a:xfrm>
            <a:off x="502920" y="6236208"/>
            <a:ext cx="9829800" cy="411480"/>
          </a:xfrm>
          <a:prstGeom prst="rect">
            <a:avLst/>
          </a:prstGeom>
          <a:solidFill>
            <a:srgbClr val="FFFFFF">
              <a:alpha val="96000"/>
            </a:srgbClr>
          </a:solidFill>
          <a:ln w="7620">
            <a:solidFill>
              <a:srgbClr val="CBD5E1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Text 52"/>
          <p:cNvSpPr/>
          <p:nvPr/>
        </p:nvSpPr>
        <p:spPr>
          <a:xfrm>
            <a:off x="621792" y="6336792"/>
            <a:ext cx="9555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highlight>
                  <a:srgbClr val="FFFF00"/>
                </a:highlight>
              </a:rPr>
              <a:t>The activation is high when the local region matches the learned pattern represented by the filter.</a:t>
            </a:r>
            <a:endParaRPr lang="en-US" sz="1100" b="1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7ACC3DA-0219-BFC6-0AA5-7029103DD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Temporal convolution produces a feature map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31DEF20-B204-97B0-CD1F-EDC48FDC12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Suppose a filter is applied across the full input sequence.</a:t>
            </a:r>
          </a:p>
          <a:p>
            <a:r>
              <a:rPr lang="en-GB" dirty="0"/>
              <a:t>At every valid temporal position it produces one activation.</a:t>
            </a:r>
          </a:p>
          <a:p>
            <a:r>
              <a:rPr lang="en-GB" dirty="0">
                <a:highlight>
                  <a:srgbClr val="FFFF00"/>
                </a:highlight>
              </a:rPr>
              <a:t>The resulting sequence of activations is called a </a:t>
            </a:r>
            <a:r>
              <a:rPr lang="en-GB" b="1" dirty="0">
                <a:highlight>
                  <a:srgbClr val="FFFF00"/>
                </a:highlight>
              </a:rPr>
              <a:t>feature map</a:t>
            </a:r>
            <a:r>
              <a:rPr lang="en-GB" dirty="0">
                <a:highlight>
                  <a:srgbClr val="FFFF00"/>
                </a:highlight>
              </a:rPr>
              <a:t>.</a:t>
            </a:r>
          </a:p>
          <a:p>
            <a:r>
              <a:rPr lang="en-GB" dirty="0">
                <a:highlight>
                  <a:srgbClr val="FFFF00"/>
                </a:highlight>
              </a:rPr>
              <a:t>Large activations indicate locations where the learned pattern is strongly present.</a:t>
            </a:r>
          </a:p>
          <a:p>
            <a:endParaRPr lang="en-GB" b="1" dirty="0"/>
          </a:p>
          <a:p>
            <a:r>
              <a:rPr lang="en-GB" b="1" dirty="0">
                <a:highlight>
                  <a:srgbClr val="FFFF00"/>
                </a:highlight>
              </a:rPr>
              <a:t>Example</a:t>
            </a:r>
          </a:p>
          <a:p>
            <a:r>
              <a:rPr lang="en-GB" dirty="0"/>
              <a:t>A filter may become sensitive to:</a:t>
            </a:r>
          </a:p>
          <a:p>
            <a:pPr lvl="0"/>
            <a:r>
              <a:rPr lang="en-GB" dirty="0"/>
              <a:t>a sharp vibration peak followed by a decrease. </a:t>
            </a:r>
          </a:p>
          <a:p>
            <a:r>
              <a:rPr lang="en-GB" dirty="0"/>
              <a:t>Then the corresponding feature map will contain high values near occurrences of that pattern.</a:t>
            </a:r>
          </a:p>
          <a:p>
            <a:endParaRPr lang="en-GB" b="1" dirty="0"/>
          </a:p>
          <a:p>
            <a:r>
              <a:rPr lang="en-GB" dirty="0">
                <a:highlight>
                  <a:srgbClr val="FFFF00"/>
                </a:highlight>
              </a:rPr>
              <a:t>The model does not require us to specify the filter pattern manually.</a:t>
            </a:r>
          </a:p>
          <a:p>
            <a:r>
              <a:rPr lang="en-GB" dirty="0">
                <a:highlight>
                  <a:srgbClr val="FFFF00"/>
                </a:highlight>
              </a:rPr>
              <a:t>The filter weights are learned from the training objective.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85431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08208" y="0"/>
            <a:ext cx="1380744" cy="6858000"/>
          </a:xfrm>
          <a:prstGeom prst="rect">
            <a:avLst/>
          </a:prstGeom>
          <a:solidFill>
            <a:srgbClr val="84B927">
              <a:alpha val="90000"/>
            </a:srgbClr>
          </a:solidFill>
          <a:ln w="12700">
            <a:solidFill>
              <a:srgbClr val="84B9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469880" y="0"/>
            <a:ext cx="256032" cy="6858000"/>
          </a:xfrm>
          <a:prstGeom prst="rect">
            <a:avLst/>
          </a:prstGeom>
          <a:solidFill>
            <a:srgbClr val="EAF6D6">
              <a:alpha val="90000"/>
            </a:srgbClr>
          </a:solidFill>
          <a:ln w="12700">
            <a:solidFill>
              <a:srgbClr val="EAF6D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458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highlight>
                  <a:srgbClr val="FFFF00"/>
                </a:highlight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filter produces a temporal feature map</a:t>
            </a:r>
            <a:endParaRPr lang="en-US" sz="2600" dirty="0">
              <a:highlight>
                <a:srgbClr val="FFFF00"/>
              </a:highlight>
            </a:endParaRPr>
          </a:p>
        </p:txBody>
      </p:sp>
      <p:sp>
        <p:nvSpPr>
          <p:cNvPr id="5" name="Text 3"/>
          <p:cNvSpPr/>
          <p:nvPr/>
        </p:nvSpPr>
        <p:spPr>
          <a:xfrm>
            <a:off x="521208" y="8412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highlight>
                  <a:srgbClr val="FFFF00"/>
                </a:highlight>
              </a:rPr>
              <a:t>High values indicate positions where the learned pattern is present.</a:t>
            </a:r>
            <a:endParaRPr lang="en-US" sz="1150" dirty="0">
              <a:highlight>
                <a:srgbClr val="FFFF00"/>
              </a:highlight>
            </a:endParaRPr>
          </a:p>
        </p:txBody>
      </p:sp>
      <p:sp>
        <p:nvSpPr>
          <p:cNvPr id="6" name="Shape 4"/>
          <p:cNvSpPr/>
          <p:nvPr/>
        </p:nvSpPr>
        <p:spPr>
          <a:xfrm>
            <a:off x="731520" y="2194560"/>
            <a:ext cx="53943" cy="18417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785463" y="2212977"/>
            <a:ext cx="53943" cy="17816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839406" y="2230793"/>
            <a:ext cx="53943" cy="16635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893349" y="2247428"/>
            <a:ext cx="53943" cy="14911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947292" y="2262339"/>
            <a:ext cx="53943" cy="12701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1001235" y="2275040"/>
            <a:ext cx="53943" cy="10077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1055178" y="2285118"/>
            <a:ext cx="53943" cy="7125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1109121" y="2292242"/>
            <a:ext cx="53943" cy="394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1163064" y="2296183"/>
            <a:ext cx="53943" cy="627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1217007" y="2296809"/>
            <a:ext cx="53943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1270950" y="2294102"/>
            <a:ext cx="53943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1324893" y="2288150"/>
            <a:ext cx="53943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1378836" y="2279146"/>
            <a:ext cx="53943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1432779" y="2267385"/>
            <a:ext cx="53943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1486722" y="2253249"/>
            <a:ext cx="53943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1540665" y="2237199"/>
            <a:ext cx="53943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1594608" y="2219760"/>
            <a:ext cx="53943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1648551" y="2201499"/>
            <a:ext cx="53943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1702494" y="2183011"/>
            <a:ext cx="53943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1756437" y="2164900"/>
            <a:ext cx="53943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1810380" y="2147756"/>
            <a:ext cx="53943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1864323" y="2132139"/>
            <a:ext cx="53943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1918266" y="2118556"/>
            <a:ext cx="53943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1972209" y="2107451"/>
            <a:ext cx="53943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2026153" y="2099186"/>
            <a:ext cx="53943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2080096" y="2094031"/>
            <a:ext cx="53943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2134039" y="2092154"/>
            <a:ext cx="53943" cy="1461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2187982" y="2093615"/>
            <a:ext cx="53943" cy="4752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2241925" y="2098367"/>
            <a:ext cx="53943" cy="7888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2295868" y="2106255"/>
            <a:ext cx="53943" cy="10767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2349811" y="2117022"/>
            <a:ext cx="53943" cy="13294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2403754" y="2130316"/>
            <a:ext cx="53943" cy="15387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2457697" y="2145703"/>
            <a:ext cx="53943" cy="16978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2511640" y="2162681"/>
            <a:ext cx="53943" cy="18013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2565583" y="2180694"/>
            <a:ext cx="53943" cy="18459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Shape 39"/>
          <p:cNvSpPr/>
          <p:nvPr/>
        </p:nvSpPr>
        <p:spPr>
          <a:xfrm>
            <a:off x="2619526" y="2199154"/>
            <a:ext cx="53943" cy="1830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Shape 40"/>
          <p:cNvSpPr/>
          <p:nvPr/>
        </p:nvSpPr>
        <p:spPr>
          <a:xfrm>
            <a:off x="2673469" y="2217453"/>
            <a:ext cx="53943" cy="17538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41"/>
          <p:cNvSpPr/>
          <p:nvPr/>
        </p:nvSpPr>
        <p:spPr>
          <a:xfrm>
            <a:off x="2727412" y="2234992"/>
            <a:ext cx="53943" cy="16197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Shape 42"/>
          <p:cNvSpPr/>
          <p:nvPr/>
        </p:nvSpPr>
        <p:spPr>
          <a:xfrm>
            <a:off x="2781355" y="2251189"/>
            <a:ext cx="53943" cy="14316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Shape 43"/>
          <p:cNvSpPr/>
          <p:nvPr/>
        </p:nvSpPr>
        <p:spPr>
          <a:xfrm>
            <a:off x="2835298" y="2265505"/>
            <a:ext cx="53943" cy="11952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Shape 44"/>
          <p:cNvSpPr/>
          <p:nvPr/>
        </p:nvSpPr>
        <p:spPr>
          <a:xfrm>
            <a:off x="2889241" y="2277456"/>
            <a:ext cx="53943" cy="9174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Shape 45"/>
          <p:cNvSpPr/>
          <p:nvPr/>
        </p:nvSpPr>
        <p:spPr>
          <a:xfrm>
            <a:off x="2943184" y="2286631"/>
            <a:ext cx="53943" cy="6067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Shape 46"/>
          <p:cNvSpPr/>
          <p:nvPr/>
        </p:nvSpPr>
        <p:spPr>
          <a:xfrm>
            <a:off x="2997127" y="2292697"/>
            <a:ext cx="53943" cy="2719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3051070" y="2295416"/>
            <a:ext cx="53943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Shape 48"/>
          <p:cNvSpPr/>
          <p:nvPr/>
        </p:nvSpPr>
        <p:spPr>
          <a:xfrm>
            <a:off x="3105013" y="2294643"/>
            <a:ext cx="53943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Shape 49"/>
          <p:cNvSpPr/>
          <p:nvPr/>
        </p:nvSpPr>
        <p:spPr>
          <a:xfrm>
            <a:off x="3158956" y="2290334"/>
            <a:ext cx="53943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Shape 50"/>
          <p:cNvSpPr/>
          <p:nvPr/>
        </p:nvSpPr>
        <p:spPr>
          <a:xfrm>
            <a:off x="3212899" y="2282540"/>
            <a:ext cx="53943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Shape 51"/>
          <p:cNvSpPr/>
          <p:nvPr/>
        </p:nvSpPr>
        <p:spPr>
          <a:xfrm>
            <a:off x="3266842" y="2271410"/>
            <a:ext cx="53943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Shape 52"/>
          <p:cNvSpPr/>
          <p:nvPr/>
        </p:nvSpPr>
        <p:spPr>
          <a:xfrm>
            <a:off x="3320785" y="2257177"/>
            <a:ext cx="53943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Shape 53"/>
          <p:cNvSpPr/>
          <p:nvPr/>
        </p:nvSpPr>
        <p:spPr>
          <a:xfrm>
            <a:off x="3374728" y="2240159"/>
            <a:ext cx="53943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Shape 54"/>
          <p:cNvSpPr/>
          <p:nvPr/>
        </p:nvSpPr>
        <p:spPr>
          <a:xfrm>
            <a:off x="3428671" y="2220745"/>
            <a:ext cx="53943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Shape 55"/>
          <p:cNvSpPr/>
          <p:nvPr/>
        </p:nvSpPr>
        <p:spPr>
          <a:xfrm>
            <a:off x="3482614" y="2199384"/>
            <a:ext cx="53943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Shape 56"/>
          <p:cNvSpPr/>
          <p:nvPr/>
        </p:nvSpPr>
        <p:spPr>
          <a:xfrm>
            <a:off x="3536557" y="2176582"/>
            <a:ext cx="53943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Shape 57"/>
          <p:cNvSpPr/>
          <p:nvPr/>
        </p:nvSpPr>
        <p:spPr>
          <a:xfrm>
            <a:off x="3590500" y="2152885"/>
            <a:ext cx="53943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Shape 58"/>
          <p:cNvSpPr/>
          <p:nvPr/>
        </p:nvSpPr>
        <p:spPr>
          <a:xfrm>
            <a:off x="3644443" y="2128872"/>
            <a:ext cx="53943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Shape 59"/>
          <p:cNvSpPr/>
          <p:nvPr/>
        </p:nvSpPr>
        <p:spPr>
          <a:xfrm>
            <a:off x="3698386" y="2105147"/>
            <a:ext cx="53943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" name="Shape 60"/>
          <p:cNvSpPr/>
          <p:nvPr/>
        </p:nvSpPr>
        <p:spPr>
          <a:xfrm>
            <a:off x="3752329" y="2082324"/>
            <a:ext cx="53943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Shape 61"/>
          <p:cNvSpPr/>
          <p:nvPr/>
        </p:nvSpPr>
        <p:spPr>
          <a:xfrm>
            <a:off x="3806272" y="2061016"/>
            <a:ext cx="53943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Shape 62"/>
          <p:cNvSpPr/>
          <p:nvPr/>
        </p:nvSpPr>
        <p:spPr>
          <a:xfrm>
            <a:off x="3860215" y="2041823"/>
            <a:ext cx="53943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Shape 63"/>
          <p:cNvSpPr/>
          <p:nvPr/>
        </p:nvSpPr>
        <p:spPr>
          <a:xfrm>
            <a:off x="3914158" y="2025316"/>
            <a:ext cx="53943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" name="Shape 64"/>
          <p:cNvSpPr/>
          <p:nvPr/>
        </p:nvSpPr>
        <p:spPr>
          <a:xfrm>
            <a:off x="3968101" y="2012015"/>
            <a:ext cx="53943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7" name="Shape 65"/>
          <p:cNvSpPr/>
          <p:nvPr/>
        </p:nvSpPr>
        <p:spPr>
          <a:xfrm>
            <a:off x="4022044" y="2002373"/>
            <a:ext cx="53943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8" name="Shape 66"/>
          <p:cNvSpPr/>
          <p:nvPr/>
        </p:nvSpPr>
        <p:spPr>
          <a:xfrm>
            <a:off x="4075987" y="1996752"/>
            <a:ext cx="53943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9" name="Shape 67"/>
          <p:cNvSpPr/>
          <p:nvPr/>
        </p:nvSpPr>
        <p:spPr>
          <a:xfrm>
            <a:off x="4129930" y="1995403"/>
            <a:ext cx="53943" cy="3042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0" name="Shape 68"/>
          <p:cNvSpPr/>
          <p:nvPr/>
        </p:nvSpPr>
        <p:spPr>
          <a:xfrm>
            <a:off x="4183873" y="1998445"/>
            <a:ext cx="53943" cy="7406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1" name="Shape 69"/>
          <p:cNvSpPr/>
          <p:nvPr/>
        </p:nvSpPr>
        <p:spPr>
          <a:xfrm>
            <a:off x="4237816" y="2005850"/>
            <a:ext cx="53943" cy="11586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2" name="Shape 70"/>
          <p:cNvSpPr/>
          <p:nvPr/>
        </p:nvSpPr>
        <p:spPr>
          <a:xfrm>
            <a:off x="4291759" y="2017436"/>
            <a:ext cx="53943" cy="15422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3" name="Shape 71"/>
          <p:cNvSpPr/>
          <p:nvPr/>
        </p:nvSpPr>
        <p:spPr>
          <a:xfrm>
            <a:off x="4345702" y="2032858"/>
            <a:ext cx="53943" cy="18763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4" name="Shape 72"/>
          <p:cNvSpPr/>
          <p:nvPr/>
        </p:nvSpPr>
        <p:spPr>
          <a:xfrm>
            <a:off x="4399645" y="2051621"/>
            <a:ext cx="53943" cy="21469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5" name="Shape 73"/>
          <p:cNvSpPr/>
          <p:nvPr/>
        </p:nvSpPr>
        <p:spPr>
          <a:xfrm>
            <a:off x="4453588" y="2073089"/>
            <a:ext cx="53943" cy="23426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6" name="Shape 74"/>
          <p:cNvSpPr/>
          <p:nvPr/>
        </p:nvSpPr>
        <p:spPr>
          <a:xfrm>
            <a:off x="4507532" y="2096516"/>
            <a:ext cx="53943" cy="24554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7" name="Shape 75"/>
          <p:cNvSpPr/>
          <p:nvPr/>
        </p:nvSpPr>
        <p:spPr>
          <a:xfrm>
            <a:off x="4561475" y="2121069"/>
            <a:ext cx="53943" cy="24805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8" name="Shape 76"/>
          <p:cNvSpPr/>
          <p:nvPr/>
        </p:nvSpPr>
        <p:spPr>
          <a:xfrm>
            <a:off x="4615418" y="2145874"/>
            <a:ext cx="53943" cy="24175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9" name="Shape 77"/>
          <p:cNvSpPr/>
          <p:nvPr/>
        </p:nvSpPr>
        <p:spPr>
          <a:xfrm>
            <a:off x="4669361" y="2170050"/>
            <a:ext cx="53943" cy="2270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0" name="Shape 78"/>
          <p:cNvSpPr/>
          <p:nvPr/>
        </p:nvSpPr>
        <p:spPr>
          <a:xfrm>
            <a:off x="4723304" y="2192749"/>
            <a:ext cx="53943" cy="20451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1" name="Shape 79"/>
          <p:cNvSpPr/>
          <p:nvPr/>
        </p:nvSpPr>
        <p:spPr>
          <a:xfrm>
            <a:off x="4777247" y="2213200"/>
            <a:ext cx="53943" cy="17537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2" name="Shape 80"/>
          <p:cNvSpPr/>
          <p:nvPr/>
        </p:nvSpPr>
        <p:spPr>
          <a:xfrm>
            <a:off x="4831190" y="2230737"/>
            <a:ext cx="53943" cy="14089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3" name="Shape 81"/>
          <p:cNvSpPr/>
          <p:nvPr/>
        </p:nvSpPr>
        <p:spPr>
          <a:xfrm>
            <a:off x="4885133" y="2244826"/>
            <a:ext cx="53943" cy="1026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4" name="Shape 82"/>
          <p:cNvSpPr/>
          <p:nvPr/>
        </p:nvSpPr>
        <p:spPr>
          <a:xfrm>
            <a:off x="4939076" y="2255086"/>
            <a:ext cx="53943" cy="6212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5" name="Shape 83"/>
          <p:cNvSpPr/>
          <p:nvPr/>
        </p:nvSpPr>
        <p:spPr>
          <a:xfrm>
            <a:off x="4993019" y="2261298"/>
            <a:ext cx="53943" cy="2109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6" name="Shape 84"/>
          <p:cNvSpPr/>
          <p:nvPr/>
        </p:nvSpPr>
        <p:spPr>
          <a:xfrm>
            <a:off x="5046962" y="2263407"/>
            <a:ext cx="53943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7" name="Shape 85"/>
          <p:cNvSpPr/>
          <p:nvPr/>
        </p:nvSpPr>
        <p:spPr>
          <a:xfrm>
            <a:off x="5100905" y="2261515"/>
            <a:ext cx="53943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8" name="Shape 86"/>
          <p:cNvSpPr/>
          <p:nvPr/>
        </p:nvSpPr>
        <p:spPr>
          <a:xfrm>
            <a:off x="5154848" y="2255874"/>
            <a:ext cx="53943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9" name="Shape 87"/>
          <p:cNvSpPr/>
          <p:nvPr/>
        </p:nvSpPr>
        <p:spPr>
          <a:xfrm>
            <a:off x="5208791" y="2246862"/>
            <a:ext cx="53943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0" name="Shape 88"/>
          <p:cNvSpPr/>
          <p:nvPr/>
        </p:nvSpPr>
        <p:spPr>
          <a:xfrm>
            <a:off x="5262734" y="2234970"/>
            <a:ext cx="53943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1" name="Shape 89"/>
          <p:cNvSpPr/>
          <p:nvPr/>
        </p:nvSpPr>
        <p:spPr>
          <a:xfrm>
            <a:off x="5316677" y="2220771"/>
            <a:ext cx="53943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2" name="Shape 90"/>
          <p:cNvSpPr/>
          <p:nvPr/>
        </p:nvSpPr>
        <p:spPr>
          <a:xfrm>
            <a:off x="5370620" y="2204903"/>
            <a:ext cx="53943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3" name="Shape 91"/>
          <p:cNvSpPr/>
          <p:nvPr/>
        </p:nvSpPr>
        <p:spPr>
          <a:xfrm>
            <a:off x="5424563" y="2188040"/>
            <a:ext cx="53943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4" name="Shape 92"/>
          <p:cNvSpPr/>
          <p:nvPr/>
        </p:nvSpPr>
        <p:spPr>
          <a:xfrm>
            <a:off x="5478506" y="2170866"/>
            <a:ext cx="53943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5" name="Shape 93"/>
          <p:cNvSpPr/>
          <p:nvPr/>
        </p:nvSpPr>
        <p:spPr>
          <a:xfrm>
            <a:off x="5532449" y="2154059"/>
            <a:ext cx="53943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6" name="Shape 94"/>
          <p:cNvSpPr/>
          <p:nvPr/>
        </p:nvSpPr>
        <p:spPr>
          <a:xfrm>
            <a:off x="5586392" y="2138262"/>
            <a:ext cx="53943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7" name="Shape 95"/>
          <p:cNvSpPr/>
          <p:nvPr/>
        </p:nvSpPr>
        <p:spPr>
          <a:xfrm>
            <a:off x="5640335" y="2124068"/>
            <a:ext cx="53943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8" name="Shape 96"/>
          <p:cNvSpPr/>
          <p:nvPr/>
        </p:nvSpPr>
        <p:spPr>
          <a:xfrm>
            <a:off x="5694278" y="2112003"/>
            <a:ext cx="53943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9" name="Shape 97"/>
          <p:cNvSpPr/>
          <p:nvPr/>
        </p:nvSpPr>
        <p:spPr>
          <a:xfrm>
            <a:off x="5748221" y="2102505"/>
            <a:ext cx="53943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0" name="Shape 98"/>
          <p:cNvSpPr/>
          <p:nvPr/>
        </p:nvSpPr>
        <p:spPr>
          <a:xfrm>
            <a:off x="5802164" y="2095922"/>
            <a:ext cx="53943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1" name="Shape 99"/>
          <p:cNvSpPr/>
          <p:nvPr/>
        </p:nvSpPr>
        <p:spPr>
          <a:xfrm>
            <a:off x="5856107" y="2092495"/>
            <a:ext cx="53943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2" name="Shape 100"/>
          <p:cNvSpPr/>
          <p:nvPr/>
        </p:nvSpPr>
        <p:spPr>
          <a:xfrm>
            <a:off x="5910050" y="2092353"/>
            <a:ext cx="53943" cy="3163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3" name="Shape 101"/>
          <p:cNvSpPr/>
          <p:nvPr/>
        </p:nvSpPr>
        <p:spPr>
          <a:xfrm>
            <a:off x="5963993" y="2095517"/>
            <a:ext cx="53943" cy="6374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4" name="Shape 102"/>
          <p:cNvSpPr/>
          <p:nvPr/>
        </p:nvSpPr>
        <p:spPr>
          <a:xfrm>
            <a:off x="6017936" y="2101891"/>
            <a:ext cx="53943" cy="9384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5" name="Shape 103"/>
          <p:cNvSpPr/>
          <p:nvPr/>
        </p:nvSpPr>
        <p:spPr>
          <a:xfrm>
            <a:off x="6071879" y="2111274"/>
            <a:ext cx="53943" cy="12092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6" name="Shape 104"/>
          <p:cNvSpPr/>
          <p:nvPr/>
        </p:nvSpPr>
        <p:spPr>
          <a:xfrm>
            <a:off x="6125822" y="2123366"/>
            <a:ext cx="53943" cy="14408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7" name="Shape 105"/>
          <p:cNvSpPr/>
          <p:nvPr/>
        </p:nvSpPr>
        <p:spPr>
          <a:xfrm>
            <a:off x="6179765" y="2137774"/>
            <a:ext cx="53943" cy="16257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8" name="Shape 106"/>
          <p:cNvSpPr/>
          <p:nvPr/>
        </p:nvSpPr>
        <p:spPr>
          <a:xfrm>
            <a:off x="6233708" y="2154031"/>
            <a:ext cx="53943" cy="17576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9" name="Shape 107"/>
          <p:cNvSpPr/>
          <p:nvPr/>
        </p:nvSpPr>
        <p:spPr>
          <a:xfrm>
            <a:off x="6287651" y="2171607"/>
            <a:ext cx="53943" cy="18324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0" name="Shape 108"/>
          <p:cNvSpPr/>
          <p:nvPr/>
        </p:nvSpPr>
        <p:spPr>
          <a:xfrm>
            <a:off x="6341594" y="2189931"/>
            <a:ext cx="53943" cy="18474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1" name="Shape 109"/>
          <p:cNvSpPr/>
          <p:nvPr/>
        </p:nvSpPr>
        <p:spPr>
          <a:xfrm>
            <a:off x="6395537" y="2208405"/>
            <a:ext cx="53943" cy="18022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2" name="Shape 110"/>
          <p:cNvSpPr/>
          <p:nvPr/>
        </p:nvSpPr>
        <p:spPr>
          <a:xfrm>
            <a:off x="6449480" y="2226427"/>
            <a:ext cx="53943" cy="16983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3" name="Shape 111"/>
          <p:cNvSpPr/>
          <p:nvPr/>
        </p:nvSpPr>
        <p:spPr>
          <a:xfrm>
            <a:off x="6503423" y="2243410"/>
            <a:ext cx="53943" cy="1539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4" name="Shape 112"/>
          <p:cNvSpPr/>
          <p:nvPr/>
        </p:nvSpPr>
        <p:spPr>
          <a:xfrm>
            <a:off x="6557366" y="2258800"/>
            <a:ext cx="53943" cy="13296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5" name="Shape 113"/>
          <p:cNvSpPr/>
          <p:nvPr/>
        </p:nvSpPr>
        <p:spPr>
          <a:xfrm>
            <a:off x="6611309" y="2272096"/>
            <a:ext cx="53943" cy="10768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6" name="Shape 114"/>
          <p:cNvSpPr/>
          <p:nvPr/>
        </p:nvSpPr>
        <p:spPr>
          <a:xfrm>
            <a:off x="6665252" y="2282864"/>
            <a:ext cx="53943" cy="7889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7" name="Shape 115"/>
          <p:cNvSpPr/>
          <p:nvPr/>
        </p:nvSpPr>
        <p:spPr>
          <a:xfrm>
            <a:off x="6719195" y="2290752"/>
            <a:ext cx="53943" cy="4752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8" name="Shape 116"/>
          <p:cNvSpPr/>
          <p:nvPr/>
        </p:nvSpPr>
        <p:spPr>
          <a:xfrm>
            <a:off x="6773138" y="2295505"/>
            <a:ext cx="53943" cy="1461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9" name="Shape 117"/>
          <p:cNvSpPr/>
          <p:nvPr/>
        </p:nvSpPr>
        <p:spPr>
          <a:xfrm>
            <a:off x="6827081" y="2296966"/>
            <a:ext cx="53943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0" name="Shape 118"/>
          <p:cNvSpPr/>
          <p:nvPr/>
        </p:nvSpPr>
        <p:spPr>
          <a:xfrm>
            <a:off x="6881024" y="2295089"/>
            <a:ext cx="53943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1" name="Shape 119"/>
          <p:cNvSpPr/>
          <p:nvPr/>
        </p:nvSpPr>
        <p:spPr>
          <a:xfrm>
            <a:off x="6934967" y="2289934"/>
            <a:ext cx="53943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2" name="Shape 120"/>
          <p:cNvSpPr/>
          <p:nvPr/>
        </p:nvSpPr>
        <p:spPr>
          <a:xfrm>
            <a:off x="6988911" y="2281669"/>
            <a:ext cx="53943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3" name="Shape 121"/>
          <p:cNvSpPr/>
          <p:nvPr/>
        </p:nvSpPr>
        <p:spPr>
          <a:xfrm>
            <a:off x="7042854" y="2270564"/>
            <a:ext cx="53943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4" name="Shape 122"/>
          <p:cNvSpPr/>
          <p:nvPr/>
        </p:nvSpPr>
        <p:spPr>
          <a:xfrm>
            <a:off x="7096797" y="2256981"/>
            <a:ext cx="53943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5" name="Shape 123"/>
          <p:cNvSpPr/>
          <p:nvPr/>
        </p:nvSpPr>
        <p:spPr>
          <a:xfrm>
            <a:off x="7150740" y="2241364"/>
            <a:ext cx="53943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6" name="Shape 124"/>
          <p:cNvSpPr/>
          <p:nvPr/>
        </p:nvSpPr>
        <p:spPr>
          <a:xfrm>
            <a:off x="7204683" y="2224220"/>
            <a:ext cx="53943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7" name="Shape 125"/>
          <p:cNvSpPr/>
          <p:nvPr/>
        </p:nvSpPr>
        <p:spPr>
          <a:xfrm>
            <a:off x="7258626" y="2206109"/>
            <a:ext cx="53943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8" name="Shape 126"/>
          <p:cNvSpPr/>
          <p:nvPr/>
        </p:nvSpPr>
        <p:spPr>
          <a:xfrm>
            <a:off x="7312569" y="2187621"/>
            <a:ext cx="53943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9" name="Shape 127"/>
          <p:cNvSpPr/>
          <p:nvPr/>
        </p:nvSpPr>
        <p:spPr>
          <a:xfrm>
            <a:off x="7366512" y="2169360"/>
            <a:ext cx="53943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0" name="Shape 128"/>
          <p:cNvSpPr/>
          <p:nvPr/>
        </p:nvSpPr>
        <p:spPr>
          <a:xfrm>
            <a:off x="7420455" y="2151921"/>
            <a:ext cx="53943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1" name="Shape 129"/>
          <p:cNvSpPr/>
          <p:nvPr/>
        </p:nvSpPr>
        <p:spPr>
          <a:xfrm>
            <a:off x="7474398" y="2135871"/>
            <a:ext cx="53943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2" name="Shape 130"/>
          <p:cNvSpPr/>
          <p:nvPr/>
        </p:nvSpPr>
        <p:spPr>
          <a:xfrm>
            <a:off x="7528341" y="2121735"/>
            <a:ext cx="53943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3" name="Shape 131"/>
          <p:cNvSpPr/>
          <p:nvPr/>
        </p:nvSpPr>
        <p:spPr>
          <a:xfrm>
            <a:off x="7582284" y="2109974"/>
            <a:ext cx="53943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4" name="Shape 132"/>
          <p:cNvSpPr/>
          <p:nvPr/>
        </p:nvSpPr>
        <p:spPr>
          <a:xfrm>
            <a:off x="7636227" y="2100970"/>
            <a:ext cx="53943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5" name="Shape 133"/>
          <p:cNvSpPr/>
          <p:nvPr/>
        </p:nvSpPr>
        <p:spPr>
          <a:xfrm>
            <a:off x="7690170" y="2095018"/>
            <a:ext cx="53943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6" name="Shape 134"/>
          <p:cNvSpPr/>
          <p:nvPr/>
        </p:nvSpPr>
        <p:spPr>
          <a:xfrm>
            <a:off x="7744113" y="2092311"/>
            <a:ext cx="53943" cy="627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7" name="Shape 135"/>
          <p:cNvSpPr/>
          <p:nvPr/>
        </p:nvSpPr>
        <p:spPr>
          <a:xfrm>
            <a:off x="7798056" y="2092937"/>
            <a:ext cx="53943" cy="394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8" name="Shape 136"/>
          <p:cNvSpPr/>
          <p:nvPr/>
        </p:nvSpPr>
        <p:spPr>
          <a:xfrm>
            <a:off x="7851999" y="2096878"/>
            <a:ext cx="53943" cy="7125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9" name="Shape 137"/>
          <p:cNvSpPr/>
          <p:nvPr/>
        </p:nvSpPr>
        <p:spPr>
          <a:xfrm>
            <a:off x="7905942" y="2104002"/>
            <a:ext cx="53943" cy="10077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0" name="Shape 138"/>
          <p:cNvSpPr/>
          <p:nvPr/>
        </p:nvSpPr>
        <p:spPr>
          <a:xfrm>
            <a:off x="7959885" y="2114080"/>
            <a:ext cx="53943" cy="12701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1" name="Shape 139"/>
          <p:cNvSpPr/>
          <p:nvPr/>
        </p:nvSpPr>
        <p:spPr>
          <a:xfrm>
            <a:off x="8013828" y="2126781"/>
            <a:ext cx="53943" cy="14911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2" name="Shape 140"/>
          <p:cNvSpPr/>
          <p:nvPr/>
        </p:nvSpPr>
        <p:spPr>
          <a:xfrm>
            <a:off x="8067771" y="2141692"/>
            <a:ext cx="53943" cy="16635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3" name="Shape 141"/>
          <p:cNvSpPr/>
          <p:nvPr/>
        </p:nvSpPr>
        <p:spPr>
          <a:xfrm>
            <a:off x="8121714" y="2158327"/>
            <a:ext cx="53943" cy="17816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4" name="Shape 142"/>
          <p:cNvSpPr/>
          <p:nvPr/>
        </p:nvSpPr>
        <p:spPr>
          <a:xfrm>
            <a:off x="8175657" y="2176143"/>
            <a:ext cx="53943" cy="18417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5" name="Shape 143"/>
          <p:cNvSpPr/>
          <p:nvPr/>
        </p:nvSpPr>
        <p:spPr>
          <a:xfrm>
            <a:off x="3474720" y="1874520"/>
            <a:ext cx="777240" cy="457200"/>
          </a:xfrm>
          <a:prstGeom prst="roundRect">
            <a:avLst>
              <a:gd name="adj" fmla="val 6000"/>
            </a:avLst>
          </a:prstGeom>
          <a:solidFill>
            <a:srgbClr val="EAF6D6">
              <a:alpha val="70000"/>
            </a:srgbClr>
          </a:solidFill>
          <a:ln w="19050">
            <a:solidFill>
              <a:srgbClr val="84B9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6" name="Shape 144"/>
          <p:cNvSpPr/>
          <p:nvPr/>
        </p:nvSpPr>
        <p:spPr>
          <a:xfrm>
            <a:off x="3886200" y="1874520"/>
            <a:ext cx="777240" cy="457200"/>
          </a:xfrm>
          <a:prstGeom prst="roundRect">
            <a:avLst>
              <a:gd name="adj" fmla="val 6000"/>
            </a:avLst>
          </a:prstGeom>
          <a:solidFill>
            <a:srgbClr val="EAF6D6">
              <a:alpha val="70000"/>
            </a:srgbClr>
          </a:solidFill>
          <a:ln w="19050">
            <a:solidFill>
              <a:srgbClr val="84B9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7" name="Shape 145"/>
          <p:cNvSpPr/>
          <p:nvPr/>
        </p:nvSpPr>
        <p:spPr>
          <a:xfrm>
            <a:off x="6446520" y="1874520"/>
            <a:ext cx="777240" cy="457200"/>
          </a:xfrm>
          <a:prstGeom prst="roundRect">
            <a:avLst>
              <a:gd name="adj" fmla="val 6000"/>
            </a:avLst>
          </a:prstGeom>
          <a:solidFill>
            <a:srgbClr val="EAF6D6">
              <a:alpha val="70000"/>
            </a:srgbClr>
          </a:solidFill>
          <a:ln w="19050">
            <a:solidFill>
              <a:srgbClr val="84B9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8" name="Text 146"/>
          <p:cNvSpPr/>
          <p:nvPr/>
        </p:nvSpPr>
        <p:spPr>
          <a:xfrm>
            <a:off x="461804" y="2477643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filter scanning on input</a:t>
            </a:r>
            <a:endParaRPr lang="en-US" sz="1200" dirty="0"/>
          </a:p>
        </p:txBody>
      </p:sp>
      <p:sp>
        <p:nvSpPr>
          <p:cNvPr id="149" name="Shape 147"/>
          <p:cNvSpPr/>
          <p:nvPr/>
        </p:nvSpPr>
        <p:spPr>
          <a:xfrm>
            <a:off x="4206240" y="2788920"/>
            <a:ext cx="0" cy="50292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50" name="Text 148"/>
          <p:cNvSpPr/>
          <p:nvPr/>
        </p:nvSpPr>
        <p:spPr>
          <a:xfrm>
            <a:off x="3779834" y="34290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</a:rPr>
              <a:t>feature map</a:t>
            </a:r>
            <a:endParaRPr lang="en-US" sz="1200" dirty="0"/>
          </a:p>
        </p:txBody>
      </p:sp>
      <p:sp>
        <p:nvSpPr>
          <p:cNvPr id="151" name="Shape 149"/>
          <p:cNvSpPr/>
          <p:nvPr/>
        </p:nvSpPr>
        <p:spPr>
          <a:xfrm>
            <a:off x="914400" y="4722434"/>
            <a:ext cx="320040" cy="32446"/>
          </a:xfrm>
          <a:prstGeom prst="rect">
            <a:avLst/>
          </a:prstGeom>
          <a:solidFill>
            <a:srgbClr val="CBD5E1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2" name="Text 150"/>
          <p:cNvSpPr/>
          <p:nvPr/>
        </p:nvSpPr>
        <p:spPr>
          <a:xfrm>
            <a:off x="822960" y="486460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</a:rPr>
              <a:t>0.1</a:t>
            </a:r>
            <a:endParaRPr lang="en-US" sz="700" dirty="0"/>
          </a:p>
        </p:txBody>
      </p:sp>
      <p:sp>
        <p:nvSpPr>
          <p:cNvPr id="153" name="Shape 151"/>
          <p:cNvSpPr/>
          <p:nvPr/>
        </p:nvSpPr>
        <p:spPr>
          <a:xfrm>
            <a:off x="1481328" y="4689987"/>
            <a:ext cx="320040" cy="64893"/>
          </a:xfrm>
          <a:prstGeom prst="rect">
            <a:avLst/>
          </a:prstGeom>
          <a:solidFill>
            <a:srgbClr val="CBD5E1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4" name="Text 152"/>
          <p:cNvSpPr/>
          <p:nvPr/>
        </p:nvSpPr>
        <p:spPr>
          <a:xfrm>
            <a:off x="1389888" y="486460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</a:rPr>
              <a:t>0.2</a:t>
            </a:r>
            <a:endParaRPr lang="en-US" sz="700" dirty="0"/>
          </a:p>
        </p:txBody>
      </p:sp>
      <p:sp>
        <p:nvSpPr>
          <p:cNvPr id="155" name="Shape 153"/>
          <p:cNvSpPr/>
          <p:nvPr/>
        </p:nvSpPr>
        <p:spPr>
          <a:xfrm>
            <a:off x="2048256" y="4722434"/>
            <a:ext cx="320040" cy="32446"/>
          </a:xfrm>
          <a:prstGeom prst="rect">
            <a:avLst/>
          </a:prstGeom>
          <a:solidFill>
            <a:srgbClr val="CBD5E1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6" name="Text 154"/>
          <p:cNvSpPr/>
          <p:nvPr/>
        </p:nvSpPr>
        <p:spPr>
          <a:xfrm>
            <a:off x="1956816" y="486460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</a:rPr>
              <a:t>0.1</a:t>
            </a:r>
            <a:endParaRPr lang="en-US" sz="700" dirty="0"/>
          </a:p>
        </p:txBody>
      </p:sp>
      <p:sp>
        <p:nvSpPr>
          <p:cNvPr id="157" name="Shape 155"/>
          <p:cNvSpPr/>
          <p:nvPr/>
        </p:nvSpPr>
        <p:spPr>
          <a:xfrm>
            <a:off x="2615184" y="4625094"/>
            <a:ext cx="320040" cy="129786"/>
          </a:xfrm>
          <a:prstGeom prst="rect">
            <a:avLst/>
          </a:prstGeom>
          <a:solidFill>
            <a:srgbClr val="CBD5E1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8" name="Text 156"/>
          <p:cNvSpPr/>
          <p:nvPr/>
        </p:nvSpPr>
        <p:spPr>
          <a:xfrm>
            <a:off x="2523744" y="486460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</a:rPr>
              <a:t>0.4</a:t>
            </a:r>
            <a:endParaRPr lang="en-US" sz="700" dirty="0"/>
          </a:p>
        </p:txBody>
      </p:sp>
      <p:sp>
        <p:nvSpPr>
          <p:cNvPr id="159" name="Shape 157"/>
          <p:cNvSpPr/>
          <p:nvPr/>
        </p:nvSpPr>
        <p:spPr>
          <a:xfrm>
            <a:off x="3182112" y="3846379"/>
            <a:ext cx="320040" cy="908501"/>
          </a:xfrm>
          <a:prstGeom prst="rect">
            <a:avLst/>
          </a:prstGeom>
          <a:solidFill>
            <a:srgbClr val="84B927"/>
          </a:solidFill>
          <a:ln w="6350">
            <a:solidFill>
              <a:srgbClr val="4F7F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0" name="Text 158"/>
          <p:cNvSpPr/>
          <p:nvPr/>
        </p:nvSpPr>
        <p:spPr>
          <a:xfrm>
            <a:off x="3090672" y="486460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</a:rPr>
              <a:t>2.8</a:t>
            </a:r>
            <a:endParaRPr lang="en-US" sz="700" dirty="0"/>
          </a:p>
        </p:txBody>
      </p:sp>
      <p:sp>
        <p:nvSpPr>
          <p:cNvPr id="161" name="Shape 159"/>
          <p:cNvSpPr/>
          <p:nvPr/>
        </p:nvSpPr>
        <p:spPr>
          <a:xfrm>
            <a:off x="3749040" y="3749040"/>
            <a:ext cx="320040" cy="1005840"/>
          </a:xfrm>
          <a:prstGeom prst="rect">
            <a:avLst/>
          </a:prstGeom>
          <a:solidFill>
            <a:srgbClr val="84B927"/>
          </a:solidFill>
          <a:ln w="6350">
            <a:solidFill>
              <a:srgbClr val="4F7F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2" name="Text 160"/>
          <p:cNvSpPr/>
          <p:nvPr/>
        </p:nvSpPr>
        <p:spPr>
          <a:xfrm>
            <a:off x="3657600" y="486460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</a:rPr>
              <a:t>3.1</a:t>
            </a:r>
            <a:endParaRPr lang="en-US" sz="700" dirty="0"/>
          </a:p>
        </p:txBody>
      </p:sp>
      <p:sp>
        <p:nvSpPr>
          <p:cNvPr id="163" name="Shape 161"/>
          <p:cNvSpPr/>
          <p:nvPr/>
        </p:nvSpPr>
        <p:spPr>
          <a:xfrm>
            <a:off x="4315968" y="4625094"/>
            <a:ext cx="320040" cy="129786"/>
          </a:xfrm>
          <a:prstGeom prst="rect">
            <a:avLst/>
          </a:prstGeom>
          <a:solidFill>
            <a:srgbClr val="CBD5E1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4" name="Text 162"/>
          <p:cNvSpPr/>
          <p:nvPr/>
        </p:nvSpPr>
        <p:spPr>
          <a:xfrm>
            <a:off x="4224528" y="486460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</a:rPr>
              <a:t>0.4</a:t>
            </a:r>
            <a:endParaRPr lang="en-US" sz="700" dirty="0"/>
          </a:p>
        </p:txBody>
      </p:sp>
      <p:sp>
        <p:nvSpPr>
          <p:cNvPr id="165" name="Shape 163"/>
          <p:cNvSpPr/>
          <p:nvPr/>
        </p:nvSpPr>
        <p:spPr>
          <a:xfrm>
            <a:off x="4882896" y="4689987"/>
            <a:ext cx="320040" cy="64893"/>
          </a:xfrm>
          <a:prstGeom prst="rect">
            <a:avLst/>
          </a:prstGeom>
          <a:solidFill>
            <a:srgbClr val="CBD5E1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6" name="Text 164"/>
          <p:cNvSpPr/>
          <p:nvPr/>
        </p:nvSpPr>
        <p:spPr>
          <a:xfrm>
            <a:off x="4791456" y="486460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</a:rPr>
              <a:t>0.2</a:t>
            </a:r>
            <a:endParaRPr lang="en-US" sz="700" dirty="0"/>
          </a:p>
        </p:txBody>
      </p:sp>
      <p:sp>
        <p:nvSpPr>
          <p:cNvPr id="167" name="Shape 165"/>
          <p:cNvSpPr/>
          <p:nvPr/>
        </p:nvSpPr>
        <p:spPr>
          <a:xfrm>
            <a:off x="5449824" y="3976165"/>
            <a:ext cx="320040" cy="778715"/>
          </a:xfrm>
          <a:prstGeom prst="rect">
            <a:avLst/>
          </a:prstGeom>
          <a:solidFill>
            <a:srgbClr val="84B927"/>
          </a:solidFill>
          <a:ln w="6350">
            <a:solidFill>
              <a:srgbClr val="4F7F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8" name="Text 166"/>
          <p:cNvSpPr/>
          <p:nvPr/>
        </p:nvSpPr>
        <p:spPr>
          <a:xfrm>
            <a:off x="5358384" y="486460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</a:rPr>
              <a:t>2.4</a:t>
            </a:r>
            <a:endParaRPr lang="en-US" sz="700" dirty="0"/>
          </a:p>
        </p:txBody>
      </p:sp>
      <p:sp>
        <p:nvSpPr>
          <p:cNvPr id="169" name="Shape 167"/>
          <p:cNvSpPr/>
          <p:nvPr/>
        </p:nvSpPr>
        <p:spPr>
          <a:xfrm>
            <a:off x="6016752" y="4722434"/>
            <a:ext cx="320040" cy="32446"/>
          </a:xfrm>
          <a:prstGeom prst="rect">
            <a:avLst/>
          </a:prstGeom>
          <a:solidFill>
            <a:srgbClr val="CBD5E1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0" name="Text 168"/>
          <p:cNvSpPr/>
          <p:nvPr/>
        </p:nvSpPr>
        <p:spPr>
          <a:xfrm>
            <a:off x="5925312" y="486460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</a:rPr>
              <a:t>0.1</a:t>
            </a:r>
            <a:endParaRPr lang="en-US" sz="700" dirty="0"/>
          </a:p>
        </p:txBody>
      </p:sp>
      <p:sp>
        <p:nvSpPr>
          <p:cNvPr id="171" name="Text 169"/>
          <p:cNvSpPr/>
          <p:nvPr/>
        </p:nvSpPr>
        <p:spPr>
          <a:xfrm>
            <a:off x="6364224" y="451485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7F2B"/>
                </a:solidFill>
              </a:rPr>
              <a:t>large activations near detected pattern occurrences</a:t>
            </a:r>
            <a:endParaRPr lang="en-US" sz="1200" dirty="0"/>
          </a:p>
        </p:txBody>
      </p:sp>
      <p:sp>
        <p:nvSpPr>
          <p:cNvPr id="172" name="Shape 170"/>
          <p:cNvSpPr/>
          <p:nvPr/>
        </p:nvSpPr>
        <p:spPr>
          <a:xfrm>
            <a:off x="502920" y="6236208"/>
            <a:ext cx="9829800" cy="411480"/>
          </a:xfrm>
          <a:prstGeom prst="rect">
            <a:avLst/>
          </a:prstGeom>
          <a:solidFill>
            <a:srgbClr val="FFFFFF">
              <a:alpha val="96000"/>
            </a:srgbClr>
          </a:solidFill>
          <a:ln w="7620">
            <a:solidFill>
              <a:srgbClr val="CBD5E1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3" name="Text 171"/>
          <p:cNvSpPr/>
          <p:nvPr/>
        </p:nvSpPr>
        <p:spPr>
          <a:xfrm>
            <a:off x="621792" y="6336792"/>
            <a:ext cx="9555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One filter generates one feature map; a Conv1D layer usually learns many filters and many feature maps.</a:t>
            </a:r>
            <a:endParaRPr lang="en-US" sz="10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4D1E90E-B390-FAB0-40E8-C34A0E47D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Recurrence and convolution represent time differently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F8E06A2-B9DE-61F4-244F-3E7801FCE8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5418666" cy="3880772"/>
          </a:xfrm>
        </p:spPr>
        <p:txBody>
          <a:bodyPr>
            <a:normAutofit fontScale="85000" lnSpcReduction="20000"/>
          </a:bodyPr>
          <a:lstStyle/>
          <a:p>
            <a:r>
              <a:rPr lang="en-GB" b="1" dirty="0"/>
              <a:t>Recurrent model</a:t>
            </a:r>
          </a:p>
          <a:p>
            <a:r>
              <a:rPr lang="en-GB" dirty="0"/>
              <a:t>Temporal information is carried through an evolving state.</a:t>
            </a:r>
          </a:p>
          <a:p>
            <a:r>
              <a:rPr lang="en-GB" dirty="0"/>
              <a:t>x[1] → h[1] → h[2] → h[3] → h[4]</a:t>
            </a:r>
          </a:p>
          <a:p>
            <a:r>
              <a:rPr lang="en-GB" dirty="0"/>
              <a:t>          ↑        ↑         ↑</a:t>
            </a:r>
          </a:p>
          <a:p>
            <a:r>
              <a:rPr lang="en-GB" dirty="0"/>
              <a:t>         x[2]     x[3]     x[4]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3AAE7E6-090C-FA9D-1EF4-6657436A3C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81985" y="2065339"/>
            <a:ext cx="4184034" cy="3880773"/>
          </a:xfrm>
        </p:spPr>
        <p:txBody>
          <a:bodyPr>
            <a:normAutofit fontScale="85000" lnSpcReduction="20000"/>
          </a:bodyPr>
          <a:lstStyle/>
          <a:p>
            <a:r>
              <a:rPr lang="en-GB" b="1" dirty="0"/>
              <a:t>Convolutional model</a:t>
            </a:r>
          </a:p>
          <a:p>
            <a:r>
              <a:rPr lang="en-GB" dirty="0"/>
              <a:t>Temporal information is detected through overlapping local regions.</a:t>
            </a:r>
          </a:p>
          <a:p>
            <a:r>
              <a:rPr lang="en-GB" dirty="0"/>
              <a:t>input:</a:t>
            </a:r>
          </a:p>
          <a:p>
            <a:r>
              <a:rPr lang="en-GB" dirty="0"/>
              <a:t>x[1] x[2] x[3] x[4] x[5] x[6]</a:t>
            </a:r>
          </a:p>
          <a:p>
            <a:endParaRPr lang="en-GB" dirty="0"/>
          </a:p>
          <a:p>
            <a:r>
              <a:rPr lang="en-GB" dirty="0"/>
              <a:t>filter position 1:</a:t>
            </a:r>
          </a:p>
          <a:p>
            <a:pPr lvl="1"/>
            <a:r>
              <a:rPr lang="en-GB" dirty="0"/>
              <a:t>[ x[1] x[2] x[3] ]</a:t>
            </a:r>
            <a:br>
              <a:rPr lang="en-GB" dirty="0"/>
            </a:br>
            <a:endParaRPr lang="en-GB" dirty="0"/>
          </a:p>
          <a:p>
            <a:r>
              <a:rPr lang="en-GB" dirty="0"/>
              <a:t>filter position 2:</a:t>
            </a:r>
          </a:p>
          <a:p>
            <a:pPr lvl="1"/>
            <a:r>
              <a:rPr lang="en-GB" dirty="0"/>
              <a:t>[ x[2] x[3] x[4] ]</a:t>
            </a:r>
            <a:br>
              <a:rPr lang="en-GB" dirty="0"/>
            </a:br>
            <a:endParaRPr lang="en-GB" dirty="0"/>
          </a:p>
          <a:p>
            <a:r>
              <a:rPr lang="en-GB" dirty="0"/>
              <a:t>filter position 3:</a:t>
            </a:r>
          </a:p>
          <a:p>
            <a:pPr lvl="1"/>
            <a:r>
              <a:rPr lang="en-GB" dirty="0"/>
              <a:t>[ x[3] x[4] x[5] ]</a:t>
            </a:r>
          </a:p>
          <a:p>
            <a:endParaRPr lang="en-GB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B4E08D43-C142-5009-8651-E47E94D3BB8F}"/>
              </a:ext>
            </a:extLst>
          </p:cNvPr>
          <p:cNvSpPr txBox="1"/>
          <p:nvPr/>
        </p:nvSpPr>
        <p:spPr>
          <a:xfrm>
            <a:off x="466683" y="4618375"/>
            <a:ext cx="583996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1" dirty="0"/>
              <a:t>Fundamental difference</a:t>
            </a:r>
          </a:p>
          <a:p>
            <a:r>
              <a:rPr lang="en-GB" sz="1600" dirty="0"/>
              <a:t>RNN:</a:t>
            </a:r>
          </a:p>
          <a:p>
            <a:r>
              <a:rPr lang="en-GB" sz="1600" dirty="0"/>
              <a:t>What information should the state carry forward?</a:t>
            </a:r>
          </a:p>
          <a:p>
            <a:r>
              <a:rPr lang="en-GB" sz="1600" dirty="0"/>
              <a:t>CNN:</a:t>
            </a:r>
          </a:p>
          <a:p>
            <a:r>
              <a:rPr lang="en-GB" sz="1600" dirty="0"/>
              <a:t>What local patterns are present at each position?</a:t>
            </a:r>
          </a:p>
          <a:p>
            <a:r>
              <a:rPr lang="en-GB" sz="1600" b="1" dirty="0"/>
              <a:t>Later convolutional layers can combine local patterns into progressively larger temporal structures.</a:t>
            </a:r>
          </a:p>
        </p:txBody>
      </p:sp>
    </p:spTree>
    <p:extLst>
      <p:ext uri="{BB962C8B-B14F-4D97-AF65-F5344CB8AC3E}">
        <p14:creationId xmlns:p14="http://schemas.microsoft.com/office/powerpoint/2010/main" val="23780456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08208" y="0"/>
            <a:ext cx="1380744" cy="6858000"/>
          </a:xfrm>
          <a:prstGeom prst="rect">
            <a:avLst/>
          </a:prstGeom>
          <a:solidFill>
            <a:srgbClr val="84B927">
              <a:alpha val="90000"/>
            </a:srgbClr>
          </a:solidFill>
          <a:ln w="12700">
            <a:solidFill>
              <a:srgbClr val="84B9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469880" y="0"/>
            <a:ext cx="256032" cy="6858000"/>
          </a:xfrm>
          <a:prstGeom prst="rect">
            <a:avLst/>
          </a:prstGeom>
          <a:solidFill>
            <a:srgbClr val="EAF6D6">
              <a:alpha val="90000"/>
            </a:srgbClr>
          </a:solidFill>
          <a:ln w="12700">
            <a:solidFill>
              <a:srgbClr val="EAF6D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458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Recurrence and convolution represent time differently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8412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State propagation versus local-region detection.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914400" cy="411480"/>
          </a:xfrm>
          <a:prstGeom prst="roundRect">
            <a:avLst>
              <a:gd name="adj" fmla="val 17778"/>
            </a:avLst>
          </a:prstGeom>
          <a:solidFill>
            <a:srgbClr val="EEF2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804672" y="1421892"/>
            <a:ext cx="768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RNN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28800" y="13533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563EB"/>
                </a:solidFill>
                <a:highlight>
                  <a:srgbClr val="FFFF00"/>
                </a:highlight>
              </a:rPr>
              <a:t>What information should the state carry forward?</a:t>
            </a:r>
            <a:endParaRPr lang="en-US" sz="1400" dirty="0">
              <a:highlight>
                <a:srgbClr val="FFFF00"/>
              </a:highlight>
            </a:endParaRPr>
          </a:p>
        </p:txBody>
      </p:sp>
      <p:sp>
        <p:nvSpPr>
          <p:cNvPr id="9" name="Shape 7"/>
          <p:cNvSpPr/>
          <p:nvPr/>
        </p:nvSpPr>
        <p:spPr>
          <a:xfrm>
            <a:off x="914400" y="2331720"/>
            <a:ext cx="438912" cy="365760"/>
          </a:xfrm>
          <a:prstGeom prst="roundRect">
            <a:avLst>
              <a:gd name="adj" fmla="val 20000"/>
            </a:avLst>
          </a:prstGeom>
          <a:solidFill>
            <a:srgbClr val="EEF2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987552" y="2404872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</a:rPr>
              <a:t>h[1]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42416" y="1993392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</a:rPr>
              <a:t>x1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133856" y="2148840"/>
            <a:ext cx="0" cy="182880"/>
          </a:xfrm>
          <a:prstGeom prst="line">
            <a:avLst/>
          </a:prstGeom>
          <a:noFill/>
          <a:ln w="1143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1828800" y="2331720"/>
            <a:ext cx="438912" cy="365760"/>
          </a:xfrm>
          <a:prstGeom prst="roundRect">
            <a:avLst>
              <a:gd name="adj" fmla="val 20000"/>
            </a:avLst>
          </a:prstGeom>
          <a:solidFill>
            <a:srgbClr val="EEF2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901952" y="2404872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</a:rPr>
              <a:t>h[2]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353312" y="2514600"/>
            <a:ext cx="475488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1956816" y="1993392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</a:rPr>
              <a:t>x2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048256" y="2148840"/>
            <a:ext cx="0" cy="182880"/>
          </a:xfrm>
          <a:prstGeom prst="line">
            <a:avLst/>
          </a:prstGeom>
          <a:noFill/>
          <a:ln w="1143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2743200" y="2331720"/>
            <a:ext cx="438912" cy="365760"/>
          </a:xfrm>
          <a:prstGeom prst="roundRect">
            <a:avLst>
              <a:gd name="adj" fmla="val 20000"/>
            </a:avLst>
          </a:prstGeom>
          <a:solidFill>
            <a:srgbClr val="EEF2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2816352" y="2404872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</a:rPr>
              <a:t>h[3]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67712" y="2514600"/>
            <a:ext cx="475488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2871216" y="1993392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</a:rPr>
              <a:t>x3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962656" y="2148840"/>
            <a:ext cx="0" cy="182880"/>
          </a:xfrm>
          <a:prstGeom prst="line">
            <a:avLst/>
          </a:prstGeom>
          <a:noFill/>
          <a:ln w="1143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3657600" y="2331720"/>
            <a:ext cx="438912" cy="365760"/>
          </a:xfrm>
          <a:prstGeom prst="roundRect">
            <a:avLst>
              <a:gd name="adj" fmla="val 20000"/>
            </a:avLst>
          </a:prstGeom>
          <a:solidFill>
            <a:srgbClr val="EEF2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3730752" y="2404872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</a:rPr>
              <a:t>h[4]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182112" y="2514600"/>
            <a:ext cx="475488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3785616" y="1993392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</a:rPr>
              <a:t>x4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877056" y="2148840"/>
            <a:ext cx="0" cy="182880"/>
          </a:xfrm>
          <a:prstGeom prst="line">
            <a:avLst/>
          </a:prstGeom>
          <a:noFill/>
          <a:ln w="1143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4572000" y="2331720"/>
            <a:ext cx="438912" cy="365760"/>
          </a:xfrm>
          <a:prstGeom prst="roundRect">
            <a:avLst>
              <a:gd name="adj" fmla="val 20000"/>
            </a:avLst>
          </a:prstGeom>
          <a:solidFill>
            <a:srgbClr val="EEF2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4645152" y="2404872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</a:rPr>
              <a:t>h[5]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096512" y="2514600"/>
            <a:ext cx="475488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4700016" y="1993392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</a:rPr>
              <a:t>x5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791456" y="2148840"/>
            <a:ext cx="0" cy="182880"/>
          </a:xfrm>
          <a:prstGeom prst="line">
            <a:avLst/>
          </a:prstGeom>
          <a:noFill/>
          <a:ln w="1143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5486400" y="2331720"/>
            <a:ext cx="438912" cy="365760"/>
          </a:xfrm>
          <a:prstGeom prst="roundRect">
            <a:avLst>
              <a:gd name="adj" fmla="val 20000"/>
            </a:avLst>
          </a:prstGeom>
          <a:solidFill>
            <a:srgbClr val="EEF2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5559552" y="2404872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</a:rPr>
              <a:t>h[6]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10912" y="2514600"/>
            <a:ext cx="475488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5614416" y="1993392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</a:rPr>
              <a:t>x6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705856" y="2148840"/>
            <a:ext cx="0" cy="182880"/>
          </a:xfrm>
          <a:prstGeom prst="line">
            <a:avLst/>
          </a:prstGeom>
          <a:noFill/>
          <a:ln w="1143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731520" y="3794760"/>
            <a:ext cx="914400" cy="411480"/>
          </a:xfrm>
          <a:prstGeom prst="roundRect">
            <a:avLst>
              <a:gd name="adj" fmla="val 17778"/>
            </a:avLst>
          </a:prstGeom>
          <a:solidFill>
            <a:srgbClr val="ECFDF5"/>
          </a:solidFill>
          <a:ln w="12700">
            <a:solidFill>
              <a:srgbClr val="84B9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804672" y="3890772"/>
            <a:ext cx="768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7F2B"/>
                </a:solidFill>
              </a:rPr>
              <a:t>CNN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828800" y="382219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F7F2B"/>
                </a:solidFill>
                <a:highlight>
                  <a:srgbClr val="FFFF00"/>
                </a:highlight>
              </a:rPr>
              <a:t>What local patterns are present at each position?</a:t>
            </a:r>
            <a:endParaRPr lang="en-US" sz="1400" dirty="0">
              <a:highlight>
                <a:srgbClr val="FFFF00"/>
              </a:highlight>
            </a:endParaRPr>
          </a:p>
        </p:txBody>
      </p:sp>
      <p:sp>
        <p:nvSpPr>
          <p:cNvPr id="41" name="Shape 39"/>
          <p:cNvSpPr/>
          <p:nvPr/>
        </p:nvSpPr>
        <p:spPr>
          <a:xfrm>
            <a:off x="909828" y="4658868"/>
            <a:ext cx="100584" cy="100584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Shape 40"/>
          <p:cNvSpPr/>
          <p:nvPr/>
        </p:nvSpPr>
        <p:spPr>
          <a:xfrm>
            <a:off x="1367028" y="4658868"/>
            <a:ext cx="100584" cy="100584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41"/>
          <p:cNvSpPr/>
          <p:nvPr/>
        </p:nvSpPr>
        <p:spPr>
          <a:xfrm>
            <a:off x="1824228" y="4658868"/>
            <a:ext cx="100584" cy="100584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Shape 42"/>
          <p:cNvSpPr/>
          <p:nvPr/>
        </p:nvSpPr>
        <p:spPr>
          <a:xfrm>
            <a:off x="2281428" y="4658868"/>
            <a:ext cx="100584" cy="100584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Shape 43"/>
          <p:cNvSpPr/>
          <p:nvPr/>
        </p:nvSpPr>
        <p:spPr>
          <a:xfrm>
            <a:off x="2738628" y="4658868"/>
            <a:ext cx="100584" cy="100584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Shape 44"/>
          <p:cNvSpPr/>
          <p:nvPr/>
        </p:nvSpPr>
        <p:spPr>
          <a:xfrm>
            <a:off x="3195828" y="4658868"/>
            <a:ext cx="100584" cy="100584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Shape 45"/>
          <p:cNvSpPr/>
          <p:nvPr/>
        </p:nvSpPr>
        <p:spPr>
          <a:xfrm>
            <a:off x="3653028" y="4658868"/>
            <a:ext cx="100584" cy="100584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Shape 46"/>
          <p:cNvSpPr/>
          <p:nvPr/>
        </p:nvSpPr>
        <p:spPr>
          <a:xfrm>
            <a:off x="4110228" y="4658868"/>
            <a:ext cx="100584" cy="100584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4567428" y="4658868"/>
            <a:ext cx="100584" cy="100584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Shape 48"/>
          <p:cNvSpPr/>
          <p:nvPr/>
        </p:nvSpPr>
        <p:spPr>
          <a:xfrm>
            <a:off x="914400" y="4517136"/>
            <a:ext cx="1051560" cy="393192"/>
          </a:xfrm>
          <a:prstGeom prst="roundRect">
            <a:avLst>
              <a:gd name="adj" fmla="val 6977"/>
            </a:avLst>
          </a:prstGeom>
          <a:solidFill>
            <a:srgbClr val="EAF6D6">
              <a:alpha val="55000"/>
            </a:srgbClr>
          </a:solidFill>
          <a:ln w="13970">
            <a:solidFill>
              <a:srgbClr val="84B9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Shape 49"/>
          <p:cNvSpPr/>
          <p:nvPr/>
        </p:nvSpPr>
        <p:spPr>
          <a:xfrm>
            <a:off x="1371600" y="4517136"/>
            <a:ext cx="1051560" cy="393192"/>
          </a:xfrm>
          <a:prstGeom prst="roundRect">
            <a:avLst>
              <a:gd name="adj" fmla="val 6977"/>
            </a:avLst>
          </a:prstGeom>
          <a:solidFill>
            <a:srgbClr val="EAF6D6">
              <a:alpha val="55000"/>
            </a:srgbClr>
          </a:solidFill>
          <a:ln w="13970">
            <a:solidFill>
              <a:srgbClr val="84B9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Shape 50"/>
          <p:cNvSpPr/>
          <p:nvPr/>
        </p:nvSpPr>
        <p:spPr>
          <a:xfrm>
            <a:off x="1828800" y="4517136"/>
            <a:ext cx="1051560" cy="393192"/>
          </a:xfrm>
          <a:prstGeom prst="roundRect">
            <a:avLst>
              <a:gd name="adj" fmla="val 6977"/>
            </a:avLst>
          </a:prstGeom>
          <a:solidFill>
            <a:srgbClr val="EAF6D6">
              <a:alpha val="55000"/>
            </a:srgbClr>
          </a:solidFill>
          <a:ln w="13970">
            <a:solidFill>
              <a:srgbClr val="84B9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Shape 51"/>
          <p:cNvSpPr/>
          <p:nvPr/>
        </p:nvSpPr>
        <p:spPr>
          <a:xfrm>
            <a:off x="2286000" y="4517136"/>
            <a:ext cx="1051560" cy="393192"/>
          </a:xfrm>
          <a:prstGeom prst="roundRect">
            <a:avLst>
              <a:gd name="adj" fmla="val 6977"/>
            </a:avLst>
          </a:prstGeom>
          <a:solidFill>
            <a:srgbClr val="EAF6D6">
              <a:alpha val="55000"/>
            </a:srgbClr>
          </a:solidFill>
          <a:ln w="13970">
            <a:solidFill>
              <a:srgbClr val="84B9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Shape 52"/>
          <p:cNvSpPr/>
          <p:nvPr/>
        </p:nvSpPr>
        <p:spPr>
          <a:xfrm>
            <a:off x="2743200" y="4517136"/>
            <a:ext cx="1051560" cy="393192"/>
          </a:xfrm>
          <a:prstGeom prst="roundRect">
            <a:avLst>
              <a:gd name="adj" fmla="val 6977"/>
            </a:avLst>
          </a:prstGeom>
          <a:solidFill>
            <a:srgbClr val="EAF6D6">
              <a:alpha val="55000"/>
            </a:srgbClr>
          </a:solidFill>
          <a:ln w="13970">
            <a:solidFill>
              <a:srgbClr val="84B9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Shape 53"/>
          <p:cNvSpPr/>
          <p:nvPr/>
        </p:nvSpPr>
        <p:spPr>
          <a:xfrm>
            <a:off x="502920" y="6236208"/>
            <a:ext cx="9829800" cy="411480"/>
          </a:xfrm>
          <a:prstGeom prst="rect">
            <a:avLst/>
          </a:prstGeom>
          <a:solidFill>
            <a:srgbClr val="FFFFFF">
              <a:alpha val="96000"/>
            </a:srgbClr>
          </a:solidFill>
          <a:ln w="7620">
            <a:solidFill>
              <a:srgbClr val="CBD5E1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Text 54"/>
          <p:cNvSpPr/>
          <p:nvPr/>
        </p:nvSpPr>
        <p:spPr>
          <a:xfrm>
            <a:off x="621792" y="6336792"/>
            <a:ext cx="9555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</a:rPr>
              <a:t>Later convolutional layers combine local pattern detections into broader temporal structures.</a:t>
            </a:r>
            <a:endParaRPr lang="en-US" sz="1100" b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0643FF7-FE7D-D7C6-998C-61F495421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Block 5.B — One-Dimensional Temporal Convolution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C44AC78-8B4E-8710-8B4F-48BEF77F4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47190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A4D1E81-C74D-7AB3-8B07-F9BCA5DCC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Input representation for Conv1D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849B969-9CBC-AF58-F033-50245EFD17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5161491" cy="4344986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A temporal sequence with d variables can be represented as:</a:t>
            </a:r>
          </a:p>
          <a:p>
            <a:r>
              <a:rPr lang="en-GB" dirty="0"/>
              <a:t>[L, d]</a:t>
            </a:r>
          </a:p>
          <a:p>
            <a:r>
              <a:rPr lang="en-GB" dirty="0"/>
              <a:t>where:</a:t>
            </a:r>
          </a:p>
          <a:p>
            <a:pPr lvl="1"/>
            <a:r>
              <a:rPr lang="en-GB" dirty="0"/>
              <a:t>L = number of time steps; </a:t>
            </a:r>
          </a:p>
          <a:p>
            <a:pPr lvl="1"/>
            <a:r>
              <a:rPr lang="en-GB" dirty="0"/>
              <a:t>d = number of input channels or variables. </a:t>
            </a:r>
          </a:p>
          <a:p>
            <a:r>
              <a:rPr lang="en-GB" dirty="0">
                <a:highlight>
                  <a:srgbClr val="FFFF00"/>
                </a:highlight>
              </a:rPr>
              <a:t>For a batch of N sequences: [N, L, d]</a:t>
            </a:r>
          </a:p>
          <a:p>
            <a:r>
              <a:rPr lang="en-GB" b="1" dirty="0"/>
              <a:t>Example</a:t>
            </a:r>
          </a:p>
          <a:p>
            <a:r>
              <a:rPr lang="en-GB" dirty="0"/>
              <a:t>Suppose each sample contains:</a:t>
            </a:r>
          </a:p>
          <a:p>
            <a:pPr lvl="1"/>
            <a:r>
              <a:rPr lang="en-GB" dirty="0"/>
              <a:t>200 time steps; </a:t>
            </a:r>
          </a:p>
          <a:p>
            <a:pPr lvl="1"/>
            <a:r>
              <a:rPr lang="en-GB" dirty="0"/>
              <a:t>4 sensor variables. </a:t>
            </a:r>
          </a:p>
          <a:p>
            <a:r>
              <a:rPr lang="en-GB" dirty="0"/>
              <a:t>One sample: [200, 4]</a:t>
            </a:r>
          </a:p>
          <a:p>
            <a:r>
              <a:rPr lang="en-GB" dirty="0"/>
              <a:t>A batch of 64 samples: [64, 200, 4]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69980AA-D55B-88A0-E72F-1CCAC9EF09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61187" y="2160588"/>
            <a:ext cx="5425630" cy="4344987"/>
          </a:xfrm>
        </p:spPr>
        <p:txBody>
          <a:bodyPr>
            <a:normAutofit fontScale="92500" lnSpcReduction="20000"/>
          </a:bodyPr>
          <a:lstStyle/>
          <a:p>
            <a:r>
              <a:rPr lang="en-GB" b="1" dirty="0"/>
              <a:t>At one temporal position</a:t>
            </a:r>
          </a:p>
          <a:p>
            <a:r>
              <a:rPr lang="en-GB" dirty="0">
                <a:highlight>
                  <a:srgbClr val="FFFF00"/>
                </a:highlight>
              </a:rPr>
              <a:t>x[t] =</a:t>
            </a:r>
          </a:p>
          <a:p>
            <a:pPr lvl="1"/>
            <a:r>
              <a:rPr lang="en-GB" dirty="0"/>
              <a:t>[</a:t>
            </a:r>
          </a:p>
          <a:p>
            <a:pPr lvl="1"/>
            <a:r>
              <a:rPr lang="en-GB" dirty="0"/>
              <a:t>temperature[t],</a:t>
            </a:r>
          </a:p>
          <a:p>
            <a:pPr lvl="1"/>
            <a:r>
              <a:rPr lang="en-GB" dirty="0"/>
              <a:t>pressure[t],</a:t>
            </a:r>
          </a:p>
          <a:p>
            <a:pPr lvl="1"/>
            <a:r>
              <a:rPr lang="en-GB" dirty="0"/>
              <a:t>flow[t],</a:t>
            </a:r>
          </a:p>
          <a:p>
            <a:pPr lvl="1"/>
            <a:r>
              <a:rPr lang="en-GB" dirty="0"/>
              <a:t>vibration[t]</a:t>
            </a:r>
          </a:p>
          <a:p>
            <a:pPr lvl="1"/>
            <a:r>
              <a:rPr lang="en-GB" dirty="0"/>
              <a:t>]</a:t>
            </a:r>
          </a:p>
          <a:p>
            <a:r>
              <a:rPr lang="en-GB" dirty="0"/>
              <a:t>So:</a:t>
            </a:r>
          </a:p>
          <a:p>
            <a:r>
              <a:rPr lang="en-GB" dirty="0"/>
              <a:t>x[t] has dimension d = 4.</a:t>
            </a:r>
          </a:p>
          <a:p>
            <a:endParaRPr lang="en-GB" dirty="0"/>
          </a:p>
          <a:p>
            <a:r>
              <a:rPr lang="en-GB" b="1" dirty="0"/>
              <a:t>Conv1D operates along the temporal dimension, while simultaneously considering the available input channels.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826522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08208" y="0"/>
            <a:ext cx="1380744" cy="6858000"/>
          </a:xfrm>
          <a:prstGeom prst="rect">
            <a:avLst/>
          </a:prstGeom>
          <a:solidFill>
            <a:srgbClr val="84B927">
              <a:alpha val="90000"/>
            </a:srgbClr>
          </a:solidFill>
          <a:ln w="12700">
            <a:solidFill>
              <a:srgbClr val="84B9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469880" y="0"/>
            <a:ext cx="256032" cy="6858000"/>
          </a:xfrm>
          <a:prstGeom prst="rect">
            <a:avLst/>
          </a:prstGeom>
          <a:solidFill>
            <a:srgbClr val="EAF6D6">
              <a:alpha val="90000"/>
            </a:srgbClr>
          </a:solidFill>
          <a:ln w="12700">
            <a:solidFill>
              <a:srgbClr val="EAF6D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458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Conv1D input representation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8412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75569"/>
                </a:solidFill>
                <a:highlight>
                  <a:srgbClr val="FFFF00"/>
                </a:highlight>
              </a:rPr>
              <a:t>The convolution operates along time and uses all channels in the local region.</a:t>
            </a:r>
            <a:endParaRPr lang="en-US" sz="1150" b="1" dirty="0">
              <a:highlight>
                <a:srgbClr val="FFFF00"/>
              </a:highlight>
            </a:endParaRPr>
          </a:p>
        </p:txBody>
      </p:sp>
      <p:sp>
        <p:nvSpPr>
          <p:cNvPr id="6" name="Text 4"/>
          <p:cNvSpPr/>
          <p:nvPr/>
        </p:nvSpPr>
        <p:spPr>
          <a:xfrm>
            <a:off x="777240" y="12344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1827"/>
                </a:solidFill>
                <a:highlight>
                  <a:srgbClr val="FFFF00"/>
                </a:highlight>
              </a:rPr>
              <a:t>one sample: [L, d]</a:t>
            </a:r>
            <a:endParaRPr lang="en-US" sz="1400" dirty="0">
              <a:highlight>
                <a:srgbClr val="FFFF00"/>
              </a:highlight>
            </a:endParaRPr>
          </a:p>
        </p:txBody>
      </p:sp>
      <p:sp>
        <p:nvSpPr>
          <p:cNvPr id="7" name="Shape 5"/>
          <p:cNvSpPr/>
          <p:nvPr/>
        </p:nvSpPr>
        <p:spPr>
          <a:xfrm>
            <a:off x="914400" y="1691640"/>
            <a:ext cx="2852928" cy="23408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1389888" y="1691640"/>
            <a:ext cx="0" cy="2340864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1865376" y="1691640"/>
            <a:ext cx="0" cy="2340864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2340864" y="1691640"/>
            <a:ext cx="0" cy="2340864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2816352" y="1691640"/>
            <a:ext cx="0" cy="2340864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3291840" y="1691640"/>
            <a:ext cx="0" cy="2340864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914400" y="1984248"/>
            <a:ext cx="2852928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914400" y="2276856"/>
            <a:ext cx="2852928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914400" y="2569464"/>
            <a:ext cx="2852928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914400" y="2862072"/>
            <a:ext cx="2852928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914400" y="3154680"/>
            <a:ext cx="2852928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914400" y="3447288"/>
            <a:ext cx="2852928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914400" y="3739896"/>
            <a:ext cx="2852928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1554480" y="41605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time steps 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4400" y="3977640"/>
            <a:ext cx="2834640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4023360" y="1737360"/>
            <a:ext cx="320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features / channels 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977640" y="1691640"/>
            <a:ext cx="0" cy="233172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5212080" y="12344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1827"/>
                </a:solidFill>
                <a:highlight>
                  <a:srgbClr val="FFFF00"/>
                </a:highlight>
              </a:rPr>
              <a:t>batch: [N, L, d]</a:t>
            </a:r>
            <a:endParaRPr lang="en-US" sz="1400" dirty="0">
              <a:highlight>
                <a:srgbClr val="FFFF00"/>
              </a:highlight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257800" y="1874520"/>
            <a:ext cx="2084832" cy="1609344"/>
          </a:xfrm>
          <a:prstGeom prst="rect">
            <a:avLst/>
          </a:prstGeom>
          <a:solidFill>
            <a:srgbClr val="EEF2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5605272" y="1874520"/>
            <a:ext cx="0" cy="1609344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5952744" y="1874520"/>
            <a:ext cx="0" cy="1609344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6300216" y="1874520"/>
            <a:ext cx="0" cy="1609344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6647688" y="1874520"/>
            <a:ext cx="0" cy="1609344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6995160" y="1874520"/>
            <a:ext cx="0" cy="1609344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5257800" y="2075688"/>
            <a:ext cx="2084832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5257800" y="2276856"/>
            <a:ext cx="2084832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5257800" y="2478024"/>
            <a:ext cx="2084832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5257800" y="2679192"/>
            <a:ext cx="2084832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5257800" y="2880360"/>
            <a:ext cx="2084832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5257800" y="3081528"/>
            <a:ext cx="2084832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5257800" y="3282696"/>
            <a:ext cx="2084832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5458968" y="2075688"/>
            <a:ext cx="2084832" cy="1609344"/>
          </a:xfrm>
          <a:prstGeom prst="rect">
            <a:avLst/>
          </a:prstGeom>
          <a:solidFill>
            <a:srgbClr val="EEF2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5806440" y="2075688"/>
            <a:ext cx="0" cy="1609344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6153912" y="2075688"/>
            <a:ext cx="0" cy="1609344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Shape 39"/>
          <p:cNvSpPr/>
          <p:nvPr/>
        </p:nvSpPr>
        <p:spPr>
          <a:xfrm>
            <a:off x="6501384" y="2075688"/>
            <a:ext cx="0" cy="1609344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Shape 40"/>
          <p:cNvSpPr/>
          <p:nvPr/>
        </p:nvSpPr>
        <p:spPr>
          <a:xfrm>
            <a:off x="6848856" y="2075688"/>
            <a:ext cx="0" cy="1609344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41"/>
          <p:cNvSpPr/>
          <p:nvPr/>
        </p:nvSpPr>
        <p:spPr>
          <a:xfrm>
            <a:off x="7196328" y="2075688"/>
            <a:ext cx="0" cy="1609344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Shape 42"/>
          <p:cNvSpPr/>
          <p:nvPr/>
        </p:nvSpPr>
        <p:spPr>
          <a:xfrm>
            <a:off x="5458968" y="2276856"/>
            <a:ext cx="2084832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Shape 43"/>
          <p:cNvSpPr/>
          <p:nvPr/>
        </p:nvSpPr>
        <p:spPr>
          <a:xfrm>
            <a:off x="5458968" y="2478024"/>
            <a:ext cx="2084832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Shape 44"/>
          <p:cNvSpPr/>
          <p:nvPr/>
        </p:nvSpPr>
        <p:spPr>
          <a:xfrm>
            <a:off x="5458968" y="2679192"/>
            <a:ext cx="2084832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Shape 45"/>
          <p:cNvSpPr/>
          <p:nvPr/>
        </p:nvSpPr>
        <p:spPr>
          <a:xfrm>
            <a:off x="5458968" y="2880360"/>
            <a:ext cx="2084832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Shape 46"/>
          <p:cNvSpPr/>
          <p:nvPr/>
        </p:nvSpPr>
        <p:spPr>
          <a:xfrm>
            <a:off x="5458968" y="3081528"/>
            <a:ext cx="2084832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5458968" y="3282696"/>
            <a:ext cx="2084832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Shape 48"/>
          <p:cNvSpPr/>
          <p:nvPr/>
        </p:nvSpPr>
        <p:spPr>
          <a:xfrm>
            <a:off x="5458968" y="3483864"/>
            <a:ext cx="2084832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Shape 49"/>
          <p:cNvSpPr/>
          <p:nvPr/>
        </p:nvSpPr>
        <p:spPr>
          <a:xfrm>
            <a:off x="5660136" y="2276856"/>
            <a:ext cx="2084832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Shape 50"/>
          <p:cNvSpPr/>
          <p:nvPr/>
        </p:nvSpPr>
        <p:spPr>
          <a:xfrm>
            <a:off x="6007608" y="2276856"/>
            <a:ext cx="0" cy="1609344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Shape 51"/>
          <p:cNvSpPr/>
          <p:nvPr/>
        </p:nvSpPr>
        <p:spPr>
          <a:xfrm>
            <a:off x="6355080" y="2276856"/>
            <a:ext cx="0" cy="1609344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Shape 52"/>
          <p:cNvSpPr/>
          <p:nvPr/>
        </p:nvSpPr>
        <p:spPr>
          <a:xfrm>
            <a:off x="6702552" y="2276856"/>
            <a:ext cx="0" cy="1609344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Shape 53"/>
          <p:cNvSpPr/>
          <p:nvPr/>
        </p:nvSpPr>
        <p:spPr>
          <a:xfrm>
            <a:off x="7050024" y="2276856"/>
            <a:ext cx="0" cy="1609344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Shape 54"/>
          <p:cNvSpPr/>
          <p:nvPr/>
        </p:nvSpPr>
        <p:spPr>
          <a:xfrm>
            <a:off x="7397496" y="2276856"/>
            <a:ext cx="0" cy="1609344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Shape 55"/>
          <p:cNvSpPr/>
          <p:nvPr/>
        </p:nvSpPr>
        <p:spPr>
          <a:xfrm>
            <a:off x="5660136" y="2478024"/>
            <a:ext cx="2084832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Shape 56"/>
          <p:cNvSpPr/>
          <p:nvPr/>
        </p:nvSpPr>
        <p:spPr>
          <a:xfrm>
            <a:off x="5660136" y="2679192"/>
            <a:ext cx="2084832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Shape 57"/>
          <p:cNvSpPr/>
          <p:nvPr/>
        </p:nvSpPr>
        <p:spPr>
          <a:xfrm>
            <a:off x="5660136" y="2880360"/>
            <a:ext cx="2084832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Shape 58"/>
          <p:cNvSpPr/>
          <p:nvPr/>
        </p:nvSpPr>
        <p:spPr>
          <a:xfrm>
            <a:off x="5660136" y="3081528"/>
            <a:ext cx="2084832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Shape 59"/>
          <p:cNvSpPr/>
          <p:nvPr/>
        </p:nvSpPr>
        <p:spPr>
          <a:xfrm>
            <a:off x="5660136" y="3282696"/>
            <a:ext cx="2084832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" name="Shape 60"/>
          <p:cNvSpPr/>
          <p:nvPr/>
        </p:nvSpPr>
        <p:spPr>
          <a:xfrm>
            <a:off x="5660136" y="3483864"/>
            <a:ext cx="2084832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Shape 61"/>
          <p:cNvSpPr/>
          <p:nvPr/>
        </p:nvSpPr>
        <p:spPr>
          <a:xfrm>
            <a:off x="5660136" y="3685032"/>
            <a:ext cx="2084832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Text 62"/>
          <p:cNvSpPr/>
          <p:nvPr/>
        </p:nvSpPr>
        <p:spPr>
          <a:xfrm>
            <a:off x="5669280" y="480060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N stacked samples</a:t>
            </a:r>
            <a:endParaRPr lang="en-US" sz="1100" dirty="0"/>
          </a:p>
        </p:txBody>
      </p:sp>
      <p:sp>
        <p:nvSpPr>
          <p:cNvPr id="67" name="CasellaDiTesto 66">
            <a:extLst>
              <a:ext uri="{FF2B5EF4-FFF2-40B4-BE49-F238E27FC236}">
                <a16:creationId xmlns:a16="http://schemas.microsoft.com/office/drawing/2014/main" id="{F483DCC1-EA1C-7D2F-AA63-CA318E5A9454}"/>
              </a:ext>
            </a:extLst>
          </p:cNvPr>
          <p:cNvSpPr txBox="1"/>
          <p:nvPr/>
        </p:nvSpPr>
        <p:spPr>
          <a:xfrm>
            <a:off x="1389888" y="4722792"/>
            <a:ext cx="299085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/>
              <a:t>N.B. in a picture, </a:t>
            </a:r>
            <a:r>
              <a:rPr lang="it-IT" sz="1400" dirty="0" err="1"/>
              <a:t>dim</a:t>
            </a:r>
            <a:r>
              <a:rPr lang="it-IT" sz="1400" dirty="0"/>
              <a:t> 1 </a:t>
            </a:r>
            <a:r>
              <a:rPr lang="it-IT" sz="1400" dirty="0" err="1"/>
              <a:t>is</a:t>
            </a:r>
            <a:r>
              <a:rPr lang="it-IT" sz="1400" dirty="0"/>
              <a:t> </a:t>
            </a:r>
            <a:r>
              <a:rPr lang="it-IT" sz="1400" dirty="0" err="1"/>
              <a:t>along</a:t>
            </a:r>
            <a:r>
              <a:rPr lang="it-IT" sz="1400" dirty="0"/>
              <a:t> </a:t>
            </a:r>
            <a:r>
              <a:rPr lang="it-IT" sz="1400" dirty="0" err="1"/>
              <a:t>rows</a:t>
            </a:r>
            <a:r>
              <a:rPr lang="it-IT" sz="1400" dirty="0"/>
              <a:t>, </a:t>
            </a:r>
            <a:r>
              <a:rPr lang="it-IT" sz="1400" dirty="0" err="1"/>
              <a:t>dim</a:t>
            </a:r>
            <a:r>
              <a:rPr lang="it-IT" sz="1400" dirty="0"/>
              <a:t> 2 </a:t>
            </a:r>
            <a:r>
              <a:rPr lang="it-IT" sz="1400" dirty="0" err="1"/>
              <a:t>along</a:t>
            </a:r>
            <a:r>
              <a:rPr lang="it-IT" sz="1400" dirty="0"/>
              <a:t> </a:t>
            </a:r>
            <a:r>
              <a:rPr lang="it-IT" sz="1400" dirty="0" err="1"/>
              <a:t>columns</a:t>
            </a:r>
            <a:r>
              <a:rPr lang="it-IT" sz="1400" dirty="0"/>
              <a:t>.</a:t>
            </a:r>
          </a:p>
          <a:p>
            <a:r>
              <a:rPr lang="it-IT" sz="1400" dirty="0"/>
              <a:t>Here </a:t>
            </a:r>
            <a:r>
              <a:rPr lang="it-IT" sz="1400" dirty="0" err="1"/>
              <a:t>we</a:t>
            </a:r>
            <a:r>
              <a:rPr lang="it-IT" sz="1400" dirty="0"/>
              <a:t> swap </a:t>
            </a:r>
            <a:r>
              <a:rPr lang="it-IT" sz="1400" dirty="0" err="1"/>
              <a:t>dimensions</a:t>
            </a:r>
            <a:r>
              <a:rPr lang="it-IT" sz="1400" dirty="0"/>
              <a:t> for </a:t>
            </a:r>
            <a:r>
              <a:rPr lang="it-IT" sz="1400" dirty="0" err="1"/>
              <a:t>visualization</a:t>
            </a:r>
            <a:r>
              <a:rPr lang="it-IT" sz="1400" dirty="0"/>
              <a:t> </a:t>
            </a:r>
            <a:r>
              <a:rPr lang="it-IT" sz="1400" dirty="0" err="1"/>
              <a:t>purposes</a:t>
            </a:r>
            <a:r>
              <a:rPr lang="it-IT" sz="1400" dirty="0"/>
              <a:t> </a:t>
            </a:r>
            <a:r>
              <a:rPr lang="it-IT" sz="1400" dirty="0" err="1"/>
              <a:t>only</a:t>
            </a:r>
            <a:r>
              <a:rPr lang="it-IT" sz="1400" dirty="0"/>
              <a:t>(</a:t>
            </a:r>
            <a:r>
              <a:rPr lang="it-IT" sz="1400" dirty="0" err="1"/>
              <a:t>keep</a:t>
            </a:r>
            <a:r>
              <a:rPr lang="it-IT" sz="1400" dirty="0"/>
              <a:t> time </a:t>
            </a:r>
            <a:r>
              <a:rPr lang="it-IT" sz="1400" dirty="0" err="1"/>
              <a:t>horizontly</a:t>
            </a:r>
            <a:r>
              <a:rPr lang="it-IT" sz="1400" dirty="0"/>
              <a:t>)</a:t>
            </a:r>
            <a:endParaRPr lang="en-GB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B62D763-9AE9-933F-7B86-B2DBB27CD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 temporal kernel?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D2546D6-2783-E9C9-E52F-AE423C8AC4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A convolutional kernel is a small set of learned weights that spans a local temporal region.</a:t>
            </a:r>
          </a:p>
          <a:p>
            <a:r>
              <a:rPr lang="en-GB" dirty="0"/>
              <a:t>Suppose:</a:t>
            </a:r>
          </a:p>
          <a:p>
            <a:pPr lvl="1"/>
            <a:r>
              <a:rPr lang="en-GB" dirty="0"/>
              <a:t>kernel size K = 3; </a:t>
            </a:r>
          </a:p>
          <a:p>
            <a:pPr lvl="1"/>
            <a:r>
              <a:rPr lang="en-GB" dirty="0"/>
              <a:t>input dimension d = 4. </a:t>
            </a:r>
          </a:p>
          <a:p>
            <a:r>
              <a:rPr lang="en-GB" dirty="0">
                <a:highlight>
                  <a:srgbClr val="FFFF00"/>
                </a:highlight>
              </a:rPr>
              <a:t>The kernel examines three consecutive time steps:</a:t>
            </a:r>
          </a:p>
          <a:p>
            <a:pPr lvl="1"/>
            <a:r>
              <a:rPr lang="en-GB" dirty="0"/>
              <a:t>x[t]</a:t>
            </a:r>
          </a:p>
          <a:p>
            <a:pPr lvl="1"/>
            <a:r>
              <a:rPr lang="en-GB" dirty="0"/>
              <a:t>x[t+1]</a:t>
            </a:r>
          </a:p>
          <a:p>
            <a:pPr lvl="1"/>
            <a:r>
              <a:rPr lang="en-GB" dirty="0"/>
              <a:t>x[t+2]</a:t>
            </a:r>
          </a:p>
          <a:p>
            <a:pPr lvl="1"/>
            <a:r>
              <a:rPr lang="en-GB" dirty="0"/>
              <a:t>and all four input channels.</a:t>
            </a:r>
          </a:p>
          <a:p>
            <a:r>
              <a:rPr lang="en-GB" dirty="0"/>
              <a:t>Conceptually, </a:t>
            </a:r>
            <a:r>
              <a:rPr lang="en-GB" dirty="0">
                <a:highlight>
                  <a:srgbClr val="FFFF00"/>
                </a:highlight>
              </a:rPr>
              <a:t>its local input region has shape:</a:t>
            </a:r>
          </a:p>
          <a:p>
            <a:pPr lvl="1"/>
            <a:r>
              <a:rPr lang="en-GB" dirty="0"/>
              <a:t>[K, d] = [3, 4]</a:t>
            </a:r>
          </a:p>
          <a:p>
            <a:endParaRPr lang="en-GB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D813F817-4DD5-7150-5F0E-7EB21D0EB9CE}"/>
              </a:ext>
            </a:extLst>
          </p:cNvPr>
          <p:cNvSpPr txBox="1"/>
          <p:nvPr/>
        </p:nvSpPr>
        <p:spPr>
          <a:xfrm>
            <a:off x="6772589" y="532563"/>
            <a:ext cx="40595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Think </a:t>
            </a:r>
            <a:r>
              <a:rPr lang="it-IT" dirty="0" err="1"/>
              <a:t>analogously</a:t>
            </a:r>
            <a:r>
              <a:rPr lang="it-IT" dirty="0"/>
              <a:t> to the </a:t>
            </a:r>
            <a:r>
              <a:rPr lang="it-IT" dirty="0" err="1"/>
              <a:t>spatial</a:t>
            </a:r>
            <a:r>
              <a:rPr lang="it-IT" dirty="0"/>
              <a:t> kernel in image processing</a:t>
            </a:r>
            <a:endParaRPr lang="en-GB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8B6947E6-495C-3FA8-4564-23BBD5806855}"/>
              </a:ext>
            </a:extLst>
          </p:cNvPr>
          <p:cNvSpPr txBox="1"/>
          <p:nvPr/>
        </p:nvSpPr>
        <p:spPr>
          <a:xfrm>
            <a:off x="6608676" y="4311991"/>
            <a:ext cx="26653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highlight>
                  <a:srgbClr val="FFFF00"/>
                </a:highlight>
              </a:rPr>
              <a:t>w = [[</a:t>
            </a:r>
            <a:r>
              <a:rPr lang="en-GB" dirty="0">
                <a:highlight>
                  <a:srgbClr val="FFFF00"/>
                </a:highlight>
              </a:rPr>
              <a:t>w</a:t>
            </a:r>
            <a:r>
              <a:rPr lang="en-GB" baseline="-25000" dirty="0">
                <a:highlight>
                  <a:srgbClr val="FFFF00"/>
                </a:highlight>
              </a:rPr>
              <a:t>00</a:t>
            </a:r>
            <a:r>
              <a:rPr lang="en-GB" sz="1800" dirty="0">
                <a:highlight>
                  <a:srgbClr val="FFFF00"/>
                </a:highlight>
              </a:rPr>
              <a:t>, </a:t>
            </a:r>
            <a:r>
              <a:rPr lang="en-GB" dirty="0">
                <a:highlight>
                  <a:srgbClr val="FFFF00"/>
                </a:highlight>
              </a:rPr>
              <a:t>w</a:t>
            </a:r>
            <a:r>
              <a:rPr lang="en-GB" baseline="-25000" dirty="0">
                <a:highlight>
                  <a:srgbClr val="FFFF00"/>
                </a:highlight>
              </a:rPr>
              <a:t>01</a:t>
            </a:r>
            <a:r>
              <a:rPr lang="en-GB" dirty="0">
                <a:highlight>
                  <a:srgbClr val="FFFF00"/>
                </a:highlight>
              </a:rPr>
              <a:t>, w</a:t>
            </a:r>
            <a:r>
              <a:rPr lang="en-GB" baseline="-25000" dirty="0">
                <a:highlight>
                  <a:srgbClr val="FFFF00"/>
                </a:highlight>
              </a:rPr>
              <a:t>02</a:t>
            </a:r>
            <a:r>
              <a:rPr lang="en-GB" dirty="0">
                <a:highlight>
                  <a:srgbClr val="FFFF00"/>
                </a:highlight>
              </a:rPr>
              <a:t>, w</a:t>
            </a:r>
            <a:r>
              <a:rPr lang="en-GB" baseline="-25000" dirty="0">
                <a:highlight>
                  <a:srgbClr val="FFFF00"/>
                </a:highlight>
              </a:rPr>
              <a:t>03</a:t>
            </a:r>
            <a:r>
              <a:rPr lang="en-GB" dirty="0">
                <a:highlight>
                  <a:srgbClr val="FFFF00"/>
                </a:highlight>
              </a:rPr>
              <a:t>] </a:t>
            </a:r>
            <a:endParaRPr lang="en-GB" sz="1800" dirty="0">
              <a:highlight>
                <a:srgbClr val="FFFF00"/>
              </a:highlight>
            </a:endParaRPr>
          </a:p>
          <a:p>
            <a:r>
              <a:rPr lang="en-GB" dirty="0">
                <a:highlight>
                  <a:srgbClr val="FFFF00"/>
                </a:highlight>
              </a:rPr>
              <a:t>	 [w</a:t>
            </a:r>
            <a:r>
              <a:rPr lang="en-GB" baseline="-25000" dirty="0">
                <a:highlight>
                  <a:srgbClr val="FFFF00"/>
                </a:highlight>
              </a:rPr>
              <a:t>00</a:t>
            </a:r>
            <a:r>
              <a:rPr lang="en-GB" dirty="0">
                <a:highlight>
                  <a:srgbClr val="FFFF00"/>
                </a:highlight>
              </a:rPr>
              <a:t>, w</a:t>
            </a:r>
            <a:r>
              <a:rPr lang="en-GB" baseline="-25000" dirty="0">
                <a:highlight>
                  <a:srgbClr val="FFFF00"/>
                </a:highlight>
              </a:rPr>
              <a:t>01</a:t>
            </a:r>
            <a:r>
              <a:rPr lang="en-GB" dirty="0">
                <a:highlight>
                  <a:srgbClr val="FFFF00"/>
                </a:highlight>
              </a:rPr>
              <a:t>, w</a:t>
            </a:r>
            <a:r>
              <a:rPr lang="en-GB" baseline="-25000" dirty="0">
                <a:highlight>
                  <a:srgbClr val="FFFF00"/>
                </a:highlight>
              </a:rPr>
              <a:t>02</a:t>
            </a:r>
            <a:r>
              <a:rPr lang="en-GB" dirty="0">
                <a:highlight>
                  <a:srgbClr val="FFFF00"/>
                </a:highlight>
              </a:rPr>
              <a:t>, w</a:t>
            </a:r>
            <a:r>
              <a:rPr lang="en-GB" baseline="-25000" dirty="0">
                <a:highlight>
                  <a:srgbClr val="FFFF00"/>
                </a:highlight>
              </a:rPr>
              <a:t>03</a:t>
            </a:r>
            <a:r>
              <a:rPr lang="en-GB" dirty="0">
                <a:highlight>
                  <a:srgbClr val="FFFF00"/>
                </a:highlight>
              </a:rPr>
              <a:t>]</a:t>
            </a:r>
            <a:r>
              <a:rPr lang="en-GB" sz="1800" dirty="0">
                <a:highlight>
                  <a:srgbClr val="FFFF00"/>
                </a:highlight>
              </a:rPr>
              <a:t> </a:t>
            </a:r>
          </a:p>
          <a:p>
            <a:r>
              <a:rPr lang="en-GB" dirty="0">
                <a:highlight>
                  <a:srgbClr val="FFFF00"/>
                </a:highlight>
              </a:rPr>
              <a:t>	 [w</a:t>
            </a:r>
            <a:r>
              <a:rPr lang="en-GB" baseline="-25000" dirty="0">
                <a:highlight>
                  <a:srgbClr val="FFFF00"/>
                </a:highlight>
              </a:rPr>
              <a:t>00</a:t>
            </a:r>
            <a:r>
              <a:rPr lang="en-GB" dirty="0">
                <a:highlight>
                  <a:srgbClr val="FFFF00"/>
                </a:highlight>
              </a:rPr>
              <a:t>, w</a:t>
            </a:r>
            <a:r>
              <a:rPr lang="en-GB" baseline="-25000" dirty="0">
                <a:highlight>
                  <a:srgbClr val="FFFF00"/>
                </a:highlight>
              </a:rPr>
              <a:t>01</a:t>
            </a:r>
            <a:r>
              <a:rPr lang="en-GB" dirty="0">
                <a:highlight>
                  <a:srgbClr val="FFFF00"/>
                </a:highlight>
              </a:rPr>
              <a:t>, w</a:t>
            </a:r>
            <a:r>
              <a:rPr lang="en-GB" baseline="-25000" dirty="0">
                <a:highlight>
                  <a:srgbClr val="FFFF00"/>
                </a:highlight>
              </a:rPr>
              <a:t>02</a:t>
            </a:r>
            <a:r>
              <a:rPr lang="en-GB" dirty="0">
                <a:highlight>
                  <a:srgbClr val="FFFF00"/>
                </a:highlight>
              </a:rPr>
              <a:t> w</a:t>
            </a:r>
            <a:r>
              <a:rPr lang="en-GB" baseline="-25000" dirty="0">
                <a:highlight>
                  <a:srgbClr val="FFFF00"/>
                </a:highlight>
              </a:rPr>
              <a:t>03</a:t>
            </a:r>
            <a:r>
              <a:rPr lang="en-GB" dirty="0">
                <a:highlight>
                  <a:srgbClr val="FFFF00"/>
                </a:highlight>
              </a:rPr>
              <a:t>,]</a:t>
            </a:r>
          </a:p>
          <a:p>
            <a:r>
              <a:rPr lang="en-GB" sz="1800" dirty="0">
                <a:highlight>
                  <a:srgbClr val="FFFF00"/>
                </a:highlight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16377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2B3D641-5B10-E281-4BB8-ED60C312A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 temporal kernel?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6C54E94-8136-1A1F-CE03-8ED81B8D4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b="1" dirty="0">
                <a:highlight>
                  <a:srgbClr val="FFFF00"/>
                </a:highlight>
              </a:rPr>
              <a:t>Kernel parameters</a:t>
            </a:r>
          </a:p>
          <a:p>
            <a:r>
              <a:rPr lang="en-GB" dirty="0"/>
              <a:t>A single filter contains learned weights associated with:</a:t>
            </a:r>
          </a:p>
          <a:p>
            <a:pPr lvl="1"/>
            <a:r>
              <a:rPr lang="en-GB" dirty="0"/>
              <a:t>each temporal offset; </a:t>
            </a:r>
          </a:p>
          <a:p>
            <a:pPr lvl="1"/>
            <a:r>
              <a:rPr lang="en-GB" dirty="0"/>
              <a:t>each input channel. </a:t>
            </a:r>
          </a:p>
          <a:p>
            <a:r>
              <a:rPr lang="en-GB" dirty="0"/>
              <a:t>The filter therefore learns a local multivariate temporal pattern.</a:t>
            </a:r>
          </a:p>
          <a:p>
            <a:endParaRPr lang="en-GB" b="1" dirty="0"/>
          </a:p>
          <a:p>
            <a:r>
              <a:rPr lang="en-GB" b="1" dirty="0">
                <a:highlight>
                  <a:srgbClr val="FFFF00"/>
                </a:highlight>
              </a:rPr>
              <a:t>Example</a:t>
            </a:r>
          </a:p>
          <a:p>
            <a:r>
              <a:rPr lang="en-GB" dirty="0"/>
              <a:t>One filter could potentially respond to a combination such as:</a:t>
            </a:r>
          </a:p>
          <a:p>
            <a:pPr lvl="1"/>
            <a:r>
              <a:rPr lang="en-GB" dirty="0"/>
              <a:t>vibration increasing; </a:t>
            </a:r>
          </a:p>
          <a:p>
            <a:pPr lvl="1"/>
            <a:r>
              <a:rPr lang="en-GB" dirty="0"/>
              <a:t>current increasing; </a:t>
            </a:r>
          </a:p>
          <a:p>
            <a:pPr lvl="1"/>
            <a:r>
              <a:rPr lang="en-GB" dirty="0"/>
              <a:t>pressure decreasing; </a:t>
            </a:r>
          </a:p>
          <a:p>
            <a:pPr lvl="1"/>
            <a:r>
              <a:rPr lang="en-GB" dirty="0"/>
              <a:t>over three consecutive time steps.</a:t>
            </a:r>
          </a:p>
          <a:p>
            <a:endParaRPr lang="en-GB" b="1" dirty="0"/>
          </a:p>
          <a:p>
            <a:r>
              <a:rPr lang="en-GB" b="1" dirty="0">
                <a:highlight>
                  <a:srgbClr val="FFFF00"/>
                </a:highlight>
              </a:rPr>
              <a:t>A temporal kernel can learn relationships both across time and across input variables.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966285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08208" y="0"/>
            <a:ext cx="1380744" cy="6858000"/>
          </a:xfrm>
          <a:prstGeom prst="rect">
            <a:avLst/>
          </a:prstGeom>
          <a:solidFill>
            <a:srgbClr val="84B927">
              <a:alpha val="90000"/>
            </a:srgbClr>
          </a:solidFill>
          <a:ln w="12700">
            <a:solidFill>
              <a:srgbClr val="84B9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469880" y="0"/>
            <a:ext cx="256032" cy="6858000"/>
          </a:xfrm>
          <a:prstGeom prst="rect">
            <a:avLst/>
          </a:prstGeom>
          <a:solidFill>
            <a:srgbClr val="EAF6D6">
              <a:alpha val="90000"/>
            </a:srgbClr>
          </a:solidFill>
          <a:ln w="12700">
            <a:solidFill>
              <a:srgbClr val="EAF6D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458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temporal kernel spans K time steps and d channels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8412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For one filter, the local input region has shape [K, d].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68680" y="1417320"/>
            <a:ext cx="45262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1371600" y="1417320"/>
            <a:ext cx="0" cy="205740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1874520" y="1417320"/>
            <a:ext cx="0" cy="205740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2377440" y="1417320"/>
            <a:ext cx="0" cy="205740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2880360" y="1417320"/>
            <a:ext cx="0" cy="205740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3383280" y="1417320"/>
            <a:ext cx="0" cy="205740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3886200" y="1417320"/>
            <a:ext cx="0" cy="205740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4389120" y="1417320"/>
            <a:ext cx="0" cy="205740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4892040" y="1417320"/>
            <a:ext cx="0" cy="205740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868680" y="1828800"/>
            <a:ext cx="452628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868680" y="2240280"/>
            <a:ext cx="452628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868680" y="2651760"/>
            <a:ext cx="452628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868680" y="3063240"/>
            <a:ext cx="452628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480560" y="373989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time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0029" y="1783080"/>
            <a:ext cx="320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channels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74520" y="1417320"/>
            <a:ext cx="1508760" cy="2057400"/>
          </a:xfrm>
          <a:prstGeom prst="roundRect">
            <a:avLst>
              <a:gd name="adj" fmla="val 1818"/>
            </a:avLst>
          </a:prstGeom>
          <a:solidFill>
            <a:srgbClr val="EAF6D6">
              <a:alpha val="62000"/>
            </a:srgbClr>
          </a:solidFill>
          <a:ln w="25400">
            <a:solidFill>
              <a:srgbClr val="84B9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1920240" y="360273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7F2B"/>
                </a:solidFill>
              </a:rPr>
              <a:t>kernel region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4F7F2B"/>
                </a:solidFill>
              </a:rPr>
              <a:t>K = 3, d = 5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51960" y="2423160"/>
            <a:ext cx="91440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5257800" y="1783080"/>
            <a:ext cx="1097280" cy="1188720"/>
          </a:xfrm>
          <a:prstGeom prst="roundRect">
            <a:avLst>
              <a:gd name="adj" fmla="val 6667"/>
            </a:avLst>
          </a:prstGeom>
          <a:solidFill>
            <a:srgbClr val="EEF2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5330952" y="2011681"/>
            <a:ext cx="950976" cy="82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</a:rPr>
              <a:t>learned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</a:rPr>
              <a:t>weights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</a:rPr>
              <a:t>[K,d]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537960" y="2423160"/>
            <a:ext cx="86868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7498080" y="1965960"/>
            <a:ext cx="1097280" cy="822960"/>
          </a:xfrm>
          <a:prstGeom prst="roundRect">
            <a:avLst>
              <a:gd name="adj" fmla="val 8889"/>
            </a:avLst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7571232" y="2267712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</a:rPr>
              <a:t>one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</a:rPr>
              <a:t>activation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02920" y="6236208"/>
            <a:ext cx="9829800" cy="411480"/>
          </a:xfrm>
          <a:prstGeom prst="rect">
            <a:avLst/>
          </a:prstGeom>
          <a:solidFill>
            <a:srgbClr val="FFFFFF">
              <a:alpha val="96000"/>
            </a:srgbClr>
          </a:solidFill>
          <a:ln w="7620">
            <a:solidFill>
              <a:srgbClr val="CBD5E1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621792" y="6336792"/>
            <a:ext cx="9555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The filter can learn multivariate temporal patterns, combining time offsets and input variables.</a:t>
            </a:r>
            <a:endParaRPr lang="en-US" sz="1200" b="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FAF888-2E7D-34A2-D3C3-F7EFA31CC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convolution operation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2E9FDD9-3177-497E-2121-D6530F0C1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At one temporal position, the kernel is combined with the corresponding local input region.</a:t>
            </a:r>
          </a:p>
          <a:p>
            <a:pPr lvl="1"/>
            <a:r>
              <a:rPr lang="en-GB" dirty="0"/>
              <a:t>input region</a:t>
            </a:r>
          </a:p>
          <a:p>
            <a:pPr lvl="1"/>
            <a:r>
              <a:rPr lang="en-GB" dirty="0"/>
              <a:t>[x[t], x[t+1], ..., x[t+K−1]]</a:t>
            </a:r>
          </a:p>
          <a:p>
            <a:pPr lvl="1"/>
            <a:r>
              <a:rPr lang="en-GB" dirty="0"/>
              <a:t>               ×</a:t>
            </a:r>
          </a:p>
          <a:p>
            <a:pPr lvl="1"/>
            <a:r>
              <a:rPr lang="en-GB" dirty="0"/>
              <a:t>         kernel weights (incl. bias)</a:t>
            </a:r>
          </a:p>
          <a:p>
            <a:pPr lvl="1"/>
            <a:r>
              <a:rPr lang="en-GB" dirty="0"/>
              <a:t>               ↓</a:t>
            </a:r>
          </a:p>
          <a:p>
            <a:pPr lvl="1"/>
            <a:r>
              <a:rPr lang="en-GB" dirty="0"/>
              <a:t>      weighted combination</a:t>
            </a:r>
          </a:p>
          <a:p>
            <a:pPr lvl="1"/>
            <a:r>
              <a:rPr lang="en-GB" dirty="0"/>
              <a:t>               ↓</a:t>
            </a:r>
          </a:p>
          <a:p>
            <a:pPr lvl="1"/>
            <a:r>
              <a:rPr lang="en-GB" dirty="0"/>
              <a:t>          activation</a:t>
            </a:r>
          </a:p>
          <a:p>
            <a:r>
              <a:rPr lang="en-GB" dirty="0"/>
              <a:t>For one filter, the result is one scalar activation at that temporal position.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879784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61ED1-8892-DD30-9579-4F89B1EAC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AFA5F6-75C1-93FB-9342-C6A419B31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convolution operation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D2AFC7B-D72A-DBE5-65E9-051FFBD1F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Simplified conceptual expression</a:t>
            </a:r>
          </a:p>
          <a:p>
            <a:r>
              <a:rPr lang="en-GB" dirty="0"/>
              <a:t>activation = </a:t>
            </a:r>
            <a:r>
              <a:rPr lang="en-GB" dirty="0" err="1"/>
              <a:t>nonlinear_function</a:t>
            </a:r>
            <a:r>
              <a:rPr lang="en-GB" dirty="0"/>
              <a:t>(weighted local input + bias)</a:t>
            </a:r>
          </a:p>
          <a:p>
            <a:r>
              <a:rPr lang="en-GB" b="1" dirty="0"/>
              <a:t>Then the same kernel moves to the next position</a:t>
            </a:r>
          </a:p>
          <a:p>
            <a:pPr lvl="1"/>
            <a:r>
              <a:rPr lang="en-GB" dirty="0"/>
              <a:t>position 1: x[1] ... x[K]</a:t>
            </a:r>
          </a:p>
          <a:p>
            <a:pPr lvl="1"/>
            <a:r>
              <a:rPr lang="en-GB" dirty="0"/>
              <a:t>position 2: x[2] ... x[K+1]</a:t>
            </a:r>
          </a:p>
          <a:p>
            <a:pPr lvl="1"/>
            <a:r>
              <a:rPr lang="en-GB" dirty="0"/>
              <a:t>position 3: x[3] ... x[K+2]</a:t>
            </a:r>
          </a:p>
          <a:p>
            <a:endParaRPr lang="en-GB" b="1" dirty="0"/>
          </a:p>
          <a:p>
            <a:r>
              <a:rPr lang="en-GB" b="1" dirty="0"/>
              <a:t>Parameter sharing</a:t>
            </a:r>
          </a:p>
          <a:p>
            <a:r>
              <a:rPr lang="en-GB" dirty="0"/>
              <a:t>The same learned pattern detector is applied throughout the sequence.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543919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5B7E1D-45D6-E74E-B0D3-5D7486BF4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numerical example with one channel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8C0EC01-206A-7884-56ED-88C8404645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019300"/>
            <a:ext cx="5752041" cy="4562475"/>
          </a:xfrm>
        </p:spPr>
        <p:txBody>
          <a:bodyPr>
            <a:normAutofit fontScale="70000" lnSpcReduction="20000"/>
          </a:bodyPr>
          <a:lstStyle/>
          <a:p>
            <a:r>
              <a:rPr lang="en-GB" dirty="0"/>
              <a:t>Consider a univariate sequence:</a:t>
            </a:r>
          </a:p>
          <a:p>
            <a:r>
              <a:rPr lang="en-GB" dirty="0">
                <a:highlight>
                  <a:srgbClr val="FFFF00"/>
                </a:highlight>
              </a:rPr>
              <a:t>x = [2, 3, 5, 4, 1]</a:t>
            </a:r>
          </a:p>
          <a:p>
            <a:r>
              <a:rPr lang="en-GB" dirty="0"/>
              <a:t>and a kernel of size 3:</a:t>
            </a:r>
          </a:p>
          <a:p>
            <a:r>
              <a:rPr lang="en-GB" dirty="0">
                <a:highlight>
                  <a:srgbClr val="FFFF00"/>
                </a:highlight>
              </a:rPr>
              <a:t>w = [−1, 0, 1]</a:t>
            </a:r>
          </a:p>
          <a:p>
            <a:r>
              <a:rPr lang="en-GB" dirty="0"/>
              <a:t>At the first position:</a:t>
            </a:r>
          </a:p>
          <a:p>
            <a:r>
              <a:rPr lang="en-GB" dirty="0"/>
              <a:t>[2, 3, 5]</a:t>
            </a:r>
          </a:p>
          <a:p>
            <a:r>
              <a:rPr lang="en-GB" dirty="0"/>
              <a:t>the filter computes:</a:t>
            </a:r>
          </a:p>
          <a:p>
            <a:r>
              <a:rPr lang="en-GB" dirty="0">
                <a:highlight>
                  <a:srgbClr val="FFFF00"/>
                </a:highlight>
              </a:rPr>
              <a:t>−1×2 + 0×3 + 1×5 = 3</a:t>
            </a:r>
          </a:p>
          <a:p>
            <a:r>
              <a:rPr lang="en-GB" dirty="0"/>
              <a:t>At the second position:</a:t>
            </a:r>
          </a:p>
          <a:p>
            <a:r>
              <a:rPr lang="en-GB" dirty="0"/>
              <a:t>[3, 5, 4]</a:t>
            </a:r>
          </a:p>
          <a:p>
            <a:r>
              <a:rPr lang="en-GB" dirty="0"/>
              <a:t>the result is:</a:t>
            </a:r>
          </a:p>
          <a:p>
            <a:r>
              <a:rPr lang="en-GB" dirty="0"/>
              <a:t>−1×3 + 0×5 + 1×4 = 1</a:t>
            </a:r>
          </a:p>
          <a:p>
            <a:r>
              <a:rPr lang="en-GB" dirty="0"/>
              <a:t>At the third position:</a:t>
            </a:r>
          </a:p>
          <a:p>
            <a:r>
              <a:rPr lang="en-GB" dirty="0"/>
              <a:t>[5, 4, 1]</a:t>
            </a:r>
          </a:p>
          <a:p>
            <a:r>
              <a:rPr lang="en-GB" dirty="0"/>
              <a:t>the result is:</a:t>
            </a:r>
          </a:p>
          <a:p>
            <a:r>
              <a:rPr lang="en-GB" dirty="0"/>
              <a:t>−1×5 + 0×4 + 1×1 = −4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177E793-48EE-D5DF-BB80-BCDD350D10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81985" y="1930400"/>
            <a:ext cx="4184034" cy="3880773"/>
          </a:xfrm>
        </p:spPr>
        <p:txBody>
          <a:bodyPr>
            <a:normAutofit fontScale="70000" lnSpcReduction="20000"/>
          </a:bodyPr>
          <a:lstStyle/>
          <a:p>
            <a:r>
              <a:rPr lang="en-GB" b="1" dirty="0"/>
              <a:t>Interpretation</a:t>
            </a:r>
          </a:p>
          <a:p>
            <a:r>
              <a:rPr lang="en-GB" dirty="0"/>
              <a:t>This particular kernel responds to local change.</a:t>
            </a:r>
          </a:p>
          <a:p>
            <a:r>
              <a:rPr lang="en-GB" dirty="0"/>
              <a:t>Positive activation:</a:t>
            </a:r>
          </a:p>
          <a:p>
            <a:pPr lvl="1"/>
            <a:r>
              <a:rPr lang="en-GB" dirty="0"/>
              <a:t>later value is larger than earlier value. </a:t>
            </a:r>
          </a:p>
          <a:p>
            <a:r>
              <a:rPr lang="en-GB" dirty="0"/>
              <a:t>Negative activation:</a:t>
            </a:r>
          </a:p>
          <a:p>
            <a:pPr lvl="1"/>
            <a:r>
              <a:rPr lang="en-GB" dirty="0"/>
              <a:t>later value is smaller. </a:t>
            </a:r>
          </a:p>
          <a:p>
            <a:endParaRPr lang="en-GB" dirty="0"/>
          </a:p>
          <a:p>
            <a:r>
              <a:rPr lang="en-GB" dirty="0"/>
              <a:t>In a neural network, these kernel values are </a:t>
            </a:r>
            <a:r>
              <a:rPr lang="en-GB" b="1" dirty="0"/>
              <a:t>learned</a:t>
            </a:r>
            <a:r>
              <a:rPr lang="en-GB" dirty="0"/>
              <a:t>, not manually specified.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672821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08208" y="0"/>
            <a:ext cx="1380744" cy="6858000"/>
          </a:xfrm>
          <a:prstGeom prst="rect">
            <a:avLst/>
          </a:prstGeom>
          <a:solidFill>
            <a:srgbClr val="84B927">
              <a:alpha val="90000"/>
            </a:srgbClr>
          </a:solidFill>
          <a:ln w="12700">
            <a:solidFill>
              <a:srgbClr val="84B9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469880" y="0"/>
            <a:ext cx="256032" cy="6858000"/>
          </a:xfrm>
          <a:prstGeom prst="rect">
            <a:avLst/>
          </a:prstGeom>
          <a:solidFill>
            <a:srgbClr val="EAF6D6">
              <a:alpha val="90000"/>
            </a:srgbClr>
          </a:solidFill>
          <a:ln w="12700">
            <a:solidFill>
              <a:srgbClr val="EAF6D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458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111827"/>
                </a:solidFill>
                <a:highlight>
                  <a:srgbClr val="FFFF00"/>
                </a:highlight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Convolution: a simple (one channel) numerical example</a:t>
            </a:r>
            <a:endParaRPr lang="en-US" sz="2600" dirty="0">
              <a:highlight>
                <a:srgbClr val="FFFF00"/>
              </a:highlight>
            </a:endParaRPr>
          </a:p>
        </p:txBody>
      </p:sp>
      <p:sp>
        <p:nvSpPr>
          <p:cNvPr id="5" name="Text 3"/>
          <p:cNvSpPr/>
          <p:nvPr/>
        </p:nvSpPr>
        <p:spPr>
          <a:xfrm>
            <a:off x="521208" y="8412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A hand-written kernel illustrates what a learned temporal filter does.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1827"/>
                </a:solidFill>
              </a:rPr>
              <a:t>sequence x = [2, 3, 5, 4, 1]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0" y="12344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1827"/>
                </a:solidFill>
              </a:rPr>
              <a:t>kernel w = [−1, 0, 1]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1965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987552" y="208483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508760" y="1965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581912" y="208483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103120" y="1965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2176272" y="208483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697480" y="1965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2770632" y="208483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4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91840" y="1965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3364992" y="208483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68680" y="1874520"/>
            <a:ext cx="1691640" cy="640080"/>
          </a:xfrm>
          <a:prstGeom prst="roundRect">
            <a:avLst>
              <a:gd name="adj" fmla="val 4286"/>
            </a:avLst>
          </a:prstGeom>
          <a:solidFill>
            <a:srgbClr val="EAF6D6">
              <a:alpha val="50000"/>
            </a:srgbClr>
          </a:solidFill>
          <a:ln w="20320">
            <a:solidFill>
              <a:srgbClr val="84B9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297680" y="208483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</a:rPr>
              <a:t>position 1: −1×2 + 0×3 + 1×5 = 3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4400" y="28803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987552" y="299923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2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508760" y="28803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1581912" y="299923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103120" y="28803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2176272" y="299923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5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697480" y="28803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2770632" y="299923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4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91840" y="28803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3364992" y="299923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1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463040" y="2788920"/>
            <a:ext cx="1691640" cy="640080"/>
          </a:xfrm>
          <a:prstGeom prst="roundRect">
            <a:avLst>
              <a:gd name="adj" fmla="val 4286"/>
            </a:avLst>
          </a:prstGeom>
          <a:solidFill>
            <a:srgbClr val="EAF6D6">
              <a:alpha val="50000"/>
            </a:srgbClr>
          </a:solidFill>
          <a:ln w="20320">
            <a:solidFill>
              <a:srgbClr val="84B9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4297680" y="299923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</a:rPr>
              <a:t>position 2: −1×3 + 0×5 + 1×4 = 1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14400" y="37947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987552" y="391363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2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508760" y="37947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1581912" y="391363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3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103120" y="37947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2176272" y="391363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5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697480" y="37947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2770632" y="391363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4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291840" y="37947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3364992" y="391363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1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057400" y="3703320"/>
            <a:ext cx="1691640" cy="640080"/>
          </a:xfrm>
          <a:prstGeom prst="roundRect">
            <a:avLst>
              <a:gd name="adj" fmla="val 4286"/>
            </a:avLst>
          </a:prstGeom>
          <a:solidFill>
            <a:srgbClr val="EAF6D6">
              <a:alpha val="50000"/>
            </a:srgbClr>
          </a:solidFill>
          <a:ln w="20320">
            <a:solidFill>
              <a:srgbClr val="84B9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4297680" y="391363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</a:rPr>
              <a:t>position 3: −1×5 + 0×4 + 1×1 = −4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874520" y="5074920"/>
            <a:ext cx="2331720" cy="594360"/>
          </a:xfrm>
          <a:prstGeom prst="roundRect">
            <a:avLst>
              <a:gd name="adj" fmla="val 12308"/>
            </a:avLst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1947672" y="5262372"/>
            <a:ext cx="2185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</a:rPr>
              <a:t>output feature map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</a:rPr>
              <a:t>[3, 1, −4]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502920" y="6236208"/>
            <a:ext cx="9829800" cy="411480"/>
          </a:xfrm>
          <a:prstGeom prst="rect">
            <a:avLst/>
          </a:prstGeom>
          <a:solidFill>
            <a:srgbClr val="FFFFFF">
              <a:alpha val="96000"/>
            </a:srgbClr>
          </a:solidFill>
          <a:ln w="7620">
            <a:solidFill>
              <a:srgbClr val="CBD5E1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621792" y="6336792"/>
            <a:ext cx="9555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This kernel responds to local patterns; in a Conv1D layer, kernel values are learned from the prediction task.</a:t>
            </a:r>
            <a:endParaRPr lang="en-US" sz="1200" b="1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F0C4C8B-AC29-B370-B1AC-144F06616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highlight>
                  <a:srgbClr val="FFFF00"/>
                </a:highlight>
              </a:rPr>
              <a:t>Multiple filters learn different temporal patterns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02BDD6A-A3FC-4425-BB50-E9DDAF9AD2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8"/>
            <a:ext cx="6275916" cy="4468811"/>
          </a:xfrm>
        </p:spPr>
        <p:txBody>
          <a:bodyPr>
            <a:normAutofit fontScale="92500" lnSpcReduction="20000"/>
          </a:bodyPr>
          <a:lstStyle/>
          <a:p>
            <a:r>
              <a:rPr lang="en-GB" dirty="0">
                <a:highlight>
                  <a:srgbClr val="FFFF00"/>
                </a:highlight>
              </a:rPr>
              <a:t>A Conv1D layer normally contains many filters.</a:t>
            </a:r>
          </a:p>
          <a:p>
            <a:r>
              <a:rPr lang="en-GB" dirty="0"/>
              <a:t>Suppose:</a:t>
            </a:r>
          </a:p>
          <a:p>
            <a:r>
              <a:rPr lang="en-GB" dirty="0"/>
              <a:t>F = 32</a:t>
            </a:r>
          </a:p>
          <a:p>
            <a:r>
              <a:rPr lang="en-GB" dirty="0"/>
              <a:t>The layer learns 32 different temporal detectors.</a:t>
            </a:r>
          </a:p>
          <a:p>
            <a:r>
              <a:rPr lang="en-GB" dirty="0"/>
              <a:t>Each filter produces its own feature map.</a:t>
            </a:r>
          </a:p>
          <a:p>
            <a:endParaRPr lang="en-GB" dirty="0"/>
          </a:p>
          <a:p>
            <a:r>
              <a:rPr lang="en-GB" dirty="0"/>
              <a:t>input sequence</a:t>
            </a:r>
          </a:p>
          <a:p>
            <a:r>
              <a:rPr lang="en-GB" dirty="0"/>
              <a:t>     ↓</a:t>
            </a:r>
          </a:p>
          <a:p>
            <a:r>
              <a:rPr lang="en-GB" dirty="0"/>
              <a:t> ┌───────── filter 1 → feature map 1</a:t>
            </a:r>
          </a:p>
          <a:p>
            <a:r>
              <a:rPr lang="en-GB" dirty="0"/>
              <a:t> ├───────── filter 2 → feature map 2</a:t>
            </a:r>
          </a:p>
          <a:p>
            <a:r>
              <a:rPr lang="en-GB" dirty="0"/>
              <a:t> ├───────── filter 3 → feature map 3</a:t>
            </a:r>
          </a:p>
          <a:p>
            <a:r>
              <a:rPr lang="en-GB" dirty="0"/>
              <a:t> │</a:t>
            </a:r>
          </a:p>
          <a:p>
            <a:r>
              <a:rPr lang="en-GB" dirty="0"/>
              <a:t> └───────── filter 32 → feature map 32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2DCDEED-15E5-D749-5425-1291C00961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81984" y="1609725"/>
            <a:ext cx="4590915" cy="5019675"/>
          </a:xfrm>
        </p:spPr>
        <p:txBody>
          <a:bodyPr>
            <a:normAutofit fontScale="92500" lnSpcReduction="20000"/>
          </a:bodyPr>
          <a:lstStyle/>
          <a:p>
            <a:r>
              <a:rPr lang="en-GB" b="1" dirty="0"/>
              <a:t>Different filters may become sensitive to different patterns</a:t>
            </a:r>
          </a:p>
          <a:p>
            <a:r>
              <a:rPr lang="en-GB" dirty="0">
                <a:highlight>
                  <a:srgbClr val="FFFF00"/>
                </a:highlight>
              </a:rPr>
              <a:t>For example:</a:t>
            </a:r>
          </a:p>
          <a:p>
            <a:pPr lvl="1"/>
            <a:r>
              <a:rPr lang="en-GB" dirty="0"/>
              <a:t>increasing trend; </a:t>
            </a:r>
          </a:p>
          <a:p>
            <a:pPr lvl="1"/>
            <a:r>
              <a:rPr lang="en-GB" dirty="0"/>
              <a:t>sudden drop; </a:t>
            </a:r>
          </a:p>
          <a:p>
            <a:pPr lvl="1"/>
            <a:r>
              <a:rPr lang="en-GB" dirty="0"/>
              <a:t>narrow peak; </a:t>
            </a:r>
          </a:p>
          <a:p>
            <a:pPr lvl="1"/>
            <a:r>
              <a:rPr lang="en-GB" dirty="0"/>
              <a:t>oscillatory burst; </a:t>
            </a:r>
          </a:p>
          <a:p>
            <a:pPr lvl="1"/>
            <a:r>
              <a:rPr lang="en-GB" dirty="0"/>
              <a:t>simultaneous changes across several channels. </a:t>
            </a:r>
          </a:p>
          <a:p>
            <a:endParaRPr lang="en-GB" b="1" dirty="0"/>
          </a:p>
          <a:p>
            <a:r>
              <a:rPr lang="en-GB" b="1" dirty="0"/>
              <a:t>Output channels</a:t>
            </a:r>
          </a:p>
          <a:p>
            <a:r>
              <a:rPr lang="en-GB" dirty="0"/>
              <a:t>The number of filters determines the number of output channels.</a:t>
            </a:r>
          </a:p>
          <a:p>
            <a:r>
              <a:rPr lang="en-GB" dirty="0"/>
              <a:t>If:</a:t>
            </a:r>
          </a:p>
          <a:p>
            <a:r>
              <a:rPr lang="en-GB" dirty="0"/>
              <a:t>F = 32</a:t>
            </a:r>
          </a:p>
          <a:p>
            <a:r>
              <a:rPr lang="en-GB" dirty="0"/>
              <a:t>then </a:t>
            </a:r>
            <a:r>
              <a:rPr lang="en-GB" dirty="0">
                <a:highlight>
                  <a:srgbClr val="FFFF00"/>
                </a:highlight>
              </a:rPr>
              <a:t>each temporal position is represented by 32 learned activations.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90601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08208" y="0"/>
            <a:ext cx="1380744" cy="6858000"/>
          </a:xfrm>
          <a:prstGeom prst="rect">
            <a:avLst/>
          </a:prstGeom>
          <a:solidFill>
            <a:srgbClr val="84B927">
              <a:alpha val="90000"/>
            </a:srgbClr>
          </a:solidFill>
          <a:ln w="12700">
            <a:solidFill>
              <a:srgbClr val="84B9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469880" y="0"/>
            <a:ext cx="256032" cy="6858000"/>
          </a:xfrm>
          <a:prstGeom prst="rect">
            <a:avLst/>
          </a:prstGeom>
          <a:solidFill>
            <a:srgbClr val="EAF6D6">
              <a:alpha val="90000"/>
            </a:srgbClr>
          </a:solidFill>
          <a:ln w="12700">
            <a:solidFill>
              <a:srgbClr val="EAF6D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458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Multiple filters learn different temporal patterns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8412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Each filter produces one output channel / feature map.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68680" y="2788920"/>
            <a:ext cx="118872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941832" y="3022092"/>
            <a:ext cx="1042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</a:rPr>
              <a:t>input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</a:rPr>
              <a:t>sequence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371600"/>
            <a:ext cx="132588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84B9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3319272" y="1600200"/>
            <a:ext cx="1179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</a:rPr>
              <a:t>filter 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</a:rPr>
              <a:t>rising edge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1709928"/>
            <a:ext cx="914400" cy="0"/>
          </a:xfrm>
          <a:prstGeom prst="line">
            <a:avLst/>
          </a:prstGeom>
          <a:noFill/>
          <a:ln w="16510">
            <a:solidFill>
              <a:srgbClr val="84B927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5623560" y="1371600"/>
            <a:ext cx="1234440" cy="676656"/>
          </a:xfrm>
          <a:prstGeom prst="roundRect">
            <a:avLst>
              <a:gd name="adj" fmla="val 10811"/>
            </a:avLst>
          </a:prstGeom>
          <a:solidFill>
            <a:srgbClr val="F8FAFC"/>
          </a:solidFill>
          <a:ln w="12700">
            <a:solidFill>
              <a:srgbClr val="84B9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696712" y="1600200"/>
            <a:ext cx="1088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</a:rPr>
              <a:t>feature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</a:rPr>
              <a:t>map 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 flipV="1">
            <a:off x="2103120" y="2606040"/>
            <a:ext cx="1069848" cy="521208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3246120" y="2286000"/>
            <a:ext cx="132588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3319272" y="2514600"/>
            <a:ext cx="1179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</a:rPr>
              <a:t>filter 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</a:rPr>
              <a:t>sharp drop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17720" y="2624328"/>
            <a:ext cx="914400" cy="0"/>
          </a:xfrm>
          <a:prstGeom prst="line">
            <a:avLst/>
          </a:prstGeom>
          <a:noFill/>
          <a:ln w="16510">
            <a:solidFill>
              <a:srgbClr val="2563EB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5623560" y="2286000"/>
            <a:ext cx="1234440" cy="676656"/>
          </a:xfrm>
          <a:prstGeom prst="roundRect">
            <a:avLst>
              <a:gd name="adj" fmla="val 10811"/>
            </a:avLst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5696712" y="2514600"/>
            <a:ext cx="1088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</a:rPr>
              <a:t>feature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</a:rPr>
              <a:t>map 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103120" y="3127248"/>
            <a:ext cx="1097280" cy="41148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3246120" y="3200400"/>
            <a:ext cx="132588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3319272" y="3429000"/>
            <a:ext cx="1179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</a:rPr>
              <a:t>filter 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</a:rPr>
              <a:t>oscillation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17720" y="3538728"/>
            <a:ext cx="914400" cy="0"/>
          </a:xfrm>
          <a:prstGeom prst="line">
            <a:avLst/>
          </a:prstGeom>
          <a:noFill/>
          <a:ln w="16510">
            <a:solidFill>
              <a:srgbClr val="7C3AED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5623560" y="3200400"/>
            <a:ext cx="1234440" cy="676656"/>
          </a:xfrm>
          <a:prstGeom prst="roundRect">
            <a:avLst>
              <a:gd name="adj" fmla="val 10811"/>
            </a:avLst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5696712" y="3429000"/>
            <a:ext cx="1088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</a:rPr>
              <a:t>feature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</a:rPr>
              <a:t>map 3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103120" y="3127248"/>
            <a:ext cx="1097280" cy="132588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3246120" y="4114800"/>
            <a:ext cx="132588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3319272" y="4343400"/>
            <a:ext cx="1179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</a:rPr>
              <a:t>filter F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</a:rPr>
              <a:t>transition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17720" y="4453128"/>
            <a:ext cx="914400" cy="0"/>
          </a:xfrm>
          <a:prstGeom prst="line">
            <a:avLst/>
          </a:prstGeom>
          <a:noFill/>
          <a:ln w="16510">
            <a:solidFill>
              <a:srgbClr val="F59E0B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5623560" y="4114800"/>
            <a:ext cx="1234440" cy="676656"/>
          </a:xfrm>
          <a:prstGeom prst="roundRect">
            <a:avLst>
              <a:gd name="adj" fmla="val 10811"/>
            </a:avLst>
          </a:prstGeom>
          <a:solidFill>
            <a:srgbClr val="F8FAFC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5696712" y="4343400"/>
            <a:ext cx="1088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</a:rPr>
              <a:t>feature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</a:rPr>
              <a:t>map F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20640" y="5349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</a:rPr>
              <a:t>F filters → F output channels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02920" y="6236208"/>
            <a:ext cx="9829800" cy="411480"/>
          </a:xfrm>
          <a:prstGeom prst="rect">
            <a:avLst/>
          </a:prstGeom>
          <a:solidFill>
            <a:srgbClr val="FFFFFF">
              <a:alpha val="96000"/>
            </a:srgbClr>
          </a:solidFill>
          <a:ln w="7620">
            <a:solidFill>
              <a:srgbClr val="CBD5E1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621792" y="6336792"/>
            <a:ext cx="9555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The number of filters controls the number of learned temporal feature maps produced by the layer.</a:t>
            </a:r>
            <a:endParaRPr lang="en-US" sz="1200" b="1" dirty="0"/>
          </a:p>
        </p:txBody>
      </p:sp>
      <p:sp>
        <p:nvSpPr>
          <p:cNvPr id="36" name="Shape 12">
            <a:extLst>
              <a:ext uri="{FF2B5EF4-FFF2-40B4-BE49-F238E27FC236}">
                <a16:creationId xmlns:a16="http://schemas.microsoft.com/office/drawing/2014/main" id="{AD70B016-B408-CD91-FF72-3345F561FBF5}"/>
              </a:ext>
            </a:extLst>
          </p:cNvPr>
          <p:cNvSpPr/>
          <p:nvPr/>
        </p:nvSpPr>
        <p:spPr>
          <a:xfrm flipV="1">
            <a:off x="2121408" y="1612772"/>
            <a:ext cx="1078992" cy="1514469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00C7EB8-57C9-6D85-13E0-3781E69DF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Conv1D output shape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B157CE6-1BD1-0877-B2CE-478D5E591E9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>
                <a:highlight>
                  <a:srgbClr val="FFFF00"/>
                </a:highlight>
              </a:rPr>
              <a:t>Input batch:</a:t>
            </a:r>
          </a:p>
          <a:p>
            <a:r>
              <a:rPr lang="en-GB" dirty="0">
                <a:highlight>
                  <a:srgbClr val="FFFF00"/>
                </a:highlight>
              </a:rPr>
              <a:t>[N, L, d]</a:t>
            </a:r>
          </a:p>
          <a:p>
            <a:r>
              <a:rPr lang="en-GB" dirty="0">
                <a:highlight>
                  <a:srgbClr val="FFFF00"/>
                </a:highlight>
              </a:rPr>
              <a:t>Suppose</a:t>
            </a:r>
            <a:r>
              <a:rPr lang="en-GB" dirty="0"/>
              <a:t> the Conv1D layer uses:</a:t>
            </a:r>
          </a:p>
          <a:p>
            <a:pPr lvl="1"/>
            <a:r>
              <a:rPr lang="en-GB" dirty="0"/>
              <a:t>F filters; </a:t>
            </a:r>
          </a:p>
          <a:p>
            <a:pPr lvl="1"/>
            <a:r>
              <a:rPr lang="en-GB" dirty="0"/>
              <a:t>kernel size K; </a:t>
            </a:r>
          </a:p>
          <a:p>
            <a:pPr lvl="1"/>
            <a:r>
              <a:rPr lang="en-GB" dirty="0"/>
              <a:t>stride 1; </a:t>
            </a:r>
          </a:p>
          <a:p>
            <a:pPr lvl="1"/>
            <a:r>
              <a:rPr lang="en-GB" dirty="0"/>
              <a:t>no padding (valid padding). </a:t>
            </a:r>
          </a:p>
          <a:p>
            <a:r>
              <a:rPr lang="en-GB" dirty="0">
                <a:highlight>
                  <a:srgbClr val="FFFF00"/>
                </a:highlight>
              </a:rPr>
              <a:t>The output shape is:</a:t>
            </a:r>
          </a:p>
          <a:p>
            <a:pPr lvl="1"/>
            <a:r>
              <a:rPr lang="en-GB" dirty="0">
                <a:highlight>
                  <a:srgbClr val="FFFF00"/>
                </a:highlight>
              </a:rPr>
              <a:t>[N, </a:t>
            </a:r>
            <a:r>
              <a:rPr lang="en-GB" dirty="0" err="1">
                <a:highlight>
                  <a:srgbClr val="FFFF00"/>
                </a:highlight>
              </a:rPr>
              <a:t>L_out</a:t>
            </a:r>
            <a:r>
              <a:rPr lang="en-GB" dirty="0">
                <a:highlight>
                  <a:srgbClr val="FFFF00"/>
                </a:highlight>
              </a:rPr>
              <a:t>, F]</a:t>
            </a:r>
          </a:p>
          <a:p>
            <a:r>
              <a:rPr lang="en-GB" dirty="0"/>
              <a:t>where:</a:t>
            </a:r>
          </a:p>
          <a:p>
            <a:pPr lvl="1"/>
            <a:r>
              <a:rPr lang="en-GB" dirty="0" err="1"/>
              <a:t>L_out</a:t>
            </a:r>
            <a:r>
              <a:rPr lang="en-GB" dirty="0"/>
              <a:t> = L − K + 1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EA402CE-610D-3360-88D0-C884A13A6D1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b="1" dirty="0">
                <a:highlight>
                  <a:srgbClr val="FFFF00"/>
                </a:highlight>
              </a:rPr>
              <a:t>Example</a:t>
            </a:r>
          </a:p>
          <a:p>
            <a:r>
              <a:rPr lang="en-GB" dirty="0"/>
              <a:t>Input:</a:t>
            </a:r>
          </a:p>
          <a:p>
            <a:pPr lvl="1"/>
            <a:r>
              <a:rPr lang="en-GB" dirty="0"/>
              <a:t>[64, 200, 4]</a:t>
            </a:r>
          </a:p>
          <a:p>
            <a:r>
              <a:rPr lang="en-GB" dirty="0"/>
              <a:t>Kernel size:</a:t>
            </a:r>
          </a:p>
          <a:p>
            <a:pPr lvl="1"/>
            <a:r>
              <a:rPr lang="en-GB" dirty="0"/>
              <a:t>K = 5</a:t>
            </a:r>
          </a:p>
          <a:p>
            <a:r>
              <a:rPr lang="en-GB" dirty="0"/>
              <a:t>Number of filters:</a:t>
            </a:r>
          </a:p>
          <a:p>
            <a:pPr lvl="1"/>
            <a:r>
              <a:rPr lang="en-GB" dirty="0"/>
              <a:t>F = 32</a:t>
            </a:r>
          </a:p>
          <a:p>
            <a:r>
              <a:rPr lang="en-GB" dirty="0"/>
              <a:t>Then:</a:t>
            </a:r>
          </a:p>
          <a:p>
            <a:pPr lvl="1"/>
            <a:r>
              <a:rPr lang="en-GB" dirty="0" err="1"/>
              <a:t>L_out</a:t>
            </a:r>
            <a:r>
              <a:rPr lang="en-GB" dirty="0"/>
              <a:t> = 200 − 5 + 1 = 196</a:t>
            </a:r>
          </a:p>
          <a:p>
            <a:r>
              <a:rPr lang="en-GB" dirty="0"/>
              <a:t>Output:</a:t>
            </a:r>
          </a:p>
          <a:p>
            <a:pPr lvl="1"/>
            <a:r>
              <a:rPr lang="en-GB" dirty="0"/>
              <a:t>[64, 196, 32]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644356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849B7B4-8EE9-2E2C-9F85-EF6ADF700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Conv1D output shape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F2D8481-5231-CDCF-3514-644C4C65A1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Interpretation</a:t>
            </a:r>
          </a:p>
          <a:p>
            <a:r>
              <a:rPr lang="en-GB" dirty="0"/>
              <a:t>For every sample:</a:t>
            </a:r>
          </a:p>
          <a:p>
            <a:pPr lvl="0"/>
            <a:r>
              <a:rPr lang="en-GB" dirty="0"/>
              <a:t>the temporal length becomes 196; </a:t>
            </a:r>
          </a:p>
          <a:p>
            <a:pPr lvl="0"/>
            <a:r>
              <a:rPr lang="en-GB" dirty="0"/>
              <a:t>every temporal position is represented by 32 learned features. </a:t>
            </a:r>
          </a:p>
          <a:p>
            <a:endParaRPr lang="en-GB" dirty="0"/>
          </a:p>
          <a:p>
            <a:r>
              <a:rPr lang="en-GB" dirty="0"/>
              <a:t>N.B.</a:t>
            </a:r>
          </a:p>
          <a:p>
            <a:r>
              <a:rPr lang="en-GB" dirty="0"/>
              <a:t>Input channels: d = 4</a:t>
            </a:r>
          </a:p>
          <a:p>
            <a:r>
              <a:rPr lang="en-GB" dirty="0"/>
              <a:t>Output channels: F = 32</a:t>
            </a:r>
          </a:p>
          <a:p>
            <a:r>
              <a:rPr lang="en-GB" b="1" dirty="0"/>
              <a:t>The convolution transforms the original variables into learned temporal feature maps.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462926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08208" y="0"/>
            <a:ext cx="1380744" cy="6858000"/>
          </a:xfrm>
          <a:prstGeom prst="rect">
            <a:avLst/>
          </a:prstGeom>
          <a:solidFill>
            <a:srgbClr val="84B927">
              <a:alpha val="90000"/>
            </a:srgbClr>
          </a:solidFill>
          <a:ln w="12700">
            <a:solidFill>
              <a:srgbClr val="84B9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469880" y="0"/>
            <a:ext cx="256032" cy="6858000"/>
          </a:xfrm>
          <a:prstGeom prst="rect">
            <a:avLst/>
          </a:prstGeom>
          <a:solidFill>
            <a:srgbClr val="EAF6D6">
              <a:alpha val="90000"/>
            </a:srgbClr>
          </a:solidFill>
          <a:ln w="12700">
            <a:solidFill>
              <a:srgbClr val="EAF6D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458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Conv1D output shape with valid padding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8412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75569"/>
                </a:solidFill>
              </a:rPr>
              <a:t>Temporal length changes when no boundary padding is used.</a:t>
            </a:r>
            <a:endParaRPr lang="en-US" sz="1150" b="1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1645920" cy="777240"/>
          </a:xfrm>
          <a:prstGeom prst="roundRect">
            <a:avLst>
              <a:gd name="adj" fmla="val 9412"/>
            </a:avLst>
          </a:prstGeom>
          <a:solidFill>
            <a:srgbClr val="EEF2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896112" y="2107692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</a:rPr>
              <a:t>Input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</a:rPr>
              <a:t>[N, L, d]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651760" y="2212848"/>
            <a:ext cx="1005840" cy="0"/>
          </a:xfrm>
          <a:prstGeom prst="line">
            <a:avLst/>
          </a:prstGeom>
          <a:noFill/>
          <a:ln w="2032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3749040" y="1691640"/>
            <a:ext cx="1645920" cy="1051560"/>
          </a:xfrm>
          <a:prstGeom prst="roundRect">
            <a:avLst>
              <a:gd name="adj" fmla="val 6957"/>
            </a:avLst>
          </a:prstGeom>
          <a:solidFill>
            <a:srgbClr val="ECFDF5"/>
          </a:solidFill>
          <a:ln w="12700">
            <a:solidFill>
              <a:srgbClr val="84B9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3822192" y="2107692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7F2B"/>
                </a:solidFill>
              </a:rPr>
              <a:t>Conv1D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4F7F2B"/>
                </a:solidFill>
              </a:rPr>
              <a:t>K, F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532120" y="2212848"/>
            <a:ext cx="1005840" cy="0"/>
          </a:xfrm>
          <a:prstGeom prst="line">
            <a:avLst/>
          </a:prstGeom>
          <a:noFill/>
          <a:ln w="2032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6629400" y="182880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702552" y="2107692"/>
            <a:ext cx="1728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</a:rPr>
              <a:t>Output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</a:rPr>
              <a:t>[N, L_out, F]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639455" y="3243587"/>
            <a:ext cx="1959033" cy="5486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1827"/>
                </a:solidFill>
              </a:rPr>
              <a:t>For stride = 1 and no (i.e., valid) padding: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840480" y="3291840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3913632" y="3410712"/>
            <a:ext cx="1911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</a:rPr>
              <a:t>L_out = L − K + 1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05840" y="425196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</a:rPr>
              <a:t>Example: [64, 200, 4], K = 5, F = 32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0" y="3977640"/>
            <a:ext cx="292608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5559552" y="4256532"/>
            <a:ext cx="2779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</a:rPr>
              <a:t>L_out = 200 − 5 + 1 = 196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</a:rPr>
              <a:t>Output = [64, 196, 32]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6236208"/>
            <a:ext cx="9829800" cy="411480"/>
          </a:xfrm>
          <a:prstGeom prst="rect">
            <a:avLst/>
          </a:prstGeom>
          <a:solidFill>
            <a:srgbClr val="FFFFFF">
              <a:alpha val="96000"/>
            </a:srgbClr>
          </a:solidFill>
          <a:ln w="7620">
            <a:solidFill>
              <a:srgbClr val="CBD5E1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621792" y="6336792"/>
            <a:ext cx="9555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The convolution transforms original variables d into learned output channels F.</a:t>
            </a:r>
            <a:endParaRPr lang="en-US" sz="1400" b="1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D007C3C-1E68-B3C8-5A37-F558293CC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highlight>
                  <a:srgbClr val="FFFF00"/>
                </a:highlight>
              </a:rPr>
              <a:t>Kernel size determines local temporal context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A02E282-B0A1-7F83-B108-18D3C94F1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The kernel size K specifies how many </a:t>
            </a:r>
            <a:r>
              <a:rPr lang="en-GB" dirty="0" err="1"/>
              <a:t>neighboring</a:t>
            </a:r>
            <a:r>
              <a:rPr lang="en-GB" dirty="0"/>
              <a:t> time steps contribute directly to one first-layer activation.</a:t>
            </a:r>
          </a:p>
          <a:p>
            <a:r>
              <a:rPr lang="en-GB" b="1" dirty="0"/>
              <a:t>Example</a:t>
            </a:r>
          </a:p>
          <a:p>
            <a:r>
              <a:rPr lang="en-GB" dirty="0"/>
              <a:t>K = 3 Each activation depends on three time steps.</a:t>
            </a:r>
          </a:p>
          <a:p>
            <a:r>
              <a:rPr lang="en-GB" dirty="0"/>
              <a:t>K = 20 Each activation depends on twenty time steps.</a:t>
            </a:r>
          </a:p>
          <a:p>
            <a:r>
              <a:rPr lang="en-GB" b="1" dirty="0">
                <a:highlight>
                  <a:srgbClr val="FFFF00"/>
                </a:highlight>
              </a:rPr>
              <a:t>Physical interpretation</a:t>
            </a:r>
          </a:p>
          <a:p>
            <a:r>
              <a:rPr lang="en-GB" dirty="0"/>
              <a:t>Suppose sampling frequency is Fs = 100 Hz</a:t>
            </a:r>
          </a:p>
          <a:p>
            <a:r>
              <a:rPr lang="en-GB" dirty="0"/>
              <a:t>Then:</a:t>
            </a:r>
          </a:p>
          <a:p>
            <a:r>
              <a:rPr lang="en-GB" dirty="0"/>
              <a:t>K = 5 covers approximately 5 / 100 = 0.05 s</a:t>
            </a:r>
          </a:p>
          <a:p>
            <a:r>
              <a:rPr lang="en-GB" dirty="0"/>
              <a:t>while:</a:t>
            </a:r>
          </a:p>
          <a:p>
            <a:r>
              <a:rPr lang="en-GB" dirty="0"/>
              <a:t>K = 100 covers 1 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233824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69106-AE56-2066-B59C-BA0B3D541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EE2D762-8AED-9FB8-169D-D33E4C268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Kernel size determines local temporal context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A473440-99C0-A752-B1E5-E59093F3B1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Therefore </a:t>
            </a:r>
            <a:r>
              <a:rPr lang="en-GB" b="1" dirty="0">
                <a:highlight>
                  <a:srgbClr val="FFFF00"/>
                </a:highlight>
              </a:rPr>
              <a:t>kernel size </a:t>
            </a:r>
            <a:r>
              <a:rPr lang="en-GB" dirty="0">
                <a:highlight>
                  <a:srgbClr val="FFFF00"/>
                </a:highlight>
              </a:rPr>
              <a:t>represents a physical temporal duration.</a:t>
            </a:r>
          </a:p>
          <a:p>
            <a:endParaRPr lang="en-GB" b="1" dirty="0"/>
          </a:p>
          <a:p>
            <a:r>
              <a:rPr lang="en-GB" b="1" dirty="0">
                <a:highlight>
                  <a:srgbClr val="FFFF00"/>
                </a:highlight>
              </a:rPr>
              <a:t>Design question</a:t>
            </a:r>
          </a:p>
          <a:p>
            <a:r>
              <a:rPr lang="en-GB" dirty="0"/>
              <a:t>What is the approximate duration of the local patterns that </a:t>
            </a:r>
            <a:r>
              <a:rPr lang="en-GB" b="1" dirty="0"/>
              <a:t>the first convolutional layer should detect?</a:t>
            </a:r>
          </a:p>
          <a:p>
            <a:r>
              <a:rPr lang="en-GB" dirty="0"/>
              <a:t>This depends on:</a:t>
            </a:r>
          </a:p>
          <a:p>
            <a:pPr lvl="1"/>
            <a:r>
              <a:rPr lang="en-GB" dirty="0"/>
              <a:t>sampling frequency; </a:t>
            </a:r>
          </a:p>
          <a:p>
            <a:pPr lvl="1"/>
            <a:r>
              <a:rPr lang="en-GB" dirty="0"/>
              <a:t>expected event duration; </a:t>
            </a:r>
          </a:p>
          <a:p>
            <a:pPr lvl="1"/>
            <a:r>
              <a:rPr lang="en-GB" dirty="0"/>
              <a:t>signal dynamics; </a:t>
            </a:r>
          </a:p>
          <a:p>
            <a:pPr lvl="1"/>
            <a:r>
              <a:rPr lang="en-GB" dirty="0"/>
              <a:t>domain knowledge.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268238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08208" y="0"/>
            <a:ext cx="1380744" cy="6858000"/>
          </a:xfrm>
          <a:prstGeom prst="rect">
            <a:avLst/>
          </a:prstGeom>
          <a:solidFill>
            <a:srgbClr val="84B927">
              <a:alpha val="90000"/>
            </a:srgbClr>
          </a:solidFill>
          <a:ln w="12700">
            <a:solidFill>
              <a:srgbClr val="84B9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469880" y="0"/>
            <a:ext cx="256032" cy="6858000"/>
          </a:xfrm>
          <a:prstGeom prst="rect">
            <a:avLst/>
          </a:prstGeom>
          <a:solidFill>
            <a:srgbClr val="EAF6D6">
              <a:alpha val="90000"/>
            </a:srgbClr>
          </a:solidFill>
          <a:ln w="12700">
            <a:solidFill>
              <a:srgbClr val="EAF6D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458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Kernel size has a physical duration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8412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Kernel size is a number of frames; sampling frequency translates it into time.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77240" y="11430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</a:rPr>
              <a:t>Fs = 100 Hz  →  100 frames / second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19202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84B9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987552" y="2267712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55000" lnSpcReduction="2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F7F2B"/>
                </a:solidFill>
              </a:rPr>
              <a:t>K = 5 frames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4F7F2B"/>
                </a:solidFill>
              </a:rPr>
              <a:t>0.05 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092708" y="3104388"/>
            <a:ext cx="100584" cy="100584"/>
          </a:xfrm>
          <a:prstGeom prst="ellipse">
            <a:avLst/>
          </a:prstGeom>
          <a:solidFill>
            <a:srgbClr val="84B927"/>
          </a:solidFill>
          <a:ln w="12700">
            <a:solidFill>
              <a:srgbClr val="84B9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1394460" y="3104388"/>
            <a:ext cx="100584" cy="100584"/>
          </a:xfrm>
          <a:prstGeom prst="ellipse">
            <a:avLst/>
          </a:prstGeom>
          <a:solidFill>
            <a:srgbClr val="84B927"/>
          </a:solidFill>
          <a:ln w="12700">
            <a:solidFill>
              <a:srgbClr val="84B9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1696212" y="3104388"/>
            <a:ext cx="100584" cy="100584"/>
          </a:xfrm>
          <a:prstGeom prst="ellipse">
            <a:avLst/>
          </a:prstGeom>
          <a:solidFill>
            <a:srgbClr val="84B927"/>
          </a:solidFill>
          <a:ln w="12700">
            <a:solidFill>
              <a:srgbClr val="84B9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1997964" y="3104388"/>
            <a:ext cx="100584" cy="100584"/>
          </a:xfrm>
          <a:prstGeom prst="ellipse">
            <a:avLst/>
          </a:prstGeom>
          <a:solidFill>
            <a:srgbClr val="84B927"/>
          </a:solidFill>
          <a:ln w="12700">
            <a:solidFill>
              <a:srgbClr val="84B9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2299716" y="3104388"/>
            <a:ext cx="100584" cy="100584"/>
          </a:xfrm>
          <a:prstGeom prst="ellipse">
            <a:avLst/>
          </a:prstGeom>
          <a:solidFill>
            <a:srgbClr val="84B927"/>
          </a:solidFill>
          <a:ln w="12700">
            <a:solidFill>
              <a:srgbClr val="84B9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4572000" y="19202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645152" y="2267712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55000" lnSpcReduction="2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827"/>
                </a:solidFill>
              </a:rPr>
              <a:t>K = 100 frames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11827"/>
                </a:solidFill>
              </a:rPr>
              <a:t>1.00 s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430268" y="3104388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4521708" y="3104388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4613148" y="3104388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4704588" y="3104388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4796028" y="3104388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4887468" y="3104388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4978908" y="3104388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5070348" y="3104388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5161788" y="3104388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5253228" y="3104388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5344668" y="3104388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5436108" y="3104388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5527548" y="3104388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5618988" y="3104388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5710428" y="3104388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5801868" y="3104388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5893308" y="3104388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5984748" y="3104388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6076188" y="3104388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6167628" y="3104388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6259068" y="3104388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6350508" y="3104388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822960" y="443484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</a:rPr>
              <a:t>Design question: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2514600" y="4434840"/>
            <a:ext cx="5623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</a:rPr>
              <a:t>What is the expected duration of the local pattern the first layer should detect?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02920" y="6236208"/>
            <a:ext cx="9829800" cy="411480"/>
          </a:xfrm>
          <a:prstGeom prst="rect">
            <a:avLst/>
          </a:prstGeom>
          <a:solidFill>
            <a:srgbClr val="FFFFFF">
              <a:alpha val="96000"/>
            </a:srgbClr>
          </a:solidFill>
          <a:ln w="7620">
            <a:solidFill>
              <a:srgbClr val="CBD5E1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621792" y="6336792"/>
            <a:ext cx="9555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highlight>
                  <a:srgbClr val="FFFF00"/>
                </a:highlight>
              </a:rPr>
              <a:t>Kernel size should be chosen with the sampling rate and the expected event duration in mind</a:t>
            </a:r>
            <a:r>
              <a:rPr lang="en-US" sz="1020" dirty="0">
                <a:solidFill>
                  <a:srgbClr val="111827"/>
                </a:solidFill>
              </a:rPr>
              <a:t>.</a:t>
            </a:r>
            <a:endParaRPr lang="en-US" sz="1020" dirty="0"/>
          </a:p>
        </p:txBody>
      </p: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F4C110F8-3C5C-A602-14E1-B361B49238C3}"/>
              </a:ext>
            </a:extLst>
          </p:cNvPr>
          <p:cNvSpPr txBox="1"/>
          <p:nvPr/>
        </p:nvSpPr>
        <p:spPr>
          <a:xfrm>
            <a:off x="6792292" y="1236190"/>
            <a:ext cx="27877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N.B. Use the </a:t>
            </a:r>
            <a:r>
              <a:rPr lang="it-IT" dirty="0" err="1"/>
              <a:t>term</a:t>
            </a:r>
            <a:r>
              <a:rPr lang="it-IT" dirty="0"/>
              <a:t> frames, </a:t>
            </a:r>
            <a:r>
              <a:rPr lang="it-IT" dirty="0" err="1"/>
              <a:t>not</a:t>
            </a:r>
            <a:r>
              <a:rPr lang="it-IT" dirty="0"/>
              <a:t> samples</a:t>
            </a:r>
            <a:endParaRPr lang="en-GB" dirty="0"/>
          </a:p>
        </p:txBody>
      </p:sp>
      <p:cxnSp>
        <p:nvCxnSpPr>
          <p:cNvPr id="44" name="Connettore 2 43">
            <a:extLst>
              <a:ext uri="{FF2B5EF4-FFF2-40B4-BE49-F238E27FC236}">
                <a16:creationId xmlns:a16="http://schemas.microsoft.com/office/drawing/2014/main" id="{707A25DA-1983-3850-818E-FB0CBA073141}"/>
              </a:ext>
            </a:extLst>
          </p:cNvPr>
          <p:cNvCxnSpPr>
            <a:cxnSpLocks/>
          </p:cNvCxnSpPr>
          <p:nvPr/>
        </p:nvCxnSpPr>
        <p:spPr>
          <a:xfrm flipH="1">
            <a:off x="2240280" y="1497330"/>
            <a:ext cx="4498848" cy="7703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ttore 2 46">
            <a:extLst>
              <a:ext uri="{FF2B5EF4-FFF2-40B4-BE49-F238E27FC236}">
                <a16:creationId xmlns:a16="http://schemas.microsoft.com/office/drawing/2014/main" id="{68C2E91F-03CF-9A91-21F2-43D389D200C5}"/>
              </a:ext>
            </a:extLst>
          </p:cNvPr>
          <p:cNvCxnSpPr>
            <a:endCxn id="6" idx="2"/>
          </p:cNvCxnSpPr>
          <p:nvPr/>
        </p:nvCxnSpPr>
        <p:spPr>
          <a:xfrm flipH="1">
            <a:off x="3063240" y="1399032"/>
            <a:ext cx="35204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3620C3A-6280-D2E6-68B6-22C6D7C89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Small and large kernels make different assumptions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D60491F-DD92-A130-B961-9F7A3104C5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1998663"/>
            <a:ext cx="4999566" cy="3880773"/>
          </a:xfrm>
        </p:spPr>
        <p:txBody>
          <a:bodyPr>
            <a:normAutofit/>
          </a:bodyPr>
          <a:lstStyle/>
          <a:p>
            <a:r>
              <a:rPr lang="en-GB" b="1" dirty="0"/>
              <a:t>Small kernel</a:t>
            </a:r>
          </a:p>
          <a:p>
            <a:r>
              <a:rPr lang="en-GB" dirty="0"/>
              <a:t>Example: K = 3</a:t>
            </a:r>
          </a:p>
          <a:p>
            <a:r>
              <a:rPr lang="en-GB" b="1" dirty="0"/>
              <a:t>Advantages:</a:t>
            </a:r>
          </a:p>
          <a:p>
            <a:pPr lvl="1"/>
            <a:r>
              <a:rPr lang="en-GB" dirty="0"/>
              <a:t>focuses on short local structure; </a:t>
            </a:r>
          </a:p>
          <a:p>
            <a:pPr lvl="1"/>
            <a:r>
              <a:rPr lang="en-GB" dirty="0"/>
              <a:t>few parameters; </a:t>
            </a:r>
          </a:p>
          <a:p>
            <a:pPr lvl="1"/>
            <a:r>
              <a:rPr lang="en-GB" dirty="0"/>
              <a:t>computationally efficient. </a:t>
            </a:r>
          </a:p>
          <a:p>
            <a:r>
              <a:rPr lang="en-GB" dirty="0"/>
              <a:t>Potential limitation:</a:t>
            </a:r>
          </a:p>
          <a:p>
            <a:pPr lvl="1"/>
            <a:r>
              <a:rPr lang="en-GB" dirty="0"/>
              <a:t>cannot directly detect a long pattern in one layer. 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4C18707-9CD5-419C-E263-C505BB2CAA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9145" y="1930400"/>
            <a:ext cx="5373242" cy="3880773"/>
          </a:xfrm>
        </p:spPr>
        <p:txBody>
          <a:bodyPr>
            <a:normAutofit/>
          </a:bodyPr>
          <a:lstStyle/>
          <a:p>
            <a:r>
              <a:rPr lang="en-GB" b="1" dirty="0"/>
              <a:t>Large kernel</a:t>
            </a:r>
          </a:p>
          <a:p>
            <a:r>
              <a:rPr lang="en-GB" dirty="0"/>
              <a:t>Example: K = 51</a:t>
            </a:r>
          </a:p>
          <a:p>
            <a:r>
              <a:rPr lang="en-GB" b="1" dirty="0"/>
              <a:t>Advantages:</a:t>
            </a:r>
          </a:p>
          <a:p>
            <a:pPr lvl="1"/>
            <a:r>
              <a:rPr lang="en-GB" dirty="0"/>
              <a:t>observes a longer interval immediately; </a:t>
            </a:r>
          </a:p>
          <a:p>
            <a:pPr lvl="1"/>
            <a:r>
              <a:rPr lang="en-GB" dirty="0"/>
              <a:t>can detect longer temporal motifs. </a:t>
            </a:r>
          </a:p>
          <a:p>
            <a:r>
              <a:rPr lang="en-GB" dirty="0"/>
              <a:t>Potential limitations:</a:t>
            </a:r>
          </a:p>
          <a:p>
            <a:pPr lvl="1"/>
            <a:r>
              <a:rPr lang="en-GB" dirty="0"/>
              <a:t>more parameters; </a:t>
            </a:r>
          </a:p>
          <a:p>
            <a:pPr lvl="1"/>
            <a:r>
              <a:rPr lang="en-GB" dirty="0"/>
              <a:t>more computation; </a:t>
            </a:r>
          </a:p>
          <a:p>
            <a:pPr lvl="1"/>
            <a:r>
              <a:rPr lang="en-GB" dirty="0"/>
              <a:t>may mix several distinct local phenomena.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546123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D52AD1F-317B-EA51-9413-DA1058FA9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Small and large kernels make different assumptions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901DAC6-9E2F-D4ED-FE22-7C6B2DC806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network does not necessarily need a very large first-layer kernel to access long context.</a:t>
            </a:r>
          </a:p>
          <a:p>
            <a:r>
              <a:rPr lang="en-GB" b="1" dirty="0"/>
              <a:t>By stacking several convolutional layers, later layers can depend on increasingly large regions of the original signal</a:t>
            </a:r>
            <a:r>
              <a:rPr lang="en-GB" dirty="0"/>
              <a:t>.</a:t>
            </a:r>
          </a:p>
          <a:p>
            <a:pPr lvl="1"/>
            <a:r>
              <a:rPr lang="en-GB" b="1" dirty="0"/>
              <a:t>Increased</a:t>
            </a:r>
            <a:r>
              <a:rPr lang="en-GB" dirty="0"/>
              <a:t> </a:t>
            </a:r>
            <a:r>
              <a:rPr lang="en-GB" b="1" dirty="0"/>
              <a:t>receptive field</a:t>
            </a:r>
            <a:r>
              <a:rPr lang="en-GB" dirty="0"/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90877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00C2D31-7303-2015-DBEF-D32B7AD41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Nonlinearity after convolution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CDDF55B-1A77-BBF1-B7BC-4D5346219F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9076266" cy="4564061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A convolution is fundamentally a linear weighted combination.</a:t>
            </a:r>
          </a:p>
          <a:p>
            <a:r>
              <a:rPr lang="en-GB" dirty="0"/>
              <a:t>To learn nonlinear representations, an activation function is applied.</a:t>
            </a:r>
          </a:p>
          <a:p>
            <a:r>
              <a:rPr lang="en-GB" dirty="0"/>
              <a:t>A common choice is </a:t>
            </a:r>
            <a:r>
              <a:rPr lang="en-GB" dirty="0" err="1"/>
              <a:t>ReLU</a:t>
            </a:r>
            <a:r>
              <a:rPr lang="en-GB" dirty="0"/>
              <a:t>:</a:t>
            </a:r>
          </a:p>
          <a:p>
            <a:pPr lvl="1"/>
            <a:r>
              <a:rPr lang="en-GB" dirty="0" err="1"/>
              <a:t>ReLU</a:t>
            </a:r>
            <a:r>
              <a:rPr lang="en-GB" dirty="0"/>
              <a:t>(z) = max(0, z)</a:t>
            </a:r>
          </a:p>
          <a:p>
            <a:r>
              <a:rPr lang="en-GB" b="1" dirty="0"/>
              <a:t>Conceptually</a:t>
            </a:r>
          </a:p>
          <a:p>
            <a:pPr lvl="1"/>
            <a:r>
              <a:rPr lang="en-GB" dirty="0"/>
              <a:t>local input</a:t>
            </a:r>
          </a:p>
          <a:p>
            <a:pPr lvl="1"/>
            <a:r>
              <a:rPr lang="en-GB" dirty="0"/>
              <a:t>    ↓</a:t>
            </a:r>
          </a:p>
          <a:p>
            <a:pPr lvl="1"/>
            <a:r>
              <a:rPr lang="en-GB" dirty="0"/>
              <a:t>convolution</a:t>
            </a:r>
          </a:p>
          <a:p>
            <a:pPr lvl="1"/>
            <a:r>
              <a:rPr lang="en-GB" dirty="0"/>
              <a:t>    ↓</a:t>
            </a:r>
          </a:p>
          <a:p>
            <a:pPr lvl="1"/>
            <a:r>
              <a:rPr lang="en-GB" dirty="0"/>
              <a:t>raw activation</a:t>
            </a:r>
          </a:p>
          <a:p>
            <a:pPr lvl="1"/>
            <a:r>
              <a:rPr lang="en-GB" dirty="0"/>
              <a:t>    ↓</a:t>
            </a:r>
          </a:p>
          <a:p>
            <a:pPr lvl="1"/>
            <a:r>
              <a:rPr lang="en-GB" dirty="0"/>
              <a:t>nonlinear activation</a:t>
            </a:r>
          </a:p>
          <a:p>
            <a:pPr lvl="1"/>
            <a:r>
              <a:rPr lang="en-GB" dirty="0"/>
              <a:t>    ↓</a:t>
            </a:r>
          </a:p>
          <a:p>
            <a:pPr lvl="1"/>
            <a:r>
              <a:rPr lang="en-GB" dirty="0"/>
              <a:t>feature map</a:t>
            </a:r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591354C-2470-FE0B-1177-36E8B493ED47}"/>
              </a:ext>
            </a:extLst>
          </p:cNvPr>
          <p:cNvSpPr txBox="1"/>
          <p:nvPr/>
        </p:nvSpPr>
        <p:spPr>
          <a:xfrm>
            <a:off x="4652962" y="3891340"/>
            <a:ext cx="7158037" cy="27469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>
                <a:highlight>
                  <a:srgbClr val="FFFF00"/>
                </a:highlight>
              </a:rPr>
              <a:t>Why nonlinearities matter</a:t>
            </a:r>
          </a:p>
          <a:p>
            <a:r>
              <a:rPr lang="en-GB" sz="1800" dirty="0"/>
              <a:t>Without nonlinear activations, stacking several convolutional layers would </a:t>
            </a:r>
            <a:r>
              <a:rPr lang="en-GB" dirty="0"/>
              <a:t>be</a:t>
            </a:r>
            <a:r>
              <a:rPr lang="en-GB" sz="1800" dirty="0"/>
              <a:t> equivalent to a linear transformation.</a:t>
            </a:r>
          </a:p>
          <a:p>
            <a:r>
              <a:rPr lang="en-GB" sz="1800" b="1" dirty="0"/>
              <a:t>Nonlinear activations allow the network to represent more complex relationships.</a:t>
            </a:r>
          </a:p>
          <a:p>
            <a:r>
              <a:rPr lang="en-GB" sz="1050" dirty="0"/>
              <a:t> </a:t>
            </a:r>
          </a:p>
          <a:p>
            <a:r>
              <a:rPr lang="en-GB" sz="1800" b="1" dirty="0">
                <a:highlight>
                  <a:srgbClr val="FFFF00"/>
                </a:highlight>
              </a:rPr>
              <a:t>Typical interpretation</a:t>
            </a:r>
          </a:p>
          <a:p>
            <a:r>
              <a:rPr lang="en-GB" sz="1800" b="1" dirty="0"/>
              <a:t>The convolution asks: </a:t>
            </a:r>
            <a:r>
              <a:rPr lang="en-GB" sz="1800" dirty="0"/>
              <a:t>How strongly does this local pattern match?</a:t>
            </a:r>
          </a:p>
          <a:p>
            <a:r>
              <a:rPr lang="en-GB" sz="1800" b="1" dirty="0"/>
              <a:t>The nonlinearity </a:t>
            </a:r>
            <a:r>
              <a:rPr lang="en-GB" sz="1800" dirty="0"/>
              <a:t>determines how that response is propagated to later layers.</a:t>
            </a:r>
          </a:p>
        </p:txBody>
      </p:sp>
    </p:spTree>
    <p:extLst>
      <p:ext uri="{BB962C8B-B14F-4D97-AF65-F5344CB8AC3E}">
        <p14:creationId xmlns:p14="http://schemas.microsoft.com/office/powerpoint/2010/main" val="14071141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9080EB4-34BE-68AC-173C-56BF2D387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Stacking temporal convolutions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98B91BB-2620-4510-25E5-4C65672E4E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5142441" cy="4440236"/>
          </a:xfrm>
        </p:spPr>
        <p:txBody>
          <a:bodyPr>
            <a:normAutofit fontScale="77500" lnSpcReduction="20000"/>
          </a:bodyPr>
          <a:lstStyle/>
          <a:p>
            <a:r>
              <a:rPr lang="en-GB" dirty="0"/>
              <a:t>A temporal CNN normally contains several convolutional layers.</a:t>
            </a:r>
          </a:p>
          <a:p>
            <a:r>
              <a:rPr lang="en-GB" dirty="0"/>
              <a:t>Conceptually:</a:t>
            </a:r>
          </a:p>
          <a:p>
            <a:pPr lvl="1"/>
            <a:r>
              <a:rPr lang="en-GB" dirty="0"/>
              <a:t>raw sequence</a:t>
            </a:r>
          </a:p>
          <a:p>
            <a:pPr lvl="1"/>
            <a:r>
              <a:rPr lang="en-GB" dirty="0"/>
              <a:t>     ↓</a:t>
            </a:r>
          </a:p>
          <a:p>
            <a:pPr lvl="1"/>
            <a:r>
              <a:rPr lang="en-GB" dirty="0"/>
              <a:t>Conv1D layer 1</a:t>
            </a:r>
          </a:p>
          <a:p>
            <a:pPr lvl="1"/>
            <a:r>
              <a:rPr lang="en-GB" dirty="0"/>
              <a:t>     ↓</a:t>
            </a:r>
          </a:p>
          <a:p>
            <a:pPr lvl="1"/>
            <a:r>
              <a:rPr lang="en-GB" dirty="0"/>
              <a:t>low-level temporal features</a:t>
            </a:r>
          </a:p>
          <a:p>
            <a:pPr lvl="1"/>
            <a:r>
              <a:rPr lang="en-GB" dirty="0"/>
              <a:t>     ↓</a:t>
            </a:r>
          </a:p>
          <a:p>
            <a:pPr lvl="1"/>
            <a:r>
              <a:rPr lang="en-GB" dirty="0"/>
              <a:t>Conv1D layer 2</a:t>
            </a:r>
          </a:p>
          <a:p>
            <a:pPr lvl="1"/>
            <a:r>
              <a:rPr lang="en-GB" dirty="0"/>
              <a:t>     ↓</a:t>
            </a:r>
          </a:p>
          <a:p>
            <a:pPr lvl="1"/>
            <a:r>
              <a:rPr lang="en-GB" dirty="0"/>
              <a:t>combinations of temporal features</a:t>
            </a:r>
          </a:p>
          <a:p>
            <a:pPr lvl="1"/>
            <a:r>
              <a:rPr lang="en-GB" dirty="0"/>
              <a:t>     ↓</a:t>
            </a:r>
          </a:p>
          <a:p>
            <a:pPr lvl="1"/>
            <a:r>
              <a:rPr lang="en-GB" dirty="0"/>
              <a:t>Conv1D layer 3</a:t>
            </a:r>
          </a:p>
          <a:p>
            <a:pPr lvl="1"/>
            <a:r>
              <a:rPr lang="en-GB" dirty="0"/>
              <a:t>     ↓</a:t>
            </a:r>
          </a:p>
          <a:p>
            <a:pPr lvl="1"/>
            <a:r>
              <a:rPr lang="en-GB" dirty="0"/>
              <a:t>higher-level temporal representation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B11C1E1-3370-B0A7-AF1E-96F103F11E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2027239"/>
            <a:ext cx="5539930" cy="4440236"/>
          </a:xfrm>
        </p:spPr>
        <p:txBody>
          <a:bodyPr>
            <a:normAutofit fontScale="77500" lnSpcReduction="20000"/>
          </a:bodyPr>
          <a:lstStyle/>
          <a:p>
            <a:r>
              <a:rPr lang="en-GB" b="1" dirty="0">
                <a:highlight>
                  <a:srgbClr val="FFFF00"/>
                </a:highlight>
              </a:rPr>
              <a:t>Example interpretation</a:t>
            </a:r>
          </a:p>
          <a:p>
            <a:r>
              <a:rPr lang="en-GB" dirty="0"/>
              <a:t>Layer 1 may </a:t>
            </a:r>
            <a:r>
              <a:rPr lang="en-GB" dirty="0">
                <a:highlight>
                  <a:srgbClr val="FFFF00"/>
                </a:highlight>
              </a:rPr>
              <a:t>detect</a:t>
            </a:r>
            <a:r>
              <a:rPr lang="en-GB" dirty="0"/>
              <a:t>:</a:t>
            </a:r>
          </a:p>
          <a:p>
            <a:pPr lvl="1"/>
            <a:r>
              <a:rPr lang="en-GB" dirty="0"/>
              <a:t>local rises; </a:t>
            </a:r>
          </a:p>
          <a:p>
            <a:pPr lvl="1"/>
            <a:r>
              <a:rPr lang="en-GB" dirty="0"/>
              <a:t>peaks; </a:t>
            </a:r>
          </a:p>
          <a:p>
            <a:pPr lvl="1"/>
            <a:r>
              <a:rPr lang="en-GB" dirty="0"/>
              <a:t>short oscillations. </a:t>
            </a:r>
          </a:p>
          <a:p>
            <a:r>
              <a:rPr lang="en-GB" dirty="0"/>
              <a:t>Layer 2 may </a:t>
            </a:r>
            <a:r>
              <a:rPr lang="en-GB" dirty="0">
                <a:highlight>
                  <a:srgbClr val="FFFF00"/>
                </a:highlight>
              </a:rPr>
              <a:t>combine</a:t>
            </a:r>
            <a:r>
              <a:rPr lang="en-GB" dirty="0"/>
              <a:t> them into:</a:t>
            </a:r>
          </a:p>
          <a:p>
            <a:pPr lvl="1"/>
            <a:r>
              <a:rPr lang="en-GB" dirty="0"/>
              <a:t>repeated bursts; </a:t>
            </a:r>
          </a:p>
          <a:p>
            <a:pPr lvl="1"/>
            <a:r>
              <a:rPr lang="en-GB" dirty="0"/>
              <a:t>characteristic transitions. </a:t>
            </a:r>
          </a:p>
          <a:p>
            <a:r>
              <a:rPr lang="en-GB" dirty="0"/>
              <a:t>Deeper layers may represent:</a:t>
            </a:r>
          </a:p>
          <a:p>
            <a:pPr lvl="1"/>
            <a:r>
              <a:rPr lang="en-GB" dirty="0"/>
              <a:t>larger temporal </a:t>
            </a:r>
            <a:r>
              <a:rPr lang="en-GB" dirty="0">
                <a:highlight>
                  <a:srgbClr val="FFFF00"/>
                </a:highlight>
              </a:rPr>
              <a:t>motifs</a:t>
            </a:r>
            <a:r>
              <a:rPr lang="en-GB" dirty="0"/>
              <a:t>; </a:t>
            </a:r>
          </a:p>
          <a:p>
            <a:pPr lvl="1"/>
            <a:r>
              <a:rPr lang="en-GB" dirty="0"/>
              <a:t>operating </a:t>
            </a:r>
            <a:r>
              <a:rPr lang="en-GB" dirty="0">
                <a:highlight>
                  <a:srgbClr val="FFFF00"/>
                </a:highlight>
              </a:rPr>
              <a:t>regimes</a:t>
            </a:r>
            <a:r>
              <a:rPr lang="en-GB" dirty="0"/>
              <a:t>; </a:t>
            </a:r>
          </a:p>
          <a:p>
            <a:pPr lvl="1"/>
            <a:r>
              <a:rPr lang="en-GB" dirty="0"/>
              <a:t>fault signatures. </a:t>
            </a:r>
          </a:p>
          <a:p>
            <a:endParaRPr lang="en-GB" dirty="0"/>
          </a:p>
          <a:p>
            <a:r>
              <a:rPr lang="en-GB" sz="2000" b="1" dirty="0">
                <a:highlight>
                  <a:srgbClr val="FFFF00"/>
                </a:highlight>
              </a:rPr>
              <a:t>Temporal CNNs </a:t>
            </a:r>
            <a:r>
              <a:rPr lang="en-GB" sz="2000" b="1" dirty="0"/>
              <a:t>build hierarchical representations by combining simple local patterns into progressively more complex temporal patterns.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752407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08208" y="0"/>
            <a:ext cx="1380744" cy="6858000"/>
          </a:xfrm>
          <a:prstGeom prst="rect">
            <a:avLst/>
          </a:prstGeom>
          <a:solidFill>
            <a:srgbClr val="84B927">
              <a:alpha val="90000"/>
            </a:srgbClr>
          </a:solidFill>
          <a:ln w="12700">
            <a:solidFill>
              <a:srgbClr val="84B9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469880" y="0"/>
            <a:ext cx="256032" cy="6858000"/>
          </a:xfrm>
          <a:prstGeom prst="rect">
            <a:avLst/>
          </a:prstGeom>
          <a:solidFill>
            <a:srgbClr val="EAF6D6">
              <a:alpha val="90000"/>
            </a:srgbClr>
          </a:solidFill>
          <a:ln w="12700">
            <a:solidFill>
              <a:srgbClr val="EAF6D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458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Stacking temporal convolutions builds hierarchical features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8412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</a:rPr>
              <a:t>Later layers combine local detections into larger temporal motifs.</a:t>
            </a:r>
            <a:endParaRPr lang="en-US" sz="1200" b="1" dirty="0"/>
          </a:p>
        </p:txBody>
      </p:sp>
      <p:grpSp>
        <p:nvGrpSpPr>
          <p:cNvPr id="22" name="Gruppo 21">
            <a:extLst>
              <a:ext uri="{FF2B5EF4-FFF2-40B4-BE49-F238E27FC236}">
                <a16:creationId xmlns:a16="http://schemas.microsoft.com/office/drawing/2014/main" id="{E1BD0312-DB9E-8FD9-3957-F4F711DF6ED3}"/>
              </a:ext>
            </a:extLst>
          </p:cNvPr>
          <p:cNvGrpSpPr/>
          <p:nvPr/>
        </p:nvGrpSpPr>
        <p:grpSpPr>
          <a:xfrm>
            <a:off x="4018788" y="5513832"/>
            <a:ext cx="1417320" cy="502920"/>
            <a:chOff x="822960" y="2743200"/>
            <a:chExt cx="1417320" cy="502920"/>
          </a:xfrm>
        </p:grpSpPr>
        <p:sp>
          <p:nvSpPr>
            <p:cNvPr id="6" name="Shape 4"/>
            <p:cNvSpPr/>
            <p:nvPr/>
          </p:nvSpPr>
          <p:spPr>
            <a:xfrm>
              <a:off x="822960" y="2743200"/>
              <a:ext cx="1417320" cy="502920"/>
            </a:xfrm>
            <a:prstGeom prst="roundRect">
              <a:avLst>
                <a:gd name="adj" fmla="val 14545"/>
              </a:avLst>
            </a:prstGeom>
            <a:solidFill>
              <a:srgbClr val="F8FAFC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Text 5"/>
            <p:cNvSpPr/>
            <p:nvPr/>
          </p:nvSpPr>
          <p:spPr>
            <a:xfrm>
              <a:off x="896112" y="2884932"/>
              <a:ext cx="1271016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11827"/>
                  </a:solidFill>
                </a:rPr>
                <a:t>raw sequence</a:t>
              </a:r>
              <a:endParaRPr lang="en-US" sz="1200" dirty="0"/>
            </a:p>
          </p:txBody>
        </p:sp>
      </p:grpSp>
      <p:sp>
        <p:nvSpPr>
          <p:cNvPr id="8" name="Shape 6"/>
          <p:cNvSpPr/>
          <p:nvPr/>
        </p:nvSpPr>
        <p:spPr>
          <a:xfrm flipH="1" flipV="1">
            <a:off x="4681267" y="2428874"/>
            <a:ext cx="4156" cy="320040"/>
          </a:xfrm>
          <a:prstGeom prst="line">
            <a:avLst/>
          </a:prstGeom>
          <a:noFill/>
          <a:ln w="1778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grpSp>
        <p:nvGrpSpPr>
          <p:cNvPr id="23" name="Gruppo 22">
            <a:extLst>
              <a:ext uri="{FF2B5EF4-FFF2-40B4-BE49-F238E27FC236}">
                <a16:creationId xmlns:a16="http://schemas.microsoft.com/office/drawing/2014/main" id="{0A2A9E73-33D1-4669-FF52-DD539EC43E26}"/>
              </a:ext>
            </a:extLst>
          </p:cNvPr>
          <p:cNvGrpSpPr/>
          <p:nvPr/>
        </p:nvGrpSpPr>
        <p:grpSpPr>
          <a:xfrm>
            <a:off x="4128470" y="4189094"/>
            <a:ext cx="1143000" cy="1051560"/>
            <a:chOff x="3246120" y="2468880"/>
            <a:chExt cx="1143000" cy="1051560"/>
          </a:xfrm>
        </p:grpSpPr>
        <p:sp>
          <p:nvSpPr>
            <p:cNvPr id="9" name="Shape 7"/>
            <p:cNvSpPr/>
            <p:nvPr/>
          </p:nvSpPr>
          <p:spPr>
            <a:xfrm>
              <a:off x="3246120" y="2468880"/>
              <a:ext cx="1143000" cy="1051560"/>
            </a:xfrm>
            <a:prstGeom prst="roundRect">
              <a:avLst>
                <a:gd name="adj" fmla="val 6957"/>
              </a:avLst>
            </a:prstGeom>
            <a:solidFill>
              <a:srgbClr val="ECFDF5"/>
            </a:solidFill>
            <a:ln w="12700">
              <a:solidFill>
                <a:srgbClr val="84B927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Text 8"/>
            <p:cNvSpPr/>
            <p:nvPr/>
          </p:nvSpPr>
          <p:spPr>
            <a:xfrm>
              <a:off x="3319272" y="2884932"/>
              <a:ext cx="996696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77500" lnSpcReduction="20000"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4F7F2B"/>
                  </a:solidFill>
                </a:rPr>
                <a:t>Conv1D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4F7F2B"/>
                  </a:solidFill>
                </a:rPr>
                <a:t>layer 1</a:t>
              </a:r>
              <a:endParaRPr lang="en-US" sz="1200" dirty="0"/>
            </a:p>
          </p:txBody>
        </p:sp>
      </p:grpSp>
      <p:grpSp>
        <p:nvGrpSpPr>
          <p:cNvPr id="24" name="Gruppo 23">
            <a:extLst>
              <a:ext uri="{FF2B5EF4-FFF2-40B4-BE49-F238E27FC236}">
                <a16:creationId xmlns:a16="http://schemas.microsoft.com/office/drawing/2014/main" id="{B2774334-669B-A723-8813-44E637E225EB}"/>
              </a:ext>
            </a:extLst>
          </p:cNvPr>
          <p:cNvGrpSpPr/>
          <p:nvPr/>
        </p:nvGrpSpPr>
        <p:grpSpPr>
          <a:xfrm>
            <a:off x="4091894" y="2771774"/>
            <a:ext cx="1143000" cy="1051560"/>
            <a:chOff x="5257800" y="2468880"/>
            <a:chExt cx="1143000" cy="1051560"/>
          </a:xfrm>
        </p:grpSpPr>
        <p:sp>
          <p:nvSpPr>
            <p:cNvPr id="12" name="Shape 10"/>
            <p:cNvSpPr/>
            <p:nvPr/>
          </p:nvSpPr>
          <p:spPr>
            <a:xfrm>
              <a:off x="5257800" y="2468880"/>
              <a:ext cx="1143000" cy="1051560"/>
            </a:xfrm>
            <a:prstGeom prst="roundRect">
              <a:avLst>
                <a:gd name="adj" fmla="val 6957"/>
              </a:avLst>
            </a:prstGeom>
            <a:solidFill>
              <a:srgbClr val="ECFDF5"/>
            </a:solidFill>
            <a:ln w="12700">
              <a:solidFill>
                <a:srgbClr val="84B927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 11"/>
            <p:cNvSpPr/>
            <p:nvPr/>
          </p:nvSpPr>
          <p:spPr>
            <a:xfrm>
              <a:off x="5330952" y="2884932"/>
              <a:ext cx="996696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77500" lnSpcReduction="20000"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4F7F2B"/>
                  </a:solidFill>
                </a:rPr>
                <a:t>Conv1D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4F7F2B"/>
                  </a:solidFill>
                </a:rPr>
                <a:t>layer 2</a:t>
              </a:r>
              <a:endParaRPr lang="en-US" sz="1200" dirty="0"/>
            </a:p>
          </p:txBody>
        </p:sp>
      </p:grpSp>
      <p:grpSp>
        <p:nvGrpSpPr>
          <p:cNvPr id="25" name="Gruppo 24">
            <a:extLst>
              <a:ext uri="{FF2B5EF4-FFF2-40B4-BE49-F238E27FC236}">
                <a16:creationId xmlns:a16="http://schemas.microsoft.com/office/drawing/2014/main" id="{EF7C0E72-EEE1-AF89-CC91-CE1D678A20AB}"/>
              </a:ext>
            </a:extLst>
          </p:cNvPr>
          <p:cNvGrpSpPr/>
          <p:nvPr/>
        </p:nvGrpSpPr>
        <p:grpSpPr>
          <a:xfrm>
            <a:off x="4055318" y="1379589"/>
            <a:ext cx="1143000" cy="1051560"/>
            <a:chOff x="7269480" y="2468880"/>
            <a:chExt cx="1143000" cy="1051560"/>
          </a:xfrm>
        </p:grpSpPr>
        <p:sp>
          <p:nvSpPr>
            <p:cNvPr id="15" name="Shape 13"/>
            <p:cNvSpPr/>
            <p:nvPr/>
          </p:nvSpPr>
          <p:spPr>
            <a:xfrm>
              <a:off x="7269480" y="2468880"/>
              <a:ext cx="1143000" cy="1051560"/>
            </a:xfrm>
            <a:prstGeom prst="roundRect">
              <a:avLst>
                <a:gd name="adj" fmla="val 6957"/>
              </a:avLst>
            </a:prstGeom>
            <a:solidFill>
              <a:srgbClr val="ECFDF5"/>
            </a:solidFill>
            <a:ln w="12700">
              <a:solidFill>
                <a:srgbClr val="84B927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Text 14"/>
            <p:cNvSpPr/>
            <p:nvPr/>
          </p:nvSpPr>
          <p:spPr>
            <a:xfrm>
              <a:off x="7342632" y="2884932"/>
              <a:ext cx="996696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77500" lnSpcReduction="20000"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4F7F2B"/>
                  </a:solidFill>
                </a:rPr>
                <a:t>Conv1D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4F7F2B"/>
                  </a:solidFill>
                </a:rPr>
                <a:t>layer 3</a:t>
              </a:r>
              <a:endParaRPr lang="en-US" sz="1200" dirty="0"/>
            </a:p>
          </p:txBody>
        </p:sp>
      </p:grpSp>
      <p:sp>
        <p:nvSpPr>
          <p:cNvPr id="17" name="Text 15"/>
          <p:cNvSpPr/>
          <p:nvPr/>
        </p:nvSpPr>
        <p:spPr>
          <a:xfrm>
            <a:off x="5344622" y="419481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local rises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peaks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short oscillations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44668" y="2979916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repeated bursts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transitions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98318" y="1520189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larger motifs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regime signatures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6236208"/>
            <a:ext cx="9829800" cy="411480"/>
          </a:xfrm>
          <a:prstGeom prst="rect">
            <a:avLst/>
          </a:prstGeom>
          <a:solidFill>
            <a:srgbClr val="FFFFFF">
              <a:alpha val="96000"/>
            </a:srgbClr>
          </a:solidFill>
          <a:ln w="7620">
            <a:solidFill>
              <a:srgbClr val="CBD5E1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621792" y="6336792"/>
            <a:ext cx="9555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111827"/>
                </a:solidFill>
              </a:rPr>
              <a:t>This hierarchical construction is one of the main reasons temporal CNNs can represent complex temporal patterns.</a:t>
            </a:r>
            <a:endParaRPr lang="en-US" sz="1020" b="1" dirty="0"/>
          </a:p>
        </p:txBody>
      </p:sp>
      <p:sp>
        <p:nvSpPr>
          <p:cNvPr id="27" name="Shape 6">
            <a:extLst>
              <a:ext uri="{FF2B5EF4-FFF2-40B4-BE49-F238E27FC236}">
                <a16:creationId xmlns:a16="http://schemas.microsoft.com/office/drawing/2014/main" id="{8B90590F-7949-E7B8-9B81-081720E8D8FD}"/>
              </a:ext>
            </a:extLst>
          </p:cNvPr>
          <p:cNvSpPr/>
          <p:nvPr/>
        </p:nvSpPr>
        <p:spPr>
          <a:xfrm flipH="1" flipV="1">
            <a:off x="4681267" y="3830192"/>
            <a:ext cx="4156" cy="320040"/>
          </a:xfrm>
          <a:prstGeom prst="line">
            <a:avLst/>
          </a:prstGeom>
          <a:noFill/>
          <a:ln w="1778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6">
            <a:extLst>
              <a:ext uri="{FF2B5EF4-FFF2-40B4-BE49-F238E27FC236}">
                <a16:creationId xmlns:a16="http://schemas.microsoft.com/office/drawing/2014/main" id="{95EA96A3-C7C9-83F6-B0E7-2090C3CD9FFA}"/>
              </a:ext>
            </a:extLst>
          </p:cNvPr>
          <p:cNvSpPr/>
          <p:nvPr/>
        </p:nvSpPr>
        <p:spPr>
          <a:xfrm flipH="1" flipV="1">
            <a:off x="4709160" y="5192647"/>
            <a:ext cx="4156" cy="320040"/>
          </a:xfrm>
          <a:prstGeom prst="line">
            <a:avLst/>
          </a:prstGeom>
          <a:noFill/>
          <a:ln w="1778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8FBCDB-3189-F93C-4EE1-8920F169B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Conv1D does not inherently mean causal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E3F1328-94BC-C9ED-99FD-9B5D11BB08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675716" cy="3880772"/>
          </a:xfrm>
        </p:spPr>
        <p:txBody>
          <a:bodyPr>
            <a:normAutofit/>
          </a:bodyPr>
          <a:lstStyle/>
          <a:p>
            <a:r>
              <a:rPr lang="en-GB" dirty="0"/>
              <a:t>A standard temporal convolution simply defines which </a:t>
            </a:r>
            <a:r>
              <a:rPr lang="en-GB" dirty="0" err="1"/>
              <a:t>neighboring</a:t>
            </a:r>
            <a:r>
              <a:rPr lang="en-GB" dirty="0"/>
              <a:t> samples contribute to an output.</a:t>
            </a:r>
          </a:p>
          <a:p>
            <a:r>
              <a:rPr lang="en-GB" dirty="0"/>
              <a:t>Depending on how padding and alignment are chosen, an output associated with time t may use:</a:t>
            </a:r>
          </a:p>
          <a:p>
            <a:pPr lvl="1"/>
            <a:r>
              <a:rPr lang="en-GB" dirty="0"/>
              <a:t>observations before t; </a:t>
            </a:r>
          </a:p>
          <a:p>
            <a:pPr lvl="1"/>
            <a:r>
              <a:rPr lang="en-GB" dirty="0"/>
              <a:t>observations after t; </a:t>
            </a:r>
          </a:p>
          <a:p>
            <a:pPr lvl="1"/>
            <a:r>
              <a:rPr lang="en-GB" dirty="0"/>
              <a:t>both. 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0046508-746C-A9CD-ED90-758BB8FDFC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32869" y="2160590"/>
            <a:ext cx="5863781" cy="3880772"/>
          </a:xfrm>
        </p:spPr>
        <p:txBody>
          <a:bodyPr>
            <a:normAutofit/>
          </a:bodyPr>
          <a:lstStyle/>
          <a:p>
            <a:r>
              <a:rPr lang="en-GB" b="1" dirty="0"/>
              <a:t>Therefore</a:t>
            </a:r>
          </a:p>
          <a:p>
            <a:r>
              <a:rPr lang="en-GB" dirty="0"/>
              <a:t>A Conv1D layer is not automatically suitable for forecasting or online prediction.</a:t>
            </a:r>
          </a:p>
          <a:p>
            <a:r>
              <a:rPr lang="en-GB" dirty="0"/>
              <a:t>For these tasks we must explicitly ensure that:</a:t>
            </a:r>
          </a:p>
          <a:p>
            <a:pPr lvl="1"/>
            <a:r>
              <a:rPr lang="en-GB" dirty="0"/>
              <a:t>output at time t</a:t>
            </a:r>
          </a:p>
          <a:p>
            <a:pPr lvl="1"/>
            <a:r>
              <a:rPr lang="en-GB" dirty="0"/>
              <a:t>does not depend on:</a:t>
            </a:r>
          </a:p>
          <a:p>
            <a:pPr lvl="1"/>
            <a:r>
              <a:rPr lang="en-GB" dirty="0"/>
              <a:t>x[t+1], x[t+2], ...</a:t>
            </a:r>
          </a:p>
          <a:p>
            <a:r>
              <a:rPr lang="en-GB" dirty="0"/>
              <a:t>This will motivate </a:t>
            </a:r>
            <a:r>
              <a:rPr lang="en-GB" b="1" dirty="0"/>
              <a:t>causal convolution</a:t>
            </a:r>
            <a:r>
              <a:rPr lang="en-GB" dirty="0"/>
              <a:t> later in the lecture.</a:t>
            </a:r>
          </a:p>
          <a:p>
            <a:endParaRPr lang="en-GB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69079DE7-C1C0-283D-162D-644F7E9DA0EA}"/>
              </a:ext>
            </a:extLst>
          </p:cNvPr>
          <p:cNvSpPr txBox="1"/>
          <p:nvPr/>
        </p:nvSpPr>
        <p:spPr>
          <a:xfrm>
            <a:off x="1922906" y="5648235"/>
            <a:ext cx="61055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Important connection</a:t>
            </a:r>
          </a:p>
          <a:p>
            <a:r>
              <a:rPr lang="en-GB" sz="1800" dirty="0"/>
              <a:t>Temporal convolution defines local connectivity. Causality defines which side of time that connectivity is allowed to use.</a:t>
            </a:r>
          </a:p>
        </p:txBody>
      </p:sp>
    </p:spTree>
    <p:extLst>
      <p:ext uri="{BB962C8B-B14F-4D97-AF65-F5344CB8AC3E}">
        <p14:creationId xmlns:p14="http://schemas.microsoft.com/office/powerpoint/2010/main" val="42437163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08208" y="0"/>
            <a:ext cx="1380744" cy="6858000"/>
          </a:xfrm>
          <a:prstGeom prst="rect">
            <a:avLst/>
          </a:prstGeom>
          <a:solidFill>
            <a:srgbClr val="84B927">
              <a:alpha val="90000"/>
            </a:srgbClr>
          </a:solidFill>
          <a:ln w="12700">
            <a:solidFill>
              <a:srgbClr val="84B9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469880" y="0"/>
            <a:ext cx="256032" cy="6858000"/>
          </a:xfrm>
          <a:prstGeom prst="rect">
            <a:avLst/>
          </a:prstGeom>
          <a:solidFill>
            <a:srgbClr val="EAF6D6">
              <a:alpha val="90000"/>
            </a:srgbClr>
          </a:solidFill>
          <a:ln w="12700">
            <a:solidFill>
              <a:srgbClr val="EAF6D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458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Conv1D does not automatically mean causal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8412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A temporal convolution may use future frames unless alignment and padding prevent it.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68680" y="13258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1827"/>
                </a:solidFill>
              </a:rPr>
              <a:t>Output associated with time 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55548" y="2464308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2563EB"/>
                </a:solidFill>
              </a:rPr>
              <a:t>x[t-3]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595628" y="2464308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463040" y="269748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2563EB"/>
                </a:solidFill>
              </a:rPr>
              <a:t>x[t-2]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235708" y="2464308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2103120" y="269748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2563EB"/>
                </a:solidFill>
              </a:rPr>
              <a:t>x[t-1]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875788" y="2464308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2743200" y="269748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2563EB"/>
                </a:solidFill>
              </a:rPr>
              <a:t>x[t]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515868" y="2464308"/>
            <a:ext cx="100584" cy="10058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3383280" y="269748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DC2626"/>
                </a:solidFill>
              </a:rPr>
              <a:t>x[t+1]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155948" y="2464308"/>
            <a:ext cx="100584" cy="10058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4023360" y="269748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DC2626"/>
                </a:solidFill>
              </a:rPr>
              <a:t>x[t+2]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796028" y="2464308"/>
            <a:ext cx="100584" cy="10058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663440" y="269748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DC2626"/>
                </a:solidFill>
              </a:rPr>
              <a:t>x[t+3]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011680" y="2240280"/>
            <a:ext cx="1920240" cy="502920"/>
          </a:xfrm>
          <a:prstGeom prst="roundRect">
            <a:avLst>
              <a:gd name="adj" fmla="val 5455"/>
            </a:avLst>
          </a:prstGeom>
          <a:solidFill>
            <a:srgbClr val="FEE2E2">
              <a:alpha val="62000"/>
            </a:srgbClr>
          </a:solidFill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1920240" y="3063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</a:rPr>
              <a:t>standard centered window may include future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40233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</a:rPr>
              <a:t>Allowed for offline analysis; invalid for online forecasting unless future values are truly available.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011680" y="4892040"/>
            <a:ext cx="4206240" cy="73152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2700">
            <a:solidFill>
              <a:srgbClr val="84B9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2084832" y="5148072"/>
            <a:ext cx="4059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7F2B"/>
                </a:solidFill>
              </a:rPr>
              <a:t>Causality will be handled explicitly later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4F7F2B"/>
                </a:solidFill>
              </a:rPr>
              <a:t>with causal convolution and left padding.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F83880-A601-822C-02AE-F7216297D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does a Conv1D layer learn?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7AD4D3F-7C34-87C8-6885-4086470D4F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8"/>
            <a:ext cx="5247216" cy="4087811"/>
          </a:xfrm>
        </p:spPr>
        <p:txBody>
          <a:bodyPr>
            <a:normAutofit fontScale="92500" lnSpcReduction="10000"/>
          </a:bodyPr>
          <a:lstStyle/>
          <a:p>
            <a:r>
              <a:rPr lang="en-GB" b="1" dirty="0">
                <a:highlight>
                  <a:srgbClr val="FFFF00"/>
                </a:highlight>
              </a:rPr>
              <a:t>A Conv1D layer learns:</a:t>
            </a:r>
          </a:p>
          <a:p>
            <a:pPr lvl="1"/>
            <a:r>
              <a:rPr lang="en-GB" dirty="0"/>
              <a:t>which local temporal patterns matter; </a:t>
            </a:r>
          </a:p>
          <a:p>
            <a:pPr lvl="1"/>
            <a:r>
              <a:rPr lang="en-GB" dirty="0"/>
              <a:t>how variables interact within those local patterns; </a:t>
            </a:r>
          </a:p>
          <a:p>
            <a:pPr lvl="1"/>
            <a:r>
              <a:rPr lang="en-GB" dirty="0"/>
              <a:t>where those patterns occur in the sequence. </a:t>
            </a:r>
          </a:p>
          <a:p>
            <a:r>
              <a:rPr lang="en-GB" b="1" dirty="0"/>
              <a:t>It does not require us to manually define</a:t>
            </a:r>
          </a:p>
          <a:p>
            <a:pPr lvl="1"/>
            <a:r>
              <a:rPr lang="en-GB" dirty="0"/>
              <a:t>peak detectors; </a:t>
            </a:r>
          </a:p>
          <a:p>
            <a:pPr lvl="1"/>
            <a:r>
              <a:rPr lang="en-GB" dirty="0"/>
              <a:t>slopes; </a:t>
            </a:r>
          </a:p>
          <a:p>
            <a:pPr lvl="1"/>
            <a:r>
              <a:rPr lang="en-GB" dirty="0"/>
              <a:t>frequency bands; </a:t>
            </a:r>
          </a:p>
          <a:p>
            <a:pPr lvl="1"/>
            <a:r>
              <a:rPr lang="en-GB" dirty="0"/>
              <a:t>threshold crossings. </a:t>
            </a:r>
          </a:p>
          <a:p>
            <a:r>
              <a:rPr lang="en-GB" b="1" dirty="0">
                <a:highlight>
                  <a:srgbClr val="FFFF00"/>
                </a:highlight>
              </a:rPr>
              <a:t>Those useful patterns may emerge from the training objective.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722A8BA-6220-BEC3-A384-C0062A9858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38875" y="2160589"/>
            <a:ext cx="5610224" cy="3880773"/>
          </a:xfrm>
        </p:spPr>
        <p:txBody>
          <a:bodyPr>
            <a:normAutofit fontScale="92500" lnSpcReduction="10000"/>
          </a:bodyPr>
          <a:lstStyle/>
          <a:p>
            <a:r>
              <a:rPr lang="en-GB" sz="2100" b="1" dirty="0">
                <a:highlight>
                  <a:srgbClr val="FFFF00"/>
                </a:highlight>
              </a:rPr>
              <a:t>T</a:t>
            </a:r>
            <a:r>
              <a:rPr lang="en-GB" sz="2100" dirty="0">
                <a:highlight>
                  <a:srgbClr val="FFFF00"/>
                </a:highlight>
              </a:rPr>
              <a:t>he </a:t>
            </a:r>
            <a:r>
              <a:rPr lang="en-GB" sz="2100" b="1" dirty="0">
                <a:highlight>
                  <a:srgbClr val="FFFF00"/>
                </a:highlight>
              </a:rPr>
              <a:t>engineer still chooses </a:t>
            </a:r>
            <a:r>
              <a:rPr lang="en-GB" sz="2100" dirty="0">
                <a:highlight>
                  <a:srgbClr val="FFFF00"/>
                </a:highlight>
              </a:rPr>
              <a:t>important architectural assumptions (</a:t>
            </a:r>
            <a:r>
              <a:rPr lang="en-GB" sz="2100" dirty="0" err="1">
                <a:highlight>
                  <a:srgbClr val="FFFF00"/>
                </a:highlight>
              </a:rPr>
              <a:t>hyperparams</a:t>
            </a:r>
            <a:r>
              <a:rPr lang="en-GB" sz="2100" dirty="0">
                <a:highlight>
                  <a:srgbClr val="FFFF00"/>
                </a:highlight>
              </a:rPr>
              <a:t>):</a:t>
            </a:r>
          </a:p>
          <a:p>
            <a:pPr lvl="1"/>
            <a:r>
              <a:rPr lang="en-GB" sz="2100" dirty="0"/>
              <a:t>kernel size; </a:t>
            </a:r>
          </a:p>
          <a:p>
            <a:pPr lvl="1"/>
            <a:r>
              <a:rPr lang="en-GB" sz="2100" dirty="0"/>
              <a:t>number of filters; </a:t>
            </a:r>
          </a:p>
          <a:p>
            <a:pPr lvl="1"/>
            <a:r>
              <a:rPr lang="en-GB" sz="2100" dirty="0"/>
              <a:t>stride; </a:t>
            </a:r>
          </a:p>
          <a:p>
            <a:pPr lvl="1"/>
            <a:r>
              <a:rPr lang="en-GB" sz="2100" dirty="0"/>
              <a:t>padding; </a:t>
            </a:r>
          </a:p>
          <a:p>
            <a:pPr lvl="1"/>
            <a:r>
              <a:rPr lang="en-GB" sz="2100" dirty="0"/>
              <a:t>network depth. </a:t>
            </a:r>
          </a:p>
          <a:p>
            <a:endParaRPr lang="en-GB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11059E9-A70D-84E2-A571-893C1E0D2040}"/>
              </a:ext>
            </a:extLst>
          </p:cNvPr>
          <p:cNvSpPr txBox="1"/>
          <p:nvPr/>
        </p:nvSpPr>
        <p:spPr>
          <a:xfrm>
            <a:off x="6086476" y="5219223"/>
            <a:ext cx="610552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Transition</a:t>
            </a:r>
          </a:p>
          <a:p>
            <a:r>
              <a:rPr lang="en-GB" sz="1800" dirty="0"/>
              <a:t>We now need to understand how these choices affect: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800" dirty="0"/>
              <a:t>output length;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800" dirty="0"/>
              <a:t>temporal resolution;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800" dirty="0"/>
              <a:t>alignment between input and output.</a:t>
            </a:r>
          </a:p>
        </p:txBody>
      </p:sp>
    </p:spTree>
    <p:extLst>
      <p:ext uri="{BB962C8B-B14F-4D97-AF65-F5344CB8AC3E}">
        <p14:creationId xmlns:p14="http://schemas.microsoft.com/office/powerpoint/2010/main" val="22104871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14A08481-BC4D-237F-58A8-EBE69C5E9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Block 5.C — Kernel Size, Stride and Padding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7637B95D-C740-3F12-F57D-D1A3DB80F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356710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0189FCB-0A51-0075-E14A-6E20E8E7C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Conv1D changes temporal length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7B17177-4F41-3698-2D0F-F790497B0A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A temporal convolution does not necessarily preserve the number of time steps.</a:t>
            </a:r>
          </a:p>
          <a:p>
            <a:pPr lvl="1"/>
            <a:r>
              <a:rPr lang="en-GB" b="1" dirty="0"/>
              <a:t>Already seen in previous slides</a:t>
            </a:r>
          </a:p>
          <a:p>
            <a:r>
              <a:rPr lang="en-GB" dirty="0"/>
              <a:t>The output length depends mainly on:</a:t>
            </a:r>
          </a:p>
          <a:p>
            <a:pPr lvl="1"/>
            <a:r>
              <a:rPr lang="en-GB" dirty="0"/>
              <a:t>input length L; </a:t>
            </a:r>
          </a:p>
          <a:p>
            <a:pPr lvl="1"/>
            <a:r>
              <a:rPr lang="en-GB" dirty="0"/>
              <a:t>kernel size K; </a:t>
            </a:r>
          </a:p>
          <a:p>
            <a:pPr lvl="1"/>
            <a:r>
              <a:rPr lang="en-GB" dirty="0"/>
              <a:t>stride S; </a:t>
            </a:r>
          </a:p>
          <a:p>
            <a:pPr lvl="1"/>
            <a:r>
              <a:rPr lang="en-GB" dirty="0"/>
              <a:t>padding. </a:t>
            </a:r>
          </a:p>
          <a:p>
            <a:endParaRPr lang="en-GB" dirty="0"/>
          </a:p>
        </p:txBody>
      </p:sp>
      <p:sp>
        <p:nvSpPr>
          <p:cNvPr id="5" name="Text 12">
            <a:extLst>
              <a:ext uri="{FF2B5EF4-FFF2-40B4-BE49-F238E27FC236}">
                <a16:creationId xmlns:a16="http://schemas.microsoft.com/office/drawing/2014/main" id="{24FCB5D6-A373-5099-DF5E-2024AEA85D90}"/>
              </a:ext>
            </a:extLst>
          </p:cNvPr>
          <p:cNvSpPr/>
          <p:nvPr/>
        </p:nvSpPr>
        <p:spPr>
          <a:xfrm>
            <a:off x="5302966" y="4097897"/>
            <a:ext cx="1779847" cy="5502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</a:rPr>
              <a:t>For stride = 1 and no (i.e., valid) padding:</a:t>
            </a:r>
            <a:endParaRPr lang="en-US" sz="1300" dirty="0"/>
          </a:p>
        </p:txBody>
      </p:sp>
      <p:sp>
        <p:nvSpPr>
          <p:cNvPr id="7" name="Shape 13">
            <a:extLst>
              <a:ext uri="{FF2B5EF4-FFF2-40B4-BE49-F238E27FC236}">
                <a16:creationId xmlns:a16="http://schemas.microsoft.com/office/drawing/2014/main" id="{42694521-B3BB-40F5-7E16-4CAD7AA50374}"/>
              </a:ext>
            </a:extLst>
          </p:cNvPr>
          <p:cNvSpPr/>
          <p:nvPr/>
        </p:nvSpPr>
        <p:spPr>
          <a:xfrm>
            <a:off x="7119389" y="4113876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14">
            <a:extLst>
              <a:ext uri="{FF2B5EF4-FFF2-40B4-BE49-F238E27FC236}">
                <a16:creationId xmlns:a16="http://schemas.microsoft.com/office/drawing/2014/main" id="{CE61BACF-27BE-5B72-DBA9-D79BF9A265AC}"/>
              </a:ext>
            </a:extLst>
          </p:cNvPr>
          <p:cNvSpPr/>
          <p:nvPr/>
        </p:nvSpPr>
        <p:spPr>
          <a:xfrm>
            <a:off x="7192541" y="4232748"/>
            <a:ext cx="1911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</a:rPr>
              <a:t>L_out = L − K + 1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9256213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76FA8D2-ABDE-A771-A150-FA99A19DD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Conv1D changes temporal length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68EFE72-9556-D694-171A-6A32A16D9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b="1" dirty="0"/>
              <a:t>Example</a:t>
            </a:r>
          </a:p>
          <a:p>
            <a:r>
              <a:rPr lang="en-GB" dirty="0"/>
              <a:t>Input: L = 10</a:t>
            </a:r>
          </a:p>
          <a:p>
            <a:r>
              <a:rPr lang="en-GB" dirty="0"/>
              <a:t>Kernel: K = 3</a:t>
            </a:r>
          </a:p>
          <a:p>
            <a:r>
              <a:rPr lang="en-GB" dirty="0"/>
              <a:t>Stride: S = 1</a:t>
            </a:r>
          </a:p>
          <a:p>
            <a:r>
              <a:rPr lang="en-GB" dirty="0"/>
              <a:t>With no padding, the kernel can be placed at:</a:t>
            </a:r>
          </a:p>
          <a:p>
            <a:pPr lvl="1"/>
            <a:r>
              <a:rPr lang="en-GB" dirty="0"/>
              <a:t>1–3</a:t>
            </a:r>
          </a:p>
          <a:p>
            <a:pPr lvl="1"/>
            <a:r>
              <a:rPr lang="en-GB" dirty="0"/>
              <a:t>2–4</a:t>
            </a:r>
          </a:p>
          <a:p>
            <a:pPr lvl="1"/>
            <a:r>
              <a:rPr lang="en-GB" dirty="0"/>
              <a:t>3–5</a:t>
            </a:r>
          </a:p>
          <a:p>
            <a:pPr lvl="1"/>
            <a:r>
              <a:rPr lang="en-GB" dirty="0"/>
              <a:t>...</a:t>
            </a:r>
          </a:p>
          <a:p>
            <a:pPr lvl="1"/>
            <a:r>
              <a:rPr lang="en-GB" dirty="0"/>
              <a:t>8–10</a:t>
            </a:r>
          </a:p>
          <a:p>
            <a:r>
              <a:rPr lang="en-GB" dirty="0"/>
              <a:t>Therefore: </a:t>
            </a:r>
            <a:r>
              <a:rPr lang="en-GB" dirty="0" err="1"/>
              <a:t>L_out</a:t>
            </a:r>
            <a:r>
              <a:rPr lang="en-GB" dirty="0"/>
              <a:t> = 8</a:t>
            </a:r>
          </a:p>
          <a:p>
            <a:endParaRPr lang="en-GB" dirty="0"/>
          </a:p>
          <a:p>
            <a:r>
              <a:rPr lang="en-GB" dirty="0"/>
              <a:t>How many valid positions can the kernel occupy?</a:t>
            </a:r>
          </a:p>
          <a:p>
            <a:r>
              <a:rPr lang="en-GB" dirty="0"/>
              <a:t>This determines the temporal length of the output feature map.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3731023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11466720" y="0"/>
            <a:ext cx="722160" cy="6857640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11301840" y="0"/>
            <a:ext cx="54360" cy="6857640"/>
          </a:xfrm>
          <a:prstGeom prst="rect">
            <a:avLst/>
          </a:prstGeom>
          <a:solidFill>
            <a:srgbClr val="E7F4D2"/>
          </a:solidFill>
          <a:ln w="12700">
            <a:solidFill>
              <a:srgbClr val="E7F4D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502920" y="320040"/>
            <a:ext cx="105609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Conv1D output length depends on K, stride and padding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502920" y="841320"/>
            <a:ext cx="103323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06070"/>
                </a:solidFill>
                <a:effectLst/>
                <a:uFillTx/>
                <a:latin typeface="Aptos"/>
              </a:rPr>
              <a:t>How many positions can the kernel occupy?</a:t>
            </a:r>
            <a:endParaRPr lang="it-IT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502920" y="6364080"/>
            <a:ext cx="10240920" cy="383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5D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594360" y="6455520"/>
            <a:ext cx="1005804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111827"/>
                </a:solidFill>
                <a:effectLst/>
                <a:uFillTx/>
                <a:latin typeface="Aptos"/>
              </a:rPr>
              <a:t>Output temporal length is a consequence of the convolution settings.</a:t>
            </a:r>
            <a:endParaRPr lang="it-IT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1005840" y="1874520"/>
            <a:ext cx="383760" cy="292320"/>
          </a:xfrm>
          <a:prstGeom prst="roundRect">
            <a:avLst>
              <a:gd name="adj" fmla="val 15625"/>
            </a:avLst>
          </a:prstGeom>
          <a:solidFill>
            <a:srgbClr val="F7FAFC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1033200" y="192024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x1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8"/>
          <p:cNvSpPr/>
          <p:nvPr/>
        </p:nvSpPr>
        <p:spPr>
          <a:xfrm>
            <a:off x="1143000" y="2221920"/>
            <a:ext cx="18252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</a:t>
            </a:r>
            <a:endParaRPr lang="it-IT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1536120" y="1874520"/>
            <a:ext cx="383760" cy="292320"/>
          </a:xfrm>
          <a:prstGeom prst="roundRect">
            <a:avLst>
              <a:gd name="adj" fmla="val 15625"/>
            </a:avLst>
          </a:prstGeom>
          <a:solidFill>
            <a:srgbClr val="F7FAFC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1563480" y="192024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x2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1673280" y="2221920"/>
            <a:ext cx="18252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</a:t>
            </a:r>
            <a:endParaRPr lang="it-IT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2066400" y="1874520"/>
            <a:ext cx="383760" cy="292320"/>
          </a:xfrm>
          <a:prstGeom prst="roundRect">
            <a:avLst>
              <a:gd name="adj" fmla="val 15625"/>
            </a:avLst>
          </a:prstGeom>
          <a:solidFill>
            <a:srgbClr val="F7FAFC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2094120" y="192024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x3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2203560" y="2221920"/>
            <a:ext cx="18252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3</a:t>
            </a:r>
            <a:endParaRPr lang="it-IT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2597040" y="1874520"/>
            <a:ext cx="383760" cy="292320"/>
          </a:xfrm>
          <a:prstGeom prst="roundRect">
            <a:avLst>
              <a:gd name="adj" fmla="val 15625"/>
            </a:avLst>
          </a:prstGeom>
          <a:solidFill>
            <a:srgbClr val="F7FAFC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2624400" y="192024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x4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7"/>
          <p:cNvSpPr/>
          <p:nvPr/>
        </p:nvSpPr>
        <p:spPr>
          <a:xfrm>
            <a:off x="2734200" y="2221920"/>
            <a:ext cx="18252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4</a:t>
            </a:r>
            <a:endParaRPr lang="it-IT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8"/>
          <p:cNvSpPr/>
          <p:nvPr/>
        </p:nvSpPr>
        <p:spPr>
          <a:xfrm>
            <a:off x="3127320" y="1874520"/>
            <a:ext cx="383760" cy="292320"/>
          </a:xfrm>
          <a:prstGeom prst="roundRect">
            <a:avLst>
              <a:gd name="adj" fmla="val 15625"/>
            </a:avLst>
          </a:prstGeom>
          <a:solidFill>
            <a:srgbClr val="F7FAFC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9"/>
          <p:cNvSpPr/>
          <p:nvPr/>
        </p:nvSpPr>
        <p:spPr>
          <a:xfrm>
            <a:off x="3154680" y="192024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x5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20"/>
          <p:cNvSpPr/>
          <p:nvPr/>
        </p:nvSpPr>
        <p:spPr>
          <a:xfrm>
            <a:off x="3264480" y="2221920"/>
            <a:ext cx="18252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5</a:t>
            </a:r>
            <a:endParaRPr lang="it-IT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21"/>
          <p:cNvSpPr/>
          <p:nvPr/>
        </p:nvSpPr>
        <p:spPr>
          <a:xfrm>
            <a:off x="3657600" y="1874520"/>
            <a:ext cx="383760" cy="292320"/>
          </a:xfrm>
          <a:prstGeom prst="roundRect">
            <a:avLst>
              <a:gd name="adj" fmla="val 15625"/>
            </a:avLst>
          </a:prstGeom>
          <a:solidFill>
            <a:srgbClr val="F7FAFC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22"/>
          <p:cNvSpPr/>
          <p:nvPr/>
        </p:nvSpPr>
        <p:spPr>
          <a:xfrm>
            <a:off x="3684960" y="192024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x6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23"/>
          <p:cNvSpPr/>
          <p:nvPr/>
        </p:nvSpPr>
        <p:spPr>
          <a:xfrm>
            <a:off x="3794760" y="2221920"/>
            <a:ext cx="18252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6</a:t>
            </a:r>
            <a:endParaRPr lang="it-IT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24"/>
          <p:cNvSpPr/>
          <p:nvPr/>
        </p:nvSpPr>
        <p:spPr>
          <a:xfrm>
            <a:off x="4187880" y="1874520"/>
            <a:ext cx="383760" cy="292320"/>
          </a:xfrm>
          <a:prstGeom prst="roundRect">
            <a:avLst>
              <a:gd name="adj" fmla="val 15625"/>
            </a:avLst>
          </a:prstGeom>
          <a:solidFill>
            <a:srgbClr val="F7FAFC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25"/>
          <p:cNvSpPr/>
          <p:nvPr/>
        </p:nvSpPr>
        <p:spPr>
          <a:xfrm>
            <a:off x="4215240" y="192024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x7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26"/>
          <p:cNvSpPr/>
          <p:nvPr/>
        </p:nvSpPr>
        <p:spPr>
          <a:xfrm>
            <a:off x="4325040" y="2221920"/>
            <a:ext cx="18252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7</a:t>
            </a:r>
            <a:endParaRPr lang="it-IT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27"/>
          <p:cNvSpPr/>
          <p:nvPr/>
        </p:nvSpPr>
        <p:spPr>
          <a:xfrm>
            <a:off x="4718160" y="1874520"/>
            <a:ext cx="383760" cy="292320"/>
          </a:xfrm>
          <a:prstGeom prst="roundRect">
            <a:avLst>
              <a:gd name="adj" fmla="val 15625"/>
            </a:avLst>
          </a:prstGeom>
          <a:solidFill>
            <a:srgbClr val="F7FAFC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28"/>
          <p:cNvSpPr/>
          <p:nvPr/>
        </p:nvSpPr>
        <p:spPr>
          <a:xfrm>
            <a:off x="4745880" y="192024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x8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29"/>
          <p:cNvSpPr/>
          <p:nvPr/>
        </p:nvSpPr>
        <p:spPr>
          <a:xfrm>
            <a:off x="4855320" y="2221920"/>
            <a:ext cx="18252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8</a:t>
            </a:r>
            <a:endParaRPr lang="it-IT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30"/>
          <p:cNvSpPr/>
          <p:nvPr/>
        </p:nvSpPr>
        <p:spPr>
          <a:xfrm>
            <a:off x="5248800" y="1874520"/>
            <a:ext cx="383760" cy="292320"/>
          </a:xfrm>
          <a:prstGeom prst="roundRect">
            <a:avLst>
              <a:gd name="adj" fmla="val 15625"/>
            </a:avLst>
          </a:prstGeom>
          <a:solidFill>
            <a:srgbClr val="F7FAFC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31"/>
          <p:cNvSpPr/>
          <p:nvPr/>
        </p:nvSpPr>
        <p:spPr>
          <a:xfrm>
            <a:off x="5276160" y="192024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x9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32"/>
          <p:cNvSpPr/>
          <p:nvPr/>
        </p:nvSpPr>
        <p:spPr>
          <a:xfrm>
            <a:off x="5385960" y="2221920"/>
            <a:ext cx="18252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9</a:t>
            </a:r>
            <a:endParaRPr lang="it-IT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33"/>
          <p:cNvSpPr/>
          <p:nvPr/>
        </p:nvSpPr>
        <p:spPr>
          <a:xfrm>
            <a:off x="5779080" y="1874520"/>
            <a:ext cx="383760" cy="292320"/>
          </a:xfrm>
          <a:prstGeom prst="roundRect">
            <a:avLst>
              <a:gd name="adj" fmla="val 15625"/>
            </a:avLst>
          </a:prstGeom>
          <a:solidFill>
            <a:srgbClr val="F7FAFC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34"/>
          <p:cNvSpPr/>
          <p:nvPr/>
        </p:nvSpPr>
        <p:spPr>
          <a:xfrm>
            <a:off x="5806440" y="192024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x10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35"/>
          <p:cNvSpPr/>
          <p:nvPr/>
        </p:nvSpPr>
        <p:spPr>
          <a:xfrm>
            <a:off x="5916240" y="2221920"/>
            <a:ext cx="18252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10</a:t>
            </a:r>
            <a:endParaRPr lang="it-IT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36"/>
          <p:cNvSpPr/>
          <p:nvPr/>
        </p:nvSpPr>
        <p:spPr>
          <a:xfrm>
            <a:off x="960120" y="1828800"/>
            <a:ext cx="1608840" cy="383760"/>
          </a:xfrm>
          <a:prstGeom prst="roundRect">
            <a:avLst>
              <a:gd name="adj" fmla="val 7143"/>
            </a:avLst>
          </a:prstGeom>
          <a:solidFill>
            <a:srgbClr val="E7F4D2">
              <a:alpha val="80000"/>
            </a:srgbClr>
          </a:solidFill>
          <a:ln w="15240">
            <a:solidFill>
              <a:srgbClr val="86BC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37"/>
          <p:cNvSpPr/>
          <p:nvPr/>
        </p:nvSpPr>
        <p:spPr>
          <a:xfrm>
            <a:off x="1664280" y="1673280"/>
            <a:ext cx="2739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>
                <a:solidFill>
                  <a:srgbClr val="86BC25"/>
                </a:solidFill>
                <a:effectLst/>
                <a:uFillTx/>
                <a:latin typeface="Aptos"/>
              </a:rPr>
              <a:t>pos 1</a:t>
            </a:r>
            <a:endParaRPr lang="it-IT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38"/>
          <p:cNvSpPr/>
          <p:nvPr/>
        </p:nvSpPr>
        <p:spPr>
          <a:xfrm>
            <a:off x="1490400" y="2423160"/>
            <a:ext cx="1608840" cy="383760"/>
          </a:xfrm>
          <a:prstGeom prst="roundRect">
            <a:avLst>
              <a:gd name="adj" fmla="val 7143"/>
            </a:avLst>
          </a:prstGeom>
          <a:solidFill>
            <a:srgbClr val="FFF4D7">
              <a:alpha val="80000"/>
            </a:srgbClr>
          </a:solidFill>
          <a:ln w="15240">
            <a:solidFill>
              <a:srgbClr val="F2A9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39"/>
          <p:cNvSpPr/>
          <p:nvPr/>
        </p:nvSpPr>
        <p:spPr>
          <a:xfrm>
            <a:off x="2194560" y="2267640"/>
            <a:ext cx="2739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>
                <a:solidFill>
                  <a:srgbClr val="F2A900"/>
                </a:solidFill>
                <a:effectLst/>
                <a:uFillTx/>
                <a:latin typeface="Aptos"/>
              </a:rPr>
              <a:t>pos 2</a:t>
            </a:r>
            <a:endParaRPr lang="it-IT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40"/>
          <p:cNvSpPr/>
          <p:nvPr/>
        </p:nvSpPr>
        <p:spPr>
          <a:xfrm>
            <a:off x="4672440" y="3017520"/>
            <a:ext cx="1608840" cy="383760"/>
          </a:xfrm>
          <a:prstGeom prst="roundRect">
            <a:avLst>
              <a:gd name="adj" fmla="val 7143"/>
            </a:avLst>
          </a:prstGeom>
          <a:solidFill>
            <a:srgbClr val="EAF2FF">
              <a:alpha val="80000"/>
            </a:srgbClr>
          </a:solidFill>
          <a:ln w="15240">
            <a:solidFill>
              <a:srgbClr val="2F6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41"/>
          <p:cNvSpPr/>
          <p:nvPr/>
        </p:nvSpPr>
        <p:spPr>
          <a:xfrm>
            <a:off x="5376600" y="2862000"/>
            <a:ext cx="2739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>
                <a:solidFill>
                  <a:srgbClr val="2F66D0"/>
                </a:solidFill>
                <a:effectLst/>
                <a:uFillTx/>
                <a:latin typeface="Aptos"/>
              </a:rPr>
              <a:t>pos 8</a:t>
            </a:r>
            <a:endParaRPr lang="it-IT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42"/>
          <p:cNvSpPr/>
          <p:nvPr/>
        </p:nvSpPr>
        <p:spPr>
          <a:xfrm>
            <a:off x="1005840" y="1389960"/>
            <a:ext cx="37486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L = 10, K = 3, S = 1, valid padding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43"/>
          <p:cNvSpPr/>
          <p:nvPr/>
        </p:nvSpPr>
        <p:spPr>
          <a:xfrm>
            <a:off x="1005840" y="3703320"/>
            <a:ext cx="42973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Valid positions: 1–3, 2–4, ..., 8–10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44"/>
          <p:cNvSpPr/>
          <p:nvPr/>
        </p:nvSpPr>
        <p:spPr>
          <a:xfrm>
            <a:off x="6583680" y="2377440"/>
            <a:ext cx="1828440" cy="639720"/>
          </a:xfrm>
          <a:prstGeom prst="roundRect">
            <a:avLst>
              <a:gd name="adj" fmla="val 7143"/>
            </a:avLst>
          </a:prstGeom>
          <a:solidFill>
            <a:srgbClr val="E7F4D2"/>
          </a:solidFill>
          <a:ln w="15240">
            <a:solidFill>
              <a:srgbClr val="86BC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45"/>
          <p:cNvSpPr/>
          <p:nvPr/>
        </p:nvSpPr>
        <p:spPr>
          <a:xfrm>
            <a:off x="6611040" y="2597040"/>
            <a:ext cx="1773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L_out = 8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46"/>
          <p:cNvSpPr/>
          <p:nvPr/>
        </p:nvSpPr>
        <p:spPr>
          <a:xfrm flipV="1">
            <a:off x="5394960" y="2697480"/>
            <a:ext cx="1051560" cy="91440"/>
          </a:xfrm>
          <a:prstGeom prst="line">
            <a:avLst/>
          </a:prstGeom>
          <a:ln w="17780">
            <a:solidFill>
              <a:srgbClr val="6B728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47"/>
          <p:cNvSpPr/>
          <p:nvPr/>
        </p:nvSpPr>
        <p:spPr>
          <a:xfrm>
            <a:off x="6400800" y="3337560"/>
            <a:ext cx="3108600" cy="456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48"/>
          <p:cNvSpPr/>
          <p:nvPr/>
        </p:nvSpPr>
        <p:spPr>
          <a:xfrm>
            <a:off x="6428160" y="3465720"/>
            <a:ext cx="3053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kernel positions become output positions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57DBF9-99E3-E626-06B5-BB09D59BB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Kernel size determines the local temporal support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AED9266-6AD2-1A97-A1A2-C11E02AB52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kernel size K determines how many </a:t>
            </a:r>
            <a:r>
              <a:rPr lang="en-GB" dirty="0" err="1"/>
              <a:t>neighboring</a:t>
            </a:r>
            <a:r>
              <a:rPr lang="en-GB" dirty="0"/>
              <a:t> time steps contribute directly to one convolutional output.</a:t>
            </a:r>
          </a:p>
          <a:p>
            <a:r>
              <a:rPr lang="en-GB" dirty="0"/>
              <a:t>Example: K = 3</a:t>
            </a:r>
          </a:p>
          <a:p>
            <a:r>
              <a:rPr lang="en-GB" dirty="0"/>
              <a:t>One activation may use:</a:t>
            </a:r>
          </a:p>
          <a:p>
            <a:pPr lvl="1"/>
            <a:r>
              <a:rPr lang="en-GB" dirty="0"/>
              <a:t>x[t]</a:t>
            </a:r>
          </a:p>
          <a:p>
            <a:pPr lvl="1"/>
            <a:r>
              <a:rPr lang="en-GB" dirty="0"/>
              <a:t>x[t+1]</a:t>
            </a:r>
          </a:p>
          <a:p>
            <a:pPr lvl="1"/>
            <a:r>
              <a:rPr lang="en-GB" dirty="0"/>
              <a:t>x[t+2]</a:t>
            </a:r>
          </a:p>
          <a:p>
            <a:r>
              <a:rPr lang="en-GB" dirty="0"/>
              <a:t>A larger kernel: K = 7</a:t>
            </a:r>
          </a:p>
          <a:p>
            <a:r>
              <a:rPr lang="en-GB" dirty="0"/>
              <a:t>uses seven consecutive time steps.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1116833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0"/>
          <p:cNvSpPr/>
          <p:nvPr/>
        </p:nvSpPr>
        <p:spPr>
          <a:xfrm>
            <a:off x="11466720" y="0"/>
            <a:ext cx="722160" cy="6857640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1"/>
          <p:cNvSpPr/>
          <p:nvPr/>
        </p:nvSpPr>
        <p:spPr>
          <a:xfrm>
            <a:off x="11301840" y="0"/>
            <a:ext cx="54360" cy="6857640"/>
          </a:xfrm>
          <a:prstGeom prst="rect">
            <a:avLst/>
          </a:prstGeom>
          <a:solidFill>
            <a:srgbClr val="E7F4D2"/>
          </a:solidFill>
          <a:ln w="12700">
            <a:solidFill>
              <a:srgbClr val="E7F4D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2"/>
          <p:cNvSpPr/>
          <p:nvPr/>
        </p:nvSpPr>
        <p:spPr>
          <a:xfrm>
            <a:off x="502920" y="320040"/>
            <a:ext cx="105609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Kernel size determines local temporal support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3"/>
          <p:cNvSpPr/>
          <p:nvPr/>
        </p:nvSpPr>
        <p:spPr>
          <a:xfrm>
            <a:off x="502920" y="841320"/>
            <a:ext cx="103323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dirty="0">
                <a:solidFill>
                  <a:srgbClr val="506070"/>
                </a:solidFill>
                <a:effectLst/>
                <a:highlight>
                  <a:srgbClr val="FFFF00"/>
                </a:highlight>
                <a:uFillTx/>
                <a:latin typeface="Aptos"/>
              </a:rPr>
              <a:t>The same number of frames/samples can mean a different duration at a different sampling rate.</a:t>
            </a:r>
            <a:endParaRPr lang="it-IT" sz="1050" b="1" u="none" strike="noStrike" dirty="0">
              <a:solidFill>
                <a:srgbClr val="000000"/>
              </a:solidFill>
              <a:effectLst/>
              <a:highlight>
                <a:srgbClr val="FFFF00"/>
              </a:highlight>
              <a:uFillTx/>
              <a:latin typeface="Arial"/>
            </a:endParaRPr>
          </a:p>
        </p:txBody>
      </p:sp>
      <p:sp>
        <p:nvSpPr>
          <p:cNvPr id="61" name="Shape 4"/>
          <p:cNvSpPr/>
          <p:nvPr/>
        </p:nvSpPr>
        <p:spPr>
          <a:xfrm>
            <a:off x="502920" y="6364080"/>
            <a:ext cx="10240920" cy="383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5D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5"/>
          <p:cNvSpPr/>
          <p:nvPr/>
        </p:nvSpPr>
        <p:spPr>
          <a:xfrm>
            <a:off x="594360" y="6455520"/>
            <a:ext cx="1005804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 dirty="0">
                <a:solidFill>
                  <a:srgbClr val="111827"/>
                </a:solidFill>
                <a:effectLst/>
                <a:uFillTx/>
                <a:latin typeface="Aptos"/>
              </a:rPr>
              <a:t>Kernel size should be interpreted in physical time as well as in frames/samples.</a:t>
            </a:r>
            <a:endParaRPr lang="it-IT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6"/>
          <p:cNvSpPr/>
          <p:nvPr/>
        </p:nvSpPr>
        <p:spPr>
          <a:xfrm>
            <a:off x="1005840" y="1371600"/>
            <a:ext cx="20113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86BC25"/>
                </a:solidFill>
                <a:effectLst/>
                <a:uFillTx/>
                <a:latin typeface="Aptos"/>
              </a:rPr>
              <a:t>K = 5 samples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7"/>
          <p:cNvSpPr/>
          <p:nvPr/>
        </p:nvSpPr>
        <p:spPr>
          <a:xfrm>
            <a:off x="1005840" y="1920240"/>
            <a:ext cx="383760" cy="292320"/>
          </a:xfrm>
          <a:prstGeom prst="roundRect">
            <a:avLst>
              <a:gd name="adj" fmla="val 15625"/>
            </a:avLst>
          </a:prstGeom>
          <a:solidFill>
            <a:srgbClr val="F7FAFC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8"/>
          <p:cNvSpPr/>
          <p:nvPr/>
        </p:nvSpPr>
        <p:spPr>
          <a:xfrm>
            <a:off x="1033200" y="196596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x1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9"/>
          <p:cNvSpPr/>
          <p:nvPr/>
        </p:nvSpPr>
        <p:spPr>
          <a:xfrm>
            <a:off x="1508760" y="1920240"/>
            <a:ext cx="383760" cy="292320"/>
          </a:xfrm>
          <a:prstGeom prst="roundRect">
            <a:avLst>
              <a:gd name="adj" fmla="val 15625"/>
            </a:avLst>
          </a:prstGeom>
          <a:solidFill>
            <a:srgbClr val="F7FAFC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0"/>
          <p:cNvSpPr/>
          <p:nvPr/>
        </p:nvSpPr>
        <p:spPr>
          <a:xfrm>
            <a:off x="1536120" y="196596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x2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11"/>
          <p:cNvSpPr/>
          <p:nvPr/>
        </p:nvSpPr>
        <p:spPr>
          <a:xfrm>
            <a:off x="2011680" y="1920240"/>
            <a:ext cx="383760" cy="292320"/>
          </a:xfrm>
          <a:prstGeom prst="roundRect">
            <a:avLst>
              <a:gd name="adj" fmla="val 15625"/>
            </a:avLst>
          </a:prstGeom>
          <a:solidFill>
            <a:srgbClr val="F7FAFC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2"/>
          <p:cNvSpPr/>
          <p:nvPr/>
        </p:nvSpPr>
        <p:spPr>
          <a:xfrm>
            <a:off x="2039040" y="196596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x3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13"/>
          <p:cNvSpPr/>
          <p:nvPr/>
        </p:nvSpPr>
        <p:spPr>
          <a:xfrm>
            <a:off x="2514600" y="1920240"/>
            <a:ext cx="383760" cy="292320"/>
          </a:xfrm>
          <a:prstGeom prst="roundRect">
            <a:avLst>
              <a:gd name="adj" fmla="val 15625"/>
            </a:avLst>
          </a:prstGeom>
          <a:solidFill>
            <a:srgbClr val="F7FAFC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4"/>
          <p:cNvSpPr/>
          <p:nvPr/>
        </p:nvSpPr>
        <p:spPr>
          <a:xfrm>
            <a:off x="2541960" y="196596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x4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15"/>
          <p:cNvSpPr/>
          <p:nvPr/>
        </p:nvSpPr>
        <p:spPr>
          <a:xfrm>
            <a:off x="3017520" y="1920240"/>
            <a:ext cx="383760" cy="292320"/>
          </a:xfrm>
          <a:prstGeom prst="roundRect">
            <a:avLst>
              <a:gd name="adj" fmla="val 15625"/>
            </a:avLst>
          </a:prstGeom>
          <a:solidFill>
            <a:srgbClr val="F7FAFC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6"/>
          <p:cNvSpPr/>
          <p:nvPr/>
        </p:nvSpPr>
        <p:spPr>
          <a:xfrm>
            <a:off x="3044880" y="196596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x5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17"/>
          <p:cNvSpPr/>
          <p:nvPr/>
        </p:nvSpPr>
        <p:spPr>
          <a:xfrm>
            <a:off x="3520440" y="1920240"/>
            <a:ext cx="383760" cy="292320"/>
          </a:xfrm>
          <a:prstGeom prst="roundRect">
            <a:avLst>
              <a:gd name="adj" fmla="val 15625"/>
            </a:avLst>
          </a:prstGeom>
          <a:solidFill>
            <a:srgbClr val="F7FAFC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8"/>
          <p:cNvSpPr/>
          <p:nvPr/>
        </p:nvSpPr>
        <p:spPr>
          <a:xfrm>
            <a:off x="3547800" y="196596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x6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19"/>
          <p:cNvSpPr/>
          <p:nvPr/>
        </p:nvSpPr>
        <p:spPr>
          <a:xfrm>
            <a:off x="4023360" y="1920240"/>
            <a:ext cx="383760" cy="292320"/>
          </a:xfrm>
          <a:prstGeom prst="roundRect">
            <a:avLst>
              <a:gd name="adj" fmla="val 15625"/>
            </a:avLst>
          </a:prstGeom>
          <a:solidFill>
            <a:srgbClr val="F7FAFC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20"/>
          <p:cNvSpPr/>
          <p:nvPr/>
        </p:nvSpPr>
        <p:spPr>
          <a:xfrm>
            <a:off x="4050720" y="196596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x7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21"/>
          <p:cNvSpPr/>
          <p:nvPr/>
        </p:nvSpPr>
        <p:spPr>
          <a:xfrm>
            <a:off x="4526280" y="1920240"/>
            <a:ext cx="383760" cy="292320"/>
          </a:xfrm>
          <a:prstGeom prst="roundRect">
            <a:avLst>
              <a:gd name="adj" fmla="val 15625"/>
            </a:avLst>
          </a:prstGeom>
          <a:solidFill>
            <a:srgbClr val="F7FAFC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22"/>
          <p:cNvSpPr/>
          <p:nvPr/>
        </p:nvSpPr>
        <p:spPr>
          <a:xfrm>
            <a:off x="4553640" y="196596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x8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23"/>
          <p:cNvSpPr/>
          <p:nvPr/>
        </p:nvSpPr>
        <p:spPr>
          <a:xfrm>
            <a:off x="1463040" y="1874520"/>
            <a:ext cx="2532600" cy="383760"/>
          </a:xfrm>
          <a:prstGeom prst="roundRect">
            <a:avLst>
              <a:gd name="adj" fmla="val 7143"/>
            </a:avLst>
          </a:prstGeom>
          <a:solidFill>
            <a:srgbClr val="E7F4D2">
              <a:alpha val="80000"/>
            </a:srgbClr>
          </a:solidFill>
          <a:ln w="15240">
            <a:solidFill>
              <a:srgbClr val="86BC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24"/>
          <p:cNvSpPr/>
          <p:nvPr/>
        </p:nvSpPr>
        <p:spPr>
          <a:xfrm>
            <a:off x="2629080" y="1719000"/>
            <a:ext cx="2739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>
                <a:solidFill>
                  <a:srgbClr val="86BC25"/>
                </a:solidFill>
                <a:effectLst/>
                <a:uFillTx/>
                <a:latin typeface="Aptos"/>
              </a:rPr>
              <a:t>K=5</a:t>
            </a:r>
            <a:endParaRPr lang="it-IT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25"/>
          <p:cNvSpPr/>
          <p:nvPr/>
        </p:nvSpPr>
        <p:spPr>
          <a:xfrm>
            <a:off x="1097280" y="2926080"/>
            <a:ext cx="14626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Fs = 50 Hz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26"/>
          <p:cNvSpPr/>
          <p:nvPr/>
        </p:nvSpPr>
        <p:spPr>
          <a:xfrm>
            <a:off x="1097280" y="3291840"/>
            <a:ext cx="2194200" cy="548280"/>
          </a:xfrm>
          <a:prstGeom prst="roundRect">
            <a:avLst>
              <a:gd name="adj" fmla="val 8333"/>
            </a:avLst>
          </a:prstGeom>
          <a:solidFill>
            <a:srgbClr val="E7F4D2"/>
          </a:solidFill>
          <a:ln w="15240">
            <a:solidFill>
              <a:srgbClr val="86BC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27"/>
          <p:cNvSpPr/>
          <p:nvPr/>
        </p:nvSpPr>
        <p:spPr>
          <a:xfrm>
            <a:off x="1124640" y="3465720"/>
            <a:ext cx="21394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5 / 50 = 0.1 s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28"/>
          <p:cNvSpPr/>
          <p:nvPr/>
        </p:nvSpPr>
        <p:spPr>
          <a:xfrm>
            <a:off x="5943600" y="2926080"/>
            <a:ext cx="16455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Fs = 100 Hz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29"/>
          <p:cNvSpPr/>
          <p:nvPr/>
        </p:nvSpPr>
        <p:spPr>
          <a:xfrm>
            <a:off x="5943600" y="3291840"/>
            <a:ext cx="2377080" cy="548280"/>
          </a:xfrm>
          <a:prstGeom prst="roundRect">
            <a:avLst>
              <a:gd name="adj" fmla="val 8333"/>
            </a:avLst>
          </a:prstGeom>
          <a:solidFill>
            <a:srgbClr val="FFF4D7"/>
          </a:solidFill>
          <a:ln w="15240">
            <a:solidFill>
              <a:srgbClr val="F2A9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30"/>
          <p:cNvSpPr/>
          <p:nvPr/>
        </p:nvSpPr>
        <p:spPr>
          <a:xfrm>
            <a:off x="5970960" y="3465720"/>
            <a:ext cx="23223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5 / 100 = 0.05 s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31"/>
          <p:cNvSpPr/>
          <p:nvPr/>
        </p:nvSpPr>
        <p:spPr>
          <a:xfrm>
            <a:off x="4297680" y="1371600"/>
            <a:ext cx="360" cy="3474720"/>
          </a:xfrm>
          <a:prstGeom prst="line">
            <a:avLst/>
          </a:prstGeom>
          <a:ln w="12700">
            <a:solidFill>
              <a:srgbClr val="D1D5D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" name="Gruppo 4">
            <a:extLst>
              <a:ext uri="{FF2B5EF4-FFF2-40B4-BE49-F238E27FC236}">
                <a16:creationId xmlns:a16="http://schemas.microsoft.com/office/drawing/2014/main" id="{ED6CF3E5-AB7C-370A-14E0-F110C4CC8395}"/>
              </a:ext>
            </a:extLst>
          </p:cNvPr>
          <p:cNvGrpSpPr/>
          <p:nvPr/>
        </p:nvGrpSpPr>
        <p:grpSpPr>
          <a:xfrm>
            <a:off x="2234977" y="5630295"/>
            <a:ext cx="4344285" cy="182520"/>
            <a:chOff x="1009455" y="5605035"/>
            <a:chExt cx="4344285" cy="182520"/>
          </a:xfrm>
        </p:grpSpPr>
        <p:sp>
          <p:nvSpPr>
            <p:cNvPr id="89" name="Text 32"/>
            <p:cNvSpPr/>
            <p:nvPr/>
          </p:nvSpPr>
          <p:spPr>
            <a:xfrm>
              <a:off x="1009455" y="5605035"/>
              <a:ext cx="1142640" cy="18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00" b="1" u="none" strike="noStrike" dirty="0">
                  <a:solidFill>
                    <a:srgbClr val="111827"/>
                  </a:solidFill>
                  <a:effectLst/>
                  <a:uFillTx/>
                  <a:latin typeface="Aptos"/>
                </a:rPr>
                <a:t>Design question:</a:t>
              </a:r>
              <a:endParaRPr lang="it-IT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Text 33"/>
            <p:cNvSpPr/>
            <p:nvPr/>
          </p:nvSpPr>
          <p:spPr>
            <a:xfrm>
              <a:off x="2335335" y="5605035"/>
              <a:ext cx="3018405" cy="18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600" b="1" u="none" strike="noStrike" dirty="0">
                  <a:effectLst/>
                  <a:uFillTx/>
                  <a:latin typeface="Aptos"/>
                </a:rPr>
                <a:t>What duration should the first layer inspect directly?</a:t>
              </a:r>
              <a:endParaRPr lang="it-IT" sz="1600" b="1" u="none" strike="noStrike" dirty="0">
                <a:effectLst/>
                <a:uFillTx/>
                <a:latin typeface="Arial"/>
              </a:endParaRPr>
            </a:p>
          </p:txBody>
        </p:sp>
      </p:grp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DB21DF39-F456-59C8-C0F3-2C92C3D0910C}"/>
              </a:ext>
            </a:extLst>
          </p:cNvPr>
          <p:cNvSpPr txBox="1"/>
          <p:nvPr/>
        </p:nvSpPr>
        <p:spPr>
          <a:xfrm>
            <a:off x="2203380" y="4624275"/>
            <a:ext cx="61055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/>
              <a:t>Small kernels focus on shorter local patterns.</a:t>
            </a:r>
          </a:p>
          <a:p>
            <a:r>
              <a:rPr lang="en-GB" sz="1200" dirty="0"/>
              <a:t>Large kernels inspect longer temporal structures directly.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FDC3682-44E4-92FC-A4F0-AE04E23E6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Stride controls how far the kernel moves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CE7D84D-9984-3A22-4443-07BC8791D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The stride S specifies the displacement of the convolutional kernel between two consecutive positions.</a:t>
            </a:r>
          </a:p>
          <a:p>
            <a:r>
              <a:rPr lang="en-GB" b="1" dirty="0"/>
              <a:t>Stride 1</a:t>
            </a:r>
          </a:p>
          <a:p>
            <a:pPr lvl="1"/>
            <a:r>
              <a:rPr lang="en-GB" dirty="0"/>
              <a:t>position 1: [x1 x2 x3]</a:t>
            </a:r>
          </a:p>
          <a:p>
            <a:pPr lvl="1"/>
            <a:r>
              <a:rPr lang="en-GB" dirty="0"/>
              <a:t>position 2:      [x2 x3 x4]</a:t>
            </a:r>
          </a:p>
          <a:p>
            <a:pPr lvl="1"/>
            <a:r>
              <a:rPr lang="en-GB" dirty="0"/>
              <a:t>position 3:           [x3 x4 x5]</a:t>
            </a:r>
          </a:p>
          <a:p>
            <a:r>
              <a:rPr lang="en-GB" dirty="0"/>
              <a:t>The filter moves one time step at a time.</a:t>
            </a:r>
          </a:p>
          <a:p>
            <a:r>
              <a:rPr lang="en-GB" b="1" dirty="0"/>
              <a:t>Stride 2</a:t>
            </a:r>
          </a:p>
          <a:p>
            <a:pPr lvl="1"/>
            <a:r>
              <a:rPr lang="en-GB" dirty="0"/>
              <a:t>position 1: [x1 x2 x3]</a:t>
            </a:r>
          </a:p>
          <a:p>
            <a:pPr lvl="1"/>
            <a:r>
              <a:rPr lang="en-GB" dirty="0"/>
              <a:t>position 2:           [x3 x4 x5]</a:t>
            </a:r>
          </a:p>
          <a:p>
            <a:pPr lvl="1"/>
            <a:r>
              <a:rPr lang="en-GB" dirty="0"/>
              <a:t>position 3:                     [x5 x6 x7]</a:t>
            </a:r>
          </a:p>
          <a:p>
            <a:r>
              <a:rPr lang="en-GB" dirty="0"/>
              <a:t>The filter moves two time steps at a time.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1768908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BFB8B-D02E-1ECD-7D87-B542E9FF6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18BA69-7F7E-27A7-FE15-1269EA24B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Stride controls how far the kernel moves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00CA69D-A0A8-7F2A-4FB4-09959F8C1A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Consequence</a:t>
            </a:r>
          </a:p>
          <a:p>
            <a:r>
              <a:rPr lang="en-GB" dirty="0"/>
              <a:t>Increasing stride reduces temporal resolution.</a:t>
            </a:r>
          </a:p>
          <a:p>
            <a:r>
              <a:rPr lang="en-GB" dirty="0"/>
              <a:t>For example: input length = 100</a:t>
            </a:r>
          </a:p>
          <a:p>
            <a:pPr lvl="1"/>
            <a:r>
              <a:rPr lang="en-GB" dirty="0"/>
              <a:t>stride = 2</a:t>
            </a:r>
          </a:p>
          <a:p>
            <a:r>
              <a:rPr lang="en-GB" dirty="0"/>
              <a:t>produces approximately half as many output positions.</a:t>
            </a:r>
          </a:p>
          <a:p>
            <a:endParaRPr lang="en-GB" dirty="0"/>
          </a:p>
          <a:p>
            <a:r>
              <a:rPr lang="en-GB" dirty="0"/>
              <a:t>Stride is both a computational choice and a </a:t>
            </a:r>
            <a:r>
              <a:rPr lang="en-GB" b="1" dirty="0"/>
              <a:t>temporal-resolution choice.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7396947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0"/>
          <p:cNvSpPr/>
          <p:nvPr/>
        </p:nvSpPr>
        <p:spPr>
          <a:xfrm>
            <a:off x="11466720" y="0"/>
            <a:ext cx="722160" cy="6857640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1"/>
          <p:cNvSpPr/>
          <p:nvPr/>
        </p:nvSpPr>
        <p:spPr>
          <a:xfrm>
            <a:off x="11301840" y="0"/>
            <a:ext cx="54360" cy="6857640"/>
          </a:xfrm>
          <a:prstGeom prst="rect">
            <a:avLst/>
          </a:prstGeom>
          <a:solidFill>
            <a:srgbClr val="E7F4D2"/>
          </a:solidFill>
          <a:ln w="12700">
            <a:solidFill>
              <a:srgbClr val="E7F4D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2"/>
          <p:cNvSpPr/>
          <p:nvPr/>
        </p:nvSpPr>
        <p:spPr>
          <a:xfrm>
            <a:off x="502920" y="320040"/>
            <a:ext cx="105609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 dirty="0">
                <a:solidFill>
                  <a:srgbClr val="111827"/>
                </a:solidFill>
                <a:effectLst/>
                <a:highlight>
                  <a:srgbClr val="FFFF00"/>
                </a:highlight>
                <a:uFillTx/>
                <a:latin typeface="Aptos Display"/>
                <a:ea typeface="Aptos Display"/>
              </a:rPr>
              <a:t>Stride controls output spacing</a:t>
            </a:r>
            <a:endParaRPr lang="it-IT" sz="2200" b="0" u="none" strike="noStrike" dirty="0">
              <a:solidFill>
                <a:srgbClr val="000000"/>
              </a:solidFill>
              <a:effectLst/>
              <a:highlight>
                <a:srgbClr val="FFFF00"/>
              </a:highlight>
              <a:uFillTx/>
              <a:latin typeface="Arial"/>
            </a:endParaRPr>
          </a:p>
        </p:txBody>
      </p:sp>
      <p:sp>
        <p:nvSpPr>
          <p:cNvPr id="94" name="Text 3"/>
          <p:cNvSpPr/>
          <p:nvPr/>
        </p:nvSpPr>
        <p:spPr>
          <a:xfrm>
            <a:off x="502920" y="841320"/>
            <a:ext cx="103323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06070"/>
                </a:solidFill>
                <a:effectLst/>
                <a:uFillTx/>
                <a:latin typeface="Aptos"/>
              </a:rPr>
              <a:t>Kernel size controls local context; stride controls how far the detector moves.</a:t>
            </a:r>
            <a:endParaRPr lang="it-IT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4"/>
          <p:cNvSpPr/>
          <p:nvPr/>
        </p:nvSpPr>
        <p:spPr>
          <a:xfrm>
            <a:off x="502920" y="6364080"/>
            <a:ext cx="10240920" cy="383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5D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5"/>
          <p:cNvSpPr/>
          <p:nvPr/>
        </p:nvSpPr>
        <p:spPr>
          <a:xfrm>
            <a:off x="594360" y="6455520"/>
            <a:ext cx="1005804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 dirty="0">
                <a:solidFill>
                  <a:srgbClr val="111827"/>
                </a:solidFill>
                <a:effectLst/>
                <a:uFillTx/>
                <a:latin typeface="Aptos"/>
              </a:rPr>
              <a:t>Stride reduces the number of output positions and changes temporal resolution.</a:t>
            </a:r>
            <a:endParaRPr lang="it-IT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6"/>
          <p:cNvSpPr/>
          <p:nvPr/>
        </p:nvSpPr>
        <p:spPr>
          <a:xfrm>
            <a:off x="914400" y="123444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86BC25"/>
                </a:solidFill>
                <a:effectLst/>
                <a:uFillTx/>
                <a:latin typeface="Aptos"/>
              </a:rPr>
              <a:t>Stride 1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7"/>
          <p:cNvSpPr/>
          <p:nvPr/>
        </p:nvSpPr>
        <p:spPr>
          <a:xfrm>
            <a:off x="914400" y="1783080"/>
            <a:ext cx="383760" cy="292320"/>
          </a:xfrm>
          <a:prstGeom prst="roundRect">
            <a:avLst>
              <a:gd name="adj" fmla="val 15625"/>
            </a:avLst>
          </a:prstGeom>
          <a:solidFill>
            <a:srgbClr val="F7FAFC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8"/>
          <p:cNvSpPr/>
          <p:nvPr/>
        </p:nvSpPr>
        <p:spPr>
          <a:xfrm>
            <a:off x="941760" y="182880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x1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9"/>
          <p:cNvSpPr/>
          <p:nvPr/>
        </p:nvSpPr>
        <p:spPr>
          <a:xfrm>
            <a:off x="1444680" y="1783080"/>
            <a:ext cx="383760" cy="292320"/>
          </a:xfrm>
          <a:prstGeom prst="roundRect">
            <a:avLst>
              <a:gd name="adj" fmla="val 15625"/>
            </a:avLst>
          </a:prstGeom>
          <a:solidFill>
            <a:srgbClr val="F7FAFC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0"/>
          <p:cNvSpPr/>
          <p:nvPr/>
        </p:nvSpPr>
        <p:spPr>
          <a:xfrm>
            <a:off x="1472040" y="182880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x2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11"/>
          <p:cNvSpPr/>
          <p:nvPr/>
        </p:nvSpPr>
        <p:spPr>
          <a:xfrm>
            <a:off x="1974960" y="1783080"/>
            <a:ext cx="383760" cy="292320"/>
          </a:xfrm>
          <a:prstGeom prst="roundRect">
            <a:avLst>
              <a:gd name="adj" fmla="val 15625"/>
            </a:avLst>
          </a:prstGeom>
          <a:solidFill>
            <a:srgbClr val="F7FAFC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2"/>
          <p:cNvSpPr/>
          <p:nvPr/>
        </p:nvSpPr>
        <p:spPr>
          <a:xfrm>
            <a:off x="2002680" y="182880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x3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13"/>
          <p:cNvSpPr/>
          <p:nvPr/>
        </p:nvSpPr>
        <p:spPr>
          <a:xfrm>
            <a:off x="2505600" y="1783080"/>
            <a:ext cx="383760" cy="292320"/>
          </a:xfrm>
          <a:prstGeom prst="roundRect">
            <a:avLst>
              <a:gd name="adj" fmla="val 15625"/>
            </a:avLst>
          </a:prstGeom>
          <a:solidFill>
            <a:srgbClr val="F7FAFC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4"/>
          <p:cNvSpPr/>
          <p:nvPr/>
        </p:nvSpPr>
        <p:spPr>
          <a:xfrm>
            <a:off x="2532960" y="182880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x4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15"/>
          <p:cNvSpPr/>
          <p:nvPr/>
        </p:nvSpPr>
        <p:spPr>
          <a:xfrm>
            <a:off x="3035880" y="1783080"/>
            <a:ext cx="383760" cy="292320"/>
          </a:xfrm>
          <a:prstGeom prst="roundRect">
            <a:avLst>
              <a:gd name="adj" fmla="val 15625"/>
            </a:avLst>
          </a:prstGeom>
          <a:solidFill>
            <a:srgbClr val="F7FAFC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6"/>
          <p:cNvSpPr/>
          <p:nvPr/>
        </p:nvSpPr>
        <p:spPr>
          <a:xfrm>
            <a:off x="3063240" y="182880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x5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17"/>
          <p:cNvSpPr/>
          <p:nvPr/>
        </p:nvSpPr>
        <p:spPr>
          <a:xfrm>
            <a:off x="3566160" y="1783080"/>
            <a:ext cx="383760" cy="292320"/>
          </a:xfrm>
          <a:prstGeom prst="roundRect">
            <a:avLst>
              <a:gd name="adj" fmla="val 15625"/>
            </a:avLst>
          </a:prstGeom>
          <a:solidFill>
            <a:srgbClr val="F7FAFC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8"/>
          <p:cNvSpPr/>
          <p:nvPr/>
        </p:nvSpPr>
        <p:spPr>
          <a:xfrm>
            <a:off x="3593520" y="182880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x6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19"/>
          <p:cNvSpPr/>
          <p:nvPr/>
        </p:nvSpPr>
        <p:spPr>
          <a:xfrm>
            <a:off x="4096440" y="1783080"/>
            <a:ext cx="383760" cy="292320"/>
          </a:xfrm>
          <a:prstGeom prst="roundRect">
            <a:avLst>
              <a:gd name="adj" fmla="val 15625"/>
            </a:avLst>
          </a:prstGeom>
          <a:solidFill>
            <a:srgbClr val="F7FAFC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20"/>
          <p:cNvSpPr/>
          <p:nvPr/>
        </p:nvSpPr>
        <p:spPr>
          <a:xfrm>
            <a:off x="4123800" y="182880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x7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21"/>
          <p:cNvSpPr/>
          <p:nvPr/>
        </p:nvSpPr>
        <p:spPr>
          <a:xfrm>
            <a:off x="4626720" y="1783080"/>
            <a:ext cx="383760" cy="292320"/>
          </a:xfrm>
          <a:prstGeom prst="roundRect">
            <a:avLst>
              <a:gd name="adj" fmla="val 15625"/>
            </a:avLst>
          </a:prstGeom>
          <a:solidFill>
            <a:srgbClr val="F7FAFC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22"/>
          <p:cNvSpPr/>
          <p:nvPr/>
        </p:nvSpPr>
        <p:spPr>
          <a:xfrm>
            <a:off x="4654440" y="182880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x8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23"/>
          <p:cNvSpPr/>
          <p:nvPr/>
        </p:nvSpPr>
        <p:spPr>
          <a:xfrm>
            <a:off x="868680" y="1737360"/>
            <a:ext cx="1608840" cy="383760"/>
          </a:xfrm>
          <a:prstGeom prst="roundRect">
            <a:avLst>
              <a:gd name="adj" fmla="val 7143"/>
            </a:avLst>
          </a:prstGeom>
          <a:solidFill>
            <a:srgbClr val="E7F4D2">
              <a:alpha val="80000"/>
            </a:srgbClr>
          </a:solidFill>
          <a:ln w="15240">
            <a:solidFill>
              <a:srgbClr val="86BC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24"/>
          <p:cNvSpPr/>
          <p:nvPr/>
        </p:nvSpPr>
        <p:spPr>
          <a:xfrm>
            <a:off x="1572840" y="1581840"/>
            <a:ext cx="2739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>
                <a:solidFill>
                  <a:srgbClr val="86BC25"/>
                </a:solidFill>
                <a:effectLst/>
                <a:uFillTx/>
                <a:latin typeface="Aptos"/>
              </a:rPr>
              <a:t>pos 1</a:t>
            </a:r>
            <a:endParaRPr lang="it-IT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25"/>
          <p:cNvSpPr/>
          <p:nvPr/>
        </p:nvSpPr>
        <p:spPr>
          <a:xfrm>
            <a:off x="1398960" y="2377440"/>
            <a:ext cx="1608840" cy="383760"/>
          </a:xfrm>
          <a:prstGeom prst="roundRect">
            <a:avLst>
              <a:gd name="adj" fmla="val 7143"/>
            </a:avLst>
          </a:prstGeom>
          <a:solidFill>
            <a:srgbClr val="E7F4D2">
              <a:alpha val="80000"/>
            </a:srgbClr>
          </a:solidFill>
          <a:ln w="15240">
            <a:solidFill>
              <a:srgbClr val="86BC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26"/>
          <p:cNvSpPr/>
          <p:nvPr/>
        </p:nvSpPr>
        <p:spPr>
          <a:xfrm>
            <a:off x="2103120" y="2221920"/>
            <a:ext cx="2739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>
                <a:solidFill>
                  <a:srgbClr val="86BC25"/>
                </a:solidFill>
                <a:effectLst/>
                <a:uFillTx/>
                <a:latin typeface="Aptos"/>
              </a:rPr>
              <a:t>pos 2</a:t>
            </a:r>
            <a:endParaRPr lang="it-IT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27"/>
          <p:cNvSpPr/>
          <p:nvPr/>
        </p:nvSpPr>
        <p:spPr>
          <a:xfrm>
            <a:off x="1929240" y="3017520"/>
            <a:ext cx="1608840" cy="383760"/>
          </a:xfrm>
          <a:prstGeom prst="roundRect">
            <a:avLst>
              <a:gd name="adj" fmla="val 7143"/>
            </a:avLst>
          </a:prstGeom>
          <a:solidFill>
            <a:srgbClr val="E7F4D2">
              <a:alpha val="80000"/>
            </a:srgbClr>
          </a:solidFill>
          <a:ln w="15240">
            <a:solidFill>
              <a:srgbClr val="86BC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28"/>
          <p:cNvSpPr/>
          <p:nvPr/>
        </p:nvSpPr>
        <p:spPr>
          <a:xfrm>
            <a:off x="2633400" y="2862000"/>
            <a:ext cx="2739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>
                <a:solidFill>
                  <a:srgbClr val="86BC25"/>
                </a:solidFill>
                <a:effectLst/>
                <a:uFillTx/>
                <a:latin typeface="Aptos"/>
              </a:rPr>
              <a:t>pos 3</a:t>
            </a:r>
            <a:endParaRPr lang="it-IT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29"/>
          <p:cNvSpPr/>
          <p:nvPr/>
        </p:nvSpPr>
        <p:spPr>
          <a:xfrm>
            <a:off x="914400" y="3794760"/>
            <a:ext cx="27428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outputs one sample apart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30"/>
          <p:cNvSpPr/>
          <p:nvPr/>
        </p:nvSpPr>
        <p:spPr>
          <a:xfrm>
            <a:off x="6400800" y="123444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2A900"/>
                </a:solidFill>
                <a:effectLst/>
                <a:uFillTx/>
                <a:latin typeface="Aptos"/>
              </a:rPr>
              <a:t>Stride 2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31"/>
          <p:cNvSpPr/>
          <p:nvPr/>
        </p:nvSpPr>
        <p:spPr>
          <a:xfrm>
            <a:off x="6400800" y="1783080"/>
            <a:ext cx="383760" cy="292320"/>
          </a:xfrm>
          <a:prstGeom prst="roundRect">
            <a:avLst>
              <a:gd name="adj" fmla="val 15625"/>
            </a:avLst>
          </a:prstGeom>
          <a:solidFill>
            <a:srgbClr val="F7FAFC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32"/>
          <p:cNvSpPr/>
          <p:nvPr/>
        </p:nvSpPr>
        <p:spPr>
          <a:xfrm>
            <a:off x="6428160" y="182880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x1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33"/>
          <p:cNvSpPr/>
          <p:nvPr/>
        </p:nvSpPr>
        <p:spPr>
          <a:xfrm>
            <a:off x="6931080" y="1783080"/>
            <a:ext cx="383760" cy="292320"/>
          </a:xfrm>
          <a:prstGeom prst="roundRect">
            <a:avLst>
              <a:gd name="adj" fmla="val 15625"/>
            </a:avLst>
          </a:prstGeom>
          <a:solidFill>
            <a:srgbClr val="F7FAFC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34"/>
          <p:cNvSpPr/>
          <p:nvPr/>
        </p:nvSpPr>
        <p:spPr>
          <a:xfrm>
            <a:off x="6958440" y="182880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x2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35"/>
          <p:cNvSpPr/>
          <p:nvPr/>
        </p:nvSpPr>
        <p:spPr>
          <a:xfrm>
            <a:off x="7461360" y="1783080"/>
            <a:ext cx="383760" cy="292320"/>
          </a:xfrm>
          <a:prstGeom prst="roundRect">
            <a:avLst>
              <a:gd name="adj" fmla="val 15625"/>
            </a:avLst>
          </a:prstGeom>
          <a:solidFill>
            <a:srgbClr val="F7FAFC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36"/>
          <p:cNvSpPr/>
          <p:nvPr/>
        </p:nvSpPr>
        <p:spPr>
          <a:xfrm>
            <a:off x="7489080" y="182880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x3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37"/>
          <p:cNvSpPr/>
          <p:nvPr/>
        </p:nvSpPr>
        <p:spPr>
          <a:xfrm>
            <a:off x="7992000" y="1783080"/>
            <a:ext cx="383760" cy="292320"/>
          </a:xfrm>
          <a:prstGeom prst="roundRect">
            <a:avLst>
              <a:gd name="adj" fmla="val 15625"/>
            </a:avLst>
          </a:prstGeom>
          <a:solidFill>
            <a:srgbClr val="F7FAFC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38"/>
          <p:cNvSpPr/>
          <p:nvPr/>
        </p:nvSpPr>
        <p:spPr>
          <a:xfrm>
            <a:off x="8019360" y="182880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x4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39"/>
          <p:cNvSpPr/>
          <p:nvPr/>
        </p:nvSpPr>
        <p:spPr>
          <a:xfrm>
            <a:off x="8522280" y="1783080"/>
            <a:ext cx="383760" cy="292320"/>
          </a:xfrm>
          <a:prstGeom prst="roundRect">
            <a:avLst>
              <a:gd name="adj" fmla="val 15625"/>
            </a:avLst>
          </a:prstGeom>
          <a:solidFill>
            <a:srgbClr val="F7FAFC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40"/>
          <p:cNvSpPr/>
          <p:nvPr/>
        </p:nvSpPr>
        <p:spPr>
          <a:xfrm>
            <a:off x="8549640" y="182880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x5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41"/>
          <p:cNvSpPr/>
          <p:nvPr/>
        </p:nvSpPr>
        <p:spPr>
          <a:xfrm>
            <a:off x="9052560" y="1783080"/>
            <a:ext cx="383760" cy="292320"/>
          </a:xfrm>
          <a:prstGeom prst="roundRect">
            <a:avLst>
              <a:gd name="adj" fmla="val 15625"/>
            </a:avLst>
          </a:prstGeom>
          <a:solidFill>
            <a:srgbClr val="F7FAFC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42"/>
          <p:cNvSpPr/>
          <p:nvPr/>
        </p:nvSpPr>
        <p:spPr>
          <a:xfrm>
            <a:off x="9079920" y="182880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x6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43"/>
          <p:cNvSpPr/>
          <p:nvPr/>
        </p:nvSpPr>
        <p:spPr>
          <a:xfrm>
            <a:off x="9582840" y="1783080"/>
            <a:ext cx="383760" cy="292320"/>
          </a:xfrm>
          <a:prstGeom prst="roundRect">
            <a:avLst>
              <a:gd name="adj" fmla="val 15625"/>
            </a:avLst>
          </a:prstGeom>
          <a:solidFill>
            <a:srgbClr val="F7FAFC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44"/>
          <p:cNvSpPr/>
          <p:nvPr/>
        </p:nvSpPr>
        <p:spPr>
          <a:xfrm>
            <a:off x="9610200" y="182880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x7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45"/>
          <p:cNvSpPr/>
          <p:nvPr/>
        </p:nvSpPr>
        <p:spPr>
          <a:xfrm>
            <a:off x="10113120" y="1783080"/>
            <a:ext cx="383760" cy="292320"/>
          </a:xfrm>
          <a:prstGeom prst="roundRect">
            <a:avLst>
              <a:gd name="adj" fmla="val 15625"/>
            </a:avLst>
          </a:prstGeom>
          <a:solidFill>
            <a:srgbClr val="F7FAFC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46"/>
          <p:cNvSpPr/>
          <p:nvPr/>
        </p:nvSpPr>
        <p:spPr>
          <a:xfrm>
            <a:off x="10140840" y="182880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x8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47"/>
          <p:cNvSpPr/>
          <p:nvPr/>
        </p:nvSpPr>
        <p:spPr>
          <a:xfrm>
            <a:off x="6355080" y="1737360"/>
            <a:ext cx="1608840" cy="383760"/>
          </a:xfrm>
          <a:prstGeom prst="roundRect">
            <a:avLst>
              <a:gd name="adj" fmla="val 7143"/>
            </a:avLst>
          </a:prstGeom>
          <a:solidFill>
            <a:srgbClr val="FFF4D7">
              <a:alpha val="80000"/>
            </a:srgbClr>
          </a:solidFill>
          <a:ln w="15240">
            <a:solidFill>
              <a:srgbClr val="F2A9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48"/>
          <p:cNvSpPr/>
          <p:nvPr/>
        </p:nvSpPr>
        <p:spPr>
          <a:xfrm>
            <a:off x="7059240" y="1581840"/>
            <a:ext cx="2739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>
                <a:solidFill>
                  <a:srgbClr val="F2A900"/>
                </a:solidFill>
                <a:effectLst/>
                <a:uFillTx/>
                <a:latin typeface="Aptos"/>
              </a:rPr>
              <a:t>pos 1</a:t>
            </a:r>
            <a:endParaRPr lang="it-IT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49"/>
          <p:cNvSpPr/>
          <p:nvPr/>
        </p:nvSpPr>
        <p:spPr>
          <a:xfrm>
            <a:off x="7415640" y="2377440"/>
            <a:ext cx="1608840" cy="383760"/>
          </a:xfrm>
          <a:prstGeom prst="roundRect">
            <a:avLst>
              <a:gd name="adj" fmla="val 7143"/>
            </a:avLst>
          </a:prstGeom>
          <a:solidFill>
            <a:srgbClr val="FFF4D7">
              <a:alpha val="80000"/>
            </a:srgbClr>
          </a:solidFill>
          <a:ln w="15240">
            <a:solidFill>
              <a:srgbClr val="F2A9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50"/>
          <p:cNvSpPr/>
          <p:nvPr/>
        </p:nvSpPr>
        <p:spPr>
          <a:xfrm>
            <a:off x="8119800" y="2221920"/>
            <a:ext cx="2739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>
                <a:solidFill>
                  <a:srgbClr val="F2A900"/>
                </a:solidFill>
                <a:effectLst/>
                <a:uFillTx/>
                <a:latin typeface="Aptos"/>
              </a:rPr>
              <a:t>pos 2</a:t>
            </a:r>
            <a:endParaRPr lang="it-IT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51"/>
          <p:cNvSpPr/>
          <p:nvPr/>
        </p:nvSpPr>
        <p:spPr>
          <a:xfrm>
            <a:off x="8476560" y="3017520"/>
            <a:ext cx="1608840" cy="383760"/>
          </a:xfrm>
          <a:prstGeom prst="roundRect">
            <a:avLst>
              <a:gd name="adj" fmla="val 7143"/>
            </a:avLst>
          </a:prstGeom>
          <a:solidFill>
            <a:srgbClr val="FFF4D7">
              <a:alpha val="80000"/>
            </a:srgbClr>
          </a:solidFill>
          <a:ln w="15240">
            <a:solidFill>
              <a:srgbClr val="F2A9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52"/>
          <p:cNvSpPr/>
          <p:nvPr/>
        </p:nvSpPr>
        <p:spPr>
          <a:xfrm>
            <a:off x="9180720" y="2862000"/>
            <a:ext cx="2739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>
                <a:solidFill>
                  <a:srgbClr val="F2A900"/>
                </a:solidFill>
                <a:effectLst/>
                <a:uFillTx/>
                <a:latin typeface="Aptos"/>
              </a:rPr>
              <a:t>pos 3</a:t>
            </a:r>
            <a:endParaRPr lang="it-IT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53"/>
          <p:cNvSpPr/>
          <p:nvPr/>
        </p:nvSpPr>
        <p:spPr>
          <a:xfrm>
            <a:off x="6400800" y="3794760"/>
            <a:ext cx="27428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 dirty="0">
                <a:solidFill>
                  <a:srgbClr val="6B7280"/>
                </a:solidFill>
                <a:effectLst/>
                <a:uFillTx/>
                <a:latin typeface="Aptos"/>
              </a:rPr>
              <a:t>outputs two frames apart</a:t>
            </a:r>
            <a:endParaRPr lang="it-IT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54"/>
          <p:cNvSpPr/>
          <p:nvPr/>
        </p:nvSpPr>
        <p:spPr>
          <a:xfrm>
            <a:off x="3566160" y="4754880"/>
            <a:ext cx="4023000" cy="50256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240">
            <a:solidFill>
              <a:srgbClr val="2F6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55"/>
          <p:cNvSpPr/>
          <p:nvPr/>
        </p:nvSpPr>
        <p:spPr>
          <a:xfrm>
            <a:off x="3593520" y="4905720"/>
            <a:ext cx="39682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Higher stride = coarser temporal grid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74F3C7E-167A-B0D8-F0BF-80FCCC751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Valid convolution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D670996-106B-DD18-2069-41BB43999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With </a:t>
            </a:r>
            <a:r>
              <a:rPr lang="en-GB" b="1" dirty="0"/>
              <a:t>valid padding</a:t>
            </a:r>
            <a:r>
              <a:rPr lang="en-GB" dirty="0"/>
              <a:t>, no artificial values are added around the sequence.</a:t>
            </a:r>
          </a:p>
          <a:p>
            <a:r>
              <a:rPr lang="en-GB" dirty="0"/>
              <a:t>The kernel is applied only where it fits completely inside the input.</a:t>
            </a:r>
          </a:p>
          <a:p>
            <a:r>
              <a:rPr lang="en-GB" dirty="0"/>
              <a:t>For stride 1: </a:t>
            </a:r>
            <a:r>
              <a:rPr lang="en-GB" dirty="0" err="1"/>
              <a:t>L_out</a:t>
            </a:r>
            <a:r>
              <a:rPr lang="en-GB" dirty="0"/>
              <a:t> = L − K + 1</a:t>
            </a:r>
          </a:p>
          <a:p>
            <a:r>
              <a:rPr lang="en-GB" b="1" dirty="0"/>
              <a:t>Example</a:t>
            </a:r>
          </a:p>
          <a:p>
            <a:r>
              <a:rPr lang="en-GB" dirty="0"/>
              <a:t>Input length: L = 100</a:t>
            </a:r>
          </a:p>
          <a:p>
            <a:r>
              <a:rPr lang="en-GB" dirty="0"/>
              <a:t>Kernel size: K = 5</a:t>
            </a:r>
          </a:p>
          <a:p>
            <a:r>
              <a:rPr lang="en-GB" dirty="0"/>
              <a:t>Then:</a:t>
            </a:r>
          </a:p>
          <a:p>
            <a:pPr lvl="1"/>
            <a:r>
              <a:rPr lang="en-GB" dirty="0" err="1"/>
              <a:t>L_out</a:t>
            </a:r>
            <a:r>
              <a:rPr lang="en-GB" dirty="0"/>
              <a:t> = 100 − 5 + 1 = 96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5850523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FE2B0-97E2-1226-5D80-BE2711589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A3CD0DC-AF18-3506-ED2F-D9559FE21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Valid convolution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3A62CD6-7F9C-6E65-3674-C5FE04EB19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b="1" dirty="0"/>
              <a:t>Advantages</a:t>
            </a:r>
          </a:p>
          <a:p>
            <a:pPr lvl="0"/>
            <a:r>
              <a:rPr lang="en-GB" dirty="0"/>
              <a:t>no artificial boundary values; </a:t>
            </a:r>
          </a:p>
          <a:p>
            <a:pPr lvl="0"/>
            <a:r>
              <a:rPr lang="en-GB" dirty="0"/>
              <a:t>simple interpretation. </a:t>
            </a:r>
          </a:p>
          <a:p>
            <a:r>
              <a:rPr lang="en-GB" b="1" dirty="0"/>
              <a:t>Limitation</a:t>
            </a:r>
          </a:p>
          <a:p>
            <a:r>
              <a:rPr lang="en-GB" dirty="0"/>
              <a:t>Temporal length decreases after every convolutional layer.</a:t>
            </a:r>
          </a:p>
          <a:p>
            <a:r>
              <a:rPr lang="en-GB" dirty="0"/>
              <a:t>For several stacked layers, this reduction may become substantial.</a:t>
            </a:r>
          </a:p>
          <a:p>
            <a:r>
              <a:rPr lang="en-GB" b="1" dirty="0"/>
              <a:t>Example</a:t>
            </a:r>
          </a:p>
          <a:p>
            <a:r>
              <a:rPr lang="en-GB" dirty="0"/>
              <a:t>Three valid convolutions with K = 5:</a:t>
            </a:r>
          </a:p>
          <a:p>
            <a:r>
              <a:rPr lang="en-GB" dirty="0"/>
              <a:t>100 → 96 → 92 → 88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b="1" dirty="0"/>
              <a:t>For tasks requiring one prediction per original time step, valid convolution may complicate output alignment.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9403142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0"/>
          <p:cNvSpPr/>
          <p:nvPr/>
        </p:nvSpPr>
        <p:spPr>
          <a:xfrm>
            <a:off x="11466720" y="0"/>
            <a:ext cx="722160" cy="6857640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1"/>
          <p:cNvSpPr/>
          <p:nvPr/>
        </p:nvSpPr>
        <p:spPr>
          <a:xfrm>
            <a:off x="11301840" y="0"/>
            <a:ext cx="54360" cy="6857640"/>
          </a:xfrm>
          <a:prstGeom prst="rect">
            <a:avLst/>
          </a:prstGeom>
          <a:solidFill>
            <a:srgbClr val="E7F4D2"/>
          </a:solidFill>
          <a:ln w="12700">
            <a:solidFill>
              <a:srgbClr val="E7F4D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2"/>
          <p:cNvSpPr/>
          <p:nvPr/>
        </p:nvSpPr>
        <p:spPr>
          <a:xfrm>
            <a:off x="502920" y="320040"/>
            <a:ext cx="105609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 dirty="0">
                <a:solidFill>
                  <a:srgbClr val="111827"/>
                </a:solidFill>
                <a:effectLst/>
                <a:highlight>
                  <a:srgbClr val="FFFF00"/>
                </a:highlight>
                <a:uFillTx/>
                <a:latin typeface="Aptos Display"/>
                <a:ea typeface="Aptos Display"/>
              </a:rPr>
              <a:t>Valid convolution reduces temporal length</a:t>
            </a:r>
            <a:endParaRPr lang="it-IT" sz="2200" b="0" u="none" strike="noStrike" dirty="0">
              <a:solidFill>
                <a:srgbClr val="000000"/>
              </a:solidFill>
              <a:effectLst/>
              <a:highlight>
                <a:srgbClr val="FFFF00"/>
              </a:highlight>
              <a:uFillTx/>
              <a:latin typeface="Arial"/>
            </a:endParaRPr>
          </a:p>
        </p:txBody>
      </p:sp>
      <p:sp>
        <p:nvSpPr>
          <p:cNvPr id="150" name="Text 3"/>
          <p:cNvSpPr/>
          <p:nvPr/>
        </p:nvSpPr>
        <p:spPr>
          <a:xfrm>
            <a:off x="502920" y="841320"/>
            <a:ext cx="103323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506070"/>
                </a:solidFill>
                <a:effectLst/>
                <a:uFillTx/>
                <a:latin typeface="Aptos"/>
              </a:rPr>
              <a:t>The kernel is applied only where it fits completely inside the input.</a:t>
            </a:r>
            <a:endParaRPr lang="it-IT" sz="12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4"/>
          <p:cNvSpPr/>
          <p:nvPr/>
        </p:nvSpPr>
        <p:spPr>
          <a:xfrm>
            <a:off x="502920" y="6364080"/>
            <a:ext cx="10240920" cy="383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5D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5"/>
          <p:cNvSpPr/>
          <p:nvPr/>
        </p:nvSpPr>
        <p:spPr>
          <a:xfrm>
            <a:off x="594360" y="6455520"/>
            <a:ext cx="1005804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111827"/>
                </a:solidFill>
                <a:effectLst/>
                <a:uFillTx/>
                <a:latin typeface="Aptos"/>
              </a:rPr>
              <a:t>Valid padding avoids artificial boundary values but shortens the sequence.</a:t>
            </a:r>
            <a:endParaRPr lang="it-IT" sz="12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6"/>
          <p:cNvSpPr/>
          <p:nvPr/>
        </p:nvSpPr>
        <p:spPr>
          <a:xfrm>
            <a:off x="1005840" y="2011680"/>
            <a:ext cx="1462680" cy="822600"/>
          </a:xfrm>
          <a:prstGeom prst="roundRect">
            <a:avLst>
              <a:gd name="adj" fmla="val 5556"/>
            </a:avLst>
          </a:prstGeom>
          <a:solidFill>
            <a:srgbClr val="EAF2FF"/>
          </a:solidFill>
          <a:ln w="15240">
            <a:solidFill>
              <a:srgbClr val="2F6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7"/>
          <p:cNvSpPr/>
          <p:nvPr/>
        </p:nvSpPr>
        <p:spPr>
          <a:xfrm>
            <a:off x="1033200" y="2322720"/>
            <a:ext cx="14079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Input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L = 100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8"/>
          <p:cNvSpPr/>
          <p:nvPr/>
        </p:nvSpPr>
        <p:spPr>
          <a:xfrm>
            <a:off x="2651760" y="2423160"/>
            <a:ext cx="1188720" cy="360"/>
          </a:xfrm>
          <a:prstGeom prst="line">
            <a:avLst/>
          </a:prstGeom>
          <a:ln w="19050">
            <a:solidFill>
              <a:srgbClr val="6B728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9"/>
          <p:cNvSpPr/>
          <p:nvPr/>
        </p:nvSpPr>
        <p:spPr>
          <a:xfrm>
            <a:off x="3977640" y="1874520"/>
            <a:ext cx="2194200" cy="1096920"/>
          </a:xfrm>
          <a:prstGeom prst="roundRect">
            <a:avLst>
              <a:gd name="adj" fmla="val 4167"/>
            </a:avLst>
          </a:prstGeom>
          <a:solidFill>
            <a:srgbClr val="E7F4D2"/>
          </a:solidFill>
          <a:ln w="15240">
            <a:solidFill>
              <a:srgbClr val="86BC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0"/>
          <p:cNvSpPr/>
          <p:nvPr/>
        </p:nvSpPr>
        <p:spPr>
          <a:xfrm>
            <a:off x="4005000" y="2322720"/>
            <a:ext cx="21394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Conv1D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K = 5, S = 1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valid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11"/>
          <p:cNvSpPr/>
          <p:nvPr/>
        </p:nvSpPr>
        <p:spPr>
          <a:xfrm>
            <a:off x="6309360" y="2423160"/>
            <a:ext cx="1188720" cy="360"/>
          </a:xfrm>
          <a:prstGeom prst="line">
            <a:avLst/>
          </a:prstGeom>
          <a:ln w="19050">
            <a:solidFill>
              <a:srgbClr val="6B728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12"/>
          <p:cNvSpPr/>
          <p:nvPr/>
        </p:nvSpPr>
        <p:spPr>
          <a:xfrm>
            <a:off x="7680960" y="2011680"/>
            <a:ext cx="1828440" cy="822600"/>
          </a:xfrm>
          <a:prstGeom prst="roundRect">
            <a:avLst>
              <a:gd name="adj" fmla="val 5556"/>
            </a:avLst>
          </a:prstGeom>
          <a:solidFill>
            <a:srgbClr val="FFF4D7"/>
          </a:solidFill>
          <a:ln w="15240">
            <a:solidFill>
              <a:srgbClr val="F2A9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3"/>
          <p:cNvSpPr/>
          <p:nvPr/>
        </p:nvSpPr>
        <p:spPr>
          <a:xfrm>
            <a:off x="7708320" y="2322720"/>
            <a:ext cx="1773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Output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L_out = 96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14"/>
          <p:cNvSpPr/>
          <p:nvPr/>
        </p:nvSpPr>
        <p:spPr>
          <a:xfrm>
            <a:off x="3840480" y="3886200"/>
            <a:ext cx="2742840" cy="50256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5"/>
          <p:cNvSpPr/>
          <p:nvPr/>
        </p:nvSpPr>
        <p:spPr>
          <a:xfrm>
            <a:off x="3867840" y="4037040"/>
            <a:ext cx="2688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L_out = L − K + 1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6"/>
          <p:cNvSpPr/>
          <p:nvPr/>
        </p:nvSpPr>
        <p:spPr>
          <a:xfrm>
            <a:off x="2441160" y="4716716"/>
            <a:ext cx="2770740" cy="53208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111827"/>
                </a:solidFill>
                <a:effectLst/>
                <a:uFillTx/>
                <a:latin typeface="Aptos"/>
              </a:rPr>
              <a:t>Stacking valid convolutions keeps shrinking temporal length:</a:t>
            </a:r>
            <a:endParaRPr lang="it-IT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17"/>
          <p:cNvSpPr/>
          <p:nvPr/>
        </p:nvSpPr>
        <p:spPr>
          <a:xfrm>
            <a:off x="5486400" y="4754880"/>
            <a:ext cx="2834280" cy="45684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8"/>
          <p:cNvSpPr/>
          <p:nvPr/>
        </p:nvSpPr>
        <p:spPr>
          <a:xfrm>
            <a:off x="5513760" y="4883040"/>
            <a:ext cx="2779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100 → 96 → 92 → 88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154DC37-DA20-8722-EB5F-7A7C6F5A8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Same padding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5866395-61CD-39CC-E0EE-2B7967938C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With </a:t>
            </a:r>
            <a:r>
              <a:rPr lang="en-GB" b="1" dirty="0"/>
              <a:t>same padding</a:t>
            </a:r>
            <a:r>
              <a:rPr lang="en-GB" dirty="0"/>
              <a:t>, </a:t>
            </a:r>
            <a:r>
              <a:rPr lang="en-GB" b="1" dirty="0"/>
              <a:t>artificial values </a:t>
            </a:r>
            <a:r>
              <a:rPr lang="en-GB" dirty="0"/>
              <a:t>are added around the temporal boundaries so that the output length is preserved when stride is 1.</a:t>
            </a:r>
          </a:p>
          <a:p>
            <a:r>
              <a:rPr lang="en-GB" dirty="0"/>
              <a:t>Conceptually:</a:t>
            </a:r>
          </a:p>
          <a:p>
            <a:r>
              <a:rPr lang="en-GB" dirty="0"/>
              <a:t>padding | original sequence | padding</a:t>
            </a:r>
          </a:p>
          <a:p>
            <a:r>
              <a:rPr lang="en-GB" b="1" dirty="0">
                <a:highlight>
                  <a:srgbClr val="FFFF00"/>
                </a:highlight>
              </a:rPr>
              <a:t>For example:</a:t>
            </a:r>
          </a:p>
          <a:p>
            <a:r>
              <a:rPr lang="en-GB" b="1" dirty="0"/>
              <a:t>0 0 | x1 x2 x3 x4 x5 | 0 0</a:t>
            </a:r>
          </a:p>
          <a:p>
            <a:r>
              <a:rPr lang="en-GB" dirty="0"/>
              <a:t>The exact amount of padding depends on kernel size and implementation.</a:t>
            </a:r>
          </a:p>
          <a:p>
            <a:r>
              <a:rPr lang="en-GB" b="1" dirty="0"/>
              <a:t>For stride 1</a:t>
            </a:r>
          </a:p>
          <a:p>
            <a:r>
              <a:rPr lang="en-GB" dirty="0">
                <a:highlight>
                  <a:srgbClr val="FFFF00"/>
                </a:highlight>
              </a:rPr>
              <a:t>Typically: </a:t>
            </a:r>
            <a:r>
              <a:rPr lang="en-GB" dirty="0" err="1">
                <a:highlight>
                  <a:srgbClr val="FFFF00"/>
                </a:highlight>
              </a:rPr>
              <a:t>L_out</a:t>
            </a:r>
            <a:r>
              <a:rPr lang="en-GB" dirty="0">
                <a:highlight>
                  <a:srgbClr val="FFFF00"/>
                </a:highlight>
              </a:rPr>
              <a:t> = L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6677286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7C7BE-2336-4B9F-5C29-35684638A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1B7E59D-9A27-3FBC-185D-1F7F094A6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Same padding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2318DB9-DCA8-4251-8277-C1D1A909F3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b="1" dirty="0">
                <a:highlight>
                  <a:srgbClr val="FFFF00"/>
                </a:highlight>
              </a:rPr>
              <a:t>Example</a:t>
            </a:r>
          </a:p>
          <a:p>
            <a:r>
              <a:rPr lang="en-GB" dirty="0"/>
              <a:t>Input: [N, 100, 4]</a:t>
            </a:r>
          </a:p>
          <a:p>
            <a:r>
              <a:rPr lang="en-GB" dirty="0"/>
              <a:t>Conv1D: kernel size K = 5;  32 filters; same padding. </a:t>
            </a:r>
          </a:p>
          <a:p>
            <a:r>
              <a:rPr lang="en-GB" dirty="0"/>
              <a:t>Output: [N, 100, 32]</a:t>
            </a:r>
          </a:p>
          <a:p>
            <a:r>
              <a:rPr lang="en-GB" b="1" dirty="0">
                <a:highlight>
                  <a:srgbClr val="FFFF00"/>
                </a:highlight>
              </a:rPr>
              <a:t>Why useful?</a:t>
            </a:r>
          </a:p>
          <a:p>
            <a:pPr lvl="1"/>
            <a:r>
              <a:rPr lang="en-GB" dirty="0"/>
              <a:t>preserves temporal resolution; </a:t>
            </a:r>
          </a:p>
          <a:p>
            <a:pPr lvl="1"/>
            <a:r>
              <a:rPr lang="en-GB" dirty="0"/>
              <a:t>simplifies deep stacks; </a:t>
            </a:r>
          </a:p>
          <a:p>
            <a:pPr lvl="1"/>
            <a:r>
              <a:rPr lang="en-GB" dirty="0"/>
              <a:t>useful for sequence labelling; </a:t>
            </a:r>
          </a:p>
          <a:p>
            <a:pPr lvl="1"/>
            <a:r>
              <a:rPr lang="en-GB" dirty="0"/>
              <a:t>facilitates alignment of input and output time steps. </a:t>
            </a:r>
          </a:p>
          <a:p>
            <a:r>
              <a:rPr lang="en-GB" b="1" dirty="0"/>
              <a:t>Important caveat</a:t>
            </a:r>
          </a:p>
          <a:p>
            <a:r>
              <a:rPr lang="en-GB" dirty="0"/>
              <a:t>Padding values are artificial and affect computations near the boundaries.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314825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0"/>
          <p:cNvSpPr/>
          <p:nvPr/>
        </p:nvSpPr>
        <p:spPr>
          <a:xfrm>
            <a:off x="11466720" y="0"/>
            <a:ext cx="722160" cy="6857640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1"/>
          <p:cNvSpPr/>
          <p:nvPr/>
        </p:nvSpPr>
        <p:spPr>
          <a:xfrm>
            <a:off x="11301840" y="0"/>
            <a:ext cx="54360" cy="6857640"/>
          </a:xfrm>
          <a:prstGeom prst="rect">
            <a:avLst/>
          </a:prstGeom>
          <a:solidFill>
            <a:srgbClr val="E7F4D2"/>
          </a:solidFill>
          <a:ln w="12700">
            <a:solidFill>
              <a:srgbClr val="E7F4D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2"/>
          <p:cNvSpPr/>
          <p:nvPr/>
        </p:nvSpPr>
        <p:spPr>
          <a:xfrm>
            <a:off x="502920" y="320040"/>
            <a:ext cx="105609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Same padding preserves temporal length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3"/>
          <p:cNvSpPr/>
          <p:nvPr/>
        </p:nvSpPr>
        <p:spPr>
          <a:xfrm>
            <a:off x="502920" y="841320"/>
            <a:ext cx="103323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506070"/>
                </a:solidFill>
                <a:effectLst/>
                <a:uFillTx/>
                <a:latin typeface="Aptos"/>
              </a:rPr>
              <a:t>Artificial boundary values are added so that </a:t>
            </a:r>
            <a:r>
              <a:rPr lang="en-US" sz="1200" b="1" u="none" strike="noStrike" dirty="0" err="1">
                <a:solidFill>
                  <a:srgbClr val="506070"/>
                </a:solidFill>
                <a:effectLst/>
                <a:uFillTx/>
                <a:latin typeface="Aptos"/>
              </a:rPr>
              <a:t>L_out</a:t>
            </a:r>
            <a:r>
              <a:rPr lang="en-US" sz="1200" b="1" u="none" strike="noStrike" dirty="0">
                <a:solidFill>
                  <a:srgbClr val="506070"/>
                </a:solidFill>
                <a:effectLst/>
                <a:uFillTx/>
                <a:latin typeface="Aptos"/>
              </a:rPr>
              <a:t> ≈ L for stride 1.</a:t>
            </a:r>
            <a:endParaRPr lang="it-IT" sz="12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4"/>
          <p:cNvSpPr/>
          <p:nvPr/>
        </p:nvSpPr>
        <p:spPr>
          <a:xfrm>
            <a:off x="502920" y="6364080"/>
            <a:ext cx="10240920" cy="383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5D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5"/>
          <p:cNvSpPr/>
          <p:nvPr/>
        </p:nvSpPr>
        <p:spPr>
          <a:xfrm>
            <a:off x="594360" y="6455520"/>
            <a:ext cx="1005804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111827"/>
                </a:solidFill>
                <a:effectLst/>
                <a:uFillTx/>
                <a:latin typeface="Aptos"/>
              </a:rPr>
              <a:t>Same padding simplifies deep stacks and time-aligned outputs.</a:t>
            </a:r>
            <a:endParaRPr lang="it-IT" sz="12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6"/>
          <p:cNvSpPr/>
          <p:nvPr/>
        </p:nvSpPr>
        <p:spPr>
          <a:xfrm>
            <a:off x="914400" y="1920240"/>
            <a:ext cx="9140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padding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7"/>
          <p:cNvSpPr/>
          <p:nvPr/>
        </p:nvSpPr>
        <p:spPr>
          <a:xfrm>
            <a:off x="1938960" y="1920240"/>
            <a:ext cx="2285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original sequence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8"/>
          <p:cNvSpPr/>
          <p:nvPr/>
        </p:nvSpPr>
        <p:spPr>
          <a:xfrm>
            <a:off x="4224600" y="1920240"/>
            <a:ext cx="9140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padding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9"/>
          <p:cNvSpPr/>
          <p:nvPr/>
        </p:nvSpPr>
        <p:spPr>
          <a:xfrm>
            <a:off x="914400" y="2331720"/>
            <a:ext cx="383760" cy="319680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0"/>
          <p:cNvSpPr/>
          <p:nvPr/>
        </p:nvSpPr>
        <p:spPr>
          <a:xfrm>
            <a:off x="941760" y="239112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0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11"/>
          <p:cNvSpPr/>
          <p:nvPr/>
        </p:nvSpPr>
        <p:spPr>
          <a:xfrm>
            <a:off x="1389960" y="2331720"/>
            <a:ext cx="383760" cy="319680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2"/>
          <p:cNvSpPr/>
          <p:nvPr/>
        </p:nvSpPr>
        <p:spPr>
          <a:xfrm>
            <a:off x="1417320" y="239112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0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13"/>
          <p:cNvSpPr/>
          <p:nvPr/>
        </p:nvSpPr>
        <p:spPr>
          <a:xfrm>
            <a:off x="1865520" y="2331720"/>
            <a:ext cx="383760" cy="319680"/>
          </a:xfrm>
          <a:prstGeom prst="roundRect">
            <a:avLst>
              <a:gd name="adj" fmla="val 14286"/>
            </a:avLst>
          </a:prstGeom>
          <a:solidFill>
            <a:srgbClr val="EAF2FF"/>
          </a:solidFill>
          <a:ln w="15240">
            <a:solidFill>
              <a:srgbClr val="2F6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14"/>
          <p:cNvSpPr/>
          <p:nvPr/>
        </p:nvSpPr>
        <p:spPr>
          <a:xfrm>
            <a:off x="1892880" y="239112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x1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15"/>
          <p:cNvSpPr/>
          <p:nvPr/>
        </p:nvSpPr>
        <p:spPr>
          <a:xfrm>
            <a:off x="2340720" y="2331720"/>
            <a:ext cx="383760" cy="319680"/>
          </a:xfrm>
          <a:prstGeom prst="roundRect">
            <a:avLst>
              <a:gd name="adj" fmla="val 14286"/>
            </a:avLst>
          </a:prstGeom>
          <a:solidFill>
            <a:srgbClr val="EAF2FF"/>
          </a:solidFill>
          <a:ln w="15240">
            <a:solidFill>
              <a:srgbClr val="2F6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6"/>
          <p:cNvSpPr/>
          <p:nvPr/>
        </p:nvSpPr>
        <p:spPr>
          <a:xfrm>
            <a:off x="2368440" y="239112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x2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17"/>
          <p:cNvSpPr/>
          <p:nvPr/>
        </p:nvSpPr>
        <p:spPr>
          <a:xfrm>
            <a:off x="2816280" y="2331720"/>
            <a:ext cx="383760" cy="319680"/>
          </a:xfrm>
          <a:prstGeom prst="roundRect">
            <a:avLst>
              <a:gd name="adj" fmla="val 14286"/>
            </a:avLst>
          </a:prstGeom>
          <a:solidFill>
            <a:srgbClr val="EAF2FF"/>
          </a:solidFill>
          <a:ln w="15240">
            <a:solidFill>
              <a:srgbClr val="2F6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8"/>
          <p:cNvSpPr/>
          <p:nvPr/>
        </p:nvSpPr>
        <p:spPr>
          <a:xfrm>
            <a:off x="2843640" y="239112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x3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19"/>
          <p:cNvSpPr/>
          <p:nvPr/>
        </p:nvSpPr>
        <p:spPr>
          <a:xfrm>
            <a:off x="3291840" y="2331720"/>
            <a:ext cx="383760" cy="319680"/>
          </a:xfrm>
          <a:prstGeom prst="roundRect">
            <a:avLst>
              <a:gd name="adj" fmla="val 14286"/>
            </a:avLst>
          </a:prstGeom>
          <a:solidFill>
            <a:srgbClr val="EAF2FF"/>
          </a:solidFill>
          <a:ln w="15240">
            <a:solidFill>
              <a:srgbClr val="2F6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20"/>
          <p:cNvSpPr/>
          <p:nvPr/>
        </p:nvSpPr>
        <p:spPr>
          <a:xfrm>
            <a:off x="3319200" y="239112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x4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21"/>
          <p:cNvSpPr/>
          <p:nvPr/>
        </p:nvSpPr>
        <p:spPr>
          <a:xfrm>
            <a:off x="3767400" y="2331720"/>
            <a:ext cx="383760" cy="319680"/>
          </a:xfrm>
          <a:prstGeom prst="roundRect">
            <a:avLst>
              <a:gd name="adj" fmla="val 14286"/>
            </a:avLst>
          </a:prstGeom>
          <a:solidFill>
            <a:srgbClr val="EAF2FF"/>
          </a:solidFill>
          <a:ln w="15240">
            <a:solidFill>
              <a:srgbClr val="2F6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22"/>
          <p:cNvSpPr/>
          <p:nvPr/>
        </p:nvSpPr>
        <p:spPr>
          <a:xfrm>
            <a:off x="3794760" y="239112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x5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23"/>
          <p:cNvSpPr/>
          <p:nvPr/>
        </p:nvSpPr>
        <p:spPr>
          <a:xfrm>
            <a:off x="4242960" y="2331720"/>
            <a:ext cx="383760" cy="319680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24"/>
          <p:cNvSpPr/>
          <p:nvPr/>
        </p:nvSpPr>
        <p:spPr>
          <a:xfrm>
            <a:off x="4270320" y="239112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0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25"/>
          <p:cNvSpPr/>
          <p:nvPr/>
        </p:nvSpPr>
        <p:spPr>
          <a:xfrm>
            <a:off x="4718160" y="2331720"/>
            <a:ext cx="383760" cy="319680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26"/>
          <p:cNvSpPr/>
          <p:nvPr/>
        </p:nvSpPr>
        <p:spPr>
          <a:xfrm>
            <a:off x="4745880" y="239112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0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27"/>
          <p:cNvSpPr/>
          <p:nvPr/>
        </p:nvSpPr>
        <p:spPr>
          <a:xfrm>
            <a:off x="914400" y="3749040"/>
            <a:ext cx="1919880" cy="685440"/>
          </a:xfrm>
          <a:prstGeom prst="roundRect">
            <a:avLst>
              <a:gd name="adj" fmla="val 6667"/>
            </a:avLst>
          </a:prstGeom>
          <a:solidFill>
            <a:srgbClr val="EAF2FF"/>
          </a:solidFill>
          <a:ln w="15240">
            <a:solidFill>
              <a:srgbClr val="2F6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28"/>
          <p:cNvSpPr/>
          <p:nvPr/>
        </p:nvSpPr>
        <p:spPr>
          <a:xfrm>
            <a:off x="941760" y="3991320"/>
            <a:ext cx="18651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Input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[N, 100, 4]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29"/>
          <p:cNvSpPr/>
          <p:nvPr/>
        </p:nvSpPr>
        <p:spPr>
          <a:xfrm>
            <a:off x="3108960" y="4096440"/>
            <a:ext cx="1143000" cy="360"/>
          </a:xfrm>
          <a:prstGeom prst="line">
            <a:avLst/>
          </a:prstGeom>
          <a:ln w="17780">
            <a:solidFill>
              <a:srgbClr val="6B728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30"/>
          <p:cNvSpPr/>
          <p:nvPr/>
        </p:nvSpPr>
        <p:spPr>
          <a:xfrm>
            <a:off x="4434840" y="3611880"/>
            <a:ext cx="2194200" cy="959760"/>
          </a:xfrm>
          <a:prstGeom prst="roundRect">
            <a:avLst>
              <a:gd name="adj" fmla="val 4762"/>
            </a:avLst>
          </a:prstGeom>
          <a:solidFill>
            <a:srgbClr val="E7F4D2"/>
          </a:solidFill>
          <a:ln w="15240">
            <a:solidFill>
              <a:srgbClr val="86BC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31"/>
          <p:cNvSpPr/>
          <p:nvPr/>
        </p:nvSpPr>
        <p:spPr>
          <a:xfrm>
            <a:off x="4462200" y="3991320"/>
            <a:ext cx="21394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Conv1D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K = 5, same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F = 32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32"/>
          <p:cNvSpPr/>
          <p:nvPr/>
        </p:nvSpPr>
        <p:spPr>
          <a:xfrm>
            <a:off x="6812280" y="4096440"/>
            <a:ext cx="1143000" cy="360"/>
          </a:xfrm>
          <a:prstGeom prst="line">
            <a:avLst/>
          </a:prstGeom>
          <a:ln w="17780">
            <a:solidFill>
              <a:srgbClr val="6B728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33"/>
          <p:cNvSpPr/>
          <p:nvPr/>
        </p:nvSpPr>
        <p:spPr>
          <a:xfrm>
            <a:off x="8138160" y="3749040"/>
            <a:ext cx="2011320" cy="685440"/>
          </a:xfrm>
          <a:prstGeom prst="roundRect">
            <a:avLst>
              <a:gd name="adj" fmla="val 6667"/>
            </a:avLst>
          </a:prstGeom>
          <a:solidFill>
            <a:srgbClr val="FFF4D7"/>
          </a:solidFill>
          <a:ln w="15240">
            <a:solidFill>
              <a:srgbClr val="F2A9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34"/>
          <p:cNvSpPr/>
          <p:nvPr/>
        </p:nvSpPr>
        <p:spPr>
          <a:xfrm>
            <a:off x="8165520" y="3991320"/>
            <a:ext cx="19566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Output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[N, 100, 32]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B512DF5-A43F-7DC8-1F97-0AD2D4397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Padding determines what the network sees at sequence boundaries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3A5D90A-3628-E485-890C-AF5EABFDD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Near the middle of a sequence, a kernel can use real observations on both sides.</a:t>
            </a:r>
          </a:p>
          <a:p>
            <a:r>
              <a:rPr lang="en-GB" dirty="0"/>
              <a:t>Near the first or last time step, some values are missing.</a:t>
            </a:r>
          </a:p>
          <a:p>
            <a:r>
              <a:rPr lang="en-GB" dirty="0"/>
              <a:t>Padding provides artificial values so that the convolution can still be evaluated.</a:t>
            </a:r>
          </a:p>
          <a:p>
            <a:r>
              <a:rPr lang="en-GB" b="1" dirty="0"/>
              <a:t>Example</a:t>
            </a:r>
          </a:p>
          <a:p>
            <a:r>
              <a:rPr lang="en-GB" dirty="0"/>
              <a:t>Kernel size: K = 3</a:t>
            </a:r>
          </a:p>
          <a:p>
            <a:r>
              <a:rPr lang="en-GB" dirty="0"/>
              <a:t>For the first observation, a same-padded convolution might use 0, x[1], x[2] instead of requiring: x[0], x[1], x[2] where x[0] does not exist.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238791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51E07-68F2-E91B-D663-DC4081A5F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61ECD99-6D9B-E307-4FFC-6328887F3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Padding determines what the network sees at sequence boundaries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52AD2C3-77EF-D8CD-CC13-6881057142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Common padding choices</a:t>
            </a:r>
          </a:p>
          <a:p>
            <a:pPr lvl="1"/>
            <a:r>
              <a:rPr lang="en-GB" dirty="0"/>
              <a:t>zeros; </a:t>
            </a:r>
          </a:p>
          <a:p>
            <a:pPr lvl="1"/>
            <a:r>
              <a:rPr lang="en-GB" dirty="0"/>
              <a:t>repeated edge values; </a:t>
            </a:r>
          </a:p>
          <a:p>
            <a:pPr lvl="1"/>
            <a:r>
              <a:rPr lang="en-GB" dirty="0"/>
              <a:t>reflected values. </a:t>
            </a:r>
          </a:p>
          <a:p>
            <a:pPr lvl="1"/>
            <a:r>
              <a:rPr lang="en-GB" dirty="0"/>
              <a:t>In neural Conv1D implementations, zero padding is common.</a:t>
            </a:r>
          </a:p>
          <a:p>
            <a:pPr marL="0" indent="0">
              <a:buNone/>
            </a:pPr>
            <a:endParaRPr lang="en-GB" b="1" dirty="0"/>
          </a:p>
          <a:p>
            <a:r>
              <a:rPr lang="en-GB" b="1" dirty="0"/>
              <a:t>The representation near sequence boundaries may be less reliable because part of the local context is artificial.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556523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0"/>
          <p:cNvSpPr/>
          <p:nvPr/>
        </p:nvSpPr>
        <p:spPr>
          <a:xfrm>
            <a:off x="11466720" y="0"/>
            <a:ext cx="722160" cy="6857640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1"/>
          <p:cNvSpPr/>
          <p:nvPr/>
        </p:nvSpPr>
        <p:spPr>
          <a:xfrm>
            <a:off x="11301840" y="0"/>
            <a:ext cx="54360" cy="6857640"/>
          </a:xfrm>
          <a:prstGeom prst="rect">
            <a:avLst/>
          </a:prstGeom>
          <a:solidFill>
            <a:srgbClr val="E7F4D2"/>
          </a:solidFill>
          <a:ln w="12700">
            <a:solidFill>
              <a:srgbClr val="E7F4D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2"/>
          <p:cNvSpPr/>
          <p:nvPr/>
        </p:nvSpPr>
        <p:spPr>
          <a:xfrm>
            <a:off x="502920" y="320040"/>
            <a:ext cx="105609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Padding affects boundary representations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3"/>
          <p:cNvSpPr/>
          <p:nvPr/>
        </p:nvSpPr>
        <p:spPr>
          <a:xfrm>
            <a:off x="502920" y="841320"/>
            <a:ext cx="103323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506070"/>
                </a:solidFill>
                <a:effectLst/>
                <a:uFillTx/>
                <a:latin typeface="Aptos"/>
              </a:rPr>
              <a:t>Near the boundaries, part of the local context may be artificial.</a:t>
            </a:r>
            <a:endParaRPr lang="it-IT" sz="12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4"/>
          <p:cNvSpPr/>
          <p:nvPr/>
        </p:nvSpPr>
        <p:spPr>
          <a:xfrm>
            <a:off x="502920" y="6364080"/>
            <a:ext cx="10240920" cy="383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5D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5"/>
          <p:cNvSpPr/>
          <p:nvPr/>
        </p:nvSpPr>
        <p:spPr>
          <a:xfrm>
            <a:off x="594360" y="6455520"/>
            <a:ext cx="1005804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dirty="0">
                <a:solidFill>
                  <a:srgbClr val="111827"/>
                </a:solidFill>
                <a:effectLst/>
                <a:uFillTx/>
                <a:latin typeface="Aptos"/>
              </a:rPr>
              <a:t>Boundary activations should be interpreted with care when padding is used.</a:t>
            </a:r>
            <a:endParaRPr lang="it-IT" sz="11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6"/>
          <p:cNvSpPr/>
          <p:nvPr/>
        </p:nvSpPr>
        <p:spPr>
          <a:xfrm>
            <a:off x="914400" y="2011680"/>
            <a:ext cx="383760" cy="292320"/>
          </a:xfrm>
          <a:prstGeom prst="roundRect">
            <a:avLst>
              <a:gd name="adj" fmla="val 15625"/>
            </a:avLst>
          </a:prstGeom>
          <a:solidFill>
            <a:srgbClr val="F7FAFC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7"/>
          <p:cNvSpPr/>
          <p:nvPr/>
        </p:nvSpPr>
        <p:spPr>
          <a:xfrm>
            <a:off x="941760" y="205740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x1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8"/>
          <p:cNvSpPr/>
          <p:nvPr/>
        </p:nvSpPr>
        <p:spPr>
          <a:xfrm>
            <a:off x="1481400" y="2011680"/>
            <a:ext cx="383760" cy="292320"/>
          </a:xfrm>
          <a:prstGeom prst="roundRect">
            <a:avLst>
              <a:gd name="adj" fmla="val 15625"/>
            </a:avLst>
          </a:prstGeom>
          <a:solidFill>
            <a:srgbClr val="F7FAFC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9"/>
          <p:cNvSpPr/>
          <p:nvPr/>
        </p:nvSpPr>
        <p:spPr>
          <a:xfrm>
            <a:off x="1508760" y="205740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x2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10"/>
          <p:cNvSpPr/>
          <p:nvPr/>
        </p:nvSpPr>
        <p:spPr>
          <a:xfrm>
            <a:off x="2048400" y="2011680"/>
            <a:ext cx="383760" cy="292320"/>
          </a:xfrm>
          <a:prstGeom prst="roundRect">
            <a:avLst>
              <a:gd name="adj" fmla="val 15625"/>
            </a:avLst>
          </a:prstGeom>
          <a:solidFill>
            <a:srgbClr val="F7FAFC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11"/>
          <p:cNvSpPr/>
          <p:nvPr/>
        </p:nvSpPr>
        <p:spPr>
          <a:xfrm>
            <a:off x="2075760" y="205740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x3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12"/>
          <p:cNvSpPr/>
          <p:nvPr/>
        </p:nvSpPr>
        <p:spPr>
          <a:xfrm>
            <a:off x="2615040" y="2011680"/>
            <a:ext cx="383760" cy="292320"/>
          </a:xfrm>
          <a:prstGeom prst="roundRect">
            <a:avLst>
              <a:gd name="adj" fmla="val 15625"/>
            </a:avLst>
          </a:prstGeom>
          <a:solidFill>
            <a:srgbClr val="F7FAFC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13"/>
          <p:cNvSpPr/>
          <p:nvPr/>
        </p:nvSpPr>
        <p:spPr>
          <a:xfrm>
            <a:off x="2642760" y="205740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x4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14"/>
          <p:cNvSpPr/>
          <p:nvPr/>
        </p:nvSpPr>
        <p:spPr>
          <a:xfrm>
            <a:off x="3182040" y="2011680"/>
            <a:ext cx="383760" cy="292320"/>
          </a:xfrm>
          <a:prstGeom prst="roundRect">
            <a:avLst>
              <a:gd name="adj" fmla="val 15625"/>
            </a:avLst>
          </a:prstGeom>
          <a:solidFill>
            <a:srgbClr val="F7FAFC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15"/>
          <p:cNvSpPr/>
          <p:nvPr/>
        </p:nvSpPr>
        <p:spPr>
          <a:xfrm>
            <a:off x="3209400" y="205740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x5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16"/>
          <p:cNvSpPr/>
          <p:nvPr/>
        </p:nvSpPr>
        <p:spPr>
          <a:xfrm>
            <a:off x="3749040" y="2011680"/>
            <a:ext cx="383760" cy="292320"/>
          </a:xfrm>
          <a:prstGeom prst="roundRect">
            <a:avLst>
              <a:gd name="adj" fmla="val 15625"/>
            </a:avLst>
          </a:prstGeom>
          <a:solidFill>
            <a:srgbClr val="F7FAFC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7"/>
          <p:cNvSpPr/>
          <p:nvPr/>
        </p:nvSpPr>
        <p:spPr>
          <a:xfrm>
            <a:off x="3776400" y="205740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x6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18"/>
          <p:cNvSpPr/>
          <p:nvPr/>
        </p:nvSpPr>
        <p:spPr>
          <a:xfrm>
            <a:off x="4316040" y="2011680"/>
            <a:ext cx="383760" cy="292320"/>
          </a:xfrm>
          <a:prstGeom prst="roundRect">
            <a:avLst>
              <a:gd name="adj" fmla="val 15625"/>
            </a:avLst>
          </a:prstGeom>
          <a:solidFill>
            <a:srgbClr val="F7FAFC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9"/>
          <p:cNvSpPr/>
          <p:nvPr/>
        </p:nvSpPr>
        <p:spPr>
          <a:xfrm>
            <a:off x="4343400" y="205740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x7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20"/>
          <p:cNvSpPr/>
          <p:nvPr/>
        </p:nvSpPr>
        <p:spPr>
          <a:xfrm>
            <a:off x="457200" y="2011680"/>
            <a:ext cx="383760" cy="292320"/>
          </a:xfrm>
          <a:prstGeom prst="roundRect">
            <a:avLst>
              <a:gd name="adj" fmla="val 15625"/>
            </a:avLst>
          </a:prstGeom>
          <a:solidFill>
            <a:srgbClr val="F3F4F6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21"/>
          <p:cNvSpPr/>
          <p:nvPr/>
        </p:nvSpPr>
        <p:spPr>
          <a:xfrm>
            <a:off x="484560" y="205740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0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22"/>
          <p:cNvSpPr/>
          <p:nvPr/>
        </p:nvSpPr>
        <p:spPr>
          <a:xfrm>
            <a:off x="411480" y="1965960"/>
            <a:ext cx="1718640" cy="383760"/>
          </a:xfrm>
          <a:prstGeom prst="roundRect">
            <a:avLst>
              <a:gd name="adj" fmla="val 7143"/>
            </a:avLst>
          </a:prstGeom>
          <a:solidFill>
            <a:srgbClr val="FFECE9">
              <a:alpha val="80000"/>
            </a:srgbClr>
          </a:solidFill>
          <a:ln w="15240">
            <a:solidFill>
              <a:srgbClr val="E94B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23"/>
          <p:cNvSpPr/>
          <p:nvPr/>
        </p:nvSpPr>
        <p:spPr>
          <a:xfrm>
            <a:off x="1170360" y="1810440"/>
            <a:ext cx="2739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>
                <a:solidFill>
                  <a:srgbClr val="E94B35"/>
                </a:solidFill>
                <a:effectLst/>
                <a:uFillTx/>
                <a:latin typeface="Aptos"/>
              </a:rPr>
              <a:t>first output</a:t>
            </a:r>
            <a:endParaRPr lang="it-IT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24"/>
          <p:cNvSpPr/>
          <p:nvPr/>
        </p:nvSpPr>
        <p:spPr>
          <a:xfrm>
            <a:off x="914400" y="2834640"/>
            <a:ext cx="30171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first output may use: 0, x1, x2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25"/>
          <p:cNvSpPr/>
          <p:nvPr/>
        </p:nvSpPr>
        <p:spPr>
          <a:xfrm>
            <a:off x="5669280" y="1965960"/>
            <a:ext cx="2559960" cy="639720"/>
          </a:xfrm>
          <a:prstGeom prst="roundRect">
            <a:avLst>
              <a:gd name="adj" fmla="val 7143"/>
            </a:avLst>
          </a:prstGeom>
          <a:solidFill>
            <a:srgbClr val="E7F4D2"/>
          </a:solidFill>
          <a:ln w="15240">
            <a:solidFill>
              <a:srgbClr val="86BC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26"/>
          <p:cNvSpPr/>
          <p:nvPr/>
        </p:nvSpPr>
        <p:spPr>
          <a:xfrm>
            <a:off x="5696640" y="2185560"/>
            <a:ext cx="2505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central output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uses only real observations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27"/>
          <p:cNvSpPr/>
          <p:nvPr/>
        </p:nvSpPr>
        <p:spPr>
          <a:xfrm>
            <a:off x="2002680" y="3474720"/>
            <a:ext cx="1718640" cy="383760"/>
          </a:xfrm>
          <a:prstGeom prst="roundRect">
            <a:avLst>
              <a:gd name="adj" fmla="val 7143"/>
            </a:avLst>
          </a:prstGeom>
          <a:solidFill>
            <a:srgbClr val="E7F4D2">
              <a:alpha val="80000"/>
            </a:srgbClr>
          </a:solidFill>
          <a:ln w="15240">
            <a:solidFill>
              <a:srgbClr val="86BC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28"/>
          <p:cNvSpPr/>
          <p:nvPr/>
        </p:nvSpPr>
        <p:spPr>
          <a:xfrm>
            <a:off x="2761560" y="3319200"/>
            <a:ext cx="2739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>
                <a:solidFill>
                  <a:srgbClr val="86BC25"/>
                </a:solidFill>
                <a:effectLst/>
                <a:uFillTx/>
                <a:latin typeface="Aptos"/>
              </a:rPr>
              <a:t>central</a:t>
            </a:r>
            <a:endParaRPr lang="it-IT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29"/>
          <p:cNvSpPr/>
          <p:nvPr/>
        </p:nvSpPr>
        <p:spPr>
          <a:xfrm>
            <a:off x="5669280" y="2971800"/>
            <a:ext cx="25599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Common choice: zero padding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30"/>
          <p:cNvSpPr/>
          <p:nvPr/>
        </p:nvSpPr>
        <p:spPr>
          <a:xfrm>
            <a:off x="914400" y="4846320"/>
            <a:ext cx="69490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dirty="0">
                <a:solidFill>
                  <a:srgbClr val="111827"/>
                </a:solidFill>
                <a:effectLst/>
                <a:highlight>
                  <a:srgbClr val="FFFF00"/>
                </a:highlight>
                <a:uFillTx/>
                <a:latin typeface="Aptos"/>
              </a:rPr>
              <a:t>Padding lets us preserve length, but changes local evidence at the edges.</a:t>
            </a:r>
            <a:endParaRPr lang="it-IT" sz="1300" b="1" u="none" strike="noStrike" dirty="0">
              <a:solidFill>
                <a:srgbClr val="000000"/>
              </a:solidFill>
              <a:effectLst/>
              <a:highlight>
                <a:srgbClr val="FFFF00"/>
              </a:highlight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493EA9-F5EA-DA20-B299-91687BF2B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Output length with stride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5003744-476F-2F21-A758-2ED4287E9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For a </a:t>
            </a:r>
            <a:r>
              <a:rPr lang="en-GB" b="1" dirty="0"/>
              <a:t>valid convolution</a:t>
            </a:r>
            <a:r>
              <a:rPr lang="en-GB" dirty="0"/>
              <a:t>, the output length can be written conceptually as:</a:t>
            </a:r>
          </a:p>
          <a:p>
            <a:r>
              <a:rPr lang="en-GB" b="1" dirty="0" err="1"/>
              <a:t>L_out</a:t>
            </a:r>
            <a:r>
              <a:rPr lang="en-GB" b="1" dirty="0"/>
              <a:t> = floor((L − K) / S) + 1</a:t>
            </a:r>
          </a:p>
          <a:p>
            <a:r>
              <a:rPr lang="en-GB" dirty="0"/>
              <a:t>where:</a:t>
            </a:r>
          </a:p>
          <a:p>
            <a:pPr lvl="1"/>
            <a:r>
              <a:rPr lang="en-GB" dirty="0"/>
              <a:t>L = input length; </a:t>
            </a:r>
          </a:p>
          <a:p>
            <a:pPr lvl="1"/>
            <a:r>
              <a:rPr lang="en-GB" dirty="0"/>
              <a:t>K = kernel size; </a:t>
            </a:r>
          </a:p>
          <a:p>
            <a:pPr lvl="1"/>
            <a:r>
              <a:rPr lang="en-GB" dirty="0"/>
              <a:t>S = stride. </a:t>
            </a:r>
          </a:p>
          <a:p>
            <a:r>
              <a:rPr lang="en-GB" b="1" dirty="0"/>
              <a:t>Example 1</a:t>
            </a:r>
          </a:p>
          <a:p>
            <a:r>
              <a:rPr lang="en-GB" dirty="0"/>
              <a:t>L = 100</a:t>
            </a:r>
          </a:p>
          <a:p>
            <a:r>
              <a:rPr lang="en-GB" dirty="0"/>
              <a:t>K = 5</a:t>
            </a:r>
          </a:p>
          <a:p>
            <a:r>
              <a:rPr lang="en-GB" dirty="0"/>
              <a:t>S = 1</a:t>
            </a:r>
          </a:p>
          <a:p>
            <a:r>
              <a:rPr lang="en-GB" dirty="0"/>
              <a:t>Then: </a:t>
            </a:r>
            <a:r>
              <a:rPr lang="en-GB" dirty="0" err="1"/>
              <a:t>L_out</a:t>
            </a:r>
            <a:r>
              <a:rPr lang="en-GB" dirty="0"/>
              <a:t> = 96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7102605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76387-88DF-77CB-A71D-4826A9737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6FE96E-312D-B29D-D86C-5F33646C8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Output length with stride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49D5CEC-2CC8-B3F7-76B5-C0548B94F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b="1" dirty="0"/>
              <a:t>Example 2</a:t>
            </a:r>
          </a:p>
          <a:p>
            <a:pPr lvl="1"/>
            <a:r>
              <a:rPr lang="en-GB" dirty="0"/>
              <a:t>L = 100</a:t>
            </a:r>
          </a:p>
          <a:p>
            <a:pPr lvl="1"/>
            <a:r>
              <a:rPr lang="en-GB" dirty="0"/>
              <a:t>K = 5</a:t>
            </a:r>
          </a:p>
          <a:p>
            <a:pPr lvl="1"/>
            <a:r>
              <a:rPr lang="en-GB" dirty="0"/>
              <a:t>S = 2</a:t>
            </a:r>
          </a:p>
          <a:p>
            <a:pPr lvl="1"/>
            <a:r>
              <a:rPr lang="en-GB" dirty="0"/>
              <a:t>Then: </a:t>
            </a:r>
            <a:r>
              <a:rPr lang="en-GB" dirty="0" err="1"/>
              <a:t>L_out</a:t>
            </a:r>
            <a:r>
              <a:rPr lang="en-GB" dirty="0"/>
              <a:t> = 48</a:t>
            </a:r>
          </a:p>
          <a:p>
            <a:endParaRPr lang="en-GB" dirty="0"/>
          </a:p>
          <a:p>
            <a:r>
              <a:rPr lang="en-GB" b="1" dirty="0"/>
              <a:t>Stride greater than 1 performs convolution and </a:t>
            </a:r>
            <a:r>
              <a:rPr lang="en-GB" b="1" dirty="0" err="1"/>
              <a:t>downsampling</a:t>
            </a:r>
            <a:r>
              <a:rPr lang="en-GB" b="1" dirty="0"/>
              <a:t> simultaneously.</a:t>
            </a:r>
          </a:p>
          <a:p>
            <a:endParaRPr lang="en-GB" dirty="0"/>
          </a:p>
          <a:p>
            <a:r>
              <a:rPr lang="en-GB" dirty="0"/>
              <a:t>A smaller output does not mean that information is necessarily lost immediately.</a:t>
            </a:r>
          </a:p>
          <a:p>
            <a:r>
              <a:rPr lang="en-GB" dirty="0"/>
              <a:t>Each output summarizes a local region.</a:t>
            </a:r>
          </a:p>
          <a:p>
            <a:r>
              <a:rPr lang="en-GB" dirty="0"/>
              <a:t>However, the temporal grid becomes coarser.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7335242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Shape 0"/>
          <p:cNvSpPr/>
          <p:nvPr/>
        </p:nvSpPr>
        <p:spPr>
          <a:xfrm>
            <a:off x="11466720" y="0"/>
            <a:ext cx="722160" cy="6857640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1"/>
          <p:cNvSpPr/>
          <p:nvPr/>
        </p:nvSpPr>
        <p:spPr>
          <a:xfrm>
            <a:off x="11301840" y="0"/>
            <a:ext cx="54360" cy="6857640"/>
          </a:xfrm>
          <a:prstGeom prst="rect">
            <a:avLst/>
          </a:prstGeom>
          <a:solidFill>
            <a:srgbClr val="E7F4D2"/>
          </a:solidFill>
          <a:ln w="12700">
            <a:solidFill>
              <a:srgbClr val="E7F4D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2"/>
          <p:cNvSpPr/>
          <p:nvPr/>
        </p:nvSpPr>
        <p:spPr>
          <a:xfrm>
            <a:off x="502920" y="320040"/>
            <a:ext cx="105609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Output length with stride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3"/>
          <p:cNvSpPr/>
          <p:nvPr/>
        </p:nvSpPr>
        <p:spPr>
          <a:xfrm>
            <a:off x="502920" y="841320"/>
            <a:ext cx="103323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r>
              <a:rPr lang="en-GB" sz="1400" b="1" dirty="0">
                <a:highlight>
                  <a:srgbClr val="FFFF00"/>
                </a:highlight>
              </a:rPr>
              <a:t>Stride greater than 1 performs convolution and </a:t>
            </a:r>
            <a:r>
              <a:rPr lang="en-GB" sz="1400" b="1" dirty="0" err="1">
                <a:highlight>
                  <a:srgbClr val="FFFF00"/>
                </a:highlight>
              </a:rPr>
              <a:t>downsampling</a:t>
            </a:r>
            <a:r>
              <a:rPr lang="en-GB" sz="1400" b="1" dirty="0">
                <a:highlight>
                  <a:srgbClr val="FFFF00"/>
                </a:highlight>
              </a:rPr>
              <a:t> simultaneously.</a:t>
            </a:r>
          </a:p>
        </p:txBody>
      </p:sp>
      <p:sp>
        <p:nvSpPr>
          <p:cNvPr id="236" name="Shape 4"/>
          <p:cNvSpPr/>
          <p:nvPr/>
        </p:nvSpPr>
        <p:spPr>
          <a:xfrm>
            <a:off x="502920" y="6364080"/>
            <a:ext cx="10240920" cy="383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5D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5"/>
          <p:cNvSpPr/>
          <p:nvPr/>
        </p:nvSpPr>
        <p:spPr>
          <a:xfrm>
            <a:off x="594360" y="6455520"/>
            <a:ext cx="1005804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111827"/>
                </a:solidFill>
                <a:effectLst/>
                <a:uFillTx/>
                <a:latin typeface="Aptos"/>
              </a:rPr>
              <a:t>The output grid becomes coarser as stride increases.</a:t>
            </a:r>
            <a:endParaRPr lang="it-IT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6"/>
          <p:cNvSpPr/>
          <p:nvPr/>
        </p:nvSpPr>
        <p:spPr>
          <a:xfrm>
            <a:off x="914400" y="1417320"/>
            <a:ext cx="2194200" cy="502560"/>
          </a:xfrm>
          <a:prstGeom prst="roundRect">
            <a:avLst>
              <a:gd name="adj" fmla="val 9091"/>
            </a:avLst>
          </a:prstGeom>
          <a:solidFill>
            <a:srgbClr val="EAF2FF"/>
          </a:solidFill>
          <a:ln w="15240">
            <a:solidFill>
              <a:srgbClr val="2F6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7"/>
          <p:cNvSpPr/>
          <p:nvPr/>
        </p:nvSpPr>
        <p:spPr>
          <a:xfrm>
            <a:off x="941760" y="1568160"/>
            <a:ext cx="21394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valid convolution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8"/>
          <p:cNvSpPr/>
          <p:nvPr/>
        </p:nvSpPr>
        <p:spPr>
          <a:xfrm>
            <a:off x="3657600" y="1417320"/>
            <a:ext cx="4023000" cy="50256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9"/>
          <p:cNvSpPr/>
          <p:nvPr/>
        </p:nvSpPr>
        <p:spPr>
          <a:xfrm>
            <a:off x="3684960" y="1568160"/>
            <a:ext cx="39682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L_out = floor((L − K) / S) + 1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10"/>
          <p:cNvSpPr/>
          <p:nvPr/>
        </p:nvSpPr>
        <p:spPr>
          <a:xfrm>
            <a:off x="914400" y="2743200"/>
            <a:ext cx="12798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86BC25"/>
                </a:solidFill>
                <a:effectLst/>
                <a:uFillTx/>
                <a:latin typeface="Aptos"/>
              </a:rPr>
              <a:t>Example 1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11"/>
          <p:cNvSpPr/>
          <p:nvPr/>
        </p:nvSpPr>
        <p:spPr>
          <a:xfrm>
            <a:off x="914400" y="3200400"/>
            <a:ext cx="1371240" cy="1005480"/>
          </a:xfrm>
          <a:prstGeom prst="roundRect">
            <a:avLst>
              <a:gd name="adj" fmla="val 4545"/>
            </a:avLst>
          </a:prstGeom>
          <a:solidFill>
            <a:srgbClr val="E7F4D2"/>
          </a:solidFill>
          <a:ln w="15240">
            <a:solidFill>
              <a:srgbClr val="86BC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12"/>
          <p:cNvSpPr/>
          <p:nvPr/>
        </p:nvSpPr>
        <p:spPr>
          <a:xfrm>
            <a:off x="941760" y="3602880"/>
            <a:ext cx="13165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L = 100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K = 5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S = 1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13"/>
          <p:cNvSpPr/>
          <p:nvPr/>
        </p:nvSpPr>
        <p:spPr>
          <a:xfrm>
            <a:off x="2468880" y="3657600"/>
            <a:ext cx="1188720" cy="360"/>
          </a:xfrm>
          <a:prstGeom prst="line">
            <a:avLst/>
          </a:prstGeom>
          <a:ln w="15240">
            <a:solidFill>
              <a:srgbClr val="6B728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14"/>
          <p:cNvSpPr/>
          <p:nvPr/>
        </p:nvSpPr>
        <p:spPr>
          <a:xfrm>
            <a:off x="3840480" y="3429000"/>
            <a:ext cx="1645560" cy="502560"/>
          </a:xfrm>
          <a:prstGeom prst="roundRect">
            <a:avLst>
              <a:gd name="adj" fmla="val 9091"/>
            </a:avLst>
          </a:prstGeom>
          <a:solidFill>
            <a:srgbClr val="E7F4D2"/>
          </a:solidFill>
          <a:ln w="15240">
            <a:solidFill>
              <a:srgbClr val="86BC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15"/>
          <p:cNvSpPr/>
          <p:nvPr/>
        </p:nvSpPr>
        <p:spPr>
          <a:xfrm>
            <a:off x="3867840" y="3579840"/>
            <a:ext cx="1590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L_out = 96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16"/>
          <p:cNvSpPr/>
          <p:nvPr/>
        </p:nvSpPr>
        <p:spPr>
          <a:xfrm>
            <a:off x="6400800" y="2743200"/>
            <a:ext cx="12798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2A900"/>
                </a:solidFill>
                <a:effectLst/>
                <a:uFillTx/>
                <a:latin typeface="Aptos"/>
              </a:rPr>
              <a:t>Example 2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17"/>
          <p:cNvSpPr/>
          <p:nvPr/>
        </p:nvSpPr>
        <p:spPr>
          <a:xfrm>
            <a:off x="6400800" y="3200400"/>
            <a:ext cx="1371240" cy="1005480"/>
          </a:xfrm>
          <a:prstGeom prst="roundRect">
            <a:avLst>
              <a:gd name="adj" fmla="val 4545"/>
            </a:avLst>
          </a:prstGeom>
          <a:solidFill>
            <a:srgbClr val="FFF4D7"/>
          </a:solidFill>
          <a:ln w="15240">
            <a:solidFill>
              <a:srgbClr val="F2A9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18"/>
          <p:cNvSpPr/>
          <p:nvPr/>
        </p:nvSpPr>
        <p:spPr>
          <a:xfrm>
            <a:off x="6428160" y="3602880"/>
            <a:ext cx="13165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L = 100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K = 5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S = 2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19"/>
          <p:cNvSpPr/>
          <p:nvPr/>
        </p:nvSpPr>
        <p:spPr>
          <a:xfrm>
            <a:off x="7955280" y="3657600"/>
            <a:ext cx="1188720" cy="360"/>
          </a:xfrm>
          <a:prstGeom prst="line">
            <a:avLst/>
          </a:prstGeom>
          <a:ln w="15240">
            <a:solidFill>
              <a:srgbClr val="6B728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20"/>
          <p:cNvSpPr/>
          <p:nvPr/>
        </p:nvSpPr>
        <p:spPr>
          <a:xfrm>
            <a:off x="9326880" y="3429000"/>
            <a:ext cx="1645560" cy="502560"/>
          </a:xfrm>
          <a:prstGeom prst="roundRect">
            <a:avLst>
              <a:gd name="adj" fmla="val 9091"/>
            </a:avLst>
          </a:prstGeom>
          <a:solidFill>
            <a:srgbClr val="FFF4D7"/>
          </a:solidFill>
          <a:ln w="15240">
            <a:solidFill>
              <a:srgbClr val="F2A9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21"/>
          <p:cNvSpPr/>
          <p:nvPr/>
        </p:nvSpPr>
        <p:spPr>
          <a:xfrm>
            <a:off x="9354240" y="3579840"/>
            <a:ext cx="1590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L_out = 48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DD7E02C-7C5B-9E60-F168-418A927D9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Temporal resolution and (for sequence </a:t>
            </a:r>
            <a:r>
              <a:rPr lang="en-GB" dirty="0" err="1"/>
              <a:t>labeling</a:t>
            </a:r>
            <a:r>
              <a:rPr lang="en-GB" dirty="0"/>
              <a:t>) target alignment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DCD1693-B698-9A05-26C1-2675415C49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4306886"/>
          </a:xfrm>
        </p:spPr>
        <p:txBody>
          <a:bodyPr>
            <a:normAutofit/>
          </a:bodyPr>
          <a:lstStyle/>
          <a:p>
            <a:r>
              <a:rPr lang="en-GB" dirty="0"/>
              <a:t>Suppose the input contains one sample every: 0.01 s</a:t>
            </a:r>
          </a:p>
          <a:p>
            <a:r>
              <a:rPr lang="en-GB" dirty="0"/>
              <a:t>If stride is: S = 1</a:t>
            </a:r>
          </a:p>
          <a:p>
            <a:r>
              <a:rPr lang="en-GB" dirty="0"/>
              <a:t>the output also has approximately one activation every: 0.01 s</a:t>
            </a:r>
          </a:p>
          <a:p>
            <a:r>
              <a:rPr lang="en-GB" dirty="0"/>
              <a:t>If stride is: S = 5</a:t>
            </a:r>
          </a:p>
          <a:p>
            <a:r>
              <a:rPr lang="en-GB" dirty="0"/>
              <a:t>the output has approximately one activation every: 0.05 s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67AE114-8CF9-658F-1015-E9EFA93168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89969" y="2160590"/>
            <a:ext cx="6501955" cy="3735386"/>
          </a:xfrm>
        </p:spPr>
        <p:txBody>
          <a:bodyPr>
            <a:normAutofit/>
          </a:bodyPr>
          <a:lstStyle/>
          <a:p>
            <a:r>
              <a:rPr lang="en-GB" b="1" dirty="0"/>
              <a:t>This matters for different tasks</a:t>
            </a:r>
          </a:p>
          <a:p>
            <a:r>
              <a:rPr lang="en-GB" b="1" dirty="0"/>
              <a:t>Window classification</a:t>
            </a:r>
          </a:p>
          <a:p>
            <a:pPr lvl="1"/>
            <a:r>
              <a:rPr lang="en-GB" dirty="0"/>
              <a:t>Exact temporal alignment may not be important.</a:t>
            </a:r>
          </a:p>
          <a:p>
            <a:pPr lvl="1"/>
            <a:r>
              <a:rPr lang="en-GB" dirty="0"/>
              <a:t>Strong </a:t>
            </a:r>
            <a:r>
              <a:rPr lang="en-GB" dirty="0" err="1"/>
              <a:t>downsampling</a:t>
            </a:r>
            <a:r>
              <a:rPr lang="en-GB" dirty="0"/>
              <a:t> can be acceptable.</a:t>
            </a:r>
          </a:p>
          <a:p>
            <a:r>
              <a:rPr lang="en-GB" b="1" dirty="0"/>
              <a:t>Sequence labelling</a:t>
            </a:r>
          </a:p>
          <a:p>
            <a:pPr lvl="1"/>
            <a:r>
              <a:rPr lang="en-GB" dirty="0"/>
              <a:t>If we need one class for every original time step, </a:t>
            </a:r>
            <a:r>
              <a:rPr lang="en-GB" dirty="0" err="1"/>
              <a:t>downsampling</a:t>
            </a:r>
            <a:r>
              <a:rPr lang="en-GB" dirty="0"/>
              <a:t> creates an alignment problem.</a:t>
            </a:r>
          </a:p>
          <a:p>
            <a:r>
              <a:rPr lang="en-GB" b="1" dirty="0"/>
              <a:t>Event localisation</a:t>
            </a:r>
          </a:p>
          <a:p>
            <a:pPr lvl="1"/>
            <a:r>
              <a:rPr lang="en-GB" dirty="0"/>
              <a:t>Very aggressive stride may reduce the precision with which an event can be located.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BE9C07D-AAC7-E71E-860C-6A2ADCC13CA8}"/>
              </a:ext>
            </a:extLst>
          </p:cNvPr>
          <p:cNvSpPr txBox="1"/>
          <p:nvPr/>
        </p:nvSpPr>
        <p:spPr>
          <a:xfrm>
            <a:off x="2566988" y="6084315"/>
            <a:ext cx="61055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1" dirty="0"/>
              <a:t>Temporal resolution should be selected according to the output requirement, not only computational efficiency.</a:t>
            </a:r>
          </a:p>
        </p:txBody>
      </p:sp>
    </p:spTree>
    <p:extLst>
      <p:ext uri="{BB962C8B-B14F-4D97-AF65-F5344CB8AC3E}">
        <p14:creationId xmlns:p14="http://schemas.microsoft.com/office/powerpoint/2010/main" val="222985651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Shape 0"/>
          <p:cNvSpPr/>
          <p:nvPr/>
        </p:nvSpPr>
        <p:spPr>
          <a:xfrm>
            <a:off x="11466720" y="0"/>
            <a:ext cx="722160" cy="6857640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1"/>
          <p:cNvSpPr/>
          <p:nvPr/>
        </p:nvSpPr>
        <p:spPr>
          <a:xfrm>
            <a:off x="11301840" y="0"/>
            <a:ext cx="54360" cy="6857640"/>
          </a:xfrm>
          <a:prstGeom prst="rect">
            <a:avLst/>
          </a:prstGeom>
          <a:solidFill>
            <a:srgbClr val="E7F4D2"/>
          </a:solidFill>
          <a:ln w="12700">
            <a:solidFill>
              <a:srgbClr val="E7F4D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2"/>
          <p:cNvSpPr/>
          <p:nvPr/>
        </p:nvSpPr>
        <p:spPr>
          <a:xfrm>
            <a:off x="502920" y="320040"/>
            <a:ext cx="105609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 dirty="0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Temporal resolution and (for sequence labeling) output-target alignment</a:t>
            </a:r>
            <a:endParaRPr lang="it-IT" sz="2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3"/>
          <p:cNvSpPr/>
          <p:nvPr/>
        </p:nvSpPr>
        <p:spPr>
          <a:xfrm>
            <a:off x="502920" y="841320"/>
            <a:ext cx="103323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 err="1">
                <a:solidFill>
                  <a:srgbClr val="506070"/>
                </a:solidFill>
                <a:effectLst/>
                <a:uFillTx/>
                <a:latin typeface="Aptos"/>
              </a:rPr>
              <a:t>Downsampling</a:t>
            </a:r>
            <a:r>
              <a:rPr lang="en-US" sz="1200" b="0" u="none" strike="noStrike" dirty="0">
                <a:solidFill>
                  <a:srgbClr val="506070"/>
                </a:solidFill>
                <a:effectLst/>
                <a:uFillTx/>
                <a:latin typeface="Aptos"/>
              </a:rPr>
              <a:t> changes the spacing between output activations.</a:t>
            </a:r>
            <a:endParaRPr lang="it-IT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4"/>
          <p:cNvSpPr/>
          <p:nvPr/>
        </p:nvSpPr>
        <p:spPr>
          <a:xfrm>
            <a:off x="502920" y="6364080"/>
            <a:ext cx="10240920" cy="383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5D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5"/>
          <p:cNvSpPr/>
          <p:nvPr/>
        </p:nvSpPr>
        <p:spPr>
          <a:xfrm>
            <a:off x="594360" y="6455520"/>
            <a:ext cx="1005804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u="none" strike="noStrike" dirty="0">
                <a:solidFill>
                  <a:srgbClr val="111827"/>
                </a:solidFill>
                <a:effectLst/>
                <a:uFillTx/>
                <a:latin typeface="Aptos"/>
              </a:rPr>
              <a:t>The output grid should match the task’s temporal precision requirements.</a:t>
            </a:r>
            <a:endParaRPr lang="it-IT" sz="11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6"/>
          <p:cNvSpPr/>
          <p:nvPr/>
        </p:nvSpPr>
        <p:spPr>
          <a:xfrm>
            <a:off x="914400" y="2011680"/>
            <a:ext cx="8412480" cy="360"/>
          </a:xfrm>
          <a:prstGeom prst="line">
            <a:avLst/>
          </a:prstGeom>
          <a:ln w="1270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7"/>
          <p:cNvSpPr/>
          <p:nvPr/>
        </p:nvSpPr>
        <p:spPr>
          <a:xfrm>
            <a:off x="964800" y="1970640"/>
            <a:ext cx="82080" cy="82080"/>
          </a:xfrm>
          <a:prstGeom prst="ellipse">
            <a:avLst/>
          </a:prstGeom>
          <a:solidFill>
            <a:srgbClr val="2F66D0"/>
          </a:solidFill>
          <a:ln w="12700">
            <a:solidFill>
              <a:srgbClr val="2F6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8"/>
          <p:cNvSpPr/>
          <p:nvPr/>
        </p:nvSpPr>
        <p:spPr>
          <a:xfrm>
            <a:off x="1467720" y="1970640"/>
            <a:ext cx="82080" cy="82080"/>
          </a:xfrm>
          <a:prstGeom prst="ellipse">
            <a:avLst/>
          </a:prstGeom>
          <a:solidFill>
            <a:srgbClr val="2F66D0"/>
          </a:solidFill>
          <a:ln w="12700">
            <a:solidFill>
              <a:srgbClr val="2F6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9"/>
          <p:cNvSpPr/>
          <p:nvPr/>
        </p:nvSpPr>
        <p:spPr>
          <a:xfrm>
            <a:off x="1970640" y="1970640"/>
            <a:ext cx="82080" cy="82080"/>
          </a:xfrm>
          <a:prstGeom prst="ellipse">
            <a:avLst/>
          </a:prstGeom>
          <a:solidFill>
            <a:srgbClr val="2F66D0"/>
          </a:solidFill>
          <a:ln w="12700">
            <a:solidFill>
              <a:srgbClr val="2F6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10"/>
          <p:cNvSpPr/>
          <p:nvPr/>
        </p:nvSpPr>
        <p:spPr>
          <a:xfrm>
            <a:off x="2473560" y="1970640"/>
            <a:ext cx="82080" cy="82080"/>
          </a:xfrm>
          <a:prstGeom prst="ellipse">
            <a:avLst/>
          </a:prstGeom>
          <a:solidFill>
            <a:srgbClr val="2F66D0"/>
          </a:solidFill>
          <a:ln w="12700">
            <a:solidFill>
              <a:srgbClr val="2F6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11"/>
          <p:cNvSpPr/>
          <p:nvPr/>
        </p:nvSpPr>
        <p:spPr>
          <a:xfrm>
            <a:off x="2976480" y="1970640"/>
            <a:ext cx="82080" cy="82080"/>
          </a:xfrm>
          <a:prstGeom prst="ellipse">
            <a:avLst/>
          </a:prstGeom>
          <a:solidFill>
            <a:srgbClr val="2F66D0"/>
          </a:solidFill>
          <a:ln w="12700">
            <a:solidFill>
              <a:srgbClr val="2F6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12"/>
          <p:cNvSpPr/>
          <p:nvPr/>
        </p:nvSpPr>
        <p:spPr>
          <a:xfrm>
            <a:off x="3479400" y="1970640"/>
            <a:ext cx="82080" cy="82080"/>
          </a:xfrm>
          <a:prstGeom prst="ellipse">
            <a:avLst/>
          </a:prstGeom>
          <a:solidFill>
            <a:srgbClr val="2F66D0"/>
          </a:solidFill>
          <a:ln w="12700">
            <a:solidFill>
              <a:srgbClr val="2F6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13"/>
          <p:cNvSpPr/>
          <p:nvPr/>
        </p:nvSpPr>
        <p:spPr>
          <a:xfrm>
            <a:off x="3982320" y="1970640"/>
            <a:ext cx="82080" cy="82080"/>
          </a:xfrm>
          <a:prstGeom prst="ellipse">
            <a:avLst/>
          </a:prstGeom>
          <a:solidFill>
            <a:srgbClr val="2F66D0"/>
          </a:solidFill>
          <a:ln w="12700">
            <a:solidFill>
              <a:srgbClr val="2F6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14"/>
          <p:cNvSpPr/>
          <p:nvPr/>
        </p:nvSpPr>
        <p:spPr>
          <a:xfrm>
            <a:off x="4485240" y="1970640"/>
            <a:ext cx="82080" cy="82080"/>
          </a:xfrm>
          <a:prstGeom prst="ellipse">
            <a:avLst/>
          </a:prstGeom>
          <a:solidFill>
            <a:srgbClr val="2F66D0"/>
          </a:solidFill>
          <a:ln w="12700">
            <a:solidFill>
              <a:srgbClr val="2F6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15"/>
          <p:cNvSpPr/>
          <p:nvPr/>
        </p:nvSpPr>
        <p:spPr>
          <a:xfrm>
            <a:off x="4988160" y="1970640"/>
            <a:ext cx="82080" cy="82080"/>
          </a:xfrm>
          <a:prstGeom prst="ellipse">
            <a:avLst/>
          </a:prstGeom>
          <a:solidFill>
            <a:srgbClr val="2F66D0"/>
          </a:solidFill>
          <a:ln w="12700">
            <a:solidFill>
              <a:srgbClr val="2F6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16"/>
          <p:cNvSpPr/>
          <p:nvPr/>
        </p:nvSpPr>
        <p:spPr>
          <a:xfrm>
            <a:off x="5491080" y="1970640"/>
            <a:ext cx="82080" cy="82080"/>
          </a:xfrm>
          <a:prstGeom prst="ellipse">
            <a:avLst/>
          </a:prstGeom>
          <a:solidFill>
            <a:srgbClr val="2F66D0"/>
          </a:solidFill>
          <a:ln w="12700">
            <a:solidFill>
              <a:srgbClr val="2F6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17"/>
          <p:cNvSpPr/>
          <p:nvPr/>
        </p:nvSpPr>
        <p:spPr>
          <a:xfrm>
            <a:off x="5994000" y="1970640"/>
            <a:ext cx="82080" cy="82080"/>
          </a:xfrm>
          <a:prstGeom prst="ellipse">
            <a:avLst/>
          </a:prstGeom>
          <a:solidFill>
            <a:srgbClr val="2F66D0"/>
          </a:solidFill>
          <a:ln w="12700">
            <a:solidFill>
              <a:srgbClr val="2F6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18"/>
          <p:cNvSpPr/>
          <p:nvPr/>
        </p:nvSpPr>
        <p:spPr>
          <a:xfrm>
            <a:off x="6496920" y="1970640"/>
            <a:ext cx="82080" cy="82080"/>
          </a:xfrm>
          <a:prstGeom prst="ellipse">
            <a:avLst/>
          </a:prstGeom>
          <a:solidFill>
            <a:srgbClr val="2F66D0"/>
          </a:solidFill>
          <a:ln w="12700">
            <a:solidFill>
              <a:srgbClr val="2F6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19"/>
          <p:cNvSpPr/>
          <p:nvPr/>
        </p:nvSpPr>
        <p:spPr>
          <a:xfrm>
            <a:off x="914400" y="1600200"/>
            <a:ext cx="41144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input grid: one sample every 0.01 s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20"/>
          <p:cNvSpPr/>
          <p:nvPr/>
        </p:nvSpPr>
        <p:spPr>
          <a:xfrm>
            <a:off x="914400" y="3108960"/>
            <a:ext cx="8412480" cy="360"/>
          </a:xfrm>
          <a:prstGeom prst="line">
            <a:avLst/>
          </a:prstGeom>
          <a:ln w="1270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21"/>
          <p:cNvSpPr/>
          <p:nvPr/>
        </p:nvSpPr>
        <p:spPr>
          <a:xfrm>
            <a:off x="941760" y="3044880"/>
            <a:ext cx="127800" cy="12780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22"/>
          <p:cNvSpPr/>
          <p:nvPr/>
        </p:nvSpPr>
        <p:spPr>
          <a:xfrm>
            <a:off x="3456360" y="3044880"/>
            <a:ext cx="127800" cy="12780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23"/>
          <p:cNvSpPr/>
          <p:nvPr/>
        </p:nvSpPr>
        <p:spPr>
          <a:xfrm>
            <a:off x="5970960" y="3044880"/>
            <a:ext cx="127800" cy="12780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24"/>
          <p:cNvSpPr/>
          <p:nvPr/>
        </p:nvSpPr>
        <p:spPr>
          <a:xfrm>
            <a:off x="914400" y="2743200"/>
            <a:ext cx="4754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2A900"/>
                </a:solidFill>
                <a:effectLst/>
                <a:uFillTx/>
                <a:latin typeface="Aptos"/>
              </a:rPr>
              <a:t>stride 5 output: one activation every 0.05 s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25"/>
          <p:cNvSpPr/>
          <p:nvPr/>
        </p:nvSpPr>
        <p:spPr>
          <a:xfrm>
            <a:off x="914400" y="4572000"/>
            <a:ext cx="2742840" cy="731160"/>
          </a:xfrm>
          <a:prstGeom prst="roundRect">
            <a:avLst>
              <a:gd name="adj" fmla="val 6250"/>
            </a:avLst>
          </a:prstGeom>
          <a:solidFill>
            <a:srgbClr val="E7F4D2"/>
          </a:solidFill>
          <a:ln w="15240">
            <a:solidFill>
              <a:srgbClr val="86BC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26"/>
          <p:cNvSpPr/>
          <p:nvPr/>
        </p:nvSpPr>
        <p:spPr>
          <a:xfrm>
            <a:off x="941760" y="4837320"/>
            <a:ext cx="2688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Window classification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coarse outputs may be acceptable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27"/>
          <p:cNvSpPr/>
          <p:nvPr/>
        </p:nvSpPr>
        <p:spPr>
          <a:xfrm>
            <a:off x="4206240" y="4572000"/>
            <a:ext cx="2559960" cy="731160"/>
          </a:xfrm>
          <a:prstGeom prst="roundRect">
            <a:avLst>
              <a:gd name="adj" fmla="val 6250"/>
            </a:avLst>
          </a:prstGeom>
          <a:solidFill>
            <a:srgbClr val="EAF2FF"/>
          </a:solidFill>
          <a:ln w="15240">
            <a:solidFill>
              <a:srgbClr val="2F6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28"/>
          <p:cNvSpPr/>
          <p:nvPr/>
        </p:nvSpPr>
        <p:spPr>
          <a:xfrm>
            <a:off x="4233600" y="4837320"/>
            <a:ext cx="2505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111827"/>
                </a:solidFill>
                <a:effectLst/>
                <a:uFillTx/>
                <a:latin typeface="Aptos"/>
              </a:rPr>
              <a:t>Sequence labelling</a:t>
            </a:r>
            <a:endParaRPr lang="it-IT" sz="12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GB" sz="1200" b="1" dirty="0"/>
              <a:t>We must ensure that output and target time grids are aligned</a:t>
            </a:r>
            <a:endParaRPr lang="it-IT" sz="12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29"/>
          <p:cNvSpPr/>
          <p:nvPr/>
        </p:nvSpPr>
        <p:spPr>
          <a:xfrm>
            <a:off x="7223760" y="4572000"/>
            <a:ext cx="2742840" cy="731160"/>
          </a:xfrm>
          <a:prstGeom prst="roundRect">
            <a:avLst>
              <a:gd name="adj" fmla="val 6250"/>
            </a:avLst>
          </a:prstGeom>
          <a:solidFill>
            <a:srgbClr val="FFECE9"/>
          </a:solidFill>
          <a:ln w="15240">
            <a:solidFill>
              <a:srgbClr val="E94B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30"/>
          <p:cNvSpPr/>
          <p:nvPr/>
        </p:nvSpPr>
        <p:spPr>
          <a:xfrm>
            <a:off x="7251120" y="4837320"/>
            <a:ext cx="2688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Event localization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coarse stride may hurt precision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B9D6281-ABAE-E0EB-380F-2F7EDB8CA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highlight>
                  <a:srgbClr val="FFFF00"/>
                </a:highlight>
              </a:rPr>
              <a:t>Kernel size controls local context; stride controls output spacing.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3274D93-7002-1C06-07D6-1CD292358A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8"/>
            <a:ext cx="4184035" cy="4383085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These parameters are often confused.</a:t>
            </a:r>
          </a:p>
          <a:p>
            <a:endParaRPr lang="en-GB" b="1" dirty="0"/>
          </a:p>
          <a:p>
            <a:r>
              <a:rPr lang="en-GB" b="1" dirty="0"/>
              <a:t>Kernel size K</a:t>
            </a:r>
          </a:p>
          <a:p>
            <a:r>
              <a:rPr lang="en-GB" dirty="0"/>
              <a:t>How much local temporal context is inspected for one output?</a:t>
            </a:r>
          </a:p>
          <a:p>
            <a:endParaRPr lang="en-GB" b="1" dirty="0"/>
          </a:p>
          <a:p>
            <a:r>
              <a:rPr lang="en-GB" b="1" dirty="0"/>
              <a:t>Stride S</a:t>
            </a:r>
            <a:endParaRPr lang="en-GB" dirty="0"/>
          </a:p>
          <a:p>
            <a:r>
              <a:rPr lang="en-GB" dirty="0"/>
              <a:t>How far does the detector move before producing the next output?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C859721-8562-234E-372F-ABCB03DC0B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6424696" cy="4383086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Example:</a:t>
            </a:r>
          </a:p>
          <a:p>
            <a:pPr lvl="1"/>
            <a:r>
              <a:rPr lang="en-GB" dirty="0"/>
              <a:t>K = 5</a:t>
            </a:r>
          </a:p>
          <a:p>
            <a:pPr lvl="1"/>
            <a:r>
              <a:rPr lang="en-GB" dirty="0"/>
              <a:t>S = 1</a:t>
            </a:r>
          </a:p>
          <a:p>
            <a:r>
              <a:rPr lang="en-GB" dirty="0"/>
              <a:t>means:</a:t>
            </a:r>
          </a:p>
          <a:p>
            <a:pPr lvl="1"/>
            <a:r>
              <a:rPr lang="en-GB" dirty="0"/>
              <a:t>each activation sees 5 samples; </a:t>
            </a:r>
          </a:p>
          <a:p>
            <a:pPr lvl="1"/>
            <a:r>
              <a:rPr lang="en-GB" dirty="0"/>
              <a:t>outputs are produced one sample apart. </a:t>
            </a:r>
          </a:p>
          <a:p>
            <a:endParaRPr lang="en-GB" dirty="0"/>
          </a:p>
          <a:p>
            <a:r>
              <a:rPr lang="en-GB" dirty="0"/>
              <a:t>Example:</a:t>
            </a:r>
          </a:p>
          <a:p>
            <a:pPr lvl="1"/>
            <a:r>
              <a:rPr lang="en-GB" dirty="0"/>
              <a:t>K = 5</a:t>
            </a:r>
          </a:p>
          <a:p>
            <a:pPr lvl="1"/>
            <a:r>
              <a:rPr lang="en-GB" dirty="0"/>
              <a:t>S = 5</a:t>
            </a:r>
          </a:p>
          <a:p>
            <a:r>
              <a:rPr lang="en-GB" dirty="0"/>
              <a:t>means:</a:t>
            </a:r>
          </a:p>
          <a:p>
            <a:pPr lvl="1"/>
            <a:r>
              <a:rPr lang="en-GB" dirty="0"/>
              <a:t>each activation still sees 5 frames (samples); </a:t>
            </a:r>
          </a:p>
          <a:p>
            <a:pPr lvl="1"/>
            <a:r>
              <a:rPr lang="en-GB" dirty="0"/>
              <a:t>outputs are produced five samples apart. </a:t>
            </a:r>
          </a:p>
        </p:txBody>
      </p:sp>
    </p:spTree>
    <p:extLst>
      <p:ext uri="{BB962C8B-B14F-4D97-AF65-F5344CB8AC3E}">
        <p14:creationId xmlns:p14="http://schemas.microsoft.com/office/powerpoint/2010/main" val="69778815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Shape 0"/>
          <p:cNvSpPr/>
          <p:nvPr/>
        </p:nvSpPr>
        <p:spPr>
          <a:xfrm>
            <a:off x="11466720" y="0"/>
            <a:ext cx="722160" cy="6857640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1"/>
          <p:cNvSpPr/>
          <p:nvPr/>
        </p:nvSpPr>
        <p:spPr>
          <a:xfrm>
            <a:off x="11301840" y="0"/>
            <a:ext cx="54360" cy="6857640"/>
          </a:xfrm>
          <a:prstGeom prst="rect">
            <a:avLst/>
          </a:prstGeom>
          <a:solidFill>
            <a:srgbClr val="E7F4D2"/>
          </a:solidFill>
          <a:ln w="12700">
            <a:solidFill>
              <a:srgbClr val="E7F4D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2"/>
          <p:cNvSpPr/>
          <p:nvPr/>
        </p:nvSpPr>
        <p:spPr>
          <a:xfrm>
            <a:off x="502920" y="320040"/>
            <a:ext cx="105609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Kernel size and stride are different concepts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3"/>
          <p:cNvSpPr/>
          <p:nvPr/>
        </p:nvSpPr>
        <p:spPr>
          <a:xfrm>
            <a:off x="502920" y="841320"/>
            <a:ext cx="103323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506070"/>
                </a:solidFill>
                <a:effectLst/>
                <a:uFillTx/>
                <a:latin typeface="Aptos"/>
              </a:rPr>
              <a:t>Kernel size controls local context; stride controls output spacing.</a:t>
            </a:r>
            <a:endParaRPr lang="it-IT" sz="12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4"/>
          <p:cNvSpPr/>
          <p:nvPr/>
        </p:nvSpPr>
        <p:spPr>
          <a:xfrm>
            <a:off x="502920" y="6364080"/>
            <a:ext cx="10240920" cy="383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5D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5"/>
          <p:cNvSpPr/>
          <p:nvPr/>
        </p:nvSpPr>
        <p:spPr>
          <a:xfrm>
            <a:off x="594360" y="6455520"/>
            <a:ext cx="1005804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 dirty="0">
                <a:solidFill>
                  <a:srgbClr val="111827"/>
                </a:solidFill>
                <a:effectLst/>
                <a:uFillTx/>
                <a:latin typeface="Aptos"/>
              </a:rPr>
              <a:t>K and S answer two different architectural questions.</a:t>
            </a:r>
            <a:endParaRPr lang="it-IT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6"/>
          <p:cNvSpPr/>
          <p:nvPr/>
        </p:nvSpPr>
        <p:spPr>
          <a:xfrm>
            <a:off x="914400" y="1417320"/>
            <a:ext cx="2194200" cy="456840"/>
          </a:xfrm>
          <a:prstGeom prst="roundRect">
            <a:avLst>
              <a:gd name="adj" fmla="val 10000"/>
            </a:avLst>
          </a:prstGeom>
          <a:solidFill>
            <a:srgbClr val="E7F4D2"/>
          </a:solidFill>
          <a:ln w="15240">
            <a:solidFill>
              <a:srgbClr val="86BC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7"/>
          <p:cNvSpPr/>
          <p:nvPr/>
        </p:nvSpPr>
        <p:spPr>
          <a:xfrm>
            <a:off x="941760" y="1545480"/>
            <a:ext cx="21394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K = 5, S = 1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8"/>
          <p:cNvSpPr/>
          <p:nvPr/>
        </p:nvSpPr>
        <p:spPr>
          <a:xfrm>
            <a:off x="914400" y="2194560"/>
            <a:ext cx="383760" cy="292320"/>
          </a:xfrm>
          <a:prstGeom prst="roundRect">
            <a:avLst>
              <a:gd name="adj" fmla="val 15625"/>
            </a:avLst>
          </a:prstGeom>
          <a:solidFill>
            <a:srgbClr val="F7FAFC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9"/>
          <p:cNvSpPr/>
          <p:nvPr/>
        </p:nvSpPr>
        <p:spPr>
          <a:xfrm>
            <a:off x="941760" y="224028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x1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10"/>
          <p:cNvSpPr/>
          <p:nvPr/>
        </p:nvSpPr>
        <p:spPr>
          <a:xfrm>
            <a:off x="1371600" y="2194560"/>
            <a:ext cx="383760" cy="292320"/>
          </a:xfrm>
          <a:prstGeom prst="roundRect">
            <a:avLst>
              <a:gd name="adj" fmla="val 15625"/>
            </a:avLst>
          </a:prstGeom>
          <a:solidFill>
            <a:srgbClr val="F7FAFC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11"/>
          <p:cNvSpPr/>
          <p:nvPr/>
        </p:nvSpPr>
        <p:spPr>
          <a:xfrm>
            <a:off x="1398960" y="224028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x2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12"/>
          <p:cNvSpPr/>
          <p:nvPr/>
        </p:nvSpPr>
        <p:spPr>
          <a:xfrm>
            <a:off x="1828800" y="2194560"/>
            <a:ext cx="383760" cy="292320"/>
          </a:xfrm>
          <a:prstGeom prst="roundRect">
            <a:avLst>
              <a:gd name="adj" fmla="val 15625"/>
            </a:avLst>
          </a:prstGeom>
          <a:solidFill>
            <a:srgbClr val="F7FAFC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13"/>
          <p:cNvSpPr/>
          <p:nvPr/>
        </p:nvSpPr>
        <p:spPr>
          <a:xfrm>
            <a:off x="1856160" y="224028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x3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14"/>
          <p:cNvSpPr/>
          <p:nvPr/>
        </p:nvSpPr>
        <p:spPr>
          <a:xfrm>
            <a:off x="2286000" y="2194560"/>
            <a:ext cx="383760" cy="292320"/>
          </a:xfrm>
          <a:prstGeom prst="roundRect">
            <a:avLst>
              <a:gd name="adj" fmla="val 15625"/>
            </a:avLst>
          </a:prstGeom>
          <a:solidFill>
            <a:srgbClr val="F7FAFC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15"/>
          <p:cNvSpPr/>
          <p:nvPr/>
        </p:nvSpPr>
        <p:spPr>
          <a:xfrm>
            <a:off x="2313360" y="224028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x4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Shape 16"/>
          <p:cNvSpPr/>
          <p:nvPr/>
        </p:nvSpPr>
        <p:spPr>
          <a:xfrm>
            <a:off x="2743200" y="2194560"/>
            <a:ext cx="383760" cy="292320"/>
          </a:xfrm>
          <a:prstGeom prst="roundRect">
            <a:avLst>
              <a:gd name="adj" fmla="val 15625"/>
            </a:avLst>
          </a:prstGeom>
          <a:solidFill>
            <a:srgbClr val="F7FAFC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17"/>
          <p:cNvSpPr/>
          <p:nvPr/>
        </p:nvSpPr>
        <p:spPr>
          <a:xfrm>
            <a:off x="2770560" y="224028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x5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18"/>
          <p:cNvSpPr/>
          <p:nvPr/>
        </p:nvSpPr>
        <p:spPr>
          <a:xfrm>
            <a:off x="3200400" y="2194560"/>
            <a:ext cx="383760" cy="292320"/>
          </a:xfrm>
          <a:prstGeom prst="roundRect">
            <a:avLst>
              <a:gd name="adj" fmla="val 15625"/>
            </a:avLst>
          </a:prstGeom>
          <a:solidFill>
            <a:srgbClr val="F7FAFC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19"/>
          <p:cNvSpPr/>
          <p:nvPr/>
        </p:nvSpPr>
        <p:spPr>
          <a:xfrm>
            <a:off x="3227760" y="224028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x6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Shape 20"/>
          <p:cNvSpPr/>
          <p:nvPr/>
        </p:nvSpPr>
        <p:spPr>
          <a:xfrm>
            <a:off x="3657600" y="2194560"/>
            <a:ext cx="383760" cy="292320"/>
          </a:xfrm>
          <a:prstGeom prst="roundRect">
            <a:avLst>
              <a:gd name="adj" fmla="val 15625"/>
            </a:avLst>
          </a:prstGeom>
          <a:solidFill>
            <a:srgbClr val="F7FAFC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21"/>
          <p:cNvSpPr/>
          <p:nvPr/>
        </p:nvSpPr>
        <p:spPr>
          <a:xfrm>
            <a:off x="3684960" y="224028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x7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22"/>
          <p:cNvSpPr/>
          <p:nvPr/>
        </p:nvSpPr>
        <p:spPr>
          <a:xfrm>
            <a:off x="4114800" y="2194560"/>
            <a:ext cx="383760" cy="292320"/>
          </a:xfrm>
          <a:prstGeom prst="roundRect">
            <a:avLst>
              <a:gd name="adj" fmla="val 15625"/>
            </a:avLst>
          </a:prstGeom>
          <a:solidFill>
            <a:srgbClr val="F7FAFC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23"/>
          <p:cNvSpPr/>
          <p:nvPr/>
        </p:nvSpPr>
        <p:spPr>
          <a:xfrm>
            <a:off x="4142160" y="224028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x8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24"/>
          <p:cNvSpPr/>
          <p:nvPr/>
        </p:nvSpPr>
        <p:spPr>
          <a:xfrm>
            <a:off x="4572000" y="2194560"/>
            <a:ext cx="383760" cy="292320"/>
          </a:xfrm>
          <a:prstGeom prst="roundRect">
            <a:avLst>
              <a:gd name="adj" fmla="val 15625"/>
            </a:avLst>
          </a:prstGeom>
          <a:solidFill>
            <a:srgbClr val="F7FAFC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25"/>
          <p:cNvSpPr/>
          <p:nvPr/>
        </p:nvSpPr>
        <p:spPr>
          <a:xfrm>
            <a:off x="4599360" y="224028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x9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26"/>
          <p:cNvSpPr/>
          <p:nvPr/>
        </p:nvSpPr>
        <p:spPr>
          <a:xfrm>
            <a:off x="868680" y="2148840"/>
            <a:ext cx="2304000" cy="383760"/>
          </a:xfrm>
          <a:prstGeom prst="roundRect">
            <a:avLst>
              <a:gd name="adj" fmla="val 7143"/>
            </a:avLst>
          </a:prstGeom>
          <a:solidFill>
            <a:srgbClr val="E7F4D2">
              <a:alpha val="80000"/>
            </a:srgbClr>
          </a:solidFill>
          <a:ln w="15240">
            <a:solidFill>
              <a:srgbClr val="86BC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27"/>
          <p:cNvSpPr/>
          <p:nvPr/>
        </p:nvSpPr>
        <p:spPr>
          <a:xfrm>
            <a:off x="1920240" y="1993320"/>
            <a:ext cx="2739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>
                <a:solidFill>
                  <a:srgbClr val="86BC25"/>
                </a:solidFill>
                <a:effectLst/>
                <a:uFillTx/>
                <a:latin typeface="Aptos"/>
              </a:rPr>
              <a:t>output 1</a:t>
            </a:r>
            <a:endParaRPr lang="it-IT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28"/>
          <p:cNvSpPr/>
          <p:nvPr/>
        </p:nvSpPr>
        <p:spPr>
          <a:xfrm>
            <a:off x="1325880" y="2743200"/>
            <a:ext cx="2304000" cy="383760"/>
          </a:xfrm>
          <a:prstGeom prst="roundRect">
            <a:avLst>
              <a:gd name="adj" fmla="val 7143"/>
            </a:avLst>
          </a:prstGeom>
          <a:solidFill>
            <a:srgbClr val="E7F4D2">
              <a:alpha val="80000"/>
            </a:srgbClr>
          </a:solidFill>
          <a:ln w="15240">
            <a:solidFill>
              <a:srgbClr val="86BC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29"/>
          <p:cNvSpPr/>
          <p:nvPr/>
        </p:nvSpPr>
        <p:spPr>
          <a:xfrm>
            <a:off x="2377440" y="2587680"/>
            <a:ext cx="2739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>
                <a:solidFill>
                  <a:srgbClr val="86BC25"/>
                </a:solidFill>
                <a:effectLst/>
                <a:uFillTx/>
                <a:latin typeface="Aptos"/>
              </a:rPr>
              <a:t>output 2</a:t>
            </a:r>
            <a:endParaRPr lang="it-IT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30"/>
          <p:cNvSpPr/>
          <p:nvPr/>
        </p:nvSpPr>
        <p:spPr>
          <a:xfrm>
            <a:off x="914400" y="3566160"/>
            <a:ext cx="32000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dirty="0">
                <a:solidFill>
                  <a:srgbClr val="6B7280"/>
                </a:solidFill>
                <a:effectLst/>
                <a:uFillTx/>
                <a:latin typeface="Aptos"/>
              </a:rPr>
              <a:t>same context size, dense output grid</a:t>
            </a:r>
            <a:endParaRPr lang="it-IT" sz="11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31"/>
          <p:cNvSpPr/>
          <p:nvPr/>
        </p:nvSpPr>
        <p:spPr>
          <a:xfrm>
            <a:off x="6400800" y="1417320"/>
            <a:ext cx="2194200" cy="456840"/>
          </a:xfrm>
          <a:prstGeom prst="roundRect">
            <a:avLst>
              <a:gd name="adj" fmla="val 10000"/>
            </a:avLst>
          </a:prstGeom>
          <a:solidFill>
            <a:srgbClr val="FFF4D7"/>
          </a:solidFill>
          <a:ln w="15240">
            <a:solidFill>
              <a:srgbClr val="F2A9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32"/>
          <p:cNvSpPr/>
          <p:nvPr/>
        </p:nvSpPr>
        <p:spPr>
          <a:xfrm>
            <a:off x="6428160" y="1545480"/>
            <a:ext cx="21394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K = 5, S = 5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33"/>
          <p:cNvSpPr/>
          <p:nvPr/>
        </p:nvSpPr>
        <p:spPr>
          <a:xfrm>
            <a:off x="6400800" y="2194560"/>
            <a:ext cx="383760" cy="292320"/>
          </a:xfrm>
          <a:prstGeom prst="roundRect">
            <a:avLst>
              <a:gd name="adj" fmla="val 15625"/>
            </a:avLst>
          </a:prstGeom>
          <a:solidFill>
            <a:srgbClr val="F7FAFC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34"/>
          <p:cNvSpPr/>
          <p:nvPr/>
        </p:nvSpPr>
        <p:spPr>
          <a:xfrm>
            <a:off x="6428160" y="224028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x1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35"/>
          <p:cNvSpPr/>
          <p:nvPr/>
        </p:nvSpPr>
        <p:spPr>
          <a:xfrm>
            <a:off x="6858000" y="2194560"/>
            <a:ext cx="383760" cy="292320"/>
          </a:xfrm>
          <a:prstGeom prst="roundRect">
            <a:avLst>
              <a:gd name="adj" fmla="val 15625"/>
            </a:avLst>
          </a:prstGeom>
          <a:solidFill>
            <a:srgbClr val="F7FAFC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36"/>
          <p:cNvSpPr/>
          <p:nvPr/>
        </p:nvSpPr>
        <p:spPr>
          <a:xfrm>
            <a:off x="6885360" y="224028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x2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37"/>
          <p:cNvSpPr/>
          <p:nvPr/>
        </p:nvSpPr>
        <p:spPr>
          <a:xfrm>
            <a:off x="7315200" y="2194560"/>
            <a:ext cx="383760" cy="292320"/>
          </a:xfrm>
          <a:prstGeom prst="roundRect">
            <a:avLst>
              <a:gd name="adj" fmla="val 15625"/>
            </a:avLst>
          </a:prstGeom>
          <a:solidFill>
            <a:srgbClr val="F7FAFC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38"/>
          <p:cNvSpPr/>
          <p:nvPr/>
        </p:nvSpPr>
        <p:spPr>
          <a:xfrm>
            <a:off x="7342560" y="224028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x3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39"/>
          <p:cNvSpPr/>
          <p:nvPr/>
        </p:nvSpPr>
        <p:spPr>
          <a:xfrm>
            <a:off x="7772400" y="2194560"/>
            <a:ext cx="383760" cy="292320"/>
          </a:xfrm>
          <a:prstGeom prst="roundRect">
            <a:avLst>
              <a:gd name="adj" fmla="val 15625"/>
            </a:avLst>
          </a:prstGeom>
          <a:solidFill>
            <a:srgbClr val="F7FAFC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40"/>
          <p:cNvSpPr/>
          <p:nvPr/>
        </p:nvSpPr>
        <p:spPr>
          <a:xfrm>
            <a:off x="7799760" y="224028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x4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41"/>
          <p:cNvSpPr/>
          <p:nvPr/>
        </p:nvSpPr>
        <p:spPr>
          <a:xfrm>
            <a:off x="8229600" y="2194560"/>
            <a:ext cx="383760" cy="292320"/>
          </a:xfrm>
          <a:prstGeom prst="roundRect">
            <a:avLst>
              <a:gd name="adj" fmla="val 15625"/>
            </a:avLst>
          </a:prstGeom>
          <a:solidFill>
            <a:srgbClr val="F7FAFC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42"/>
          <p:cNvSpPr/>
          <p:nvPr/>
        </p:nvSpPr>
        <p:spPr>
          <a:xfrm>
            <a:off x="8256960" y="224028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x5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43"/>
          <p:cNvSpPr/>
          <p:nvPr/>
        </p:nvSpPr>
        <p:spPr>
          <a:xfrm>
            <a:off x="8686800" y="2194560"/>
            <a:ext cx="383760" cy="292320"/>
          </a:xfrm>
          <a:prstGeom prst="roundRect">
            <a:avLst>
              <a:gd name="adj" fmla="val 15625"/>
            </a:avLst>
          </a:prstGeom>
          <a:solidFill>
            <a:srgbClr val="F7FAFC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44"/>
          <p:cNvSpPr/>
          <p:nvPr/>
        </p:nvSpPr>
        <p:spPr>
          <a:xfrm>
            <a:off x="8714160" y="224028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x6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Shape 45"/>
          <p:cNvSpPr/>
          <p:nvPr/>
        </p:nvSpPr>
        <p:spPr>
          <a:xfrm>
            <a:off x="9144000" y="2194560"/>
            <a:ext cx="383760" cy="292320"/>
          </a:xfrm>
          <a:prstGeom prst="roundRect">
            <a:avLst>
              <a:gd name="adj" fmla="val 15625"/>
            </a:avLst>
          </a:prstGeom>
          <a:solidFill>
            <a:srgbClr val="F7FAFC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46"/>
          <p:cNvSpPr/>
          <p:nvPr/>
        </p:nvSpPr>
        <p:spPr>
          <a:xfrm>
            <a:off x="9171360" y="224028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x7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Shape 47"/>
          <p:cNvSpPr/>
          <p:nvPr/>
        </p:nvSpPr>
        <p:spPr>
          <a:xfrm>
            <a:off x="9601200" y="2194560"/>
            <a:ext cx="383760" cy="292320"/>
          </a:xfrm>
          <a:prstGeom prst="roundRect">
            <a:avLst>
              <a:gd name="adj" fmla="val 15625"/>
            </a:avLst>
          </a:prstGeom>
          <a:solidFill>
            <a:srgbClr val="F7FAFC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48"/>
          <p:cNvSpPr/>
          <p:nvPr/>
        </p:nvSpPr>
        <p:spPr>
          <a:xfrm>
            <a:off x="9628560" y="224028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x8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Shape 49"/>
          <p:cNvSpPr/>
          <p:nvPr/>
        </p:nvSpPr>
        <p:spPr>
          <a:xfrm>
            <a:off x="10058400" y="2194560"/>
            <a:ext cx="383760" cy="292320"/>
          </a:xfrm>
          <a:prstGeom prst="roundRect">
            <a:avLst>
              <a:gd name="adj" fmla="val 15625"/>
            </a:avLst>
          </a:prstGeom>
          <a:solidFill>
            <a:srgbClr val="F7FAFC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50"/>
          <p:cNvSpPr/>
          <p:nvPr/>
        </p:nvSpPr>
        <p:spPr>
          <a:xfrm>
            <a:off x="10085760" y="224028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x9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Shape 51"/>
          <p:cNvSpPr/>
          <p:nvPr/>
        </p:nvSpPr>
        <p:spPr>
          <a:xfrm>
            <a:off x="6355080" y="2148840"/>
            <a:ext cx="2304000" cy="383760"/>
          </a:xfrm>
          <a:prstGeom prst="roundRect">
            <a:avLst>
              <a:gd name="adj" fmla="val 7143"/>
            </a:avLst>
          </a:prstGeom>
          <a:solidFill>
            <a:srgbClr val="FFF4D7">
              <a:alpha val="80000"/>
            </a:srgbClr>
          </a:solidFill>
          <a:ln w="15240">
            <a:solidFill>
              <a:srgbClr val="F2A9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52"/>
          <p:cNvSpPr/>
          <p:nvPr/>
        </p:nvSpPr>
        <p:spPr>
          <a:xfrm>
            <a:off x="7406640" y="1993320"/>
            <a:ext cx="2739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>
                <a:solidFill>
                  <a:srgbClr val="F2A900"/>
                </a:solidFill>
                <a:effectLst/>
                <a:uFillTx/>
                <a:latin typeface="Aptos"/>
              </a:rPr>
              <a:t>output 1</a:t>
            </a:r>
            <a:endParaRPr lang="it-IT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Shape 53"/>
          <p:cNvSpPr/>
          <p:nvPr/>
        </p:nvSpPr>
        <p:spPr>
          <a:xfrm>
            <a:off x="8641080" y="2743200"/>
            <a:ext cx="2304000" cy="383760"/>
          </a:xfrm>
          <a:prstGeom prst="roundRect">
            <a:avLst>
              <a:gd name="adj" fmla="val 7143"/>
            </a:avLst>
          </a:prstGeom>
          <a:solidFill>
            <a:srgbClr val="FFF4D7">
              <a:alpha val="80000"/>
            </a:srgbClr>
          </a:solidFill>
          <a:ln w="15240">
            <a:solidFill>
              <a:srgbClr val="F2A9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54"/>
          <p:cNvSpPr/>
          <p:nvPr/>
        </p:nvSpPr>
        <p:spPr>
          <a:xfrm>
            <a:off x="9692640" y="2587680"/>
            <a:ext cx="2739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>
                <a:solidFill>
                  <a:srgbClr val="F2A900"/>
                </a:solidFill>
                <a:effectLst/>
                <a:uFillTx/>
                <a:latin typeface="Aptos"/>
              </a:rPr>
              <a:t>output 2</a:t>
            </a:r>
            <a:endParaRPr lang="it-IT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55"/>
          <p:cNvSpPr/>
          <p:nvPr/>
        </p:nvSpPr>
        <p:spPr>
          <a:xfrm>
            <a:off x="6400800" y="3566160"/>
            <a:ext cx="33829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dirty="0">
                <a:solidFill>
                  <a:srgbClr val="6B7280"/>
                </a:solidFill>
                <a:effectLst/>
                <a:uFillTx/>
                <a:latin typeface="Aptos"/>
              </a:rPr>
              <a:t>same context size, sparse output grid</a:t>
            </a:r>
            <a:endParaRPr lang="it-IT" sz="11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F75F0B2-8069-2C62-9D29-EFB1D663A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Choosing padding depends on the task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9D7E209-050B-66E2-31EE-3B480082B90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b="1" dirty="0"/>
              <a:t>Valid padding may be useful when</a:t>
            </a:r>
          </a:p>
          <a:p>
            <a:pPr lvl="1"/>
            <a:r>
              <a:rPr lang="en-GB" dirty="0"/>
              <a:t>boundary outputs are not important; </a:t>
            </a:r>
          </a:p>
          <a:p>
            <a:pPr lvl="1"/>
            <a:r>
              <a:rPr lang="en-GB" dirty="0"/>
              <a:t>exact input/output length matching is unnecessary; </a:t>
            </a:r>
          </a:p>
          <a:p>
            <a:pPr lvl="1"/>
            <a:r>
              <a:rPr lang="en-GB" dirty="0"/>
              <a:t>the sequence is sufficiently long. </a:t>
            </a:r>
          </a:p>
          <a:p>
            <a:r>
              <a:rPr lang="en-GB" b="1" dirty="0"/>
              <a:t>Same padding may be useful when</a:t>
            </a:r>
          </a:p>
          <a:p>
            <a:pPr lvl="1"/>
            <a:r>
              <a:rPr lang="en-GB" dirty="0"/>
              <a:t>temporal resolution must be preserved; </a:t>
            </a:r>
          </a:p>
          <a:p>
            <a:pPr lvl="1"/>
            <a:r>
              <a:rPr lang="en-GB" dirty="0"/>
              <a:t>several convolutional layers are stacked; </a:t>
            </a:r>
          </a:p>
          <a:p>
            <a:pPr lvl="1"/>
            <a:r>
              <a:rPr lang="en-GB" dirty="0"/>
              <a:t>sequence labelling is required; </a:t>
            </a:r>
          </a:p>
          <a:p>
            <a:pPr lvl="1"/>
            <a:r>
              <a:rPr lang="en-GB" dirty="0"/>
              <a:t>residual connections require compatible lengths. 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5496631-F91E-D882-928D-A206E574B3D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b="1" dirty="0">
                <a:highlight>
                  <a:srgbClr val="FFFF00"/>
                </a:highlight>
              </a:rPr>
              <a:t>Causal padding</a:t>
            </a:r>
          </a:p>
          <a:p>
            <a:r>
              <a:rPr lang="en-GB" dirty="0">
                <a:highlight>
                  <a:srgbClr val="FFFF00"/>
                </a:highlight>
              </a:rPr>
              <a:t>For online prediction (i.e., prediction during operation, using only past and present data), padding and kernel alignment must ensure that the output at time t depends only on observations available up to t.</a:t>
            </a:r>
          </a:p>
          <a:p>
            <a:pPr lvl="1"/>
            <a:r>
              <a:rPr lang="en-GB" dirty="0"/>
              <a:t>This will be </a:t>
            </a:r>
            <a:r>
              <a:rPr lang="en-GB" dirty="0">
                <a:highlight>
                  <a:srgbClr val="FFFF00"/>
                </a:highlight>
              </a:rPr>
              <a:t>introduced later as </a:t>
            </a:r>
            <a:r>
              <a:rPr lang="en-GB" b="1" dirty="0">
                <a:highlight>
                  <a:srgbClr val="FFFF00"/>
                </a:highlight>
              </a:rPr>
              <a:t>causal convolution</a:t>
            </a:r>
            <a:r>
              <a:rPr lang="en-GB" dirty="0">
                <a:highlight>
                  <a:srgbClr val="FFFF00"/>
                </a:highlight>
              </a:rPr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056350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8FB76523-09CE-06C5-7D40-685BD816C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Transition</a:t>
            </a:r>
            <a:r>
              <a:rPr lang="it-IT" dirty="0"/>
              <a:t> to the </a:t>
            </a:r>
            <a:r>
              <a:rPr lang="it-IT" dirty="0" err="1"/>
              <a:t>next</a:t>
            </a:r>
            <a:r>
              <a:rPr lang="it-IT" dirty="0"/>
              <a:t> </a:t>
            </a:r>
            <a:r>
              <a:rPr lang="it-IT" dirty="0" err="1"/>
              <a:t>block</a:t>
            </a:r>
            <a:endParaRPr lang="en-GB" dirty="0"/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816AE70A-0FD3-B2BB-438E-F08B798CD0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highlight>
                  <a:srgbClr val="FFFF00"/>
                </a:highlight>
              </a:rPr>
              <a:t>Stride</a:t>
            </a:r>
            <a:r>
              <a:rPr lang="en-GB" dirty="0"/>
              <a:t> can reduce temporal resolution directly.</a:t>
            </a:r>
          </a:p>
          <a:p>
            <a:r>
              <a:rPr lang="en-GB" dirty="0">
                <a:highlight>
                  <a:srgbClr val="FFFF00"/>
                </a:highlight>
              </a:rPr>
              <a:t>Another common way to reduce temporal resolution is </a:t>
            </a:r>
            <a:r>
              <a:rPr lang="en-GB" b="1" dirty="0">
                <a:highlight>
                  <a:srgbClr val="FFFF00"/>
                </a:highlight>
              </a:rPr>
              <a:t>pooling</a:t>
            </a:r>
            <a:r>
              <a:rPr lang="en-GB" dirty="0">
                <a:highlight>
                  <a:srgbClr val="FFFF00"/>
                </a:highlight>
              </a:rPr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138490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9D084EB-2BE0-B165-881C-5A2BE9BE4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Block 5.D — Temporal Pooling and </a:t>
            </a:r>
            <a:r>
              <a:rPr lang="en-GB" dirty="0" err="1"/>
              <a:t>Downsampling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FF4B877-E5D8-BD4E-C466-6F9541011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333191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719DAEA-EAAC-DF27-21CB-96CEB218F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reduce temporal resolution?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DF852EB-1FDE-C5FD-4840-AE9D47FF0CD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After convolution, the feature maps may still be very long.</a:t>
            </a:r>
          </a:p>
          <a:p>
            <a:r>
              <a:rPr lang="en-GB" dirty="0"/>
              <a:t>Example:</a:t>
            </a:r>
          </a:p>
          <a:p>
            <a:pPr lvl="1"/>
            <a:r>
              <a:rPr lang="en-GB" dirty="0"/>
              <a:t>Input: [N, 1000, 8]</a:t>
            </a:r>
          </a:p>
          <a:p>
            <a:pPr lvl="1"/>
            <a:r>
              <a:rPr lang="en-GB" dirty="0"/>
              <a:t>After Conv1D with same padding and 64 filters:</a:t>
            </a:r>
          </a:p>
          <a:p>
            <a:pPr lvl="2"/>
            <a:r>
              <a:rPr lang="en-GB" dirty="0"/>
              <a:t>[N, 1000, 64]</a:t>
            </a:r>
          </a:p>
          <a:p>
            <a:pPr lvl="1"/>
            <a:r>
              <a:rPr lang="en-GB" dirty="0"/>
              <a:t>This contains: 1000 × 64 activations per sample.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53BAFCD-4D42-57E4-F7AF-EC8EFEB5E7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89969" y="2160589"/>
            <a:ext cx="4331121" cy="3880773"/>
          </a:xfrm>
        </p:spPr>
        <p:txBody>
          <a:bodyPr>
            <a:normAutofit fontScale="92500" lnSpcReduction="10000"/>
          </a:bodyPr>
          <a:lstStyle/>
          <a:p>
            <a:r>
              <a:rPr lang="en-GB" b="1" dirty="0" err="1"/>
              <a:t>Downsampling</a:t>
            </a:r>
            <a:r>
              <a:rPr lang="en-GB" b="1" dirty="0"/>
              <a:t> can</a:t>
            </a:r>
          </a:p>
          <a:p>
            <a:pPr lvl="1"/>
            <a:r>
              <a:rPr lang="en-GB" dirty="0"/>
              <a:t>reduce computational cost; </a:t>
            </a:r>
          </a:p>
          <a:p>
            <a:pPr lvl="1"/>
            <a:r>
              <a:rPr lang="en-GB" dirty="0"/>
              <a:t>reduce memory requirements; </a:t>
            </a:r>
          </a:p>
          <a:p>
            <a:pPr lvl="1"/>
            <a:r>
              <a:rPr lang="en-GB" dirty="0"/>
              <a:t>make later layers operate on longer effective temporal scales; </a:t>
            </a:r>
          </a:p>
          <a:p>
            <a:pPr lvl="1"/>
            <a:r>
              <a:rPr lang="en-GB" dirty="0"/>
              <a:t>reduce sensitivity to small temporal shifts. </a:t>
            </a:r>
          </a:p>
          <a:p>
            <a:r>
              <a:rPr lang="en-GB" b="1" dirty="0"/>
              <a:t>Trade-off: </a:t>
            </a:r>
            <a:r>
              <a:rPr lang="en-GB" dirty="0" err="1"/>
              <a:t>Downsampling</a:t>
            </a:r>
            <a:r>
              <a:rPr lang="en-GB" dirty="0"/>
              <a:t> reduces temporal detail.</a:t>
            </a:r>
          </a:p>
          <a:p>
            <a:r>
              <a:rPr lang="en-GB" b="1" dirty="0"/>
              <a:t>Main mechanisms</a:t>
            </a:r>
          </a:p>
          <a:p>
            <a:pPr lvl="1"/>
            <a:r>
              <a:rPr lang="en-GB" dirty="0"/>
              <a:t>convolution with stride greater than 1; </a:t>
            </a:r>
          </a:p>
          <a:p>
            <a:pPr lvl="1"/>
            <a:r>
              <a:rPr lang="en-GB" dirty="0"/>
              <a:t>pooling. 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C43C51EF-E447-B1FB-CE65-5D74E7791061}"/>
              </a:ext>
            </a:extLst>
          </p:cNvPr>
          <p:cNvSpPr txBox="1"/>
          <p:nvPr/>
        </p:nvSpPr>
        <p:spPr>
          <a:xfrm>
            <a:off x="1796701" y="6174711"/>
            <a:ext cx="70520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>
                <a:highlight>
                  <a:srgbClr val="FFFF00"/>
                </a:highlight>
              </a:rPr>
              <a:t>How much temporal precision does the task actually require?</a:t>
            </a:r>
          </a:p>
        </p:txBody>
      </p:sp>
    </p:spTree>
    <p:extLst>
      <p:ext uri="{BB962C8B-B14F-4D97-AF65-F5344CB8AC3E}">
        <p14:creationId xmlns:p14="http://schemas.microsoft.com/office/powerpoint/2010/main" val="212065992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Shape 0"/>
          <p:cNvSpPr/>
          <p:nvPr/>
        </p:nvSpPr>
        <p:spPr>
          <a:xfrm>
            <a:off x="11466720" y="0"/>
            <a:ext cx="722160" cy="6857640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Shape 1"/>
          <p:cNvSpPr/>
          <p:nvPr/>
        </p:nvSpPr>
        <p:spPr>
          <a:xfrm>
            <a:off x="11301840" y="0"/>
            <a:ext cx="54360" cy="6857640"/>
          </a:xfrm>
          <a:prstGeom prst="rect">
            <a:avLst/>
          </a:prstGeom>
          <a:solidFill>
            <a:srgbClr val="E7F4D2"/>
          </a:solidFill>
          <a:ln w="12700">
            <a:solidFill>
              <a:srgbClr val="E7F4D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2"/>
          <p:cNvSpPr/>
          <p:nvPr/>
        </p:nvSpPr>
        <p:spPr>
          <a:xfrm>
            <a:off x="502920" y="320040"/>
            <a:ext cx="105609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Why reduce temporal resolution?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3"/>
          <p:cNvSpPr/>
          <p:nvPr/>
        </p:nvSpPr>
        <p:spPr>
          <a:xfrm>
            <a:off x="502920" y="841320"/>
            <a:ext cx="103323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506070"/>
                </a:solidFill>
                <a:effectLst/>
                <a:uFillTx/>
                <a:latin typeface="Aptos"/>
              </a:rPr>
              <a:t>Feature maps can be long; </a:t>
            </a:r>
            <a:r>
              <a:rPr lang="en-US" sz="1200" b="0" u="none" strike="noStrike" dirty="0" err="1">
                <a:solidFill>
                  <a:srgbClr val="506070"/>
                </a:solidFill>
                <a:effectLst/>
                <a:uFillTx/>
                <a:latin typeface="Aptos"/>
              </a:rPr>
              <a:t>downsampling</a:t>
            </a:r>
            <a:r>
              <a:rPr lang="en-US" sz="1200" b="0" u="none" strike="noStrike" dirty="0">
                <a:solidFill>
                  <a:srgbClr val="506070"/>
                </a:solidFill>
                <a:effectLst/>
                <a:uFillTx/>
                <a:latin typeface="Aptos"/>
              </a:rPr>
              <a:t> makes later processing cheaper and coarser.</a:t>
            </a:r>
            <a:endParaRPr lang="it-IT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Shape 4"/>
          <p:cNvSpPr/>
          <p:nvPr/>
        </p:nvSpPr>
        <p:spPr>
          <a:xfrm>
            <a:off x="502920" y="6364080"/>
            <a:ext cx="10240920" cy="383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5D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5"/>
          <p:cNvSpPr/>
          <p:nvPr/>
        </p:nvSpPr>
        <p:spPr>
          <a:xfrm>
            <a:off x="594360" y="6455520"/>
            <a:ext cx="1005804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 dirty="0" err="1">
                <a:solidFill>
                  <a:srgbClr val="111827"/>
                </a:solidFill>
                <a:effectLst/>
                <a:uFillTx/>
                <a:latin typeface="Aptos"/>
              </a:rPr>
              <a:t>Downsampling</a:t>
            </a:r>
            <a:r>
              <a:rPr lang="en-US" sz="1050" b="0" u="none" strike="noStrike" dirty="0">
                <a:solidFill>
                  <a:srgbClr val="111827"/>
                </a:solidFill>
                <a:effectLst/>
                <a:uFillTx/>
                <a:latin typeface="Aptos"/>
              </a:rPr>
              <a:t> is useful only if the task can tolerate reduced temporal precision.</a:t>
            </a:r>
            <a:endParaRPr lang="it-IT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Shape 6"/>
          <p:cNvSpPr/>
          <p:nvPr/>
        </p:nvSpPr>
        <p:spPr>
          <a:xfrm>
            <a:off x="1005840" y="1828800"/>
            <a:ext cx="1919880" cy="685440"/>
          </a:xfrm>
          <a:prstGeom prst="roundRect">
            <a:avLst>
              <a:gd name="adj" fmla="val 6667"/>
            </a:avLst>
          </a:prstGeom>
          <a:solidFill>
            <a:srgbClr val="EAF2FF"/>
          </a:solidFill>
          <a:ln w="15240">
            <a:solidFill>
              <a:srgbClr val="2F6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7"/>
          <p:cNvSpPr/>
          <p:nvPr/>
        </p:nvSpPr>
        <p:spPr>
          <a:xfrm>
            <a:off x="1033200" y="2071080"/>
            <a:ext cx="18651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Input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[N, 1000, 8]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Shape 8"/>
          <p:cNvSpPr/>
          <p:nvPr/>
        </p:nvSpPr>
        <p:spPr>
          <a:xfrm>
            <a:off x="3108960" y="2148840"/>
            <a:ext cx="1097280" cy="360"/>
          </a:xfrm>
          <a:prstGeom prst="line">
            <a:avLst/>
          </a:prstGeom>
          <a:ln w="17780">
            <a:solidFill>
              <a:srgbClr val="6B728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9"/>
          <p:cNvSpPr/>
          <p:nvPr/>
        </p:nvSpPr>
        <p:spPr>
          <a:xfrm>
            <a:off x="4389120" y="1691640"/>
            <a:ext cx="2194200" cy="959760"/>
          </a:xfrm>
          <a:prstGeom prst="roundRect">
            <a:avLst>
              <a:gd name="adj" fmla="val 4762"/>
            </a:avLst>
          </a:prstGeom>
          <a:solidFill>
            <a:srgbClr val="E7F4D2"/>
          </a:solidFill>
          <a:ln w="15240">
            <a:solidFill>
              <a:srgbClr val="86BC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10"/>
          <p:cNvSpPr/>
          <p:nvPr/>
        </p:nvSpPr>
        <p:spPr>
          <a:xfrm>
            <a:off x="4416480" y="2071080"/>
            <a:ext cx="21394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111827"/>
                </a:solidFill>
                <a:effectLst/>
                <a:uFillTx/>
                <a:latin typeface="Aptos"/>
              </a:rPr>
              <a:t>Conv1D</a:t>
            </a:r>
            <a:endParaRPr lang="it-IT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111827"/>
                </a:solidFill>
                <a:effectLst/>
                <a:highlight>
                  <a:srgbClr val="FFFF00"/>
                </a:highlight>
                <a:uFillTx/>
                <a:latin typeface="Aptos"/>
              </a:rPr>
              <a:t>same </a:t>
            </a:r>
            <a:r>
              <a:rPr lang="en-US" sz="1200" b="1" u="none" strike="noStrike" dirty="0">
                <a:solidFill>
                  <a:srgbClr val="111827"/>
                </a:solidFill>
                <a:effectLst/>
                <a:uFillTx/>
                <a:latin typeface="Aptos"/>
              </a:rPr>
              <a:t>padding</a:t>
            </a:r>
            <a:endParaRPr lang="it-IT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111827"/>
                </a:solidFill>
                <a:effectLst/>
                <a:uFillTx/>
                <a:latin typeface="Aptos"/>
              </a:rPr>
              <a:t>64 filters</a:t>
            </a:r>
            <a:endParaRPr lang="it-IT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Shape 11"/>
          <p:cNvSpPr/>
          <p:nvPr/>
        </p:nvSpPr>
        <p:spPr>
          <a:xfrm>
            <a:off x="6766560" y="2148840"/>
            <a:ext cx="1097280" cy="360"/>
          </a:xfrm>
          <a:prstGeom prst="line">
            <a:avLst/>
          </a:prstGeom>
          <a:ln w="17780">
            <a:solidFill>
              <a:srgbClr val="6B728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12"/>
          <p:cNvSpPr/>
          <p:nvPr/>
        </p:nvSpPr>
        <p:spPr>
          <a:xfrm>
            <a:off x="8046720" y="1828800"/>
            <a:ext cx="2194200" cy="685440"/>
          </a:xfrm>
          <a:prstGeom prst="roundRect">
            <a:avLst>
              <a:gd name="adj" fmla="val 6667"/>
            </a:avLst>
          </a:prstGeom>
          <a:solidFill>
            <a:srgbClr val="FFF4D7"/>
          </a:solidFill>
          <a:ln w="15240">
            <a:solidFill>
              <a:srgbClr val="F2A9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13"/>
          <p:cNvSpPr/>
          <p:nvPr/>
        </p:nvSpPr>
        <p:spPr>
          <a:xfrm>
            <a:off x="8074080" y="2071080"/>
            <a:ext cx="21394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Feature map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[N, 1000, 64]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Shape 14"/>
          <p:cNvSpPr/>
          <p:nvPr/>
        </p:nvSpPr>
        <p:spPr>
          <a:xfrm>
            <a:off x="4114800" y="4023360"/>
            <a:ext cx="2742840" cy="685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15"/>
          <p:cNvSpPr/>
          <p:nvPr/>
        </p:nvSpPr>
        <p:spPr>
          <a:xfrm>
            <a:off x="4142160" y="4265640"/>
            <a:ext cx="2688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Reduce length using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stride or pooling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16"/>
          <p:cNvSpPr/>
          <p:nvPr/>
        </p:nvSpPr>
        <p:spPr>
          <a:xfrm>
            <a:off x="1005840" y="5166360"/>
            <a:ext cx="65833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Benefits: lower memory, faster later layers, larger effective temporal scale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EABB787-DD6F-2EF4-4F94-07A38774C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highlight>
                  <a:srgbClr val="FFFF00"/>
                </a:highlight>
              </a:rPr>
              <a:t>Pooling summarizes </a:t>
            </a:r>
            <a:r>
              <a:rPr lang="en-GB" dirty="0" err="1">
                <a:highlight>
                  <a:srgbClr val="FFFF00"/>
                </a:highlight>
              </a:rPr>
              <a:t>neighboring</a:t>
            </a:r>
            <a:r>
              <a:rPr lang="en-GB" dirty="0">
                <a:highlight>
                  <a:srgbClr val="FFFF00"/>
                </a:highlight>
              </a:rPr>
              <a:t> activations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8FC9461-C945-D12B-D838-B7FD9B4465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>
                <a:highlight>
                  <a:srgbClr val="FFFF00"/>
                </a:highlight>
              </a:rPr>
              <a:t>Pooling operates on a feature map rather than directly learning a new weighted filter.</a:t>
            </a:r>
          </a:p>
          <a:p>
            <a:r>
              <a:rPr lang="en-GB" dirty="0"/>
              <a:t>Suppose one feature map is:</a:t>
            </a:r>
          </a:p>
          <a:p>
            <a:pPr lvl="1"/>
            <a:r>
              <a:rPr lang="en-GB" dirty="0"/>
              <a:t>0.2  0.4  2.8  2.5  0.3  0.1</a:t>
            </a:r>
          </a:p>
          <a:p>
            <a:r>
              <a:rPr lang="en-GB" dirty="0"/>
              <a:t>With pool size 2, </a:t>
            </a:r>
            <a:r>
              <a:rPr lang="en-GB" dirty="0" err="1"/>
              <a:t>neighboring</a:t>
            </a:r>
            <a:r>
              <a:rPr lang="en-GB" dirty="0"/>
              <a:t> activations are grouped.</a:t>
            </a:r>
          </a:p>
          <a:p>
            <a:pPr lvl="1"/>
            <a:r>
              <a:rPr lang="en-GB" dirty="0"/>
              <a:t>[0.2 0.4] [2.8 2.5] [0.3 0.1]</a:t>
            </a:r>
          </a:p>
          <a:p>
            <a:r>
              <a:rPr lang="en-GB" dirty="0"/>
              <a:t>Each group is replaced by a summary.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9700130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9CF50-634D-896C-8AC2-C64754154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4E0FFC6-76BB-DAA7-A880-7002AB0C7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Pooling summarizes </a:t>
            </a:r>
            <a:r>
              <a:rPr lang="en-GB" dirty="0" err="1"/>
              <a:t>neighboring</a:t>
            </a:r>
            <a:r>
              <a:rPr lang="en-GB" dirty="0"/>
              <a:t> activations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569F3D7-4239-7AC7-B6D8-EDB62C7C9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Unlike convolution</a:t>
            </a:r>
          </a:p>
          <a:p>
            <a:r>
              <a:rPr lang="en-GB" dirty="0"/>
              <a:t>Pooling usually has:</a:t>
            </a:r>
          </a:p>
          <a:p>
            <a:pPr lvl="1"/>
            <a:r>
              <a:rPr lang="en-GB" b="1" dirty="0"/>
              <a:t>no learned weights; </a:t>
            </a:r>
          </a:p>
          <a:p>
            <a:pPr lvl="1"/>
            <a:r>
              <a:rPr lang="en-GB" b="1" dirty="0"/>
              <a:t>a predefined aggregation rule. </a:t>
            </a:r>
          </a:p>
          <a:p>
            <a:r>
              <a:rPr lang="en-GB" dirty="0"/>
              <a:t>Typical rules:</a:t>
            </a:r>
          </a:p>
          <a:p>
            <a:pPr lvl="1"/>
            <a:r>
              <a:rPr lang="en-GB" dirty="0"/>
              <a:t>maximum; </a:t>
            </a:r>
          </a:p>
          <a:p>
            <a:pPr lvl="1"/>
            <a:r>
              <a:rPr lang="en-GB" dirty="0"/>
              <a:t>average. </a:t>
            </a:r>
          </a:p>
          <a:p>
            <a:endParaRPr lang="en-GB" b="1" dirty="0"/>
          </a:p>
          <a:p>
            <a:r>
              <a:rPr lang="en-GB" b="1" dirty="0"/>
              <a:t>Result</a:t>
            </a:r>
          </a:p>
          <a:p>
            <a:r>
              <a:rPr lang="en-GB" b="1" dirty="0"/>
              <a:t>Temporal length is reduced.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0402355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058C644-61FB-AEE6-4154-EBA8AC5F7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Max pooling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144638D-CB99-882C-C0ED-408530E1E12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Max pooling retains the largest activation within each local region.</a:t>
            </a:r>
          </a:p>
          <a:p>
            <a:r>
              <a:rPr lang="en-GB" dirty="0"/>
              <a:t>Example:</a:t>
            </a:r>
          </a:p>
          <a:p>
            <a:r>
              <a:rPr lang="en-GB" dirty="0"/>
              <a:t>Input feature map:</a:t>
            </a:r>
          </a:p>
          <a:p>
            <a:r>
              <a:rPr lang="en-GB" dirty="0"/>
              <a:t>0.2  0.4  2.8  2.5  0.3  0.1</a:t>
            </a:r>
          </a:p>
          <a:p>
            <a:r>
              <a:rPr lang="en-GB" dirty="0"/>
              <a:t>Pool size: 2</a:t>
            </a:r>
          </a:p>
          <a:p>
            <a:r>
              <a:rPr lang="en-GB" dirty="0"/>
              <a:t>Output:</a:t>
            </a:r>
          </a:p>
          <a:p>
            <a:r>
              <a:rPr lang="en-GB" dirty="0"/>
              <a:t>0.4  2.8  0.3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292038F-52C9-2B57-F37F-108C6119BF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89969" y="2160589"/>
            <a:ext cx="6559105" cy="4278311"/>
          </a:xfrm>
        </p:spPr>
        <p:txBody>
          <a:bodyPr>
            <a:normAutofit fontScale="92500" lnSpcReduction="10000"/>
          </a:bodyPr>
          <a:lstStyle/>
          <a:p>
            <a:r>
              <a:rPr lang="en-GB" b="1" dirty="0"/>
              <a:t>Interpretation</a:t>
            </a:r>
          </a:p>
          <a:p>
            <a:r>
              <a:rPr lang="en-GB" dirty="0"/>
              <a:t>Suppose a convolutional filter detects a vibration burst.</a:t>
            </a:r>
          </a:p>
          <a:p>
            <a:r>
              <a:rPr lang="en-GB" dirty="0"/>
              <a:t>High activation means:</a:t>
            </a:r>
          </a:p>
          <a:p>
            <a:pPr lvl="1"/>
            <a:r>
              <a:rPr lang="en-GB" dirty="0"/>
              <a:t>the pattern is strongly present here.</a:t>
            </a:r>
          </a:p>
          <a:p>
            <a:r>
              <a:rPr lang="en-GB" b="1" dirty="0">
                <a:highlight>
                  <a:srgbClr val="FFFF00"/>
                </a:highlight>
              </a:rPr>
              <a:t>Max pooling asks:</a:t>
            </a:r>
          </a:p>
          <a:p>
            <a:pPr lvl="1"/>
            <a:r>
              <a:rPr lang="en-GB" b="1" dirty="0">
                <a:highlight>
                  <a:srgbClr val="FFFF00"/>
                </a:highlight>
              </a:rPr>
              <a:t>Was this pattern strongly present anywhere in this local region?</a:t>
            </a:r>
          </a:p>
          <a:p>
            <a:r>
              <a:rPr lang="en-GB" b="1" dirty="0"/>
              <a:t>Benefit</a:t>
            </a:r>
          </a:p>
          <a:p>
            <a:pPr lvl="1"/>
            <a:r>
              <a:rPr lang="en-GB" dirty="0"/>
              <a:t>Pooling introduces </a:t>
            </a:r>
            <a:r>
              <a:rPr lang="en-GB" b="1" dirty="0"/>
              <a:t>some local translational invariance</a:t>
            </a:r>
            <a:r>
              <a:rPr lang="en-GB" dirty="0"/>
              <a:t> by making the representation less sensitive to small shifts in pattern position</a:t>
            </a:r>
            <a:endParaRPr lang="en-GB" b="1" dirty="0">
              <a:solidFill>
                <a:srgbClr val="FF0000"/>
              </a:solidFill>
            </a:endParaRPr>
          </a:p>
          <a:p>
            <a:r>
              <a:rPr lang="en-GB" b="1" dirty="0"/>
              <a:t>Limitation</a:t>
            </a:r>
          </a:p>
          <a:p>
            <a:pPr lvl="1"/>
            <a:r>
              <a:rPr lang="en-GB" dirty="0"/>
              <a:t>The exact location of the maximum is lost.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8368538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Shape 0"/>
          <p:cNvSpPr/>
          <p:nvPr/>
        </p:nvSpPr>
        <p:spPr>
          <a:xfrm>
            <a:off x="11466720" y="0"/>
            <a:ext cx="722160" cy="6857640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Shape 1"/>
          <p:cNvSpPr/>
          <p:nvPr/>
        </p:nvSpPr>
        <p:spPr>
          <a:xfrm>
            <a:off x="11301840" y="0"/>
            <a:ext cx="54360" cy="6857640"/>
          </a:xfrm>
          <a:prstGeom prst="rect">
            <a:avLst/>
          </a:prstGeom>
          <a:solidFill>
            <a:srgbClr val="E7F4D2"/>
          </a:solidFill>
          <a:ln w="12700">
            <a:solidFill>
              <a:srgbClr val="E7F4D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2"/>
          <p:cNvSpPr/>
          <p:nvPr/>
        </p:nvSpPr>
        <p:spPr>
          <a:xfrm>
            <a:off x="502920" y="320040"/>
            <a:ext cx="105609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Max pooling retains the strongest local response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3"/>
          <p:cNvSpPr/>
          <p:nvPr/>
        </p:nvSpPr>
        <p:spPr>
          <a:xfrm>
            <a:off x="502920" y="841320"/>
            <a:ext cx="103323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506070"/>
                </a:solidFill>
                <a:effectLst/>
                <a:uFillTx/>
                <a:latin typeface="Aptos"/>
              </a:rPr>
              <a:t>Useful when the presence of a learned pattern matters more than its exact position.</a:t>
            </a:r>
            <a:endParaRPr lang="it-IT" sz="14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Shape 4"/>
          <p:cNvSpPr/>
          <p:nvPr/>
        </p:nvSpPr>
        <p:spPr>
          <a:xfrm>
            <a:off x="502920" y="6364080"/>
            <a:ext cx="10240920" cy="383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5D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5"/>
          <p:cNvSpPr/>
          <p:nvPr/>
        </p:nvSpPr>
        <p:spPr>
          <a:xfrm>
            <a:off x="594360" y="6455520"/>
            <a:ext cx="1005804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111827"/>
                </a:solidFill>
                <a:effectLst/>
                <a:uFillTx/>
                <a:latin typeface="Aptos"/>
              </a:rPr>
              <a:t>Max pooling provides local shift tolerance but loses exact location.</a:t>
            </a:r>
            <a:endParaRPr lang="it-IT" sz="12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6"/>
          <p:cNvSpPr/>
          <p:nvPr/>
        </p:nvSpPr>
        <p:spPr>
          <a:xfrm>
            <a:off x="1005840" y="2011680"/>
            <a:ext cx="502560" cy="319680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7"/>
          <p:cNvSpPr/>
          <p:nvPr/>
        </p:nvSpPr>
        <p:spPr>
          <a:xfrm>
            <a:off x="1033200" y="2071080"/>
            <a:ext cx="447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0.2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Shape 8"/>
          <p:cNvSpPr/>
          <p:nvPr/>
        </p:nvSpPr>
        <p:spPr>
          <a:xfrm>
            <a:off x="1691640" y="2011680"/>
            <a:ext cx="502560" cy="319680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9"/>
          <p:cNvSpPr/>
          <p:nvPr/>
        </p:nvSpPr>
        <p:spPr>
          <a:xfrm>
            <a:off x="1719000" y="2071080"/>
            <a:ext cx="447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0.4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10"/>
          <p:cNvSpPr/>
          <p:nvPr/>
        </p:nvSpPr>
        <p:spPr>
          <a:xfrm>
            <a:off x="2377440" y="2011680"/>
            <a:ext cx="502560" cy="319680"/>
          </a:xfrm>
          <a:prstGeom prst="roundRect">
            <a:avLst>
              <a:gd name="adj" fmla="val 14286"/>
            </a:avLst>
          </a:prstGeom>
          <a:solidFill>
            <a:srgbClr val="E7F4D2"/>
          </a:solidFill>
          <a:ln w="15240">
            <a:solidFill>
              <a:srgbClr val="86BC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11"/>
          <p:cNvSpPr/>
          <p:nvPr/>
        </p:nvSpPr>
        <p:spPr>
          <a:xfrm>
            <a:off x="2404800" y="2071080"/>
            <a:ext cx="447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2.8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Shape 12"/>
          <p:cNvSpPr/>
          <p:nvPr/>
        </p:nvSpPr>
        <p:spPr>
          <a:xfrm>
            <a:off x="3063240" y="2011680"/>
            <a:ext cx="502560" cy="319680"/>
          </a:xfrm>
          <a:prstGeom prst="roundRect">
            <a:avLst>
              <a:gd name="adj" fmla="val 14286"/>
            </a:avLst>
          </a:prstGeom>
          <a:solidFill>
            <a:srgbClr val="E7F4D2"/>
          </a:solidFill>
          <a:ln w="15240">
            <a:solidFill>
              <a:srgbClr val="86BC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13"/>
          <p:cNvSpPr/>
          <p:nvPr/>
        </p:nvSpPr>
        <p:spPr>
          <a:xfrm>
            <a:off x="3090600" y="2071080"/>
            <a:ext cx="447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2.5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14"/>
          <p:cNvSpPr/>
          <p:nvPr/>
        </p:nvSpPr>
        <p:spPr>
          <a:xfrm>
            <a:off x="3749040" y="2011680"/>
            <a:ext cx="502560" cy="319680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15"/>
          <p:cNvSpPr/>
          <p:nvPr/>
        </p:nvSpPr>
        <p:spPr>
          <a:xfrm>
            <a:off x="3776400" y="2071080"/>
            <a:ext cx="447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0.3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Shape 16"/>
          <p:cNvSpPr/>
          <p:nvPr/>
        </p:nvSpPr>
        <p:spPr>
          <a:xfrm>
            <a:off x="4434840" y="2011680"/>
            <a:ext cx="502560" cy="319680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17"/>
          <p:cNvSpPr/>
          <p:nvPr/>
        </p:nvSpPr>
        <p:spPr>
          <a:xfrm>
            <a:off x="4462200" y="2071080"/>
            <a:ext cx="447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0.1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18"/>
          <p:cNvSpPr/>
          <p:nvPr/>
        </p:nvSpPr>
        <p:spPr>
          <a:xfrm>
            <a:off x="1005840" y="1536120"/>
            <a:ext cx="13712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pool size = 2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Shape 19"/>
          <p:cNvSpPr/>
          <p:nvPr/>
        </p:nvSpPr>
        <p:spPr>
          <a:xfrm>
            <a:off x="960120" y="2971800"/>
            <a:ext cx="1142640" cy="365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20"/>
          <p:cNvSpPr/>
          <p:nvPr/>
        </p:nvSpPr>
        <p:spPr>
          <a:xfrm>
            <a:off x="987480" y="3054240"/>
            <a:ext cx="1087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[0.2, 0.4]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21"/>
          <p:cNvSpPr/>
          <p:nvPr/>
        </p:nvSpPr>
        <p:spPr>
          <a:xfrm>
            <a:off x="2331720" y="2971800"/>
            <a:ext cx="1142640" cy="365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22"/>
          <p:cNvSpPr/>
          <p:nvPr/>
        </p:nvSpPr>
        <p:spPr>
          <a:xfrm>
            <a:off x="2359080" y="3054240"/>
            <a:ext cx="1087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[2.8, 2.5]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Shape 23"/>
          <p:cNvSpPr/>
          <p:nvPr/>
        </p:nvSpPr>
        <p:spPr>
          <a:xfrm>
            <a:off x="3703320" y="2971800"/>
            <a:ext cx="1142640" cy="365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24"/>
          <p:cNvSpPr/>
          <p:nvPr/>
        </p:nvSpPr>
        <p:spPr>
          <a:xfrm>
            <a:off x="3730680" y="3054240"/>
            <a:ext cx="1087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[0.3, 0.1]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Shape 25"/>
          <p:cNvSpPr/>
          <p:nvPr/>
        </p:nvSpPr>
        <p:spPr>
          <a:xfrm>
            <a:off x="2834640" y="3520440"/>
            <a:ext cx="360" cy="548640"/>
          </a:xfrm>
          <a:prstGeom prst="line">
            <a:avLst/>
          </a:prstGeom>
          <a:ln w="15240">
            <a:solidFill>
              <a:srgbClr val="6B728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Shape 26"/>
          <p:cNvSpPr/>
          <p:nvPr/>
        </p:nvSpPr>
        <p:spPr>
          <a:xfrm>
            <a:off x="1565280" y="4227484"/>
            <a:ext cx="639720" cy="411120"/>
          </a:xfrm>
          <a:prstGeom prst="roundRect">
            <a:avLst>
              <a:gd name="adj" fmla="val 11111"/>
            </a:avLst>
          </a:prstGeom>
          <a:solidFill>
            <a:srgbClr val="F3F4F6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27"/>
          <p:cNvSpPr/>
          <p:nvPr/>
        </p:nvSpPr>
        <p:spPr>
          <a:xfrm>
            <a:off x="1592640" y="4332604"/>
            <a:ext cx="5850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0.4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Shape 28"/>
          <p:cNvSpPr/>
          <p:nvPr/>
        </p:nvSpPr>
        <p:spPr>
          <a:xfrm>
            <a:off x="2571120" y="4227484"/>
            <a:ext cx="639720" cy="411120"/>
          </a:xfrm>
          <a:prstGeom prst="roundRect">
            <a:avLst>
              <a:gd name="adj" fmla="val 11111"/>
            </a:avLst>
          </a:prstGeom>
          <a:solidFill>
            <a:srgbClr val="E7F4D2"/>
          </a:solidFill>
          <a:ln w="15240">
            <a:solidFill>
              <a:srgbClr val="86BC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29"/>
          <p:cNvSpPr/>
          <p:nvPr/>
        </p:nvSpPr>
        <p:spPr>
          <a:xfrm>
            <a:off x="2598480" y="4332604"/>
            <a:ext cx="5850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2.8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Shape 30"/>
          <p:cNvSpPr/>
          <p:nvPr/>
        </p:nvSpPr>
        <p:spPr>
          <a:xfrm>
            <a:off x="3576960" y="4227484"/>
            <a:ext cx="639720" cy="411120"/>
          </a:xfrm>
          <a:prstGeom prst="roundRect">
            <a:avLst>
              <a:gd name="adj" fmla="val 11111"/>
            </a:avLst>
          </a:prstGeom>
          <a:solidFill>
            <a:srgbClr val="F3F4F6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31"/>
          <p:cNvSpPr/>
          <p:nvPr/>
        </p:nvSpPr>
        <p:spPr>
          <a:xfrm>
            <a:off x="3604320" y="4332604"/>
            <a:ext cx="5850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0.3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Shape 32"/>
          <p:cNvSpPr/>
          <p:nvPr/>
        </p:nvSpPr>
        <p:spPr>
          <a:xfrm>
            <a:off x="6062940" y="3351420"/>
            <a:ext cx="1005480" cy="411120"/>
          </a:xfrm>
          <a:prstGeom prst="roundRect">
            <a:avLst>
              <a:gd name="adj" fmla="val 11111"/>
            </a:avLst>
          </a:prstGeom>
          <a:solidFill>
            <a:srgbClr val="E7F4D2"/>
          </a:solidFill>
          <a:ln w="15240">
            <a:solidFill>
              <a:srgbClr val="86BC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33"/>
          <p:cNvSpPr/>
          <p:nvPr/>
        </p:nvSpPr>
        <p:spPr>
          <a:xfrm>
            <a:off x="6090300" y="3456540"/>
            <a:ext cx="9507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max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34"/>
          <p:cNvSpPr/>
          <p:nvPr/>
        </p:nvSpPr>
        <p:spPr>
          <a:xfrm>
            <a:off x="5267880" y="397800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dirty="0">
                <a:solidFill>
                  <a:srgbClr val="111827"/>
                </a:solidFill>
                <a:effectLst/>
                <a:uFillTx/>
                <a:latin typeface="Aptos"/>
              </a:rPr>
              <a:t>Was this pattern strongly present anywhere in the region?</a:t>
            </a:r>
            <a:endParaRPr lang="it-IT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34933BC-8AB1-CC23-13B1-8593C4BEC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Average pooling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4B17654-FF54-A0D5-CB3E-E389C25216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Average pooling replaces a local region with its mean activation.</a:t>
            </a:r>
          </a:p>
          <a:p>
            <a:r>
              <a:rPr lang="en-GB" dirty="0"/>
              <a:t>Example:</a:t>
            </a:r>
          </a:p>
          <a:p>
            <a:pPr lvl="1"/>
            <a:r>
              <a:rPr lang="en-GB" dirty="0"/>
              <a:t>Input: 0.2  0.4  2.8  2.5  0.3  0.1</a:t>
            </a:r>
          </a:p>
          <a:p>
            <a:pPr lvl="1"/>
            <a:r>
              <a:rPr lang="en-GB" dirty="0"/>
              <a:t>Pool size: 2</a:t>
            </a:r>
          </a:p>
          <a:p>
            <a:pPr lvl="1"/>
            <a:r>
              <a:rPr lang="en-GB" dirty="0"/>
              <a:t>Output: 0.3  2.65  0.2</a:t>
            </a:r>
          </a:p>
          <a:p>
            <a:endParaRPr lang="en-GB" b="1" dirty="0"/>
          </a:p>
          <a:p>
            <a:r>
              <a:rPr lang="en-GB" b="1" dirty="0"/>
              <a:t>Interpretation</a:t>
            </a:r>
          </a:p>
          <a:p>
            <a:r>
              <a:rPr lang="en-GB" dirty="0"/>
              <a:t>Average pooling asks approximately:</a:t>
            </a:r>
          </a:p>
          <a:p>
            <a:pPr lvl="1"/>
            <a:r>
              <a:rPr lang="en-GB" dirty="0"/>
              <a:t>How strongly was this feature active on average over this interval?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977966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C46BF-2902-8B7C-4B5B-77A4BA077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938B4F0-F1D5-E4E4-51D9-B9E1DBFA3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Average pooling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CE6472C-5C4E-A046-3D33-3AEA4A609D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b="1" dirty="0"/>
              <a:t>Comparison with max pooling</a:t>
            </a:r>
          </a:p>
          <a:p>
            <a:r>
              <a:rPr lang="en-GB" dirty="0"/>
              <a:t>Max pooling emphasizes:</a:t>
            </a:r>
          </a:p>
          <a:p>
            <a:pPr lvl="1"/>
            <a:r>
              <a:rPr lang="en-GB" dirty="0"/>
              <a:t>strongest occurrence; </a:t>
            </a:r>
          </a:p>
          <a:p>
            <a:pPr lvl="1"/>
            <a:r>
              <a:rPr lang="en-GB" dirty="0"/>
              <a:t>presence of a local pattern. </a:t>
            </a:r>
          </a:p>
          <a:p>
            <a:r>
              <a:rPr lang="en-GB" dirty="0"/>
              <a:t>Average pooling emphasizes:</a:t>
            </a:r>
          </a:p>
          <a:p>
            <a:pPr lvl="1"/>
            <a:r>
              <a:rPr lang="en-GB" dirty="0"/>
              <a:t>overall activity; </a:t>
            </a:r>
          </a:p>
          <a:p>
            <a:pPr lvl="1"/>
            <a:r>
              <a:rPr lang="en-GB" dirty="0"/>
              <a:t>sustained feature response. </a:t>
            </a:r>
          </a:p>
          <a:p>
            <a:endParaRPr lang="en-GB" b="1" dirty="0"/>
          </a:p>
          <a:p>
            <a:r>
              <a:rPr lang="en-GB" b="1" dirty="0"/>
              <a:t>Which is better?</a:t>
            </a:r>
          </a:p>
          <a:p>
            <a:pPr lvl="1"/>
            <a:r>
              <a:rPr lang="en-GB" dirty="0"/>
              <a:t>It depends on the application and the type of feature being learned.</a:t>
            </a:r>
          </a:p>
          <a:p>
            <a:pPr lvl="1"/>
            <a:r>
              <a:rPr lang="en-GB" dirty="0"/>
              <a:t>Neither is universally superior.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7749377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Shape 0"/>
          <p:cNvSpPr/>
          <p:nvPr/>
        </p:nvSpPr>
        <p:spPr>
          <a:xfrm>
            <a:off x="11466720" y="0"/>
            <a:ext cx="722160" cy="6857640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Shape 1"/>
          <p:cNvSpPr/>
          <p:nvPr/>
        </p:nvSpPr>
        <p:spPr>
          <a:xfrm>
            <a:off x="11301840" y="0"/>
            <a:ext cx="54360" cy="6857640"/>
          </a:xfrm>
          <a:prstGeom prst="rect">
            <a:avLst/>
          </a:prstGeom>
          <a:solidFill>
            <a:srgbClr val="E7F4D2"/>
          </a:solidFill>
          <a:ln w="12700">
            <a:solidFill>
              <a:srgbClr val="E7F4D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2"/>
          <p:cNvSpPr/>
          <p:nvPr/>
        </p:nvSpPr>
        <p:spPr>
          <a:xfrm>
            <a:off x="502920" y="320040"/>
            <a:ext cx="105609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GB" sz="2400" b="1" dirty="0"/>
              <a:t>Average pooling summarizes sustained or distributed activation over a local region</a:t>
            </a:r>
            <a:endParaRPr lang="it-IT" sz="22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3"/>
          <p:cNvSpPr/>
          <p:nvPr/>
        </p:nvSpPr>
        <p:spPr>
          <a:xfrm>
            <a:off x="502920" y="841320"/>
            <a:ext cx="103323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506070"/>
                </a:solidFill>
                <a:effectLst/>
                <a:uFillTx/>
                <a:latin typeface="Aptos"/>
              </a:rPr>
              <a:t>Average pooling emphasizes overall activity within a local region.</a:t>
            </a:r>
            <a:endParaRPr lang="it-IT" sz="12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Shape 4"/>
          <p:cNvSpPr/>
          <p:nvPr/>
        </p:nvSpPr>
        <p:spPr>
          <a:xfrm>
            <a:off x="502920" y="6364080"/>
            <a:ext cx="10240920" cy="383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5D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5"/>
          <p:cNvSpPr/>
          <p:nvPr/>
        </p:nvSpPr>
        <p:spPr>
          <a:xfrm>
            <a:off x="594360" y="6455520"/>
            <a:ext cx="1005804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dirty="0">
                <a:solidFill>
                  <a:srgbClr val="111827"/>
                </a:solidFill>
                <a:effectLst/>
                <a:uFillTx/>
                <a:latin typeface="Aptos"/>
              </a:rPr>
              <a:t>Max pooling emphasizes strongest occurrence; average pooling emphasizes sustained response.</a:t>
            </a:r>
            <a:endParaRPr lang="it-IT" sz="105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Shape 6"/>
          <p:cNvSpPr/>
          <p:nvPr/>
        </p:nvSpPr>
        <p:spPr>
          <a:xfrm>
            <a:off x="1005840" y="2011680"/>
            <a:ext cx="502560" cy="319680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7"/>
          <p:cNvSpPr/>
          <p:nvPr/>
        </p:nvSpPr>
        <p:spPr>
          <a:xfrm>
            <a:off x="1033200" y="2071080"/>
            <a:ext cx="447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0.2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Shape 8"/>
          <p:cNvSpPr/>
          <p:nvPr/>
        </p:nvSpPr>
        <p:spPr>
          <a:xfrm>
            <a:off x="1691640" y="2011680"/>
            <a:ext cx="502560" cy="319680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9"/>
          <p:cNvSpPr/>
          <p:nvPr/>
        </p:nvSpPr>
        <p:spPr>
          <a:xfrm>
            <a:off x="1719000" y="2071080"/>
            <a:ext cx="447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0.4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Shape 10"/>
          <p:cNvSpPr/>
          <p:nvPr/>
        </p:nvSpPr>
        <p:spPr>
          <a:xfrm>
            <a:off x="2377440" y="2011680"/>
            <a:ext cx="502560" cy="319680"/>
          </a:xfrm>
          <a:prstGeom prst="roundRect">
            <a:avLst>
              <a:gd name="adj" fmla="val 14286"/>
            </a:avLst>
          </a:prstGeom>
          <a:solidFill>
            <a:srgbClr val="FFF4D7"/>
          </a:solidFill>
          <a:ln w="15240">
            <a:solidFill>
              <a:srgbClr val="F2A9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 11"/>
          <p:cNvSpPr/>
          <p:nvPr/>
        </p:nvSpPr>
        <p:spPr>
          <a:xfrm>
            <a:off x="2404800" y="2071080"/>
            <a:ext cx="447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2.8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Shape 12"/>
          <p:cNvSpPr/>
          <p:nvPr/>
        </p:nvSpPr>
        <p:spPr>
          <a:xfrm>
            <a:off x="3063240" y="2011680"/>
            <a:ext cx="502560" cy="319680"/>
          </a:xfrm>
          <a:prstGeom prst="roundRect">
            <a:avLst>
              <a:gd name="adj" fmla="val 14286"/>
            </a:avLst>
          </a:prstGeom>
          <a:solidFill>
            <a:srgbClr val="FFF4D7"/>
          </a:solidFill>
          <a:ln w="15240">
            <a:solidFill>
              <a:srgbClr val="F2A9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13"/>
          <p:cNvSpPr/>
          <p:nvPr/>
        </p:nvSpPr>
        <p:spPr>
          <a:xfrm>
            <a:off x="3090600" y="2071080"/>
            <a:ext cx="447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2.5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Shape 14"/>
          <p:cNvSpPr/>
          <p:nvPr/>
        </p:nvSpPr>
        <p:spPr>
          <a:xfrm>
            <a:off x="3749040" y="2011680"/>
            <a:ext cx="502560" cy="319680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 15"/>
          <p:cNvSpPr/>
          <p:nvPr/>
        </p:nvSpPr>
        <p:spPr>
          <a:xfrm>
            <a:off x="3776400" y="2071080"/>
            <a:ext cx="447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0.3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Shape 16"/>
          <p:cNvSpPr/>
          <p:nvPr/>
        </p:nvSpPr>
        <p:spPr>
          <a:xfrm>
            <a:off x="4434840" y="2011680"/>
            <a:ext cx="502560" cy="319680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17"/>
          <p:cNvSpPr/>
          <p:nvPr/>
        </p:nvSpPr>
        <p:spPr>
          <a:xfrm>
            <a:off x="4462200" y="2071080"/>
            <a:ext cx="447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0.1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Shape 18"/>
          <p:cNvSpPr/>
          <p:nvPr/>
        </p:nvSpPr>
        <p:spPr>
          <a:xfrm>
            <a:off x="868680" y="2971800"/>
            <a:ext cx="1416960" cy="365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19"/>
          <p:cNvSpPr/>
          <p:nvPr/>
        </p:nvSpPr>
        <p:spPr>
          <a:xfrm>
            <a:off x="896040" y="3054240"/>
            <a:ext cx="1362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avg(0.2,0.4)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Shape 20"/>
          <p:cNvSpPr/>
          <p:nvPr/>
        </p:nvSpPr>
        <p:spPr>
          <a:xfrm>
            <a:off x="2468880" y="2971800"/>
            <a:ext cx="1416960" cy="365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21"/>
          <p:cNvSpPr/>
          <p:nvPr/>
        </p:nvSpPr>
        <p:spPr>
          <a:xfrm>
            <a:off x="2496240" y="3054240"/>
            <a:ext cx="1362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avg(2.8,2.5)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Shape 22"/>
          <p:cNvSpPr/>
          <p:nvPr/>
        </p:nvSpPr>
        <p:spPr>
          <a:xfrm>
            <a:off x="4069080" y="2971800"/>
            <a:ext cx="1416960" cy="365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 23"/>
          <p:cNvSpPr/>
          <p:nvPr/>
        </p:nvSpPr>
        <p:spPr>
          <a:xfrm>
            <a:off x="4096440" y="3054240"/>
            <a:ext cx="1362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avg(0.3,0.1)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Shape 24"/>
          <p:cNvSpPr/>
          <p:nvPr/>
        </p:nvSpPr>
        <p:spPr>
          <a:xfrm>
            <a:off x="3311698" y="3702960"/>
            <a:ext cx="360" cy="548640"/>
          </a:xfrm>
          <a:prstGeom prst="line">
            <a:avLst/>
          </a:prstGeom>
          <a:ln w="15240">
            <a:solidFill>
              <a:srgbClr val="6B728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Shape 25"/>
          <p:cNvSpPr/>
          <p:nvPr/>
        </p:nvSpPr>
        <p:spPr>
          <a:xfrm>
            <a:off x="2057400" y="4827960"/>
            <a:ext cx="639720" cy="411120"/>
          </a:xfrm>
          <a:prstGeom prst="roundRect">
            <a:avLst>
              <a:gd name="adj" fmla="val 11111"/>
            </a:avLst>
          </a:prstGeom>
          <a:solidFill>
            <a:srgbClr val="F3F4F6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26"/>
          <p:cNvSpPr/>
          <p:nvPr/>
        </p:nvSpPr>
        <p:spPr>
          <a:xfrm>
            <a:off x="2084760" y="4933080"/>
            <a:ext cx="5850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0.3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Shape 27"/>
          <p:cNvSpPr/>
          <p:nvPr/>
        </p:nvSpPr>
        <p:spPr>
          <a:xfrm>
            <a:off x="3063240" y="4827960"/>
            <a:ext cx="639720" cy="411120"/>
          </a:xfrm>
          <a:prstGeom prst="roundRect">
            <a:avLst>
              <a:gd name="adj" fmla="val 11111"/>
            </a:avLst>
          </a:prstGeom>
          <a:solidFill>
            <a:srgbClr val="FFF4D7"/>
          </a:solidFill>
          <a:ln w="15240">
            <a:solidFill>
              <a:srgbClr val="F2A9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28"/>
          <p:cNvSpPr/>
          <p:nvPr/>
        </p:nvSpPr>
        <p:spPr>
          <a:xfrm>
            <a:off x="3090600" y="4933080"/>
            <a:ext cx="5850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2.65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Shape 29"/>
          <p:cNvSpPr/>
          <p:nvPr/>
        </p:nvSpPr>
        <p:spPr>
          <a:xfrm>
            <a:off x="4069080" y="4827960"/>
            <a:ext cx="639720" cy="411120"/>
          </a:xfrm>
          <a:prstGeom prst="roundRect">
            <a:avLst>
              <a:gd name="adj" fmla="val 11111"/>
            </a:avLst>
          </a:prstGeom>
          <a:solidFill>
            <a:srgbClr val="F3F4F6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30"/>
          <p:cNvSpPr/>
          <p:nvPr/>
        </p:nvSpPr>
        <p:spPr>
          <a:xfrm>
            <a:off x="4096440" y="4933080"/>
            <a:ext cx="5850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0.2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Shape 31"/>
          <p:cNvSpPr/>
          <p:nvPr/>
        </p:nvSpPr>
        <p:spPr>
          <a:xfrm>
            <a:off x="5719860" y="3758040"/>
            <a:ext cx="1188360" cy="411120"/>
          </a:xfrm>
          <a:prstGeom prst="roundRect">
            <a:avLst>
              <a:gd name="adj" fmla="val 11111"/>
            </a:avLst>
          </a:prstGeom>
          <a:solidFill>
            <a:srgbClr val="FFF4D7"/>
          </a:solidFill>
          <a:ln w="15240">
            <a:solidFill>
              <a:srgbClr val="F2A9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 32"/>
          <p:cNvSpPr/>
          <p:nvPr/>
        </p:nvSpPr>
        <p:spPr>
          <a:xfrm>
            <a:off x="5747220" y="3863160"/>
            <a:ext cx="11336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average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 33"/>
          <p:cNvSpPr/>
          <p:nvPr/>
        </p:nvSpPr>
        <p:spPr>
          <a:xfrm>
            <a:off x="5623380" y="4371120"/>
            <a:ext cx="2991931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dirty="0">
                <a:solidFill>
                  <a:srgbClr val="111827"/>
                </a:solidFill>
                <a:effectLst/>
                <a:uFillTx/>
                <a:latin typeface="Aptos"/>
              </a:rPr>
              <a:t>How active was this feature on average over the interval?</a:t>
            </a:r>
            <a:endParaRPr lang="it-IT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DC7CC16-E219-4086-B093-94327456D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Pool size and pooling stride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9A3B1FA-0F52-FE22-8391-0FFCD74EC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Pooling has its own:</a:t>
            </a:r>
          </a:p>
          <a:p>
            <a:pPr lvl="1"/>
            <a:r>
              <a:rPr lang="en-GB" b="1" dirty="0"/>
              <a:t>window size; </a:t>
            </a:r>
          </a:p>
          <a:p>
            <a:pPr lvl="1"/>
            <a:r>
              <a:rPr lang="en-GB" b="1" dirty="0"/>
              <a:t>stride. </a:t>
            </a:r>
          </a:p>
          <a:p>
            <a:r>
              <a:rPr lang="en-GB" dirty="0"/>
              <a:t>Example:</a:t>
            </a:r>
          </a:p>
          <a:p>
            <a:pPr lvl="1"/>
            <a:r>
              <a:rPr lang="en-GB" dirty="0"/>
              <a:t>Pool size: 2</a:t>
            </a:r>
          </a:p>
          <a:p>
            <a:pPr lvl="1"/>
            <a:r>
              <a:rPr lang="en-GB" dirty="0"/>
              <a:t>Stride: 2</a:t>
            </a:r>
          </a:p>
          <a:p>
            <a:pPr lvl="1"/>
            <a:r>
              <a:rPr lang="en-GB" dirty="0"/>
              <a:t>Then pairs of activations are summarized without overlap.</a:t>
            </a:r>
          </a:p>
          <a:p>
            <a:pPr lvl="1"/>
            <a:r>
              <a:rPr lang="en-GB" dirty="0"/>
              <a:t>[a1 a2] [a3 a4] [a5 a6]</a:t>
            </a:r>
          </a:p>
          <a:p>
            <a:pPr lvl="1"/>
            <a:r>
              <a:rPr lang="en-GB" dirty="0"/>
              <a:t>Temporal length is approximately halved.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6429992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59D60-A3CF-F40A-8A6E-07CA2EE25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7D8E745-9635-80F3-6CEE-4289FE7FA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Pool size and pooling stride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F351A63-587D-4726-72C1-9742CF4629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Example</a:t>
            </a:r>
          </a:p>
          <a:p>
            <a:r>
              <a:rPr lang="en-GB" dirty="0"/>
              <a:t>Input:</a:t>
            </a:r>
          </a:p>
          <a:p>
            <a:pPr lvl="1"/>
            <a:r>
              <a:rPr lang="en-GB" dirty="0"/>
              <a:t>[N, 200, 32]</a:t>
            </a:r>
          </a:p>
          <a:p>
            <a:r>
              <a:rPr lang="en-GB" dirty="0"/>
              <a:t>After pooling by a factor of 2:</a:t>
            </a:r>
          </a:p>
          <a:p>
            <a:pPr lvl="1"/>
            <a:r>
              <a:rPr lang="en-GB" dirty="0"/>
              <a:t>[N, 100, 32]</a:t>
            </a:r>
          </a:p>
          <a:p>
            <a:r>
              <a:rPr lang="en-GB" dirty="0"/>
              <a:t>The number of feature channels does not change.</a:t>
            </a:r>
          </a:p>
          <a:p>
            <a:pPr marL="0" indent="0">
              <a:buNone/>
            </a:pP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51078585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Shape 0"/>
          <p:cNvSpPr/>
          <p:nvPr/>
        </p:nvSpPr>
        <p:spPr>
          <a:xfrm>
            <a:off x="11466720" y="0"/>
            <a:ext cx="722160" cy="6857640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Shape 1"/>
          <p:cNvSpPr/>
          <p:nvPr/>
        </p:nvSpPr>
        <p:spPr>
          <a:xfrm>
            <a:off x="11301840" y="0"/>
            <a:ext cx="54360" cy="6857640"/>
          </a:xfrm>
          <a:prstGeom prst="rect">
            <a:avLst/>
          </a:prstGeom>
          <a:solidFill>
            <a:srgbClr val="E7F4D2"/>
          </a:solidFill>
          <a:ln w="12700">
            <a:solidFill>
              <a:srgbClr val="E7F4D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 2"/>
          <p:cNvSpPr/>
          <p:nvPr/>
        </p:nvSpPr>
        <p:spPr>
          <a:xfrm>
            <a:off x="502920" y="320040"/>
            <a:ext cx="105609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Pooling reduces temporal length but not feature channels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3"/>
          <p:cNvSpPr/>
          <p:nvPr/>
        </p:nvSpPr>
        <p:spPr>
          <a:xfrm>
            <a:off x="502920" y="841320"/>
            <a:ext cx="103323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effectLst/>
                <a:highlight>
                  <a:srgbClr val="FFFF00"/>
                </a:highlight>
                <a:uFillTx/>
                <a:latin typeface="Aptos"/>
              </a:rPr>
              <a:t>Pooling is applied separately to each feature map.</a:t>
            </a:r>
            <a:endParaRPr lang="it-IT" sz="1400" b="1" u="none" strike="noStrike" dirty="0">
              <a:effectLst/>
              <a:highlight>
                <a:srgbClr val="FFFF00"/>
              </a:highlight>
              <a:uFillTx/>
              <a:latin typeface="Arial"/>
            </a:endParaRPr>
          </a:p>
        </p:txBody>
      </p:sp>
      <p:sp>
        <p:nvSpPr>
          <p:cNvPr id="431" name="Shape 4"/>
          <p:cNvSpPr/>
          <p:nvPr/>
        </p:nvSpPr>
        <p:spPr>
          <a:xfrm>
            <a:off x="502920" y="6364080"/>
            <a:ext cx="10240920" cy="383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5D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5"/>
          <p:cNvSpPr/>
          <p:nvPr/>
        </p:nvSpPr>
        <p:spPr>
          <a:xfrm>
            <a:off x="594360" y="6455520"/>
            <a:ext cx="1005804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 dirty="0">
                <a:solidFill>
                  <a:srgbClr val="111827"/>
                </a:solidFill>
                <a:effectLst/>
                <a:uFillTx/>
                <a:latin typeface="Aptos"/>
              </a:rPr>
              <a:t>Pool size and stride often reduce L while keeping F unchanged.</a:t>
            </a:r>
            <a:endParaRPr lang="it-IT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Shape 6"/>
          <p:cNvSpPr/>
          <p:nvPr/>
        </p:nvSpPr>
        <p:spPr>
          <a:xfrm>
            <a:off x="1188720" y="2286000"/>
            <a:ext cx="2285640" cy="822600"/>
          </a:xfrm>
          <a:prstGeom prst="roundRect">
            <a:avLst>
              <a:gd name="adj" fmla="val 5556"/>
            </a:avLst>
          </a:prstGeom>
          <a:solidFill>
            <a:srgbClr val="EAF2FF"/>
          </a:solidFill>
          <a:ln w="15240">
            <a:solidFill>
              <a:srgbClr val="2F6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7"/>
          <p:cNvSpPr/>
          <p:nvPr/>
        </p:nvSpPr>
        <p:spPr>
          <a:xfrm>
            <a:off x="1216080" y="2597040"/>
            <a:ext cx="2230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Feature maps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[N, 200, 32]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Shape 8"/>
          <p:cNvSpPr/>
          <p:nvPr/>
        </p:nvSpPr>
        <p:spPr>
          <a:xfrm>
            <a:off x="3749040" y="2697480"/>
            <a:ext cx="1280160" cy="360"/>
          </a:xfrm>
          <a:prstGeom prst="line">
            <a:avLst/>
          </a:prstGeom>
          <a:ln w="19050">
            <a:solidFill>
              <a:srgbClr val="6B728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Shape 9"/>
          <p:cNvSpPr/>
          <p:nvPr/>
        </p:nvSpPr>
        <p:spPr>
          <a:xfrm>
            <a:off x="5303520" y="2148840"/>
            <a:ext cx="2011320" cy="1096920"/>
          </a:xfrm>
          <a:prstGeom prst="roundRect">
            <a:avLst>
              <a:gd name="adj" fmla="val 4167"/>
            </a:avLst>
          </a:prstGeom>
          <a:solidFill>
            <a:srgbClr val="E7F4D2"/>
          </a:solidFill>
          <a:ln w="15240">
            <a:solidFill>
              <a:srgbClr val="86BC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10"/>
          <p:cNvSpPr/>
          <p:nvPr/>
        </p:nvSpPr>
        <p:spPr>
          <a:xfrm>
            <a:off x="5330880" y="2597040"/>
            <a:ext cx="19566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MaxPool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size = 2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stride = 2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Shape 11"/>
          <p:cNvSpPr/>
          <p:nvPr/>
        </p:nvSpPr>
        <p:spPr>
          <a:xfrm>
            <a:off x="7589520" y="2697480"/>
            <a:ext cx="1280160" cy="360"/>
          </a:xfrm>
          <a:prstGeom prst="line">
            <a:avLst/>
          </a:prstGeom>
          <a:ln w="19050">
            <a:solidFill>
              <a:srgbClr val="6B728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Shape 12"/>
          <p:cNvSpPr/>
          <p:nvPr/>
        </p:nvSpPr>
        <p:spPr>
          <a:xfrm>
            <a:off x="8778240" y="2286000"/>
            <a:ext cx="2102760" cy="822600"/>
          </a:xfrm>
          <a:prstGeom prst="roundRect">
            <a:avLst>
              <a:gd name="adj" fmla="val 5556"/>
            </a:avLst>
          </a:prstGeom>
          <a:solidFill>
            <a:srgbClr val="FFF4D7"/>
          </a:solidFill>
          <a:ln w="15240">
            <a:solidFill>
              <a:srgbClr val="F2A9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 13"/>
          <p:cNvSpPr/>
          <p:nvPr/>
        </p:nvSpPr>
        <p:spPr>
          <a:xfrm>
            <a:off x="8805600" y="2597040"/>
            <a:ext cx="2048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Pooled maps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[N, 100, 32]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 14"/>
          <p:cNvSpPr/>
          <p:nvPr/>
        </p:nvSpPr>
        <p:spPr>
          <a:xfrm>
            <a:off x="2468880" y="4297680"/>
            <a:ext cx="56689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Temporal length halves; number of feature maps stays 32.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E43A33-14CD-61A5-416D-40D7752DD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err="1">
                <a:highlight>
                  <a:srgbClr val="FFFF00"/>
                </a:highlight>
              </a:rPr>
              <a:t>Downsampling</a:t>
            </a:r>
            <a:r>
              <a:rPr lang="en-GB" dirty="0">
                <a:highlight>
                  <a:srgbClr val="FFFF00"/>
                </a:highlight>
              </a:rPr>
              <a:t> (through pooling) increases the temporal scale of later layers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1E94EF9-9BDA-2590-C56F-E0829A5B7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Consider: input sampling: 100 Hz</a:t>
            </a:r>
          </a:p>
          <a:p>
            <a:r>
              <a:rPr lang="en-GB" b="1" dirty="0"/>
              <a:t>Before pooling</a:t>
            </a:r>
            <a:r>
              <a:rPr lang="en-GB" dirty="0"/>
              <a:t>, consecutive feature-map positions correspond approximately to: </a:t>
            </a:r>
            <a:r>
              <a:rPr lang="en-GB" b="1" dirty="0"/>
              <a:t>0.01 s</a:t>
            </a:r>
          </a:p>
          <a:p>
            <a:r>
              <a:rPr lang="en-GB" dirty="0"/>
              <a:t>Suppose pooling reduces length by a factor of 2.</a:t>
            </a:r>
          </a:p>
          <a:p>
            <a:r>
              <a:rPr lang="en-GB" b="1" dirty="0"/>
              <a:t>After pooling</a:t>
            </a:r>
            <a:r>
              <a:rPr lang="en-GB" dirty="0"/>
              <a:t>, consecutive positions correspond approximately to: </a:t>
            </a:r>
            <a:r>
              <a:rPr lang="en-GB" b="1" dirty="0"/>
              <a:t>0.02 s</a:t>
            </a:r>
          </a:p>
          <a:p>
            <a:r>
              <a:rPr lang="en-GB" dirty="0"/>
              <a:t>After another factor-of-2 pooling: 0.04 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3759100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83D53-6C05-518B-1B35-C54DAB788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3F33A5B-CF9B-E96B-CFCE-3799A8290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Downsampling</a:t>
            </a:r>
            <a:r>
              <a:rPr lang="en-GB" dirty="0"/>
              <a:t> increases the temporal scale of later layers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D69A0D2-9827-5F5F-0044-C653406AAA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b="1" dirty="0"/>
              <a:t>Consequence</a:t>
            </a:r>
          </a:p>
          <a:p>
            <a:r>
              <a:rPr lang="en-GB" dirty="0"/>
              <a:t>Later layers operate on a coarser temporal representation.</a:t>
            </a:r>
          </a:p>
          <a:p>
            <a:r>
              <a:rPr lang="en-GB" dirty="0"/>
              <a:t>This allows a small kernel at a deeper layer to </a:t>
            </a:r>
            <a:r>
              <a:rPr lang="en-GB" b="1" dirty="0"/>
              <a:t>cover a larger physical interval </a:t>
            </a:r>
            <a:r>
              <a:rPr lang="en-GB" dirty="0"/>
              <a:t>of the original input.</a:t>
            </a:r>
          </a:p>
          <a:p>
            <a:r>
              <a:rPr lang="en-GB" b="1" dirty="0"/>
              <a:t>Example</a:t>
            </a:r>
          </a:p>
          <a:p>
            <a:r>
              <a:rPr lang="en-GB" dirty="0"/>
              <a:t>A kernel of size 3:</a:t>
            </a:r>
          </a:p>
          <a:p>
            <a:pPr lvl="0"/>
            <a:r>
              <a:rPr lang="en-GB" dirty="0"/>
              <a:t>before pooling → covers about 0.03 s; </a:t>
            </a:r>
          </a:p>
          <a:p>
            <a:pPr lvl="0"/>
            <a:r>
              <a:rPr lang="en-GB" b="1" dirty="0"/>
              <a:t>after ×4 </a:t>
            </a:r>
            <a:r>
              <a:rPr lang="en-GB" b="1" dirty="0" err="1"/>
              <a:t>downsampling</a:t>
            </a:r>
            <a:r>
              <a:rPr lang="en-GB" b="1" dirty="0"/>
              <a:t> → covers about 0.12 s of the original timeline (see next slide).</a:t>
            </a:r>
            <a:r>
              <a:rPr lang="en-GB" dirty="0"/>
              <a:t> </a:t>
            </a:r>
          </a:p>
          <a:p>
            <a:endParaRPr lang="en-GB" dirty="0"/>
          </a:p>
          <a:p>
            <a:r>
              <a:rPr lang="en-GB" b="1" dirty="0" err="1"/>
              <a:t>Downsampling</a:t>
            </a:r>
            <a:r>
              <a:rPr lang="en-GB" b="1" dirty="0"/>
              <a:t> changes the temporal scale at which later convolutional layers operate.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7355104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Shape 0"/>
          <p:cNvSpPr/>
          <p:nvPr/>
        </p:nvSpPr>
        <p:spPr>
          <a:xfrm>
            <a:off x="11466720" y="0"/>
            <a:ext cx="722160" cy="6857640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Shape 1"/>
          <p:cNvSpPr/>
          <p:nvPr/>
        </p:nvSpPr>
        <p:spPr>
          <a:xfrm>
            <a:off x="11301840" y="0"/>
            <a:ext cx="54360" cy="6857640"/>
          </a:xfrm>
          <a:prstGeom prst="rect">
            <a:avLst/>
          </a:prstGeom>
          <a:solidFill>
            <a:srgbClr val="E7F4D2"/>
          </a:solidFill>
          <a:ln w="12700">
            <a:solidFill>
              <a:srgbClr val="E7F4D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 2"/>
          <p:cNvSpPr/>
          <p:nvPr/>
        </p:nvSpPr>
        <p:spPr>
          <a:xfrm>
            <a:off x="502920" y="320040"/>
            <a:ext cx="105609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Downsampling changes the temporal scale of later layers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 3"/>
          <p:cNvSpPr/>
          <p:nvPr/>
        </p:nvSpPr>
        <p:spPr>
          <a:xfrm>
            <a:off x="502920" y="841320"/>
            <a:ext cx="103323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GB" sz="1400" dirty="0"/>
              <a:t>After </a:t>
            </a:r>
            <a:r>
              <a:rPr lang="en-GB" sz="1400" dirty="0" err="1"/>
              <a:t>downsampling</a:t>
            </a:r>
            <a:r>
              <a:rPr lang="en-GB" sz="1400" dirty="0"/>
              <a:t>, feature-map positions are more widely spaced in time, and later kernels cover larger intervals of the original signal</a:t>
            </a:r>
            <a:endParaRPr lang="it-IT" sz="14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Shape 4"/>
          <p:cNvSpPr/>
          <p:nvPr/>
        </p:nvSpPr>
        <p:spPr>
          <a:xfrm>
            <a:off x="502920" y="6364080"/>
            <a:ext cx="10240920" cy="383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5D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 5"/>
          <p:cNvSpPr/>
          <p:nvPr/>
        </p:nvSpPr>
        <p:spPr>
          <a:xfrm>
            <a:off x="594360" y="6455520"/>
            <a:ext cx="1005804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111827"/>
                </a:solidFill>
                <a:effectLst/>
                <a:uFillTx/>
                <a:latin typeface="Aptos"/>
              </a:rPr>
              <a:t>Later kernels operate on a coarser temporal grid.</a:t>
            </a:r>
            <a:endParaRPr lang="it-IT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 6"/>
          <p:cNvSpPr/>
          <p:nvPr/>
        </p:nvSpPr>
        <p:spPr>
          <a:xfrm>
            <a:off x="835800" y="1737720"/>
            <a:ext cx="2285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Input sampling: 100 Hz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Shape 7"/>
          <p:cNvSpPr/>
          <p:nvPr/>
        </p:nvSpPr>
        <p:spPr>
          <a:xfrm>
            <a:off x="835800" y="2240640"/>
            <a:ext cx="2011320" cy="639720"/>
          </a:xfrm>
          <a:prstGeom prst="roundRect">
            <a:avLst>
              <a:gd name="adj" fmla="val 7143"/>
            </a:avLst>
          </a:prstGeom>
          <a:solidFill>
            <a:srgbClr val="EAF2FF"/>
          </a:solidFill>
          <a:ln w="15240">
            <a:solidFill>
              <a:srgbClr val="2F6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 8"/>
          <p:cNvSpPr/>
          <p:nvPr/>
        </p:nvSpPr>
        <p:spPr>
          <a:xfrm>
            <a:off x="863160" y="2460240"/>
            <a:ext cx="19566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original grid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0.01 s per step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Shape 9"/>
          <p:cNvSpPr/>
          <p:nvPr/>
        </p:nvSpPr>
        <p:spPr>
          <a:xfrm>
            <a:off x="3121800" y="2560680"/>
            <a:ext cx="1005840" cy="360"/>
          </a:xfrm>
          <a:prstGeom prst="line">
            <a:avLst/>
          </a:prstGeom>
          <a:ln w="15240">
            <a:solidFill>
              <a:srgbClr val="6B728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Shape 10"/>
          <p:cNvSpPr/>
          <p:nvPr/>
        </p:nvSpPr>
        <p:spPr>
          <a:xfrm>
            <a:off x="4310520" y="2240640"/>
            <a:ext cx="2011320" cy="639720"/>
          </a:xfrm>
          <a:prstGeom prst="roundRect">
            <a:avLst>
              <a:gd name="adj" fmla="val 7143"/>
            </a:avLst>
          </a:prstGeom>
          <a:solidFill>
            <a:srgbClr val="E7F4D2"/>
          </a:solidFill>
          <a:ln w="15240">
            <a:solidFill>
              <a:srgbClr val="86BC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 11"/>
          <p:cNvSpPr/>
          <p:nvPr/>
        </p:nvSpPr>
        <p:spPr>
          <a:xfrm>
            <a:off x="4337880" y="2460240"/>
            <a:ext cx="19566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pool ×2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0.02 s per step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Shape 12"/>
          <p:cNvSpPr/>
          <p:nvPr/>
        </p:nvSpPr>
        <p:spPr>
          <a:xfrm>
            <a:off x="6505080" y="2560680"/>
            <a:ext cx="1005840" cy="360"/>
          </a:xfrm>
          <a:prstGeom prst="line">
            <a:avLst/>
          </a:prstGeom>
          <a:ln w="15240">
            <a:solidFill>
              <a:srgbClr val="6B728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Shape 13"/>
          <p:cNvSpPr/>
          <p:nvPr/>
        </p:nvSpPr>
        <p:spPr>
          <a:xfrm>
            <a:off x="7693800" y="2240640"/>
            <a:ext cx="2194200" cy="639720"/>
          </a:xfrm>
          <a:prstGeom prst="roundRect">
            <a:avLst>
              <a:gd name="adj" fmla="val 7143"/>
            </a:avLst>
          </a:prstGeom>
          <a:solidFill>
            <a:srgbClr val="FFF4D7"/>
          </a:solidFill>
          <a:ln w="15240">
            <a:solidFill>
              <a:srgbClr val="F2A9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 14"/>
          <p:cNvSpPr/>
          <p:nvPr/>
        </p:nvSpPr>
        <p:spPr>
          <a:xfrm>
            <a:off x="7721160" y="2460240"/>
            <a:ext cx="21394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pool ×2 again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0.04 s per step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 15"/>
          <p:cNvSpPr/>
          <p:nvPr/>
        </p:nvSpPr>
        <p:spPr>
          <a:xfrm>
            <a:off x="1190040" y="5181120"/>
            <a:ext cx="7497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r>
              <a:rPr lang="en-GB" sz="1400" b="1" dirty="0">
                <a:highlight>
                  <a:srgbClr val="FFFF00"/>
                </a:highlight>
              </a:rPr>
              <a:t>A kernel of size 3 after ×4 </a:t>
            </a:r>
            <a:r>
              <a:rPr lang="en-GB" sz="1400" b="1" dirty="0" err="1">
                <a:highlight>
                  <a:srgbClr val="FFFF00"/>
                </a:highlight>
              </a:rPr>
              <a:t>downsampling</a:t>
            </a:r>
            <a:r>
              <a:rPr lang="en-GB" sz="1400" b="1" dirty="0">
                <a:highlight>
                  <a:srgbClr val="FFFF00"/>
                </a:highlight>
              </a:rPr>
              <a:t> spans 0.08 s between its first and last coarse-grid positions, but its receptive field covers 12 original samples (about 0.12 s), because each coarse-grid position summarizes 4 original samples.</a:t>
            </a:r>
            <a:endParaRPr lang="en-GB" sz="1400" dirty="0">
              <a:highlight>
                <a:srgbClr val="FFFF00"/>
              </a:highlight>
            </a:endParaRPr>
          </a:p>
          <a:p>
            <a:pPr lvl="0"/>
            <a:endParaRPr lang="en-GB" sz="1400">
              <a:highlight>
                <a:srgbClr val="FFFF00"/>
              </a:highlight>
            </a:endParaRPr>
          </a:p>
          <a:p>
            <a:pPr lvl="0"/>
            <a:r>
              <a:rPr lang="en-GB" sz="1400">
                <a:highlight>
                  <a:srgbClr val="FFFF00"/>
                </a:highlight>
              </a:rPr>
              <a:t>position </a:t>
            </a:r>
            <a:r>
              <a:rPr lang="en-GB" sz="1400" dirty="0">
                <a:highlight>
                  <a:srgbClr val="FFFF00"/>
                </a:highlight>
              </a:rPr>
              <a:t>1 → original samples 1–4 </a:t>
            </a:r>
          </a:p>
          <a:p>
            <a:pPr lvl="0"/>
            <a:r>
              <a:rPr lang="en-GB" sz="1400" dirty="0">
                <a:highlight>
                  <a:srgbClr val="FFFF00"/>
                </a:highlight>
              </a:rPr>
              <a:t>position 2 → original samples 5–8 </a:t>
            </a:r>
          </a:p>
          <a:p>
            <a:pPr lvl="0"/>
            <a:r>
              <a:rPr lang="en-GB" sz="1400" dirty="0">
                <a:highlight>
                  <a:srgbClr val="FFFF00"/>
                </a:highlight>
              </a:rPr>
              <a:t>position 3 → original samples 9–12</a:t>
            </a:r>
          </a:p>
        </p:txBody>
      </p:sp>
      <p:grpSp>
        <p:nvGrpSpPr>
          <p:cNvPr id="3" name="Gruppo 2">
            <a:extLst>
              <a:ext uri="{FF2B5EF4-FFF2-40B4-BE49-F238E27FC236}">
                <a16:creationId xmlns:a16="http://schemas.microsoft.com/office/drawing/2014/main" id="{3435FF8F-D6EA-AE6B-9E18-5C1C8E1B1864}"/>
              </a:ext>
            </a:extLst>
          </p:cNvPr>
          <p:cNvGrpSpPr/>
          <p:nvPr/>
        </p:nvGrpSpPr>
        <p:grpSpPr>
          <a:xfrm>
            <a:off x="1016340" y="3909960"/>
            <a:ext cx="6588360" cy="100080"/>
            <a:chOff x="1001160" y="4750200"/>
            <a:chExt cx="6588360" cy="100080"/>
          </a:xfrm>
        </p:grpSpPr>
        <p:sp>
          <p:nvSpPr>
            <p:cNvPr id="458" name="Shape 16"/>
            <p:cNvSpPr/>
            <p:nvPr/>
          </p:nvSpPr>
          <p:spPr>
            <a:xfrm>
              <a:off x="1005840" y="4800600"/>
              <a:ext cx="6583680" cy="360"/>
            </a:xfrm>
            <a:prstGeom prst="line">
              <a:avLst/>
            </a:prstGeom>
            <a:ln w="12700">
              <a:solidFill>
                <a:srgbClr val="CBD5E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 anchorCtr="1">
              <a:noAutofit/>
            </a:bodyPr>
            <a:lstStyle/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9" name="Shape 17"/>
            <p:cNvSpPr/>
            <p:nvPr/>
          </p:nvSpPr>
          <p:spPr>
            <a:xfrm>
              <a:off x="1001160" y="4750200"/>
              <a:ext cx="100080" cy="100080"/>
            </a:xfrm>
            <a:prstGeom prst="ellipse">
              <a:avLst/>
            </a:prstGeom>
            <a:solidFill>
              <a:srgbClr val="F2A900"/>
            </a:solidFill>
            <a:ln w="12700">
              <a:solidFill>
                <a:srgbClr val="F2A9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6280" rIns="90000" bIns="26280" anchor="t">
              <a:noAutofit/>
            </a:bodyPr>
            <a:lstStyle/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0" name="Shape 18"/>
            <p:cNvSpPr/>
            <p:nvPr/>
          </p:nvSpPr>
          <p:spPr>
            <a:xfrm>
              <a:off x="1275480" y="4768560"/>
              <a:ext cx="63720" cy="63720"/>
            </a:xfrm>
            <a:prstGeom prst="ellipse">
              <a:avLst/>
            </a:prstGeom>
            <a:solidFill>
              <a:srgbClr val="2F66D0"/>
            </a:solidFill>
            <a:ln w="12700">
              <a:solidFill>
                <a:srgbClr val="2F66D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0" rIns="90000" bIns="0" anchor="t">
              <a:noAutofit/>
            </a:bodyPr>
            <a:lstStyle/>
            <a:p>
              <a:endParaRPr lang="it-IT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1" name="Shape 19"/>
            <p:cNvSpPr/>
            <p:nvPr/>
          </p:nvSpPr>
          <p:spPr>
            <a:xfrm>
              <a:off x="1531800" y="4768560"/>
              <a:ext cx="63720" cy="63720"/>
            </a:xfrm>
            <a:prstGeom prst="ellipse">
              <a:avLst/>
            </a:prstGeom>
            <a:solidFill>
              <a:srgbClr val="2F66D0"/>
            </a:solidFill>
            <a:ln w="12700">
              <a:solidFill>
                <a:srgbClr val="2F66D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0" rIns="90000" bIns="0" anchor="t">
              <a:noAutofit/>
            </a:bodyPr>
            <a:lstStyle/>
            <a:p>
              <a:endParaRPr lang="it-IT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2" name="Shape 20"/>
            <p:cNvSpPr/>
            <p:nvPr/>
          </p:nvSpPr>
          <p:spPr>
            <a:xfrm>
              <a:off x="1787760" y="4768560"/>
              <a:ext cx="63720" cy="63720"/>
            </a:xfrm>
            <a:prstGeom prst="ellipse">
              <a:avLst/>
            </a:prstGeom>
            <a:solidFill>
              <a:srgbClr val="2F66D0"/>
            </a:solidFill>
            <a:ln w="12700">
              <a:solidFill>
                <a:srgbClr val="2F66D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0" rIns="90000" bIns="0" anchor="t">
              <a:noAutofit/>
            </a:bodyPr>
            <a:lstStyle/>
            <a:p>
              <a:endParaRPr lang="it-IT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3" name="Shape 21"/>
            <p:cNvSpPr/>
            <p:nvPr/>
          </p:nvSpPr>
          <p:spPr>
            <a:xfrm>
              <a:off x="2025360" y="4750200"/>
              <a:ext cx="100080" cy="100080"/>
            </a:xfrm>
            <a:prstGeom prst="ellipse">
              <a:avLst/>
            </a:prstGeom>
            <a:solidFill>
              <a:srgbClr val="F2A900"/>
            </a:solidFill>
            <a:ln w="12700">
              <a:solidFill>
                <a:srgbClr val="F2A9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6280" rIns="90000" bIns="26280" anchor="t">
              <a:noAutofit/>
            </a:bodyPr>
            <a:lstStyle/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4" name="Shape 22"/>
            <p:cNvSpPr/>
            <p:nvPr/>
          </p:nvSpPr>
          <p:spPr>
            <a:xfrm>
              <a:off x="2299680" y="4768560"/>
              <a:ext cx="63720" cy="63720"/>
            </a:xfrm>
            <a:prstGeom prst="ellipse">
              <a:avLst/>
            </a:prstGeom>
            <a:solidFill>
              <a:srgbClr val="2F66D0"/>
            </a:solidFill>
            <a:ln w="12700">
              <a:solidFill>
                <a:srgbClr val="2F66D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0" rIns="90000" bIns="0" anchor="t">
              <a:noAutofit/>
            </a:bodyPr>
            <a:lstStyle/>
            <a:p>
              <a:endParaRPr lang="it-IT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5" name="Shape 23"/>
            <p:cNvSpPr/>
            <p:nvPr/>
          </p:nvSpPr>
          <p:spPr>
            <a:xfrm>
              <a:off x="2555640" y="4768560"/>
              <a:ext cx="63720" cy="63720"/>
            </a:xfrm>
            <a:prstGeom prst="ellipse">
              <a:avLst/>
            </a:prstGeom>
            <a:solidFill>
              <a:srgbClr val="2F66D0"/>
            </a:solidFill>
            <a:ln w="12700">
              <a:solidFill>
                <a:srgbClr val="2F66D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0" rIns="90000" bIns="0" anchor="t">
              <a:noAutofit/>
            </a:bodyPr>
            <a:lstStyle/>
            <a:p>
              <a:endParaRPr lang="it-IT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6" name="Shape 24"/>
            <p:cNvSpPr/>
            <p:nvPr/>
          </p:nvSpPr>
          <p:spPr>
            <a:xfrm>
              <a:off x="2811960" y="4768560"/>
              <a:ext cx="63720" cy="63720"/>
            </a:xfrm>
            <a:prstGeom prst="ellipse">
              <a:avLst/>
            </a:prstGeom>
            <a:solidFill>
              <a:srgbClr val="2F66D0"/>
            </a:solidFill>
            <a:ln w="12700">
              <a:solidFill>
                <a:srgbClr val="2F66D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0" rIns="90000" bIns="0" anchor="t">
              <a:noAutofit/>
            </a:bodyPr>
            <a:lstStyle/>
            <a:p>
              <a:endParaRPr lang="it-IT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7" name="Shape 25"/>
            <p:cNvSpPr/>
            <p:nvPr/>
          </p:nvSpPr>
          <p:spPr>
            <a:xfrm>
              <a:off x="3049560" y="4750200"/>
              <a:ext cx="100080" cy="100080"/>
            </a:xfrm>
            <a:prstGeom prst="ellipse">
              <a:avLst/>
            </a:prstGeom>
            <a:solidFill>
              <a:srgbClr val="F2A900"/>
            </a:solidFill>
            <a:ln w="12700">
              <a:solidFill>
                <a:srgbClr val="F2A9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6280" rIns="90000" bIns="26280" anchor="t">
              <a:noAutofit/>
            </a:bodyPr>
            <a:lstStyle/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8" name="Shape 26"/>
            <p:cNvSpPr/>
            <p:nvPr/>
          </p:nvSpPr>
          <p:spPr>
            <a:xfrm>
              <a:off x="3323880" y="4768560"/>
              <a:ext cx="63720" cy="63720"/>
            </a:xfrm>
            <a:prstGeom prst="ellipse">
              <a:avLst/>
            </a:prstGeom>
            <a:solidFill>
              <a:srgbClr val="2F66D0"/>
            </a:solidFill>
            <a:ln w="12700">
              <a:solidFill>
                <a:srgbClr val="2F66D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0" rIns="90000" bIns="0" anchor="t">
              <a:noAutofit/>
            </a:bodyPr>
            <a:lstStyle/>
            <a:p>
              <a:endParaRPr lang="it-IT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9" name="Shape 27"/>
            <p:cNvSpPr/>
            <p:nvPr/>
          </p:nvSpPr>
          <p:spPr>
            <a:xfrm>
              <a:off x="3579840" y="4768560"/>
              <a:ext cx="63720" cy="63720"/>
            </a:xfrm>
            <a:prstGeom prst="ellipse">
              <a:avLst/>
            </a:prstGeom>
            <a:solidFill>
              <a:srgbClr val="2F66D0"/>
            </a:solidFill>
            <a:ln w="12700">
              <a:solidFill>
                <a:srgbClr val="2F66D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0" rIns="90000" bIns="0" anchor="t">
              <a:noAutofit/>
            </a:bodyPr>
            <a:lstStyle/>
            <a:p>
              <a:endParaRPr lang="it-IT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0" name="Shape 28"/>
            <p:cNvSpPr/>
            <p:nvPr/>
          </p:nvSpPr>
          <p:spPr>
            <a:xfrm>
              <a:off x="3835800" y="4768560"/>
              <a:ext cx="63720" cy="63720"/>
            </a:xfrm>
            <a:prstGeom prst="ellipse">
              <a:avLst/>
            </a:prstGeom>
            <a:solidFill>
              <a:srgbClr val="2F66D0"/>
            </a:solidFill>
            <a:ln w="12700">
              <a:solidFill>
                <a:srgbClr val="2F66D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0" rIns="90000" bIns="0" anchor="t">
              <a:noAutofit/>
            </a:bodyPr>
            <a:lstStyle/>
            <a:p>
              <a:endParaRPr lang="it-IT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1" name="Shape 29"/>
            <p:cNvSpPr/>
            <p:nvPr/>
          </p:nvSpPr>
          <p:spPr>
            <a:xfrm>
              <a:off x="4073760" y="4750200"/>
              <a:ext cx="100080" cy="100080"/>
            </a:xfrm>
            <a:prstGeom prst="ellipse">
              <a:avLst/>
            </a:prstGeom>
            <a:solidFill>
              <a:srgbClr val="F2A900"/>
            </a:solidFill>
            <a:ln w="12700">
              <a:solidFill>
                <a:srgbClr val="F2A9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6280" rIns="90000" bIns="26280" anchor="t">
              <a:noAutofit/>
            </a:bodyPr>
            <a:lstStyle/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2" name="Shape 30"/>
            <p:cNvSpPr/>
            <p:nvPr/>
          </p:nvSpPr>
          <p:spPr>
            <a:xfrm>
              <a:off x="4348080" y="4768560"/>
              <a:ext cx="63720" cy="63720"/>
            </a:xfrm>
            <a:prstGeom prst="ellipse">
              <a:avLst/>
            </a:prstGeom>
            <a:solidFill>
              <a:srgbClr val="2F66D0"/>
            </a:solidFill>
            <a:ln w="12700">
              <a:solidFill>
                <a:srgbClr val="2F66D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0" rIns="90000" bIns="0" anchor="t">
              <a:noAutofit/>
            </a:bodyPr>
            <a:lstStyle/>
            <a:p>
              <a:endParaRPr lang="it-IT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3" name="Shape 31"/>
            <p:cNvSpPr/>
            <p:nvPr/>
          </p:nvSpPr>
          <p:spPr>
            <a:xfrm>
              <a:off x="4604040" y="4768560"/>
              <a:ext cx="63720" cy="63720"/>
            </a:xfrm>
            <a:prstGeom prst="ellipse">
              <a:avLst/>
            </a:prstGeom>
            <a:solidFill>
              <a:srgbClr val="2F66D0"/>
            </a:solidFill>
            <a:ln w="12700">
              <a:solidFill>
                <a:srgbClr val="2F66D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0" rIns="90000" bIns="0" anchor="t">
              <a:noAutofit/>
            </a:bodyPr>
            <a:lstStyle/>
            <a:p>
              <a:endParaRPr lang="it-IT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4" name="Shape 32"/>
            <p:cNvSpPr/>
            <p:nvPr/>
          </p:nvSpPr>
          <p:spPr>
            <a:xfrm>
              <a:off x="4860000" y="4768560"/>
              <a:ext cx="63720" cy="63720"/>
            </a:xfrm>
            <a:prstGeom prst="ellipse">
              <a:avLst/>
            </a:prstGeom>
            <a:solidFill>
              <a:srgbClr val="2F66D0"/>
            </a:solidFill>
            <a:ln w="12700">
              <a:solidFill>
                <a:srgbClr val="2F66D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0" rIns="90000" bIns="0" anchor="t">
              <a:noAutofit/>
            </a:bodyPr>
            <a:lstStyle/>
            <a:p>
              <a:endParaRPr lang="it-IT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5" name="Shape 33"/>
            <p:cNvSpPr/>
            <p:nvPr/>
          </p:nvSpPr>
          <p:spPr>
            <a:xfrm>
              <a:off x="5097960" y="4750200"/>
              <a:ext cx="100080" cy="100080"/>
            </a:xfrm>
            <a:prstGeom prst="ellipse">
              <a:avLst/>
            </a:prstGeom>
            <a:solidFill>
              <a:srgbClr val="F2A900"/>
            </a:solidFill>
            <a:ln w="12700">
              <a:solidFill>
                <a:srgbClr val="F2A9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6280" rIns="90000" bIns="26280" anchor="t">
              <a:noAutofit/>
            </a:bodyPr>
            <a:lstStyle/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6" name="Shape 34"/>
            <p:cNvSpPr/>
            <p:nvPr/>
          </p:nvSpPr>
          <p:spPr>
            <a:xfrm>
              <a:off x="5372280" y="4768560"/>
              <a:ext cx="63720" cy="63720"/>
            </a:xfrm>
            <a:prstGeom prst="ellipse">
              <a:avLst/>
            </a:prstGeom>
            <a:solidFill>
              <a:srgbClr val="2F66D0"/>
            </a:solidFill>
            <a:ln w="12700">
              <a:solidFill>
                <a:srgbClr val="2F66D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0" rIns="90000" bIns="0" anchor="t">
              <a:noAutofit/>
            </a:bodyPr>
            <a:lstStyle/>
            <a:p>
              <a:endParaRPr lang="it-IT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7" name="Shape 35"/>
            <p:cNvSpPr/>
            <p:nvPr/>
          </p:nvSpPr>
          <p:spPr>
            <a:xfrm>
              <a:off x="5628240" y="4768560"/>
              <a:ext cx="63720" cy="63720"/>
            </a:xfrm>
            <a:prstGeom prst="ellipse">
              <a:avLst/>
            </a:prstGeom>
            <a:solidFill>
              <a:srgbClr val="2F66D0"/>
            </a:solidFill>
            <a:ln w="12700">
              <a:solidFill>
                <a:srgbClr val="2F66D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0" rIns="90000" bIns="0" anchor="t">
              <a:noAutofit/>
            </a:bodyPr>
            <a:lstStyle/>
            <a:p>
              <a:endParaRPr lang="it-IT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8" name="Shape 36"/>
            <p:cNvSpPr/>
            <p:nvPr/>
          </p:nvSpPr>
          <p:spPr>
            <a:xfrm>
              <a:off x="5884200" y="4768560"/>
              <a:ext cx="63720" cy="63720"/>
            </a:xfrm>
            <a:prstGeom prst="ellipse">
              <a:avLst/>
            </a:prstGeom>
            <a:solidFill>
              <a:srgbClr val="2F66D0"/>
            </a:solidFill>
            <a:ln w="12700">
              <a:solidFill>
                <a:srgbClr val="2F66D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0" rIns="90000" bIns="0" anchor="t">
              <a:noAutofit/>
            </a:bodyPr>
            <a:lstStyle/>
            <a:p>
              <a:endParaRPr lang="it-IT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9" name="Shape 37"/>
            <p:cNvSpPr/>
            <p:nvPr/>
          </p:nvSpPr>
          <p:spPr>
            <a:xfrm>
              <a:off x="6121800" y="4750200"/>
              <a:ext cx="100080" cy="100080"/>
            </a:xfrm>
            <a:prstGeom prst="ellipse">
              <a:avLst/>
            </a:prstGeom>
            <a:solidFill>
              <a:srgbClr val="F2A900"/>
            </a:solidFill>
            <a:ln w="12700">
              <a:solidFill>
                <a:srgbClr val="F2A9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6280" rIns="90000" bIns="26280" anchor="t">
              <a:noAutofit/>
            </a:bodyPr>
            <a:lstStyle/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0" name="Shape 38"/>
            <p:cNvSpPr/>
            <p:nvPr/>
          </p:nvSpPr>
          <p:spPr>
            <a:xfrm>
              <a:off x="6396120" y="4768560"/>
              <a:ext cx="63720" cy="63720"/>
            </a:xfrm>
            <a:prstGeom prst="ellipse">
              <a:avLst/>
            </a:prstGeom>
            <a:solidFill>
              <a:srgbClr val="2F66D0"/>
            </a:solidFill>
            <a:ln w="12700">
              <a:solidFill>
                <a:srgbClr val="2F66D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0" rIns="90000" bIns="0" anchor="t">
              <a:noAutofit/>
            </a:bodyPr>
            <a:lstStyle/>
            <a:p>
              <a:endParaRPr lang="it-IT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1" name="Shape 39"/>
            <p:cNvSpPr/>
            <p:nvPr/>
          </p:nvSpPr>
          <p:spPr>
            <a:xfrm>
              <a:off x="6652440" y="4768560"/>
              <a:ext cx="63720" cy="63720"/>
            </a:xfrm>
            <a:prstGeom prst="ellipse">
              <a:avLst/>
            </a:prstGeom>
            <a:solidFill>
              <a:srgbClr val="2F66D0"/>
            </a:solidFill>
            <a:ln w="12700">
              <a:solidFill>
                <a:srgbClr val="2F66D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0" rIns="90000" bIns="0" anchor="t">
              <a:noAutofit/>
            </a:bodyPr>
            <a:lstStyle/>
            <a:p>
              <a:endParaRPr lang="it-IT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2" name="Shape 40"/>
            <p:cNvSpPr/>
            <p:nvPr/>
          </p:nvSpPr>
          <p:spPr>
            <a:xfrm>
              <a:off x="6908400" y="4768560"/>
              <a:ext cx="63720" cy="63720"/>
            </a:xfrm>
            <a:prstGeom prst="ellipse">
              <a:avLst/>
            </a:prstGeom>
            <a:solidFill>
              <a:srgbClr val="2F66D0"/>
            </a:solidFill>
            <a:ln w="12700">
              <a:solidFill>
                <a:srgbClr val="2F66D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0" rIns="90000" bIns="0" anchor="t">
              <a:noAutofit/>
            </a:bodyPr>
            <a:lstStyle/>
            <a:p>
              <a:endParaRPr lang="it-IT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CD82F328-5AA6-32C5-A8F6-B9A0F6D7A5D9}"/>
              </a:ext>
            </a:extLst>
          </p:cNvPr>
          <p:cNvSpPr txBox="1"/>
          <p:nvPr/>
        </p:nvSpPr>
        <p:spPr>
          <a:xfrm>
            <a:off x="8290500" y="3648350"/>
            <a:ext cx="20443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/>
              <a:t>- 0.08 kernel </a:t>
            </a:r>
            <a:r>
              <a:rPr lang="it-IT" sz="1400" b="1" dirty="0" err="1"/>
              <a:t>span</a:t>
            </a:r>
            <a:endParaRPr lang="it-IT" sz="1400" b="1" dirty="0"/>
          </a:p>
          <a:p>
            <a:r>
              <a:rPr lang="it-IT" sz="1400" b="1" dirty="0"/>
              <a:t>- 0.12 </a:t>
            </a:r>
            <a:r>
              <a:rPr lang="it-IT" sz="1400" b="1" dirty="0" err="1"/>
              <a:t>receptive</a:t>
            </a:r>
            <a:r>
              <a:rPr lang="it-IT" sz="1400" b="1" dirty="0"/>
              <a:t> field</a:t>
            </a:r>
            <a:endParaRPr lang="en-GB" sz="1400" b="1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2096C06-3D3C-FA9B-16D7-D96BCB2CD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Pooling provides some (limited) shift tolerance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AA5CA59-4254-0039-10C2-AE674DBD28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Suppose a filter strongly activates when it detects a peak.</a:t>
            </a:r>
          </a:p>
          <a:p>
            <a:r>
              <a:rPr lang="en-GB" dirty="0"/>
              <a:t>Two otherwise similar sequences contain the peak at slightly different positions.</a:t>
            </a:r>
          </a:p>
          <a:p>
            <a:pPr lvl="1"/>
            <a:r>
              <a:rPr lang="en-GB" dirty="0"/>
              <a:t>Without pooling:</a:t>
            </a:r>
          </a:p>
          <a:p>
            <a:pPr lvl="1"/>
            <a:r>
              <a:rPr lang="en-GB" dirty="0"/>
              <a:t>Sequence A activation: 0 0 5 0 0</a:t>
            </a:r>
          </a:p>
          <a:p>
            <a:pPr lvl="1"/>
            <a:r>
              <a:rPr lang="en-GB" dirty="0"/>
              <a:t>Sequence B activation: 0 0 0 5 0</a:t>
            </a:r>
          </a:p>
          <a:p>
            <a:pPr lvl="1"/>
            <a:r>
              <a:rPr lang="en-GB" dirty="0"/>
              <a:t>The feature maps differ in exact position.</a:t>
            </a:r>
          </a:p>
          <a:p>
            <a:r>
              <a:rPr lang="en-GB" b="1" dirty="0"/>
              <a:t>After suitable max pooling, both may produce similar pooled representations</a:t>
            </a:r>
            <a:r>
              <a:rPr lang="en-GB" dirty="0"/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364221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FF1F4-9B2F-112B-3AE8-E570E5649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2AA25B4-45AC-4299-1A48-069091FA6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Pooling provides limited shift tolerance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4C0C7C-1BD3-6461-FB0A-3EC9B63E0E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Benefit</a:t>
            </a:r>
          </a:p>
          <a:p>
            <a:r>
              <a:rPr lang="en-GB" dirty="0"/>
              <a:t>This provides some tolerance to:</a:t>
            </a:r>
          </a:p>
          <a:p>
            <a:pPr lvl="1"/>
            <a:r>
              <a:rPr lang="en-GB" dirty="0"/>
              <a:t>small timing variation; </a:t>
            </a:r>
          </a:p>
          <a:p>
            <a:pPr lvl="1"/>
            <a:r>
              <a:rPr lang="en-GB" dirty="0"/>
              <a:t>slight misalignment; </a:t>
            </a:r>
          </a:p>
          <a:p>
            <a:pPr lvl="1"/>
            <a:r>
              <a:rPr lang="en-GB" dirty="0"/>
              <a:t>local temporal shifts. </a:t>
            </a:r>
          </a:p>
          <a:p>
            <a:endParaRPr lang="en-GB" b="1" dirty="0"/>
          </a:p>
          <a:p>
            <a:r>
              <a:rPr lang="en-GB" b="1" dirty="0"/>
              <a:t>Important distinction from DTW</a:t>
            </a:r>
          </a:p>
          <a:p>
            <a:pPr lvl="1"/>
            <a:r>
              <a:rPr lang="en-GB" dirty="0"/>
              <a:t>Pooling provides only </a:t>
            </a:r>
            <a:r>
              <a:rPr lang="en-GB" b="1" dirty="0"/>
              <a:t>local tolerance</a:t>
            </a:r>
            <a:r>
              <a:rPr lang="en-GB" dirty="0"/>
              <a:t> to shifts.</a:t>
            </a:r>
          </a:p>
          <a:p>
            <a:pPr lvl="1"/>
            <a:r>
              <a:rPr lang="en-GB" dirty="0"/>
              <a:t>It does not perform explicit nonlinear temporal alignment like Dynamic Time Warping.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140878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Shape 0"/>
          <p:cNvSpPr/>
          <p:nvPr/>
        </p:nvSpPr>
        <p:spPr>
          <a:xfrm>
            <a:off x="11466720" y="0"/>
            <a:ext cx="722160" cy="6857640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Shape 1"/>
          <p:cNvSpPr/>
          <p:nvPr/>
        </p:nvSpPr>
        <p:spPr>
          <a:xfrm>
            <a:off x="11301840" y="0"/>
            <a:ext cx="54360" cy="6857640"/>
          </a:xfrm>
          <a:prstGeom prst="rect">
            <a:avLst/>
          </a:prstGeom>
          <a:solidFill>
            <a:srgbClr val="E7F4D2"/>
          </a:solidFill>
          <a:ln w="12700">
            <a:solidFill>
              <a:srgbClr val="E7F4D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 2"/>
          <p:cNvSpPr/>
          <p:nvPr/>
        </p:nvSpPr>
        <p:spPr>
          <a:xfrm>
            <a:off x="502920" y="320040"/>
            <a:ext cx="105609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Pooling provides limited shift tolerance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Text 3"/>
          <p:cNvSpPr/>
          <p:nvPr/>
        </p:nvSpPr>
        <p:spPr>
          <a:xfrm>
            <a:off x="502920" y="841320"/>
            <a:ext cx="103323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 dirty="0">
                <a:solidFill>
                  <a:srgbClr val="506070"/>
                </a:solidFill>
                <a:effectLst/>
                <a:uFillTx/>
                <a:latin typeface="Aptos"/>
              </a:rPr>
              <a:t>Small temporal shifts may produce similar pooled representations.</a:t>
            </a:r>
            <a:endParaRPr lang="it-IT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Shape 4"/>
          <p:cNvSpPr/>
          <p:nvPr/>
        </p:nvSpPr>
        <p:spPr>
          <a:xfrm>
            <a:off x="502920" y="6364080"/>
            <a:ext cx="10240920" cy="383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5D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 5"/>
          <p:cNvSpPr/>
          <p:nvPr/>
        </p:nvSpPr>
        <p:spPr>
          <a:xfrm>
            <a:off x="594360" y="6455520"/>
            <a:ext cx="1005804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 dirty="0">
                <a:solidFill>
                  <a:srgbClr val="111827"/>
                </a:solidFill>
                <a:effectLst/>
                <a:uFillTx/>
                <a:latin typeface="Aptos"/>
              </a:rPr>
              <a:t>Pooling is not DTW; it only provides </a:t>
            </a:r>
            <a:r>
              <a:rPr lang="en-US" sz="1000" b="1" u="none" strike="noStrike" dirty="0">
                <a:solidFill>
                  <a:srgbClr val="111827"/>
                </a:solidFill>
                <a:effectLst/>
                <a:uFillTx/>
                <a:latin typeface="Aptos"/>
              </a:rPr>
              <a:t>local tolerance </a:t>
            </a:r>
            <a:r>
              <a:rPr lang="en-US" sz="1000" b="0" u="none" strike="noStrike" dirty="0">
                <a:solidFill>
                  <a:srgbClr val="111827"/>
                </a:solidFill>
                <a:effectLst/>
                <a:uFillTx/>
                <a:latin typeface="Aptos"/>
              </a:rPr>
              <a:t>to timing changes.</a:t>
            </a:r>
            <a:endParaRPr lang="it-IT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Text 6"/>
          <p:cNvSpPr/>
          <p:nvPr/>
        </p:nvSpPr>
        <p:spPr>
          <a:xfrm>
            <a:off x="914400" y="1234440"/>
            <a:ext cx="29257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Activation maps before pooling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Shape 7"/>
          <p:cNvSpPr/>
          <p:nvPr/>
        </p:nvSpPr>
        <p:spPr>
          <a:xfrm>
            <a:off x="914400" y="1828800"/>
            <a:ext cx="365400" cy="319680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 8"/>
          <p:cNvSpPr/>
          <p:nvPr/>
        </p:nvSpPr>
        <p:spPr>
          <a:xfrm>
            <a:off x="941760" y="1888200"/>
            <a:ext cx="310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0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Shape 9"/>
          <p:cNvSpPr/>
          <p:nvPr/>
        </p:nvSpPr>
        <p:spPr>
          <a:xfrm>
            <a:off x="1417320" y="1828800"/>
            <a:ext cx="365400" cy="319680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 10"/>
          <p:cNvSpPr/>
          <p:nvPr/>
        </p:nvSpPr>
        <p:spPr>
          <a:xfrm>
            <a:off x="1444680" y="1888200"/>
            <a:ext cx="310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0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Shape 11"/>
          <p:cNvSpPr/>
          <p:nvPr/>
        </p:nvSpPr>
        <p:spPr>
          <a:xfrm>
            <a:off x="1920240" y="1828800"/>
            <a:ext cx="365400" cy="319680"/>
          </a:xfrm>
          <a:prstGeom prst="roundRect">
            <a:avLst>
              <a:gd name="adj" fmla="val 14286"/>
            </a:avLst>
          </a:prstGeom>
          <a:solidFill>
            <a:srgbClr val="E7F4D2"/>
          </a:solidFill>
          <a:ln w="15240">
            <a:solidFill>
              <a:srgbClr val="86BC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 12"/>
          <p:cNvSpPr/>
          <p:nvPr/>
        </p:nvSpPr>
        <p:spPr>
          <a:xfrm>
            <a:off x="1947600" y="1888200"/>
            <a:ext cx="310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5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Shape 13"/>
          <p:cNvSpPr/>
          <p:nvPr/>
        </p:nvSpPr>
        <p:spPr>
          <a:xfrm>
            <a:off x="2423160" y="1828800"/>
            <a:ext cx="365400" cy="319680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Text 14"/>
          <p:cNvSpPr/>
          <p:nvPr/>
        </p:nvSpPr>
        <p:spPr>
          <a:xfrm>
            <a:off x="2450520" y="1888200"/>
            <a:ext cx="310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0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Shape 15"/>
          <p:cNvSpPr/>
          <p:nvPr/>
        </p:nvSpPr>
        <p:spPr>
          <a:xfrm>
            <a:off x="2926080" y="1828800"/>
            <a:ext cx="365400" cy="319680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Text 16"/>
          <p:cNvSpPr/>
          <p:nvPr/>
        </p:nvSpPr>
        <p:spPr>
          <a:xfrm>
            <a:off x="2953440" y="1888200"/>
            <a:ext cx="310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0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 17"/>
          <p:cNvSpPr/>
          <p:nvPr/>
        </p:nvSpPr>
        <p:spPr>
          <a:xfrm>
            <a:off x="914400" y="1600200"/>
            <a:ext cx="109692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Sequence A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Shape 18"/>
          <p:cNvSpPr/>
          <p:nvPr/>
        </p:nvSpPr>
        <p:spPr>
          <a:xfrm>
            <a:off x="914400" y="2743200"/>
            <a:ext cx="365400" cy="319680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Text 19"/>
          <p:cNvSpPr/>
          <p:nvPr/>
        </p:nvSpPr>
        <p:spPr>
          <a:xfrm>
            <a:off x="941760" y="2802600"/>
            <a:ext cx="310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0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Shape 20"/>
          <p:cNvSpPr/>
          <p:nvPr/>
        </p:nvSpPr>
        <p:spPr>
          <a:xfrm>
            <a:off x="1417320" y="2743200"/>
            <a:ext cx="365400" cy="319680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 21"/>
          <p:cNvSpPr/>
          <p:nvPr/>
        </p:nvSpPr>
        <p:spPr>
          <a:xfrm>
            <a:off x="1444680" y="2802600"/>
            <a:ext cx="310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0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Shape 22"/>
          <p:cNvSpPr/>
          <p:nvPr/>
        </p:nvSpPr>
        <p:spPr>
          <a:xfrm>
            <a:off x="1920240" y="2743200"/>
            <a:ext cx="365400" cy="319680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Text 23"/>
          <p:cNvSpPr/>
          <p:nvPr/>
        </p:nvSpPr>
        <p:spPr>
          <a:xfrm>
            <a:off x="1947600" y="2802600"/>
            <a:ext cx="310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0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Shape 24"/>
          <p:cNvSpPr/>
          <p:nvPr/>
        </p:nvSpPr>
        <p:spPr>
          <a:xfrm>
            <a:off x="2423160" y="2743200"/>
            <a:ext cx="365400" cy="319680"/>
          </a:xfrm>
          <a:prstGeom prst="roundRect">
            <a:avLst>
              <a:gd name="adj" fmla="val 14286"/>
            </a:avLst>
          </a:prstGeom>
          <a:solidFill>
            <a:srgbClr val="E7F4D2"/>
          </a:solidFill>
          <a:ln w="15240">
            <a:solidFill>
              <a:srgbClr val="86BC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Text 25"/>
          <p:cNvSpPr/>
          <p:nvPr/>
        </p:nvSpPr>
        <p:spPr>
          <a:xfrm>
            <a:off x="2450520" y="2802600"/>
            <a:ext cx="310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5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Shape 26"/>
          <p:cNvSpPr/>
          <p:nvPr/>
        </p:nvSpPr>
        <p:spPr>
          <a:xfrm>
            <a:off x="2926080" y="2743200"/>
            <a:ext cx="365400" cy="319680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Text 27"/>
          <p:cNvSpPr/>
          <p:nvPr/>
        </p:nvSpPr>
        <p:spPr>
          <a:xfrm>
            <a:off x="2953440" y="2802600"/>
            <a:ext cx="310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0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Text 28"/>
          <p:cNvSpPr/>
          <p:nvPr/>
        </p:nvSpPr>
        <p:spPr>
          <a:xfrm>
            <a:off x="914400" y="2514600"/>
            <a:ext cx="109692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Sequence B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Shape 29"/>
          <p:cNvSpPr/>
          <p:nvPr/>
        </p:nvSpPr>
        <p:spPr>
          <a:xfrm>
            <a:off x="3840480" y="2377440"/>
            <a:ext cx="1005840" cy="360"/>
          </a:xfrm>
          <a:prstGeom prst="line">
            <a:avLst/>
          </a:prstGeom>
          <a:ln w="15240">
            <a:solidFill>
              <a:srgbClr val="6B728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 30"/>
          <p:cNvSpPr/>
          <p:nvPr/>
        </p:nvSpPr>
        <p:spPr>
          <a:xfrm>
            <a:off x="4480560" y="1554480"/>
            <a:ext cx="36572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dirty="0">
                <a:solidFill>
                  <a:srgbClr val="111827"/>
                </a:solidFill>
                <a:effectLst/>
                <a:uFillTx/>
                <a:latin typeface="Aptos"/>
              </a:rPr>
              <a:t>After max pooling over a suitable region</a:t>
            </a:r>
            <a:endParaRPr lang="it-IT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Shape 31"/>
          <p:cNvSpPr/>
          <p:nvPr/>
        </p:nvSpPr>
        <p:spPr>
          <a:xfrm>
            <a:off x="5577840" y="2057400"/>
            <a:ext cx="2742840" cy="914040"/>
          </a:xfrm>
          <a:prstGeom prst="roundRect">
            <a:avLst>
              <a:gd name="adj" fmla="val 5000"/>
            </a:avLst>
          </a:prstGeom>
          <a:solidFill>
            <a:srgbClr val="E7F4D2"/>
          </a:solidFill>
          <a:ln w="15240">
            <a:solidFill>
              <a:srgbClr val="86BC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Text 32"/>
          <p:cNvSpPr/>
          <p:nvPr/>
        </p:nvSpPr>
        <p:spPr>
          <a:xfrm>
            <a:off x="5605200" y="2414160"/>
            <a:ext cx="2688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same strong evidence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peak detected in region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Text 33"/>
          <p:cNvSpPr/>
          <p:nvPr/>
        </p:nvSpPr>
        <p:spPr>
          <a:xfrm>
            <a:off x="5852160" y="3337560"/>
            <a:ext cx="2285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exact location is less important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FD36467-7997-0487-DFE5-1F9529506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Pooling can be harmful when exact timing matters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C9FD407-AF7B-21EF-16C6-4E9D28CB46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6653299" cy="3880772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Consider sequence labelling.</a:t>
            </a:r>
          </a:p>
          <a:p>
            <a:pPr lvl="1"/>
            <a:r>
              <a:rPr lang="en-GB" dirty="0"/>
              <a:t>Input:</a:t>
            </a:r>
          </a:p>
          <a:p>
            <a:pPr lvl="2"/>
            <a:r>
              <a:rPr lang="en-GB" dirty="0"/>
              <a:t>time:        1 2 3 4 5 6 7 8</a:t>
            </a:r>
          </a:p>
          <a:p>
            <a:pPr lvl="2"/>
            <a:r>
              <a:rPr lang="en-GB" dirty="0"/>
              <a:t>true label:  N </a:t>
            </a:r>
            <a:r>
              <a:rPr lang="en-GB" dirty="0" err="1"/>
              <a:t>N</a:t>
            </a:r>
            <a:r>
              <a:rPr lang="en-GB" dirty="0"/>
              <a:t> </a:t>
            </a:r>
            <a:r>
              <a:rPr lang="en-GB" dirty="0" err="1"/>
              <a:t>N</a:t>
            </a:r>
            <a:r>
              <a:rPr lang="en-GB" dirty="0"/>
              <a:t> F </a:t>
            </a:r>
            <a:r>
              <a:rPr lang="en-GB" dirty="0" err="1"/>
              <a:t>F</a:t>
            </a:r>
            <a:r>
              <a:rPr lang="en-GB" dirty="0"/>
              <a:t> </a:t>
            </a:r>
            <a:r>
              <a:rPr lang="en-GB" dirty="0" err="1"/>
              <a:t>F</a:t>
            </a:r>
            <a:r>
              <a:rPr lang="en-GB" dirty="0"/>
              <a:t> N </a:t>
            </a:r>
            <a:r>
              <a:rPr lang="en-GB" dirty="0" err="1"/>
              <a:t>N</a:t>
            </a:r>
            <a:endParaRPr lang="en-GB" dirty="0"/>
          </a:p>
          <a:p>
            <a:r>
              <a:rPr lang="en-GB" dirty="0"/>
              <a:t>If the representation is </a:t>
            </a:r>
            <a:r>
              <a:rPr lang="en-GB" dirty="0" err="1"/>
              <a:t>downsampled</a:t>
            </a:r>
            <a:r>
              <a:rPr lang="en-GB" dirty="0"/>
              <a:t> heavily, the model may know that a fault occurred in a region but not precisely when it began.</a:t>
            </a:r>
          </a:p>
          <a:p>
            <a:r>
              <a:rPr lang="en-GB" b="1" dirty="0">
                <a:highlight>
                  <a:srgbClr val="FFFF00"/>
                </a:highlight>
              </a:rPr>
              <a:t>Tasks where temporal precision matters</a:t>
            </a:r>
          </a:p>
          <a:p>
            <a:pPr lvl="1"/>
            <a:r>
              <a:rPr lang="en-GB" dirty="0"/>
              <a:t>event onset detection; </a:t>
            </a:r>
          </a:p>
          <a:p>
            <a:pPr lvl="1"/>
            <a:r>
              <a:rPr lang="en-GB" dirty="0"/>
              <a:t>sequence segmentation; </a:t>
            </a:r>
          </a:p>
          <a:p>
            <a:pPr lvl="1"/>
            <a:r>
              <a:rPr lang="en-GB" dirty="0"/>
              <a:t>per-time-step classification; </a:t>
            </a:r>
          </a:p>
          <a:p>
            <a:pPr lvl="1"/>
            <a:r>
              <a:rPr lang="en-GB" dirty="0"/>
              <a:t>precise anomaly localisation. 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B384348-E243-18F0-DF45-D4AF3A4F46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25883" y="2367627"/>
            <a:ext cx="4184034" cy="3880773"/>
          </a:xfrm>
        </p:spPr>
        <p:txBody>
          <a:bodyPr>
            <a:normAutofit fontScale="92500" lnSpcReduction="10000"/>
          </a:bodyPr>
          <a:lstStyle/>
          <a:p>
            <a:r>
              <a:rPr lang="en-GB" b="1" dirty="0">
                <a:highlight>
                  <a:srgbClr val="FFFF00"/>
                </a:highlight>
              </a:rPr>
              <a:t>In these tasks</a:t>
            </a:r>
          </a:p>
          <a:p>
            <a:r>
              <a:rPr lang="en-GB" dirty="0">
                <a:highlight>
                  <a:srgbClr val="FFFF00"/>
                </a:highlight>
              </a:rPr>
              <a:t>We may prefer:</a:t>
            </a:r>
          </a:p>
          <a:p>
            <a:pPr lvl="1"/>
            <a:r>
              <a:rPr lang="en-GB" dirty="0"/>
              <a:t>stride 1; </a:t>
            </a:r>
          </a:p>
          <a:p>
            <a:pPr lvl="1"/>
            <a:r>
              <a:rPr lang="en-GB" dirty="0"/>
              <a:t>limited pooling; </a:t>
            </a:r>
          </a:p>
          <a:p>
            <a:pPr lvl="1"/>
            <a:r>
              <a:rPr lang="en-GB" dirty="0"/>
              <a:t>same padding; </a:t>
            </a:r>
          </a:p>
          <a:p>
            <a:pPr lvl="1"/>
            <a:r>
              <a:rPr lang="en-GB" dirty="0"/>
              <a:t>architectures that restore temporal resolution later. 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8C4E32F-1A36-304A-0EB1-996BF3FC52F8}"/>
              </a:ext>
            </a:extLst>
          </p:cNvPr>
          <p:cNvSpPr txBox="1"/>
          <p:nvPr/>
        </p:nvSpPr>
        <p:spPr>
          <a:xfrm>
            <a:off x="7475008" y="5602069"/>
            <a:ext cx="40396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>
                <a:highlight>
                  <a:srgbClr val="FFFF00"/>
                </a:highlight>
              </a:rPr>
              <a:t>Pooling trades temporal precision for compactness and invariance</a:t>
            </a:r>
          </a:p>
        </p:txBody>
      </p:sp>
    </p:spTree>
    <p:extLst>
      <p:ext uri="{BB962C8B-B14F-4D97-AF65-F5344CB8AC3E}">
        <p14:creationId xmlns:p14="http://schemas.microsoft.com/office/powerpoint/2010/main" val="146770966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Shape 0"/>
          <p:cNvSpPr/>
          <p:nvPr/>
        </p:nvSpPr>
        <p:spPr>
          <a:xfrm>
            <a:off x="11466720" y="0"/>
            <a:ext cx="722160" cy="6857640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Shape 1"/>
          <p:cNvSpPr/>
          <p:nvPr/>
        </p:nvSpPr>
        <p:spPr>
          <a:xfrm>
            <a:off x="11301840" y="0"/>
            <a:ext cx="54360" cy="6857640"/>
          </a:xfrm>
          <a:prstGeom prst="rect">
            <a:avLst/>
          </a:prstGeom>
          <a:solidFill>
            <a:srgbClr val="E7F4D2"/>
          </a:solidFill>
          <a:ln w="12700">
            <a:solidFill>
              <a:srgbClr val="E7F4D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Text 2"/>
          <p:cNvSpPr/>
          <p:nvPr/>
        </p:nvSpPr>
        <p:spPr>
          <a:xfrm>
            <a:off x="502920" y="320040"/>
            <a:ext cx="105609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Pooling can be harmful when exact timing matters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Text 3"/>
          <p:cNvSpPr/>
          <p:nvPr/>
        </p:nvSpPr>
        <p:spPr>
          <a:xfrm>
            <a:off x="502920" y="841320"/>
            <a:ext cx="103323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dirty="0" err="1">
                <a:solidFill>
                  <a:srgbClr val="506070"/>
                </a:solidFill>
                <a:effectLst/>
                <a:uFillTx/>
                <a:latin typeface="Aptos"/>
              </a:rPr>
              <a:t>Downsampling</a:t>
            </a:r>
            <a:r>
              <a:rPr lang="en-US" sz="1400" b="0" u="none" strike="noStrike" dirty="0">
                <a:solidFill>
                  <a:srgbClr val="506070"/>
                </a:solidFill>
                <a:effectLst/>
                <a:uFillTx/>
                <a:latin typeface="Aptos"/>
              </a:rPr>
              <a:t> may preserve that something happened, but not precisely when.</a:t>
            </a:r>
            <a:endParaRPr lang="it-IT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Shape 4"/>
          <p:cNvSpPr/>
          <p:nvPr/>
        </p:nvSpPr>
        <p:spPr>
          <a:xfrm>
            <a:off x="502920" y="6364080"/>
            <a:ext cx="10240920" cy="383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5D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Text 5"/>
          <p:cNvSpPr/>
          <p:nvPr/>
        </p:nvSpPr>
        <p:spPr>
          <a:xfrm>
            <a:off x="594360" y="6455520"/>
            <a:ext cx="1005804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dirty="0">
                <a:solidFill>
                  <a:srgbClr val="111827"/>
                </a:solidFill>
                <a:effectLst/>
                <a:uFillTx/>
                <a:latin typeface="Aptos"/>
              </a:rPr>
              <a:t>Sequence labelling and event onset detection often require limited </a:t>
            </a:r>
            <a:r>
              <a:rPr lang="en-US" sz="1100" b="1" u="none" strike="noStrike" dirty="0" err="1">
                <a:solidFill>
                  <a:srgbClr val="111827"/>
                </a:solidFill>
                <a:effectLst/>
                <a:uFillTx/>
                <a:latin typeface="Aptos"/>
              </a:rPr>
              <a:t>downsampling</a:t>
            </a:r>
            <a:r>
              <a:rPr lang="en-US" sz="1100" b="1" u="none" strike="noStrike" dirty="0">
                <a:solidFill>
                  <a:srgbClr val="111827"/>
                </a:solidFill>
                <a:effectLst/>
                <a:uFillTx/>
                <a:latin typeface="Aptos"/>
              </a:rPr>
              <a:t>.</a:t>
            </a:r>
            <a:endParaRPr lang="it-IT" sz="11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Text 6"/>
          <p:cNvSpPr/>
          <p:nvPr/>
        </p:nvSpPr>
        <p:spPr>
          <a:xfrm>
            <a:off x="914400" y="1325880"/>
            <a:ext cx="27428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True labels at each time step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Shape 7"/>
          <p:cNvSpPr/>
          <p:nvPr/>
        </p:nvSpPr>
        <p:spPr>
          <a:xfrm>
            <a:off x="914400" y="1828800"/>
            <a:ext cx="383760" cy="319680"/>
          </a:xfrm>
          <a:prstGeom prst="roundRect">
            <a:avLst>
              <a:gd name="adj" fmla="val 14286"/>
            </a:avLst>
          </a:prstGeom>
          <a:solidFill>
            <a:srgbClr val="EAF2FF"/>
          </a:solidFill>
          <a:ln w="15240">
            <a:solidFill>
              <a:srgbClr val="2F6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 8"/>
          <p:cNvSpPr/>
          <p:nvPr/>
        </p:nvSpPr>
        <p:spPr>
          <a:xfrm>
            <a:off x="941760" y="188820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N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Shape 9"/>
          <p:cNvSpPr/>
          <p:nvPr/>
        </p:nvSpPr>
        <p:spPr>
          <a:xfrm>
            <a:off x="1417320" y="1828800"/>
            <a:ext cx="383760" cy="319680"/>
          </a:xfrm>
          <a:prstGeom prst="roundRect">
            <a:avLst>
              <a:gd name="adj" fmla="val 14286"/>
            </a:avLst>
          </a:prstGeom>
          <a:solidFill>
            <a:srgbClr val="EAF2FF"/>
          </a:solidFill>
          <a:ln w="15240">
            <a:solidFill>
              <a:srgbClr val="2F6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Text 10"/>
          <p:cNvSpPr/>
          <p:nvPr/>
        </p:nvSpPr>
        <p:spPr>
          <a:xfrm>
            <a:off x="1444680" y="188820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N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Shape 11"/>
          <p:cNvSpPr/>
          <p:nvPr/>
        </p:nvSpPr>
        <p:spPr>
          <a:xfrm>
            <a:off x="1920240" y="1828800"/>
            <a:ext cx="383760" cy="319680"/>
          </a:xfrm>
          <a:prstGeom prst="roundRect">
            <a:avLst>
              <a:gd name="adj" fmla="val 14286"/>
            </a:avLst>
          </a:prstGeom>
          <a:solidFill>
            <a:srgbClr val="EAF2FF"/>
          </a:solidFill>
          <a:ln w="15240">
            <a:solidFill>
              <a:srgbClr val="2F6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Text 12"/>
          <p:cNvSpPr/>
          <p:nvPr/>
        </p:nvSpPr>
        <p:spPr>
          <a:xfrm>
            <a:off x="1947600" y="188820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N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Shape 13"/>
          <p:cNvSpPr/>
          <p:nvPr/>
        </p:nvSpPr>
        <p:spPr>
          <a:xfrm>
            <a:off x="2423160" y="1828800"/>
            <a:ext cx="383760" cy="319680"/>
          </a:xfrm>
          <a:prstGeom prst="roundRect">
            <a:avLst>
              <a:gd name="adj" fmla="val 14286"/>
            </a:avLst>
          </a:prstGeom>
          <a:solidFill>
            <a:srgbClr val="FFECE9"/>
          </a:solidFill>
          <a:ln w="15240">
            <a:solidFill>
              <a:srgbClr val="E94B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Text 14"/>
          <p:cNvSpPr/>
          <p:nvPr/>
        </p:nvSpPr>
        <p:spPr>
          <a:xfrm>
            <a:off x="2450520" y="188820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F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Shape 15"/>
          <p:cNvSpPr/>
          <p:nvPr/>
        </p:nvSpPr>
        <p:spPr>
          <a:xfrm>
            <a:off x="2926080" y="1828800"/>
            <a:ext cx="383760" cy="319680"/>
          </a:xfrm>
          <a:prstGeom prst="roundRect">
            <a:avLst>
              <a:gd name="adj" fmla="val 14286"/>
            </a:avLst>
          </a:prstGeom>
          <a:solidFill>
            <a:srgbClr val="FFECE9"/>
          </a:solidFill>
          <a:ln w="15240">
            <a:solidFill>
              <a:srgbClr val="E94B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Text 16"/>
          <p:cNvSpPr/>
          <p:nvPr/>
        </p:nvSpPr>
        <p:spPr>
          <a:xfrm>
            <a:off x="2953440" y="188820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F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Shape 17"/>
          <p:cNvSpPr/>
          <p:nvPr/>
        </p:nvSpPr>
        <p:spPr>
          <a:xfrm>
            <a:off x="3429000" y="1828800"/>
            <a:ext cx="383760" cy="319680"/>
          </a:xfrm>
          <a:prstGeom prst="roundRect">
            <a:avLst>
              <a:gd name="adj" fmla="val 14286"/>
            </a:avLst>
          </a:prstGeom>
          <a:solidFill>
            <a:srgbClr val="FFECE9"/>
          </a:solidFill>
          <a:ln w="15240">
            <a:solidFill>
              <a:srgbClr val="E94B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Text 18"/>
          <p:cNvSpPr/>
          <p:nvPr/>
        </p:nvSpPr>
        <p:spPr>
          <a:xfrm>
            <a:off x="3456360" y="188820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F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Shape 19"/>
          <p:cNvSpPr/>
          <p:nvPr/>
        </p:nvSpPr>
        <p:spPr>
          <a:xfrm>
            <a:off x="3931920" y="1828800"/>
            <a:ext cx="383760" cy="319680"/>
          </a:xfrm>
          <a:prstGeom prst="roundRect">
            <a:avLst>
              <a:gd name="adj" fmla="val 14286"/>
            </a:avLst>
          </a:prstGeom>
          <a:solidFill>
            <a:srgbClr val="EAF2FF"/>
          </a:solidFill>
          <a:ln w="15240">
            <a:solidFill>
              <a:srgbClr val="2F6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Text 20"/>
          <p:cNvSpPr/>
          <p:nvPr/>
        </p:nvSpPr>
        <p:spPr>
          <a:xfrm>
            <a:off x="3959280" y="188820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N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Shape 21"/>
          <p:cNvSpPr/>
          <p:nvPr/>
        </p:nvSpPr>
        <p:spPr>
          <a:xfrm>
            <a:off x="4434840" y="1828800"/>
            <a:ext cx="383760" cy="319680"/>
          </a:xfrm>
          <a:prstGeom prst="roundRect">
            <a:avLst>
              <a:gd name="adj" fmla="val 14286"/>
            </a:avLst>
          </a:prstGeom>
          <a:solidFill>
            <a:srgbClr val="EAF2FF"/>
          </a:solidFill>
          <a:ln w="15240">
            <a:solidFill>
              <a:srgbClr val="2F6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Text 22"/>
          <p:cNvSpPr/>
          <p:nvPr/>
        </p:nvSpPr>
        <p:spPr>
          <a:xfrm>
            <a:off x="4462200" y="188820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N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Text 23"/>
          <p:cNvSpPr/>
          <p:nvPr/>
        </p:nvSpPr>
        <p:spPr>
          <a:xfrm>
            <a:off x="2423160" y="233172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E94B35"/>
                </a:solidFill>
                <a:effectLst/>
                <a:uFillTx/>
                <a:latin typeface="Aptos"/>
              </a:rPr>
              <a:t>fault onset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Shape 24"/>
          <p:cNvSpPr/>
          <p:nvPr/>
        </p:nvSpPr>
        <p:spPr>
          <a:xfrm flipV="1">
            <a:off x="2697480" y="2057400"/>
            <a:ext cx="360" cy="228600"/>
          </a:xfrm>
          <a:prstGeom prst="line">
            <a:avLst/>
          </a:prstGeom>
          <a:ln w="12700">
            <a:solidFill>
              <a:srgbClr val="E94B3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Shape 25"/>
          <p:cNvSpPr/>
          <p:nvPr/>
        </p:nvSpPr>
        <p:spPr>
          <a:xfrm>
            <a:off x="4206240" y="2011680"/>
            <a:ext cx="1188720" cy="360"/>
          </a:xfrm>
          <a:prstGeom prst="line">
            <a:avLst/>
          </a:prstGeom>
          <a:ln w="16510">
            <a:solidFill>
              <a:srgbClr val="6B728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Shape 26"/>
          <p:cNvSpPr/>
          <p:nvPr/>
        </p:nvSpPr>
        <p:spPr>
          <a:xfrm>
            <a:off x="5577840" y="1691640"/>
            <a:ext cx="2011320" cy="639720"/>
          </a:xfrm>
          <a:prstGeom prst="roundRect">
            <a:avLst>
              <a:gd name="adj" fmla="val 7143"/>
            </a:avLst>
          </a:prstGeom>
          <a:solidFill>
            <a:srgbClr val="FFF4D7"/>
          </a:solidFill>
          <a:ln w="15240">
            <a:solidFill>
              <a:srgbClr val="F2A9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Text 27"/>
          <p:cNvSpPr/>
          <p:nvPr/>
        </p:nvSpPr>
        <p:spPr>
          <a:xfrm>
            <a:off x="5605200" y="1911240"/>
            <a:ext cx="19566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heavy downsampling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Shape 28"/>
          <p:cNvSpPr/>
          <p:nvPr/>
        </p:nvSpPr>
        <p:spPr>
          <a:xfrm>
            <a:off x="7772400" y="2011680"/>
            <a:ext cx="1005840" cy="360"/>
          </a:xfrm>
          <a:prstGeom prst="line">
            <a:avLst/>
          </a:prstGeom>
          <a:ln w="16510">
            <a:solidFill>
              <a:srgbClr val="6B728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Shape 29"/>
          <p:cNvSpPr/>
          <p:nvPr/>
        </p:nvSpPr>
        <p:spPr>
          <a:xfrm>
            <a:off x="8961120" y="1691640"/>
            <a:ext cx="1828440" cy="639720"/>
          </a:xfrm>
          <a:prstGeom prst="roundRect">
            <a:avLst>
              <a:gd name="adj" fmla="val 7143"/>
            </a:avLst>
          </a:prstGeom>
          <a:solidFill>
            <a:srgbClr val="FFECE9"/>
          </a:solidFill>
          <a:ln w="15240">
            <a:solidFill>
              <a:srgbClr val="E94B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Text 30"/>
          <p:cNvSpPr/>
          <p:nvPr/>
        </p:nvSpPr>
        <p:spPr>
          <a:xfrm>
            <a:off x="8988480" y="1911240"/>
            <a:ext cx="1773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fault somewhere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in region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Text 31"/>
          <p:cNvSpPr/>
          <p:nvPr/>
        </p:nvSpPr>
        <p:spPr>
          <a:xfrm>
            <a:off x="914400" y="393192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Exact onset may become ambiguous.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8044E9-ABAD-495D-292F-BD063C196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highlight>
                  <a:srgbClr val="FFFF00"/>
                </a:highlight>
              </a:rPr>
              <a:t>Global average </a:t>
            </a:r>
            <a:r>
              <a:rPr lang="en-GB" dirty="0"/>
              <a:t>pooling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6960E51-029E-F970-8114-D1779044847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Local pooling reduces length gradually.</a:t>
            </a:r>
          </a:p>
          <a:p>
            <a:r>
              <a:rPr lang="en-GB" dirty="0"/>
              <a:t>Global pooling removes the temporal dimension completely.</a:t>
            </a:r>
          </a:p>
          <a:p>
            <a:r>
              <a:rPr lang="en-GB" dirty="0"/>
              <a:t>Suppose a convolutional network produces: [N, L, F]</a:t>
            </a:r>
          </a:p>
          <a:p>
            <a:r>
              <a:rPr lang="en-GB" dirty="0"/>
              <a:t>Global average pooling computes one average for each feature map.</a:t>
            </a:r>
          </a:p>
          <a:p>
            <a:r>
              <a:rPr lang="en-GB" dirty="0"/>
              <a:t>Output: [N, F]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6CDD897-A342-345F-D001-9938AEE55A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89969" y="2160589"/>
            <a:ext cx="6882955" cy="4411661"/>
          </a:xfrm>
        </p:spPr>
        <p:txBody>
          <a:bodyPr>
            <a:normAutofit lnSpcReduction="10000"/>
          </a:bodyPr>
          <a:lstStyle/>
          <a:p>
            <a:r>
              <a:rPr lang="en-GB" b="1" dirty="0"/>
              <a:t>Conceptually</a:t>
            </a:r>
          </a:p>
          <a:p>
            <a:r>
              <a:rPr lang="en-GB" dirty="0"/>
              <a:t>feature map 1: average over all time positions → value 1</a:t>
            </a:r>
          </a:p>
          <a:p>
            <a:r>
              <a:rPr lang="en-GB" dirty="0"/>
              <a:t>feature map 2: average over all time positions → value 2</a:t>
            </a:r>
          </a:p>
          <a:p>
            <a:r>
              <a:rPr lang="en-GB" dirty="0"/>
              <a:t>...</a:t>
            </a:r>
          </a:p>
          <a:p>
            <a:r>
              <a:rPr lang="en-GB" dirty="0"/>
              <a:t>feature map F: average over all time positions → value F</a:t>
            </a:r>
          </a:p>
          <a:p>
            <a:r>
              <a:rPr lang="en-GB" b="1" dirty="0"/>
              <a:t>Interpretation</a:t>
            </a:r>
          </a:p>
          <a:p>
            <a:pPr lvl="1"/>
            <a:r>
              <a:rPr lang="en-GB" dirty="0"/>
              <a:t>For each learned feature:</a:t>
            </a:r>
          </a:p>
          <a:p>
            <a:pPr lvl="1"/>
            <a:r>
              <a:rPr lang="en-GB" b="1" dirty="0"/>
              <a:t>How strongly was this feature active </a:t>
            </a:r>
            <a:r>
              <a:rPr lang="en-GB" b="1" dirty="0">
                <a:highlight>
                  <a:srgbClr val="FFFF00"/>
                </a:highlight>
              </a:rPr>
              <a:t>on average over the complete sequence?</a:t>
            </a:r>
          </a:p>
          <a:p>
            <a:r>
              <a:rPr lang="en-GB" b="1" dirty="0"/>
              <a:t>Typical use</a:t>
            </a:r>
          </a:p>
          <a:p>
            <a:pPr lvl="1"/>
            <a:r>
              <a:rPr lang="en-GB" dirty="0"/>
              <a:t>window classification/regression; </a:t>
            </a:r>
          </a:p>
          <a:p>
            <a:pPr lvl="1"/>
            <a:r>
              <a:rPr lang="en-GB" dirty="0"/>
              <a:t>sequence classification/regression.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0188922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E5C1DBD-00D4-30D5-6D15-42D3FE85A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Global max pooling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C4ED0D8-6C36-478D-5573-79511973D7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8"/>
            <a:ext cx="6752166" cy="4392611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Global max pooling also converts: [N, L, F]</a:t>
            </a:r>
          </a:p>
          <a:p>
            <a:r>
              <a:rPr lang="en-GB" dirty="0"/>
              <a:t>into: [N, F]</a:t>
            </a:r>
          </a:p>
          <a:p>
            <a:r>
              <a:rPr lang="en-GB" dirty="0"/>
              <a:t>but uses the maximum activation of each feature map.</a:t>
            </a:r>
          </a:p>
          <a:p>
            <a:r>
              <a:rPr lang="en-GB" b="1" dirty="0"/>
              <a:t>Interpretation</a:t>
            </a:r>
          </a:p>
          <a:p>
            <a:r>
              <a:rPr lang="en-GB" dirty="0"/>
              <a:t>For each learned feature:</a:t>
            </a:r>
          </a:p>
          <a:p>
            <a:pPr lvl="1"/>
            <a:r>
              <a:rPr lang="en-GB" b="1" dirty="0">
                <a:highlight>
                  <a:srgbClr val="FFFF00"/>
                </a:highlight>
              </a:rPr>
              <a:t>What was the strongest occurrence of this pattern anywhere in the sequence?</a:t>
            </a:r>
          </a:p>
          <a:p>
            <a:endParaRPr lang="en-GB" b="1" dirty="0"/>
          </a:p>
          <a:p>
            <a:r>
              <a:rPr lang="en-GB" b="1" dirty="0"/>
              <a:t>Example</a:t>
            </a:r>
          </a:p>
          <a:p>
            <a:r>
              <a:rPr lang="en-GB" dirty="0"/>
              <a:t>If one filter detects a fault signature, global max pooling can retain the strongest evidence regardless of where the event occurred.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F1DED26-45B9-8DD9-7DEB-EFF0E9BE82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3620" y="2160588"/>
            <a:ext cx="4184034" cy="4392612"/>
          </a:xfrm>
        </p:spPr>
        <p:txBody>
          <a:bodyPr>
            <a:normAutofit fontScale="92500" lnSpcReduction="10000"/>
          </a:bodyPr>
          <a:lstStyle/>
          <a:p>
            <a:r>
              <a:rPr lang="en-GB" b="1" dirty="0"/>
              <a:t>Comparison</a:t>
            </a:r>
          </a:p>
          <a:p>
            <a:r>
              <a:rPr lang="en-GB" dirty="0"/>
              <a:t>Global average pooling:</a:t>
            </a:r>
          </a:p>
          <a:p>
            <a:pPr lvl="1"/>
            <a:r>
              <a:rPr lang="en-GB" b="1" dirty="0"/>
              <a:t>reflects overall feature activity. </a:t>
            </a:r>
          </a:p>
          <a:p>
            <a:r>
              <a:rPr lang="en-GB" dirty="0"/>
              <a:t>Global max pooling:</a:t>
            </a:r>
          </a:p>
          <a:p>
            <a:pPr lvl="1"/>
            <a:r>
              <a:rPr lang="en-GB" b="1" dirty="0"/>
              <a:t>emphasizes strongest occurrence. </a:t>
            </a:r>
          </a:p>
          <a:p>
            <a:r>
              <a:rPr lang="en-GB" b="1" dirty="0"/>
              <a:t>Loss of information</a:t>
            </a:r>
          </a:p>
          <a:p>
            <a:r>
              <a:rPr lang="en-GB" b="1" dirty="0"/>
              <a:t>Both discard:</a:t>
            </a:r>
          </a:p>
          <a:p>
            <a:pPr lvl="1"/>
            <a:r>
              <a:rPr lang="en-GB" dirty="0"/>
              <a:t>exact temporal location; </a:t>
            </a:r>
          </a:p>
          <a:p>
            <a:pPr lvl="1"/>
            <a:r>
              <a:rPr lang="en-GB" dirty="0"/>
              <a:t>temporal ordering of the final activations. </a:t>
            </a:r>
          </a:p>
          <a:p>
            <a:r>
              <a:rPr lang="en-GB" b="1" dirty="0">
                <a:highlight>
                  <a:srgbClr val="FFFF00"/>
                </a:highlight>
              </a:rPr>
              <a:t>Therefore they are appropriate only when the final target does not require precise timing.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902041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Shape 0"/>
          <p:cNvSpPr/>
          <p:nvPr/>
        </p:nvSpPr>
        <p:spPr>
          <a:xfrm>
            <a:off x="11466720" y="0"/>
            <a:ext cx="722160" cy="6857640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Shape 1"/>
          <p:cNvSpPr/>
          <p:nvPr/>
        </p:nvSpPr>
        <p:spPr>
          <a:xfrm>
            <a:off x="11301840" y="0"/>
            <a:ext cx="54360" cy="6857640"/>
          </a:xfrm>
          <a:prstGeom prst="rect">
            <a:avLst/>
          </a:prstGeom>
          <a:solidFill>
            <a:srgbClr val="E7F4D2"/>
          </a:solidFill>
          <a:ln w="12700">
            <a:solidFill>
              <a:srgbClr val="E7F4D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Text 2"/>
          <p:cNvSpPr/>
          <p:nvPr/>
        </p:nvSpPr>
        <p:spPr>
          <a:xfrm>
            <a:off x="502920" y="320040"/>
            <a:ext cx="105609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Global pooling removes the temporal dimension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Text 3"/>
          <p:cNvSpPr/>
          <p:nvPr/>
        </p:nvSpPr>
        <p:spPr>
          <a:xfrm>
            <a:off x="502920" y="841320"/>
            <a:ext cx="103323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506070"/>
                </a:solidFill>
                <a:effectLst/>
                <a:uFillTx/>
                <a:latin typeface="Aptos"/>
              </a:rPr>
              <a:t>A temporal feature map becomes one fixed-size vector.</a:t>
            </a:r>
            <a:endParaRPr lang="it-IT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Shape 4"/>
          <p:cNvSpPr/>
          <p:nvPr/>
        </p:nvSpPr>
        <p:spPr>
          <a:xfrm>
            <a:off x="502920" y="6364080"/>
            <a:ext cx="10240920" cy="383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5D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Text 5"/>
          <p:cNvSpPr/>
          <p:nvPr/>
        </p:nvSpPr>
        <p:spPr>
          <a:xfrm>
            <a:off x="594360" y="6455520"/>
            <a:ext cx="1005804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 dirty="0">
                <a:solidFill>
                  <a:srgbClr val="111827"/>
                </a:solidFill>
                <a:effectLst/>
                <a:uFillTx/>
                <a:latin typeface="Aptos"/>
              </a:rPr>
              <a:t>Global pooling is useful for </a:t>
            </a:r>
            <a:r>
              <a:rPr lang="en-US" sz="1050" b="1" u="none" strike="noStrike" dirty="0">
                <a:solidFill>
                  <a:srgbClr val="111827"/>
                </a:solidFill>
                <a:effectLst/>
                <a:uFillTx/>
                <a:latin typeface="Aptos"/>
              </a:rPr>
              <a:t>sequence/window </a:t>
            </a:r>
            <a:r>
              <a:rPr lang="en-US" sz="1050" b="0" u="none" strike="noStrike" dirty="0">
                <a:solidFill>
                  <a:srgbClr val="111827"/>
                </a:solidFill>
                <a:effectLst/>
                <a:uFillTx/>
                <a:latin typeface="Aptos"/>
              </a:rPr>
              <a:t>classification and regression.</a:t>
            </a:r>
            <a:endParaRPr lang="it-IT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Shape 6"/>
          <p:cNvSpPr/>
          <p:nvPr/>
        </p:nvSpPr>
        <p:spPr>
          <a:xfrm>
            <a:off x="1097280" y="2011680"/>
            <a:ext cx="2377080" cy="776880"/>
          </a:xfrm>
          <a:prstGeom prst="roundRect">
            <a:avLst>
              <a:gd name="adj" fmla="val 5882"/>
            </a:avLst>
          </a:prstGeom>
          <a:solidFill>
            <a:srgbClr val="EAF2FF"/>
          </a:solidFill>
          <a:ln w="15240">
            <a:solidFill>
              <a:srgbClr val="2F6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Text 7"/>
          <p:cNvSpPr/>
          <p:nvPr/>
        </p:nvSpPr>
        <p:spPr>
          <a:xfrm>
            <a:off x="1124640" y="2299680"/>
            <a:ext cx="23223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Temporal feature maps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[N, L, F]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Shape 8"/>
          <p:cNvSpPr/>
          <p:nvPr/>
        </p:nvSpPr>
        <p:spPr>
          <a:xfrm>
            <a:off x="3657600" y="2423160"/>
            <a:ext cx="1188720" cy="360"/>
          </a:xfrm>
          <a:prstGeom prst="line">
            <a:avLst/>
          </a:prstGeom>
          <a:ln w="17780">
            <a:solidFill>
              <a:srgbClr val="6B728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Shape 9"/>
          <p:cNvSpPr/>
          <p:nvPr/>
        </p:nvSpPr>
        <p:spPr>
          <a:xfrm>
            <a:off x="5074920" y="1920240"/>
            <a:ext cx="2194200" cy="914040"/>
          </a:xfrm>
          <a:prstGeom prst="roundRect">
            <a:avLst>
              <a:gd name="adj" fmla="val 5000"/>
            </a:avLst>
          </a:prstGeom>
          <a:solidFill>
            <a:srgbClr val="E7F4D2"/>
          </a:solidFill>
          <a:ln w="15240">
            <a:solidFill>
              <a:srgbClr val="86BC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Text 10"/>
          <p:cNvSpPr/>
          <p:nvPr/>
        </p:nvSpPr>
        <p:spPr>
          <a:xfrm>
            <a:off x="5102280" y="2277000"/>
            <a:ext cx="21394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Global average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or max pooling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Shape 11"/>
          <p:cNvSpPr/>
          <p:nvPr/>
        </p:nvSpPr>
        <p:spPr>
          <a:xfrm>
            <a:off x="7498080" y="2423160"/>
            <a:ext cx="1188720" cy="360"/>
          </a:xfrm>
          <a:prstGeom prst="line">
            <a:avLst/>
          </a:prstGeom>
          <a:ln w="17780">
            <a:solidFill>
              <a:srgbClr val="6B728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Shape 12"/>
          <p:cNvSpPr/>
          <p:nvPr/>
        </p:nvSpPr>
        <p:spPr>
          <a:xfrm>
            <a:off x="8915400" y="2011680"/>
            <a:ext cx="1828440" cy="776880"/>
          </a:xfrm>
          <a:prstGeom prst="roundRect">
            <a:avLst>
              <a:gd name="adj" fmla="val 5882"/>
            </a:avLst>
          </a:prstGeom>
          <a:solidFill>
            <a:srgbClr val="FFF4D7"/>
          </a:solidFill>
          <a:ln w="15240">
            <a:solidFill>
              <a:srgbClr val="F2A9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Text 13"/>
          <p:cNvSpPr/>
          <p:nvPr/>
        </p:nvSpPr>
        <p:spPr>
          <a:xfrm>
            <a:off x="8942760" y="2299680"/>
            <a:ext cx="1773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Fixed vector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[N, F]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Text 14"/>
          <p:cNvSpPr/>
          <p:nvPr/>
        </p:nvSpPr>
        <p:spPr>
          <a:xfrm>
            <a:off x="5075280" y="3988431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Average pooling: overall feature activity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Text 15"/>
          <p:cNvSpPr/>
          <p:nvPr/>
        </p:nvSpPr>
        <p:spPr>
          <a:xfrm>
            <a:off x="5074920" y="3453138"/>
            <a:ext cx="4114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111827"/>
                </a:solidFill>
                <a:effectLst/>
                <a:uFillTx/>
                <a:latin typeface="Aptos"/>
              </a:rPr>
              <a:t>Max pooling: strongest occurrence of each feature</a:t>
            </a:r>
            <a:endParaRPr lang="it-IT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B480321-1A1B-2215-CE5D-256C5DEB0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CNN sequence classification with global pooling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B0BFA87-DFB4-FFE2-C379-6A01E12A8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478336"/>
          </a:xfrm>
        </p:spPr>
        <p:txBody>
          <a:bodyPr>
            <a:normAutofit fontScale="62500" lnSpcReduction="20000"/>
          </a:bodyPr>
          <a:lstStyle/>
          <a:p>
            <a:r>
              <a:rPr lang="en-GB" dirty="0"/>
              <a:t>A common temporal classification architecture is:</a:t>
            </a:r>
          </a:p>
          <a:p>
            <a:pPr lvl="1"/>
            <a:r>
              <a:rPr lang="en-GB" dirty="0"/>
              <a:t>input sequence</a:t>
            </a:r>
          </a:p>
          <a:p>
            <a:pPr lvl="1"/>
            <a:r>
              <a:rPr lang="en-GB" dirty="0"/>
              <a:t>      ↓</a:t>
            </a:r>
          </a:p>
          <a:p>
            <a:pPr lvl="1"/>
            <a:r>
              <a:rPr lang="en-GB" dirty="0"/>
              <a:t>Conv1D</a:t>
            </a:r>
          </a:p>
          <a:p>
            <a:pPr lvl="1"/>
            <a:r>
              <a:rPr lang="en-GB" dirty="0"/>
              <a:t>      ↓</a:t>
            </a:r>
          </a:p>
          <a:p>
            <a:pPr lvl="1"/>
            <a:r>
              <a:rPr lang="en-GB" dirty="0"/>
              <a:t>activation</a:t>
            </a:r>
          </a:p>
          <a:p>
            <a:pPr lvl="1"/>
            <a:r>
              <a:rPr lang="en-GB" dirty="0"/>
              <a:t>      ↓</a:t>
            </a:r>
          </a:p>
          <a:p>
            <a:pPr lvl="1"/>
            <a:r>
              <a:rPr lang="en-GB" dirty="0"/>
              <a:t>Conv1D</a:t>
            </a:r>
          </a:p>
          <a:p>
            <a:pPr lvl="1"/>
            <a:r>
              <a:rPr lang="en-GB" dirty="0"/>
              <a:t>      ↓</a:t>
            </a:r>
          </a:p>
          <a:p>
            <a:pPr lvl="1"/>
            <a:r>
              <a:rPr lang="en-GB" dirty="0"/>
              <a:t>temporal feature maps</a:t>
            </a:r>
          </a:p>
          <a:p>
            <a:pPr lvl="1"/>
            <a:r>
              <a:rPr lang="en-GB" dirty="0"/>
              <a:t>      ↓</a:t>
            </a:r>
          </a:p>
          <a:p>
            <a:pPr lvl="1"/>
            <a:r>
              <a:rPr lang="en-GB" dirty="0"/>
              <a:t>global average / max pooling</a:t>
            </a:r>
          </a:p>
          <a:p>
            <a:pPr lvl="1"/>
            <a:r>
              <a:rPr lang="en-GB" dirty="0"/>
              <a:t>      ↓</a:t>
            </a:r>
          </a:p>
          <a:p>
            <a:pPr lvl="1"/>
            <a:r>
              <a:rPr lang="en-GB" dirty="0"/>
              <a:t>fixed-size vector</a:t>
            </a:r>
          </a:p>
          <a:p>
            <a:pPr lvl="1"/>
            <a:r>
              <a:rPr lang="en-GB" dirty="0"/>
              <a:t>      ↓</a:t>
            </a:r>
          </a:p>
          <a:p>
            <a:pPr lvl="1"/>
            <a:r>
              <a:rPr lang="en-GB" dirty="0"/>
              <a:t>classification layer</a:t>
            </a:r>
          </a:p>
          <a:p>
            <a:pPr lvl="1"/>
            <a:r>
              <a:rPr lang="en-GB" dirty="0"/>
              <a:t>      ↓</a:t>
            </a:r>
          </a:p>
          <a:p>
            <a:pPr lvl="1"/>
            <a:r>
              <a:rPr lang="en-GB" dirty="0"/>
              <a:t>class probabilities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6394725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0AF7E-7F98-649A-E0FA-5CA329761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C76BDF4-F57A-4BC9-6D28-5AFED20B3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CNN sequence classification with global pooling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D8ABC89-930A-ADC1-9698-ACD76CDC47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b="1" dirty="0"/>
              <a:t>Tensor example</a:t>
            </a:r>
          </a:p>
          <a:p>
            <a:r>
              <a:rPr lang="en-GB" dirty="0"/>
              <a:t>Input: [64, 500, 6], </a:t>
            </a:r>
            <a:r>
              <a:rPr lang="it-IT" dirty="0"/>
              <a:t>[samples, </a:t>
            </a:r>
            <a:r>
              <a:rPr lang="it-IT" dirty="0" err="1"/>
              <a:t>length</a:t>
            </a:r>
            <a:r>
              <a:rPr lang="it-IT" dirty="0"/>
              <a:t>, features]</a:t>
            </a:r>
            <a:endParaRPr lang="en-GB" dirty="0"/>
          </a:p>
          <a:p>
            <a:r>
              <a:rPr lang="en-GB" dirty="0"/>
              <a:t>Final convolutional representation: [64, 125, 64]</a:t>
            </a:r>
          </a:p>
          <a:p>
            <a:r>
              <a:rPr lang="en-GB" dirty="0"/>
              <a:t>After global pooling: [64, 64]</a:t>
            </a:r>
          </a:p>
          <a:p>
            <a:r>
              <a:rPr lang="en-GB" dirty="0"/>
              <a:t>For four classes: [64, 4]</a:t>
            </a:r>
          </a:p>
          <a:p>
            <a:r>
              <a:rPr lang="en-GB" b="1" dirty="0">
                <a:highlight>
                  <a:srgbClr val="FFFF00"/>
                </a:highlight>
              </a:rPr>
              <a:t>Analogy with recurrent models</a:t>
            </a:r>
          </a:p>
          <a:p>
            <a:r>
              <a:rPr lang="en-GB" b="1" dirty="0"/>
              <a:t>RNN</a:t>
            </a:r>
            <a:r>
              <a:rPr lang="en-GB" dirty="0"/>
              <a:t> sequence classification may use:</a:t>
            </a:r>
          </a:p>
          <a:p>
            <a:pPr lvl="1"/>
            <a:r>
              <a:rPr lang="en-GB" dirty="0"/>
              <a:t>final hidden state → classifier</a:t>
            </a:r>
          </a:p>
          <a:p>
            <a:r>
              <a:rPr lang="en-GB" b="1" dirty="0"/>
              <a:t>CNN</a:t>
            </a:r>
            <a:r>
              <a:rPr lang="en-GB" dirty="0"/>
              <a:t> sequence classification may use:</a:t>
            </a:r>
          </a:p>
          <a:p>
            <a:pPr lvl="1"/>
            <a:r>
              <a:rPr lang="en-GB" dirty="0"/>
              <a:t>global pooled feature maps → classifier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985335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Shape 0"/>
          <p:cNvSpPr/>
          <p:nvPr/>
        </p:nvSpPr>
        <p:spPr>
          <a:xfrm>
            <a:off x="11466720" y="0"/>
            <a:ext cx="722160" cy="6857640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Shape 1"/>
          <p:cNvSpPr/>
          <p:nvPr/>
        </p:nvSpPr>
        <p:spPr>
          <a:xfrm>
            <a:off x="11301840" y="0"/>
            <a:ext cx="54360" cy="6857640"/>
          </a:xfrm>
          <a:prstGeom prst="rect">
            <a:avLst/>
          </a:prstGeom>
          <a:solidFill>
            <a:srgbClr val="E7F4D2"/>
          </a:solidFill>
          <a:ln w="12700">
            <a:solidFill>
              <a:srgbClr val="E7F4D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Text 2"/>
          <p:cNvSpPr/>
          <p:nvPr/>
        </p:nvSpPr>
        <p:spPr>
          <a:xfrm>
            <a:off x="502920" y="320040"/>
            <a:ext cx="105609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CNN sequence classification with global pooling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Text 3"/>
          <p:cNvSpPr/>
          <p:nvPr/>
        </p:nvSpPr>
        <p:spPr>
          <a:xfrm>
            <a:off x="502920" y="841320"/>
            <a:ext cx="103323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506070"/>
                </a:solidFill>
                <a:effectLst/>
                <a:uFillTx/>
                <a:latin typeface="Aptos"/>
              </a:rPr>
              <a:t>A temporal CNN can convert a sequence into class probabilities.</a:t>
            </a:r>
            <a:endParaRPr lang="it-IT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Shape 4"/>
          <p:cNvSpPr/>
          <p:nvPr/>
        </p:nvSpPr>
        <p:spPr>
          <a:xfrm>
            <a:off x="502920" y="6364080"/>
            <a:ext cx="10240920" cy="383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5D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Text 5"/>
          <p:cNvSpPr/>
          <p:nvPr/>
        </p:nvSpPr>
        <p:spPr>
          <a:xfrm>
            <a:off x="594360" y="6455520"/>
            <a:ext cx="1005804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 dirty="0">
                <a:solidFill>
                  <a:srgbClr val="111827"/>
                </a:solidFill>
                <a:effectLst/>
                <a:uFillTx/>
                <a:latin typeface="Aptos"/>
              </a:rPr>
              <a:t>Global pooling is the CNN analogue of reducing a sequence to one representation.</a:t>
            </a:r>
            <a:endParaRPr lang="it-IT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Shape 6"/>
          <p:cNvSpPr/>
          <p:nvPr/>
        </p:nvSpPr>
        <p:spPr>
          <a:xfrm>
            <a:off x="914400" y="2743200"/>
            <a:ext cx="1188360" cy="685440"/>
          </a:xfrm>
          <a:prstGeom prst="roundRect">
            <a:avLst>
              <a:gd name="adj" fmla="val 6667"/>
            </a:avLst>
          </a:prstGeom>
          <a:solidFill>
            <a:srgbClr val="EAF2FF"/>
          </a:solidFill>
          <a:ln w="15240">
            <a:solidFill>
              <a:srgbClr val="2F6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Text 7"/>
          <p:cNvSpPr/>
          <p:nvPr/>
        </p:nvSpPr>
        <p:spPr>
          <a:xfrm>
            <a:off x="941760" y="2985480"/>
            <a:ext cx="11336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input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[N,L,d]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Shape 8"/>
          <p:cNvSpPr/>
          <p:nvPr/>
        </p:nvSpPr>
        <p:spPr>
          <a:xfrm>
            <a:off x="2121120" y="3090600"/>
            <a:ext cx="393480" cy="360"/>
          </a:xfrm>
          <a:prstGeom prst="line">
            <a:avLst/>
          </a:prstGeom>
          <a:ln w="12700">
            <a:solidFill>
              <a:srgbClr val="6B728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Shape 9"/>
          <p:cNvSpPr/>
          <p:nvPr/>
        </p:nvSpPr>
        <p:spPr>
          <a:xfrm>
            <a:off x="2560320" y="2743200"/>
            <a:ext cx="1188360" cy="685440"/>
          </a:xfrm>
          <a:prstGeom prst="roundRect">
            <a:avLst>
              <a:gd name="adj" fmla="val 6667"/>
            </a:avLst>
          </a:prstGeom>
          <a:solidFill>
            <a:srgbClr val="E7F4D2"/>
          </a:solidFill>
          <a:ln w="15240">
            <a:solidFill>
              <a:srgbClr val="86BC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Text 10"/>
          <p:cNvSpPr/>
          <p:nvPr/>
        </p:nvSpPr>
        <p:spPr>
          <a:xfrm>
            <a:off x="2587680" y="2985480"/>
            <a:ext cx="11336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Conv1D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features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Shape 11"/>
          <p:cNvSpPr/>
          <p:nvPr/>
        </p:nvSpPr>
        <p:spPr>
          <a:xfrm>
            <a:off x="3767040" y="3090600"/>
            <a:ext cx="393480" cy="360"/>
          </a:xfrm>
          <a:prstGeom prst="line">
            <a:avLst/>
          </a:prstGeom>
          <a:ln w="12700">
            <a:solidFill>
              <a:srgbClr val="6B728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Shape 12"/>
          <p:cNvSpPr/>
          <p:nvPr/>
        </p:nvSpPr>
        <p:spPr>
          <a:xfrm>
            <a:off x="4206240" y="2743200"/>
            <a:ext cx="1188360" cy="685440"/>
          </a:xfrm>
          <a:prstGeom prst="roundRect">
            <a:avLst>
              <a:gd name="adj" fmla="val 6667"/>
            </a:avLst>
          </a:prstGeom>
          <a:solidFill>
            <a:srgbClr val="E7F4D2"/>
          </a:solidFill>
          <a:ln w="15240">
            <a:solidFill>
              <a:srgbClr val="86BC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Text 13"/>
          <p:cNvSpPr/>
          <p:nvPr/>
        </p:nvSpPr>
        <p:spPr>
          <a:xfrm>
            <a:off x="4233600" y="2985480"/>
            <a:ext cx="11336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Conv1D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features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Shape 14"/>
          <p:cNvSpPr/>
          <p:nvPr/>
        </p:nvSpPr>
        <p:spPr>
          <a:xfrm>
            <a:off x="5412960" y="3090600"/>
            <a:ext cx="393480" cy="360"/>
          </a:xfrm>
          <a:prstGeom prst="line">
            <a:avLst/>
          </a:prstGeom>
          <a:ln w="12700">
            <a:solidFill>
              <a:srgbClr val="6B728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Shape 15"/>
          <p:cNvSpPr/>
          <p:nvPr/>
        </p:nvSpPr>
        <p:spPr>
          <a:xfrm>
            <a:off x="5852160" y="2743200"/>
            <a:ext cx="1188360" cy="685440"/>
          </a:xfrm>
          <a:prstGeom prst="roundRect">
            <a:avLst>
              <a:gd name="adj" fmla="val 6667"/>
            </a:avLst>
          </a:prstGeom>
          <a:solidFill>
            <a:srgbClr val="FFF4D7"/>
          </a:solidFill>
          <a:ln w="15240">
            <a:solidFill>
              <a:srgbClr val="F2A9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Text 16"/>
          <p:cNvSpPr/>
          <p:nvPr/>
        </p:nvSpPr>
        <p:spPr>
          <a:xfrm>
            <a:off x="5879520" y="2985480"/>
            <a:ext cx="11336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global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pooling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Shape 17"/>
          <p:cNvSpPr/>
          <p:nvPr/>
        </p:nvSpPr>
        <p:spPr>
          <a:xfrm>
            <a:off x="7058880" y="3090600"/>
            <a:ext cx="393480" cy="360"/>
          </a:xfrm>
          <a:prstGeom prst="line">
            <a:avLst/>
          </a:prstGeom>
          <a:ln w="12700">
            <a:solidFill>
              <a:srgbClr val="6B728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Shape 18"/>
          <p:cNvSpPr/>
          <p:nvPr/>
        </p:nvSpPr>
        <p:spPr>
          <a:xfrm>
            <a:off x="7498080" y="2743200"/>
            <a:ext cx="1188360" cy="685440"/>
          </a:xfrm>
          <a:prstGeom prst="roundRect">
            <a:avLst>
              <a:gd name="adj" fmla="val 6667"/>
            </a:avLst>
          </a:prstGeom>
          <a:solidFill>
            <a:srgbClr val="F1EAFE"/>
          </a:solidFill>
          <a:ln w="1524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Text 19"/>
          <p:cNvSpPr/>
          <p:nvPr/>
        </p:nvSpPr>
        <p:spPr>
          <a:xfrm>
            <a:off x="7525440" y="2985480"/>
            <a:ext cx="11336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fixed vector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[N,F]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Shape 20"/>
          <p:cNvSpPr/>
          <p:nvPr/>
        </p:nvSpPr>
        <p:spPr>
          <a:xfrm>
            <a:off x="8704800" y="3090600"/>
            <a:ext cx="393480" cy="360"/>
          </a:xfrm>
          <a:prstGeom prst="line">
            <a:avLst/>
          </a:prstGeom>
          <a:ln w="12700">
            <a:solidFill>
              <a:srgbClr val="6B728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Shape 21"/>
          <p:cNvSpPr/>
          <p:nvPr/>
        </p:nvSpPr>
        <p:spPr>
          <a:xfrm>
            <a:off x="9144000" y="2743200"/>
            <a:ext cx="1188360" cy="685440"/>
          </a:xfrm>
          <a:prstGeom prst="roundRect">
            <a:avLst>
              <a:gd name="adj" fmla="val 6667"/>
            </a:avLst>
          </a:prstGeom>
          <a:solidFill>
            <a:srgbClr val="FFECE9"/>
          </a:solidFill>
          <a:ln w="15240">
            <a:solidFill>
              <a:srgbClr val="E94B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Text 22"/>
          <p:cNvSpPr/>
          <p:nvPr/>
        </p:nvSpPr>
        <p:spPr>
          <a:xfrm>
            <a:off x="9171360" y="2985480"/>
            <a:ext cx="11336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classifier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[N,K]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Text 23"/>
          <p:cNvSpPr/>
          <p:nvPr/>
        </p:nvSpPr>
        <p:spPr>
          <a:xfrm>
            <a:off x="914400" y="4251960"/>
            <a:ext cx="7772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Example: [64, 500, 6] → [64, 125, 64] → [64, 64] → [64, 4]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053B5D39-2CCF-B562-48D6-B5FA7D8F6A8C}"/>
              </a:ext>
            </a:extLst>
          </p:cNvPr>
          <p:cNvSpPr txBox="1"/>
          <p:nvPr/>
        </p:nvSpPr>
        <p:spPr>
          <a:xfrm>
            <a:off x="1257300" y="5172075"/>
            <a:ext cx="20411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/>
              <a:t>[samples, </a:t>
            </a:r>
            <a:r>
              <a:rPr lang="it-IT" sz="1200" dirty="0" err="1"/>
              <a:t>length</a:t>
            </a:r>
            <a:r>
              <a:rPr lang="it-IT" sz="1200" dirty="0"/>
              <a:t>, features]</a:t>
            </a:r>
            <a:endParaRPr lang="en-GB" sz="1200" dirty="0"/>
          </a:p>
        </p:txBody>
      </p:sp>
      <p:cxnSp>
        <p:nvCxnSpPr>
          <p:cNvPr id="4" name="Connettore 2 3">
            <a:extLst>
              <a:ext uri="{FF2B5EF4-FFF2-40B4-BE49-F238E27FC236}">
                <a16:creationId xmlns:a16="http://schemas.microsoft.com/office/drawing/2014/main" id="{C7E55970-B9E7-7B85-B584-D0C8AE310E99}"/>
              </a:ext>
            </a:extLst>
          </p:cNvPr>
          <p:cNvCxnSpPr/>
          <p:nvPr/>
        </p:nvCxnSpPr>
        <p:spPr>
          <a:xfrm flipV="1">
            <a:off x="1762125" y="4480200"/>
            <a:ext cx="358995" cy="5775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9967506-0A8F-8FDA-C0DC-76A07C4B6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Strided</a:t>
            </a:r>
            <a:r>
              <a:rPr lang="en-GB" dirty="0"/>
              <a:t> convolution or pooling?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20B147F-7C01-886D-F7D3-C930D353B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Both can reduce temporal resolution.</a:t>
            </a:r>
          </a:p>
          <a:p>
            <a:r>
              <a:rPr lang="en-GB" b="1" dirty="0" err="1">
                <a:highlight>
                  <a:srgbClr val="FFFF00"/>
                </a:highlight>
              </a:rPr>
              <a:t>Strided</a:t>
            </a:r>
            <a:r>
              <a:rPr lang="en-GB" b="1" dirty="0">
                <a:highlight>
                  <a:srgbClr val="FFFF00"/>
                </a:highlight>
              </a:rPr>
              <a:t> convolution</a:t>
            </a:r>
          </a:p>
          <a:p>
            <a:pPr lvl="1"/>
            <a:r>
              <a:rPr lang="en-GB" dirty="0" err="1"/>
              <a:t>downsampling</a:t>
            </a:r>
            <a:r>
              <a:rPr lang="en-GB" dirty="0"/>
              <a:t> and feature extraction happen together; </a:t>
            </a:r>
          </a:p>
          <a:p>
            <a:pPr lvl="1"/>
            <a:r>
              <a:rPr lang="en-GB" dirty="0"/>
              <a:t>weights are learned; </a:t>
            </a:r>
          </a:p>
          <a:p>
            <a:pPr lvl="1"/>
            <a:r>
              <a:rPr lang="en-GB" b="1" dirty="0">
                <a:highlight>
                  <a:srgbClr val="FFFF00"/>
                </a:highlight>
              </a:rPr>
              <a:t>potentially more flexible. </a:t>
            </a:r>
          </a:p>
          <a:p>
            <a:r>
              <a:rPr lang="en-GB" b="1" dirty="0">
                <a:highlight>
                  <a:srgbClr val="FFFF00"/>
                </a:highlight>
              </a:rPr>
              <a:t>Pooling</a:t>
            </a:r>
          </a:p>
          <a:p>
            <a:pPr lvl="1"/>
            <a:r>
              <a:rPr lang="en-GB" dirty="0"/>
              <a:t>uses a predefined aggregation rule; </a:t>
            </a:r>
          </a:p>
          <a:p>
            <a:pPr lvl="1"/>
            <a:r>
              <a:rPr lang="en-GB" dirty="0"/>
              <a:t>no additional learned filter weights; </a:t>
            </a:r>
          </a:p>
          <a:p>
            <a:pPr lvl="1"/>
            <a:r>
              <a:rPr lang="en-GB" b="1" dirty="0">
                <a:highlight>
                  <a:srgbClr val="FFFF00"/>
                </a:highlight>
              </a:rPr>
              <a:t>simple and computationally efficient.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8219809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DFBAF-DC14-6725-41AA-075246E33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A4E3A5A-0A91-2F43-7E98-50DE24393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Strided</a:t>
            </a:r>
            <a:r>
              <a:rPr lang="en-GB" dirty="0"/>
              <a:t> convolution or pooling?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4F4126E-4B62-3D1F-6B47-8E2319524D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b="1" dirty="0"/>
              <a:t>Example</a:t>
            </a:r>
          </a:p>
          <a:p>
            <a:r>
              <a:rPr lang="en-GB" dirty="0"/>
              <a:t>Option A:</a:t>
            </a:r>
          </a:p>
          <a:p>
            <a:pPr lvl="1"/>
            <a:r>
              <a:rPr lang="en-GB" dirty="0"/>
              <a:t>Conv1D stride 2</a:t>
            </a:r>
          </a:p>
          <a:p>
            <a:r>
              <a:rPr lang="en-GB" dirty="0"/>
              <a:t>Option B:</a:t>
            </a:r>
          </a:p>
          <a:p>
            <a:pPr lvl="1"/>
            <a:r>
              <a:rPr lang="en-GB" dirty="0"/>
              <a:t>Conv1D stride 1</a:t>
            </a:r>
          </a:p>
          <a:p>
            <a:pPr lvl="1"/>
            <a:r>
              <a:rPr lang="en-GB" dirty="0"/>
              <a:t>↓</a:t>
            </a:r>
          </a:p>
          <a:p>
            <a:pPr lvl="1"/>
            <a:r>
              <a:rPr lang="en-GB" dirty="0" err="1"/>
              <a:t>MaxPool</a:t>
            </a:r>
            <a:r>
              <a:rPr lang="en-GB" dirty="0"/>
              <a:t> stride 2</a:t>
            </a:r>
          </a:p>
          <a:p>
            <a:r>
              <a:rPr lang="en-GB" dirty="0"/>
              <a:t>Both can reduce temporal length approximately by a factor of 2.</a:t>
            </a:r>
          </a:p>
          <a:p>
            <a:endParaRPr lang="en-GB" b="1" dirty="0"/>
          </a:p>
          <a:p>
            <a:r>
              <a:rPr lang="en-GB" b="1" dirty="0"/>
              <a:t>Which should be used?</a:t>
            </a:r>
          </a:p>
          <a:p>
            <a:r>
              <a:rPr lang="en-GB" dirty="0"/>
              <a:t>This is an architectural choice to be validated empirically.</a:t>
            </a:r>
          </a:p>
          <a:p>
            <a:r>
              <a:rPr lang="en-GB" dirty="0"/>
              <a:t>Modern temporal CNNs often use </a:t>
            </a:r>
            <a:r>
              <a:rPr lang="en-GB" dirty="0" err="1"/>
              <a:t>strided</a:t>
            </a:r>
            <a:r>
              <a:rPr lang="en-GB" dirty="0"/>
              <a:t> convolution, pooling, or both depending on the task.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1208796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Shape 0"/>
          <p:cNvSpPr/>
          <p:nvPr/>
        </p:nvSpPr>
        <p:spPr>
          <a:xfrm>
            <a:off x="11466720" y="0"/>
            <a:ext cx="722160" cy="6857640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Shape 1"/>
          <p:cNvSpPr/>
          <p:nvPr/>
        </p:nvSpPr>
        <p:spPr>
          <a:xfrm>
            <a:off x="11301840" y="0"/>
            <a:ext cx="54360" cy="6857640"/>
          </a:xfrm>
          <a:prstGeom prst="rect">
            <a:avLst/>
          </a:prstGeom>
          <a:solidFill>
            <a:srgbClr val="E7F4D2"/>
          </a:solidFill>
          <a:ln w="12700">
            <a:solidFill>
              <a:srgbClr val="E7F4D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Text 2"/>
          <p:cNvSpPr/>
          <p:nvPr/>
        </p:nvSpPr>
        <p:spPr>
          <a:xfrm>
            <a:off x="502920" y="320040"/>
            <a:ext cx="105609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Strided convolution or pooling?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Text 3"/>
          <p:cNvSpPr/>
          <p:nvPr/>
        </p:nvSpPr>
        <p:spPr>
          <a:xfrm>
            <a:off x="502920" y="841320"/>
            <a:ext cx="103323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u="none" strike="noStrike" dirty="0">
                <a:solidFill>
                  <a:srgbClr val="506070"/>
                </a:solidFill>
                <a:effectLst/>
                <a:uFillTx/>
                <a:latin typeface="Aptos"/>
              </a:rPr>
              <a:t>Both can reduce temporal length, but they do it differently.</a:t>
            </a:r>
            <a:endParaRPr lang="it-IT" sz="105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Shape 4"/>
          <p:cNvSpPr/>
          <p:nvPr/>
        </p:nvSpPr>
        <p:spPr>
          <a:xfrm>
            <a:off x="502920" y="6364080"/>
            <a:ext cx="10240920" cy="383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5D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Text 5"/>
          <p:cNvSpPr/>
          <p:nvPr/>
        </p:nvSpPr>
        <p:spPr>
          <a:xfrm>
            <a:off x="594360" y="6455520"/>
            <a:ext cx="1005804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111827"/>
                </a:solidFill>
                <a:effectLst/>
                <a:uFillTx/>
                <a:latin typeface="Aptos"/>
              </a:rPr>
              <a:t>This is an architectural choice to validate empirically.</a:t>
            </a:r>
            <a:endParaRPr lang="it-IT" sz="14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Text 6"/>
          <p:cNvSpPr/>
          <p:nvPr/>
        </p:nvSpPr>
        <p:spPr>
          <a:xfrm>
            <a:off x="1097280" y="1371600"/>
            <a:ext cx="29257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86BC25"/>
                </a:solidFill>
                <a:effectLst/>
                <a:uFillTx/>
                <a:latin typeface="Aptos"/>
              </a:rPr>
              <a:t>Option A: strided convolution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Shape 7"/>
          <p:cNvSpPr/>
          <p:nvPr/>
        </p:nvSpPr>
        <p:spPr>
          <a:xfrm>
            <a:off x="1097280" y="2011680"/>
            <a:ext cx="1828440" cy="685440"/>
          </a:xfrm>
          <a:prstGeom prst="roundRect">
            <a:avLst>
              <a:gd name="adj" fmla="val 6667"/>
            </a:avLst>
          </a:prstGeom>
          <a:solidFill>
            <a:srgbClr val="E7F4D2"/>
          </a:solidFill>
          <a:ln w="15240">
            <a:solidFill>
              <a:srgbClr val="86BC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7" name="Text 8"/>
          <p:cNvSpPr/>
          <p:nvPr/>
        </p:nvSpPr>
        <p:spPr>
          <a:xfrm>
            <a:off x="1124640" y="2253960"/>
            <a:ext cx="1773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Conv1D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stride 2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Text 11"/>
          <p:cNvSpPr/>
          <p:nvPr/>
        </p:nvSpPr>
        <p:spPr>
          <a:xfrm>
            <a:off x="962080" y="2935080"/>
            <a:ext cx="2230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111827"/>
                </a:solidFill>
                <a:effectLst/>
                <a:highlight>
                  <a:srgbClr val="FFFF00"/>
                </a:highlight>
                <a:uFillTx/>
                <a:latin typeface="Aptos"/>
              </a:rPr>
              <a:t>feature extraction</a:t>
            </a:r>
            <a:endParaRPr lang="it-IT" sz="1200" b="0" u="none" strike="noStrike" dirty="0">
              <a:solidFill>
                <a:srgbClr val="000000"/>
              </a:solidFill>
              <a:effectLst/>
              <a:highlight>
                <a:srgbClr val="FFFF00"/>
              </a:highlight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111827"/>
                </a:solidFill>
                <a:effectLst/>
                <a:highlight>
                  <a:srgbClr val="FFFF00"/>
                </a:highlight>
                <a:uFillTx/>
                <a:latin typeface="Aptos"/>
              </a:rPr>
              <a:t>+ </a:t>
            </a:r>
            <a:r>
              <a:rPr lang="en-US" sz="1200" b="1" u="none" strike="noStrike" dirty="0" err="1">
                <a:solidFill>
                  <a:srgbClr val="111827"/>
                </a:solidFill>
                <a:effectLst/>
                <a:highlight>
                  <a:srgbClr val="FFFF00"/>
                </a:highlight>
                <a:uFillTx/>
                <a:latin typeface="Aptos"/>
              </a:rPr>
              <a:t>downsampling</a:t>
            </a:r>
            <a:endParaRPr lang="it-IT" sz="1200" b="0" u="none" strike="noStrike" dirty="0">
              <a:solidFill>
                <a:srgbClr val="000000"/>
              </a:solidFill>
              <a:effectLst/>
              <a:highlight>
                <a:srgbClr val="FFFF00"/>
              </a:highlight>
              <a:uFillTx/>
              <a:latin typeface="Arial"/>
            </a:endParaRPr>
          </a:p>
        </p:txBody>
      </p:sp>
      <p:sp>
        <p:nvSpPr>
          <p:cNvPr id="601" name="Text 12"/>
          <p:cNvSpPr/>
          <p:nvPr/>
        </p:nvSpPr>
        <p:spPr>
          <a:xfrm>
            <a:off x="1097280" y="3657600"/>
            <a:ext cx="32914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2A900"/>
                </a:solidFill>
                <a:effectLst/>
                <a:uFillTx/>
                <a:latin typeface="Aptos"/>
              </a:rPr>
              <a:t>Option B: convolution then pooling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Shape 13"/>
          <p:cNvSpPr/>
          <p:nvPr/>
        </p:nvSpPr>
        <p:spPr>
          <a:xfrm>
            <a:off x="1097280" y="4297680"/>
            <a:ext cx="1828440" cy="685440"/>
          </a:xfrm>
          <a:prstGeom prst="roundRect">
            <a:avLst>
              <a:gd name="adj" fmla="val 6667"/>
            </a:avLst>
          </a:prstGeom>
          <a:solidFill>
            <a:srgbClr val="EAF2FF"/>
          </a:solidFill>
          <a:ln w="15240">
            <a:solidFill>
              <a:srgbClr val="2F6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Text 14"/>
          <p:cNvSpPr/>
          <p:nvPr/>
        </p:nvSpPr>
        <p:spPr>
          <a:xfrm>
            <a:off x="1124640" y="4539960"/>
            <a:ext cx="1773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Conv1D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stride 1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Shape 15"/>
          <p:cNvSpPr/>
          <p:nvPr/>
        </p:nvSpPr>
        <p:spPr>
          <a:xfrm>
            <a:off x="3108960" y="4645080"/>
            <a:ext cx="914400" cy="360"/>
          </a:xfrm>
          <a:prstGeom prst="line">
            <a:avLst/>
          </a:prstGeom>
          <a:ln w="15240">
            <a:solidFill>
              <a:srgbClr val="6B728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Shape 16"/>
          <p:cNvSpPr/>
          <p:nvPr/>
        </p:nvSpPr>
        <p:spPr>
          <a:xfrm>
            <a:off x="4206240" y="4297680"/>
            <a:ext cx="1828440" cy="685440"/>
          </a:xfrm>
          <a:prstGeom prst="roundRect">
            <a:avLst>
              <a:gd name="adj" fmla="val 6667"/>
            </a:avLst>
          </a:prstGeom>
          <a:solidFill>
            <a:srgbClr val="FFF4D7"/>
          </a:solidFill>
          <a:ln w="15240">
            <a:solidFill>
              <a:srgbClr val="F2A9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Text 17"/>
          <p:cNvSpPr/>
          <p:nvPr/>
        </p:nvSpPr>
        <p:spPr>
          <a:xfrm>
            <a:off x="4233600" y="4539960"/>
            <a:ext cx="1773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MaxPool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stride 2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Text 20"/>
          <p:cNvSpPr/>
          <p:nvPr/>
        </p:nvSpPr>
        <p:spPr>
          <a:xfrm>
            <a:off x="2404980" y="5499720"/>
            <a:ext cx="23223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111827"/>
                </a:solidFill>
                <a:effectLst/>
                <a:highlight>
                  <a:srgbClr val="FFFF00"/>
                </a:highlight>
                <a:uFillTx/>
                <a:latin typeface="Aptos"/>
              </a:rPr>
              <a:t>separate feature</a:t>
            </a:r>
            <a:endParaRPr lang="it-IT" sz="1200" b="0" u="none" strike="noStrike" dirty="0">
              <a:solidFill>
                <a:srgbClr val="000000"/>
              </a:solidFill>
              <a:effectLst/>
              <a:highlight>
                <a:srgbClr val="FFFF00"/>
              </a:highlight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111827"/>
                </a:solidFill>
                <a:effectLst/>
                <a:highlight>
                  <a:srgbClr val="FFFF00"/>
                </a:highlight>
                <a:uFillTx/>
                <a:latin typeface="Aptos"/>
              </a:rPr>
              <a:t>extraction + pooling</a:t>
            </a:r>
            <a:endParaRPr lang="it-IT" sz="1200" b="0" u="none" strike="noStrike" dirty="0">
              <a:solidFill>
                <a:srgbClr val="000000"/>
              </a:solidFill>
              <a:effectLst/>
              <a:highlight>
                <a:srgbClr val="FFFF00"/>
              </a:highlight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FCD8BA1-1EA3-3EA9-47E7-EF6E3FCEB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Downsampling</a:t>
            </a:r>
            <a:r>
              <a:rPr lang="en-GB" dirty="0"/>
              <a:t> changes information and computation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4B1C174-CA88-5E82-FBC2-2A69388726E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Increasing </a:t>
            </a:r>
            <a:r>
              <a:rPr lang="en-GB" dirty="0" err="1"/>
              <a:t>downsampling</a:t>
            </a:r>
            <a:r>
              <a:rPr lang="en-GB" dirty="0"/>
              <a:t> generally gives:</a:t>
            </a:r>
          </a:p>
          <a:p>
            <a:r>
              <a:rPr lang="en-GB" b="1" dirty="0"/>
              <a:t>Advantages</a:t>
            </a:r>
          </a:p>
          <a:p>
            <a:pPr lvl="1"/>
            <a:r>
              <a:rPr lang="en-GB" dirty="0"/>
              <a:t>shorter feature maps; </a:t>
            </a:r>
          </a:p>
          <a:p>
            <a:pPr lvl="1"/>
            <a:r>
              <a:rPr lang="en-GB" dirty="0"/>
              <a:t>lower memory; </a:t>
            </a:r>
          </a:p>
          <a:p>
            <a:pPr lvl="1"/>
            <a:r>
              <a:rPr lang="en-GB" dirty="0"/>
              <a:t>faster later layers; </a:t>
            </a:r>
          </a:p>
          <a:p>
            <a:pPr lvl="1"/>
            <a:r>
              <a:rPr lang="en-GB" dirty="0"/>
              <a:t>wider effective temporal context; </a:t>
            </a:r>
          </a:p>
          <a:p>
            <a:pPr lvl="1"/>
            <a:r>
              <a:rPr lang="en-GB" dirty="0"/>
              <a:t>some tolerance to small shifts. 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DC481A5-0F7B-E138-874A-EC7BEAC9F31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b="1" dirty="0"/>
              <a:t>Disadvantages</a:t>
            </a:r>
          </a:p>
          <a:p>
            <a:pPr lvl="1"/>
            <a:r>
              <a:rPr lang="en-GB" dirty="0"/>
              <a:t>lower temporal resolution; </a:t>
            </a:r>
          </a:p>
          <a:p>
            <a:pPr lvl="1"/>
            <a:r>
              <a:rPr lang="en-GB" dirty="0"/>
              <a:t>possible loss of short events; </a:t>
            </a:r>
          </a:p>
          <a:p>
            <a:pPr lvl="1"/>
            <a:r>
              <a:rPr lang="en-GB" dirty="0"/>
              <a:t>reduced event-localisation precision; </a:t>
            </a:r>
          </a:p>
          <a:p>
            <a:pPr lvl="1"/>
            <a:r>
              <a:rPr lang="en-GB" dirty="0"/>
              <a:t>potential loss of high-frequency temporal structure. </a:t>
            </a:r>
          </a:p>
          <a:p>
            <a:r>
              <a:rPr lang="en-GB" b="1" dirty="0"/>
              <a:t>Engineering trade-off</a:t>
            </a:r>
          </a:p>
          <a:p>
            <a:r>
              <a:rPr lang="en-GB" dirty="0"/>
              <a:t>Suppose an event lasts only: 20 ms</a:t>
            </a:r>
          </a:p>
          <a:p>
            <a:pPr lvl="1"/>
            <a:r>
              <a:rPr lang="en-GB" dirty="0"/>
              <a:t>If aggressive </a:t>
            </a:r>
            <a:r>
              <a:rPr lang="en-GB" dirty="0" err="1"/>
              <a:t>downsampling</a:t>
            </a:r>
            <a:r>
              <a:rPr lang="en-GB" dirty="0"/>
              <a:t> produces one representation every: 100 ms</a:t>
            </a:r>
          </a:p>
          <a:p>
            <a:pPr lvl="1"/>
            <a:r>
              <a:rPr lang="en-GB" dirty="0"/>
              <a:t>the event may become difficult to localize or may disappear entirely.</a:t>
            </a:r>
          </a:p>
          <a:p>
            <a:endParaRPr lang="en-GB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242AF5CA-04FD-9167-57A9-92C201A0F376}"/>
              </a:ext>
            </a:extLst>
          </p:cNvPr>
          <p:cNvSpPr txBox="1"/>
          <p:nvPr/>
        </p:nvSpPr>
        <p:spPr>
          <a:xfrm>
            <a:off x="2500313" y="6041361"/>
            <a:ext cx="61055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1" dirty="0" err="1">
                <a:highlight>
                  <a:srgbClr val="FFFF00"/>
                </a:highlight>
              </a:rPr>
              <a:t>Downsampling</a:t>
            </a:r>
            <a:r>
              <a:rPr lang="en-GB" sz="1600" b="1" dirty="0">
                <a:highlight>
                  <a:srgbClr val="FFFF00"/>
                </a:highlight>
              </a:rPr>
              <a:t> should be chosen relative to the shortest temporal phenomenon that must be detectable.</a:t>
            </a:r>
          </a:p>
        </p:txBody>
      </p:sp>
    </p:spTree>
    <p:extLst>
      <p:ext uri="{BB962C8B-B14F-4D97-AF65-F5344CB8AC3E}">
        <p14:creationId xmlns:p14="http://schemas.microsoft.com/office/powerpoint/2010/main" val="215277641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B55A08F-751D-F316-F3E7-33164CD2E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Introducing the receptive field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FD44B1E-CCA6-FCE2-7CB0-56B617A93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b="1" dirty="0">
                <a:highlight>
                  <a:srgbClr val="FFFF00"/>
                </a:highlight>
              </a:rPr>
              <a:t>Kernel size and pooling both determine how much original input contributes to a deeper feature.</a:t>
            </a:r>
          </a:p>
          <a:p>
            <a:r>
              <a:rPr lang="en-GB" dirty="0">
                <a:highlight>
                  <a:srgbClr val="FFFF00"/>
                </a:highlight>
              </a:rPr>
              <a:t>Consider:</a:t>
            </a:r>
          </a:p>
          <a:p>
            <a:pPr lvl="1"/>
            <a:r>
              <a:rPr lang="en-GB" dirty="0"/>
              <a:t>Conv1D </a:t>
            </a:r>
            <a:r>
              <a:rPr lang="en-GB" b="1" dirty="0"/>
              <a:t>kernel = 3</a:t>
            </a:r>
          </a:p>
          <a:p>
            <a:pPr lvl="1"/>
            <a:r>
              <a:rPr lang="en-GB" dirty="0"/>
              <a:t>↓</a:t>
            </a:r>
          </a:p>
          <a:p>
            <a:pPr lvl="1"/>
            <a:r>
              <a:rPr lang="en-GB" b="1" dirty="0"/>
              <a:t>Pool by 2</a:t>
            </a:r>
          </a:p>
          <a:p>
            <a:pPr lvl="1"/>
            <a:r>
              <a:rPr lang="en-GB" dirty="0"/>
              <a:t>↓</a:t>
            </a:r>
          </a:p>
          <a:p>
            <a:pPr lvl="1"/>
            <a:r>
              <a:rPr lang="en-GB" dirty="0"/>
              <a:t>Conv1D </a:t>
            </a:r>
            <a:r>
              <a:rPr lang="en-GB" b="1" dirty="0"/>
              <a:t>kernel = 3</a:t>
            </a:r>
          </a:p>
          <a:p>
            <a:r>
              <a:rPr lang="en-GB" dirty="0"/>
              <a:t>The </a:t>
            </a:r>
            <a:r>
              <a:rPr lang="en-GB" b="1" dirty="0"/>
              <a:t>second convolution </a:t>
            </a:r>
            <a:r>
              <a:rPr lang="en-GB" dirty="0"/>
              <a:t>does not see only three original input frames.</a:t>
            </a:r>
          </a:p>
          <a:p>
            <a:r>
              <a:rPr lang="en-GB" dirty="0"/>
              <a:t>Each of its inputs already summarizes a region from the previous layer.</a:t>
            </a:r>
          </a:p>
          <a:p>
            <a:r>
              <a:rPr lang="en-GB" dirty="0"/>
              <a:t>Therefore </a:t>
            </a:r>
            <a:r>
              <a:rPr lang="en-GB" b="1" dirty="0"/>
              <a:t>its effective temporal context is larger.</a:t>
            </a:r>
          </a:p>
          <a:p>
            <a:endParaRPr lang="en-GB" b="1" dirty="0"/>
          </a:p>
          <a:p>
            <a:r>
              <a:rPr lang="en-GB" b="1" dirty="0">
                <a:highlight>
                  <a:srgbClr val="FFFF00"/>
                </a:highlight>
              </a:rPr>
              <a:t>A central CNN concept: receptive field</a:t>
            </a:r>
          </a:p>
          <a:p>
            <a:r>
              <a:rPr lang="en-GB" dirty="0"/>
              <a:t>How large a region of the original input can influence one activation in a deeper layer?</a:t>
            </a:r>
          </a:p>
          <a:p>
            <a:r>
              <a:rPr lang="en-GB" dirty="0"/>
              <a:t>This region is called the </a:t>
            </a:r>
            <a:r>
              <a:rPr lang="en-GB" b="1" dirty="0"/>
              <a:t>receptive field</a:t>
            </a:r>
            <a:r>
              <a:rPr lang="en-GB" dirty="0"/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63979447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Shape 0"/>
          <p:cNvSpPr/>
          <p:nvPr/>
        </p:nvSpPr>
        <p:spPr>
          <a:xfrm>
            <a:off x="11466720" y="0"/>
            <a:ext cx="722160" cy="6857640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Shape 1"/>
          <p:cNvSpPr/>
          <p:nvPr/>
        </p:nvSpPr>
        <p:spPr>
          <a:xfrm>
            <a:off x="11301840" y="0"/>
            <a:ext cx="54360" cy="6857640"/>
          </a:xfrm>
          <a:prstGeom prst="rect">
            <a:avLst/>
          </a:prstGeom>
          <a:solidFill>
            <a:srgbClr val="E7F4D2"/>
          </a:solidFill>
          <a:ln w="12700">
            <a:solidFill>
              <a:srgbClr val="E7F4D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Text 2"/>
          <p:cNvSpPr/>
          <p:nvPr/>
        </p:nvSpPr>
        <p:spPr>
          <a:xfrm>
            <a:off x="502920" y="320040"/>
            <a:ext cx="105609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From pooling to receptive field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Text 3"/>
          <p:cNvSpPr/>
          <p:nvPr/>
        </p:nvSpPr>
        <p:spPr>
          <a:xfrm>
            <a:off x="502920" y="841320"/>
            <a:ext cx="103323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506070"/>
                </a:solidFill>
                <a:effectLst/>
                <a:uFillTx/>
                <a:latin typeface="Aptos"/>
              </a:rPr>
              <a:t>Later layers see regions that have already summarized earlier local regions.</a:t>
            </a:r>
            <a:endParaRPr lang="it-IT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Shape 6"/>
          <p:cNvSpPr/>
          <p:nvPr/>
        </p:nvSpPr>
        <p:spPr>
          <a:xfrm>
            <a:off x="1097280" y="2011680"/>
            <a:ext cx="1645560" cy="594000"/>
          </a:xfrm>
          <a:prstGeom prst="roundRect">
            <a:avLst>
              <a:gd name="adj" fmla="val 7692"/>
            </a:avLst>
          </a:prstGeom>
          <a:solidFill>
            <a:srgbClr val="E7F4D2"/>
          </a:solidFill>
          <a:ln w="15240">
            <a:solidFill>
              <a:srgbClr val="86BC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Text 7"/>
          <p:cNvSpPr/>
          <p:nvPr/>
        </p:nvSpPr>
        <p:spPr>
          <a:xfrm>
            <a:off x="1124640" y="2208240"/>
            <a:ext cx="1590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Conv1D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K = 3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Shape 8"/>
          <p:cNvSpPr/>
          <p:nvPr/>
        </p:nvSpPr>
        <p:spPr>
          <a:xfrm>
            <a:off x="2926080" y="2331720"/>
            <a:ext cx="822960" cy="360"/>
          </a:xfrm>
          <a:prstGeom prst="line">
            <a:avLst/>
          </a:prstGeom>
          <a:ln w="15240">
            <a:solidFill>
              <a:srgbClr val="6B728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Shape 9"/>
          <p:cNvSpPr/>
          <p:nvPr/>
        </p:nvSpPr>
        <p:spPr>
          <a:xfrm>
            <a:off x="3931920" y="2011680"/>
            <a:ext cx="1554120" cy="594000"/>
          </a:xfrm>
          <a:prstGeom prst="roundRect">
            <a:avLst>
              <a:gd name="adj" fmla="val 7692"/>
            </a:avLst>
          </a:prstGeom>
          <a:solidFill>
            <a:srgbClr val="FFF4D7"/>
          </a:solidFill>
          <a:ln w="15240">
            <a:solidFill>
              <a:srgbClr val="F2A9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Text 10"/>
          <p:cNvSpPr/>
          <p:nvPr/>
        </p:nvSpPr>
        <p:spPr>
          <a:xfrm>
            <a:off x="3959280" y="2208240"/>
            <a:ext cx="14994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Pool ×2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Shape 11"/>
          <p:cNvSpPr/>
          <p:nvPr/>
        </p:nvSpPr>
        <p:spPr>
          <a:xfrm>
            <a:off x="5669280" y="2331720"/>
            <a:ext cx="822960" cy="360"/>
          </a:xfrm>
          <a:prstGeom prst="line">
            <a:avLst/>
          </a:prstGeom>
          <a:ln w="15240">
            <a:solidFill>
              <a:srgbClr val="6B728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Shape 12"/>
          <p:cNvSpPr/>
          <p:nvPr/>
        </p:nvSpPr>
        <p:spPr>
          <a:xfrm>
            <a:off x="6675120" y="2011680"/>
            <a:ext cx="1645560" cy="594000"/>
          </a:xfrm>
          <a:prstGeom prst="roundRect">
            <a:avLst>
              <a:gd name="adj" fmla="val 7692"/>
            </a:avLst>
          </a:prstGeom>
          <a:solidFill>
            <a:srgbClr val="E7F4D2"/>
          </a:solidFill>
          <a:ln w="15240">
            <a:solidFill>
              <a:srgbClr val="86BC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3" name="Text 13"/>
          <p:cNvSpPr/>
          <p:nvPr/>
        </p:nvSpPr>
        <p:spPr>
          <a:xfrm>
            <a:off x="6702480" y="2208240"/>
            <a:ext cx="1590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Conv1D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K = 3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Text 14"/>
          <p:cNvSpPr/>
          <p:nvPr/>
        </p:nvSpPr>
        <p:spPr>
          <a:xfrm>
            <a:off x="1097280" y="3337560"/>
            <a:ext cx="80463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111827"/>
                </a:solidFill>
                <a:effectLst/>
                <a:uFillTx/>
                <a:latin typeface="Aptos"/>
              </a:rPr>
              <a:t>The second convolution sees 3 positions in the pooled map, but each of those positions already summarizes multiple original frames.</a:t>
            </a:r>
            <a:endParaRPr lang="it-IT" sz="16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Shape 15"/>
          <p:cNvSpPr/>
          <p:nvPr/>
        </p:nvSpPr>
        <p:spPr>
          <a:xfrm>
            <a:off x="2194560" y="4572000"/>
            <a:ext cx="5303160" cy="5940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2F6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Text 16"/>
          <p:cNvSpPr/>
          <p:nvPr/>
        </p:nvSpPr>
        <p:spPr>
          <a:xfrm>
            <a:off x="2221920" y="4768560"/>
            <a:ext cx="5248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How much original input can influence one deeper activation?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Shape 17"/>
          <p:cNvSpPr/>
          <p:nvPr/>
        </p:nvSpPr>
        <p:spPr>
          <a:xfrm>
            <a:off x="7818120" y="4572000"/>
            <a:ext cx="2102760" cy="594000"/>
          </a:xfrm>
          <a:prstGeom prst="roundRect">
            <a:avLst>
              <a:gd name="adj" fmla="val 7692"/>
            </a:avLst>
          </a:prstGeom>
          <a:solidFill>
            <a:srgbClr val="EAF2FF"/>
          </a:solidFill>
          <a:ln w="15240">
            <a:solidFill>
              <a:srgbClr val="2F6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Text 18"/>
          <p:cNvSpPr/>
          <p:nvPr/>
        </p:nvSpPr>
        <p:spPr>
          <a:xfrm>
            <a:off x="7845480" y="4768560"/>
            <a:ext cx="2048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receptive field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68AA36D-6F7B-B40D-3756-BF77445E9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Block 5.E — Receptive Field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41222FC-4941-1251-F5B9-98C4D1F78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7052776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6F2F0B1-3506-3480-2892-8AD7B148C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the receptive field?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894FC09-0715-C26E-2208-DCCA39897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For a convolutional network, </a:t>
            </a:r>
            <a:r>
              <a:rPr lang="en-GB" dirty="0">
                <a:highlight>
                  <a:srgbClr val="FFFF00"/>
                </a:highlight>
              </a:rPr>
              <a:t>the </a:t>
            </a:r>
            <a:r>
              <a:rPr lang="en-GB" b="1" dirty="0">
                <a:highlight>
                  <a:srgbClr val="FFFF00"/>
                </a:highlight>
              </a:rPr>
              <a:t>receptive field of one activation </a:t>
            </a:r>
            <a:r>
              <a:rPr lang="en-GB" dirty="0">
                <a:highlight>
                  <a:srgbClr val="FFFF00"/>
                </a:highlight>
              </a:rPr>
              <a:t>is: the region of the original input sequence that can influence that activation</a:t>
            </a:r>
            <a:r>
              <a:rPr lang="en-GB" dirty="0"/>
              <a:t>.</a:t>
            </a:r>
          </a:p>
          <a:p>
            <a:r>
              <a:rPr lang="en-GB" dirty="0"/>
              <a:t>Consider a Conv1D layer with:</a:t>
            </a:r>
          </a:p>
          <a:p>
            <a:r>
              <a:rPr lang="en-GB" dirty="0"/>
              <a:t>kernel size K = 3</a:t>
            </a:r>
          </a:p>
          <a:p>
            <a:r>
              <a:rPr lang="en-GB" dirty="0"/>
              <a:t>One output activation depends directly on three </a:t>
            </a:r>
            <a:r>
              <a:rPr lang="en-GB" dirty="0" err="1"/>
              <a:t>neighboring</a:t>
            </a:r>
            <a:r>
              <a:rPr lang="en-GB" dirty="0"/>
              <a:t> input time steps.</a:t>
            </a:r>
          </a:p>
          <a:p>
            <a:r>
              <a:rPr lang="en-GB" dirty="0"/>
              <a:t>Conceptually:</a:t>
            </a:r>
          </a:p>
          <a:p>
            <a:r>
              <a:rPr lang="en-GB" dirty="0"/>
              <a:t>input:</a:t>
            </a:r>
          </a:p>
          <a:p>
            <a:pPr lvl="1"/>
            <a:r>
              <a:rPr lang="en-GB" dirty="0"/>
              <a:t>x[1] x[2] x[3] x[4] x[5]</a:t>
            </a:r>
          </a:p>
          <a:p>
            <a:pPr lvl="1"/>
            <a:r>
              <a:rPr lang="en-GB" dirty="0"/>
              <a:t>             ↓</a:t>
            </a:r>
          </a:p>
          <a:p>
            <a:pPr lvl="1"/>
            <a:r>
              <a:rPr lang="en-GB" dirty="0"/>
              <a:t>output at one position</a:t>
            </a:r>
          </a:p>
          <a:p>
            <a:r>
              <a:rPr lang="en-GB" dirty="0"/>
              <a:t>      depends on 3 inputs</a:t>
            </a:r>
          </a:p>
          <a:p>
            <a:r>
              <a:rPr lang="en-GB" b="1" dirty="0"/>
              <a:t>First-layer receptive field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26766227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B19F796-913F-C352-F1D6-2E7D00771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the receptive field?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A54A954-8F00-F93D-5738-742D3E2EC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For a single convolutional layer with:</a:t>
            </a:r>
          </a:p>
          <a:p>
            <a:pPr lvl="0"/>
            <a:r>
              <a:rPr lang="en-GB" dirty="0"/>
              <a:t>stride 1; </a:t>
            </a:r>
          </a:p>
          <a:p>
            <a:pPr lvl="0"/>
            <a:r>
              <a:rPr lang="en-GB" dirty="0"/>
              <a:t>no dilation; </a:t>
            </a:r>
          </a:p>
          <a:p>
            <a:r>
              <a:rPr lang="en-GB" dirty="0"/>
              <a:t>the receptive field is simply: K (kernel size)</a:t>
            </a:r>
          </a:p>
          <a:p>
            <a:r>
              <a:rPr lang="en-GB" b="1" dirty="0"/>
              <a:t>Example</a:t>
            </a:r>
          </a:p>
          <a:p>
            <a:r>
              <a:rPr lang="en-GB" dirty="0"/>
              <a:t>K = 5</a:t>
            </a:r>
          </a:p>
          <a:p>
            <a:r>
              <a:rPr lang="en-GB" dirty="0"/>
              <a:t>means each first-layer activation directly depends on five original time steps.</a:t>
            </a:r>
          </a:p>
          <a:p>
            <a:endParaRPr lang="en-GB" dirty="0"/>
          </a:p>
          <a:p>
            <a:r>
              <a:rPr lang="en-GB" b="1" dirty="0"/>
              <a:t>The receptive field tells us how much temporal context an output can actually use.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08994810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0"/>
            <a:ext cx="1042416" cy="6858000"/>
          </a:xfrm>
          <a:prstGeom prst="rect">
            <a:avLst/>
          </a:prstGeom>
          <a:solidFill>
            <a:srgbClr val="84B91F">
              <a:alpha val="95000"/>
            </a:srgbClr>
          </a:solidFill>
          <a:ln w="12700">
            <a:solidFill>
              <a:srgbClr val="84B9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927080" y="0"/>
            <a:ext cx="0" cy="6858000"/>
          </a:xfrm>
          <a:prstGeom prst="line">
            <a:avLst/>
          </a:prstGeom>
          <a:noFill/>
          <a:ln w="8890">
            <a:solidFill>
              <a:srgbClr val="CBD5E1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94360" y="32004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5.E.1 — Receptive field: one activation sees a local region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12648" y="84124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  <a:highlight>
                  <a:srgbClr val="FFFF00"/>
                </a:highlight>
                <a:latin typeface="Aptos" pitchFamily="34" charset="0"/>
                <a:ea typeface="Aptos" pitchFamily="34" charset="-122"/>
                <a:cs typeface="Aptos" pitchFamily="34" charset="-120"/>
              </a:rPr>
              <a:t>A </a:t>
            </a:r>
            <a:r>
              <a:rPr lang="en-US" sz="1350" b="1" dirty="0">
                <a:solidFill>
                  <a:srgbClr val="475569"/>
                </a:solidFill>
                <a:highlight>
                  <a:srgbClr val="FFFF00"/>
                </a:highlight>
                <a:latin typeface="Aptos" pitchFamily="34" charset="0"/>
                <a:ea typeface="Aptos" pitchFamily="34" charset="-122"/>
                <a:cs typeface="Aptos" pitchFamily="34" charset="-120"/>
              </a:rPr>
              <a:t>single first-layer Conv1D activation </a:t>
            </a:r>
            <a:r>
              <a:rPr lang="en-US" sz="1350" dirty="0">
                <a:solidFill>
                  <a:srgbClr val="475569"/>
                </a:solidFill>
                <a:highlight>
                  <a:srgbClr val="FFFF00"/>
                </a:highlight>
                <a:latin typeface="Aptos" pitchFamily="34" charset="0"/>
                <a:ea typeface="Aptos" pitchFamily="34" charset="-122"/>
                <a:cs typeface="Aptos" pitchFamily="34" charset="-120"/>
              </a:rPr>
              <a:t>depends only on the frames covered by its kernel.</a:t>
            </a:r>
            <a:endParaRPr lang="en-US" sz="1350" dirty="0">
              <a:highlight>
                <a:srgbClr val="FFFF00"/>
              </a:highlight>
            </a:endParaRPr>
          </a:p>
        </p:txBody>
      </p:sp>
      <p:sp>
        <p:nvSpPr>
          <p:cNvPr id="6" name="Text 4"/>
          <p:cNvSpPr/>
          <p:nvPr/>
        </p:nvSpPr>
        <p:spPr>
          <a:xfrm>
            <a:off x="777240" y="1417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</a:rPr>
              <a:t>original input sequence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1874520"/>
            <a:ext cx="5486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822960" y="20025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</a:rPr>
              <a:t>x1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508760" y="1874520"/>
            <a:ext cx="5486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508760" y="20025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</a:rPr>
              <a:t>x2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194560" y="1874520"/>
            <a:ext cx="548640" cy="457200"/>
          </a:xfrm>
          <a:prstGeom prst="roundRect">
            <a:avLst>
              <a:gd name="adj" fmla="val 8000"/>
            </a:avLst>
          </a:prstGeom>
          <a:solidFill>
            <a:srgbClr val="E7F5C7"/>
          </a:solidFill>
          <a:ln w="1397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2194560" y="20025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x3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880360" y="1874520"/>
            <a:ext cx="548640" cy="457200"/>
          </a:xfrm>
          <a:prstGeom prst="roundRect">
            <a:avLst>
              <a:gd name="adj" fmla="val 8000"/>
            </a:avLst>
          </a:prstGeom>
          <a:solidFill>
            <a:srgbClr val="E7F5C7"/>
          </a:solidFill>
          <a:ln w="1397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2880360" y="20025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x4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566160" y="1874520"/>
            <a:ext cx="548640" cy="457200"/>
          </a:xfrm>
          <a:prstGeom prst="roundRect">
            <a:avLst>
              <a:gd name="adj" fmla="val 8000"/>
            </a:avLst>
          </a:prstGeom>
          <a:solidFill>
            <a:srgbClr val="E7F5C7"/>
          </a:solidFill>
          <a:ln w="1397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3566160" y="20025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x5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251960" y="1874520"/>
            <a:ext cx="5486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4251960" y="20025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</a:rPr>
              <a:t>x6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937760" y="1874520"/>
            <a:ext cx="5486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937760" y="20025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</a:rPr>
              <a:t>x7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 flipV="1">
            <a:off x="2148840" y="2441448"/>
            <a:ext cx="1783080" cy="274320"/>
          </a:xfrm>
          <a:prstGeom prst="bracePair">
            <a:avLst/>
          </a:prstGeom>
          <a:noFill/>
          <a:ln w="1651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2011680" y="27614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4B91F"/>
                </a:solidFill>
              </a:rPr>
              <a:t>kernel K = 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063240" y="3154680"/>
            <a:ext cx="0" cy="731520"/>
          </a:xfrm>
          <a:prstGeom prst="line">
            <a:avLst/>
          </a:prstGeom>
          <a:noFill/>
          <a:ln w="27940">
            <a:solidFill>
              <a:srgbClr val="84B91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2240280" y="3977640"/>
            <a:ext cx="1645920" cy="640080"/>
          </a:xfrm>
          <a:prstGeom prst="roundRect">
            <a:avLst>
              <a:gd name="adj" fmla="val 8571"/>
            </a:avLst>
          </a:prstGeom>
          <a:solidFill>
            <a:srgbClr val="E7F5C7"/>
          </a:solidFill>
          <a:ln w="1524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2286000" y="416417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one output activation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51560" y="49834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receptive field = 3 input time steps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623560" y="1828800"/>
            <a:ext cx="3611880" cy="114300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5696711" y="2040599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Output can only use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what is inside the highlighted region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669280" y="300649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475569"/>
                </a:solidFill>
              </a:rPr>
              <a:t>No information outside the receptive field can influence this activation.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94360" y="6281928"/>
            <a:ext cx="9829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749808" y="6345936"/>
            <a:ext cx="9509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highlight>
                  <a:srgbClr val="FFFF00"/>
                </a:highlight>
              </a:rPr>
              <a:t>Receptive field = region of the original input that can influence an output activation.</a:t>
            </a:r>
            <a:endParaRPr lang="en-US" sz="1200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F19B8AA-D522-8960-4D60-3A490B5CC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Receptive field grows with depth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8A7930C-8C77-5758-56AC-078273346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Consider two Conv1D layers.</a:t>
            </a:r>
          </a:p>
          <a:p>
            <a:r>
              <a:rPr lang="en-GB" dirty="0"/>
              <a:t>Both have:</a:t>
            </a:r>
          </a:p>
          <a:p>
            <a:r>
              <a:rPr lang="en-GB" dirty="0"/>
              <a:t>kernel size = 3</a:t>
            </a:r>
          </a:p>
          <a:p>
            <a:r>
              <a:rPr lang="en-GB" dirty="0"/>
              <a:t>and:</a:t>
            </a:r>
          </a:p>
          <a:p>
            <a:r>
              <a:rPr lang="en-GB" dirty="0"/>
              <a:t>stride = 1</a:t>
            </a:r>
          </a:p>
          <a:p>
            <a:r>
              <a:rPr lang="en-GB" b="1" dirty="0"/>
              <a:t>Layer 1</a:t>
            </a:r>
          </a:p>
          <a:p>
            <a:r>
              <a:rPr lang="en-GB" dirty="0"/>
              <a:t>One activation depends on: 3 original input samples</a:t>
            </a:r>
          </a:p>
          <a:p>
            <a:r>
              <a:rPr lang="en-GB" b="1" dirty="0"/>
              <a:t>Layer 2</a:t>
            </a:r>
          </a:p>
          <a:p>
            <a:r>
              <a:rPr lang="en-GB" dirty="0"/>
              <a:t>One activation depends on three activations from Layer 1.</a:t>
            </a:r>
          </a:p>
          <a:p>
            <a:r>
              <a:rPr lang="en-GB" dirty="0"/>
              <a:t>But each Layer-1 activation already depends on three original inputs.</a:t>
            </a:r>
          </a:p>
          <a:p>
            <a:r>
              <a:rPr lang="en-GB" b="1" dirty="0"/>
              <a:t>Therefore the Layer-2 activation depends on a larger region of the original sequence.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22974658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8DCED-5350-5372-C589-08D68C08A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8914366-463D-6A23-33F9-30463B795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Receptive field grows with depth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5B96A8D-4013-16F6-5D24-E31E9D963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Input:</a:t>
            </a:r>
          </a:p>
          <a:p>
            <a:r>
              <a:rPr lang="en-GB" dirty="0"/>
              <a:t>x1 x2 x3 x4 x5</a:t>
            </a:r>
          </a:p>
          <a:p>
            <a:r>
              <a:rPr lang="en-GB" dirty="0"/>
              <a:t>Layer 1:</a:t>
            </a:r>
          </a:p>
          <a:p>
            <a:r>
              <a:rPr lang="en-GB" dirty="0"/>
              <a:t>   a1 a2 a3</a:t>
            </a:r>
            <a:br>
              <a:rPr lang="en-GB" dirty="0"/>
            </a:br>
            <a:endParaRPr lang="en-GB" dirty="0"/>
          </a:p>
          <a:p>
            <a:r>
              <a:rPr lang="en-GB" dirty="0"/>
              <a:t>Layer 2:</a:t>
            </a:r>
          </a:p>
          <a:p>
            <a:r>
              <a:rPr lang="en-GB" dirty="0"/>
              <a:t>      b1</a:t>
            </a:r>
          </a:p>
          <a:p>
            <a:r>
              <a:rPr lang="en-GB" dirty="0"/>
              <a:t>b1 can depend on:</a:t>
            </a:r>
          </a:p>
          <a:p>
            <a:r>
              <a:rPr lang="en-GB" dirty="0"/>
              <a:t>x1 ... x5</a:t>
            </a:r>
          </a:p>
          <a:p>
            <a:r>
              <a:rPr lang="en-GB" b="1" dirty="0"/>
              <a:t>Result</a:t>
            </a:r>
          </a:p>
          <a:p>
            <a:r>
              <a:rPr lang="en-GB" dirty="0"/>
              <a:t>For two layers with K = 3: receptive field = 5</a:t>
            </a:r>
          </a:p>
          <a:p>
            <a:endParaRPr lang="en-GB" b="1" dirty="0"/>
          </a:p>
          <a:p>
            <a:r>
              <a:rPr lang="en-GB" b="1" dirty="0">
                <a:highlight>
                  <a:srgbClr val="FFFF00"/>
                </a:highlight>
              </a:rPr>
              <a:t>Stacking local convolutions produces progressively larger temporal context.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24414524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06123E1-BCAF-2CA7-F67A-D3E700087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three convolutional layers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C4A0051-49F2-A0D0-151E-46DC24DE48F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Suppose we stack three convolutional layers.</a:t>
            </a:r>
          </a:p>
          <a:p>
            <a:r>
              <a:rPr lang="en-GB" dirty="0"/>
              <a:t>Each uses:</a:t>
            </a:r>
          </a:p>
          <a:p>
            <a:pPr lvl="0"/>
            <a:r>
              <a:rPr lang="en-GB" dirty="0"/>
              <a:t>kernel size K = 3; </a:t>
            </a:r>
          </a:p>
          <a:p>
            <a:pPr lvl="0"/>
            <a:r>
              <a:rPr lang="en-GB" dirty="0"/>
              <a:t>stride 1; </a:t>
            </a:r>
          </a:p>
          <a:p>
            <a:pPr lvl="0"/>
            <a:r>
              <a:rPr lang="en-GB" dirty="0"/>
              <a:t>no dilation. </a:t>
            </a:r>
          </a:p>
          <a:p>
            <a:r>
              <a:rPr lang="en-GB" b="1" dirty="0"/>
              <a:t>Layer 1</a:t>
            </a:r>
          </a:p>
          <a:p>
            <a:r>
              <a:rPr lang="en-GB" dirty="0"/>
              <a:t>Receptive field (number of original frames): 3</a:t>
            </a:r>
          </a:p>
          <a:p>
            <a:r>
              <a:rPr lang="en-GB" b="1" dirty="0"/>
              <a:t>Layer 2</a:t>
            </a:r>
          </a:p>
          <a:p>
            <a:r>
              <a:rPr lang="en-GB" dirty="0"/>
              <a:t>Receptive field: 5</a:t>
            </a:r>
          </a:p>
          <a:p>
            <a:r>
              <a:rPr lang="en-GB" b="1" dirty="0"/>
              <a:t>Layer 3</a:t>
            </a:r>
          </a:p>
          <a:p>
            <a:r>
              <a:rPr lang="en-GB" dirty="0"/>
              <a:t>Receptive field: 7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5A14495-D945-DC2C-356F-AE259A7B63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6663880" cy="4516436"/>
          </a:xfrm>
        </p:spPr>
        <p:txBody>
          <a:bodyPr>
            <a:normAutofit fontScale="85000" lnSpcReduction="20000"/>
          </a:bodyPr>
          <a:lstStyle/>
          <a:p>
            <a:r>
              <a:rPr lang="en-GB" b="1" dirty="0">
                <a:highlight>
                  <a:srgbClr val="FFFF00"/>
                </a:highlight>
              </a:rPr>
              <a:t>General pattern for stride 1</a:t>
            </a:r>
          </a:p>
          <a:p>
            <a:r>
              <a:rPr lang="en-GB" dirty="0"/>
              <a:t>For n layers with the same kernel size K:</a:t>
            </a:r>
          </a:p>
          <a:p>
            <a:r>
              <a:rPr lang="en-GB" dirty="0">
                <a:highlight>
                  <a:srgbClr val="FFFF00"/>
                </a:highlight>
              </a:rPr>
              <a:t>receptive field of the n-</a:t>
            </a:r>
            <a:r>
              <a:rPr lang="en-GB" dirty="0" err="1">
                <a:highlight>
                  <a:srgbClr val="FFFF00"/>
                </a:highlight>
              </a:rPr>
              <a:t>th</a:t>
            </a:r>
            <a:r>
              <a:rPr lang="en-GB" dirty="0">
                <a:highlight>
                  <a:srgbClr val="FFFF00"/>
                </a:highlight>
              </a:rPr>
              <a:t> layer = 1 + n × (K − 1)</a:t>
            </a:r>
          </a:p>
          <a:p>
            <a:endParaRPr lang="en-GB" b="1" dirty="0"/>
          </a:p>
          <a:p>
            <a:r>
              <a:rPr lang="en-GB" b="1" dirty="0"/>
              <a:t>Example</a:t>
            </a:r>
          </a:p>
          <a:p>
            <a:r>
              <a:rPr lang="en-GB" dirty="0"/>
              <a:t>For: n = 4</a:t>
            </a:r>
          </a:p>
          <a:p>
            <a:r>
              <a:rPr lang="en-GB" dirty="0"/>
              <a:t>and:</a:t>
            </a:r>
          </a:p>
          <a:p>
            <a:r>
              <a:rPr lang="en-GB" dirty="0"/>
              <a:t>K = 5</a:t>
            </a:r>
          </a:p>
          <a:p>
            <a:r>
              <a:rPr lang="en-GB" dirty="0"/>
              <a:t>we obtain:</a:t>
            </a:r>
          </a:p>
          <a:p>
            <a:r>
              <a:rPr lang="en-GB" dirty="0"/>
              <a:t>1 + 4 × 4 = 17</a:t>
            </a:r>
          </a:p>
          <a:p>
            <a:r>
              <a:rPr lang="en-GB" dirty="0"/>
              <a:t>original time steps.</a:t>
            </a:r>
          </a:p>
        </p:txBody>
      </p:sp>
    </p:spTree>
    <p:extLst>
      <p:ext uri="{BB962C8B-B14F-4D97-AF65-F5344CB8AC3E}">
        <p14:creationId xmlns:p14="http://schemas.microsoft.com/office/powerpoint/2010/main" val="1581367185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0"/>
            <a:ext cx="1042416" cy="6858000"/>
          </a:xfrm>
          <a:prstGeom prst="rect">
            <a:avLst/>
          </a:prstGeom>
          <a:solidFill>
            <a:srgbClr val="84B91F">
              <a:alpha val="95000"/>
            </a:srgbClr>
          </a:solidFill>
          <a:ln w="12700">
            <a:solidFill>
              <a:srgbClr val="84B9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927080" y="0"/>
            <a:ext cx="0" cy="6858000"/>
          </a:xfrm>
          <a:prstGeom prst="line">
            <a:avLst/>
          </a:prstGeom>
          <a:noFill/>
          <a:ln w="8890">
            <a:solidFill>
              <a:srgbClr val="CBD5E1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94360" y="32004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highlight>
                  <a:srgbClr val="FFFF00"/>
                </a:highlight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5.E.2 — Receptive field grows with depth</a:t>
            </a:r>
            <a:endParaRPr lang="en-US" sz="2600" dirty="0">
              <a:highlight>
                <a:srgbClr val="FFFF00"/>
              </a:highlight>
            </a:endParaRPr>
          </a:p>
        </p:txBody>
      </p:sp>
      <p:sp>
        <p:nvSpPr>
          <p:cNvPr id="5" name="Text 3"/>
          <p:cNvSpPr/>
          <p:nvPr/>
        </p:nvSpPr>
        <p:spPr>
          <a:xfrm>
            <a:off x="612648" y="84124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Stacking local convolutions creates larger temporal context in deeper layers.</a:t>
            </a:r>
            <a:endParaRPr lang="en-US" sz="1350" b="1" dirty="0"/>
          </a:p>
        </p:txBody>
      </p:sp>
      <p:sp>
        <p:nvSpPr>
          <p:cNvPr id="6" name="Shape 4"/>
          <p:cNvSpPr/>
          <p:nvPr/>
        </p:nvSpPr>
        <p:spPr>
          <a:xfrm>
            <a:off x="914400" y="4846320"/>
            <a:ext cx="53035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914400" y="497433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x1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508760" y="4846320"/>
            <a:ext cx="53035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508760" y="497433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x2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103120" y="4846320"/>
            <a:ext cx="53035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2103120" y="497433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x3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697480" y="4846320"/>
            <a:ext cx="53035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2697480" y="497433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x4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91840" y="4846320"/>
            <a:ext cx="53035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3291840" y="497433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x5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886200" y="4846320"/>
            <a:ext cx="53035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3886200" y="497433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x6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80560" y="4846320"/>
            <a:ext cx="53035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480560" y="497433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x7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1440" y="498348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172A"/>
                </a:solidFill>
              </a:rPr>
              <a:t>Input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216152" y="3794760"/>
            <a:ext cx="457200" cy="411480"/>
          </a:xfrm>
          <a:prstGeom prst="roundRect">
            <a:avLst>
              <a:gd name="adj" fmla="val 13333"/>
            </a:avLst>
          </a:prstGeom>
          <a:solidFill>
            <a:srgbClr val="E7F5C7"/>
          </a:solidFill>
          <a:ln w="1524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1261872" y="3908146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</a:rPr>
              <a:t>a1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810512" y="3794760"/>
            <a:ext cx="457200" cy="411480"/>
          </a:xfrm>
          <a:prstGeom prst="roundRect">
            <a:avLst>
              <a:gd name="adj" fmla="val 13333"/>
            </a:avLst>
          </a:prstGeom>
          <a:solidFill>
            <a:srgbClr val="E7F5C7"/>
          </a:solidFill>
          <a:ln w="1524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1856232" y="3908146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</a:rPr>
              <a:t>a2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404872" y="3794760"/>
            <a:ext cx="457200" cy="411480"/>
          </a:xfrm>
          <a:prstGeom prst="roundRect">
            <a:avLst>
              <a:gd name="adj" fmla="val 13333"/>
            </a:avLst>
          </a:prstGeom>
          <a:solidFill>
            <a:srgbClr val="E7F5C7"/>
          </a:solidFill>
          <a:ln w="1524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2450592" y="3908146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</a:rPr>
              <a:t>a3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999232" y="3794760"/>
            <a:ext cx="457200" cy="411480"/>
          </a:xfrm>
          <a:prstGeom prst="roundRect">
            <a:avLst>
              <a:gd name="adj" fmla="val 13333"/>
            </a:avLst>
          </a:prstGeom>
          <a:solidFill>
            <a:srgbClr val="E7F5C7"/>
          </a:solidFill>
          <a:ln w="1524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3044952" y="3908146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</a:rPr>
              <a:t>a4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593592" y="3794760"/>
            <a:ext cx="457200" cy="411480"/>
          </a:xfrm>
          <a:prstGeom prst="roundRect">
            <a:avLst>
              <a:gd name="adj" fmla="val 13333"/>
            </a:avLst>
          </a:prstGeom>
          <a:solidFill>
            <a:srgbClr val="E7F5C7"/>
          </a:solidFill>
          <a:ln w="1524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3639312" y="3908146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</a:rPr>
              <a:t>a5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1440" y="38862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172A"/>
                </a:solidFill>
              </a:rPr>
              <a:t>Layer 1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810512" y="2743200"/>
            <a:ext cx="457200" cy="411480"/>
          </a:xfrm>
          <a:prstGeom prst="roundRect">
            <a:avLst>
              <a:gd name="adj" fmla="val 13333"/>
            </a:avLst>
          </a:prstGeom>
          <a:solidFill>
            <a:srgbClr val="FFF7CC"/>
          </a:solidFill>
          <a:ln w="15240">
            <a:solidFill>
              <a:srgbClr val="F7C94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1856232" y="2856586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</a:rPr>
              <a:t>b1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404872" y="2743200"/>
            <a:ext cx="457200" cy="411480"/>
          </a:xfrm>
          <a:prstGeom prst="roundRect">
            <a:avLst>
              <a:gd name="adj" fmla="val 13333"/>
            </a:avLst>
          </a:prstGeom>
          <a:solidFill>
            <a:srgbClr val="FFF7CC"/>
          </a:solidFill>
          <a:ln w="15240">
            <a:solidFill>
              <a:srgbClr val="F7C94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2450592" y="2856586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</a:rPr>
              <a:t>b2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999232" y="2743200"/>
            <a:ext cx="457200" cy="411480"/>
          </a:xfrm>
          <a:prstGeom prst="roundRect">
            <a:avLst>
              <a:gd name="adj" fmla="val 13333"/>
            </a:avLst>
          </a:prstGeom>
          <a:solidFill>
            <a:srgbClr val="FFF7CC"/>
          </a:solidFill>
          <a:ln w="15240">
            <a:solidFill>
              <a:srgbClr val="F7C94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3044952" y="2856586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</a:rPr>
              <a:t>b3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1440" y="285292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172A"/>
                </a:solidFill>
              </a:rPr>
              <a:t>Layer 2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404872" y="1691640"/>
            <a:ext cx="457200" cy="411480"/>
          </a:xfrm>
          <a:prstGeom prst="roundRect">
            <a:avLst>
              <a:gd name="adj" fmla="val 13333"/>
            </a:avLst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2450592" y="1805026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</a:rPr>
              <a:t>c1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1440" y="180136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172A"/>
                </a:solidFill>
              </a:rPr>
              <a:t>Layer 3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143000" y="4846320"/>
            <a:ext cx="301752" cy="0"/>
          </a:xfrm>
          <a:prstGeom prst="line">
            <a:avLst/>
          </a:prstGeom>
          <a:noFill/>
          <a:ln w="1270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41"/>
          <p:cNvSpPr/>
          <p:nvPr/>
        </p:nvSpPr>
        <p:spPr>
          <a:xfrm>
            <a:off x="1737360" y="4846320"/>
            <a:ext cx="0" cy="0"/>
          </a:xfrm>
          <a:prstGeom prst="line">
            <a:avLst/>
          </a:prstGeom>
          <a:noFill/>
          <a:ln w="1270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Shape 42"/>
          <p:cNvSpPr/>
          <p:nvPr/>
        </p:nvSpPr>
        <p:spPr>
          <a:xfrm>
            <a:off x="2331720" y="4846320"/>
            <a:ext cx="0" cy="0"/>
          </a:xfrm>
          <a:prstGeom prst="line">
            <a:avLst/>
          </a:prstGeom>
          <a:noFill/>
          <a:ln w="1270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Shape 43"/>
          <p:cNvSpPr/>
          <p:nvPr/>
        </p:nvSpPr>
        <p:spPr>
          <a:xfrm>
            <a:off x="2331720" y="4846320"/>
            <a:ext cx="0" cy="0"/>
          </a:xfrm>
          <a:prstGeom prst="line">
            <a:avLst/>
          </a:prstGeom>
          <a:noFill/>
          <a:ln w="1270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Shape 44"/>
          <p:cNvSpPr/>
          <p:nvPr/>
        </p:nvSpPr>
        <p:spPr>
          <a:xfrm>
            <a:off x="2926080" y="4846320"/>
            <a:ext cx="0" cy="0"/>
          </a:xfrm>
          <a:prstGeom prst="line">
            <a:avLst/>
          </a:prstGeom>
          <a:noFill/>
          <a:ln w="1270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Shape 45"/>
          <p:cNvSpPr/>
          <p:nvPr/>
        </p:nvSpPr>
        <p:spPr>
          <a:xfrm>
            <a:off x="3520440" y="4846320"/>
            <a:ext cx="0" cy="0"/>
          </a:xfrm>
          <a:prstGeom prst="line">
            <a:avLst/>
          </a:prstGeom>
          <a:noFill/>
          <a:ln w="1270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Shape 46"/>
          <p:cNvSpPr/>
          <p:nvPr/>
        </p:nvSpPr>
        <p:spPr>
          <a:xfrm>
            <a:off x="3520440" y="4846320"/>
            <a:ext cx="0" cy="0"/>
          </a:xfrm>
          <a:prstGeom prst="line">
            <a:avLst/>
          </a:prstGeom>
          <a:noFill/>
          <a:ln w="1270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4114800" y="4846320"/>
            <a:ext cx="0" cy="0"/>
          </a:xfrm>
          <a:prstGeom prst="line">
            <a:avLst/>
          </a:prstGeom>
          <a:noFill/>
          <a:ln w="1270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Shape 48"/>
          <p:cNvSpPr/>
          <p:nvPr/>
        </p:nvSpPr>
        <p:spPr>
          <a:xfrm>
            <a:off x="4709160" y="4846320"/>
            <a:ext cx="0" cy="0"/>
          </a:xfrm>
          <a:prstGeom prst="line">
            <a:avLst/>
          </a:prstGeom>
          <a:noFill/>
          <a:ln w="1270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Shape 49"/>
          <p:cNvSpPr/>
          <p:nvPr/>
        </p:nvSpPr>
        <p:spPr>
          <a:xfrm flipV="1">
            <a:off x="2487259" y="3694176"/>
            <a:ext cx="1398921" cy="8220"/>
          </a:xfrm>
          <a:prstGeom prst="line">
            <a:avLst/>
          </a:prstGeom>
          <a:noFill/>
          <a:ln w="12700">
            <a:solidFill>
              <a:srgbClr val="F7C94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Shape 50"/>
          <p:cNvSpPr/>
          <p:nvPr/>
        </p:nvSpPr>
        <p:spPr>
          <a:xfrm>
            <a:off x="2039112" y="3794760"/>
            <a:ext cx="0" cy="0"/>
          </a:xfrm>
          <a:prstGeom prst="line">
            <a:avLst/>
          </a:prstGeom>
          <a:noFill/>
          <a:ln w="12700">
            <a:solidFill>
              <a:srgbClr val="F7C94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Shape 51"/>
          <p:cNvSpPr/>
          <p:nvPr/>
        </p:nvSpPr>
        <p:spPr>
          <a:xfrm>
            <a:off x="2633472" y="3794760"/>
            <a:ext cx="0" cy="0"/>
          </a:xfrm>
          <a:prstGeom prst="line">
            <a:avLst/>
          </a:prstGeom>
          <a:noFill/>
          <a:ln w="12700">
            <a:solidFill>
              <a:srgbClr val="F7C94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Shape 52"/>
          <p:cNvSpPr/>
          <p:nvPr/>
        </p:nvSpPr>
        <p:spPr>
          <a:xfrm>
            <a:off x="2633472" y="3794760"/>
            <a:ext cx="0" cy="0"/>
          </a:xfrm>
          <a:prstGeom prst="line">
            <a:avLst/>
          </a:prstGeom>
          <a:noFill/>
          <a:ln w="12700">
            <a:solidFill>
              <a:srgbClr val="F7C94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Shape 53"/>
          <p:cNvSpPr/>
          <p:nvPr/>
        </p:nvSpPr>
        <p:spPr>
          <a:xfrm>
            <a:off x="3227832" y="3794760"/>
            <a:ext cx="0" cy="0"/>
          </a:xfrm>
          <a:prstGeom prst="line">
            <a:avLst/>
          </a:prstGeom>
          <a:noFill/>
          <a:ln w="12700">
            <a:solidFill>
              <a:srgbClr val="F7C94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Shape 54"/>
          <p:cNvSpPr/>
          <p:nvPr/>
        </p:nvSpPr>
        <p:spPr>
          <a:xfrm>
            <a:off x="3822192" y="3794760"/>
            <a:ext cx="0" cy="0"/>
          </a:xfrm>
          <a:prstGeom prst="line">
            <a:avLst/>
          </a:prstGeom>
          <a:noFill/>
          <a:ln w="12700">
            <a:solidFill>
              <a:srgbClr val="F7C94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Shape 55"/>
          <p:cNvSpPr/>
          <p:nvPr/>
        </p:nvSpPr>
        <p:spPr>
          <a:xfrm flipV="1">
            <a:off x="1970486" y="2642617"/>
            <a:ext cx="1257346" cy="822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Shape 56"/>
          <p:cNvSpPr/>
          <p:nvPr/>
        </p:nvSpPr>
        <p:spPr>
          <a:xfrm>
            <a:off x="2633472" y="2743200"/>
            <a:ext cx="0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Shape 57"/>
          <p:cNvSpPr/>
          <p:nvPr/>
        </p:nvSpPr>
        <p:spPr>
          <a:xfrm>
            <a:off x="3227832" y="2743200"/>
            <a:ext cx="0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Shape 58"/>
          <p:cNvSpPr/>
          <p:nvPr/>
        </p:nvSpPr>
        <p:spPr>
          <a:xfrm>
            <a:off x="5486400" y="1737360"/>
            <a:ext cx="3474720" cy="18288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Text 59"/>
          <p:cNvSpPr/>
          <p:nvPr/>
        </p:nvSpPr>
        <p:spPr>
          <a:xfrm>
            <a:off x="5532120" y="2304288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</a:rPr>
              <a:t>K = 3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</a:rPr>
              <a:t>1 layer → RF = 3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</a:rPr>
              <a:t>2 layers → RF = 5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</a:rPr>
              <a:t>3 layers → RF = 7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5440680" y="40690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475569"/>
                </a:solidFill>
              </a:rPr>
              <a:t>A deeper activation can depend on a wider region of the original input.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594360" y="6281928"/>
            <a:ext cx="9829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Text 62"/>
          <p:cNvSpPr/>
          <p:nvPr/>
        </p:nvSpPr>
        <p:spPr>
          <a:xfrm>
            <a:off x="749808" y="6345936"/>
            <a:ext cx="9509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Depth increases receptive field</a:t>
            </a:r>
            <a:endParaRPr lang="en-US" sz="1200" b="1" dirty="0"/>
          </a:p>
        </p:txBody>
      </p:sp>
      <p:sp>
        <p:nvSpPr>
          <p:cNvPr id="66" name="Shape 55">
            <a:extLst>
              <a:ext uri="{FF2B5EF4-FFF2-40B4-BE49-F238E27FC236}">
                <a16:creationId xmlns:a16="http://schemas.microsoft.com/office/drawing/2014/main" id="{8BF3558E-BBC2-24B9-86CA-0D117E9CC787}"/>
              </a:ext>
            </a:extLst>
          </p:cNvPr>
          <p:cNvSpPr/>
          <p:nvPr/>
        </p:nvSpPr>
        <p:spPr>
          <a:xfrm flipV="1">
            <a:off x="3456431" y="4695444"/>
            <a:ext cx="1281823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8" name="CasellaDiTesto 67">
            <a:extLst>
              <a:ext uri="{FF2B5EF4-FFF2-40B4-BE49-F238E27FC236}">
                <a16:creationId xmlns:a16="http://schemas.microsoft.com/office/drawing/2014/main" id="{379BEC87-9638-8F74-0087-839D6F7478C8}"/>
              </a:ext>
            </a:extLst>
          </p:cNvPr>
          <p:cNvSpPr txBox="1"/>
          <p:nvPr/>
        </p:nvSpPr>
        <p:spPr>
          <a:xfrm>
            <a:off x="7993610" y="5054060"/>
            <a:ext cx="410695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dirty="0">
                <a:highlight>
                  <a:srgbClr val="FFFF00"/>
                </a:highlight>
              </a:rPr>
              <a:t>General pattern for stride 1</a:t>
            </a:r>
          </a:p>
          <a:p>
            <a:r>
              <a:rPr lang="en-GB" sz="1400" dirty="0"/>
              <a:t>For n layers with the same kernel size K:</a:t>
            </a:r>
          </a:p>
          <a:p>
            <a:r>
              <a:rPr lang="en-GB" sz="1400" dirty="0">
                <a:highlight>
                  <a:srgbClr val="FFFF00"/>
                </a:highlight>
              </a:rPr>
              <a:t>receptive field of the n-</a:t>
            </a:r>
            <a:r>
              <a:rPr lang="en-GB" sz="1400" dirty="0" err="1">
                <a:highlight>
                  <a:srgbClr val="FFFF00"/>
                </a:highlight>
              </a:rPr>
              <a:t>th</a:t>
            </a:r>
            <a:r>
              <a:rPr lang="en-GB" sz="1400" dirty="0">
                <a:highlight>
                  <a:srgbClr val="FFFF00"/>
                </a:highlight>
              </a:rPr>
              <a:t> layer = 1 + n × (K − 1)</a:t>
            </a:r>
            <a:endParaRPr lang="en-GB" sz="14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78A866-B884-7B2E-9B34-F3F32C70C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Receptive field is different from kernel size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5C42C4F-5D55-D054-B355-37C33DF213F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These two concepts should not be confused.</a:t>
            </a:r>
          </a:p>
          <a:p>
            <a:endParaRPr lang="en-GB" b="1" dirty="0"/>
          </a:p>
          <a:p>
            <a:r>
              <a:rPr lang="en-GB" b="1" dirty="0"/>
              <a:t>Kernel size</a:t>
            </a:r>
          </a:p>
          <a:p>
            <a:pPr lvl="1"/>
            <a:r>
              <a:rPr lang="en-GB" dirty="0"/>
              <a:t>Describes the local region seen by </a:t>
            </a:r>
            <a:r>
              <a:rPr lang="en-GB" b="1" dirty="0"/>
              <a:t>one convolutional layer</a:t>
            </a:r>
            <a:r>
              <a:rPr lang="en-GB" dirty="0"/>
              <a:t>.</a:t>
            </a:r>
          </a:p>
          <a:p>
            <a:r>
              <a:rPr lang="en-GB" dirty="0"/>
              <a:t>Example:</a:t>
            </a:r>
          </a:p>
          <a:p>
            <a:pPr lvl="1"/>
            <a:r>
              <a:rPr lang="en-GB" dirty="0"/>
              <a:t>K = 3</a:t>
            </a:r>
          </a:p>
          <a:p>
            <a:endParaRPr lang="en-GB" b="1" dirty="0"/>
          </a:p>
          <a:p>
            <a:r>
              <a:rPr lang="en-GB" b="1" dirty="0"/>
              <a:t>Receptive field</a:t>
            </a:r>
          </a:p>
          <a:p>
            <a:r>
              <a:rPr lang="en-GB" dirty="0"/>
              <a:t>Describes how much of the </a:t>
            </a:r>
            <a:r>
              <a:rPr lang="en-GB" b="1" dirty="0"/>
              <a:t>original input sequence</a:t>
            </a:r>
            <a:r>
              <a:rPr lang="en-GB" dirty="0"/>
              <a:t> can influence an activation after several layers.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8B5FD87-2E0F-7D43-0256-4A2AF6B7D0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6701980" cy="3880773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Example:</a:t>
            </a:r>
          </a:p>
          <a:p>
            <a:r>
              <a:rPr lang="en-GB" dirty="0"/>
              <a:t>Conv K=3</a:t>
            </a:r>
          </a:p>
          <a:p>
            <a:r>
              <a:rPr lang="en-GB" dirty="0"/>
              <a:t>↓</a:t>
            </a:r>
          </a:p>
          <a:p>
            <a:r>
              <a:rPr lang="en-GB" dirty="0"/>
              <a:t>Conv K=3</a:t>
            </a:r>
          </a:p>
          <a:p>
            <a:r>
              <a:rPr lang="en-GB" dirty="0"/>
              <a:t>↓</a:t>
            </a:r>
          </a:p>
          <a:p>
            <a:r>
              <a:rPr lang="en-GB" dirty="0"/>
              <a:t>Conv K=3</a:t>
            </a:r>
          </a:p>
          <a:p>
            <a:r>
              <a:rPr lang="en-GB" dirty="0"/>
              <a:t>Final kernel size is still: 3</a:t>
            </a:r>
          </a:p>
          <a:p>
            <a:r>
              <a:rPr lang="en-GB" dirty="0"/>
              <a:t>but the receptive field is: 7</a:t>
            </a:r>
          </a:p>
          <a:p>
            <a:endParaRPr lang="en-GB" dirty="0"/>
          </a:p>
          <a:p>
            <a:r>
              <a:rPr lang="en-GB" dirty="0"/>
              <a:t>Kernel size is a layer parameter; receptive field is a property of the complete computation leading to an output.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10245722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0"/>
            <a:ext cx="1042416" cy="6858000"/>
          </a:xfrm>
          <a:prstGeom prst="rect">
            <a:avLst/>
          </a:prstGeom>
          <a:solidFill>
            <a:srgbClr val="84B91F">
              <a:alpha val="95000"/>
            </a:srgbClr>
          </a:solidFill>
          <a:ln w="12700">
            <a:solidFill>
              <a:srgbClr val="84B9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927080" y="0"/>
            <a:ext cx="0" cy="6858000"/>
          </a:xfrm>
          <a:prstGeom prst="line">
            <a:avLst/>
          </a:prstGeom>
          <a:noFill/>
          <a:ln w="8890">
            <a:solidFill>
              <a:srgbClr val="CBD5E1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94360" y="32004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5.E.3 — Kernel size is not the same as receptive field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12648" y="84124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Kernel size is a layer parameter; receptive field is a property of the path to an output.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914400" y="1463040"/>
            <a:ext cx="2468880" cy="502920"/>
          </a:xfrm>
          <a:prstGeom prst="roundRect">
            <a:avLst>
              <a:gd name="adj" fmla="val 10909"/>
            </a:avLst>
          </a:prstGeom>
          <a:solidFill>
            <a:srgbClr val="E7F5C7"/>
          </a:solidFill>
          <a:ln w="1524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960120" y="1605686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Single layer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2423160"/>
            <a:ext cx="48463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868680" y="2551176"/>
            <a:ext cx="484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</a:rPr>
              <a:t>x1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417320" y="2423160"/>
            <a:ext cx="484632" cy="457200"/>
          </a:xfrm>
          <a:prstGeom prst="roundRect">
            <a:avLst>
              <a:gd name="adj" fmla="val 8000"/>
            </a:avLst>
          </a:prstGeom>
          <a:solidFill>
            <a:srgbClr val="E7F5C7"/>
          </a:solidFill>
          <a:ln w="1397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417320" y="2551176"/>
            <a:ext cx="484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x2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965960" y="2423160"/>
            <a:ext cx="484632" cy="457200"/>
          </a:xfrm>
          <a:prstGeom prst="roundRect">
            <a:avLst>
              <a:gd name="adj" fmla="val 8000"/>
            </a:avLst>
          </a:prstGeom>
          <a:solidFill>
            <a:srgbClr val="E7F5C7"/>
          </a:solidFill>
          <a:ln w="1397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1965960" y="2551176"/>
            <a:ext cx="484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x3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514600" y="2423160"/>
            <a:ext cx="484632" cy="457200"/>
          </a:xfrm>
          <a:prstGeom prst="roundRect">
            <a:avLst>
              <a:gd name="adj" fmla="val 8000"/>
            </a:avLst>
          </a:prstGeom>
          <a:solidFill>
            <a:srgbClr val="E7F5C7"/>
          </a:solidFill>
          <a:ln w="1397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2514600" y="2551176"/>
            <a:ext cx="484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x4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063240" y="2423160"/>
            <a:ext cx="48463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3063240" y="2551176"/>
            <a:ext cx="484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</a:rPr>
              <a:t>x5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143000" y="3337560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1188720" y="3494837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Conv K = 3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057400" y="2898648"/>
            <a:ext cx="0" cy="420624"/>
          </a:xfrm>
          <a:prstGeom prst="line">
            <a:avLst/>
          </a:prstGeom>
          <a:noFill/>
          <a:ln w="22860">
            <a:solidFill>
              <a:srgbClr val="84B91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1051560" y="42519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kernel size = 3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receptive field = 3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5257800" y="1463040"/>
            <a:ext cx="2926080" cy="502920"/>
          </a:xfrm>
          <a:prstGeom prst="roundRect">
            <a:avLst>
              <a:gd name="adj" fmla="val 10909"/>
            </a:avLst>
          </a:prstGeom>
          <a:solidFill>
            <a:srgbClr val="FFF7CC"/>
          </a:solidFill>
          <a:ln w="15240">
            <a:solidFill>
              <a:srgbClr val="F7C94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5303520" y="1605686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Three stacked layers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983480" y="2423160"/>
            <a:ext cx="411480" cy="457200"/>
          </a:xfrm>
          <a:prstGeom prst="roundRect">
            <a:avLst>
              <a:gd name="adj" fmla="val 8889"/>
            </a:avLst>
          </a:prstGeom>
          <a:solidFill>
            <a:srgbClr val="E7F5C7"/>
          </a:solidFill>
          <a:ln w="1397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4983480" y="25511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x1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58968" y="2423160"/>
            <a:ext cx="411480" cy="457200"/>
          </a:xfrm>
          <a:prstGeom prst="roundRect">
            <a:avLst>
              <a:gd name="adj" fmla="val 8889"/>
            </a:avLst>
          </a:prstGeom>
          <a:solidFill>
            <a:srgbClr val="E7F5C7"/>
          </a:solidFill>
          <a:ln w="1397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5458968" y="25511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x2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934456" y="2423160"/>
            <a:ext cx="411480" cy="457200"/>
          </a:xfrm>
          <a:prstGeom prst="roundRect">
            <a:avLst>
              <a:gd name="adj" fmla="val 8889"/>
            </a:avLst>
          </a:prstGeom>
          <a:solidFill>
            <a:srgbClr val="E7F5C7"/>
          </a:solidFill>
          <a:ln w="1397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5934456" y="25511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x3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09944" y="2423160"/>
            <a:ext cx="411480" cy="457200"/>
          </a:xfrm>
          <a:prstGeom prst="roundRect">
            <a:avLst>
              <a:gd name="adj" fmla="val 8889"/>
            </a:avLst>
          </a:prstGeom>
          <a:solidFill>
            <a:srgbClr val="E7F5C7"/>
          </a:solidFill>
          <a:ln w="1397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6409944" y="25511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x4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885432" y="2423160"/>
            <a:ext cx="411480" cy="457200"/>
          </a:xfrm>
          <a:prstGeom prst="roundRect">
            <a:avLst>
              <a:gd name="adj" fmla="val 8889"/>
            </a:avLst>
          </a:prstGeom>
          <a:solidFill>
            <a:srgbClr val="E7F5C7"/>
          </a:solidFill>
          <a:ln w="1397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6885432" y="25511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x5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360920" y="2423160"/>
            <a:ext cx="411480" cy="457200"/>
          </a:xfrm>
          <a:prstGeom prst="roundRect">
            <a:avLst>
              <a:gd name="adj" fmla="val 8889"/>
            </a:avLst>
          </a:prstGeom>
          <a:solidFill>
            <a:srgbClr val="E7F5C7"/>
          </a:solidFill>
          <a:ln w="1397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7360920" y="25511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x6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836408" y="2423160"/>
            <a:ext cx="411480" cy="457200"/>
          </a:xfrm>
          <a:prstGeom prst="roundRect">
            <a:avLst>
              <a:gd name="adj" fmla="val 8889"/>
            </a:avLst>
          </a:prstGeom>
          <a:solidFill>
            <a:srgbClr val="E7F5C7"/>
          </a:solidFill>
          <a:ln w="1397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7836408" y="25511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x7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096256" y="3176626"/>
            <a:ext cx="128016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24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5092827" y="3267227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Conv K = 3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975604" y="3703320"/>
            <a:ext cx="128016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240">
            <a:solidFill>
              <a:srgbClr val="F7C94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6126480" y="3816706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Conv K = 3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949440" y="4251960"/>
            <a:ext cx="128016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6995160" y="4365346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Conv K = 3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852160" y="2880360"/>
            <a:ext cx="0" cy="256032"/>
          </a:xfrm>
          <a:prstGeom prst="line">
            <a:avLst/>
          </a:prstGeom>
          <a:noFill/>
          <a:ln w="16510">
            <a:solidFill>
              <a:srgbClr val="84B91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5" name="Shape 43"/>
          <p:cNvSpPr/>
          <p:nvPr/>
        </p:nvSpPr>
        <p:spPr>
          <a:xfrm>
            <a:off x="6720840" y="3566160"/>
            <a:ext cx="0" cy="118872"/>
          </a:xfrm>
          <a:prstGeom prst="line">
            <a:avLst/>
          </a:prstGeom>
          <a:noFill/>
          <a:ln w="16510">
            <a:solidFill>
              <a:srgbClr val="F7C94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6" name="Shape 44"/>
          <p:cNvSpPr/>
          <p:nvPr/>
        </p:nvSpPr>
        <p:spPr>
          <a:xfrm>
            <a:off x="7543800" y="4114800"/>
            <a:ext cx="0" cy="118872"/>
          </a:xfrm>
          <a:prstGeom prst="line">
            <a:avLst/>
          </a:prstGeom>
          <a:noFill/>
          <a:ln w="16510">
            <a:solidFill>
              <a:srgbClr val="7C3A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5577840" y="4983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each kernel = 3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final receptive field = 7</a:t>
            </a:r>
            <a:endParaRPr lang="en-US" sz="1700" dirty="0"/>
          </a:p>
        </p:txBody>
      </p:sp>
      <p:sp>
        <p:nvSpPr>
          <p:cNvPr id="48" name="Shape 46"/>
          <p:cNvSpPr/>
          <p:nvPr/>
        </p:nvSpPr>
        <p:spPr>
          <a:xfrm>
            <a:off x="594360" y="6281928"/>
            <a:ext cx="9829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Text 47"/>
          <p:cNvSpPr/>
          <p:nvPr/>
        </p:nvSpPr>
        <p:spPr>
          <a:xfrm>
            <a:off x="749808" y="6345936"/>
            <a:ext cx="9509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Do not infer temporal context only from the final layer kernel size.</a:t>
            </a:r>
            <a:endParaRPr lang="en-US" sz="12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7F33593-92BE-90E9-993A-D56B6F605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Receptive field must match the temporal dependency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79840FD-39A0-5034-C930-B380ACA30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Suppose a model receives sensor data at: 100 Hz</a:t>
            </a:r>
          </a:p>
          <a:p>
            <a:r>
              <a:rPr lang="en-GB" dirty="0"/>
              <a:t>and a relevant process dependency extends over: 5 seconds</a:t>
            </a:r>
          </a:p>
          <a:p>
            <a:r>
              <a:rPr lang="en-GB" dirty="0"/>
              <a:t>Then the architecture must potentially access: 5 × 100 = 500 samples</a:t>
            </a:r>
          </a:p>
          <a:p>
            <a:r>
              <a:rPr lang="en-GB" b="1" dirty="0"/>
              <a:t>If the receptive field is only: </a:t>
            </a:r>
            <a:r>
              <a:rPr lang="en-GB" dirty="0"/>
              <a:t>50 frames </a:t>
            </a:r>
          </a:p>
          <a:p>
            <a:r>
              <a:rPr lang="en-GB" dirty="0"/>
              <a:t>then the model sees only: 0.5 seconds of effective context.</a:t>
            </a:r>
          </a:p>
          <a:p>
            <a:r>
              <a:rPr lang="en-GB" dirty="0"/>
              <a:t>Even if the full input window contains 500 frames, the prediction cannot use the entire history if the architecture's receptive field covers only 50.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30143725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EC24E-2D55-A976-2414-364768643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967428F-1BF0-40E2-F386-31CBB0BAF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Receptive field must match the temporal dependency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12BC83A-D7AB-725F-83DC-27ECDBDDA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Important consequence</a:t>
            </a:r>
          </a:p>
          <a:p>
            <a:r>
              <a:rPr lang="en-GB" dirty="0"/>
              <a:t>Input-window length and receptive field are different.</a:t>
            </a:r>
          </a:p>
          <a:p>
            <a:r>
              <a:rPr lang="en-GB" dirty="0"/>
              <a:t>A model may receive L = 1000 time steps,</a:t>
            </a:r>
          </a:p>
          <a:p>
            <a:r>
              <a:rPr lang="en-GB" dirty="0"/>
              <a:t>but an output may depend on only 100 of them.</a:t>
            </a:r>
          </a:p>
          <a:p>
            <a:endParaRPr lang="en-GB" dirty="0"/>
          </a:p>
          <a:p>
            <a:r>
              <a:rPr lang="en-GB" b="1" dirty="0">
                <a:highlight>
                  <a:srgbClr val="FFFF00"/>
                </a:highlight>
              </a:rPr>
              <a:t>A long input window is useful only if the architecture provides a path from that history to the prediction.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9246458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CD9C492-636A-5E76-ABBE-6D9393F9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Physical interpretation of the receptive field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4B4AF48-A276-926E-E683-5527C4B756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8"/>
            <a:ext cx="5523441" cy="4487861"/>
          </a:xfrm>
        </p:spPr>
        <p:txBody>
          <a:bodyPr>
            <a:normAutofit/>
          </a:bodyPr>
          <a:lstStyle/>
          <a:p>
            <a:r>
              <a:rPr lang="en-GB" sz="1900" b="1" dirty="0"/>
              <a:t>A receptive field should always be translated into physical time.</a:t>
            </a:r>
            <a:endParaRPr lang="en-GB" b="1" dirty="0"/>
          </a:p>
          <a:p>
            <a:r>
              <a:rPr lang="en-GB" dirty="0"/>
              <a:t>Suppose: Fs = 50 Hz</a:t>
            </a:r>
          </a:p>
          <a:p>
            <a:r>
              <a:rPr lang="en-GB" dirty="0"/>
              <a:t>and the receptive field is: R = 200 samples</a:t>
            </a:r>
          </a:p>
          <a:p>
            <a:r>
              <a:rPr lang="en-GB" dirty="0"/>
              <a:t>Then the temporal duration represented is: 200 / 50 = 4 seconds</a:t>
            </a:r>
          </a:p>
          <a:p>
            <a:r>
              <a:rPr lang="en-GB" b="1" dirty="0"/>
              <a:t>Another example</a:t>
            </a:r>
          </a:p>
          <a:p>
            <a:r>
              <a:rPr lang="en-GB" dirty="0"/>
              <a:t>Hourly demand data:</a:t>
            </a:r>
          </a:p>
          <a:p>
            <a:r>
              <a:rPr lang="en-GB" dirty="0"/>
              <a:t>one sample = 1 hour</a:t>
            </a:r>
          </a:p>
          <a:p>
            <a:r>
              <a:rPr lang="en-GB" dirty="0"/>
              <a:t>A receptive field of: 168 frames</a:t>
            </a:r>
          </a:p>
          <a:p>
            <a:r>
              <a:rPr lang="en-GB" dirty="0"/>
              <a:t>corresponds to: 168 hours = 7 days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B0DB639-A479-D2FE-1EBF-A58218F170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23469" y="2197102"/>
            <a:ext cx="5416105" cy="4317998"/>
          </a:xfrm>
        </p:spPr>
        <p:txBody>
          <a:bodyPr>
            <a:normAutofit/>
          </a:bodyPr>
          <a:lstStyle/>
          <a:p>
            <a:r>
              <a:rPr lang="en-GB" b="1" dirty="0"/>
              <a:t>Why this matters</a:t>
            </a:r>
          </a:p>
          <a:p>
            <a:r>
              <a:rPr lang="en-GB" dirty="0">
                <a:highlight>
                  <a:srgbClr val="FFFF00"/>
                </a:highlight>
              </a:rPr>
              <a:t>The same numerical receptive field has very different physical meaning depending on sampling.</a:t>
            </a:r>
          </a:p>
          <a:p>
            <a:r>
              <a:rPr lang="en-GB" dirty="0">
                <a:highlight>
                  <a:srgbClr val="FFFF00"/>
                </a:highlight>
              </a:rPr>
              <a:t>R = 100 could mean:</a:t>
            </a:r>
          </a:p>
          <a:p>
            <a:pPr lvl="1"/>
            <a:r>
              <a:rPr lang="en-GB" dirty="0"/>
              <a:t>1 second at 100 Hz; </a:t>
            </a:r>
          </a:p>
          <a:p>
            <a:pPr lvl="1"/>
            <a:r>
              <a:rPr lang="en-GB" dirty="0"/>
              <a:t>100 seconds at 1 Hz; </a:t>
            </a:r>
          </a:p>
          <a:p>
            <a:pPr lvl="1"/>
            <a:r>
              <a:rPr lang="en-GB" dirty="0"/>
              <a:t>100 hours for hourly data. </a:t>
            </a:r>
          </a:p>
          <a:p>
            <a:endParaRPr lang="en-GB" b="1" dirty="0"/>
          </a:p>
          <a:p>
            <a:r>
              <a:rPr lang="en-GB" b="1" dirty="0">
                <a:highlight>
                  <a:srgbClr val="FFFF00"/>
                </a:highlight>
              </a:rPr>
              <a:t>Engineering question</a:t>
            </a:r>
          </a:p>
          <a:p>
            <a:r>
              <a:rPr lang="en-GB" dirty="0"/>
              <a:t>Does the receptive field cover the physical time scale over which relevant effects occur?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2791983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0"/>
            <a:ext cx="1042416" cy="6858000"/>
          </a:xfrm>
          <a:prstGeom prst="rect">
            <a:avLst/>
          </a:prstGeom>
          <a:solidFill>
            <a:srgbClr val="84B91F">
              <a:alpha val="95000"/>
            </a:srgbClr>
          </a:solidFill>
          <a:ln w="12700">
            <a:solidFill>
              <a:srgbClr val="84B9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927080" y="0"/>
            <a:ext cx="0" cy="6858000"/>
          </a:xfrm>
          <a:prstGeom prst="line">
            <a:avLst/>
          </a:prstGeom>
          <a:noFill/>
          <a:ln w="8890">
            <a:solidFill>
              <a:srgbClr val="CBD5E1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94360" y="32004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5.E.4 — Receptive field has physical duration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12648" y="84124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75569"/>
                </a:solidFill>
                <a:highlight>
                  <a:srgbClr val="FFFF00"/>
                </a:highlight>
                <a:latin typeface="Aptos" pitchFamily="34" charset="0"/>
                <a:ea typeface="Aptos" pitchFamily="34" charset="-122"/>
                <a:cs typeface="Aptos" pitchFamily="34" charset="-120"/>
              </a:rPr>
              <a:t>Translate samples into seconds, minutes, hours, or cycles.</a:t>
            </a:r>
            <a:endParaRPr lang="en-US" sz="1350" b="1" dirty="0">
              <a:highlight>
                <a:srgbClr val="FFFF00"/>
              </a:highlight>
            </a:endParaRPr>
          </a:p>
        </p:txBody>
      </p:sp>
      <p:sp>
        <p:nvSpPr>
          <p:cNvPr id="6" name="Shape 4"/>
          <p:cNvSpPr/>
          <p:nvPr/>
        </p:nvSpPr>
        <p:spPr>
          <a:xfrm>
            <a:off x="960120" y="1508760"/>
            <a:ext cx="2468880" cy="100584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005840" y="1812341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Sampling frequency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Fs = 50 Hz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160520" y="1508760"/>
            <a:ext cx="2743200" cy="1005840"/>
          </a:xfrm>
          <a:prstGeom prst="roundRect">
            <a:avLst>
              <a:gd name="adj" fmla="val 5455"/>
            </a:avLst>
          </a:prstGeom>
          <a:solidFill>
            <a:srgbClr val="E7F5C7"/>
          </a:solidFill>
          <a:ln w="1524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206240" y="1812341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Receptive field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R = 200 frames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566160" y="2011680"/>
            <a:ext cx="502920" cy="0"/>
          </a:xfrm>
          <a:prstGeom prst="line">
            <a:avLst/>
          </a:prstGeom>
          <a:noFill/>
          <a:ln w="25400">
            <a:solidFill>
              <a:srgbClr val="84B91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7086600" y="2011680"/>
            <a:ext cx="502920" cy="0"/>
          </a:xfrm>
          <a:prstGeom prst="line">
            <a:avLst/>
          </a:prstGeom>
          <a:noFill/>
          <a:ln w="25400">
            <a:solidFill>
              <a:srgbClr val="84B91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7680960" y="1325880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FFF7CC"/>
          </a:solidFill>
          <a:ln w="15240">
            <a:solidFill>
              <a:srgbClr val="F7C94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7726680" y="1746504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</a:rPr>
              <a:t>Duration = R / Fs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</a:rPr>
              <a:t>= 200 / 50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</a:rPr>
              <a:t>= 4 seconds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97280" y="4206240"/>
            <a:ext cx="83210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1097280" y="4069080"/>
            <a:ext cx="0" cy="27432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2130552" y="4069080"/>
            <a:ext cx="0" cy="27432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3163824" y="4069080"/>
            <a:ext cx="0" cy="27432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4197096" y="4069080"/>
            <a:ext cx="0" cy="27432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5230368" y="4069080"/>
            <a:ext cx="0" cy="27432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6263640" y="4069080"/>
            <a:ext cx="0" cy="27432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7296912" y="4069080"/>
            <a:ext cx="0" cy="27432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8330184" y="4069080"/>
            <a:ext cx="0" cy="27432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9363456" y="4069080"/>
            <a:ext cx="0" cy="27432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 flipV="1">
            <a:off x="1143000" y="4434840"/>
            <a:ext cx="8229600" cy="320040"/>
          </a:xfrm>
          <a:prstGeom prst="bracePair">
            <a:avLst/>
          </a:prstGeom>
          <a:noFill/>
          <a:ln w="1905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3108960" y="48920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</a:rPr>
              <a:t>200 samples = 4 seconds at 50 Hz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94360" y="6281928"/>
            <a:ext cx="9829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749808" y="6345936"/>
            <a:ext cx="9509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The same R has different meaning for high-frequency sensors and hourly demand data.</a:t>
            </a:r>
            <a:endParaRPr lang="en-US" sz="12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C659376-B3E9-9BEC-D86F-BFFABBF53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Stride changes receptive-field growth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E1B9BE6-8E5A-F39F-8A90-3217DDCDC1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When stride is greater than 1, deeper-layer positions correspond to larger jumps in the original input.</a:t>
            </a:r>
          </a:p>
          <a:p>
            <a:r>
              <a:rPr lang="en-GB" dirty="0"/>
              <a:t>Consider:</a:t>
            </a:r>
          </a:p>
          <a:p>
            <a:r>
              <a:rPr lang="en-GB" dirty="0">
                <a:highlight>
                  <a:srgbClr val="FFFF00"/>
                </a:highlight>
              </a:rPr>
              <a:t>Conv1: kernel 3, stride 2</a:t>
            </a:r>
          </a:p>
          <a:p>
            <a:r>
              <a:rPr lang="en-GB" dirty="0">
                <a:highlight>
                  <a:srgbClr val="FFFF00"/>
                </a:highlight>
              </a:rPr>
              <a:t>Conv2: kernel 3, stride 1</a:t>
            </a:r>
          </a:p>
          <a:p>
            <a:r>
              <a:rPr lang="en-GB" dirty="0"/>
              <a:t>The second-layer convolution processes activations that are already spaced farther apart in the original sequence.</a:t>
            </a:r>
          </a:p>
          <a:p>
            <a:r>
              <a:rPr lang="en-GB" b="1" dirty="0">
                <a:highlight>
                  <a:srgbClr val="FFFF00"/>
                </a:highlight>
              </a:rPr>
              <a:t>Consequence</a:t>
            </a:r>
          </a:p>
          <a:p>
            <a:r>
              <a:rPr lang="en-GB" dirty="0">
                <a:highlight>
                  <a:srgbClr val="FFFF00"/>
                </a:highlight>
              </a:rPr>
              <a:t>The receptive field grows faster than with stride 1 everywhere.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467829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BA226-FAA1-1C47-0305-27E16BBCA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887A3B7-5951-B934-AF8A-F9AAA4FDB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Stride changes receptive-field growth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9C3E16D-7565-0221-F1BE-63726BD357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Intuitive interpretation</a:t>
            </a:r>
          </a:p>
          <a:p>
            <a:r>
              <a:rPr lang="en-GB" dirty="0" err="1"/>
              <a:t>Downsampling</a:t>
            </a:r>
            <a:r>
              <a:rPr lang="en-GB" dirty="0"/>
              <a:t> causes later layers to operate on a coarser temporal grid.</a:t>
            </a:r>
          </a:p>
          <a:p>
            <a:r>
              <a:rPr lang="en-GB" dirty="0"/>
              <a:t>A small kernel in a deeper layer may therefore span a relatively large interval of the original signal.</a:t>
            </a:r>
          </a:p>
          <a:p>
            <a:endParaRPr lang="en-GB" b="1" dirty="0"/>
          </a:p>
          <a:p>
            <a:r>
              <a:rPr lang="en-GB" b="1" dirty="0">
                <a:highlight>
                  <a:srgbClr val="FFFF00"/>
                </a:highlight>
              </a:rPr>
              <a:t>Stride affects both:</a:t>
            </a:r>
          </a:p>
          <a:p>
            <a:pPr lvl="1"/>
            <a:r>
              <a:rPr lang="en-GB" dirty="0">
                <a:highlight>
                  <a:srgbClr val="FFFF00"/>
                </a:highlight>
              </a:rPr>
              <a:t>temporal resolution; </a:t>
            </a:r>
          </a:p>
          <a:p>
            <a:pPr lvl="1"/>
            <a:r>
              <a:rPr lang="en-GB" dirty="0">
                <a:highlight>
                  <a:srgbClr val="FFFF00"/>
                </a:highlight>
              </a:rPr>
              <a:t>receptive-field growth. </a:t>
            </a:r>
          </a:p>
          <a:p>
            <a:r>
              <a:rPr lang="en-GB" dirty="0">
                <a:highlight>
                  <a:srgbClr val="FFFF00"/>
                </a:highlight>
              </a:rPr>
              <a:t>This is one reason convolutional architectures can build long temporal context efficiently.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52466221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0"/>
            <a:ext cx="1042416" cy="6858000"/>
          </a:xfrm>
          <a:prstGeom prst="rect">
            <a:avLst/>
          </a:prstGeom>
          <a:solidFill>
            <a:srgbClr val="84B91F">
              <a:alpha val="95000"/>
            </a:srgbClr>
          </a:solidFill>
          <a:ln w="12700">
            <a:solidFill>
              <a:srgbClr val="84B9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927080" y="0"/>
            <a:ext cx="0" cy="6858000"/>
          </a:xfrm>
          <a:prstGeom prst="line">
            <a:avLst/>
          </a:prstGeom>
          <a:noFill/>
          <a:ln w="8890">
            <a:solidFill>
              <a:srgbClr val="CBD5E1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94360" y="32004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5.E.5 — Long input window ≠ long usable context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12648" y="84124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local output can only use the part of the input inside its receptive field.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68680" y="3063240"/>
            <a:ext cx="8183880" cy="0"/>
          </a:xfrm>
          <a:prstGeom prst="line">
            <a:avLst/>
          </a:prstGeom>
          <a:noFill/>
          <a:ln w="508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2926080" y="2514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input window: L = 1000 frames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68680" y="2834640"/>
            <a:ext cx="8183880" cy="4572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4617720" y="2779776"/>
            <a:ext cx="1005840" cy="566928"/>
          </a:xfrm>
          <a:prstGeom prst="rect">
            <a:avLst/>
          </a:prstGeom>
          <a:solidFill>
            <a:srgbClr val="E7F5C7"/>
          </a:solidFill>
          <a:ln w="1905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5120640" y="3474720"/>
            <a:ext cx="0" cy="777240"/>
          </a:xfrm>
          <a:prstGeom prst="line">
            <a:avLst/>
          </a:prstGeom>
          <a:noFill/>
          <a:ln w="25400">
            <a:solidFill>
              <a:srgbClr val="84B91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4389120" y="4389120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E7F5C7"/>
          </a:solidFill>
          <a:ln w="1524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434840" y="4531766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local output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20640" y="3575304"/>
            <a:ext cx="4046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lang="en-GB" sz="1600" dirty="0"/>
              <a:t>RF = 121 frames: insufficient if relevant dependencies extend beyond 121 frames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17920" y="4187952"/>
            <a:ext cx="3337560" cy="114300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217920" y="4206240"/>
            <a:ext cx="324612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algn="ctr"/>
            <a:r>
              <a:rPr lang="en-GB" sz="1600" dirty="0"/>
              <a:t>A long input window does not guarantee that each local representation can use long-range context: its accessible context is limited by the receptive field.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94360" y="6281928"/>
            <a:ext cx="9829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749808" y="6345936"/>
            <a:ext cx="9509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1200" dirty="0"/>
              <a:t>Check that the receptive field is large enough for the dependencies the task is expected to require.</a:t>
            </a:r>
            <a:endParaRPr lang="en-US" sz="1200" b="1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239D28A-5A9E-5FD1-8296-22CE32292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Pooling also increases effective context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6C0D24F-4B53-F48E-C2E1-C5E73B8141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8"/>
            <a:ext cx="4828116" cy="4087811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Consider:</a:t>
            </a:r>
          </a:p>
          <a:p>
            <a:r>
              <a:rPr lang="en-GB" dirty="0"/>
              <a:t>Conv1D</a:t>
            </a:r>
          </a:p>
          <a:p>
            <a:r>
              <a:rPr lang="en-GB" dirty="0"/>
              <a:t>↓</a:t>
            </a:r>
          </a:p>
          <a:p>
            <a:r>
              <a:rPr lang="en-GB" dirty="0" err="1"/>
              <a:t>MaxPool</a:t>
            </a:r>
            <a:r>
              <a:rPr lang="en-GB" dirty="0"/>
              <a:t> by 2</a:t>
            </a:r>
          </a:p>
          <a:p>
            <a:r>
              <a:rPr lang="en-GB" dirty="0"/>
              <a:t>↓</a:t>
            </a:r>
          </a:p>
          <a:p>
            <a:r>
              <a:rPr lang="en-GB" dirty="0"/>
              <a:t>Conv1D</a:t>
            </a:r>
          </a:p>
          <a:p>
            <a:r>
              <a:rPr lang="en-GB" dirty="0"/>
              <a:t>The pooling layer reduces the temporal grid.</a:t>
            </a:r>
          </a:p>
          <a:p>
            <a:r>
              <a:rPr lang="en-GB" dirty="0"/>
              <a:t>After pooling, one activation summarizes a larger interval of the original input.</a:t>
            </a:r>
          </a:p>
          <a:p>
            <a:r>
              <a:rPr lang="en-GB" dirty="0"/>
              <a:t>Therefore a later convolution covers more original time steps.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0DB23ED-2639-ADBB-5F4F-967D9BF0D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61495" y="2065339"/>
            <a:ext cx="5959030" cy="4354511"/>
          </a:xfrm>
        </p:spPr>
        <p:txBody>
          <a:bodyPr>
            <a:normAutofit fontScale="92500" lnSpcReduction="10000"/>
          </a:bodyPr>
          <a:lstStyle/>
          <a:p>
            <a:r>
              <a:rPr lang="en-GB" b="1" dirty="0"/>
              <a:t>Example intuition</a:t>
            </a:r>
          </a:p>
          <a:p>
            <a:r>
              <a:rPr lang="en-GB" dirty="0"/>
              <a:t>Before pooling:</a:t>
            </a:r>
          </a:p>
          <a:p>
            <a:pPr lvl="1"/>
            <a:r>
              <a:rPr lang="en-GB" dirty="0"/>
              <a:t>one position ≈ one original temporal step</a:t>
            </a:r>
          </a:p>
          <a:p>
            <a:r>
              <a:rPr lang="en-GB" dirty="0"/>
              <a:t>After pooling by 2:</a:t>
            </a:r>
          </a:p>
          <a:p>
            <a:pPr lvl="1"/>
            <a:r>
              <a:rPr lang="en-GB" dirty="0"/>
              <a:t>one position ≈ two original temporal steps</a:t>
            </a:r>
          </a:p>
          <a:p>
            <a:r>
              <a:rPr lang="en-GB" dirty="0"/>
              <a:t>A kernel of size 3 after pooling therefore spans approximately six original steps, plus the context introduced by previous convolution.</a:t>
            </a:r>
          </a:p>
          <a:p>
            <a:pPr marL="0" indent="0">
              <a:buNone/>
            </a:pPr>
            <a:endParaRPr lang="en-GB" b="1" dirty="0"/>
          </a:p>
          <a:p>
            <a:r>
              <a:rPr lang="en-GB" b="1" dirty="0">
                <a:highlight>
                  <a:srgbClr val="FFFF00"/>
                </a:highlight>
              </a:rPr>
              <a:t>Pooling and stride not only reduce computation but also alter the temporal scale of later feature extraction.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35786380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6E81EB8-08FA-F978-A41D-7ACAC036B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Several ways to increase receptive field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33F9864-D809-3A5D-BC90-E0B26B115C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961466" cy="4306886"/>
          </a:xfrm>
        </p:spPr>
        <p:txBody>
          <a:bodyPr>
            <a:normAutofit fontScale="85000" lnSpcReduction="20000"/>
          </a:bodyPr>
          <a:lstStyle/>
          <a:p>
            <a:r>
              <a:rPr lang="en-GB" b="1" dirty="0"/>
              <a:t>Larger kernels</a:t>
            </a:r>
          </a:p>
          <a:p>
            <a:r>
              <a:rPr lang="en-GB" dirty="0"/>
              <a:t>Example: K = 15</a:t>
            </a:r>
          </a:p>
          <a:p>
            <a:r>
              <a:rPr lang="en-GB" dirty="0"/>
              <a:t>Advantage:</a:t>
            </a:r>
          </a:p>
          <a:p>
            <a:pPr lvl="1"/>
            <a:r>
              <a:rPr lang="en-GB" dirty="0"/>
              <a:t>large context immediately. </a:t>
            </a:r>
          </a:p>
          <a:p>
            <a:r>
              <a:rPr lang="en-GB" dirty="0"/>
              <a:t>Cost:</a:t>
            </a:r>
          </a:p>
          <a:p>
            <a:pPr lvl="1"/>
            <a:r>
              <a:rPr lang="en-GB" dirty="0"/>
              <a:t>more parameters. </a:t>
            </a:r>
          </a:p>
          <a:p>
            <a:endParaRPr lang="en-GB" b="1" dirty="0"/>
          </a:p>
          <a:p>
            <a:r>
              <a:rPr lang="en-GB" b="1" dirty="0"/>
              <a:t>Greater depth</a:t>
            </a:r>
          </a:p>
          <a:p>
            <a:r>
              <a:rPr lang="en-GB" dirty="0"/>
              <a:t>Stack several small kernels.</a:t>
            </a:r>
          </a:p>
          <a:p>
            <a:r>
              <a:rPr lang="en-GB" dirty="0"/>
              <a:t>Example:</a:t>
            </a:r>
          </a:p>
          <a:p>
            <a:r>
              <a:rPr lang="en-GB" dirty="0"/>
              <a:t>K=3 → K=3 → K=3 → K=3</a:t>
            </a:r>
          </a:p>
          <a:p>
            <a:r>
              <a:rPr lang="en-GB" dirty="0"/>
              <a:t>Advantage:</a:t>
            </a:r>
          </a:p>
          <a:p>
            <a:pPr lvl="1"/>
            <a:r>
              <a:rPr lang="en-GB" dirty="0"/>
              <a:t>hierarchical nonlinear representation. 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87A091A-0AE1-9DB2-7A75-2AE6B13BBA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1894" y="2160589"/>
            <a:ext cx="6606731" cy="4459286"/>
          </a:xfrm>
        </p:spPr>
        <p:txBody>
          <a:bodyPr>
            <a:normAutofit fontScale="85000" lnSpcReduction="20000"/>
          </a:bodyPr>
          <a:lstStyle/>
          <a:p>
            <a:r>
              <a:rPr lang="en-GB" b="1" dirty="0" err="1"/>
              <a:t>Downsampling</a:t>
            </a:r>
            <a:endParaRPr lang="en-GB" b="1" dirty="0"/>
          </a:p>
          <a:p>
            <a:r>
              <a:rPr lang="en-GB" dirty="0"/>
              <a:t>Use:</a:t>
            </a:r>
          </a:p>
          <a:p>
            <a:pPr lvl="1"/>
            <a:r>
              <a:rPr lang="en-GB" dirty="0"/>
              <a:t>stride; </a:t>
            </a:r>
          </a:p>
          <a:p>
            <a:pPr lvl="1"/>
            <a:r>
              <a:rPr lang="en-GB" dirty="0"/>
              <a:t>pooling. </a:t>
            </a:r>
          </a:p>
          <a:p>
            <a:r>
              <a:rPr lang="en-GB" dirty="0"/>
              <a:t>Advantage:</a:t>
            </a:r>
          </a:p>
          <a:p>
            <a:pPr lvl="1"/>
            <a:r>
              <a:rPr lang="en-GB" dirty="0"/>
              <a:t>rapid growth of effective temporal scale. </a:t>
            </a:r>
          </a:p>
          <a:p>
            <a:r>
              <a:rPr lang="en-GB" dirty="0"/>
              <a:t>Cost:</a:t>
            </a:r>
          </a:p>
          <a:p>
            <a:pPr lvl="1"/>
            <a:r>
              <a:rPr lang="en-GB" dirty="0"/>
              <a:t>reduced temporal resolution. </a:t>
            </a:r>
          </a:p>
          <a:p>
            <a:endParaRPr lang="en-GB" b="1" dirty="0"/>
          </a:p>
          <a:p>
            <a:r>
              <a:rPr lang="en-GB" b="1" dirty="0"/>
              <a:t>Dilation</a:t>
            </a:r>
          </a:p>
          <a:p>
            <a:r>
              <a:rPr lang="en-GB" dirty="0"/>
              <a:t>Introduce gaps between kernel positions.</a:t>
            </a:r>
          </a:p>
          <a:p>
            <a:r>
              <a:rPr lang="en-GB" dirty="0"/>
              <a:t>Advantage:</a:t>
            </a:r>
          </a:p>
          <a:p>
            <a:pPr lvl="1"/>
            <a:r>
              <a:rPr lang="en-GB" dirty="0"/>
              <a:t>large receptive field without aggressive </a:t>
            </a:r>
            <a:r>
              <a:rPr lang="en-GB" dirty="0" err="1"/>
              <a:t>downsampling</a:t>
            </a:r>
            <a:r>
              <a:rPr lang="en-GB" dirty="0"/>
              <a:t>. </a:t>
            </a:r>
          </a:p>
          <a:p>
            <a:r>
              <a:rPr lang="en-GB" dirty="0"/>
              <a:t>This will be introduced in Block 5.G.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4320917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0"/>
            <a:ext cx="1042416" cy="6858000"/>
          </a:xfrm>
          <a:prstGeom prst="rect">
            <a:avLst/>
          </a:prstGeom>
          <a:solidFill>
            <a:srgbClr val="84B91F">
              <a:alpha val="95000"/>
            </a:srgbClr>
          </a:solidFill>
          <a:ln w="12700">
            <a:solidFill>
              <a:srgbClr val="84B9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927080" y="0"/>
            <a:ext cx="0" cy="6858000"/>
          </a:xfrm>
          <a:prstGeom prst="line">
            <a:avLst/>
          </a:prstGeom>
          <a:noFill/>
          <a:ln w="8890">
            <a:solidFill>
              <a:srgbClr val="CBD5E1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94360" y="32004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5.E.6 — </a:t>
            </a:r>
            <a:r>
              <a:rPr lang="en-US" sz="2600" b="1" dirty="0">
                <a:solidFill>
                  <a:srgbClr val="0F172A"/>
                </a:solidFill>
                <a:highlight>
                  <a:srgbClr val="FFFF00"/>
                </a:highlight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Four ways to increase receptive field</a:t>
            </a:r>
            <a:endParaRPr lang="en-US" sz="2600" dirty="0">
              <a:highlight>
                <a:srgbClr val="FFFF00"/>
              </a:highlight>
            </a:endParaRPr>
          </a:p>
        </p:txBody>
      </p:sp>
      <p:sp>
        <p:nvSpPr>
          <p:cNvPr id="5" name="Text 3"/>
          <p:cNvSpPr/>
          <p:nvPr/>
        </p:nvSpPr>
        <p:spPr>
          <a:xfrm>
            <a:off x="612648" y="84124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  <a:highlight>
                  <a:srgbClr val="FFFF00"/>
                </a:highlight>
                <a:latin typeface="Aptos" pitchFamily="34" charset="0"/>
                <a:ea typeface="Aptos" pitchFamily="34" charset="-122"/>
                <a:cs typeface="Aptos" pitchFamily="34" charset="-120"/>
              </a:rPr>
              <a:t>Each option </a:t>
            </a:r>
            <a:r>
              <a:rPr lang="en-US" sz="1350" b="1" dirty="0">
                <a:solidFill>
                  <a:srgbClr val="475569"/>
                </a:solidFill>
                <a:highlight>
                  <a:srgbClr val="FFFF00"/>
                </a:highlight>
                <a:latin typeface="Aptos" pitchFamily="34" charset="0"/>
                <a:ea typeface="Aptos" pitchFamily="34" charset="-122"/>
                <a:cs typeface="Aptos" pitchFamily="34" charset="-120"/>
              </a:rPr>
              <a:t>increases temporal context with different costs.</a:t>
            </a:r>
            <a:endParaRPr lang="en-US" sz="1350" b="1" dirty="0">
              <a:highlight>
                <a:srgbClr val="FFFF00"/>
              </a:highlight>
            </a:endParaRPr>
          </a:p>
        </p:txBody>
      </p:sp>
      <p:sp>
        <p:nvSpPr>
          <p:cNvPr id="6" name="Shape 4"/>
          <p:cNvSpPr/>
          <p:nvPr/>
        </p:nvSpPr>
        <p:spPr>
          <a:xfrm>
            <a:off x="777240" y="1371600"/>
            <a:ext cx="2148840" cy="457200"/>
          </a:xfrm>
          <a:prstGeom prst="roundRect">
            <a:avLst>
              <a:gd name="adj" fmla="val 12000"/>
            </a:avLst>
          </a:prstGeom>
          <a:solidFill>
            <a:srgbClr val="FFF7CC"/>
          </a:solidFill>
          <a:ln w="15240">
            <a:solidFill>
              <a:srgbClr val="F7C94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822960" y="149961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Larger kernels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2103120"/>
            <a:ext cx="21488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822960" y="2245766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K = 15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88036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</a:rPr>
              <a:t>large context immediately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32004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/>
              <a:t>more parameters</a:t>
            </a:r>
          </a:p>
        </p:txBody>
      </p:sp>
      <p:sp>
        <p:nvSpPr>
          <p:cNvPr id="12" name="Shape 10"/>
          <p:cNvSpPr/>
          <p:nvPr/>
        </p:nvSpPr>
        <p:spPr>
          <a:xfrm>
            <a:off x="3337560" y="1371600"/>
            <a:ext cx="2148840" cy="457200"/>
          </a:xfrm>
          <a:prstGeom prst="roundRect">
            <a:avLst>
              <a:gd name="adj" fmla="val 12000"/>
            </a:avLst>
          </a:prstGeom>
          <a:solidFill>
            <a:srgbClr val="E7F5C7"/>
          </a:solidFill>
          <a:ln w="1524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383280" y="149961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Greater depth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337560" y="2103120"/>
            <a:ext cx="21488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3383280" y="2245766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K=3 → K=3 → K=3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288036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</a:rPr>
              <a:t>hierarchical features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83280" y="32004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/>
              <a:t>more layers</a:t>
            </a:r>
          </a:p>
        </p:txBody>
      </p:sp>
      <p:sp>
        <p:nvSpPr>
          <p:cNvPr id="18" name="Shape 16"/>
          <p:cNvSpPr/>
          <p:nvPr/>
        </p:nvSpPr>
        <p:spPr>
          <a:xfrm>
            <a:off x="5897880" y="1371600"/>
            <a:ext cx="2148840" cy="457200"/>
          </a:xfrm>
          <a:prstGeom prst="roundRect">
            <a:avLst>
              <a:gd name="adj" fmla="val 12000"/>
            </a:avLst>
          </a:prstGeom>
          <a:solidFill>
            <a:srgbClr val="FFF7CC"/>
          </a:solidFill>
          <a:ln w="15240">
            <a:solidFill>
              <a:srgbClr val="F7C94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5943600" y="149961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Downsampling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897880" y="2103120"/>
            <a:ext cx="21488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5943600" y="2245766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stride / pooling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0" y="288036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</a:rPr>
              <a:t>fast context growth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943600" y="32004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/>
              <a:t>lower resolution</a:t>
            </a:r>
          </a:p>
        </p:txBody>
      </p:sp>
      <p:sp>
        <p:nvSpPr>
          <p:cNvPr id="24" name="Shape 22"/>
          <p:cNvSpPr/>
          <p:nvPr/>
        </p:nvSpPr>
        <p:spPr>
          <a:xfrm>
            <a:off x="8458200" y="1371600"/>
            <a:ext cx="2148840" cy="457200"/>
          </a:xfrm>
          <a:prstGeom prst="roundRect">
            <a:avLst>
              <a:gd name="adj" fmla="val 12000"/>
            </a:avLst>
          </a:prstGeom>
          <a:solidFill>
            <a:srgbClr val="E7F5C7"/>
          </a:solidFill>
          <a:ln w="1524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8503920" y="149961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Dilation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458200" y="2103120"/>
            <a:ext cx="21488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8503920" y="2245766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skip input positions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503920" y="288036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</a:rPr>
              <a:t>large RF, small kernels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503920" y="32004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/>
              <a:t>sparser sampling</a:t>
            </a:r>
          </a:p>
        </p:txBody>
      </p:sp>
      <p:sp>
        <p:nvSpPr>
          <p:cNvPr id="30" name="Shape 28"/>
          <p:cNvSpPr/>
          <p:nvPr/>
        </p:nvSpPr>
        <p:spPr>
          <a:xfrm>
            <a:off x="1005840" y="4343400"/>
            <a:ext cx="228600" cy="457200"/>
          </a:xfrm>
          <a:prstGeom prst="roundRect">
            <a:avLst>
              <a:gd name="adj" fmla="val 16000"/>
            </a:avLst>
          </a:prstGeom>
          <a:solidFill>
            <a:srgbClr val="E7F5C7"/>
          </a:solidFill>
          <a:ln w="1397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1005840" y="447141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298448" y="4343400"/>
            <a:ext cx="228600" cy="457200"/>
          </a:xfrm>
          <a:prstGeom prst="roundRect">
            <a:avLst>
              <a:gd name="adj" fmla="val 16000"/>
            </a:avLst>
          </a:prstGeom>
          <a:solidFill>
            <a:srgbClr val="E7F5C7"/>
          </a:solidFill>
          <a:ln w="1397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1298448" y="447141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591056" y="4343400"/>
            <a:ext cx="228600" cy="457200"/>
          </a:xfrm>
          <a:prstGeom prst="roundRect">
            <a:avLst>
              <a:gd name="adj" fmla="val 16000"/>
            </a:avLst>
          </a:prstGeom>
          <a:solidFill>
            <a:srgbClr val="E7F5C7"/>
          </a:solidFill>
          <a:ln w="1397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1591056" y="447141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883664" y="4343400"/>
            <a:ext cx="228600" cy="457200"/>
          </a:xfrm>
          <a:prstGeom prst="roundRect">
            <a:avLst>
              <a:gd name="adj" fmla="val 16000"/>
            </a:avLst>
          </a:prstGeom>
          <a:solidFill>
            <a:srgbClr val="E7F5C7"/>
          </a:solidFill>
          <a:ln w="1397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1883664" y="447141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176272" y="4343400"/>
            <a:ext cx="228600" cy="457200"/>
          </a:xfrm>
          <a:prstGeom prst="roundRect">
            <a:avLst>
              <a:gd name="adj" fmla="val 16000"/>
            </a:avLst>
          </a:prstGeom>
          <a:solidFill>
            <a:srgbClr val="E7F5C7"/>
          </a:solidFill>
          <a:ln w="1397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2176272" y="447141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566160" y="4343400"/>
            <a:ext cx="2286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3566160" y="447141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858768" y="4343400"/>
            <a:ext cx="228600" cy="457200"/>
          </a:xfrm>
          <a:prstGeom prst="roundRect">
            <a:avLst>
              <a:gd name="adj" fmla="val 16000"/>
            </a:avLst>
          </a:prstGeom>
          <a:solidFill>
            <a:srgbClr val="E7F5C7"/>
          </a:solidFill>
          <a:ln w="1397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3858768" y="447141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151376" y="4343400"/>
            <a:ext cx="228600" cy="457200"/>
          </a:xfrm>
          <a:prstGeom prst="roundRect">
            <a:avLst>
              <a:gd name="adj" fmla="val 16000"/>
            </a:avLst>
          </a:prstGeom>
          <a:solidFill>
            <a:srgbClr val="E7F5C7"/>
          </a:solidFill>
          <a:ln w="1397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4151376" y="447141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443984" y="4343400"/>
            <a:ext cx="228600" cy="457200"/>
          </a:xfrm>
          <a:prstGeom prst="roundRect">
            <a:avLst>
              <a:gd name="adj" fmla="val 16000"/>
            </a:avLst>
          </a:prstGeom>
          <a:solidFill>
            <a:srgbClr val="E7F5C7"/>
          </a:solidFill>
          <a:ln w="1397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4443984" y="447141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736592" y="4343400"/>
            <a:ext cx="2286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Text 47"/>
          <p:cNvSpPr/>
          <p:nvPr/>
        </p:nvSpPr>
        <p:spPr>
          <a:xfrm>
            <a:off x="4736592" y="447141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126480" y="4343400"/>
            <a:ext cx="228600" cy="457200"/>
          </a:xfrm>
          <a:prstGeom prst="roundRect">
            <a:avLst>
              <a:gd name="adj" fmla="val 16000"/>
            </a:avLst>
          </a:prstGeom>
          <a:solidFill>
            <a:srgbClr val="E7F5C7"/>
          </a:solidFill>
          <a:ln w="1397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9"/>
          <p:cNvSpPr/>
          <p:nvPr/>
        </p:nvSpPr>
        <p:spPr>
          <a:xfrm>
            <a:off x="6126480" y="447141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419088" y="4343400"/>
            <a:ext cx="2286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Text 51"/>
          <p:cNvSpPr/>
          <p:nvPr/>
        </p:nvSpPr>
        <p:spPr>
          <a:xfrm>
            <a:off x="6419088" y="447141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711696" y="4343400"/>
            <a:ext cx="228600" cy="457200"/>
          </a:xfrm>
          <a:prstGeom prst="roundRect">
            <a:avLst>
              <a:gd name="adj" fmla="val 16000"/>
            </a:avLst>
          </a:prstGeom>
          <a:solidFill>
            <a:srgbClr val="E7F5C7"/>
          </a:solidFill>
          <a:ln w="1397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Text 53"/>
          <p:cNvSpPr/>
          <p:nvPr/>
        </p:nvSpPr>
        <p:spPr>
          <a:xfrm>
            <a:off x="6711696" y="447141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7004304" y="4343400"/>
            <a:ext cx="2286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Text 55"/>
          <p:cNvSpPr/>
          <p:nvPr/>
        </p:nvSpPr>
        <p:spPr>
          <a:xfrm>
            <a:off x="7004304" y="447141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7296912" y="4343400"/>
            <a:ext cx="228600" cy="457200"/>
          </a:xfrm>
          <a:prstGeom prst="roundRect">
            <a:avLst>
              <a:gd name="adj" fmla="val 16000"/>
            </a:avLst>
          </a:prstGeom>
          <a:solidFill>
            <a:srgbClr val="E7F5C7"/>
          </a:solidFill>
          <a:ln w="1397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Text 57"/>
          <p:cNvSpPr/>
          <p:nvPr/>
        </p:nvSpPr>
        <p:spPr>
          <a:xfrm>
            <a:off x="7296912" y="447141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8686800" y="4343400"/>
            <a:ext cx="228600" cy="457200"/>
          </a:xfrm>
          <a:prstGeom prst="roundRect">
            <a:avLst>
              <a:gd name="adj" fmla="val 16000"/>
            </a:avLst>
          </a:prstGeom>
          <a:solidFill>
            <a:srgbClr val="E7F5C7"/>
          </a:solidFill>
          <a:ln w="1397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Text 59"/>
          <p:cNvSpPr/>
          <p:nvPr/>
        </p:nvSpPr>
        <p:spPr>
          <a:xfrm>
            <a:off x="8686800" y="447141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8979408" y="4343400"/>
            <a:ext cx="2286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Text 61"/>
          <p:cNvSpPr/>
          <p:nvPr/>
        </p:nvSpPr>
        <p:spPr>
          <a:xfrm>
            <a:off x="8979408" y="447141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9272016" y="4343400"/>
            <a:ext cx="228600" cy="457200"/>
          </a:xfrm>
          <a:prstGeom prst="roundRect">
            <a:avLst>
              <a:gd name="adj" fmla="val 16000"/>
            </a:avLst>
          </a:prstGeom>
          <a:solidFill>
            <a:srgbClr val="E7F5C7"/>
          </a:solidFill>
          <a:ln w="1397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Text 63"/>
          <p:cNvSpPr/>
          <p:nvPr/>
        </p:nvSpPr>
        <p:spPr>
          <a:xfrm>
            <a:off x="9272016" y="447141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9564624" y="4343400"/>
            <a:ext cx="2286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7" name="Text 65"/>
          <p:cNvSpPr/>
          <p:nvPr/>
        </p:nvSpPr>
        <p:spPr>
          <a:xfrm>
            <a:off x="9564624" y="447141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9857232" y="4343400"/>
            <a:ext cx="228600" cy="457200"/>
          </a:xfrm>
          <a:prstGeom prst="roundRect">
            <a:avLst>
              <a:gd name="adj" fmla="val 16000"/>
            </a:avLst>
          </a:prstGeom>
          <a:solidFill>
            <a:srgbClr val="E7F5C7"/>
          </a:solidFill>
          <a:ln w="1397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9" name="Text 67"/>
          <p:cNvSpPr/>
          <p:nvPr/>
        </p:nvSpPr>
        <p:spPr>
          <a:xfrm>
            <a:off x="9857232" y="447141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594360" y="6281928"/>
            <a:ext cx="9829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1" name="Text 69"/>
          <p:cNvSpPr/>
          <p:nvPr/>
        </p:nvSpPr>
        <p:spPr>
          <a:xfrm>
            <a:off x="749808" y="6345936"/>
            <a:ext cx="9509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Large context can be obtained through architecture, not only by increasing input-window length.</a:t>
            </a:r>
            <a:endParaRPr lang="en-US" sz="12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B13D559-E9B3-B0F1-4381-BA9FDDECF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Receptive field and classification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7802759-DF73-C1EF-2431-2B8F1B76F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For sequence classification, the final prediction may need information from the complete window.</a:t>
            </a:r>
          </a:p>
          <a:p>
            <a:r>
              <a:rPr lang="en-GB" dirty="0"/>
              <a:t>Example:</a:t>
            </a:r>
          </a:p>
          <a:p>
            <a:r>
              <a:rPr lang="en-GB" dirty="0"/>
              <a:t>500-step vibration window</a:t>
            </a:r>
          </a:p>
          <a:p>
            <a:r>
              <a:rPr lang="en-GB" dirty="0"/>
              <a:t>        ↓</a:t>
            </a:r>
          </a:p>
          <a:p>
            <a:r>
              <a:rPr lang="en-GB" dirty="0"/>
              <a:t>Conv layers</a:t>
            </a:r>
          </a:p>
          <a:p>
            <a:r>
              <a:rPr lang="en-GB" dirty="0"/>
              <a:t>        ↓</a:t>
            </a:r>
          </a:p>
          <a:p>
            <a:r>
              <a:rPr lang="en-GB" dirty="0"/>
              <a:t>global pooling</a:t>
            </a:r>
          </a:p>
          <a:p>
            <a:r>
              <a:rPr lang="en-GB" dirty="0"/>
              <a:t>        ↓</a:t>
            </a:r>
          </a:p>
          <a:p>
            <a:r>
              <a:rPr lang="en-GB" dirty="0"/>
              <a:t>fault class</a:t>
            </a:r>
          </a:p>
          <a:p>
            <a:r>
              <a:rPr lang="en-GB" b="1" dirty="0">
                <a:highlight>
                  <a:srgbClr val="FFFF00"/>
                </a:highlight>
              </a:rPr>
              <a:t>Global pooling aggregates local features across the complete temporal window.</a:t>
            </a:r>
            <a:endParaRPr lang="en-GB" dirty="0">
              <a:highlight>
                <a:srgbClr val="FFFF00"/>
              </a:highlight>
            </a:endParaRPr>
          </a:p>
          <a:p>
            <a:r>
              <a:rPr lang="en-GB" b="1" dirty="0">
                <a:highlight>
                  <a:srgbClr val="FFFF00"/>
                </a:highlight>
              </a:rPr>
              <a:t>Each local feature is still limited by its receptive field, so long-range interactions may remain inaccessible.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12316822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4A9C8-12D0-9A23-671D-60526C6FE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97274AF-2132-C065-2B41-1AB074F6E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highlight>
                  <a:srgbClr val="FFFF00"/>
                </a:highlight>
              </a:rPr>
              <a:t>Receptive field and classification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B91B38E-6718-F987-DB34-083E9F1050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b="1" dirty="0"/>
              <a:t>If the discriminative pattern is local</a:t>
            </a:r>
          </a:p>
          <a:p>
            <a:pPr lvl="1"/>
            <a:r>
              <a:rPr lang="en-GB" dirty="0"/>
              <a:t>A moderate receptive field may be sufficient.</a:t>
            </a:r>
          </a:p>
          <a:p>
            <a:r>
              <a:rPr lang="en-GB" b="1" dirty="0"/>
              <a:t>If classification depends on a long temporal relation</a:t>
            </a:r>
          </a:p>
          <a:p>
            <a:pPr lvl="1"/>
            <a:r>
              <a:rPr lang="en-GB" dirty="0"/>
              <a:t>Example:</a:t>
            </a:r>
          </a:p>
          <a:p>
            <a:pPr lvl="2"/>
            <a:r>
              <a:rPr lang="en-GB" dirty="0"/>
              <a:t>a first event followed several seconds later by another event</a:t>
            </a:r>
          </a:p>
          <a:p>
            <a:pPr lvl="1"/>
            <a:r>
              <a:rPr lang="en-GB" dirty="0"/>
              <a:t>then the network must have a receptive field large enough to combine both events before final aggregation.</a:t>
            </a:r>
          </a:p>
          <a:p>
            <a:endParaRPr lang="en-GB" b="1" dirty="0"/>
          </a:p>
          <a:p>
            <a:r>
              <a:rPr lang="en-GB" b="1" dirty="0">
                <a:solidFill>
                  <a:schemeClr val="tx1"/>
                </a:solidFill>
                <a:highlight>
                  <a:srgbClr val="FFFF00"/>
                </a:highlight>
              </a:rPr>
              <a:t>Key point</a:t>
            </a:r>
          </a:p>
          <a:p>
            <a:r>
              <a:rPr lang="en-GB" dirty="0"/>
              <a:t>Global pooling does not automatically create arbitrary temporal interactions.</a:t>
            </a:r>
          </a:p>
          <a:p>
            <a:r>
              <a:rPr lang="en-GB" dirty="0"/>
              <a:t>The preceding convolutional representation still matters.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66107149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E147FD4-B52F-859B-8350-171F9C7E4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Receptive field and </a:t>
            </a:r>
            <a:r>
              <a:rPr lang="en-GB" dirty="0">
                <a:highlight>
                  <a:srgbClr val="FFFF00"/>
                </a:highlight>
              </a:rPr>
              <a:t>sequence labelling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462B126-2B61-86FA-AB29-A93CCE3FE1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For sequence labelling, each output: </a:t>
            </a:r>
            <a:r>
              <a:rPr lang="en-GB" dirty="0" err="1"/>
              <a:t>y_hat</a:t>
            </a:r>
            <a:r>
              <a:rPr lang="en-GB" dirty="0"/>
              <a:t>[t]</a:t>
            </a:r>
          </a:p>
          <a:p>
            <a:r>
              <a:rPr lang="en-GB" dirty="0"/>
              <a:t>should depend on an appropriate temporal </a:t>
            </a:r>
            <a:r>
              <a:rPr lang="en-GB" dirty="0" err="1"/>
              <a:t>neighborhood</a:t>
            </a:r>
            <a:r>
              <a:rPr lang="en-GB" dirty="0"/>
              <a:t>.</a:t>
            </a:r>
          </a:p>
          <a:p>
            <a:endParaRPr lang="en-GB" b="1" dirty="0"/>
          </a:p>
          <a:p>
            <a:r>
              <a:rPr lang="en-GB" b="1" dirty="0">
                <a:highlight>
                  <a:srgbClr val="FFFF00"/>
                </a:highlight>
              </a:rPr>
              <a:t>Small receptive field</a:t>
            </a:r>
          </a:p>
          <a:p>
            <a:r>
              <a:rPr lang="en-GB" dirty="0">
                <a:highlight>
                  <a:srgbClr val="FFFF00"/>
                </a:highlight>
              </a:rPr>
              <a:t>Advantages:</a:t>
            </a:r>
          </a:p>
          <a:p>
            <a:pPr lvl="1"/>
            <a:r>
              <a:rPr lang="en-GB" dirty="0"/>
              <a:t>precise local decisions; </a:t>
            </a:r>
          </a:p>
          <a:p>
            <a:pPr lvl="1"/>
            <a:r>
              <a:rPr lang="en-GB" dirty="0"/>
              <a:t>low latency. </a:t>
            </a:r>
          </a:p>
          <a:p>
            <a:r>
              <a:rPr lang="en-GB" dirty="0">
                <a:highlight>
                  <a:srgbClr val="FFFF00"/>
                </a:highlight>
              </a:rPr>
              <a:t>Limitation:</a:t>
            </a:r>
          </a:p>
          <a:p>
            <a:pPr lvl="1"/>
            <a:r>
              <a:rPr lang="en-GB" dirty="0"/>
              <a:t>may miss broader context.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14933141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1CC1F-E7E0-498A-9822-D408AEE8B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E101C8C-C835-0B13-19F8-73BF27156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Receptive field and sequence labelling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FEEA17F-CE43-26B0-2A7C-8CFD960D7C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b="1" dirty="0">
                <a:highlight>
                  <a:srgbClr val="FFFF00"/>
                </a:highlight>
              </a:rPr>
              <a:t>Large receptive field</a:t>
            </a:r>
          </a:p>
          <a:p>
            <a:r>
              <a:rPr lang="en-GB" dirty="0">
                <a:highlight>
                  <a:srgbClr val="FFFF00"/>
                </a:highlight>
              </a:rPr>
              <a:t>Advantages:</a:t>
            </a:r>
          </a:p>
          <a:p>
            <a:pPr lvl="1"/>
            <a:r>
              <a:rPr lang="en-GB" dirty="0"/>
              <a:t>incorporates long temporal context. </a:t>
            </a:r>
          </a:p>
          <a:p>
            <a:r>
              <a:rPr lang="en-GB" dirty="0">
                <a:highlight>
                  <a:srgbClr val="FFFF00"/>
                </a:highlight>
              </a:rPr>
              <a:t>Potential limitation:</a:t>
            </a:r>
          </a:p>
          <a:p>
            <a:pPr lvl="1"/>
            <a:r>
              <a:rPr lang="en-GB" dirty="0"/>
              <a:t>may blur local temporal distinctions; </a:t>
            </a:r>
          </a:p>
          <a:p>
            <a:pPr lvl="1"/>
            <a:r>
              <a:rPr lang="en-GB" dirty="0"/>
              <a:t>increases computation. </a:t>
            </a:r>
          </a:p>
          <a:p>
            <a:endParaRPr lang="en-GB" b="1" dirty="0"/>
          </a:p>
          <a:p>
            <a:r>
              <a:rPr lang="en-GB" b="1" dirty="0"/>
              <a:t>Example</a:t>
            </a:r>
          </a:p>
          <a:p>
            <a:r>
              <a:rPr lang="en-GB" dirty="0"/>
              <a:t>For activity recognition:</a:t>
            </a:r>
          </a:p>
          <a:p>
            <a:r>
              <a:rPr lang="en-GB" dirty="0"/>
              <a:t>A single accelerometer spike may be ambiguous.</a:t>
            </a:r>
          </a:p>
          <a:p>
            <a:r>
              <a:rPr lang="en-GB" dirty="0"/>
              <a:t>Several seconds of motion context may be needed to distinguish:</a:t>
            </a:r>
          </a:p>
          <a:p>
            <a:pPr lvl="1"/>
            <a:r>
              <a:rPr lang="en-GB" dirty="0"/>
              <a:t>walking; </a:t>
            </a:r>
          </a:p>
          <a:p>
            <a:pPr lvl="1"/>
            <a:r>
              <a:rPr lang="en-GB" dirty="0"/>
              <a:t>running; </a:t>
            </a:r>
          </a:p>
          <a:p>
            <a:pPr lvl="1"/>
            <a:r>
              <a:rPr lang="en-GB" dirty="0"/>
              <a:t>climbing stairs. 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20A2AD61-D985-557A-B647-AC67FC5467F7}"/>
              </a:ext>
            </a:extLst>
          </p:cNvPr>
          <p:cNvSpPr txBox="1"/>
          <p:nvPr/>
        </p:nvSpPr>
        <p:spPr>
          <a:xfrm>
            <a:off x="5338763" y="5948385"/>
            <a:ext cx="6105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For per-time-step prediction, receptive field defines how much context supports each temporal decision.</a:t>
            </a:r>
          </a:p>
        </p:txBody>
      </p:sp>
    </p:spTree>
    <p:extLst>
      <p:ext uri="{BB962C8B-B14F-4D97-AF65-F5344CB8AC3E}">
        <p14:creationId xmlns:p14="http://schemas.microsoft.com/office/powerpoint/2010/main" val="408617577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D3C41AB-2206-0C98-D161-EDC86C942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Receptive field is an architectural constraint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0AFDC18-4966-C77F-2E3E-B84B1CD7B6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>
                <a:highlight>
                  <a:srgbClr val="FFFF00"/>
                </a:highlight>
              </a:rPr>
              <a:t>Suppose:</a:t>
            </a:r>
          </a:p>
          <a:p>
            <a:pPr lvl="1"/>
            <a:r>
              <a:rPr lang="en-GB" dirty="0"/>
              <a:t>input window length = 1000; </a:t>
            </a:r>
          </a:p>
          <a:p>
            <a:pPr lvl="1"/>
            <a:r>
              <a:rPr lang="en-GB" dirty="0"/>
              <a:t>receptive field = 121. </a:t>
            </a:r>
          </a:p>
          <a:p>
            <a:r>
              <a:rPr lang="en-GB" dirty="0">
                <a:highlight>
                  <a:srgbClr val="FFFF00"/>
                </a:highlight>
              </a:rPr>
              <a:t>Then</a:t>
            </a:r>
            <a:r>
              <a:rPr lang="en-GB" dirty="0"/>
              <a:t> the network receives 1000 input steps, but one local output can be influenced by at most 121 of them.</a:t>
            </a:r>
          </a:p>
          <a:p>
            <a:r>
              <a:rPr lang="en-GB" b="1" dirty="0">
                <a:highlight>
                  <a:srgbClr val="FFFF00"/>
                </a:highlight>
              </a:rPr>
              <a:t>If the relevant dependency is longer than 121</a:t>
            </a:r>
          </a:p>
          <a:p>
            <a:pPr lvl="1"/>
            <a:r>
              <a:rPr lang="en-GB" dirty="0"/>
              <a:t>No amount of additional training can make that local output directly use the missing information.</a:t>
            </a:r>
          </a:p>
          <a:p>
            <a:pPr lvl="1"/>
            <a:r>
              <a:rPr lang="en-GB" dirty="0"/>
              <a:t>The architecture itself prevents the interaction.</a:t>
            </a:r>
          </a:p>
          <a:p>
            <a:endParaRPr lang="en-GB" b="1" dirty="0"/>
          </a:p>
          <a:p>
            <a:r>
              <a:rPr lang="en-GB" b="1" dirty="0">
                <a:highlight>
                  <a:srgbClr val="FFFF00"/>
                </a:highlight>
              </a:rPr>
              <a:t>Therefore receptive field should be checked before training</a:t>
            </a:r>
          </a:p>
          <a:p>
            <a:r>
              <a:rPr lang="en-GB" dirty="0">
                <a:highlight>
                  <a:srgbClr val="FFFF00"/>
                </a:highlight>
              </a:rPr>
              <a:t>Ask:</a:t>
            </a:r>
          </a:p>
          <a:p>
            <a:pPr lvl="1"/>
            <a:r>
              <a:rPr lang="en-GB" dirty="0"/>
              <a:t>What is the expected temporal dependency? </a:t>
            </a:r>
          </a:p>
          <a:p>
            <a:pPr lvl="1"/>
            <a:r>
              <a:rPr lang="en-GB" dirty="0"/>
              <a:t>How many samples (</a:t>
            </a:r>
            <a:r>
              <a:rPr lang="en-GB" b="1" dirty="0"/>
              <a:t>frames</a:t>
            </a:r>
            <a:r>
              <a:rPr lang="en-GB" dirty="0"/>
              <a:t>) correspond to that duration? </a:t>
            </a:r>
          </a:p>
          <a:p>
            <a:pPr lvl="1"/>
            <a:r>
              <a:rPr lang="en-GB" dirty="0"/>
              <a:t>Does the architecture's receptive field cover it? </a:t>
            </a:r>
          </a:p>
          <a:p>
            <a:pPr lvl="1"/>
            <a:r>
              <a:rPr lang="en-GB" dirty="0"/>
              <a:t>Is temporal resolution still sufficient?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2876451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DD25571-4CBB-B760-CDF0-C119934E0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Transition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F652E91-475F-654D-D4CA-CAA42D1DD8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large receptive field alone is not enough for forecasting.</a:t>
            </a:r>
          </a:p>
          <a:p>
            <a:r>
              <a:rPr lang="en-GB" dirty="0">
                <a:highlight>
                  <a:srgbClr val="FFFF00"/>
                </a:highlight>
              </a:rPr>
              <a:t>We must also control </a:t>
            </a:r>
            <a:r>
              <a:rPr lang="en-GB" b="1" dirty="0">
                <a:highlight>
                  <a:srgbClr val="FFFF00"/>
                </a:highlight>
              </a:rPr>
              <a:t>which side of time</a:t>
            </a:r>
            <a:r>
              <a:rPr lang="en-GB" dirty="0">
                <a:highlight>
                  <a:srgbClr val="FFFF00"/>
                </a:highlight>
              </a:rPr>
              <a:t> the receptive field can access.</a:t>
            </a:r>
          </a:p>
          <a:p>
            <a:r>
              <a:rPr lang="en-GB" dirty="0"/>
              <a:t>This leads to causal convolution.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1264088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1B7845B-EE46-E55B-08B1-C86D5CDD2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Block 5.F — Causal Convolution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94DB1DE-E476-4487-CC09-2907E844E8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2441150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E3917F9-036E-F753-2D9C-DD4FD2185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temporal convolution can accidentally use the future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FA40C0F-56B0-3793-71C8-50DEB6097F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6086881" cy="3880772"/>
          </a:xfrm>
        </p:spPr>
        <p:txBody>
          <a:bodyPr>
            <a:normAutofit/>
          </a:bodyPr>
          <a:lstStyle/>
          <a:p>
            <a:r>
              <a:rPr lang="en-GB" dirty="0"/>
              <a:t>Consider a sequence:</a:t>
            </a:r>
          </a:p>
          <a:p>
            <a:r>
              <a:rPr lang="en-GB" dirty="0"/>
              <a:t>... x[t−2], x[t−1], x[t], x[t+1], x[t+2] ...</a:t>
            </a:r>
          </a:p>
          <a:p>
            <a:r>
              <a:rPr lang="en-GB" dirty="0"/>
              <a:t>Suppose we want an output associated with time: t</a:t>
            </a:r>
          </a:p>
          <a:p>
            <a:r>
              <a:rPr lang="en-GB" b="1" dirty="0">
                <a:highlight>
                  <a:srgbClr val="FFFF00"/>
                </a:highlight>
              </a:rPr>
              <a:t>A </a:t>
            </a:r>
            <a:r>
              <a:rPr lang="en-GB" b="1" dirty="0" err="1">
                <a:highlight>
                  <a:srgbClr val="FFFF00"/>
                </a:highlight>
              </a:rPr>
              <a:t>centered</a:t>
            </a:r>
            <a:r>
              <a:rPr lang="en-GB" b="1" dirty="0">
                <a:highlight>
                  <a:srgbClr val="FFFF00"/>
                </a:highlight>
              </a:rPr>
              <a:t> convolution </a:t>
            </a:r>
            <a:r>
              <a:rPr lang="en-GB" dirty="0">
                <a:highlight>
                  <a:srgbClr val="FFFF00"/>
                </a:highlight>
              </a:rPr>
              <a:t>with kernel size 3 might use:</a:t>
            </a:r>
          </a:p>
          <a:p>
            <a:r>
              <a:rPr lang="en-GB" dirty="0">
                <a:highlight>
                  <a:srgbClr val="FFFF00"/>
                </a:highlight>
              </a:rPr>
              <a:t>x[t−1], x[t], x[t+1]</a:t>
            </a:r>
          </a:p>
          <a:p>
            <a:r>
              <a:rPr lang="en-GB" dirty="0"/>
              <a:t>This is perfectly reasonable for </a:t>
            </a:r>
            <a:r>
              <a:rPr lang="en-GB" b="1" dirty="0"/>
              <a:t>some offline tasks</a:t>
            </a:r>
            <a:r>
              <a:rPr lang="en-GB" dirty="0"/>
              <a:t>.</a:t>
            </a:r>
          </a:p>
          <a:p>
            <a:r>
              <a:rPr lang="en-GB" dirty="0"/>
              <a:t>But it uses:</a:t>
            </a:r>
          </a:p>
          <a:p>
            <a:r>
              <a:rPr lang="en-GB" dirty="0"/>
              <a:t>x[t+1]</a:t>
            </a:r>
          </a:p>
          <a:p>
            <a:r>
              <a:rPr lang="en-GB" dirty="0"/>
              <a:t>which is a future observation relative to time t.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B5C80C6-2B66-4A24-A8A0-0FED7A230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30633" y="2160589"/>
            <a:ext cx="4184034" cy="3880773"/>
          </a:xfrm>
        </p:spPr>
        <p:txBody>
          <a:bodyPr>
            <a:normAutofit/>
          </a:bodyPr>
          <a:lstStyle/>
          <a:p>
            <a:r>
              <a:rPr lang="en-GB" b="1" dirty="0">
                <a:highlight>
                  <a:srgbClr val="FFFF00"/>
                </a:highlight>
              </a:rPr>
              <a:t>For real-time prediction</a:t>
            </a:r>
          </a:p>
          <a:p>
            <a:pPr lvl="1"/>
            <a:r>
              <a:rPr lang="en-GB" dirty="0">
                <a:highlight>
                  <a:srgbClr val="FFFF00"/>
                </a:highlight>
              </a:rPr>
              <a:t>That value is unavailable.</a:t>
            </a:r>
          </a:p>
          <a:p>
            <a:r>
              <a:rPr lang="en-GB" b="1" dirty="0"/>
              <a:t>Therefore</a:t>
            </a:r>
          </a:p>
          <a:p>
            <a:pPr lvl="1"/>
            <a:r>
              <a:rPr lang="en-GB" dirty="0"/>
              <a:t>A standard temporal convolution is not automatically causal.</a:t>
            </a:r>
          </a:p>
          <a:p>
            <a:endParaRPr lang="en-GB" dirty="0"/>
          </a:p>
          <a:p>
            <a:r>
              <a:rPr lang="en-GB" b="1" dirty="0">
                <a:highlight>
                  <a:srgbClr val="FFFF00"/>
                </a:highlight>
              </a:rPr>
              <a:t>Convolution specifies local connectivity; causality specifies which temporal positions are allowed to contribute.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204693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B4E720-D363-87AF-DAA5-D82A5DDC1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Non-causal convolution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C3F66CA-CBFF-411B-D60E-5BDDA2DA33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6321343" cy="4451226"/>
          </a:xfrm>
        </p:spPr>
        <p:txBody>
          <a:bodyPr>
            <a:normAutofit fontScale="70000" lnSpcReduction="20000"/>
          </a:bodyPr>
          <a:lstStyle/>
          <a:p>
            <a:r>
              <a:rPr lang="en-GB" dirty="0"/>
              <a:t>A non-causal convolution may use observations on both sides of the output time.</a:t>
            </a:r>
          </a:p>
          <a:p>
            <a:r>
              <a:rPr lang="en-GB" dirty="0"/>
              <a:t>Example:</a:t>
            </a:r>
          </a:p>
          <a:p>
            <a:r>
              <a:rPr lang="en-GB" dirty="0"/>
              <a:t>   past          now        future</a:t>
            </a:r>
          </a:p>
          <a:p>
            <a:br>
              <a:rPr lang="en-GB" dirty="0"/>
            </a:br>
            <a:endParaRPr lang="en-GB" dirty="0"/>
          </a:p>
          <a:p>
            <a:r>
              <a:rPr lang="en-GB" dirty="0"/>
              <a:t>x[t−2] x[t−1] x[t] x[t+1] x[t+2]</a:t>
            </a:r>
          </a:p>
          <a:p>
            <a:r>
              <a:rPr lang="en-GB" dirty="0"/>
              <a:t>        └──────┬──────┘</a:t>
            </a:r>
          </a:p>
          <a:p>
            <a:r>
              <a:rPr lang="en-GB" dirty="0"/>
              <a:t>               ↓</a:t>
            </a:r>
          </a:p>
          <a:p>
            <a:r>
              <a:rPr lang="en-GB" dirty="0"/>
              <a:t>            output[t]</a:t>
            </a:r>
          </a:p>
          <a:p>
            <a:r>
              <a:rPr lang="en-GB" b="1" dirty="0"/>
              <a:t>Appropriate applications</a:t>
            </a:r>
          </a:p>
          <a:p>
            <a:r>
              <a:rPr lang="en-GB" dirty="0"/>
              <a:t>When the complete sequence is already available:</a:t>
            </a:r>
          </a:p>
          <a:p>
            <a:pPr lvl="0"/>
            <a:r>
              <a:rPr lang="en-GB" dirty="0"/>
              <a:t>offline sequence classification; </a:t>
            </a:r>
          </a:p>
          <a:p>
            <a:pPr lvl="0"/>
            <a:r>
              <a:rPr lang="en-GB" dirty="0"/>
              <a:t>retrospective segmentation; </a:t>
            </a:r>
          </a:p>
          <a:p>
            <a:pPr lvl="0"/>
            <a:r>
              <a:rPr lang="en-GB" dirty="0"/>
              <a:t>post-processing; </a:t>
            </a:r>
          </a:p>
          <a:p>
            <a:pPr lvl="0"/>
            <a:r>
              <a:rPr lang="en-GB" dirty="0"/>
              <a:t>analysis of stored recordings. 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38EDBCC-FC96-A4C3-F641-E36F7A5583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30633" y="2160588"/>
            <a:ext cx="4184034" cy="4333997"/>
          </a:xfrm>
        </p:spPr>
        <p:txBody>
          <a:bodyPr>
            <a:normAutofit fontScale="70000" lnSpcReduction="20000"/>
          </a:bodyPr>
          <a:lstStyle/>
          <a:p>
            <a:r>
              <a:rPr lang="en-GB" b="1" dirty="0"/>
              <a:t>Advantage</a:t>
            </a:r>
          </a:p>
          <a:p>
            <a:r>
              <a:rPr lang="en-GB" dirty="0"/>
              <a:t>The model can exploit both earlier and later context.</a:t>
            </a:r>
          </a:p>
          <a:p>
            <a:r>
              <a:rPr lang="en-GB" b="1" dirty="0">
                <a:highlight>
                  <a:srgbClr val="FFFF00"/>
                </a:highlight>
              </a:rPr>
              <a:t>Example</a:t>
            </a:r>
          </a:p>
          <a:p>
            <a:r>
              <a:rPr lang="en-GB" dirty="0"/>
              <a:t>When labelling a stored production cycle, observations immediately after a transition may help identify precisely when the transition occurred.</a:t>
            </a:r>
          </a:p>
          <a:p>
            <a:endParaRPr lang="en-GB" dirty="0"/>
          </a:p>
          <a:p>
            <a:r>
              <a:rPr lang="en-GB" b="1" dirty="0">
                <a:highlight>
                  <a:srgbClr val="FFFF00"/>
                </a:highlight>
              </a:rPr>
              <a:t>Non-causal does not mean incorrect.</a:t>
            </a:r>
          </a:p>
          <a:p>
            <a:r>
              <a:rPr lang="en-GB" dirty="0"/>
              <a:t>It is incorrect only when future observations would not exist at deployment time.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6893580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0"/>
            <a:ext cx="1042416" cy="6858000"/>
          </a:xfrm>
          <a:prstGeom prst="rect">
            <a:avLst/>
          </a:prstGeom>
          <a:solidFill>
            <a:srgbClr val="84B91F">
              <a:alpha val="95000"/>
            </a:srgbClr>
          </a:solidFill>
          <a:ln w="12700">
            <a:solidFill>
              <a:srgbClr val="84B9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927080" y="0"/>
            <a:ext cx="0" cy="6858000"/>
          </a:xfrm>
          <a:prstGeom prst="line">
            <a:avLst/>
          </a:prstGeom>
          <a:noFill/>
          <a:ln w="8890">
            <a:solidFill>
              <a:srgbClr val="CBD5E1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94360" y="32004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5.F.1 — </a:t>
            </a:r>
            <a:r>
              <a:rPr lang="en-US" sz="2600" b="1" dirty="0">
                <a:solidFill>
                  <a:srgbClr val="0F172A"/>
                </a:solidFill>
                <a:highlight>
                  <a:srgbClr val="FFFF00"/>
                </a:highlight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Non-causal</a:t>
            </a: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convolution can use future observations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12648" y="84124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</a:t>
            </a:r>
            <a:r>
              <a:rPr lang="en-US" sz="135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centered temporal kernel </a:t>
            </a:r>
            <a:r>
              <a:rPr lang="en-US" sz="13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 look both backward and forward around time t.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75569"/>
                </a:solidFill>
              </a:rPr>
              <a:t>past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0" y="16916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now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0" y="16916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/>
              <a:t>future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05840" y="2286000"/>
            <a:ext cx="5486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005840" y="24140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</a:rPr>
              <a:t>x[t−2]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194560" y="2286000"/>
            <a:ext cx="548640" cy="457200"/>
          </a:xfrm>
          <a:prstGeom prst="roundRect">
            <a:avLst>
              <a:gd name="adj" fmla="val 8000"/>
            </a:avLst>
          </a:prstGeom>
          <a:solidFill>
            <a:srgbClr val="FFE4E6"/>
          </a:solidFill>
          <a:ln w="1397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2194560" y="24140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x[t−1]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83280" y="2286000"/>
            <a:ext cx="548640" cy="457200"/>
          </a:xfrm>
          <a:prstGeom prst="roundRect">
            <a:avLst>
              <a:gd name="adj" fmla="val 8000"/>
            </a:avLst>
          </a:prstGeom>
          <a:solidFill>
            <a:srgbClr val="FFE4E6"/>
          </a:solidFill>
          <a:ln w="1397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3383280" y="24140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x[t]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0" y="2286000"/>
            <a:ext cx="548640" cy="457200"/>
          </a:xfrm>
          <a:prstGeom prst="roundRect">
            <a:avLst>
              <a:gd name="adj" fmla="val 8000"/>
            </a:avLst>
          </a:prstGeom>
          <a:solidFill>
            <a:srgbClr val="FFE4E6"/>
          </a:solidFill>
          <a:ln w="1397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572000" y="24140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x[t+1]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760720" y="2286000"/>
            <a:ext cx="5486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5760720" y="24140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</a:rPr>
              <a:t>x[t+2]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 flipV="1">
            <a:off x="2148840" y="2926080"/>
            <a:ext cx="3154680" cy="320040"/>
          </a:xfrm>
          <a:prstGeom prst="bracePair">
            <a:avLst/>
          </a:prstGeom>
          <a:noFill/>
          <a:ln w="2032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1828800" y="33649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</a:rPr>
              <a:t>centered kernel uses x[t−1], x[t], x[t+1]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977640" y="3749040"/>
            <a:ext cx="0" cy="822960"/>
          </a:xfrm>
          <a:prstGeom prst="line">
            <a:avLst/>
          </a:prstGeom>
          <a:noFill/>
          <a:ln w="27940">
            <a:solidFill>
              <a:srgbClr val="DC262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3246120" y="4709160"/>
            <a:ext cx="1463040" cy="594360"/>
          </a:xfrm>
          <a:prstGeom prst="roundRect">
            <a:avLst>
              <a:gd name="adj" fmla="val 9231"/>
            </a:avLst>
          </a:prstGeom>
          <a:solidFill>
            <a:srgbClr val="FFE4E6"/>
          </a:solidFill>
          <a:ln w="1524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3291840" y="4881067"/>
            <a:ext cx="1371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output[t]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172200" y="4283964"/>
            <a:ext cx="3108960" cy="100584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6217920" y="4464101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Valid for offline analysis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Invalid for real-time forecasting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94360" y="6281928"/>
            <a:ext cx="9829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749808" y="6345936"/>
            <a:ext cx="9509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Non-causal is not wrong by itself; </a:t>
            </a:r>
            <a:r>
              <a:rPr lang="en-US" sz="1200" b="1" dirty="0">
                <a:solidFill>
                  <a:srgbClr val="0F172A"/>
                </a:solidFill>
              </a:rPr>
              <a:t>it is wrong when future values are unavailable at deployment</a:t>
            </a:r>
            <a:r>
              <a:rPr lang="en-US" sz="1200" dirty="0">
                <a:solidFill>
                  <a:srgbClr val="0F172A"/>
                </a:solidFill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70269CB-902D-FAD1-9478-322CDAC2B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Causal convolution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958F644-5397-03E7-DBB0-827E5F29EF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5535897" cy="4333996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A causal convolution ensures that an output at time t uses only:</a:t>
            </a:r>
          </a:p>
          <a:p>
            <a:r>
              <a:rPr lang="en-GB" dirty="0"/>
              <a:t>x[t], x[t−1], x[t−2], ...</a:t>
            </a:r>
          </a:p>
          <a:p>
            <a:r>
              <a:rPr lang="en-GB" dirty="0"/>
              <a:t>and never:</a:t>
            </a:r>
          </a:p>
          <a:p>
            <a:r>
              <a:rPr lang="en-GB" dirty="0"/>
              <a:t>x[t+1], x[t+2], ...</a:t>
            </a:r>
          </a:p>
          <a:p>
            <a:r>
              <a:rPr lang="en-GB" dirty="0"/>
              <a:t>For kernel size 3:</a:t>
            </a:r>
          </a:p>
          <a:p>
            <a:r>
              <a:rPr lang="en-GB" dirty="0"/>
              <a:t>past                 now       future</a:t>
            </a:r>
          </a:p>
          <a:p>
            <a:br>
              <a:rPr lang="en-GB" dirty="0"/>
            </a:br>
            <a:endParaRPr lang="en-GB" dirty="0"/>
          </a:p>
          <a:p>
            <a:r>
              <a:rPr lang="en-GB" dirty="0"/>
              <a:t>x[t−2]  x[t−1]  x[t] | x[t+1] x[t+2]</a:t>
            </a:r>
          </a:p>
          <a:p>
            <a:r>
              <a:rPr lang="en-GB" dirty="0"/>
              <a:t>  └──────┘</a:t>
            </a:r>
          </a:p>
          <a:p>
            <a:r>
              <a:rPr lang="en-GB" dirty="0"/>
              <a:t>       allowed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36834F2-10D7-B35D-0820-681465E0AC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37415" y="2160588"/>
            <a:ext cx="5109107" cy="4333997"/>
          </a:xfrm>
        </p:spPr>
        <p:txBody>
          <a:bodyPr>
            <a:normAutofit fontScale="92500" lnSpcReduction="10000"/>
          </a:bodyPr>
          <a:lstStyle/>
          <a:p>
            <a:r>
              <a:rPr lang="en-GB" b="1" dirty="0"/>
              <a:t>Causal dependency</a:t>
            </a:r>
          </a:p>
          <a:p>
            <a:r>
              <a:rPr lang="en-GB" dirty="0"/>
              <a:t>output[t]</a:t>
            </a:r>
          </a:p>
          <a:p>
            <a:r>
              <a:rPr lang="en-GB" dirty="0"/>
              <a:t>can depend on:</a:t>
            </a:r>
          </a:p>
          <a:p>
            <a:pPr lvl="1"/>
            <a:r>
              <a:rPr lang="en-GB" dirty="0"/>
              <a:t>current input; </a:t>
            </a:r>
          </a:p>
          <a:p>
            <a:pPr lvl="1"/>
            <a:r>
              <a:rPr lang="en-GB" dirty="0"/>
              <a:t>previous inputs. </a:t>
            </a:r>
          </a:p>
          <a:p>
            <a:r>
              <a:rPr lang="en-GB" dirty="0"/>
              <a:t>It cannot depend on future values.</a:t>
            </a:r>
          </a:p>
          <a:p>
            <a:endParaRPr lang="en-GB" b="1" dirty="0"/>
          </a:p>
          <a:p>
            <a:r>
              <a:rPr lang="en-GB" b="1" dirty="0">
                <a:highlight>
                  <a:srgbClr val="FFFF00"/>
                </a:highlight>
              </a:rPr>
              <a:t>Applications</a:t>
            </a:r>
          </a:p>
          <a:p>
            <a:pPr lvl="1"/>
            <a:r>
              <a:rPr lang="en-GB" dirty="0"/>
              <a:t>forecasting; </a:t>
            </a:r>
          </a:p>
          <a:p>
            <a:pPr lvl="1"/>
            <a:r>
              <a:rPr lang="en-GB" dirty="0"/>
              <a:t>online anomaly detection; </a:t>
            </a:r>
          </a:p>
          <a:p>
            <a:pPr lvl="1"/>
            <a:r>
              <a:rPr lang="en-GB" dirty="0"/>
              <a:t>real-time sequence labelling; </a:t>
            </a:r>
          </a:p>
          <a:p>
            <a:pPr lvl="1"/>
            <a:r>
              <a:rPr lang="en-GB" dirty="0"/>
              <a:t>streaming condition monitoring.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51455085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0"/>
            <a:ext cx="1042416" cy="6858000"/>
          </a:xfrm>
          <a:prstGeom prst="rect">
            <a:avLst/>
          </a:prstGeom>
          <a:solidFill>
            <a:srgbClr val="84B91F">
              <a:alpha val="95000"/>
            </a:srgbClr>
          </a:solidFill>
          <a:ln w="12700">
            <a:solidFill>
              <a:srgbClr val="84B9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927080" y="0"/>
            <a:ext cx="0" cy="6858000"/>
          </a:xfrm>
          <a:prstGeom prst="line">
            <a:avLst/>
          </a:prstGeom>
          <a:noFill/>
          <a:ln w="8890">
            <a:solidFill>
              <a:srgbClr val="CBD5E1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94360" y="32004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5.F.2 — </a:t>
            </a:r>
            <a:r>
              <a:rPr lang="en-US" sz="2600" b="1" dirty="0">
                <a:solidFill>
                  <a:srgbClr val="0F172A"/>
                </a:solidFill>
                <a:highlight>
                  <a:srgbClr val="FFFF00"/>
                </a:highlight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Causal</a:t>
            </a: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convolution: use only past and present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12648" y="84124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time t, a causal output never depends on x[t+1], x[t+2], ...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143000" y="1600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4B91F"/>
                </a:solidFill>
              </a:rPr>
              <a:t>allowed history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0" y="16002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/>
              <a:t>future not allowed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2240280"/>
            <a:ext cx="5486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868680" y="236829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</a:rPr>
              <a:t>x[t−4]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874520" y="2240280"/>
            <a:ext cx="5486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874520" y="236829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</a:rPr>
              <a:t>x[t−3]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880360" y="2240280"/>
            <a:ext cx="548640" cy="457200"/>
          </a:xfrm>
          <a:prstGeom prst="roundRect">
            <a:avLst>
              <a:gd name="adj" fmla="val 8000"/>
            </a:avLst>
          </a:prstGeom>
          <a:solidFill>
            <a:srgbClr val="E7F5C7"/>
          </a:solidFill>
          <a:ln w="1397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2880360" y="236829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x[t−2]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886200" y="2240280"/>
            <a:ext cx="548640" cy="457200"/>
          </a:xfrm>
          <a:prstGeom prst="roundRect">
            <a:avLst>
              <a:gd name="adj" fmla="val 8000"/>
            </a:avLst>
          </a:prstGeom>
          <a:solidFill>
            <a:srgbClr val="E7F5C7"/>
          </a:solidFill>
          <a:ln w="1397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3886200" y="236829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x[t−1]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92040" y="2240280"/>
            <a:ext cx="548640" cy="457200"/>
          </a:xfrm>
          <a:prstGeom prst="roundRect">
            <a:avLst>
              <a:gd name="adj" fmla="val 8000"/>
            </a:avLst>
          </a:prstGeom>
          <a:solidFill>
            <a:srgbClr val="E7F5C7"/>
          </a:solidFill>
          <a:ln w="1397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4892040" y="236829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x[t]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897880" y="2240280"/>
            <a:ext cx="5486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5897880" y="236829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</a:rPr>
              <a:t>x[t+1]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903720" y="2240280"/>
            <a:ext cx="5486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6903720" y="236829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</a:rPr>
              <a:t>x[t+2]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897880" y="2852928"/>
            <a:ext cx="164592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5760720" y="295351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/>
              <a:t>future values are not available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 flipV="1">
            <a:off x="2834640" y="2926080"/>
            <a:ext cx="2560320" cy="320040"/>
          </a:xfrm>
          <a:prstGeom prst="bracePair">
            <a:avLst/>
          </a:prstGeom>
          <a:noFill/>
          <a:ln w="2032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2971800" y="33649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4B91F"/>
                </a:solidFill>
              </a:rPr>
              <a:t>causal kernel K = 3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114800" y="3749040"/>
            <a:ext cx="0" cy="731520"/>
          </a:xfrm>
          <a:prstGeom prst="line">
            <a:avLst/>
          </a:prstGeom>
          <a:noFill/>
          <a:ln w="27940">
            <a:solidFill>
              <a:srgbClr val="84B91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3383280" y="4617720"/>
            <a:ext cx="1463040" cy="594360"/>
          </a:xfrm>
          <a:prstGeom prst="roundRect">
            <a:avLst>
              <a:gd name="adj" fmla="val 9231"/>
            </a:avLst>
          </a:prstGeom>
          <a:solidFill>
            <a:srgbClr val="E7F5C7"/>
          </a:solidFill>
          <a:ln w="1524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3429000" y="4789627"/>
            <a:ext cx="1371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output[t]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94360" y="6281928"/>
            <a:ext cx="9829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749808" y="6345936"/>
            <a:ext cx="9509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For forecasting and online monitoring, causal connectivity enforces prediction-time availability.</a:t>
            </a:r>
            <a:endParaRPr lang="en-US" sz="12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5DD7D58-F9E3-294D-ADD3-EA7F6BB37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highlight>
                  <a:srgbClr val="FFFF00"/>
                </a:highlight>
              </a:rPr>
              <a:t>Causal padding </a:t>
            </a:r>
            <a:r>
              <a:rPr lang="en-GB" u="sng" dirty="0">
                <a:highlight>
                  <a:srgbClr val="FFFF00"/>
                </a:highlight>
              </a:rPr>
              <a:t>preserves temporal length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C3B2042-DDDC-45F4-5D04-17E33FB35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4934" y="2175856"/>
            <a:ext cx="4184035" cy="3880772"/>
          </a:xfrm>
        </p:spPr>
        <p:txBody>
          <a:bodyPr>
            <a:normAutofit/>
          </a:bodyPr>
          <a:lstStyle/>
          <a:p>
            <a:r>
              <a:rPr lang="en-GB" dirty="0">
                <a:highlight>
                  <a:srgbClr val="FFFF00"/>
                </a:highlight>
              </a:rPr>
              <a:t>Suppose:</a:t>
            </a:r>
          </a:p>
          <a:p>
            <a:pPr lvl="1"/>
            <a:r>
              <a:rPr lang="en-GB" dirty="0"/>
              <a:t>kernel size K = 3; </a:t>
            </a:r>
          </a:p>
          <a:p>
            <a:pPr lvl="1"/>
            <a:r>
              <a:rPr lang="en-GB" dirty="0"/>
              <a:t>stride 1. </a:t>
            </a:r>
          </a:p>
          <a:p>
            <a:r>
              <a:rPr lang="en-GB" dirty="0"/>
              <a:t>To produce an output at the first time step, two earlier observations would normally be required.</a:t>
            </a:r>
          </a:p>
          <a:p>
            <a:r>
              <a:rPr lang="en-GB" dirty="0"/>
              <a:t>But they do not exist.</a:t>
            </a:r>
          </a:p>
          <a:p>
            <a:r>
              <a:rPr lang="en-GB" b="1" dirty="0"/>
              <a:t>Causal padding</a:t>
            </a:r>
          </a:p>
          <a:p>
            <a:pPr lvl="1"/>
            <a:r>
              <a:rPr lang="en-GB" dirty="0"/>
              <a:t>Add padding only on the </a:t>
            </a:r>
            <a:r>
              <a:rPr lang="en-GB" b="1" dirty="0"/>
              <a:t>left side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0  0  x[1] x[2] x[3] x[4] ...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644F014-2766-FF4C-6EC1-F16C60B817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809724" y="2160589"/>
            <a:ext cx="4184034" cy="3880773"/>
          </a:xfrm>
        </p:spPr>
        <p:txBody>
          <a:bodyPr>
            <a:normAutofit/>
          </a:bodyPr>
          <a:lstStyle/>
          <a:p>
            <a:r>
              <a:rPr lang="en-GB" b="1" dirty="0">
                <a:highlight>
                  <a:srgbClr val="FFFF00"/>
                </a:highlight>
              </a:rPr>
              <a:t>Result</a:t>
            </a:r>
          </a:p>
          <a:p>
            <a:r>
              <a:rPr lang="en-GB" dirty="0"/>
              <a:t>Input length: L</a:t>
            </a:r>
          </a:p>
          <a:p>
            <a:r>
              <a:rPr lang="en-GB" dirty="0"/>
              <a:t>Output length: L</a:t>
            </a:r>
          </a:p>
          <a:p>
            <a:r>
              <a:rPr lang="en-GB" dirty="0"/>
              <a:t>while causality is preserved.</a:t>
            </a:r>
          </a:p>
          <a:p>
            <a:endParaRPr lang="en-GB" dirty="0"/>
          </a:p>
          <a:p>
            <a:r>
              <a:rPr lang="en-GB" b="1" dirty="0">
                <a:highlight>
                  <a:srgbClr val="FFFF00"/>
                </a:highlight>
              </a:rPr>
              <a:t>Same-length output does not require symmetric padding.</a:t>
            </a:r>
          </a:p>
          <a:p>
            <a:r>
              <a:rPr lang="en-GB" b="1" dirty="0">
                <a:highlight>
                  <a:srgbClr val="FFFF00"/>
                </a:highlight>
              </a:rPr>
              <a:t>For causal convolution, padding is placed only before the sequence.</a:t>
            </a:r>
          </a:p>
          <a:p>
            <a:endParaRPr lang="en-GB" dirty="0"/>
          </a:p>
        </p:txBody>
      </p:sp>
      <p:sp>
        <p:nvSpPr>
          <p:cNvPr id="7" name="Segnaposto contenuto 3">
            <a:extLst>
              <a:ext uri="{FF2B5EF4-FFF2-40B4-BE49-F238E27FC236}">
                <a16:creationId xmlns:a16="http://schemas.microsoft.com/office/drawing/2014/main" id="{9BB95004-2298-2C5E-1C9E-A783A22995EE}"/>
              </a:ext>
            </a:extLst>
          </p:cNvPr>
          <p:cNvSpPr txBox="1">
            <a:spLocks/>
          </p:cNvSpPr>
          <p:nvPr/>
        </p:nvSpPr>
        <p:spPr>
          <a:xfrm>
            <a:off x="4861369" y="2247799"/>
            <a:ext cx="418403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highlight>
                  <a:srgbClr val="FFFF00"/>
                </a:highlight>
              </a:rPr>
              <a:t>Then:</a:t>
            </a:r>
          </a:p>
          <a:p>
            <a:r>
              <a:rPr lang="en-GB" dirty="0"/>
              <a:t>output[1] uses:</a:t>
            </a:r>
          </a:p>
          <a:p>
            <a:r>
              <a:rPr lang="en-GB" dirty="0"/>
              <a:t>0, 0, x[1]</a:t>
            </a:r>
            <a:br>
              <a:rPr lang="en-GB" dirty="0"/>
            </a:br>
            <a:endParaRPr lang="en-GB" dirty="0"/>
          </a:p>
          <a:p>
            <a:r>
              <a:rPr lang="en-GB" dirty="0"/>
              <a:t>output[2] uses:</a:t>
            </a:r>
          </a:p>
          <a:p>
            <a:r>
              <a:rPr lang="en-GB" dirty="0"/>
              <a:t>0, x[1], x[2]</a:t>
            </a:r>
            <a:br>
              <a:rPr lang="en-GB" dirty="0"/>
            </a:br>
            <a:endParaRPr lang="en-GB" dirty="0"/>
          </a:p>
          <a:p>
            <a:r>
              <a:rPr lang="en-GB" dirty="0"/>
              <a:t>output[3] uses:</a:t>
            </a:r>
          </a:p>
          <a:p>
            <a:r>
              <a:rPr lang="en-GB" dirty="0"/>
              <a:t>x[1], x[2], x[3]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70430494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0"/>
            <a:ext cx="1042416" cy="6858000"/>
          </a:xfrm>
          <a:prstGeom prst="rect">
            <a:avLst/>
          </a:prstGeom>
          <a:solidFill>
            <a:srgbClr val="84B91F">
              <a:alpha val="95000"/>
            </a:srgbClr>
          </a:solidFill>
          <a:ln w="12700">
            <a:solidFill>
              <a:srgbClr val="84B9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927080" y="0"/>
            <a:ext cx="0" cy="6858000"/>
          </a:xfrm>
          <a:prstGeom prst="line">
            <a:avLst/>
          </a:prstGeom>
          <a:noFill/>
          <a:ln w="8890">
            <a:solidFill>
              <a:srgbClr val="CBD5E1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94360" y="32004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5.F.3 — Causal padding preserves length without using the future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12648" y="84124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Padding is added only before the sequence.</a:t>
            </a:r>
            <a:endParaRPr lang="en-US" sz="1350" b="1" dirty="0"/>
          </a:p>
        </p:txBody>
      </p:sp>
      <p:sp>
        <p:nvSpPr>
          <p:cNvPr id="6" name="Text 4"/>
          <p:cNvSpPr/>
          <p:nvPr/>
        </p:nvSpPr>
        <p:spPr>
          <a:xfrm>
            <a:off x="868680" y="1417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75569"/>
                </a:solidFill>
              </a:rPr>
              <a:t>causally padded sequence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60120" y="1920240"/>
            <a:ext cx="548640" cy="4572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397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960120" y="20482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0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691640" y="1920240"/>
            <a:ext cx="548640" cy="4572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397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691640" y="20482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0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423160" y="1920240"/>
            <a:ext cx="548640" cy="4572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397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2423160" y="20482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x1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54680" y="1920240"/>
            <a:ext cx="5486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3154680" y="20482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</a:rPr>
              <a:t>x2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886200" y="1920240"/>
            <a:ext cx="5486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3886200" y="20482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</a:rPr>
              <a:t>x3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17720" y="1920240"/>
            <a:ext cx="5486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4617720" y="20482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</a:rPr>
              <a:t>x4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349240" y="1920240"/>
            <a:ext cx="5486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349240" y="20482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</a:rPr>
              <a:t>x5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14400" y="260604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padding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423160" y="26060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real observations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14400" y="3657600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E7F5C7"/>
          </a:solidFill>
          <a:ln w="1524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960120" y="3888029"/>
            <a:ext cx="18288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output[1]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uses 0, 0, x1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108960" y="3657600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E7F5C7"/>
          </a:solidFill>
          <a:ln w="1524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3154680" y="3888029"/>
            <a:ext cx="18288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output[2]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uses 0, x1, x2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303520" y="3657600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E7F5C7"/>
          </a:solidFill>
          <a:ln w="1524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5349240" y="3888029"/>
            <a:ext cx="18288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output[3]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uses x1, x2, x3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743200" y="4983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172A"/>
                </a:solidFill>
              </a:rPr>
              <a:t>Input length L → Output length L</a:t>
            </a:r>
            <a:endParaRPr lang="en-US" sz="1900" dirty="0"/>
          </a:p>
        </p:txBody>
      </p:sp>
      <p:sp>
        <p:nvSpPr>
          <p:cNvPr id="30" name="Shape 28"/>
          <p:cNvSpPr/>
          <p:nvPr/>
        </p:nvSpPr>
        <p:spPr>
          <a:xfrm>
            <a:off x="594360" y="6281928"/>
            <a:ext cx="9829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749808" y="6345936"/>
            <a:ext cx="9509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</a:rPr>
              <a:t>Same-length output does not require symmetric padding. </a:t>
            </a:r>
            <a:r>
              <a:rPr lang="en-US" sz="1400" b="1" dirty="0">
                <a:solidFill>
                  <a:srgbClr val="0F172A"/>
                </a:solidFill>
              </a:rPr>
              <a:t>Causal padding is directional.</a:t>
            </a:r>
            <a:endParaRPr lang="en-US" sz="1400" b="1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D7135B3-CD9A-43B7-B7A7-51F5AD845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Same padding and causal padding are not the same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F43B94A-F53F-558B-1591-5508346C983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Both may preserve output length.</a:t>
            </a:r>
          </a:p>
          <a:p>
            <a:r>
              <a:rPr lang="en-GB" dirty="0"/>
              <a:t>But their information usage differs.</a:t>
            </a:r>
          </a:p>
          <a:p>
            <a:r>
              <a:rPr lang="en-GB" b="1" dirty="0"/>
              <a:t>Symmetric same padding</a:t>
            </a:r>
          </a:p>
          <a:p>
            <a:r>
              <a:rPr lang="en-GB" dirty="0"/>
              <a:t>For a </a:t>
            </a:r>
            <a:r>
              <a:rPr lang="en-GB" dirty="0" err="1"/>
              <a:t>centered</a:t>
            </a:r>
            <a:r>
              <a:rPr lang="en-GB" dirty="0"/>
              <a:t> kernel:</a:t>
            </a:r>
          </a:p>
          <a:p>
            <a:pPr lvl="1"/>
            <a:r>
              <a:rPr lang="en-GB" dirty="0"/>
              <a:t>past + current + future</a:t>
            </a:r>
          </a:p>
          <a:p>
            <a:pPr lvl="1"/>
            <a:r>
              <a:rPr lang="en-GB" dirty="0"/>
              <a:t>may contribute.</a:t>
            </a:r>
          </a:p>
          <a:p>
            <a:r>
              <a:rPr lang="en-GB" b="1" dirty="0"/>
              <a:t>Causal padding</a:t>
            </a:r>
          </a:p>
          <a:p>
            <a:r>
              <a:rPr lang="en-GB" dirty="0"/>
              <a:t>Uses:</a:t>
            </a:r>
          </a:p>
          <a:p>
            <a:pPr lvl="1"/>
            <a:r>
              <a:rPr lang="en-GB" dirty="0"/>
              <a:t>past + current</a:t>
            </a:r>
          </a:p>
          <a:p>
            <a:pPr lvl="1"/>
            <a:r>
              <a:rPr lang="en-GB" dirty="0"/>
              <a:t>only.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D6EFFFF-ECD0-2D0F-70E2-97F92DB8A46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Example with K = 5</a:t>
            </a:r>
          </a:p>
          <a:p>
            <a:r>
              <a:rPr lang="en-GB" dirty="0"/>
              <a:t>Non-causal </a:t>
            </a:r>
            <a:r>
              <a:rPr lang="en-GB" dirty="0" err="1"/>
              <a:t>centered</a:t>
            </a:r>
            <a:r>
              <a:rPr lang="en-GB" dirty="0"/>
              <a:t> output at t may use:</a:t>
            </a:r>
          </a:p>
          <a:p>
            <a:r>
              <a:rPr lang="en-GB" dirty="0"/>
              <a:t>x[t−2], x[t−1], x[t], x[t+1], x[t+2]</a:t>
            </a:r>
          </a:p>
          <a:p>
            <a:r>
              <a:rPr lang="en-GB" dirty="0"/>
              <a:t>Causal output at t uses:</a:t>
            </a:r>
          </a:p>
          <a:p>
            <a:r>
              <a:rPr lang="en-GB" dirty="0"/>
              <a:t>x[t−4], x[t−3], x[t−2], x[t−1], x[t]</a:t>
            </a:r>
          </a:p>
          <a:p>
            <a:endParaRPr lang="en-GB" dirty="0"/>
          </a:p>
          <a:p>
            <a:r>
              <a:rPr lang="en-GB" dirty="0"/>
              <a:t>Preserving temporal length and preserving causality are different requirements.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22838096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0"/>
            <a:ext cx="1042416" cy="6858000"/>
          </a:xfrm>
          <a:prstGeom prst="rect">
            <a:avLst/>
          </a:prstGeom>
          <a:solidFill>
            <a:srgbClr val="84B91F">
              <a:alpha val="95000"/>
            </a:srgbClr>
          </a:solidFill>
          <a:ln w="12700">
            <a:solidFill>
              <a:srgbClr val="84B9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927080" y="0"/>
            <a:ext cx="0" cy="6858000"/>
          </a:xfrm>
          <a:prstGeom prst="line">
            <a:avLst/>
          </a:prstGeom>
          <a:noFill/>
          <a:ln w="8890">
            <a:solidFill>
              <a:srgbClr val="CBD5E1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94360" y="32004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Same padding and causal padding are different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12648" y="84124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may preserve length, but they use different information.</a:t>
            </a:r>
            <a:endParaRPr lang="en-US" sz="1350" b="1" dirty="0"/>
          </a:p>
        </p:txBody>
      </p:sp>
      <p:sp>
        <p:nvSpPr>
          <p:cNvPr id="6" name="Shape 4"/>
          <p:cNvSpPr/>
          <p:nvPr/>
        </p:nvSpPr>
        <p:spPr>
          <a:xfrm>
            <a:off x="914400" y="1325880"/>
            <a:ext cx="3886200" cy="502920"/>
          </a:xfrm>
          <a:prstGeom prst="roundRect">
            <a:avLst>
              <a:gd name="adj" fmla="val 10909"/>
            </a:avLst>
          </a:prstGeom>
          <a:solidFill>
            <a:srgbClr val="FFE4E6"/>
          </a:solidFill>
          <a:ln w="1524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960120" y="1468526"/>
            <a:ext cx="3794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Symmetric same padding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2331720"/>
            <a:ext cx="548640" cy="457200"/>
          </a:xfrm>
          <a:prstGeom prst="roundRect">
            <a:avLst>
              <a:gd name="adj" fmla="val 8000"/>
            </a:avLst>
          </a:prstGeom>
          <a:solidFill>
            <a:srgbClr val="FFE4E6"/>
          </a:solidFill>
          <a:ln w="1397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868680" y="24597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x[t−2]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54480" y="2331720"/>
            <a:ext cx="548640" cy="457200"/>
          </a:xfrm>
          <a:prstGeom prst="roundRect">
            <a:avLst>
              <a:gd name="adj" fmla="val 8000"/>
            </a:avLst>
          </a:prstGeom>
          <a:solidFill>
            <a:srgbClr val="FFE4E6"/>
          </a:solidFill>
          <a:ln w="1397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554480" y="24597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x[t−1]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240280" y="2331720"/>
            <a:ext cx="548640" cy="457200"/>
          </a:xfrm>
          <a:prstGeom prst="roundRect">
            <a:avLst>
              <a:gd name="adj" fmla="val 8000"/>
            </a:avLst>
          </a:prstGeom>
          <a:solidFill>
            <a:srgbClr val="FFE4E6"/>
          </a:solidFill>
          <a:ln w="1397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2240280" y="24597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x[t]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926080" y="2331720"/>
            <a:ext cx="548640" cy="457200"/>
          </a:xfrm>
          <a:prstGeom prst="roundRect">
            <a:avLst>
              <a:gd name="adj" fmla="val 8000"/>
            </a:avLst>
          </a:prstGeom>
          <a:solidFill>
            <a:srgbClr val="FFE4E6"/>
          </a:solidFill>
          <a:ln w="1397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2926080" y="24597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x[t+1]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11880" y="2331720"/>
            <a:ext cx="548640" cy="457200"/>
          </a:xfrm>
          <a:prstGeom prst="roundRect">
            <a:avLst>
              <a:gd name="adj" fmla="val 8000"/>
            </a:avLst>
          </a:prstGeom>
          <a:solidFill>
            <a:srgbClr val="FFE4E6"/>
          </a:solidFill>
          <a:ln w="1397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3611880" y="24597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x[t+2]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143000" y="32004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</a:rPr>
              <a:t>past + current + future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623560" y="1325880"/>
            <a:ext cx="3886200" cy="502920"/>
          </a:xfrm>
          <a:prstGeom prst="roundRect">
            <a:avLst>
              <a:gd name="adj" fmla="val 10909"/>
            </a:avLst>
          </a:prstGeom>
          <a:solidFill>
            <a:srgbClr val="E7F5C7"/>
          </a:solidFill>
          <a:ln w="1524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669280" y="1468526"/>
            <a:ext cx="3794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Causal padding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532120" y="2331720"/>
            <a:ext cx="548640" cy="457200"/>
          </a:xfrm>
          <a:prstGeom prst="roundRect">
            <a:avLst>
              <a:gd name="adj" fmla="val 8000"/>
            </a:avLst>
          </a:prstGeom>
          <a:solidFill>
            <a:srgbClr val="E7F5C7"/>
          </a:solidFill>
          <a:ln w="1397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5532120" y="24597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x[t−4]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17920" y="2331720"/>
            <a:ext cx="548640" cy="457200"/>
          </a:xfrm>
          <a:prstGeom prst="roundRect">
            <a:avLst>
              <a:gd name="adj" fmla="val 8000"/>
            </a:avLst>
          </a:prstGeom>
          <a:solidFill>
            <a:srgbClr val="E7F5C7"/>
          </a:solidFill>
          <a:ln w="1397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6217920" y="24597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x[t−3]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903720" y="2331720"/>
            <a:ext cx="548640" cy="457200"/>
          </a:xfrm>
          <a:prstGeom prst="roundRect">
            <a:avLst>
              <a:gd name="adj" fmla="val 8000"/>
            </a:avLst>
          </a:prstGeom>
          <a:solidFill>
            <a:srgbClr val="E7F5C7"/>
          </a:solidFill>
          <a:ln w="1397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6903720" y="24597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x[t−2]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589520" y="2331720"/>
            <a:ext cx="548640" cy="457200"/>
          </a:xfrm>
          <a:prstGeom prst="roundRect">
            <a:avLst>
              <a:gd name="adj" fmla="val 8000"/>
            </a:avLst>
          </a:prstGeom>
          <a:solidFill>
            <a:srgbClr val="E7F5C7"/>
          </a:solidFill>
          <a:ln w="1397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7589520" y="24597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x[t−1]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275320" y="2331720"/>
            <a:ext cx="548640" cy="457200"/>
          </a:xfrm>
          <a:prstGeom prst="roundRect">
            <a:avLst>
              <a:gd name="adj" fmla="val 8000"/>
            </a:avLst>
          </a:prstGeom>
          <a:solidFill>
            <a:srgbClr val="E7F5C7"/>
          </a:solidFill>
          <a:ln w="1397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8275320" y="24597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x[t]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897880" y="32004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4B91F"/>
                </a:solidFill>
              </a:rPr>
              <a:t>past + current only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508760" y="4434840"/>
            <a:ext cx="24231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1554480" y="4577486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Preserve length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080760" y="4343400"/>
            <a:ext cx="25146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6126480" y="454456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Preserve length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AND causality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594360" y="6281928"/>
            <a:ext cx="9829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749808" y="6345936"/>
            <a:ext cx="9509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Preserving temporal length and preserving causality are separate requirements</a:t>
            </a:r>
            <a:r>
              <a:rPr lang="en-US" sz="1200" dirty="0">
                <a:solidFill>
                  <a:srgbClr val="0F172A"/>
                </a:solidFill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F1EE246-3D1E-BE51-A62C-41AFDBF1D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Causality creates directional receptive fields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548B63E-CEFB-8661-8CF7-C898987ADA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8"/>
            <a:ext cx="6333066" cy="4392611"/>
          </a:xfrm>
        </p:spPr>
        <p:txBody>
          <a:bodyPr>
            <a:normAutofit fontScale="85000" lnSpcReduction="10000"/>
          </a:bodyPr>
          <a:lstStyle/>
          <a:p>
            <a:r>
              <a:rPr lang="en-GB" dirty="0">
                <a:highlight>
                  <a:srgbClr val="FFFF00"/>
                </a:highlight>
              </a:rPr>
              <a:t>In a non-causal convolution, the receptive field may extend both:</a:t>
            </a:r>
          </a:p>
          <a:p>
            <a:pPr lvl="1"/>
            <a:r>
              <a:rPr lang="en-GB" dirty="0"/>
              <a:t>backward; </a:t>
            </a:r>
          </a:p>
          <a:p>
            <a:pPr lvl="1"/>
            <a:r>
              <a:rPr lang="en-GB" dirty="0"/>
              <a:t>forward. </a:t>
            </a:r>
          </a:p>
          <a:p>
            <a:r>
              <a:rPr lang="en-GB" dirty="0"/>
              <a:t>For one output at time t:</a:t>
            </a:r>
          </a:p>
          <a:p>
            <a:pPr lvl="1"/>
            <a:r>
              <a:rPr lang="en-GB" dirty="0">
                <a:highlight>
                  <a:srgbClr val="FFFF00"/>
                </a:highlight>
              </a:rPr>
              <a:t>← past | t | future →</a:t>
            </a:r>
          </a:p>
          <a:p>
            <a:endParaRPr lang="en-GB" dirty="0"/>
          </a:p>
          <a:p>
            <a:r>
              <a:rPr lang="en-GB" dirty="0"/>
              <a:t>In a </a:t>
            </a:r>
            <a:r>
              <a:rPr lang="en-GB" dirty="0">
                <a:highlight>
                  <a:srgbClr val="FFFF00"/>
                </a:highlight>
              </a:rPr>
              <a:t>causal convolution</a:t>
            </a:r>
            <a:r>
              <a:rPr lang="en-GB" dirty="0"/>
              <a:t>, the receptive field extends only backward:</a:t>
            </a:r>
          </a:p>
          <a:p>
            <a:r>
              <a:rPr lang="en-GB" dirty="0">
                <a:highlight>
                  <a:srgbClr val="FFFF00"/>
                </a:highlight>
              </a:rPr>
              <a:t>← past | t</a:t>
            </a:r>
          </a:p>
          <a:p>
            <a:r>
              <a:rPr lang="en-GB" b="1" dirty="0"/>
              <a:t>With deeper causal layers</a:t>
            </a:r>
          </a:p>
          <a:p>
            <a:r>
              <a:rPr lang="en-GB" dirty="0"/>
              <a:t>The receptive field becomes longer, but stays entirely in the past.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4AD3482-C9C2-8BC4-314D-F1EC62C443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30632" y="2160588"/>
            <a:ext cx="4645467" cy="4392612"/>
          </a:xfrm>
        </p:spPr>
        <p:txBody>
          <a:bodyPr>
            <a:normAutofit fontScale="85000" lnSpcReduction="10000"/>
          </a:bodyPr>
          <a:lstStyle/>
          <a:p>
            <a:r>
              <a:rPr lang="en-GB" dirty="0"/>
              <a:t>Example for simple K=3, stride-1 stacking:</a:t>
            </a:r>
          </a:p>
          <a:p>
            <a:r>
              <a:rPr lang="en-GB" dirty="0"/>
              <a:t>Layer 1:</a:t>
            </a:r>
          </a:p>
          <a:p>
            <a:r>
              <a:rPr lang="en-GB" dirty="0"/>
              <a:t>t−2 ... t</a:t>
            </a:r>
          </a:p>
          <a:p>
            <a:br>
              <a:rPr lang="en-GB" dirty="0"/>
            </a:br>
            <a:endParaRPr lang="en-GB" dirty="0"/>
          </a:p>
          <a:p>
            <a:r>
              <a:rPr lang="en-GB" dirty="0"/>
              <a:t>Layer 2:</a:t>
            </a:r>
          </a:p>
          <a:p>
            <a:r>
              <a:rPr lang="en-GB" dirty="0"/>
              <a:t>t−4 ... t</a:t>
            </a:r>
          </a:p>
          <a:p>
            <a:br>
              <a:rPr lang="en-GB" dirty="0"/>
            </a:br>
            <a:endParaRPr lang="en-GB" dirty="0"/>
          </a:p>
          <a:p>
            <a:r>
              <a:rPr lang="en-GB" dirty="0"/>
              <a:t>Layer 3:</a:t>
            </a:r>
          </a:p>
          <a:p>
            <a:r>
              <a:rPr lang="en-GB" dirty="0"/>
              <a:t>t−6 ... t</a:t>
            </a:r>
          </a:p>
          <a:p>
            <a:endParaRPr lang="en-GB" dirty="0"/>
          </a:p>
          <a:p>
            <a:r>
              <a:rPr lang="en-GB" b="1" dirty="0">
                <a:highlight>
                  <a:srgbClr val="FFFF00"/>
                </a:highlight>
              </a:rPr>
              <a:t>Depth can increase historical context without violating prediction-time availability.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9377120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0"/>
            <a:ext cx="1042416" cy="6858000"/>
          </a:xfrm>
          <a:prstGeom prst="rect">
            <a:avLst/>
          </a:prstGeom>
          <a:solidFill>
            <a:srgbClr val="84B91F">
              <a:alpha val="95000"/>
            </a:srgbClr>
          </a:solidFill>
          <a:ln w="12700">
            <a:solidFill>
              <a:srgbClr val="84B9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927080" y="0"/>
            <a:ext cx="0" cy="6858000"/>
          </a:xfrm>
          <a:prstGeom prst="line">
            <a:avLst/>
          </a:prstGeom>
          <a:noFill/>
          <a:ln w="8890">
            <a:solidFill>
              <a:srgbClr val="CBD5E1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94360" y="32004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5.F.5 — Causal receptive fields extend only backward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12648" y="84124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Depth increases historical context while respecting prediction time.</a:t>
            </a:r>
            <a:endParaRPr lang="en-US" sz="1350" b="1" dirty="0"/>
          </a:p>
        </p:txBody>
      </p:sp>
      <p:sp>
        <p:nvSpPr>
          <p:cNvPr id="6" name="Shape 4"/>
          <p:cNvSpPr/>
          <p:nvPr/>
        </p:nvSpPr>
        <p:spPr>
          <a:xfrm>
            <a:off x="914400" y="5029200"/>
            <a:ext cx="5486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914400" y="51572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t−6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600200" y="5029200"/>
            <a:ext cx="5486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600200" y="51572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t−5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0" y="5029200"/>
            <a:ext cx="5486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2286000" y="51572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t−4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971800" y="5029200"/>
            <a:ext cx="5486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2971800" y="51572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t−3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0" y="5029200"/>
            <a:ext cx="5486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3657600" y="51572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t−2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43400" y="5029200"/>
            <a:ext cx="5486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4343400" y="51572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t−1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0" y="5029200"/>
            <a:ext cx="5486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5029200" y="51572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715000" y="5029200"/>
            <a:ext cx="5486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5715000" y="51572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</a:rPr>
              <a:t>t+1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14400" y="4965192"/>
            <a:ext cx="4663440" cy="594360"/>
          </a:xfrm>
          <a:prstGeom prst="rect">
            <a:avLst/>
          </a:prstGeom>
          <a:solidFill>
            <a:srgbClr val="E7F5C7">
              <a:alpha val="50000"/>
            </a:srgbClr>
          </a:solidFill>
          <a:ln w="1270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5715000" y="4864608"/>
            <a:ext cx="0" cy="82296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5440680" y="57150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now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583680" y="3977640"/>
            <a:ext cx="1920240" cy="457200"/>
          </a:xfrm>
          <a:prstGeom prst="roundRect">
            <a:avLst>
              <a:gd name="adj" fmla="val 12000"/>
            </a:avLst>
          </a:prstGeom>
          <a:solidFill>
            <a:srgbClr val="FFF7CC"/>
          </a:solidFill>
          <a:ln w="15240">
            <a:solidFill>
              <a:srgbClr val="F7C94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6629400" y="4105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Layer 1 RF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 flipV="1">
            <a:off x="4206240" y="4069080"/>
            <a:ext cx="1371600" cy="320040"/>
          </a:xfrm>
          <a:prstGeom prst="bracePair">
            <a:avLst/>
          </a:prstGeom>
          <a:noFill/>
          <a:ln w="19050">
            <a:solidFill>
              <a:srgbClr val="F7C94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4389120" y="36576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</a:rPr>
              <a:t>t−2 ... 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583680" y="3063240"/>
            <a:ext cx="1920240" cy="457200"/>
          </a:xfrm>
          <a:prstGeom prst="roundRect">
            <a:avLst>
              <a:gd name="adj" fmla="val 12000"/>
            </a:avLst>
          </a:prstGeom>
          <a:solidFill>
            <a:srgbClr val="E7F5C7"/>
          </a:solidFill>
          <a:ln w="1524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6629400" y="31912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Layer 2 RF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 flipV="1">
            <a:off x="2834640" y="3154680"/>
            <a:ext cx="2743200" cy="320040"/>
          </a:xfrm>
          <a:prstGeom prst="bracePair">
            <a:avLst/>
          </a:prstGeom>
          <a:noFill/>
          <a:ln w="1905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3017520" y="27432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</a:rPr>
              <a:t>t−4 ... 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583680" y="2148840"/>
            <a:ext cx="1920240" cy="457200"/>
          </a:xfrm>
          <a:prstGeom prst="roundRect">
            <a:avLst>
              <a:gd name="adj" fmla="val 12000"/>
            </a:avLst>
          </a:prstGeom>
          <a:solidFill>
            <a:srgbClr val="FFF7CC"/>
          </a:solidFill>
          <a:ln w="15240">
            <a:solidFill>
              <a:srgbClr val="F7C94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6629400" y="22768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Layer 3 RF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 flipV="1">
            <a:off x="1463040" y="2240280"/>
            <a:ext cx="4114800" cy="320040"/>
          </a:xfrm>
          <a:prstGeom prst="bracePair">
            <a:avLst/>
          </a:prstGeom>
          <a:noFill/>
          <a:ln w="19050">
            <a:solidFill>
              <a:srgbClr val="F7C94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1645920" y="18288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</a:rPr>
              <a:t>t−6 ... 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94360" y="6281928"/>
            <a:ext cx="9829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749808" y="6345936"/>
            <a:ext cx="9509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Causal depth increases how far back the model can look; it does not introduce future access</a:t>
            </a:r>
            <a:r>
              <a:rPr lang="en-US" sz="1200" dirty="0">
                <a:solidFill>
                  <a:srgbClr val="0F172A"/>
                </a:solidFill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4BE278B-1EC8-AF45-BA66-0755ED76B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Causal convolution for forecasting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559E7D9-7E35-DCCA-0D25-0FAD977962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8"/>
            <a:ext cx="5634566" cy="4392611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Suppose we want to forecast: y[t+1]</a:t>
            </a:r>
          </a:p>
          <a:p>
            <a:r>
              <a:rPr lang="en-GB" dirty="0"/>
              <a:t>using information available at time t.</a:t>
            </a:r>
          </a:p>
          <a:p>
            <a:r>
              <a:rPr lang="en-GB" dirty="0"/>
              <a:t>The convolutional representation must depend only on:</a:t>
            </a:r>
          </a:p>
          <a:p>
            <a:r>
              <a:rPr lang="en-GB" dirty="0"/>
              <a:t>x[1], ..., x[t]</a:t>
            </a:r>
          </a:p>
          <a:p>
            <a:r>
              <a:rPr lang="en-GB" b="1" dirty="0"/>
              <a:t>Architecture</a:t>
            </a:r>
          </a:p>
          <a:p>
            <a:r>
              <a:rPr lang="en-GB" dirty="0"/>
              <a:t>past input sequence</a:t>
            </a:r>
          </a:p>
          <a:p>
            <a:r>
              <a:rPr lang="en-GB" dirty="0"/>
              <a:t>      ↓</a:t>
            </a:r>
          </a:p>
          <a:p>
            <a:r>
              <a:rPr lang="en-GB" dirty="0"/>
              <a:t>causal Conv1D</a:t>
            </a:r>
          </a:p>
          <a:p>
            <a:r>
              <a:rPr lang="en-GB" dirty="0"/>
              <a:t>      ↓</a:t>
            </a:r>
          </a:p>
          <a:p>
            <a:r>
              <a:rPr lang="en-GB" dirty="0"/>
              <a:t>causal temporal representation at t</a:t>
            </a:r>
          </a:p>
          <a:p>
            <a:r>
              <a:rPr lang="en-GB" dirty="0"/>
              <a:t>      ↓</a:t>
            </a:r>
          </a:p>
          <a:p>
            <a:r>
              <a:rPr lang="en-GB" dirty="0"/>
              <a:t>forecast layer</a:t>
            </a:r>
          </a:p>
          <a:p>
            <a:r>
              <a:rPr lang="en-GB" dirty="0"/>
              <a:t>      ↓</a:t>
            </a:r>
          </a:p>
          <a:p>
            <a:r>
              <a:rPr lang="en-GB" dirty="0" err="1"/>
              <a:t>y_hat</a:t>
            </a:r>
            <a:r>
              <a:rPr lang="en-GB" dirty="0"/>
              <a:t>[t+1]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93877CC-D2BB-7DEC-BEAE-DBFE937834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17170" y="2160588"/>
            <a:ext cx="5260530" cy="4392612"/>
          </a:xfrm>
        </p:spPr>
        <p:txBody>
          <a:bodyPr>
            <a:normAutofit fontScale="85000" lnSpcReduction="20000"/>
          </a:bodyPr>
          <a:lstStyle/>
          <a:p>
            <a:r>
              <a:rPr lang="en-GB" b="1" dirty="0"/>
              <a:t>Multi-horizon output</a:t>
            </a:r>
          </a:p>
          <a:p>
            <a:r>
              <a:rPr lang="en-GB" dirty="0"/>
              <a:t>The representation at time t can also be mapped to:</a:t>
            </a:r>
          </a:p>
          <a:p>
            <a:r>
              <a:rPr lang="en-GB" dirty="0"/>
              <a:t>[</a:t>
            </a:r>
            <a:r>
              <a:rPr lang="en-GB" dirty="0" err="1"/>
              <a:t>y_hat</a:t>
            </a:r>
            <a:r>
              <a:rPr lang="en-GB" dirty="0"/>
              <a:t>[t+1], ..., </a:t>
            </a:r>
            <a:r>
              <a:rPr lang="en-GB" dirty="0" err="1"/>
              <a:t>y_hat</a:t>
            </a:r>
            <a:r>
              <a:rPr lang="en-GB" dirty="0"/>
              <a:t>[</a:t>
            </a:r>
            <a:r>
              <a:rPr lang="en-GB" dirty="0" err="1"/>
              <a:t>t+H</a:t>
            </a:r>
            <a:r>
              <a:rPr lang="en-GB" dirty="0"/>
              <a:t>]]</a:t>
            </a:r>
          </a:p>
          <a:p>
            <a:endParaRPr lang="en-GB" dirty="0"/>
          </a:p>
          <a:p>
            <a:r>
              <a:rPr lang="en-GB" dirty="0"/>
              <a:t>For sequence-to-vector forecasting, the CNN can use features from the whole input window to produce only the required future output; it does not need an output aligned with every input time step.</a:t>
            </a:r>
          </a:p>
          <a:p>
            <a:r>
              <a:rPr lang="en-GB" dirty="0"/>
              <a:t>A final causal representation can be used to predict future values directly.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71028902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0"/>
            <a:ext cx="1042416" cy="6858000"/>
          </a:xfrm>
          <a:prstGeom prst="rect">
            <a:avLst/>
          </a:prstGeom>
          <a:solidFill>
            <a:srgbClr val="84B91F">
              <a:alpha val="95000"/>
            </a:srgbClr>
          </a:solidFill>
          <a:ln w="12700">
            <a:solidFill>
              <a:srgbClr val="84B9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927080" y="0"/>
            <a:ext cx="0" cy="6858000"/>
          </a:xfrm>
          <a:prstGeom prst="line">
            <a:avLst/>
          </a:prstGeom>
          <a:noFill/>
          <a:ln w="8890">
            <a:solidFill>
              <a:srgbClr val="CBD5E1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94360" y="32004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Causal convolution for forecasting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12648" y="84124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causal temporal representation at time t can be mapped to one or many future targets.</a:t>
            </a:r>
            <a:endParaRPr lang="en-US" sz="1350" b="1" dirty="0"/>
          </a:p>
        </p:txBody>
      </p:sp>
      <p:sp>
        <p:nvSpPr>
          <p:cNvPr id="6" name="Shape 4"/>
          <p:cNvSpPr/>
          <p:nvPr/>
        </p:nvSpPr>
        <p:spPr>
          <a:xfrm>
            <a:off x="868680" y="2057400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past input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[x[1], ..., x[t]]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926080" y="2514600"/>
            <a:ext cx="868680" cy="0"/>
          </a:xfrm>
          <a:prstGeom prst="line">
            <a:avLst/>
          </a:prstGeom>
          <a:noFill/>
          <a:ln w="27940">
            <a:solidFill>
              <a:srgbClr val="84B91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3840480" y="1920240"/>
            <a:ext cx="1920240" cy="1188720"/>
          </a:xfrm>
          <a:prstGeom prst="roundRect">
            <a:avLst>
              <a:gd name="adj" fmla="val 4615"/>
            </a:avLst>
          </a:prstGeom>
          <a:solidFill>
            <a:srgbClr val="E7F5C7"/>
          </a:solidFill>
          <a:ln w="1524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3886200" y="2282342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causal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Conv1D stack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806440" y="2514600"/>
            <a:ext cx="914400" cy="0"/>
          </a:xfrm>
          <a:prstGeom prst="line">
            <a:avLst/>
          </a:prstGeom>
          <a:noFill/>
          <a:ln w="27940">
            <a:solidFill>
              <a:srgbClr val="84B91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6766560" y="205740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FFF7CC"/>
          </a:solidFill>
          <a:ln w="15240">
            <a:solidFill>
              <a:srgbClr val="F7C94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812280" y="23317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representation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at time 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641080" y="2514600"/>
            <a:ext cx="777240" cy="0"/>
          </a:xfrm>
          <a:prstGeom prst="line">
            <a:avLst/>
          </a:prstGeom>
          <a:noFill/>
          <a:ln w="27940">
            <a:solidFill>
              <a:srgbClr val="84B91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9464040" y="2057400"/>
            <a:ext cx="1463040" cy="914400"/>
          </a:xfrm>
          <a:prstGeom prst="roundRect">
            <a:avLst>
              <a:gd name="adj" fmla="val 6000"/>
            </a:avLst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9509760" y="23317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forecast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y[t+1 : t+H]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05840" y="4526280"/>
            <a:ext cx="978408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1005840" y="4343400"/>
            <a:ext cx="5394960" cy="347472"/>
          </a:xfrm>
          <a:prstGeom prst="rect">
            <a:avLst/>
          </a:prstGeom>
          <a:solidFill>
            <a:srgbClr val="E7F5C7">
              <a:alpha val="80000"/>
            </a:srgbClr>
          </a:solidFill>
          <a:ln w="1270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6675120" y="4343400"/>
            <a:ext cx="2286000" cy="347472"/>
          </a:xfrm>
          <a:prstGeom prst="rect">
            <a:avLst/>
          </a:prstGeom>
          <a:solidFill>
            <a:srgbClr val="EDE9FE">
              <a:alpha val="85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3108960" y="47548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4B91F"/>
                </a:solidFill>
              </a:rPr>
              <a:t>past context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78040" y="47548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</a:rPr>
              <a:t>future target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0" y="4160520"/>
            <a:ext cx="0" cy="73152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6309360" y="49377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" y="6281928"/>
            <a:ext cx="9829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749808" y="6345936"/>
            <a:ext cx="9509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The architecture can be causal while producing forecasts for future horizons.</a:t>
            </a:r>
            <a:endParaRPr lang="en-US" sz="1200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F0324BA-1772-8F90-D7B8-0BC1D06BB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Causal convolution for </a:t>
            </a:r>
            <a:r>
              <a:rPr lang="en-GB" dirty="0">
                <a:highlight>
                  <a:srgbClr val="FFFF00"/>
                </a:highlight>
              </a:rPr>
              <a:t>online sequence labelling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BAEFA1F-531A-7C23-ACA5-7E18072240F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>
                <a:highlight>
                  <a:srgbClr val="FFFF00"/>
                </a:highlight>
              </a:rPr>
              <a:t>Suppose we need:</a:t>
            </a:r>
          </a:p>
          <a:p>
            <a:r>
              <a:rPr lang="en-GB" dirty="0" err="1">
                <a:highlight>
                  <a:srgbClr val="FFFF00"/>
                </a:highlight>
              </a:rPr>
              <a:t>y_hat</a:t>
            </a:r>
            <a:r>
              <a:rPr lang="en-GB" dirty="0">
                <a:highlight>
                  <a:srgbClr val="FFFF00"/>
                </a:highlight>
              </a:rPr>
              <a:t>[t]</a:t>
            </a:r>
          </a:p>
          <a:p>
            <a:r>
              <a:rPr lang="en-GB" dirty="0">
                <a:highlight>
                  <a:srgbClr val="FFFF00"/>
                </a:highlight>
              </a:rPr>
              <a:t>as soon as observation:</a:t>
            </a:r>
          </a:p>
          <a:p>
            <a:r>
              <a:rPr lang="en-GB" dirty="0">
                <a:highlight>
                  <a:srgbClr val="FFFF00"/>
                </a:highlight>
              </a:rPr>
              <a:t>x[t]</a:t>
            </a:r>
          </a:p>
          <a:p>
            <a:r>
              <a:rPr lang="en-GB" dirty="0">
                <a:highlight>
                  <a:srgbClr val="FFFF00"/>
                </a:highlight>
              </a:rPr>
              <a:t>arrives.</a:t>
            </a:r>
          </a:p>
          <a:p>
            <a:endParaRPr lang="en-GB" dirty="0"/>
          </a:p>
          <a:p>
            <a:r>
              <a:rPr lang="en-GB" dirty="0"/>
              <a:t>A causal CNN ensures:</a:t>
            </a:r>
          </a:p>
          <a:p>
            <a:r>
              <a:rPr lang="en-GB" dirty="0" err="1"/>
              <a:t>y_hat</a:t>
            </a:r>
            <a:r>
              <a:rPr lang="en-GB" dirty="0"/>
              <a:t>[t]</a:t>
            </a:r>
          </a:p>
          <a:p>
            <a:r>
              <a:rPr lang="en-GB" dirty="0"/>
              <a:t>depends on</a:t>
            </a:r>
          </a:p>
          <a:p>
            <a:r>
              <a:rPr lang="en-GB" dirty="0"/>
              <a:t>x[t], x[t−1], ...</a:t>
            </a:r>
          </a:p>
          <a:p>
            <a:r>
              <a:rPr lang="en-GB" dirty="0"/>
              <a:t>but not on future inputs.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83E0B1B-4F67-BE04-A55E-8D12BBEBC7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114800" y="1931989"/>
            <a:ext cx="7851604" cy="4684711"/>
          </a:xfrm>
        </p:spPr>
        <p:txBody>
          <a:bodyPr>
            <a:normAutofit fontScale="92500" lnSpcReduction="20000"/>
          </a:bodyPr>
          <a:lstStyle/>
          <a:p>
            <a:r>
              <a:rPr lang="en-GB" b="1" dirty="0">
                <a:highlight>
                  <a:srgbClr val="FFFF00"/>
                </a:highlight>
              </a:rPr>
              <a:t>Example</a:t>
            </a:r>
          </a:p>
          <a:p>
            <a:r>
              <a:rPr lang="en-GB" dirty="0"/>
              <a:t>Real-time machine monitoring:</a:t>
            </a:r>
          </a:p>
          <a:p>
            <a:r>
              <a:rPr lang="en-GB" dirty="0"/>
              <a:t>At each new sample:</a:t>
            </a:r>
          </a:p>
          <a:p>
            <a:pPr lvl="1"/>
            <a:r>
              <a:rPr lang="en-GB" dirty="0"/>
              <a:t>update convolutional representation; </a:t>
            </a:r>
          </a:p>
          <a:p>
            <a:pPr lvl="1"/>
            <a:r>
              <a:rPr lang="en-GB" dirty="0"/>
              <a:t>output fault probability; </a:t>
            </a:r>
          </a:p>
          <a:p>
            <a:pPr lvl="1"/>
            <a:r>
              <a:rPr lang="en-GB" dirty="0"/>
              <a:t>raise alarm if needed. </a:t>
            </a:r>
          </a:p>
          <a:p>
            <a:r>
              <a:rPr lang="en-GB" b="1" dirty="0"/>
              <a:t>Advantage</a:t>
            </a:r>
          </a:p>
          <a:p>
            <a:r>
              <a:rPr lang="en-GB" dirty="0"/>
              <a:t>The model can exploit a fixed historical context while respecting online operation.</a:t>
            </a:r>
          </a:p>
          <a:p>
            <a:r>
              <a:rPr lang="en-GB" b="1" dirty="0">
                <a:highlight>
                  <a:srgbClr val="FFFF00"/>
                </a:highlight>
              </a:rPr>
              <a:t>Contrast with offline labelling</a:t>
            </a:r>
          </a:p>
          <a:p>
            <a:r>
              <a:rPr lang="en-GB" dirty="0"/>
              <a:t>If the complete recording is available, a non-causal model may use future context and could achieve better boundary decisions.</a:t>
            </a:r>
          </a:p>
          <a:p>
            <a:r>
              <a:rPr lang="en-GB" b="1" dirty="0">
                <a:highlight>
                  <a:srgbClr val="FFFF00"/>
                </a:highlight>
              </a:rPr>
              <a:t>Key question</a:t>
            </a:r>
          </a:p>
          <a:p>
            <a:r>
              <a:rPr lang="en-GB" dirty="0"/>
              <a:t>Is the prediction required now, or after the complete sequence is available?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58736647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95006E9-08A1-5FC7-6037-CD4C27975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Architectural causality is not enough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45A2611-807D-CE12-4712-8D4BE44CB9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8"/>
            <a:ext cx="5129297" cy="4252911"/>
          </a:xfrm>
        </p:spPr>
        <p:txBody>
          <a:bodyPr>
            <a:normAutofit/>
          </a:bodyPr>
          <a:lstStyle/>
          <a:p>
            <a:r>
              <a:rPr lang="en-GB" dirty="0"/>
              <a:t>A model can use causal convolutions and still suffer from leakage.</a:t>
            </a:r>
          </a:p>
          <a:p>
            <a:r>
              <a:rPr lang="en-GB" b="1" dirty="0"/>
              <a:t>Example</a:t>
            </a:r>
          </a:p>
          <a:p>
            <a:r>
              <a:rPr lang="en-GB" dirty="0"/>
              <a:t>Input preprocessing includes:</a:t>
            </a:r>
          </a:p>
          <a:p>
            <a:pPr lvl="1"/>
            <a:r>
              <a:rPr lang="en-GB" dirty="0" err="1"/>
              <a:t>centered</a:t>
            </a:r>
            <a:r>
              <a:rPr lang="en-GB" dirty="0"/>
              <a:t> moving average; </a:t>
            </a:r>
          </a:p>
          <a:p>
            <a:pPr lvl="1"/>
            <a:r>
              <a:rPr lang="en-GB" dirty="0"/>
              <a:t>interpolation using future frames; </a:t>
            </a:r>
          </a:p>
          <a:p>
            <a:pPr lvl="1"/>
            <a:r>
              <a:rPr lang="en-GB" dirty="0"/>
              <a:t>complete-recording normalization. </a:t>
            </a:r>
          </a:p>
          <a:p>
            <a:r>
              <a:rPr lang="en-GB" dirty="0"/>
              <a:t>The convolution itself may be causal, but the input x[t] already contains future information.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F075992-2DA4-1C4F-A87D-95D1F8F414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5370" y="2160589"/>
            <a:ext cx="5362130" cy="4430711"/>
          </a:xfrm>
        </p:spPr>
        <p:txBody>
          <a:bodyPr>
            <a:normAutofit/>
          </a:bodyPr>
          <a:lstStyle/>
          <a:p>
            <a:r>
              <a:rPr lang="en-GB" b="1" dirty="0"/>
              <a:t>Therefore a valid causal system requires</a:t>
            </a:r>
          </a:p>
          <a:p>
            <a:pPr lvl="1"/>
            <a:r>
              <a:rPr lang="en-GB" dirty="0"/>
              <a:t>causal feature construction; </a:t>
            </a:r>
          </a:p>
          <a:p>
            <a:pPr lvl="1"/>
            <a:r>
              <a:rPr lang="en-GB" dirty="0"/>
              <a:t>causal preprocessing; </a:t>
            </a:r>
          </a:p>
          <a:p>
            <a:pPr lvl="1"/>
            <a:r>
              <a:rPr lang="en-GB" dirty="0"/>
              <a:t>causal model architecture; </a:t>
            </a:r>
          </a:p>
          <a:p>
            <a:pPr lvl="1"/>
            <a:r>
              <a:rPr lang="en-GB" dirty="0"/>
              <a:t>correct temporal evaluation. </a:t>
            </a:r>
          </a:p>
          <a:p>
            <a:r>
              <a:rPr lang="en-GB" b="1" dirty="0">
                <a:highlight>
                  <a:srgbClr val="FFFF00"/>
                </a:highlight>
              </a:rPr>
              <a:t>Connection to Lecture 2</a:t>
            </a:r>
          </a:p>
          <a:p>
            <a:r>
              <a:rPr lang="en-GB" dirty="0"/>
              <a:t>Prediction-time availability must be respected through the </a:t>
            </a:r>
            <a:r>
              <a:rPr lang="en-GB" b="1" dirty="0">
                <a:highlight>
                  <a:srgbClr val="FFFF00"/>
                </a:highlight>
              </a:rPr>
              <a:t>entire pipeline</a:t>
            </a:r>
            <a:r>
              <a:rPr lang="en-GB" dirty="0">
                <a:highlight>
                  <a:srgbClr val="FFFF00"/>
                </a:highlight>
              </a:rPr>
              <a:t>.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E4D60D6-85F9-97F8-68A7-70705C2F2C87}"/>
              </a:ext>
            </a:extLst>
          </p:cNvPr>
          <p:cNvSpPr txBox="1"/>
          <p:nvPr/>
        </p:nvSpPr>
        <p:spPr>
          <a:xfrm>
            <a:off x="3687408" y="5767168"/>
            <a:ext cx="45606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A causal layer does not make a non-causal data pipeline valid.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7564E325-F40B-5023-B70E-11C3C3D20A33}"/>
              </a:ext>
            </a:extLst>
          </p:cNvPr>
          <p:cNvSpPr txBox="1"/>
          <p:nvPr/>
        </p:nvSpPr>
        <p:spPr>
          <a:xfrm>
            <a:off x="7232072" y="1163783"/>
            <a:ext cx="23829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solidFill>
                  <a:schemeClr val="accent2">
                    <a:lumMod val="75000"/>
                  </a:schemeClr>
                </a:solidFill>
              </a:rPr>
              <a:t>It’s</a:t>
            </a:r>
            <a:r>
              <a:rPr lang="it-IT" dirty="0">
                <a:solidFill>
                  <a:schemeClr val="accent2">
                    <a:lumMod val="75000"/>
                  </a:schemeClr>
                </a:solidFill>
              </a:rPr>
              <a:t> just a step in the pipeline!</a:t>
            </a:r>
            <a:endParaRPr lang="en-GB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050551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0"/>
            <a:ext cx="1042416" cy="6858000"/>
          </a:xfrm>
          <a:prstGeom prst="rect">
            <a:avLst/>
          </a:prstGeom>
          <a:solidFill>
            <a:srgbClr val="84B91F">
              <a:alpha val="95000"/>
            </a:srgbClr>
          </a:solidFill>
          <a:ln w="12700">
            <a:solidFill>
              <a:srgbClr val="84B9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927080" y="0"/>
            <a:ext cx="0" cy="6858000"/>
          </a:xfrm>
          <a:prstGeom prst="line">
            <a:avLst/>
          </a:prstGeom>
          <a:noFill/>
          <a:ln w="8890">
            <a:solidFill>
              <a:srgbClr val="CBD5E1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94360" y="32004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causal layer does not fix a leaking pipeline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12648" y="84124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Prediction-time availability must be respected by every pipeline component.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68680" y="2011680"/>
            <a:ext cx="16916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914400" y="222747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raw data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606040" y="2377440"/>
            <a:ext cx="502920" cy="0"/>
          </a:xfrm>
          <a:prstGeom prst="line">
            <a:avLst/>
          </a:prstGeom>
          <a:noFill/>
          <a:ln w="22860">
            <a:solidFill>
              <a:srgbClr val="84B91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3200400" y="2011680"/>
            <a:ext cx="1691640" cy="731520"/>
          </a:xfrm>
          <a:prstGeom prst="roundRect">
            <a:avLst>
              <a:gd name="adj" fmla="val 7500"/>
            </a:avLst>
          </a:prstGeom>
          <a:solidFill>
            <a:srgbClr val="FFE4E6"/>
          </a:solidFill>
          <a:ln w="1524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3246120" y="222747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preprocessing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937760" y="2377440"/>
            <a:ext cx="502920" cy="0"/>
          </a:xfrm>
          <a:prstGeom prst="line">
            <a:avLst/>
          </a:prstGeom>
          <a:noFill/>
          <a:ln w="22860">
            <a:solidFill>
              <a:srgbClr val="84B91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5532120" y="2011680"/>
            <a:ext cx="1691640" cy="731520"/>
          </a:xfrm>
          <a:prstGeom prst="roundRect">
            <a:avLst>
              <a:gd name="adj" fmla="val 7500"/>
            </a:avLst>
          </a:prstGeom>
          <a:solidFill>
            <a:srgbClr val="E7F5C7"/>
          </a:solidFill>
          <a:ln w="1524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577840" y="222747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causal Conv1D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269480" y="2377440"/>
            <a:ext cx="502920" cy="0"/>
          </a:xfrm>
          <a:prstGeom prst="line">
            <a:avLst/>
          </a:prstGeom>
          <a:noFill/>
          <a:ln w="22860">
            <a:solidFill>
              <a:srgbClr val="84B91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7863840" y="2011680"/>
            <a:ext cx="16916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7909560" y="222747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evaluation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143000" y="3749040"/>
            <a:ext cx="3931920" cy="1325880"/>
          </a:xfrm>
          <a:prstGeom prst="roundRect">
            <a:avLst>
              <a:gd name="adj" fmla="val 4138"/>
            </a:avLst>
          </a:prstGeom>
          <a:solidFill>
            <a:srgbClr val="FFE4E6"/>
          </a:solidFill>
          <a:ln w="1524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1188720" y="4155034"/>
            <a:ext cx="38404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Examples of non-causal preprocessing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• centered moving average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• interpolation using future frames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• complete-recording normalization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623560" y="3749040"/>
            <a:ext cx="3931920" cy="1325880"/>
          </a:xfrm>
          <a:prstGeom prst="roundRect">
            <a:avLst>
              <a:gd name="adj" fmla="val 4138"/>
            </a:avLst>
          </a:prstGeom>
          <a:solidFill>
            <a:srgbClr val="E7F5C7"/>
          </a:solidFill>
          <a:ln w="1524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669280" y="4155034"/>
            <a:ext cx="38404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A valid causal system requires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causal features + causal preprocessing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+ causal architecture + temporal evaluation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4360" y="6281928"/>
            <a:ext cx="9829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749808" y="6345936"/>
            <a:ext cx="9509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Causal architecture is necessary but not sufficient for a causal evaluation.</a:t>
            </a:r>
            <a:endParaRPr lang="en-US" sz="1200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0"/>
            <a:ext cx="1042416" cy="6858000"/>
          </a:xfrm>
          <a:prstGeom prst="rect">
            <a:avLst/>
          </a:prstGeom>
          <a:solidFill>
            <a:srgbClr val="84B91F">
              <a:alpha val="95000"/>
            </a:srgbClr>
          </a:solidFill>
          <a:ln w="12700">
            <a:solidFill>
              <a:srgbClr val="84B9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927080" y="0"/>
            <a:ext cx="0" cy="6858000"/>
          </a:xfrm>
          <a:prstGeom prst="line">
            <a:avLst/>
          </a:prstGeom>
          <a:noFill/>
          <a:ln w="8890">
            <a:solidFill>
              <a:srgbClr val="CBD5E1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94360" y="32004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5.F.8 — Causal versus non-causal choice is task-dependent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12648" y="84124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according to what information is available at prediction time.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914400" y="1234440"/>
            <a:ext cx="3931920" cy="548640"/>
          </a:xfrm>
          <a:prstGeom prst="roundRect">
            <a:avLst>
              <a:gd name="adj" fmla="val 10000"/>
            </a:avLst>
          </a:prstGeom>
          <a:solidFill>
            <a:srgbClr val="E7F5C7"/>
          </a:solidFill>
          <a:ln w="15240">
            <a:solidFill>
              <a:srgbClr val="84B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960120" y="1391717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</a:rPr>
              <a:t>Causal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0" y="1234440"/>
            <a:ext cx="3931920" cy="548640"/>
          </a:xfrm>
          <a:prstGeom prst="roundRect">
            <a:avLst>
              <a:gd name="adj" fmla="val 10000"/>
            </a:avLst>
          </a:prstGeom>
          <a:solidFill>
            <a:srgbClr val="FFF7CC"/>
          </a:solidFill>
          <a:ln w="15240">
            <a:solidFill>
              <a:srgbClr val="F7C94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532120" y="1391717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</a:rPr>
              <a:t>Non-causal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234440" y="2057400"/>
            <a:ext cx="32918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280160" y="2162007"/>
            <a:ext cx="320040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0F172A"/>
                </a:solidFill>
              </a:rPr>
              <a:t>forecasting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234440" y="2651760"/>
            <a:ext cx="32918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1280160" y="2756367"/>
            <a:ext cx="320040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0F172A"/>
                </a:solidFill>
              </a:rPr>
              <a:t>online monitoring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234440" y="3246120"/>
            <a:ext cx="32918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1280160" y="3350727"/>
            <a:ext cx="320040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0F172A"/>
                </a:solidFill>
              </a:rPr>
              <a:t>real-time alarms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234440" y="3840480"/>
            <a:ext cx="32918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1280160" y="3945087"/>
            <a:ext cx="320040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0F172A"/>
                </a:solidFill>
              </a:rPr>
              <a:t>streaming labels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234440" y="4434840"/>
            <a:ext cx="32918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1280160" y="4539447"/>
            <a:ext cx="320040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</a:rPr>
              <a:t>uses past + present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806440" y="2057400"/>
            <a:ext cx="32918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5852160" y="2162007"/>
            <a:ext cx="320040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0F172A"/>
                </a:solidFill>
              </a:rPr>
              <a:t>offline classification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806440" y="2651760"/>
            <a:ext cx="32918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5852160" y="2756367"/>
            <a:ext cx="320040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0F172A"/>
                </a:solidFill>
              </a:rPr>
              <a:t>retrospective segmentation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806440" y="3246120"/>
            <a:ext cx="32918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5852160" y="3350727"/>
            <a:ext cx="320040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0F172A"/>
                </a:solidFill>
              </a:rPr>
              <a:t>post-processing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806440" y="3840480"/>
            <a:ext cx="32918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5852160" y="3945087"/>
            <a:ext cx="320040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0F172A"/>
                </a:solidFill>
              </a:rPr>
              <a:t>stored recordings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806440" y="4434840"/>
            <a:ext cx="32918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5852160" y="4539447"/>
            <a:ext cx="320040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</a:rPr>
              <a:t>may use future context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166360" y="1097280"/>
            <a:ext cx="0" cy="4480560"/>
          </a:xfrm>
          <a:prstGeom prst="line">
            <a:avLst/>
          </a:prstGeom>
          <a:noFill/>
          <a:ln w="165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1280160" y="5394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4B91F"/>
                </a:solidFill>
              </a:rPr>
              <a:t>Stricter information constraint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852160" y="5394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</a:rPr>
              <a:t>Can exploit complete sequence</a:t>
            </a:r>
            <a:endParaRPr lang="en-US" sz="1400" dirty="0"/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B81BA28C-648F-A194-9691-05A0A48DA073}"/>
              </a:ext>
            </a:extLst>
          </p:cNvPr>
          <p:cNvSpPr txBox="1"/>
          <p:nvPr/>
        </p:nvSpPr>
        <p:spPr>
          <a:xfrm>
            <a:off x="5768976" y="5930437"/>
            <a:ext cx="44037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b="1" dirty="0"/>
              <a:t>Non-causal model</a:t>
            </a:r>
          </a:p>
          <a:p>
            <a:pPr>
              <a:buNone/>
            </a:pPr>
            <a:r>
              <a:rPr lang="en-GB" sz="1600" dirty="0"/>
              <a:t>Use when the complete sequence is available before prediction at deployment time.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7EE84BB-02D3-A6FE-D89E-E071A68AE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highlight>
                  <a:srgbClr val="FFFF00"/>
                </a:highlight>
              </a:rPr>
              <a:t>Causal receptive field (and time-window size, for </a:t>
            </a:r>
            <a:r>
              <a:rPr lang="en-GB" dirty="0" err="1">
                <a:highlight>
                  <a:srgbClr val="FFFF00"/>
                </a:highlight>
              </a:rPr>
              <a:t>seq</a:t>
            </a:r>
            <a:r>
              <a:rPr lang="en-GB" dirty="0">
                <a:highlight>
                  <a:srgbClr val="FFFF00"/>
                </a:highlight>
              </a:rPr>
              <a:t>-to-vector models) and latency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41D8F87-B735-3E08-F96A-A88549FCA8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8"/>
            <a:ext cx="6498166" cy="4379911"/>
          </a:xfrm>
        </p:spPr>
        <p:txBody>
          <a:bodyPr>
            <a:normAutofit/>
          </a:bodyPr>
          <a:lstStyle/>
          <a:p>
            <a:r>
              <a:rPr lang="en-GB" dirty="0"/>
              <a:t>Suppose a causal network has a receptive field of: R = 500 frames</a:t>
            </a:r>
          </a:p>
          <a:p>
            <a:r>
              <a:rPr lang="en-GB" dirty="0"/>
              <a:t>At: Fs = 100 Hz this corresponds to: 5 seconds</a:t>
            </a:r>
          </a:p>
          <a:p>
            <a:r>
              <a:rPr lang="en-GB" b="1" dirty="0"/>
              <a:t>At time t</a:t>
            </a:r>
          </a:p>
          <a:p>
            <a:r>
              <a:rPr lang="en-GB" dirty="0"/>
              <a:t>the output can depend on approximately the previous five seconds.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B63E6CB-8DD7-A598-F97B-A4548F7D0F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53770" y="2058989"/>
            <a:ext cx="4396930" cy="4481510"/>
          </a:xfrm>
        </p:spPr>
        <p:txBody>
          <a:bodyPr>
            <a:normAutofit/>
          </a:bodyPr>
          <a:lstStyle/>
          <a:p>
            <a:r>
              <a:rPr lang="en-GB" b="1" dirty="0">
                <a:highlight>
                  <a:srgbClr val="FFFF00"/>
                </a:highlight>
              </a:rPr>
              <a:t>Distinguish</a:t>
            </a:r>
          </a:p>
          <a:p>
            <a:r>
              <a:rPr lang="en-GB" b="1" dirty="0"/>
              <a:t>Historical context</a:t>
            </a:r>
            <a:endParaRPr lang="en-GB" dirty="0"/>
          </a:p>
          <a:p>
            <a:r>
              <a:rPr lang="en-GB" dirty="0"/>
              <a:t>How far into the past the output can look.</a:t>
            </a:r>
          </a:p>
          <a:p>
            <a:r>
              <a:rPr lang="en-GB" b="1" dirty="0"/>
              <a:t>Algorithmic latency</a:t>
            </a:r>
            <a:endParaRPr lang="en-GB" dirty="0"/>
          </a:p>
          <a:p>
            <a:r>
              <a:rPr lang="en-GB" dirty="0"/>
              <a:t>How long computation takes before the output becomes available.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46626683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743B98-62CB-A24E-71C7-DE1760DE3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Causal convolution still needs an </a:t>
            </a:r>
            <a:r>
              <a:rPr lang="en-GB" dirty="0">
                <a:highlight>
                  <a:srgbClr val="FFFF00"/>
                </a:highlight>
              </a:rPr>
              <a:t>efficient way to obtain long context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0747B43-CD06-5DEF-BFD8-C8C2D45817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555066" cy="3880772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A causal convolution with:</a:t>
            </a:r>
          </a:p>
          <a:p>
            <a:r>
              <a:rPr lang="en-GB" dirty="0"/>
              <a:t>kernel size = 3</a:t>
            </a:r>
          </a:p>
          <a:p>
            <a:r>
              <a:rPr lang="en-GB" dirty="0"/>
              <a:t>and:</a:t>
            </a:r>
          </a:p>
          <a:p>
            <a:r>
              <a:rPr lang="en-GB" dirty="0">
                <a:highlight>
                  <a:srgbClr val="FFFF00"/>
                </a:highlight>
              </a:rPr>
              <a:t>stride = 1</a:t>
            </a:r>
          </a:p>
          <a:p>
            <a:r>
              <a:rPr lang="en-GB" dirty="0">
                <a:highlight>
                  <a:srgbClr val="FFFF00"/>
                </a:highlight>
              </a:rPr>
              <a:t>increases historical receptive field only gradually with depth.</a:t>
            </a:r>
          </a:p>
          <a:p>
            <a:r>
              <a:rPr lang="en-GB" dirty="0"/>
              <a:t>Example:</a:t>
            </a:r>
          </a:p>
          <a:p>
            <a:r>
              <a:rPr lang="en-GB" dirty="0"/>
              <a:t>1 layer  → 3 frames</a:t>
            </a:r>
          </a:p>
          <a:p>
            <a:r>
              <a:rPr lang="en-GB" dirty="0"/>
              <a:t>2 layers → 5 </a:t>
            </a:r>
            <a:r>
              <a:rPr lang="en-GB" dirty="0" err="1"/>
              <a:t>sframes</a:t>
            </a:r>
            <a:endParaRPr lang="en-GB" dirty="0"/>
          </a:p>
          <a:p>
            <a:r>
              <a:rPr lang="en-GB" dirty="0"/>
              <a:t>3 layers → 7 </a:t>
            </a:r>
            <a:r>
              <a:rPr lang="en-GB" dirty="0" err="1"/>
              <a:t>sframes</a:t>
            </a:r>
            <a:endParaRPr lang="en-GB" dirty="0"/>
          </a:p>
          <a:p>
            <a:r>
              <a:rPr lang="en-GB" dirty="0"/>
              <a:t>4 layers → 9 frames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5F46FB6-BFEB-D42D-5F5C-820ED12B71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42000" y="2200278"/>
            <a:ext cx="6197600" cy="4467222"/>
          </a:xfrm>
        </p:spPr>
        <p:txBody>
          <a:bodyPr>
            <a:normAutofit fontScale="92500" lnSpcReduction="10000"/>
          </a:bodyPr>
          <a:lstStyle/>
          <a:p>
            <a:r>
              <a:rPr lang="en-GB" dirty="0">
                <a:highlight>
                  <a:srgbClr val="FFFF00"/>
                </a:highlight>
              </a:rPr>
              <a:t>To cover hundreds or thousands of past steps, we could:</a:t>
            </a:r>
          </a:p>
          <a:p>
            <a:pPr lvl="1"/>
            <a:r>
              <a:rPr lang="en-GB" dirty="0"/>
              <a:t>use very large kernels; </a:t>
            </a:r>
          </a:p>
          <a:p>
            <a:pPr lvl="1"/>
            <a:r>
              <a:rPr lang="en-GB" dirty="0"/>
              <a:t>build many layers; </a:t>
            </a:r>
          </a:p>
          <a:p>
            <a:pPr lvl="1"/>
            <a:r>
              <a:rPr lang="en-GB" dirty="0" err="1"/>
              <a:t>downsample</a:t>
            </a:r>
            <a:r>
              <a:rPr lang="en-GB" dirty="0"/>
              <a:t> aggressively. </a:t>
            </a:r>
          </a:p>
          <a:p>
            <a:r>
              <a:rPr lang="en-GB" dirty="0"/>
              <a:t>Each option has disadvantages.</a:t>
            </a:r>
          </a:p>
          <a:p>
            <a:endParaRPr lang="en-GB" b="1" dirty="0"/>
          </a:p>
          <a:p>
            <a:r>
              <a:rPr lang="en-GB" b="1" dirty="0">
                <a:highlight>
                  <a:srgbClr val="FFFF00"/>
                </a:highlight>
              </a:rPr>
              <a:t>Better question</a:t>
            </a:r>
          </a:p>
          <a:p>
            <a:r>
              <a:rPr lang="en-GB" dirty="0">
                <a:highlight>
                  <a:srgbClr val="FFFF00"/>
                </a:highlight>
              </a:rPr>
              <a:t>Can we increase the causal receptive field rapidly while keeping small kernels and high temporal resolution?</a:t>
            </a:r>
          </a:p>
          <a:p>
            <a:r>
              <a:rPr lang="en-GB" dirty="0">
                <a:highlight>
                  <a:srgbClr val="FFFF00"/>
                </a:highlight>
              </a:rPr>
              <a:t>The answer is </a:t>
            </a:r>
            <a:r>
              <a:rPr lang="en-GB" b="1" dirty="0">
                <a:highlight>
                  <a:srgbClr val="FFFF00"/>
                </a:highlight>
              </a:rPr>
              <a:t>dilated convolution</a:t>
            </a:r>
            <a:r>
              <a:rPr lang="en-GB" dirty="0">
                <a:highlight>
                  <a:srgbClr val="FFFF00"/>
                </a:highlight>
              </a:rPr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60600140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86821D-A47B-5822-5EF6-884066E8C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Block 5.G — Dilated Convolution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265DEEB-B3DB-C893-7501-DBF33EE185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4806515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58A5E42-4A38-94C6-0180-7157E36E6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Increasing receptive field without large kernels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63651E4-B637-AF0A-E370-26CFE88E97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8"/>
            <a:ext cx="4313766" cy="4354511"/>
          </a:xfrm>
        </p:spPr>
        <p:txBody>
          <a:bodyPr>
            <a:normAutofit lnSpcReduction="10000"/>
          </a:bodyPr>
          <a:lstStyle/>
          <a:p>
            <a:r>
              <a:rPr lang="en-GB" dirty="0"/>
              <a:t>A causal Conv1D with:</a:t>
            </a:r>
          </a:p>
          <a:p>
            <a:pPr lvl="1"/>
            <a:r>
              <a:rPr lang="en-GB" dirty="0"/>
              <a:t>kernel size K = 3; </a:t>
            </a:r>
          </a:p>
          <a:p>
            <a:pPr lvl="1"/>
            <a:r>
              <a:rPr lang="en-GB" dirty="0"/>
              <a:t>stride 1; </a:t>
            </a:r>
          </a:p>
          <a:p>
            <a:r>
              <a:rPr lang="en-GB" b="1" dirty="0"/>
              <a:t>increases receptive field only gradually with depth.</a:t>
            </a:r>
          </a:p>
          <a:p>
            <a:r>
              <a:rPr lang="en-GB" dirty="0"/>
              <a:t>For example:</a:t>
            </a:r>
          </a:p>
          <a:p>
            <a:pPr lvl="1"/>
            <a:r>
              <a:rPr lang="en-GB" dirty="0"/>
              <a:t>1 layer  → 3 frames</a:t>
            </a:r>
          </a:p>
          <a:p>
            <a:pPr lvl="1"/>
            <a:r>
              <a:rPr lang="en-GB" dirty="0"/>
              <a:t>2 layers → 5 frames</a:t>
            </a:r>
          </a:p>
          <a:p>
            <a:pPr lvl="1"/>
            <a:r>
              <a:rPr lang="en-GB" dirty="0"/>
              <a:t>3 layers → 7 frames</a:t>
            </a:r>
          </a:p>
          <a:p>
            <a:pPr lvl="1"/>
            <a:r>
              <a:rPr lang="en-GB" dirty="0"/>
              <a:t>4 layers → 9 frames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6841F3B-383C-58EF-BED6-1A3A602775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6848030" cy="4506911"/>
          </a:xfrm>
        </p:spPr>
        <p:txBody>
          <a:bodyPr>
            <a:normAutofit lnSpcReduction="10000"/>
          </a:bodyPr>
          <a:lstStyle/>
          <a:p>
            <a:r>
              <a:rPr lang="en-GB" dirty="0">
                <a:highlight>
                  <a:srgbClr val="FFFF00"/>
                </a:highlight>
              </a:rPr>
              <a:t>To cover hundreds of time steps, we could use:</a:t>
            </a:r>
          </a:p>
          <a:p>
            <a:pPr lvl="1"/>
            <a:r>
              <a:rPr lang="en-GB" dirty="0"/>
              <a:t>many layers; </a:t>
            </a:r>
          </a:p>
          <a:p>
            <a:pPr lvl="1"/>
            <a:r>
              <a:rPr lang="en-GB" dirty="0"/>
              <a:t>very large kernels; </a:t>
            </a:r>
          </a:p>
          <a:p>
            <a:pPr lvl="1"/>
            <a:r>
              <a:rPr lang="en-GB" dirty="0"/>
              <a:t>aggressive </a:t>
            </a:r>
            <a:r>
              <a:rPr lang="en-GB" dirty="0" err="1"/>
              <a:t>downsampling</a:t>
            </a:r>
            <a:r>
              <a:rPr lang="en-GB" dirty="0"/>
              <a:t>. </a:t>
            </a:r>
          </a:p>
          <a:p>
            <a:r>
              <a:rPr lang="en-GB" dirty="0">
                <a:highlight>
                  <a:srgbClr val="FFFF00"/>
                </a:highlight>
              </a:rPr>
              <a:t>Each option has a cost.</a:t>
            </a:r>
          </a:p>
          <a:p>
            <a:r>
              <a:rPr lang="en-GB" b="1" dirty="0">
                <a:highlight>
                  <a:srgbClr val="FFFF00"/>
                </a:highlight>
              </a:rPr>
              <a:t>Alternative</a:t>
            </a:r>
          </a:p>
          <a:p>
            <a:r>
              <a:rPr lang="en-GB" dirty="0"/>
              <a:t>A </a:t>
            </a:r>
            <a:r>
              <a:rPr lang="en-GB" b="1" dirty="0"/>
              <a:t>dilated convolution</a:t>
            </a:r>
            <a:r>
              <a:rPr lang="en-GB" dirty="0"/>
              <a:t> increases the spacing between the input positions used by the kernel.</a:t>
            </a:r>
          </a:p>
          <a:p>
            <a:r>
              <a:rPr lang="en-GB" dirty="0"/>
              <a:t>This allows a small kernel to cover a much larger temporal interval.</a:t>
            </a:r>
          </a:p>
          <a:p>
            <a:endParaRPr lang="en-GB" dirty="0"/>
          </a:p>
          <a:p>
            <a:r>
              <a:rPr lang="en-GB" b="1" dirty="0"/>
              <a:t>Dilation expands temporal context without increasing the number of kernel weights.</a:t>
            </a:r>
          </a:p>
        </p:txBody>
      </p:sp>
    </p:spTree>
    <p:extLst>
      <p:ext uri="{BB962C8B-B14F-4D97-AF65-F5344CB8AC3E}">
        <p14:creationId xmlns:p14="http://schemas.microsoft.com/office/powerpoint/2010/main" val="896565581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04120" y="0"/>
            <a:ext cx="1828800" cy="6858000"/>
          </a:xfrm>
          <a:prstGeom prst="parallelogram">
            <a:avLst/>
          </a:prstGeom>
          <a:solidFill>
            <a:srgbClr val="86B817">
              <a:alpha val="92000"/>
            </a:srgbClr>
          </a:solidFill>
          <a:ln w="12700">
            <a:solidFill>
              <a:srgbClr val="86B8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835640" y="0"/>
            <a:ext cx="1188720" cy="6858000"/>
          </a:xfrm>
          <a:prstGeom prst="parallelogram">
            <a:avLst/>
          </a:prstGeom>
          <a:solidFill>
            <a:srgbClr val="5F8E2F">
              <a:alpha val="80000"/>
            </a:srgbClr>
          </a:solidFill>
          <a:ln w="12700">
            <a:solidFill>
              <a:srgbClr val="5F8E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9372600" y="0"/>
            <a:ext cx="1143000" cy="6858000"/>
          </a:xfrm>
          <a:prstGeom prst="parallelogram">
            <a:avLst/>
          </a:prstGeom>
          <a:solidFill>
            <a:srgbClr val="A6CE39">
              <a:alpha val="40000"/>
            </a:srgbClr>
          </a:solidFill>
          <a:ln w="12700">
            <a:solidFill>
              <a:srgbClr val="A6CE3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9281160" y="0"/>
            <a:ext cx="594360" cy="6858000"/>
          </a:xfrm>
          <a:prstGeom prst="line">
            <a:avLst/>
          </a:prstGeom>
          <a:noFill/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Dilated Convolution and TCN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14173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75569"/>
                </a:solidFill>
              </a:rPr>
              <a:t>This figure deck collects the visual explanations for dilation, causal receptive fields, residual TCN blocks and task-specific TCN use.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97280" y="2423160"/>
            <a:ext cx="6016752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1046988" y="237286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1476756" y="237286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1906524" y="237286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2336292" y="237286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2766060" y="237286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3195828" y="237286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3625596" y="237286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4055364" y="237286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4485132" y="237286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4914900" y="237286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5344668" y="237286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5774436" y="237286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6204204" y="237286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6633972" y="237286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7063740" y="237286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7063740" y="2372868"/>
            <a:ext cx="100584" cy="100584"/>
          </a:xfrm>
          <a:prstGeom prst="ellipse">
            <a:avLst/>
          </a:prstGeom>
          <a:solidFill>
            <a:srgbClr val="2B73FF"/>
          </a:solidFill>
          <a:ln w="15240">
            <a:solidFill>
              <a:srgbClr val="2B73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6633972" y="2372868"/>
            <a:ext cx="100584" cy="100584"/>
          </a:xfrm>
          <a:prstGeom prst="ellipse">
            <a:avLst/>
          </a:prstGeom>
          <a:solidFill>
            <a:srgbClr val="86B817"/>
          </a:solidFill>
          <a:ln w="15240">
            <a:solidFill>
              <a:srgbClr val="86B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6204204" y="2372868"/>
            <a:ext cx="100584" cy="100584"/>
          </a:xfrm>
          <a:prstGeom prst="ellipse">
            <a:avLst/>
          </a:prstGeom>
          <a:solidFill>
            <a:srgbClr val="F1B400"/>
          </a:solidFill>
          <a:ln w="15240">
            <a:solidFill>
              <a:srgbClr val="F1B4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7772400" y="232257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dilation 1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097280" y="3063240"/>
            <a:ext cx="6016752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1046988" y="301294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1476756" y="301294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1906524" y="301294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2336292" y="301294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2766060" y="301294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3195828" y="301294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3625596" y="301294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4055364" y="301294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4485132" y="301294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4914900" y="301294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5344668" y="301294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Shape 39"/>
          <p:cNvSpPr/>
          <p:nvPr/>
        </p:nvSpPr>
        <p:spPr>
          <a:xfrm>
            <a:off x="5774436" y="301294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Shape 40"/>
          <p:cNvSpPr/>
          <p:nvPr/>
        </p:nvSpPr>
        <p:spPr>
          <a:xfrm>
            <a:off x="6204204" y="301294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41"/>
          <p:cNvSpPr/>
          <p:nvPr/>
        </p:nvSpPr>
        <p:spPr>
          <a:xfrm>
            <a:off x="6633972" y="301294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Shape 42"/>
          <p:cNvSpPr/>
          <p:nvPr/>
        </p:nvSpPr>
        <p:spPr>
          <a:xfrm>
            <a:off x="7063740" y="301294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Shape 43"/>
          <p:cNvSpPr/>
          <p:nvPr/>
        </p:nvSpPr>
        <p:spPr>
          <a:xfrm>
            <a:off x="7063740" y="3012948"/>
            <a:ext cx="100584" cy="100584"/>
          </a:xfrm>
          <a:prstGeom prst="ellipse">
            <a:avLst/>
          </a:prstGeom>
          <a:solidFill>
            <a:srgbClr val="2B73FF"/>
          </a:solidFill>
          <a:ln w="15240">
            <a:solidFill>
              <a:srgbClr val="2B73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Shape 44"/>
          <p:cNvSpPr/>
          <p:nvPr/>
        </p:nvSpPr>
        <p:spPr>
          <a:xfrm>
            <a:off x="6204204" y="3012948"/>
            <a:ext cx="100584" cy="100584"/>
          </a:xfrm>
          <a:prstGeom prst="ellipse">
            <a:avLst/>
          </a:prstGeom>
          <a:solidFill>
            <a:srgbClr val="86B817"/>
          </a:solidFill>
          <a:ln w="15240">
            <a:solidFill>
              <a:srgbClr val="86B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Shape 45"/>
          <p:cNvSpPr/>
          <p:nvPr/>
        </p:nvSpPr>
        <p:spPr>
          <a:xfrm>
            <a:off x="5344668" y="3012948"/>
            <a:ext cx="100584" cy="100584"/>
          </a:xfrm>
          <a:prstGeom prst="ellipse">
            <a:avLst/>
          </a:prstGeom>
          <a:solidFill>
            <a:srgbClr val="F1B400"/>
          </a:solidFill>
          <a:ln w="15240">
            <a:solidFill>
              <a:srgbClr val="F1B4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46"/>
          <p:cNvSpPr/>
          <p:nvPr/>
        </p:nvSpPr>
        <p:spPr>
          <a:xfrm>
            <a:off x="7772400" y="296265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dilation 2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1097280" y="3703320"/>
            <a:ext cx="6016752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50" name="Shape 48"/>
          <p:cNvSpPr/>
          <p:nvPr/>
        </p:nvSpPr>
        <p:spPr>
          <a:xfrm>
            <a:off x="1046988" y="365302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Shape 49"/>
          <p:cNvSpPr/>
          <p:nvPr/>
        </p:nvSpPr>
        <p:spPr>
          <a:xfrm>
            <a:off x="1476756" y="365302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Shape 50"/>
          <p:cNvSpPr/>
          <p:nvPr/>
        </p:nvSpPr>
        <p:spPr>
          <a:xfrm>
            <a:off x="1906524" y="365302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Shape 51"/>
          <p:cNvSpPr/>
          <p:nvPr/>
        </p:nvSpPr>
        <p:spPr>
          <a:xfrm>
            <a:off x="2336292" y="365302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Shape 52"/>
          <p:cNvSpPr/>
          <p:nvPr/>
        </p:nvSpPr>
        <p:spPr>
          <a:xfrm>
            <a:off x="2766060" y="365302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Shape 53"/>
          <p:cNvSpPr/>
          <p:nvPr/>
        </p:nvSpPr>
        <p:spPr>
          <a:xfrm>
            <a:off x="3195828" y="365302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Shape 54"/>
          <p:cNvSpPr/>
          <p:nvPr/>
        </p:nvSpPr>
        <p:spPr>
          <a:xfrm>
            <a:off x="3625596" y="365302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Shape 55"/>
          <p:cNvSpPr/>
          <p:nvPr/>
        </p:nvSpPr>
        <p:spPr>
          <a:xfrm>
            <a:off x="4055364" y="365302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Shape 56"/>
          <p:cNvSpPr/>
          <p:nvPr/>
        </p:nvSpPr>
        <p:spPr>
          <a:xfrm>
            <a:off x="4485132" y="365302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Shape 57"/>
          <p:cNvSpPr/>
          <p:nvPr/>
        </p:nvSpPr>
        <p:spPr>
          <a:xfrm>
            <a:off x="4914900" y="365302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Shape 58"/>
          <p:cNvSpPr/>
          <p:nvPr/>
        </p:nvSpPr>
        <p:spPr>
          <a:xfrm>
            <a:off x="5344668" y="365302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Shape 59"/>
          <p:cNvSpPr/>
          <p:nvPr/>
        </p:nvSpPr>
        <p:spPr>
          <a:xfrm>
            <a:off x="5774436" y="365302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" name="Shape 60"/>
          <p:cNvSpPr/>
          <p:nvPr/>
        </p:nvSpPr>
        <p:spPr>
          <a:xfrm>
            <a:off x="6204204" y="365302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Shape 61"/>
          <p:cNvSpPr/>
          <p:nvPr/>
        </p:nvSpPr>
        <p:spPr>
          <a:xfrm>
            <a:off x="6633972" y="365302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Shape 62"/>
          <p:cNvSpPr/>
          <p:nvPr/>
        </p:nvSpPr>
        <p:spPr>
          <a:xfrm>
            <a:off x="7063740" y="365302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Shape 63"/>
          <p:cNvSpPr/>
          <p:nvPr/>
        </p:nvSpPr>
        <p:spPr>
          <a:xfrm>
            <a:off x="7063740" y="3653028"/>
            <a:ext cx="100584" cy="100584"/>
          </a:xfrm>
          <a:prstGeom prst="ellipse">
            <a:avLst/>
          </a:prstGeom>
          <a:solidFill>
            <a:srgbClr val="2B73FF"/>
          </a:solidFill>
          <a:ln w="15240">
            <a:solidFill>
              <a:srgbClr val="2B73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" name="Shape 64"/>
          <p:cNvSpPr/>
          <p:nvPr/>
        </p:nvSpPr>
        <p:spPr>
          <a:xfrm>
            <a:off x="5344668" y="3653028"/>
            <a:ext cx="100584" cy="100584"/>
          </a:xfrm>
          <a:prstGeom prst="ellipse">
            <a:avLst/>
          </a:prstGeom>
          <a:solidFill>
            <a:srgbClr val="86B817"/>
          </a:solidFill>
          <a:ln w="15240">
            <a:solidFill>
              <a:srgbClr val="86B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7" name="Shape 65"/>
          <p:cNvSpPr/>
          <p:nvPr/>
        </p:nvSpPr>
        <p:spPr>
          <a:xfrm>
            <a:off x="3625596" y="3653028"/>
            <a:ext cx="100584" cy="100584"/>
          </a:xfrm>
          <a:prstGeom prst="ellipse">
            <a:avLst/>
          </a:prstGeom>
          <a:solidFill>
            <a:srgbClr val="F1B400"/>
          </a:solidFill>
          <a:ln w="15240">
            <a:solidFill>
              <a:srgbClr val="F1B4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8" name="Text 66"/>
          <p:cNvSpPr/>
          <p:nvPr/>
        </p:nvSpPr>
        <p:spPr>
          <a:xfrm>
            <a:off x="7772400" y="360273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dilation 4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1097280" y="4343400"/>
            <a:ext cx="6016752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70" name="Shape 68"/>
          <p:cNvSpPr/>
          <p:nvPr/>
        </p:nvSpPr>
        <p:spPr>
          <a:xfrm>
            <a:off x="1046988" y="429310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1" name="Shape 69"/>
          <p:cNvSpPr/>
          <p:nvPr/>
        </p:nvSpPr>
        <p:spPr>
          <a:xfrm>
            <a:off x="1476756" y="429310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2" name="Shape 70"/>
          <p:cNvSpPr/>
          <p:nvPr/>
        </p:nvSpPr>
        <p:spPr>
          <a:xfrm>
            <a:off x="1906524" y="429310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3" name="Shape 71"/>
          <p:cNvSpPr/>
          <p:nvPr/>
        </p:nvSpPr>
        <p:spPr>
          <a:xfrm>
            <a:off x="2336292" y="429310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4" name="Shape 72"/>
          <p:cNvSpPr/>
          <p:nvPr/>
        </p:nvSpPr>
        <p:spPr>
          <a:xfrm>
            <a:off x="2766060" y="429310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5" name="Shape 73"/>
          <p:cNvSpPr/>
          <p:nvPr/>
        </p:nvSpPr>
        <p:spPr>
          <a:xfrm>
            <a:off x="3195828" y="429310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6" name="Shape 74"/>
          <p:cNvSpPr/>
          <p:nvPr/>
        </p:nvSpPr>
        <p:spPr>
          <a:xfrm>
            <a:off x="3625596" y="429310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7" name="Shape 75"/>
          <p:cNvSpPr/>
          <p:nvPr/>
        </p:nvSpPr>
        <p:spPr>
          <a:xfrm>
            <a:off x="4055364" y="429310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8" name="Shape 76"/>
          <p:cNvSpPr/>
          <p:nvPr/>
        </p:nvSpPr>
        <p:spPr>
          <a:xfrm>
            <a:off x="4485132" y="429310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9" name="Shape 77"/>
          <p:cNvSpPr/>
          <p:nvPr/>
        </p:nvSpPr>
        <p:spPr>
          <a:xfrm>
            <a:off x="4914900" y="429310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0" name="Shape 78"/>
          <p:cNvSpPr/>
          <p:nvPr/>
        </p:nvSpPr>
        <p:spPr>
          <a:xfrm>
            <a:off x="5344668" y="429310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1" name="Shape 79"/>
          <p:cNvSpPr/>
          <p:nvPr/>
        </p:nvSpPr>
        <p:spPr>
          <a:xfrm>
            <a:off x="5774436" y="429310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2" name="Shape 80"/>
          <p:cNvSpPr/>
          <p:nvPr/>
        </p:nvSpPr>
        <p:spPr>
          <a:xfrm>
            <a:off x="6204204" y="429310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3" name="Shape 81"/>
          <p:cNvSpPr/>
          <p:nvPr/>
        </p:nvSpPr>
        <p:spPr>
          <a:xfrm>
            <a:off x="6633972" y="429310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4" name="Shape 82"/>
          <p:cNvSpPr/>
          <p:nvPr/>
        </p:nvSpPr>
        <p:spPr>
          <a:xfrm>
            <a:off x="7063740" y="429310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5" name="Shape 83"/>
          <p:cNvSpPr/>
          <p:nvPr/>
        </p:nvSpPr>
        <p:spPr>
          <a:xfrm>
            <a:off x="7063740" y="4293108"/>
            <a:ext cx="100584" cy="100584"/>
          </a:xfrm>
          <a:prstGeom prst="ellipse">
            <a:avLst/>
          </a:prstGeom>
          <a:solidFill>
            <a:srgbClr val="2B73FF"/>
          </a:solidFill>
          <a:ln w="15240">
            <a:solidFill>
              <a:srgbClr val="2B73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6" name="Shape 84"/>
          <p:cNvSpPr/>
          <p:nvPr/>
        </p:nvSpPr>
        <p:spPr>
          <a:xfrm>
            <a:off x="3625596" y="4293108"/>
            <a:ext cx="100584" cy="100584"/>
          </a:xfrm>
          <a:prstGeom prst="ellipse">
            <a:avLst/>
          </a:prstGeom>
          <a:solidFill>
            <a:srgbClr val="86B817"/>
          </a:solidFill>
          <a:ln w="15240">
            <a:solidFill>
              <a:srgbClr val="86B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7" name="Text 85"/>
          <p:cNvSpPr/>
          <p:nvPr/>
        </p:nvSpPr>
        <p:spPr>
          <a:xfrm>
            <a:off x="7772400" y="424281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dilation 8</a:t>
            </a:r>
            <a:endParaRPr lang="en-US" sz="1050" dirty="0"/>
          </a:p>
        </p:txBody>
      </p:sp>
      <p:sp>
        <p:nvSpPr>
          <p:cNvPr id="88" name="Text 86"/>
          <p:cNvSpPr/>
          <p:nvPr/>
        </p:nvSpPr>
        <p:spPr>
          <a:xfrm>
            <a:off x="685800" y="6263640"/>
            <a:ext cx="79552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75569"/>
                </a:solidFill>
              </a:rPr>
              <a:t>From local kernels to large causal receptive fields.</a:t>
            </a:r>
            <a:endParaRPr lang="en-US" sz="1150" dirty="0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B72E5DB-2B44-7315-68AA-5B233AD4E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Standard convolution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7C68BAD-2203-2A54-E97D-0538FE9F4EF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Consider a causal convolution with:</a:t>
            </a:r>
          </a:p>
          <a:p>
            <a:pPr lvl="1"/>
            <a:r>
              <a:rPr lang="en-GB" dirty="0"/>
              <a:t>kernel size K = 3</a:t>
            </a:r>
          </a:p>
          <a:p>
            <a:pPr lvl="1"/>
            <a:r>
              <a:rPr lang="en-GB" dirty="0"/>
              <a:t>and:</a:t>
            </a:r>
          </a:p>
          <a:p>
            <a:pPr lvl="1"/>
            <a:r>
              <a:rPr lang="en-GB" dirty="0"/>
              <a:t>dilation = 1</a:t>
            </a:r>
          </a:p>
          <a:p>
            <a:r>
              <a:rPr lang="en-GB" dirty="0"/>
              <a:t>For an output at time t, the kernel uses:</a:t>
            </a:r>
          </a:p>
          <a:p>
            <a:r>
              <a:rPr lang="en-GB" dirty="0"/>
              <a:t>x[t−2], x[t−1], x[t]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6FA43A8-6D5B-8665-C124-9B57E4D0601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Conceptually:</a:t>
            </a:r>
          </a:p>
          <a:p>
            <a:r>
              <a:rPr lang="en-GB" dirty="0"/>
              <a:t>time →</a:t>
            </a:r>
          </a:p>
          <a:p>
            <a:r>
              <a:rPr lang="en-GB" dirty="0"/>
              <a:t>x[t−4] x[t−3] x[t−2] x[t−1] x[t]</a:t>
            </a:r>
          </a:p>
          <a:p>
            <a:r>
              <a:rPr lang="en-GB" dirty="0"/>
              <a:t>                        ●        ●      ●</a:t>
            </a:r>
          </a:p>
          <a:p>
            <a:r>
              <a:rPr lang="en-GB" dirty="0"/>
              <a:t>                 └── kernel ───┘</a:t>
            </a:r>
          </a:p>
          <a:p>
            <a:r>
              <a:rPr lang="en-GB" dirty="0"/>
              <a:t>The kernel covers three consecutive observations.</a:t>
            </a:r>
          </a:p>
          <a:p>
            <a:r>
              <a:rPr lang="en-GB" b="1" dirty="0"/>
              <a:t>Effective temporal span</a:t>
            </a:r>
          </a:p>
          <a:p>
            <a:r>
              <a:rPr lang="en-GB" dirty="0"/>
              <a:t>For dilation 1:</a:t>
            </a:r>
          </a:p>
          <a:p>
            <a:r>
              <a:rPr lang="en-GB" dirty="0"/>
              <a:t>span = 3 frames</a:t>
            </a:r>
          </a:p>
          <a:p>
            <a:r>
              <a:rPr lang="en-GB" dirty="0"/>
              <a:t>This is the well-known ordinary convolution.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98753009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04A7E09-C9BD-08F7-DE33-296D7ADD9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highlight>
                  <a:srgbClr val="FFFF00"/>
                </a:highlight>
              </a:rPr>
              <a:t>Dilation introduces gaps between kernel positions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60060A4-16FE-2309-06A5-CC378FCCA6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8"/>
            <a:ext cx="6231466" cy="4430711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Now keep:</a:t>
            </a:r>
          </a:p>
          <a:p>
            <a:r>
              <a:rPr lang="en-GB" dirty="0"/>
              <a:t>K = 3</a:t>
            </a:r>
          </a:p>
          <a:p>
            <a:r>
              <a:rPr lang="en-GB" dirty="0"/>
              <a:t>but use:</a:t>
            </a:r>
          </a:p>
          <a:p>
            <a:r>
              <a:rPr lang="en-GB" dirty="0"/>
              <a:t>dilation = 2</a:t>
            </a:r>
          </a:p>
          <a:p>
            <a:r>
              <a:rPr lang="en-GB" dirty="0"/>
              <a:t>The convolution uses:</a:t>
            </a:r>
          </a:p>
          <a:p>
            <a:r>
              <a:rPr lang="en-GB" dirty="0"/>
              <a:t>x[t−4], x[t−2], x[t]</a:t>
            </a:r>
          </a:p>
          <a:p>
            <a:r>
              <a:rPr lang="en-GB" dirty="0"/>
              <a:t>instead of three consecutive values.</a:t>
            </a:r>
          </a:p>
          <a:p>
            <a:r>
              <a:rPr lang="en-GB" dirty="0"/>
              <a:t>Conceptually:</a:t>
            </a:r>
          </a:p>
          <a:p>
            <a:r>
              <a:rPr lang="en-GB" dirty="0"/>
              <a:t>time →</a:t>
            </a:r>
          </a:p>
          <a:p>
            <a:r>
              <a:rPr lang="en-GB" dirty="0"/>
              <a:t>x[t−4] x[t−3] x[t−2] x[t−1] x[t]</a:t>
            </a:r>
          </a:p>
          <a:p>
            <a:r>
              <a:rPr lang="en-GB" dirty="0"/>
              <a:t>   ●                 ●                 ●</a:t>
            </a:r>
          </a:p>
          <a:p>
            <a:r>
              <a:rPr lang="en-GB" dirty="0"/>
              <a:t>   └────── dilated kernel ───────┘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CDEBAA0-5D7C-A193-6F49-705D53A2DA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30632" y="1955800"/>
            <a:ext cx="4569267" cy="4635499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The kernel still contains only 3 learned temporal positions</a:t>
            </a:r>
          </a:p>
          <a:p>
            <a:r>
              <a:rPr lang="en-GB" dirty="0"/>
              <a:t>but now spans 5 original time steps</a:t>
            </a:r>
          </a:p>
          <a:p>
            <a:endParaRPr lang="en-GB" b="1" dirty="0"/>
          </a:p>
          <a:p>
            <a:r>
              <a:rPr lang="en-GB" b="1" dirty="0"/>
              <a:t>Effect</a:t>
            </a:r>
          </a:p>
          <a:p>
            <a:r>
              <a:rPr lang="en-GB" dirty="0"/>
              <a:t>Dilation increases the temporal coverage without:</a:t>
            </a:r>
          </a:p>
          <a:p>
            <a:pPr lvl="1"/>
            <a:r>
              <a:rPr lang="en-GB" dirty="0"/>
              <a:t>increasing kernel size; </a:t>
            </a:r>
          </a:p>
          <a:p>
            <a:pPr lvl="1"/>
            <a:r>
              <a:rPr lang="en-GB" dirty="0"/>
              <a:t>introducing more filter coefficients.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78570440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04120" y="0"/>
            <a:ext cx="1828800" cy="6858000"/>
          </a:xfrm>
          <a:prstGeom prst="parallelogram">
            <a:avLst/>
          </a:prstGeom>
          <a:solidFill>
            <a:srgbClr val="86B817">
              <a:alpha val="92000"/>
            </a:srgbClr>
          </a:solidFill>
          <a:ln w="12700">
            <a:solidFill>
              <a:srgbClr val="86B8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835640" y="0"/>
            <a:ext cx="1188720" cy="6858000"/>
          </a:xfrm>
          <a:prstGeom prst="parallelogram">
            <a:avLst/>
          </a:prstGeom>
          <a:solidFill>
            <a:srgbClr val="5F8E2F">
              <a:alpha val="80000"/>
            </a:srgbClr>
          </a:solidFill>
          <a:ln w="12700">
            <a:solidFill>
              <a:srgbClr val="5F8E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9372600" y="0"/>
            <a:ext cx="1143000" cy="6858000"/>
          </a:xfrm>
          <a:prstGeom prst="parallelogram">
            <a:avLst/>
          </a:prstGeom>
          <a:solidFill>
            <a:srgbClr val="A6CE39">
              <a:alpha val="40000"/>
            </a:srgbClr>
          </a:solidFill>
          <a:ln w="12700">
            <a:solidFill>
              <a:srgbClr val="A6CE3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9281160" y="0"/>
            <a:ext cx="594360" cy="6858000"/>
          </a:xfrm>
          <a:prstGeom prst="line">
            <a:avLst/>
          </a:prstGeom>
          <a:noFill/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Standard versus dilated convolution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12648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75569"/>
                </a:solidFill>
              </a:rPr>
              <a:t>Same kernel size, larger temporal span</a:t>
            </a:r>
            <a:endParaRPr lang="en-US" sz="1150" b="1" dirty="0"/>
          </a:p>
        </p:txBody>
      </p:sp>
      <p:sp>
        <p:nvSpPr>
          <p:cNvPr id="8" name="Text 6"/>
          <p:cNvSpPr/>
          <p:nvPr/>
        </p:nvSpPr>
        <p:spPr>
          <a:xfrm>
            <a:off x="777240" y="15910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</a:rPr>
              <a:t>Dilation = 1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60120" y="1920240"/>
            <a:ext cx="60350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909828" y="186994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1412748" y="186994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1915668" y="186994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2418588" y="186994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2921508" y="186994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3424428" y="186994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3927348" y="186994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4430268" y="186994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4933188" y="186994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5436108" y="186994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5939028" y="186994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6441948" y="186994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6944868" y="186994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5939028" y="1869948"/>
            <a:ext cx="100584" cy="100584"/>
          </a:xfrm>
          <a:prstGeom prst="ellipse">
            <a:avLst/>
          </a:prstGeom>
          <a:solidFill>
            <a:srgbClr val="F1B400"/>
          </a:solidFill>
          <a:ln w="15240">
            <a:solidFill>
              <a:srgbClr val="F1B4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6441948" y="1869948"/>
            <a:ext cx="100584" cy="100584"/>
          </a:xfrm>
          <a:prstGeom prst="ellipse">
            <a:avLst/>
          </a:prstGeom>
          <a:solidFill>
            <a:srgbClr val="2B73FF"/>
          </a:solidFill>
          <a:ln w="15240">
            <a:solidFill>
              <a:srgbClr val="2B73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6944868" y="1869948"/>
            <a:ext cx="100584" cy="100584"/>
          </a:xfrm>
          <a:prstGeom prst="ellipse">
            <a:avLst/>
          </a:prstGeom>
          <a:solidFill>
            <a:srgbClr val="86B817"/>
          </a:solidFill>
          <a:ln w="15240">
            <a:solidFill>
              <a:srgbClr val="86B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5989320" y="1691640"/>
            <a:ext cx="1005840" cy="0"/>
          </a:xfrm>
          <a:prstGeom prst="line">
            <a:avLst/>
          </a:prstGeom>
          <a:noFill/>
          <a:ln w="25400">
            <a:solidFill>
              <a:srgbClr val="86B81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7360920" y="17556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uses x[t-2], x[t-1], x[t]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77240" y="26426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</a:rPr>
              <a:t>Dilation = 2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960120" y="2971800"/>
            <a:ext cx="60350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909828" y="292150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1412748" y="292150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1915668" y="292150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2418588" y="292150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2921508" y="292150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3424428" y="292150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3927348" y="292150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4430268" y="292150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4933188" y="292150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5436108" y="292150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5939028" y="292150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Shape 39"/>
          <p:cNvSpPr/>
          <p:nvPr/>
        </p:nvSpPr>
        <p:spPr>
          <a:xfrm>
            <a:off x="6441948" y="292150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Shape 40"/>
          <p:cNvSpPr/>
          <p:nvPr/>
        </p:nvSpPr>
        <p:spPr>
          <a:xfrm>
            <a:off x="6944868" y="292150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41"/>
          <p:cNvSpPr/>
          <p:nvPr/>
        </p:nvSpPr>
        <p:spPr>
          <a:xfrm>
            <a:off x="4933188" y="2921508"/>
            <a:ext cx="100584" cy="100584"/>
          </a:xfrm>
          <a:prstGeom prst="ellipse">
            <a:avLst/>
          </a:prstGeom>
          <a:solidFill>
            <a:srgbClr val="F1B400"/>
          </a:solidFill>
          <a:ln w="15240">
            <a:solidFill>
              <a:srgbClr val="F1B4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Shape 42"/>
          <p:cNvSpPr/>
          <p:nvPr/>
        </p:nvSpPr>
        <p:spPr>
          <a:xfrm>
            <a:off x="5939028" y="2921508"/>
            <a:ext cx="100584" cy="100584"/>
          </a:xfrm>
          <a:prstGeom prst="ellipse">
            <a:avLst/>
          </a:prstGeom>
          <a:solidFill>
            <a:srgbClr val="2B73FF"/>
          </a:solidFill>
          <a:ln w="15240">
            <a:solidFill>
              <a:srgbClr val="2B73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Shape 43"/>
          <p:cNvSpPr/>
          <p:nvPr/>
        </p:nvSpPr>
        <p:spPr>
          <a:xfrm>
            <a:off x="6944868" y="2921508"/>
            <a:ext cx="100584" cy="100584"/>
          </a:xfrm>
          <a:prstGeom prst="ellipse">
            <a:avLst/>
          </a:prstGeom>
          <a:solidFill>
            <a:srgbClr val="86B817"/>
          </a:solidFill>
          <a:ln w="15240">
            <a:solidFill>
              <a:srgbClr val="86B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Shape 44"/>
          <p:cNvSpPr/>
          <p:nvPr/>
        </p:nvSpPr>
        <p:spPr>
          <a:xfrm>
            <a:off x="4983480" y="2743200"/>
            <a:ext cx="2011680" cy="0"/>
          </a:xfrm>
          <a:prstGeom prst="line">
            <a:avLst/>
          </a:prstGeom>
          <a:noFill/>
          <a:ln w="25400">
            <a:solidFill>
              <a:srgbClr val="86B81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7360920" y="28072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uses x[t-4], x[t-2], x[t]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777240" y="36941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</a:rPr>
              <a:t>Dilation = 4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960120" y="4023360"/>
            <a:ext cx="60350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50" name="Shape 48"/>
          <p:cNvSpPr/>
          <p:nvPr/>
        </p:nvSpPr>
        <p:spPr>
          <a:xfrm>
            <a:off x="909828" y="397306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Shape 49"/>
          <p:cNvSpPr/>
          <p:nvPr/>
        </p:nvSpPr>
        <p:spPr>
          <a:xfrm>
            <a:off x="1412748" y="397306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Shape 50"/>
          <p:cNvSpPr/>
          <p:nvPr/>
        </p:nvSpPr>
        <p:spPr>
          <a:xfrm>
            <a:off x="1915668" y="397306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Shape 51"/>
          <p:cNvSpPr/>
          <p:nvPr/>
        </p:nvSpPr>
        <p:spPr>
          <a:xfrm>
            <a:off x="2418588" y="397306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Shape 52"/>
          <p:cNvSpPr/>
          <p:nvPr/>
        </p:nvSpPr>
        <p:spPr>
          <a:xfrm>
            <a:off x="2921508" y="397306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Shape 53"/>
          <p:cNvSpPr/>
          <p:nvPr/>
        </p:nvSpPr>
        <p:spPr>
          <a:xfrm>
            <a:off x="3424428" y="397306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Shape 54"/>
          <p:cNvSpPr/>
          <p:nvPr/>
        </p:nvSpPr>
        <p:spPr>
          <a:xfrm>
            <a:off x="3927348" y="397306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Shape 55"/>
          <p:cNvSpPr/>
          <p:nvPr/>
        </p:nvSpPr>
        <p:spPr>
          <a:xfrm>
            <a:off x="4430268" y="397306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Shape 56"/>
          <p:cNvSpPr/>
          <p:nvPr/>
        </p:nvSpPr>
        <p:spPr>
          <a:xfrm>
            <a:off x="4933188" y="397306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Shape 57"/>
          <p:cNvSpPr/>
          <p:nvPr/>
        </p:nvSpPr>
        <p:spPr>
          <a:xfrm>
            <a:off x="5436108" y="397306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Shape 58"/>
          <p:cNvSpPr/>
          <p:nvPr/>
        </p:nvSpPr>
        <p:spPr>
          <a:xfrm>
            <a:off x="5939028" y="397306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Shape 59"/>
          <p:cNvSpPr/>
          <p:nvPr/>
        </p:nvSpPr>
        <p:spPr>
          <a:xfrm>
            <a:off x="6441948" y="397306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" name="Shape 60"/>
          <p:cNvSpPr/>
          <p:nvPr/>
        </p:nvSpPr>
        <p:spPr>
          <a:xfrm>
            <a:off x="6944868" y="397306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Shape 61"/>
          <p:cNvSpPr/>
          <p:nvPr/>
        </p:nvSpPr>
        <p:spPr>
          <a:xfrm>
            <a:off x="2921508" y="3973068"/>
            <a:ext cx="100584" cy="100584"/>
          </a:xfrm>
          <a:prstGeom prst="ellipse">
            <a:avLst/>
          </a:prstGeom>
          <a:solidFill>
            <a:srgbClr val="F1B400"/>
          </a:solidFill>
          <a:ln w="15240">
            <a:solidFill>
              <a:srgbClr val="F1B4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Shape 62"/>
          <p:cNvSpPr/>
          <p:nvPr/>
        </p:nvSpPr>
        <p:spPr>
          <a:xfrm>
            <a:off x="4933188" y="3973068"/>
            <a:ext cx="100584" cy="100584"/>
          </a:xfrm>
          <a:prstGeom prst="ellipse">
            <a:avLst/>
          </a:prstGeom>
          <a:solidFill>
            <a:srgbClr val="2B73FF"/>
          </a:solidFill>
          <a:ln w="15240">
            <a:solidFill>
              <a:srgbClr val="2B73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Shape 63"/>
          <p:cNvSpPr/>
          <p:nvPr/>
        </p:nvSpPr>
        <p:spPr>
          <a:xfrm>
            <a:off x="6944868" y="3973068"/>
            <a:ext cx="100584" cy="100584"/>
          </a:xfrm>
          <a:prstGeom prst="ellipse">
            <a:avLst/>
          </a:prstGeom>
          <a:solidFill>
            <a:srgbClr val="86B817"/>
          </a:solidFill>
          <a:ln w="15240">
            <a:solidFill>
              <a:srgbClr val="86B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" name="Shape 64"/>
          <p:cNvSpPr/>
          <p:nvPr/>
        </p:nvSpPr>
        <p:spPr>
          <a:xfrm>
            <a:off x="2971800" y="3794760"/>
            <a:ext cx="4023360" cy="0"/>
          </a:xfrm>
          <a:prstGeom prst="line">
            <a:avLst/>
          </a:prstGeom>
          <a:noFill/>
          <a:ln w="25400">
            <a:solidFill>
              <a:srgbClr val="86B81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67" name="Text 65"/>
          <p:cNvSpPr/>
          <p:nvPr/>
        </p:nvSpPr>
        <p:spPr>
          <a:xfrm>
            <a:off x="7360920" y="38587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uses x[t-8], x[t-4], x[t]</a:t>
            </a:r>
            <a:endParaRPr lang="en-US" sz="1150" dirty="0"/>
          </a:p>
        </p:txBody>
      </p:sp>
      <p:sp>
        <p:nvSpPr>
          <p:cNvPr id="68" name="Text 66"/>
          <p:cNvSpPr/>
          <p:nvPr/>
        </p:nvSpPr>
        <p:spPr>
          <a:xfrm>
            <a:off x="685800" y="6263640"/>
            <a:ext cx="79552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475569"/>
                </a:solidFill>
              </a:rPr>
              <a:t>Dilation spaces the kernel positions apart while keeping the same number of learned weights.</a:t>
            </a:r>
            <a:endParaRPr lang="en-US" sz="1150" b="1" dirty="0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61A81B4-5311-D001-599F-86E3D77B3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Larger dilation gives larger temporal span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D7A2628-CB37-F40F-2BCD-8C9AD5285E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8"/>
            <a:ext cx="4847166" cy="4291011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For:</a:t>
            </a:r>
          </a:p>
          <a:p>
            <a:r>
              <a:rPr lang="en-GB" dirty="0"/>
              <a:t>K = 3</a:t>
            </a:r>
          </a:p>
          <a:p>
            <a:r>
              <a:rPr lang="en-GB" b="1" dirty="0"/>
              <a:t>Dilation 1</a:t>
            </a:r>
          </a:p>
          <a:p>
            <a:r>
              <a:rPr lang="en-GB" dirty="0"/>
              <a:t>Uses:</a:t>
            </a:r>
          </a:p>
          <a:p>
            <a:pPr lvl="1"/>
            <a:r>
              <a:rPr lang="en-GB" dirty="0"/>
              <a:t>x[t−2], x[t−1], x[t]</a:t>
            </a:r>
          </a:p>
          <a:p>
            <a:r>
              <a:rPr lang="en-GB" dirty="0"/>
              <a:t>Temporal span: 3</a:t>
            </a:r>
          </a:p>
          <a:p>
            <a:endParaRPr lang="en-GB" b="1" dirty="0"/>
          </a:p>
          <a:p>
            <a:r>
              <a:rPr lang="en-GB" b="1" dirty="0"/>
              <a:t>Dilation 2</a:t>
            </a:r>
          </a:p>
          <a:p>
            <a:r>
              <a:rPr lang="en-GB" dirty="0"/>
              <a:t>Uses:</a:t>
            </a:r>
          </a:p>
          <a:p>
            <a:pPr lvl="1"/>
            <a:r>
              <a:rPr lang="en-GB" dirty="0"/>
              <a:t>x[t−4], x[t−2], x[t]</a:t>
            </a:r>
          </a:p>
          <a:p>
            <a:r>
              <a:rPr lang="en-GB" dirty="0"/>
              <a:t>Temporal span: 5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EDA3DA0-7B36-C2E5-B9B7-49B216F812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43600" y="2160589"/>
            <a:ext cx="5854700" cy="4456111"/>
          </a:xfrm>
        </p:spPr>
        <p:txBody>
          <a:bodyPr>
            <a:normAutofit fontScale="92500" lnSpcReduction="20000"/>
          </a:bodyPr>
          <a:lstStyle/>
          <a:p>
            <a:r>
              <a:rPr lang="en-GB" b="1" dirty="0"/>
              <a:t>Dilation 4</a:t>
            </a:r>
          </a:p>
          <a:p>
            <a:r>
              <a:rPr lang="en-GB" dirty="0"/>
              <a:t>Uses:</a:t>
            </a:r>
          </a:p>
          <a:p>
            <a:pPr lvl="1"/>
            <a:r>
              <a:rPr lang="en-GB" dirty="0"/>
              <a:t>x[t−8], x[t−4], x[t]</a:t>
            </a:r>
          </a:p>
          <a:p>
            <a:r>
              <a:rPr lang="en-GB" dirty="0"/>
              <a:t>Temporal span: 9</a:t>
            </a:r>
          </a:p>
          <a:p>
            <a:endParaRPr lang="en-GB" b="1" dirty="0"/>
          </a:p>
          <a:p>
            <a:r>
              <a:rPr lang="en-GB" b="1" dirty="0"/>
              <a:t>Dilation 8</a:t>
            </a:r>
          </a:p>
          <a:p>
            <a:r>
              <a:rPr lang="en-GB" dirty="0"/>
              <a:t>Uses:</a:t>
            </a:r>
          </a:p>
          <a:p>
            <a:pPr lvl="1"/>
            <a:r>
              <a:rPr lang="en-GB" dirty="0"/>
              <a:t>x[t−16], x[t−8], x[t]</a:t>
            </a:r>
          </a:p>
          <a:p>
            <a:r>
              <a:rPr lang="en-GB" dirty="0"/>
              <a:t>Temporal span: 17</a:t>
            </a:r>
          </a:p>
          <a:p>
            <a:pPr marL="0" indent="0">
              <a:buNone/>
            </a:pPr>
            <a:endParaRPr lang="en-GB" b="1" dirty="0"/>
          </a:p>
          <a:p>
            <a:r>
              <a:rPr lang="en-GB" b="1" dirty="0"/>
              <a:t>The sampled positions become increasingly separated.</a:t>
            </a:r>
          </a:p>
          <a:p>
            <a:r>
              <a:rPr lang="en-GB" b="1" dirty="0"/>
              <a:t>The number of learned weights does not change.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89180471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ABD8E78-A4B5-6AEC-851C-B07B23502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highlight>
                  <a:srgbClr val="FFFF00"/>
                </a:highlight>
              </a:rPr>
              <a:t>Effective kernel span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A2C8876-66B7-9C53-21D9-7B41EBD756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8"/>
            <a:ext cx="5037666" cy="4494211"/>
          </a:xfrm>
        </p:spPr>
        <p:txBody>
          <a:bodyPr>
            <a:normAutofit fontScale="92500" lnSpcReduction="10000"/>
          </a:bodyPr>
          <a:lstStyle/>
          <a:p>
            <a:r>
              <a:rPr lang="en-GB" dirty="0">
                <a:highlight>
                  <a:srgbClr val="FFFF00"/>
                </a:highlight>
              </a:rPr>
              <a:t>For kernel size K and dilation D, the temporal span of one dilated kernel is:</a:t>
            </a:r>
          </a:p>
          <a:p>
            <a:r>
              <a:rPr lang="en-GB" b="1" dirty="0">
                <a:highlight>
                  <a:srgbClr val="FFFF00"/>
                </a:highlight>
              </a:rPr>
              <a:t>effective span = 1 + (K − 1) × D</a:t>
            </a:r>
          </a:p>
          <a:p>
            <a:r>
              <a:rPr lang="en-GB" b="1" dirty="0"/>
              <a:t>Example 1</a:t>
            </a:r>
          </a:p>
          <a:p>
            <a:pPr lvl="1"/>
            <a:r>
              <a:rPr lang="en-GB" dirty="0"/>
              <a:t>K = 3</a:t>
            </a:r>
          </a:p>
          <a:p>
            <a:pPr lvl="1"/>
            <a:r>
              <a:rPr lang="en-GB" dirty="0"/>
              <a:t>D = 1</a:t>
            </a:r>
          </a:p>
          <a:p>
            <a:pPr lvl="1"/>
            <a:r>
              <a:rPr lang="en-GB" dirty="0"/>
              <a:t>Then:</a:t>
            </a:r>
          </a:p>
          <a:p>
            <a:pPr lvl="1"/>
            <a:r>
              <a:rPr lang="en-GB" dirty="0"/>
              <a:t>1 + 2×1 = 3</a:t>
            </a:r>
          </a:p>
          <a:p>
            <a:r>
              <a:rPr lang="en-GB" b="1" dirty="0"/>
              <a:t>Example 2</a:t>
            </a:r>
          </a:p>
          <a:p>
            <a:pPr lvl="1"/>
            <a:r>
              <a:rPr lang="en-GB" dirty="0"/>
              <a:t>K = 3</a:t>
            </a:r>
          </a:p>
          <a:p>
            <a:pPr lvl="1"/>
            <a:r>
              <a:rPr lang="en-GB" dirty="0"/>
              <a:t>D = 4</a:t>
            </a:r>
          </a:p>
          <a:p>
            <a:pPr lvl="1"/>
            <a:r>
              <a:rPr lang="en-GB" dirty="0"/>
              <a:t>Then:</a:t>
            </a:r>
          </a:p>
          <a:p>
            <a:pPr lvl="1"/>
            <a:r>
              <a:rPr lang="en-GB" dirty="0"/>
              <a:t>1 + 2×4 = 9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8F48F5A-8869-0E20-A3AC-FDF7E5AD78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8370" y="2160589"/>
            <a:ext cx="5679630" cy="4494211"/>
          </a:xfrm>
        </p:spPr>
        <p:txBody>
          <a:bodyPr>
            <a:normAutofit fontScale="92500" lnSpcReduction="10000"/>
          </a:bodyPr>
          <a:lstStyle/>
          <a:p>
            <a:r>
              <a:rPr lang="en-GB" b="1" dirty="0"/>
              <a:t>Example 3</a:t>
            </a:r>
          </a:p>
          <a:p>
            <a:pPr lvl="1"/>
            <a:r>
              <a:rPr lang="en-GB" dirty="0"/>
              <a:t>K = 5</a:t>
            </a:r>
          </a:p>
          <a:p>
            <a:pPr lvl="1"/>
            <a:r>
              <a:rPr lang="en-GB" dirty="0"/>
              <a:t>D = 4</a:t>
            </a:r>
          </a:p>
          <a:p>
            <a:pPr lvl="1"/>
            <a:r>
              <a:rPr lang="en-GB" dirty="0"/>
              <a:t>Then:</a:t>
            </a:r>
          </a:p>
          <a:p>
            <a:pPr lvl="1"/>
            <a:r>
              <a:rPr lang="en-GB" dirty="0"/>
              <a:t>1 + 4×4 = 17</a:t>
            </a:r>
          </a:p>
          <a:p>
            <a:endParaRPr lang="en-GB" b="1" dirty="0"/>
          </a:p>
          <a:p>
            <a:r>
              <a:rPr lang="en-GB" dirty="0"/>
              <a:t>The </a:t>
            </a:r>
            <a:r>
              <a:rPr lang="en-GB" b="1" dirty="0"/>
              <a:t>number of kernel parameters</a:t>
            </a:r>
            <a:r>
              <a:rPr lang="en-GB" dirty="0"/>
              <a:t> still depends on K.</a:t>
            </a:r>
          </a:p>
          <a:p>
            <a:r>
              <a:rPr lang="en-GB" dirty="0"/>
              <a:t>The </a:t>
            </a:r>
            <a:r>
              <a:rPr lang="en-GB" b="1" dirty="0"/>
              <a:t>temporal span</a:t>
            </a:r>
            <a:r>
              <a:rPr lang="en-GB" dirty="0"/>
              <a:t> depends on both K and D.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53363720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04120" y="0"/>
            <a:ext cx="1828800" cy="6858000"/>
          </a:xfrm>
          <a:prstGeom prst="parallelogram">
            <a:avLst/>
          </a:prstGeom>
          <a:solidFill>
            <a:srgbClr val="86B817">
              <a:alpha val="92000"/>
            </a:srgbClr>
          </a:solidFill>
          <a:ln w="12700">
            <a:solidFill>
              <a:srgbClr val="86B8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835640" y="0"/>
            <a:ext cx="1188720" cy="6858000"/>
          </a:xfrm>
          <a:prstGeom prst="parallelogram">
            <a:avLst/>
          </a:prstGeom>
          <a:solidFill>
            <a:srgbClr val="5F8E2F">
              <a:alpha val="80000"/>
            </a:srgbClr>
          </a:solidFill>
          <a:ln w="12700">
            <a:solidFill>
              <a:srgbClr val="5F8E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9372600" y="0"/>
            <a:ext cx="1143000" cy="6858000"/>
          </a:xfrm>
          <a:prstGeom prst="parallelogram">
            <a:avLst/>
          </a:prstGeom>
          <a:solidFill>
            <a:srgbClr val="A6CE39">
              <a:alpha val="40000"/>
            </a:srgbClr>
          </a:solidFill>
          <a:ln w="12700">
            <a:solidFill>
              <a:srgbClr val="A6CE3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9281160" y="0"/>
            <a:ext cx="594360" cy="6858000"/>
          </a:xfrm>
          <a:prstGeom prst="line">
            <a:avLst/>
          </a:prstGeom>
          <a:noFill/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Effective span of a dilated kernel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12648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75569"/>
                </a:solidFill>
              </a:rPr>
              <a:t>Parameters depend on K</a:t>
            </a:r>
            <a:r>
              <a:rPr lang="en-US" sz="1150" dirty="0">
                <a:solidFill>
                  <a:srgbClr val="475569"/>
                </a:solidFill>
              </a:rPr>
              <a:t>; temporal span depends on K and 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12344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6B817"/>
                </a:solidFill>
                <a:highlight>
                  <a:srgbClr val="FFFF00"/>
                </a:highlight>
              </a:rPr>
              <a:t>effective span = 1 + (K − 1) × D</a:t>
            </a:r>
            <a:endParaRPr lang="en-US" sz="2400" dirty="0">
              <a:highlight>
                <a:srgbClr val="FFFF00"/>
              </a:highlight>
            </a:endParaRPr>
          </a:p>
        </p:txBody>
      </p:sp>
      <p:sp>
        <p:nvSpPr>
          <p:cNvPr id="9" name="Shape 7"/>
          <p:cNvSpPr/>
          <p:nvPr/>
        </p:nvSpPr>
        <p:spPr>
          <a:xfrm>
            <a:off x="914400" y="205740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EAF5D5"/>
          </a:solidFill>
          <a:ln w="13970">
            <a:solidFill>
              <a:srgbClr val="86B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969264" y="2103120"/>
            <a:ext cx="987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011680" y="205740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EAF5D5"/>
          </a:solidFill>
          <a:ln w="13970">
            <a:solidFill>
              <a:srgbClr val="86B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2066544" y="2103120"/>
            <a:ext cx="987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108960" y="205740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EAF5D5"/>
          </a:solidFill>
          <a:ln w="13970">
            <a:solidFill>
              <a:srgbClr val="86B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3163824" y="2103120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Span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205740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EAF5D5"/>
          </a:solidFill>
          <a:ln w="13970">
            <a:solidFill>
              <a:srgbClr val="86B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809744" y="210312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Sampled positions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256032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969264" y="2606040"/>
            <a:ext cx="987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011680" y="256032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2066544" y="2606040"/>
            <a:ext cx="987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</a:rPr>
              <a:t>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08960" y="256032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3163824" y="2606040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</a:rPr>
              <a:t>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56032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4809744" y="260604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</a:rPr>
              <a:t>t−2, t−1, 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14400" y="306324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969264" y="3108960"/>
            <a:ext cx="987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</a:rPr>
              <a:t>3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011680" y="306324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2066544" y="3108960"/>
            <a:ext cx="987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</a:rPr>
              <a:t>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108960" y="306324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3163824" y="3108960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</a:rPr>
              <a:t>9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306324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4809744" y="310896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</a:rPr>
              <a:t>t−8, t−4, 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14400" y="356616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969264" y="3611880"/>
            <a:ext cx="987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</a:rPr>
              <a:t>5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011680" y="356616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2066544" y="3611880"/>
            <a:ext cx="987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</a:rPr>
              <a:t>4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108960" y="356616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3163824" y="3611880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</a:rPr>
              <a:t>17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54880" y="356616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4809744" y="361188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</a:rPr>
              <a:t>t−16, t−12, t−8, t−4, 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097280" y="4800600"/>
            <a:ext cx="5559552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42" name="Shape 40"/>
          <p:cNvSpPr/>
          <p:nvPr/>
        </p:nvSpPr>
        <p:spPr>
          <a:xfrm>
            <a:off x="1046988" y="475030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41"/>
          <p:cNvSpPr/>
          <p:nvPr/>
        </p:nvSpPr>
        <p:spPr>
          <a:xfrm>
            <a:off x="1394460" y="475030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Shape 42"/>
          <p:cNvSpPr/>
          <p:nvPr/>
        </p:nvSpPr>
        <p:spPr>
          <a:xfrm>
            <a:off x="1741932" y="475030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Shape 43"/>
          <p:cNvSpPr/>
          <p:nvPr/>
        </p:nvSpPr>
        <p:spPr>
          <a:xfrm>
            <a:off x="2089404" y="475030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Shape 44"/>
          <p:cNvSpPr/>
          <p:nvPr/>
        </p:nvSpPr>
        <p:spPr>
          <a:xfrm>
            <a:off x="2436876" y="475030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Shape 45"/>
          <p:cNvSpPr/>
          <p:nvPr/>
        </p:nvSpPr>
        <p:spPr>
          <a:xfrm>
            <a:off x="2784348" y="475030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Shape 46"/>
          <p:cNvSpPr/>
          <p:nvPr/>
        </p:nvSpPr>
        <p:spPr>
          <a:xfrm>
            <a:off x="3131820" y="475030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3479292" y="475030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Shape 48"/>
          <p:cNvSpPr/>
          <p:nvPr/>
        </p:nvSpPr>
        <p:spPr>
          <a:xfrm>
            <a:off x="3826764" y="475030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Shape 49"/>
          <p:cNvSpPr/>
          <p:nvPr/>
        </p:nvSpPr>
        <p:spPr>
          <a:xfrm>
            <a:off x="4174236" y="475030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Shape 50"/>
          <p:cNvSpPr/>
          <p:nvPr/>
        </p:nvSpPr>
        <p:spPr>
          <a:xfrm>
            <a:off x="4521708" y="475030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Shape 51"/>
          <p:cNvSpPr/>
          <p:nvPr/>
        </p:nvSpPr>
        <p:spPr>
          <a:xfrm>
            <a:off x="4869180" y="475030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Shape 52"/>
          <p:cNvSpPr/>
          <p:nvPr/>
        </p:nvSpPr>
        <p:spPr>
          <a:xfrm>
            <a:off x="5216652" y="475030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Shape 53"/>
          <p:cNvSpPr/>
          <p:nvPr/>
        </p:nvSpPr>
        <p:spPr>
          <a:xfrm>
            <a:off x="5564124" y="475030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Shape 54"/>
          <p:cNvSpPr/>
          <p:nvPr/>
        </p:nvSpPr>
        <p:spPr>
          <a:xfrm>
            <a:off x="5911596" y="475030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Shape 55"/>
          <p:cNvSpPr/>
          <p:nvPr/>
        </p:nvSpPr>
        <p:spPr>
          <a:xfrm>
            <a:off x="6259068" y="475030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Shape 56"/>
          <p:cNvSpPr/>
          <p:nvPr/>
        </p:nvSpPr>
        <p:spPr>
          <a:xfrm>
            <a:off x="6606540" y="475030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Shape 57"/>
          <p:cNvSpPr/>
          <p:nvPr/>
        </p:nvSpPr>
        <p:spPr>
          <a:xfrm>
            <a:off x="1046988" y="4750308"/>
            <a:ext cx="100584" cy="100584"/>
          </a:xfrm>
          <a:prstGeom prst="ellipse">
            <a:avLst/>
          </a:prstGeom>
          <a:solidFill>
            <a:srgbClr val="F1B400"/>
          </a:solidFill>
          <a:ln w="15240">
            <a:solidFill>
              <a:srgbClr val="F1B4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Shape 58"/>
          <p:cNvSpPr/>
          <p:nvPr/>
        </p:nvSpPr>
        <p:spPr>
          <a:xfrm>
            <a:off x="3826764" y="4750308"/>
            <a:ext cx="100584" cy="100584"/>
          </a:xfrm>
          <a:prstGeom prst="ellipse">
            <a:avLst/>
          </a:prstGeom>
          <a:solidFill>
            <a:srgbClr val="2B73FF"/>
          </a:solidFill>
          <a:ln w="15240">
            <a:solidFill>
              <a:srgbClr val="2B73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Shape 59"/>
          <p:cNvSpPr/>
          <p:nvPr/>
        </p:nvSpPr>
        <p:spPr>
          <a:xfrm>
            <a:off x="6606540" y="4750308"/>
            <a:ext cx="100584" cy="100584"/>
          </a:xfrm>
          <a:prstGeom prst="ellipse">
            <a:avLst/>
          </a:prstGeom>
          <a:solidFill>
            <a:srgbClr val="86B817"/>
          </a:solidFill>
          <a:ln w="15240">
            <a:solidFill>
              <a:srgbClr val="86B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" name="Shape 60"/>
          <p:cNvSpPr/>
          <p:nvPr/>
        </p:nvSpPr>
        <p:spPr>
          <a:xfrm>
            <a:off x="1097280" y="4562856"/>
            <a:ext cx="5559552" cy="0"/>
          </a:xfrm>
          <a:prstGeom prst="line">
            <a:avLst/>
          </a:prstGeom>
          <a:noFill/>
          <a:ln w="25400">
            <a:solidFill>
              <a:srgbClr val="86B81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63" name="Text 61"/>
          <p:cNvSpPr/>
          <p:nvPr/>
        </p:nvSpPr>
        <p:spPr>
          <a:xfrm>
            <a:off x="1097280" y="5166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K = 3, D = 8 → span = 17 frames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685800" y="6263640"/>
            <a:ext cx="79552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75569"/>
                </a:solidFill>
              </a:rPr>
              <a:t>Dilation increases temporal span without increasing the number of kernel positions.</a:t>
            </a:r>
            <a:endParaRPr lang="en-US" sz="1150" dirty="0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038AE3D-55BE-1629-3075-0ADAA5C56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Stacking dilated convolutions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4281DF5-990D-4A2A-1926-8AEE65661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Dilation becomes especially effective when several layers are stacked.</a:t>
            </a:r>
          </a:p>
          <a:p>
            <a:r>
              <a:rPr lang="en-GB" b="1" dirty="0"/>
              <a:t>A common sequence is:</a:t>
            </a:r>
          </a:p>
          <a:p>
            <a:pPr lvl="1"/>
            <a:r>
              <a:rPr lang="en-GB" dirty="0"/>
              <a:t>Layer 1: dilation = 1</a:t>
            </a:r>
          </a:p>
          <a:p>
            <a:pPr lvl="1"/>
            <a:r>
              <a:rPr lang="en-GB" dirty="0"/>
              <a:t>Layer 2: dilation = 2</a:t>
            </a:r>
          </a:p>
          <a:p>
            <a:pPr lvl="1"/>
            <a:r>
              <a:rPr lang="en-GB" dirty="0"/>
              <a:t>Layer 3: dilation = 4</a:t>
            </a:r>
          </a:p>
          <a:p>
            <a:pPr lvl="1"/>
            <a:r>
              <a:rPr lang="en-GB" dirty="0"/>
              <a:t>Layer 4: dilation = 8</a:t>
            </a:r>
          </a:p>
          <a:p>
            <a:r>
              <a:rPr lang="en-GB" dirty="0"/>
              <a:t>Each deeper layer sees activations whose own receptive fields already cover previous input regions.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78145917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6B077-9907-5A7C-9857-23C1BCB57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7F7A045-CF11-4F2E-A27B-3F7D599FA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Stacking dilated convolutions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839CB2D-28EE-14AF-5958-B96C16F2C96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b="1" dirty="0"/>
              <a:t>Conceptual architecture</a:t>
            </a:r>
          </a:p>
          <a:p>
            <a:r>
              <a:rPr lang="en-GB" dirty="0"/>
              <a:t>input</a:t>
            </a:r>
          </a:p>
          <a:p>
            <a:r>
              <a:rPr lang="en-GB" dirty="0"/>
              <a:t>  ↓</a:t>
            </a:r>
          </a:p>
          <a:p>
            <a:r>
              <a:rPr lang="en-GB" dirty="0"/>
              <a:t>Conv dilation 1</a:t>
            </a:r>
          </a:p>
          <a:p>
            <a:r>
              <a:rPr lang="en-GB" dirty="0"/>
              <a:t>  ↓</a:t>
            </a:r>
          </a:p>
          <a:p>
            <a:r>
              <a:rPr lang="en-GB" dirty="0"/>
              <a:t>Conv dilation 2</a:t>
            </a:r>
          </a:p>
          <a:p>
            <a:r>
              <a:rPr lang="en-GB" dirty="0"/>
              <a:t>  ↓</a:t>
            </a:r>
          </a:p>
          <a:p>
            <a:r>
              <a:rPr lang="en-GB" dirty="0"/>
              <a:t>Conv dilation 4</a:t>
            </a:r>
          </a:p>
          <a:p>
            <a:r>
              <a:rPr lang="en-GB" dirty="0"/>
              <a:t>  ↓</a:t>
            </a:r>
          </a:p>
          <a:p>
            <a:r>
              <a:rPr lang="en-GB" dirty="0"/>
              <a:t>Conv dilation 8</a:t>
            </a:r>
          </a:p>
          <a:p>
            <a:r>
              <a:rPr lang="en-GB" dirty="0"/>
              <a:t>.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5832E62-8792-8D75-D8D3-B01EF41EF37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b="1" dirty="0">
                <a:highlight>
                  <a:srgbClr val="FFFF00"/>
                </a:highlight>
              </a:rPr>
              <a:t>Result</a:t>
            </a:r>
          </a:p>
          <a:p>
            <a:r>
              <a:rPr lang="en-GB" dirty="0">
                <a:highlight>
                  <a:srgbClr val="FFFF00"/>
                </a:highlight>
              </a:rPr>
              <a:t>The receptive field grows rapidly even when:</a:t>
            </a:r>
          </a:p>
          <a:p>
            <a:pPr lvl="1"/>
            <a:r>
              <a:rPr lang="en-GB" dirty="0"/>
              <a:t>kernel size stays small; </a:t>
            </a:r>
          </a:p>
          <a:p>
            <a:pPr lvl="1"/>
            <a:r>
              <a:rPr lang="en-GB" dirty="0"/>
              <a:t>stride stays 1; </a:t>
            </a:r>
          </a:p>
          <a:p>
            <a:pPr lvl="1"/>
            <a:r>
              <a:rPr lang="en-GB" dirty="0"/>
              <a:t>temporal resolution is preserved. </a:t>
            </a:r>
          </a:p>
          <a:p>
            <a:endParaRPr lang="en-GB" dirty="0"/>
          </a:p>
          <a:p>
            <a:r>
              <a:rPr lang="en-GB" b="1" dirty="0">
                <a:highlight>
                  <a:srgbClr val="FFFF00"/>
                </a:highlight>
              </a:rPr>
              <a:t>Exponentially increasing dilation provides long temporal context with relatively few layers</a:t>
            </a:r>
          </a:p>
        </p:txBody>
      </p:sp>
    </p:spTree>
    <p:extLst>
      <p:ext uri="{BB962C8B-B14F-4D97-AF65-F5344CB8AC3E}">
        <p14:creationId xmlns:p14="http://schemas.microsoft.com/office/powerpoint/2010/main" val="3798864367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9DFC848-C762-E422-9C0D-A24FDA3EF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of receptive-field growth with dilation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FE7BB98-62A4-76E7-7C47-2FCCBB308D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8"/>
            <a:ext cx="5151966" cy="4405311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Consider four causal convolutional layers with:</a:t>
            </a:r>
          </a:p>
          <a:p>
            <a:pPr lvl="1"/>
            <a:r>
              <a:rPr lang="en-GB" dirty="0"/>
              <a:t>kernel size K = 3; </a:t>
            </a:r>
          </a:p>
          <a:p>
            <a:pPr lvl="1"/>
            <a:r>
              <a:rPr lang="en-GB" dirty="0"/>
              <a:t>stride 1; </a:t>
            </a:r>
          </a:p>
          <a:p>
            <a:pPr lvl="1"/>
            <a:r>
              <a:rPr lang="en-GB" dirty="0"/>
              <a:t>dilations 1, 2, 4, 8. </a:t>
            </a:r>
          </a:p>
          <a:p>
            <a:endParaRPr lang="en-GB" dirty="0"/>
          </a:p>
          <a:p>
            <a:r>
              <a:rPr lang="en-GB" dirty="0"/>
              <a:t>The receptive field grows approximately as:</a:t>
            </a:r>
          </a:p>
          <a:p>
            <a:pPr lvl="1"/>
            <a:r>
              <a:rPr lang="en-GB" dirty="0"/>
              <a:t>Layer 1:  3 frames</a:t>
            </a:r>
          </a:p>
          <a:p>
            <a:pPr lvl="1"/>
            <a:r>
              <a:rPr lang="en-GB" dirty="0"/>
              <a:t>Layer 2:  7 frames</a:t>
            </a:r>
          </a:p>
          <a:p>
            <a:pPr lvl="1"/>
            <a:r>
              <a:rPr lang="en-GB" dirty="0"/>
              <a:t>Layer 3: 15 frames</a:t>
            </a:r>
          </a:p>
          <a:p>
            <a:pPr lvl="1"/>
            <a:r>
              <a:rPr lang="en-GB" dirty="0"/>
              <a:t>Layer 4: 31 frames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0C00B19-5C20-23B1-7D09-6CAE43E99A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7570" y="2046289"/>
            <a:ext cx="5781230" cy="4697411"/>
          </a:xfrm>
        </p:spPr>
        <p:txBody>
          <a:bodyPr>
            <a:normAutofit lnSpcReduction="10000"/>
          </a:bodyPr>
          <a:lstStyle/>
          <a:p>
            <a:r>
              <a:rPr lang="en-GB" b="1" dirty="0">
                <a:highlight>
                  <a:srgbClr val="FFFF00"/>
                </a:highlight>
              </a:rPr>
              <a:t>Compare with no dilation</a:t>
            </a:r>
          </a:p>
          <a:p>
            <a:r>
              <a:rPr lang="en-GB" dirty="0"/>
              <a:t>Four ordinary K = 3 convolutions give:</a:t>
            </a:r>
          </a:p>
          <a:p>
            <a:r>
              <a:rPr lang="en-GB" dirty="0"/>
              <a:t>9 frames</a:t>
            </a:r>
          </a:p>
          <a:p>
            <a:r>
              <a:rPr lang="en-GB" b="1" dirty="0">
                <a:highlight>
                  <a:srgbClr val="FFFF00"/>
                </a:highlight>
              </a:rPr>
              <a:t>With dilation</a:t>
            </a:r>
          </a:p>
          <a:p>
            <a:r>
              <a:rPr lang="en-GB" dirty="0"/>
              <a:t>The same number of layers gives:</a:t>
            </a:r>
          </a:p>
          <a:p>
            <a:r>
              <a:rPr lang="en-GB" dirty="0"/>
              <a:t>31 frames</a:t>
            </a:r>
          </a:p>
          <a:p>
            <a:r>
              <a:rPr lang="en-GB" b="1" dirty="0">
                <a:highlight>
                  <a:srgbClr val="FFFF00"/>
                </a:highlight>
              </a:rPr>
              <a:t>Interpretation</a:t>
            </a:r>
          </a:p>
          <a:p>
            <a:r>
              <a:rPr lang="en-GB" dirty="0"/>
              <a:t>The network can access a much longer history without:</a:t>
            </a:r>
          </a:p>
          <a:p>
            <a:pPr lvl="1"/>
            <a:r>
              <a:rPr lang="en-GB" dirty="0"/>
              <a:t>increasing depth dramatically; </a:t>
            </a:r>
          </a:p>
          <a:p>
            <a:pPr lvl="1"/>
            <a:r>
              <a:rPr lang="en-GB" b="1" dirty="0"/>
              <a:t>reducing output resolution. </a:t>
            </a:r>
          </a:p>
          <a:p>
            <a:r>
              <a:rPr lang="en-GB" dirty="0"/>
              <a:t>This is especially useful for long time-series sequences.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2846657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04120" y="0"/>
            <a:ext cx="1828800" cy="6858000"/>
          </a:xfrm>
          <a:prstGeom prst="parallelogram">
            <a:avLst/>
          </a:prstGeom>
          <a:solidFill>
            <a:srgbClr val="86B817">
              <a:alpha val="92000"/>
            </a:srgbClr>
          </a:solidFill>
          <a:ln w="12700">
            <a:solidFill>
              <a:srgbClr val="86B8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835640" y="0"/>
            <a:ext cx="1188720" cy="6858000"/>
          </a:xfrm>
          <a:prstGeom prst="parallelogram">
            <a:avLst/>
          </a:prstGeom>
          <a:solidFill>
            <a:srgbClr val="5F8E2F">
              <a:alpha val="80000"/>
            </a:srgbClr>
          </a:solidFill>
          <a:ln w="12700">
            <a:solidFill>
              <a:srgbClr val="5F8E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9372600" y="0"/>
            <a:ext cx="1143000" cy="6858000"/>
          </a:xfrm>
          <a:prstGeom prst="parallelogram">
            <a:avLst/>
          </a:prstGeom>
          <a:solidFill>
            <a:srgbClr val="A6CE39">
              <a:alpha val="40000"/>
            </a:srgbClr>
          </a:solidFill>
          <a:ln w="12700">
            <a:solidFill>
              <a:srgbClr val="A6CE3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9281160" y="0"/>
            <a:ext cx="594360" cy="6858000"/>
          </a:xfrm>
          <a:prstGeom prst="line">
            <a:avLst/>
          </a:prstGeom>
          <a:noFill/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Stacked dilations rapidly grow the receptive field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12648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Example with K = 3 and dilations 1, 2, 4, 8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005840" y="5074920"/>
            <a:ext cx="6309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955548" y="502462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1165860" y="502462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1376172" y="502462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1586484" y="502462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1796796" y="502462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2007108" y="502462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2217420" y="502462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2427732" y="502462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2638044" y="502462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2848356" y="502462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3058668" y="502462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3268980" y="502462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3479292" y="502462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3689604" y="502462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3899916" y="502462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4110228" y="502462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4320540" y="502462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4530852" y="502462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4741164" y="502462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4951476" y="502462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5161788" y="502462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5372100" y="502462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5582412" y="502462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5792724" y="502462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6003036" y="502462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6213348" y="502462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6423660" y="502462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6633972" y="502462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6844284" y="502462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7054596" y="502462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7264908" y="502462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777240" y="41422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B73FF"/>
                </a:solidFill>
              </a:rPr>
              <a:t>d=1  RF=3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894576" y="4956048"/>
            <a:ext cx="420624" cy="0"/>
          </a:xfrm>
          <a:prstGeom prst="line">
            <a:avLst/>
          </a:prstGeom>
          <a:noFill/>
          <a:ln w="38100">
            <a:solidFill>
              <a:srgbClr val="2B73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2" name="Shape 40"/>
          <p:cNvSpPr/>
          <p:nvPr/>
        </p:nvSpPr>
        <p:spPr>
          <a:xfrm>
            <a:off x="7772400" y="4041648"/>
            <a:ext cx="123444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3970">
            <a:solidFill>
              <a:srgbClr val="2B73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7827264" y="4087368"/>
            <a:ext cx="1124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73FF"/>
                </a:solidFill>
              </a:rPr>
              <a:t>Conv d=1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394192" y="4471416"/>
            <a:ext cx="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777240" y="336499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6B817"/>
                </a:solidFill>
              </a:rPr>
              <a:t>d=2  RF=7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053328" y="4956048"/>
            <a:ext cx="1261872" cy="0"/>
          </a:xfrm>
          <a:prstGeom prst="line">
            <a:avLst/>
          </a:prstGeom>
          <a:noFill/>
          <a:ln w="38100">
            <a:solidFill>
              <a:srgbClr val="86B81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7" name="Shape 45"/>
          <p:cNvSpPr/>
          <p:nvPr/>
        </p:nvSpPr>
        <p:spPr>
          <a:xfrm>
            <a:off x="7772400" y="3264408"/>
            <a:ext cx="123444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3970">
            <a:solidFill>
              <a:srgbClr val="86B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46"/>
          <p:cNvSpPr/>
          <p:nvPr/>
        </p:nvSpPr>
        <p:spPr>
          <a:xfrm>
            <a:off x="7827264" y="3310128"/>
            <a:ext cx="1124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6B817"/>
                </a:solidFill>
              </a:rPr>
              <a:t>Conv d=2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394192" y="3694176"/>
            <a:ext cx="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50" name="Text 48"/>
          <p:cNvSpPr/>
          <p:nvPr/>
        </p:nvSpPr>
        <p:spPr>
          <a:xfrm>
            <a:off x="777240" y="25877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1B400"/>
                </a:solidFill>
              </a:rPr>
              <a:t>d=4  RF=15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370832" y="4956048"/>
            <a:ext cx="2944368" cy="0"/>
          </a:xfrm>
          <a:prstGeom prst="line">
            <a:avLst/>
          </a:prstGeom>
          <a:noFill/>
          <a:ln w="38100">
            <a:solidFill>
              <a:srgbClr val="F1B4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52" name="Shape 50"/>
          <p:cNvSpPr/>
          <p:nvPr/>
        </p:nvSpPr>
        <p:spPr>
          <a:xfrm>
            <a:off x="7772400" y="2487168"/>
            <a:ext cx="123444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3970">
            <a:solidFill>
              <a:srgbClr val="F1B4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Text 51"/>
          <p:cNvSpPr/>
          <p:nvPr/>
        </p:nvSpPr>
        <p:spPr>
          <a:xfrm>
            <a:off x="7827264" y="2532888"/>
            <a:ext cx="1124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B400"/>
                </a:solidFill>
              </a:rPr>
              <a:t>Conv d=4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394192" y="2916936"/>
            <a:ext cx="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55" name="Text 53"/>
          <p:cNvSpPr/>
          <p:nvPr/>
        </p:nvSpPr>
        <p:spPr>
          <a:xfrm>
            <a:off x="777240" y="18105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</a:rPr>
              <a:t>d=8  RF=31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1005840" y="4956048"/>
            <a:ext cx="6309360" cy="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57" name="Shape 55"/>
          <p:cNvSpPr/>
          <p:nvPr/>
        </p:nvSpPr>
        <p:spPr>
          <a:xfrm>
            <a:off x="7772400" y="1709928"/>
            <a:ext cx="123444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397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Text 56"/>
          <p:cNvSpPr/>
          <p:nvPr/>
        </p:nvSpPr>
        <p:spPr>
          <a:xfrm>
            <a:off x="7827264" y="1755648"/>
            <a:ext cx="1124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</a:rPr>
              <a:t>Conv d=8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914400" y="1143000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475569"/>
                </a:solidFill>
              </a:rPr>
              <a:t>Four layers cover 31 input samples instead of 9 without dilation.</a:t>
            </a:r>
            <a:endParaRPr lang="en-US" sz="1700" dirty="0"/>
          </a:p>
        </p:txBody>
      </p:sp>
      <p:sp>
        <p:nvSpPr>
          <p:cNvPr id="60" name="Text 58"/>
          <p:cNvSpPr/>
          <p:nvPr/>
        </p:nvSpPr>
        <p:spPr>
          <a:xfrm>
            <a:off x="685800" y="6263640"/>
            <a:ext cx="79552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75569"/>
                </a:solidFill>
              </a:rPr>
              <a:t>Exponential dilation gives large historical context with few layers and no downsampling.</a:t>
            </a:r>
            <a:endParaRPr lang="en-US" sz="1150" dirty="0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04E0086-EAED-4775-AF8D-B5F5EF681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Physical meaning/interpretation of dilation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5C8A929-E2B2-E0A6-19C4-27CF4A9EF1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8"/>
            <a:ext cx="4991580" cy="4291011"/>
          </a:xfrm>
        </p:spPr>
        <p:txBody>
          <a:bodyPr>
            <a:normAutofit/>
          </a:bodyPr>
          <a:lstStyle/>
          <a:p>
            <a:r>
              <a:rPr lang="en-GB" dirty="0"/>
              <a:t>Suppose:</a:t>
            </a:r>
          </a:p>
          <a:p>
            <a:r>
              <a:rPr lang="en-GB" dirty="0"/>
              <a:t>Fs = 100 Hz</a:t>
            </a:r>
          </a:p>
          <a:p>
            <a:r>
              <a:rPr lang="en-GB" dirty="0"/>
              <a:t>and a causal layer uses:</a:t>
            </a:r>
          </a:p>
          <a:p>
            <a:pPr lvl="1"/>
            <a:r>
              <a:rPr lang="en-GB" dirty="0"/>
              <a:t>K = 3</a:t>
            </a:r>
          </a:p>
          <a:p>
            <a:pPr lvl="1"/>
            <a:r>
              <a:rPr lang="en-GB" dirty="0"/>
              <a:t>D = 10</a:t>
            </a:r>
          </a:p>
          <a:p>
            <a:r>
              <a:rPr lang="en-GB" dirty="0"/>
              <a:t>The kernel positions are separated by: 10 / 100 = 0.1 seconds</a:t>
            </a:r>
          </a:p>
          <a:p>
            <a:r>
              <a:rPr lang="en-GB" dirty="0"/>
              <a:t>The effective span is: 1 + 2×10 = 21 frames</a:t>
            </a:r>
          </a:p>
          <a:p>
            <a:r>
              <a:rPr lang="en-GB" dirty="0"/>
              <a:t>or approximately: 0.21 seconds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CFF346F-CDDA-9D45-4272-BDF80597B1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23087" y="2160589"/>
            <a:ext cx="5501830" cy="4570411"/>
          </a:xfrm>
        </p:spPr>
        <p:txBody>
          <a:bodyPr>
            <a:normAutofit/>
          </a:bodyPr>
          <a:lstStyle/>
          <a:p>
            <a:r>
              <a:rPr lang="en-GB" b="1" dirty="0"/>
              <a:t>Important point</a:t>
            </a:r>
          </a:p>
          <a:p>
            <a:r>
              <a:rPr lang="en-GB" b="1" dirty="0"/>
              <a:t>Dilation should also be interpreted in physical time.</a:t>
            </a:r>
          </a:p>
          <a:p>
            <a:r>
              <a:rPr lang="en-GB" b="1" dirty="0"/>
              <a:t>A dilation of 10 has very different meaning</a:t>
            </a:r>
            <a:r>
              <a:rPr lang="en-GB" dirty="0"/>
              <a:t> for:</a:t>
            </a:r>
          </a:p>
          <a:p>
            <a:pPr lvl="1"/>
            <a:r>
              <a:rPr lang="en-GB" dirty="0"/>
              <a:t>100 Hz vibration data; </a:t>
            </a:r>
          </a:p>
          <a:p>
            <a:pPr lvl="1"/>
            <a:r>
              <a:rPr lang="en-GB" dirty="0"/>
              <a:t>1 Hz process data; </a:t>
            </a:r>
          </a:p>
          <a:p>
            <a:pPr lvl="1"/>
            <a:r>
              <a:rPr lang="en-GB" dirty="0"/>
              <a:t>hourly demand data. </a:t>
            </a:r>
          </a:p>
          <a:p>
            <a:endParaRPr lang="en-GB" b="1" dirty="0"/>
          </a:p>
          <a:p>
            <a:r>
              <a:rPr lang="en-GB" b="1" dirty="0">
                <a:highlight>
                  <a:srgbClr val="FFFF00"/>
                </a:highlight>
              </a:rPr>
              <a:t>Design question</a:t>
            </a:r>
          </a:p>
          <a:p>
            <a:r>
              <a:rPr lang="en-GB" dirty="0"/>
              <a:t>What temporal scales should the network be able to connect directly?</a:t>
            </a:r>
          </a:p>
          <a:p>
            <a:endParaRPr lang="en-GB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D325979-570A-E1C8-50E0-562283F0F9AB}"/>
              </a:ext>
            </a:extLst>
          </p:cNvPr>
          <p:cNvSpPr txBox="1"/>
          <p:nvPr/>
        </p:nvSpPr>
        <p:spPr>
          <a:xfrm>
            <a:off x="677334" y="6248400"/>
            <a:ext cx="29675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86B817"/>
                </a:solidFill>
                <a:highlight>
                  <a:srgbClr val="FFFF00"/>
                </a:highlight>
              </a:rPr>
              <a:t>effective span = 1 + (K − 1) × D</a:t>
            </a:r>
            <a:endParaRPr lang="en-US" sz="1400" dirty="0">
              <a:highlight>
                <a:srgbClr val="FFFF00"/>
              </a:highlight>
            </a:endParaRPr>
          </a:p>
        </p:txBody>
      </p: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E33ABCD0-593B-0C5B-511B-B30CE23FC665}"/>
              </a:ext>
            </a:extLst>
          </p:cNvPr>
          <p:cNvCxnSpPr/>
          <p:nvPr/>
        </p:nvCxnSpPr>
        <p:spPr>
          <a:xfrm flipV="1">
            <a:off x="1981200" y="5092700"/>
            <a:ext cx="2603500" cy="1168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9670919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9333685-777C-B862-7EF2-EFA9273A7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Dilation preserves temporal resolution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2B880C4-AED6-1C6C-14EE-3336BACA99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5240866" cy="4418010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Consider two methods for increasing temporal context.</a:t>
            </a:r>
          </a:p>
          <a:p>
            <a:r>
              <a:rPr lang="en-GB" b="1" dirty="0" err="1"/>
              <a:t>Downsampling</a:t>
            </a:r>
            <a:endParaRPr lang="en-GB" b="1" dirty="0"/>
          </a:p>
          <a:p>
            <a:pPr lvl="1"/>
            <a:r>
              <a:rPr lang="en-GB" dirty="0"/>
              <a:t>Conv / pooling</a:t>
            </a:r>
          </a:p>
          <a:p>
            <a:pPr lvl="1"/>
            <a:r>
              <a:rPr lang="en-GB" dirty="0"/>
              <a:t>      ↓</a:t>
            </a:r>
          </a:p>
          <a:p>
            <a:pPr lvl="1"/>
            <a:r>
              <a:rPr lang="en-GB" dirty="0"/>
              <a:t>shorter sequence</a:t>
            </a:r>
          </a:p>
          <a:p>
            <a:r>
              <a:rPr lang="en-GB" dirty="0"/>
              <a:t>Advantage:</a:t>
            </a:r>
          </a:p>
          <a:p>
            <a:pPr lvl="1"/>
            <a:r>
              <a:rPr lang="en-GB" dirty="0"/>
              <a:t>efficient. </a:t>
            </a:r>
          </a:p>
          <a:p>
            <a:r>
              <a:rPr lang="en-GB" dirty="0"/>
              <a:t>Cost:</a:t>
            </a:r>
          </a:p>
          <a:p>
            <a:pPr lvl="1"/>
            <a:r>
              <a:rPr lang="en-GB" dirty="0"/>
              <a:t>lower temporal resolution. </a:t>
            </a:r>
          </a:p>
          <a:p>
            <a:r>
              <a:rPr lang="en-GB" b="1" dirty="0"/>
              <a:t>Dilation</a:t>
            </a:r>
          </a:p>
          <a:p>
            <a:pPr lvl="1"/>
            <a:r>
              <a:rPr lang="en-GB" dirty="0"/>
              <a:t>same number of output positions</a:t>
            </a:r>
          </a:p>
          <a:p>
            <a:pPr lvl="1"/>
            <a:r>
              <a:rPr lang="en-GB" dirty="0"/>
              <a:t>but kernel samples wider-spaced inputs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B09A67B-BA4B-7F72-E436-306AED70CA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19937" y="2225678"/>
            <a:ext cx="5108130" cy="4418011"/>
          </a:xfrm>
        </p:spPr>
        <p:txBody>
          <a:bodyPr>
            <a:normAutofit fontScale="92500" lnSpcReduction="10000"/>
          </a:bodyPr>
          <a:lstStyle/>
          <a:p>
            <a:r>
              <a:rPr lang="en-GB" b="1" dirty="0"/>
              <a:t>Advantage:</a:t>
            </a:r>
          </a:p>
          <a:p>
            <a:pPr lvl="1"/>
            <a:r>
              <a:rPr lang="en-GB" b="1" dirty="0"/>
              <a:t>larger receptive field; </a:t>
            </a:r>
          </a:p>
          <a:p>
            <a:pPr lvl="1"/>
            <a:r>
              <a:rPr lang="en-GB" b="1" dirty="0"/>
              <a:t>temporal resolution can stay unchanged. </a:t>
            </a:r>
          </a:p>
          <a:p>
            <a:r>
              <a:rPr lang="en-GB" b="1" dirty="0">
                <a:solidFill>
                  <a:schemeClr val="tx1"/>
                </a:solidFill>
                <a:highlight>
                  <a:srgbClr val="FFFF00"/>
                </a:highlight>
              </a:rPr>
              <a:t>Especially useful for</a:t>
            </a:r>
          </a:p>
          <a:p>
            <a:pPr lvl="1"/>
            <a:r>
              <a:rPr lang="en-GB" dirty="0"/>
              <a:t>sequence labelling — long context with dense, aligned outputs;</a:t>
            </a:r>
          </a:p>
          <a:p>
            <a:pPr lvl="1"/>
            <a:r>
              <a:rPr lang="en-GB" dirty="0"/>
              <a:t>online prediction — causal inference as data arrive;</a:t>
            </a:r>
          </a:p>
          <a:p>
            <a:pPr lvl="1"/>
            <a:r>
              <a:rPr lang="en-GB" dirty="0"/>
              <a:t>forecasting — long past context for future prediction;</a:t>
            </a:r>
          </a:p>
          <a:p>
            <a:pPr lvl="1"/>
            <a:r>
              <a:rPr lang="en-GB" dirty="0"/>
              <a:t>event detection — long-context pattern detection without coarse </a:t>
            </a:r>
            <a:r>
              <a:rPr lang="en-GB" dirty="0" err="1"/>
              <a:t>downsampling</a:t>
            </a:r>
            <a:r>
              <a:rPr lang="en-GB" dirty="0"/>
              <a:t>. </a:t>
            </a:r>
          </a:p>
          <a:p>
            <a:r>
              <a:rPr lang="en-GB" dirty="0"/>
              <a:t>where one output may still be required at every original time position.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74202784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04120" y="0"/>
            <a:ext cx="1828800" cy="6858000"/>
          </a:xfrm>
          <a:prstGeom prst="parallelogram">
            <a:avLst/>
          </a:prstGeom>
          <a:solidFill>
            <a:srgbClr val="86B817">
              <a:alpha val="92000"/>
            </a:srgbClr>
          </a:solidFill>
          <a:ln w="12700">
            <a:solidFill>
              <a:srgbClr val="86B8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835640" y="0"/>
            <a:ext cx="1188720" cy="6858000"/>
          </a:xfrm>
          <a:prstGeom prst="parallelogram">
            <a:avLst/>
          </a:prstGeom>
          <a:solidFill>
            <a:srgbClr val="5F8E2F">
              <a:alpha val="80000"/>
            </a:srgbClr>
          </a:solidFill>
          <a:ln w="12700">
            <a:solidFill>
              <a:srgbClr val="5F8E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9372600" y="0"/>
            <a:ext cx="1143000" cy="6858000"/>
          </a:xfrm>
          <a:prstGeom prst="parallelogram">
            <a:avLst/>
          </a:prstGeom>
          <a:solidFill>
            <a:srgbClr val="A6CE39">
              <a:alpha val="40000"/>
            </a:srgbClr>
          </a:solidFill>
          <a:ln w="12700">
            <a:solidFill>
              <a:srgbClr val="A6CE3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9281160" y="0"/>
            <a:ext cx="594360" cy="6858000"/>
          </a:xfrm>
          <a:prstGeom prst="line">
            <a:avLst/>
          </a:prstGeom>
          <a:noFill/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Dilation preserves temporal resolution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12648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Downsampling shortens the time grid; dilation keeps output positions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05840" y="1234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11827"/>
                </a:solidFill>
              </a:rPr>
              <a:t>Downsampling</a:t>
            </a:r>
            <a:r>
              <a:rPr lang="en-US" sz="1600" b="1" dirty="0">
                <a:solidFill>
                  <a:srgbClr val="111827"/>
                </a:solidFill>
              </a:rPr>
              <a:t> (stride or pooling)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05840" y="1965960"/>
            <a:ext cx="38404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955548" y="191566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1211580" y="191566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1467612" y="191566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1723644" y="191566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1979676" y="191566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2235708" y="191566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2491740" y="191566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2747772" y="191566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3003804" y="191566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3259836" y="191566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3515868" y="191566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3771900" y="191566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4027932" y="191566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4283964" y="191566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4539996" y="191566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4796028" y="191566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1920240" y="2331720"/>
            <a:ext cx="0" cy="32004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1005840" y="2834640"/>
            <a:ext cx="358444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955548" y="278434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1467612" y="278434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1979676" y="278434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2491740" y="278434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3003804" y="278434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3515868" y="278434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4027932" y="278434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4539996" y="278434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5303520" y="26517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fewer output positions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005840" y="3703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Dilation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005840" y="4434840"/>
            <a:ext cx="38404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955548" y="438454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1211580" y="438454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Shape 39"/>
          <p:cNvSpPr/>
          <p:nvPr/>
        </p:nvSpPr>
        <p:spPr>
          <a:xfrm>
            <a:off x="1467612" y="438454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Shape 40"/>
          <p:cNvSpPr/>
          <p:nvPr/>
        </p:nvSpPr>
        <p:spPr>
          <a:xfrm>
            <a:off x="1723644" y="438454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41"/>
          <p:cNvSpPr/>
          <p:nvPr/>
        </p:nvSpPr>
        <p:spPr>
          <a:xfrm>
            <a:off x="1979676" y="438454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Shape 42"/>
          <p:cNvSpPr/>
          <p:nvPr/>
        </p:nvSpPr>
        <p:spPr>
          <a:xfrm>
            <a:off x="2235708" y="438454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Shape 43"/>
          <p:cNvSpPr/>
          <p:nvPr/>
        </p:nvSpPr>
        <p:spPr>
          <a:xfrm>
            <a:off x="2491740" y="438454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Shape 44"/>
          <p:cNvSpPr/>
          <p:nvPr/>
        </p:nvSpPr>
        <p:spPr>
          <a:xfrm>
            <a:off x="2747772" y="438454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Shape 45"/>
          <p:cNvSpPr/>
          <p:nvPr/>
        </p:nvSpPr>
        <p:spPr>
          <a:xfrm>
            <a:off x="3003804" y="438454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Shape 46"/>
          <p:cNvSpPr/>
          <p:nvPr/>
        </p:nvSpPr>
        <p:spPr>
          <a:xfrm>
            <a:off x="3259836" y="438454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3515868" y="438454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Shape 48"/>
          <p:cNvSpPr/>
          <p:nvPr/>
        </p:nvSpPr>
        <p:spPr>
          <a:xfrm>
            <a:off x="3771900" y="438454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Shape 49"/>
          <p:cNvSpPr/>
          <p:nvPr/>
        </p:nvSpPr>
        <p:spPr>
          <a:xfrm>
            <a:off x="4027932" y="438454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Shape 50"/>
          <p:cNvSpPr/>
          <p:nvPr/>
        </p:nvSpPr>
        <p:spPr>
          <a:xfrm>
            <a:off x="4283964" y="438454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Shape 51"/>
          <p:cNvSpPr/>
          <p:nvPr/>
        </p:nvSpPr>
        <p:spPr>
          <a:xfrm>
            <a:off x="4539996" y="438454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Shape 52"/>
          <p:cNvSpPr/>
          <p:nvPr/>
        </p:nvSpPr>
        <p:spPr>
          <a:xfrm>
            <a:off x="4796028" y="438454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Shape 53"/>
          <p:cNvSpPr/>
          <p:nvPr/>
        </p:nvSpPr>
        <p:spPr>
          <a:xfrm>
            <a:off x="2747772" y="4384548"/>
            <a:ext cx="100584" cy="100584"/>
          </a:xfrm>
          <a:prstGeom prst="ellipse">
            <a:avLst/>
          </a:prstGeom>
          <a:solidFill>
            <a:srgbClr val="F1B400"/>
          </a:solidFill>
          <a:ln w="15240">
            <a:solidFill>
              <a:srgbClr val="F1B4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Shape 54"/>
          <p:cNvSpPr/>
          <p:nvPr/>
        </p:nvSpPr>
        <p:spPr>
          <a:xfrm>
            <a:off x="3771900" y="4384548"/>
            <a:ext cx="100584" cy="100584"/>
          </a:xfrm>
          <a:prstGeom prst="ellipse">
            <a:avLst/>
          </a:prstGeom>
          <a:solidFill>
            <a:srgbClr val="2B73FF"/>
          </a:solidFill>
          <a:ln w="15240">
            <a:solidFill>
              <a:srgbClr val="2B73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Shape 55"/>
          <p:cNvSpPr/>
          <p:nvPr/>
        </p:nvSpPr>
        <p:spPr>
          <a:xfrm>
            <a:off x="4796028" y="4384548"/>
            <a:ext cx="100584" cy="100584"/>
          </a:xfrm>
          <a:prstGeom prst="ellipse">
            <a:avLst/>
          </a:prstGeom>
          <a:solidFill>
            <a:srgbClr val="86B817"/>
          </a:solidFill>
          <a:ln w="15240">
            <a:solidFill>
              <a:srgbClr val="86B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Text 56"/>
          <p:cNvSpPr/>
          <p:nvPr/>
        </p:nvSpPr>
        <p:spPr>
          <a:xfrm>
            <a:off x="4983480" y="425196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same output grid, wider-spaced inputs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7452360" y="182880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FEE2E2"/>
          </a:solidFill>
          <a:ln w="1397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Text 58"/>
          <p:cNvSpPr/>
          <p:nvPr/>
        </p:nvSpPr>
        <p:spPr>
          <a:xfrm>
            <a:off x="7507224" y="1874520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</a:rPr>
              <a:t>Resolution ↓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7452360" y="416052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EAF5D5"/>
          </a:solidFill>
          <a:ln w="13970">
            <a:solidFill>
              <a:srgbClr val="86B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" name="Text 60"/>
          <p:cNvSpPr/>
          <p:nvPr/>
        </p:nvSpPr>
        <p:spPr>
          <a:xfrm>
            <a:off x="7507224" y="4206240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6B817"/>
                </a:solidFill>
              </a:rPr>
              <a:t>Resolution kept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685800" y="6263640"/>
            <a:ext cx="79552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75569"/>
                </a:solidFill>
              </a:rPr>
              <a:t>Dilation expands context while avoiding the temporal coarsening caused by stride or pooling.</a:t>
            </a:r>
            <a:endParaRPr lang="en-US" sz="1150" dirty="0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0B7EB2-6773-68FF-6214-05B57B1E8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highlight>
                  <a:srgbClr val="FFFF00"/>
                </a:highlight>
              </a:rPr>
              <a:t>Dilation</a:t>
            </a:r>
            <a:r>
              <a:rPr lang="en-GB" dirty="0"/>
              <a:t> creates </a:t>
            </a:r>
            <a:r>
              <a:rPr lang="en-GB" dirty="0">
                <a:highlight>
                  <a:srgbClr val="FFFF00"/>
                </a:highlight>
              </a:rPr>
              <a:t>sparse temporal sampling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AA322FD-4BD4-0A7E-E4FD-38727A101D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Large dilation means that one kernel uses only selected positions within its temporal span.</a:t>
            </a:r>
          </a:p>
          <a:p>
            <a:r>
              <a:rPr lang="en-GB" dirty="0"/>
              <a:t>Example:</a:t>
            </a:r>
          </a:p>
          <a:p>
            <a:r>
              <a:rPr lang="en-GB" dirty="0"/>
              <a:t>K = 3, D = 8</a:t>
            </a:r>
          </a:p>
          <a:p>
            <a:r>
              <a:rPr lang="en-GB" dirty="0"/>
              <a:t>uses: x[t−16], x[t−8], x[t]</a:t>
            </a:r>
          </a:p>
          <a:p>
            <a:r>
              <a:rPr lang="en-GB" dirty="0"/>
              <a:t>but does not directly use: x[t−15], x[t−14], ...</a:t>
            </a:r>
          </a:p>
          <a:p>
            <a:r>
              <a:rPr lang="en-GB" dirty="0"/>
              <a:t>in that single convolution.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9420097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2E61A-B391-7458-D24D-4C0C60F3A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42B7EF2-F08C-D06B-9A91-E87C27516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Dilation creates sparse temporal sampling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9FF336D-F394-9A7C-B7EA-8D8D494857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9177866" cy="4240211"/>
          </a:xfrm>
        </p:spPr>
        <p:txBody>
          <a:bodyPr>
            <a:normAutofit fontScale="92500" lnSpcReduction="20000"/>
          </a:bodyPr>
          <a:lstStyle/>
          <a:p>
            <a:r>
              <a:rPr lang="en-GB" b="1" dirty="0">
                <a:highlight>
                  <a:srgbClr val="FFFF00"/>
                </a:highlight>
              </a:rPr>
              <a:t>Potential concern</a:t>
            </a:r>
          </a:p>
          <a:p>
            <a:pPr lvl="1"/>
            <a:r>
              <a:rPr lang="en-GB" dirty="0"/>
              <a:t>Very large dilation may skip important local details.</a:t>
            </a:r>
          </a:p>
          <a:p>
            <a:pPr lvl="1"/>
            <a:r>
              <a:rPr lang="en-GB" dirty="0"/>
              <a:t>This can produce sparse coverage patterns sometimes described as </a:t>
            </a:r>
            <a:r>
              <a:rPr lang="en-GB" b="1" dirty="0"/>
              <a:t>gridding effects</a:t>
            </a:r>
            <a:r>
              <a:rPr lang="en-GB" dirty="0"/>
              <a:t>.</a:t>
            </a:r>
          </a:p>
          <a:p>
            <a:r>
              <a:rPr lang="en-GB" b="1" dirty="0"/>
              <a:t>How is this mitigated?</a:t>
            </a:r>
          </a:p>
          <a:p>
            <a:r>
              <a:rPr lang="en-GB" dirty="0"/>
              <a:t>Common strategies include:</a:t>
            </a:r>
          </a:p>
          <a:p>
            <a:pPr lvl="1"/>
            <a:r>
              <a:rPr lang="en-GB" dirty="0"/>
              <a:t>stacking different dilation rates; </a:t>
            </a:r>
          </a:p>
          <a:p>
            <a:pPr lvl="1"/>
            <a:r>
              <a:rPr lang="en-GB" dirty="0"/>
              <a:t>combining ordinary and dilated convolutions; </a:t>
            </a:r>
          </a:p>
          <a:p>
            <a:pPr lvl="1"/>
            <a:r>
              <a:rPr lang="en-GB" b="1" dirty="0"/>
              <a:t>repeating dilation cycles; </a:t>
            </a:r>
          </a:p>
          <a:p>
            <a:pPr lvl="1"/>
            <a:r>
              <a:rPr lang="en-GB" dirty="0"/>
              <a:t>Stacking layers with different dilations allows information from nearby time points to be combined locally before being integrated over longer temporal ranges. </a:t>
            </a:r>
          </a:p>
          <a:p>
            <a:endParaRPr lang="en-GB" b="1" dirty="0"/>
          </a:p>
          <a:p>
            <a:r>
              <a:rPr lang="en-GB" dirty="0"/>
              <a:t>Large dilations increase the receptive field efficiently, but they sample the input sparsely. Local temporal patterns should therefore be captured by smaller-dilation layers before or alongside the larger-dilation layers.</a:t>
            </a:r>
          </a:p>
        </p:txBody>
      </p:sp>
    </p:spTree>
    <p:extLst>
      <p:ext uri="{BB962C8B-B14F-4D97-AF65-F5344CB8AC3E}">
        <p14:creationId xmlns:p14="http://schemas.microsoft.com/office/powerpoint/2010/main" val="1270981713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04120" y="0"/>
            <a:ext cx="1828800" cy="6858000"/>
          </a:xfrm>
          <a:prstGeom prst="parallelogram">
            <a:avLst/>
          </a:prstGeom>
          <a:solidFill>
            <a:srgbClr val="86B817">
              <a:alpha val="92000"/>
            </a:srgbClr>
          </a:solidFill>
          <a:ln w="12700">
            <a:solidFill>
              <a:srgbClr val="86B8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835640" y="0"/>
            <a:ext cx="1188720" cy="6858000"/>
          </a:xfrm>
          <a:prstGeom prst="parallelogram">
            <a:avLst/>
          </a:prstGeom>
          <a:solidFill>
            <a:srgbClr val="5F8E2F">
              <a:alpha val="80000"/>
            </a:srgbClr>
          </a:solidFill>
          <a:ln w="12700">
            <a:solidFill>
              <a:srgbClr val="5F8E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9372600" y="0"/>
            <a:ext cx="1143000" cy="6858000"/>
          </a:xfrm>
          <a:prstGeom prst="parallelogram">
            <a:avLst/>
          </a:prstGeom>
          <a:solidFill>
            <a:srgbClr val="A6CE39">
              <a:alpha val="40000"/>
            </a:srgbClr>
          </a:solidFill>
          <a:ln w="12700">
            <a:solidFill>
              <a:srgbClr val="A6CE3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9281160" y="0"/>
            <a:ext cx="594360" cy="6858000"/>
          </a:xfrm>
          <a:prstGeom prst="line">
            <a:avLst/>
          </a:prstGeom>
          <a:noFill/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Large dilation creates sparse sampling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12648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Good for context, </a:t>
            </a:r>
            <a:r>
              <a:rPr lang="en-US" sz="1150" b="1" dirty="0">
                <a:solidFill>
                  <a:srgbClr val="475569"/>
                </a:solidFill>
              </a:rPr>
              <a:t>but local structure must still be represented</a:t>
            </a:r>
            <a:endParaRPr lang="en-US" sz="1150" b="1" dirty="0"/>
          </a:p>
        </p:txBody>
      </p:sp>
      <p:sp>
        <p:nvSpPr>
          <p:cNvPr id="8" name="Shape 6"/>
          <p:cNvSpPr/>
          <p:nvPr/>
        </p:nvSpPr>
        <p:spPr>
          <a:xfrm>
            <a:off x="914400" y="2926080"/>
            <a:ext cx="73152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864108" y="287578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1156716" y="287578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1449324" y="287578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1741932" y="287578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2034540" y="287578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2327148" y="287578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2619756" y="287578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2912364" y="287578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3204972" y="287578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3497580" y="287578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3790188" y="287578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4082796" y="287578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4375404" y="287578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4668012" y="287578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4960620" y="287578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5253228" y="287578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5545836" y="287578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5838444" y="287578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6131052" y="287578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6423660" y="287578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6716268" y="287578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7008876" y="287578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7301484" y="287578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7594092" y="287578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7886700" y="287578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8179308" y="287578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3502152" y="2606040"/>
            <a:ext cx="502920" cy="182880"/>
          </a:xfrm>
          <a:prstGeom prst="rect">
            <a:avLst/>
          </a:prstGeom>
          <a:solidFill>
            <a:srgbClr val="FDE68A"/>
          </a:solidFill>
          <a:ln w="12700">
            <a:solidFill>
              <a:srgbClr val="F1B4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3372307" y="22128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1B400"/>
                </a:solidFill>
              </a:rPr>
              <a:t>short local event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327148" y="2875788"/>
            <a:ext cx="100584" cy="100584"/>
          </a:xfrm>
          <a:prstGeom prst="ellipse">
            <a:avLst/>
          </a:prstGeom>
          <a:solidFill>
            <a:srgbClr val="F1B400"/>
          </a:solidFill>
          <a:ln w="15240">
            <a:solidFill>
              <a:srgbClr val="F1B4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4668012" y="2875788"/>
            <a:ext cx="100584" cy="100584"/>
          </a:xfrm>
          <a:prstGeom prst="ellipse">
            <a:avLst/>
          </a:prstGeom>
          <a:solidFill>
            <a:srgbClr val="2B73FF"/>
          </a:solidFill>
          <a:ln w="15240">
            <a:solidFill>
              <a:srgbClr val="2B73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7008876" y="2875788"/>
            <a:ext cx="100584" cy="100584"/>
          </a:xfrm>
          <a:prstGeom prst="ellipse">
            <a:avLst/>
          </a:prstGeom>
          <a:solidFill>
            <a:srgbClr val="86B817"/>
          </a:solidFill>
          <a:ln w="15240">
            <a:solidFill>
              <a:srgbClr val="86B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2377440" y="2715768"/>
            <a:ext cx="4681728" cy="0"/>
          </a:xfrm>
          <a:prstGeom prst="line">
            <a:avLst/>
          </a:prstGeom>
          <a:noFill/>
          <a:ln w="25400">
            <a:solidFill>
              <a:srgbClr val="86B81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914400" y="1417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</a:rPr>
              <a:t>K = 3, D = 8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914400" y="3977640"/>
            <a:ext cx="41148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00" dirty="0">
                <a:solidFill>
                  <a:srgbClr val="475569"/>
                </a:solidFill>
              </a:rPr>
              <a:t>The kernel spans a long interval.</a:t>
            </a:r>
            <a:endParaRPr lang="en-US" sz="1300" dirty="0"/>
          </a:p>
          <a:p>
            <a:r>
              <a:rPr lang="en-US" sz="1300" dirty="0">
                <a:solidFill>
                  <a:srgbClr val="475569"/>
                </a:solidFill>
              </a:rPr>
              <a:t>Only selected positions are directly sampled.</a:t>
            </a:r>
            <a:endParaRPr lang="en-US" sz="1300" dirty="0"/>
          </a:p>
          <a:p>
            <a:r>
              <a:rPr lang="en-US" sz="1300" b="1" dirty="0">
                <a:solidFill>
                  <a:srgbClr val="475569"/>
                </a:solidFill>
              </a:rPr>
              <a:t>Intermediate layers or mixed dilations should capture local details.</a:t>
            </a:r>
            <a:endParaRPr lang="en-US" sz="1300" b="1" dirty="0"/>
          </a:p>
        </p:txBody>
      </p:sp>
      <p:sp>
        <p:nvSpPr>
          <p:cNvPr id="43" name="Shape 41"/>
          <p:cNvSpPr/>
          <p:nvPr/>
        </p:nvSpPr>
        <p:spPr>
          <a:xfrm>
            <a:off x="5760720" y="388620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EAF5D5"/>
          </a:solidFill>
          <a:ln w="13970">
            <a:solidFill>
              <a:srgbClr val="86B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/>
          <p:nvPr/>
        </p:nvSpPr>
        <p:spPr>
          <a:xfrm>
            <a:off x="5815584" y="3931920"/>
            <a:ext cx="2633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</a:rPr>
              <a:t>Mitigation: stack several dilation rates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85800" y="6263640"/>
            <a:ext cx="79552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475569"/>
                </a:solidFill>
              </a:rPr>
              <a:t>Large dilation should be paired with layers that still capture dense local structure</a:t>
            </a:r>
            <a:r>
              <a:rPr lang="en-US" sz="1200" i="1" dirty="0">
                <a:solidFill>
                  <a:srgbClr val="475569"/>
                </a:solidFill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FD6A9CB-7AAB-43F8-5AE7-97821DDF0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Dilation does not automatically imply causality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9F7AD27-C7CD-5953-43B5-0FFDA7F4D8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8"/>
            <a:ext cx="4402666" cy="4087811"/>
          </a:xfrm>
        </p:spPr>
        <p:txBody>
          <a:bodyPr>
            <a:normAutofit/>
          </a:bodyPr>
          <a:lstStyle/>
          <a:p>
            <a:r>
              <a:rPr lang="en-GB" dirty="0"/>
              <a:t>Dilation and causality are separate concepts.</a:t>
            </a:r>
          </a:p>
          <a:p>
            <a:r>
              <a:rPr lang="en-GB" dirty="0"/>
              <a:t>A convolution can be:</a:t>
            </a:r>
          </a:p>
          <a:p>
            <a:pPr lvl="1"/>
            <a:r>
              <a:rPr lang="en-GB" dirty="0"/>
              <a:t>dilated and causal; </a:t>
            </a:r>
          </a:p>
          <a:p>
            <a:pPr lvl="1"/>
            <a:r>
              <a:rPr lang="en-GB" dirty="0"/>
              <a:t>dilated and non-causal; </a:t>
            </a:r>
          </a:p>
          <a:p>
            <a:pPr lvl="1"/>
            <a:r>
              <a:rPr lang="en-GB" dirty="0"/>
              <a:t>non-dilated and causal; </a:t>
            </a:r>
          </a:p>
          <a:p>
            <a:pPr lvl="1"/>
            <a:r>
              <a:rPr lang="en-GB" dirty="0"/>
              <a:t>non-dilated and non-causal. 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ED75D5B-FE0F-94B7-8D41-2C97512477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85270" y="2160589"/>
            <a:ext cx="6162230" cy="4443411"/>
          </a:xfrm>
        </p:spPr>
        <p:txBody>
          <a:bodyPr>
            <a:normAutofit/>
          </a:bodyPr>
          <a:lstStyle/>
          <a:p>
            <a:r>
              <a:rPr lang="en-GB" b="1" dirty="0"/>
              <a:t>Dilated causal example</a:t>
            </a:r>
          </a:p>
          <a:p>
            <a:pPr lvl="1"/>
            <a:r>
              <a:rPr lang="en-GB" dirty="0"/>
              <a:t>At time t: x[t−8], x[t−4], x[t]</a:t>
            </a:r>
          </a:p>
          <a:p>
            <a:r>
              <a:rPr lang="en-GB" b="1" dirty="0"/>
              <a:t>Dilated non-causal example</a:t>
            </a:r>
          </a:p>
          <a:p>
            <a:pPr lvl="1"/>
            <a:r>
              <a:rPr lang="en-GB" dirty="0"/>
              <a:t>A </a:t>
            </a:r>
            <a:r>
              <a:rPr lang="en-GB" dirty="0" err="1"/>
              <a:t>centered</a:t>
            </a:r>
            <a:r>
              <a:rPr lang="en-GB" dirty="0"/>
              <a:t> kernel could use x[t−4], x[t], x[t+4]</a:t>
            </a:r>
          </a:p>
          <a:p>
            <a:pPr lvl="1"/>
            <a:r>
              <a:rPr lang="en-GB" dirty="0"/>
              <a:t>which includes future information.</a:t>
            </a:r>
          </a:p>
          <a:p>
            <a:endParaRPr lang="en-GB" dirty="0"/>
          </a:p>
          <a:p>
            <a:r>
              <a:rPr lang="en-GB" b="1" dirty="0">
                <a:highlight>
                  <a:srgbClr val="FFFF00"/>
                </a:highlight>
              </a:rPr>
              <a:t>Dilation controls spacing; causality controls direction in time.</a:t>
            </a:r>
          </a:p>
          <a:p>
            <a:r>
              <a:rPr lang="en-GB" b="1" dirty="0">
                <a:highlight>
                  <a:srgbClr val="FFFF00"/>
                </a:highlight>
              </a:rPr>
              <a:t>For forecasting, both requirements must be handled correctly.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64871777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04120" y="0"/>
            <a:ext cx="1828800" cy="6858000"/>
          </a:xfrm>
          <a:prstGeom prst="parallelogram">
            <a:avLst/>
          </a:prstGeom>
          <a:solidFill>
            <a:srgbClr val="86B817">
              <a:alpha val="92000"/>
            </a:srgbClr>
          </a:solidFill>
          <a:ln w="12700">
            <a:solidFill>
              <a:srgbClr val="86B8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835640" y="0"/>
            <a:ext cx="1188720" cy="6858000"/>
          </a:xfrm>
          <a:prstGeom prst="parallelogram">
            <a:avLst/>
          </a:prstGeom>
          <a:solidFill>
            <a:srgbClr val="5F8E2F">
              <a:alpha val="80000"/>
            </a:srgbClr>
          </a:solidFill>
          <a:ln w="12700">
            <a:solidFill>
              <a:srgbClr val="5F8E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9372600" y="0"/>
            <a:ext cx="1143000" cy="6858000"/>
          </a:xfrm>
          <a:prstGeom prst="parallelogram">
            <a:avLst/>
          </a:prstGeom>
          <a:solidFill>
            <a:srgbClr val="A6CE39">
              <a:alpha val="40000"/>
            </a:srgbClr>
          </a:solidFill>
          <a:ln w="12700">
            <a:solidFill>
              <a:srgbClr val="A6CE3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9281160" y="0"/>
            <a:ext cx="594360" cy="6858000"/>
          </a:xfrm>
          <a:prstGeom prst="line">
            <a:avLst/>
          </a:prstGeom>
          <a:noFill/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Dilation and causality are separate design choices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12648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75569"/>
                </a:solidFill>
              </a:rPr>
              <a:t>Dilation controls spacing; causality controls direction</a:t>
            </a:r>
            <a:endParaRPr lang="en-US" sz="1150" b="1" dirty="0"/>
          </a:p>
        </p:txBody>
      </p:sp>
      <p:sp>
        <p:nvSpPr>
          <p:cNvPr id="8" name="Shape 6"/>
          <p:cNvSpPr/>
          <p:nvPr/>
        </p:nvSpPr>
        <p:spPr>
          <a:xfrm>
            <a:off x="914400" y="132588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3970">
            <a:solidFill>
              <a:srgbClr val="2B73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969264" y="1371600"/>
            <a:ext cx="350215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</a:rPr>
              <a:t>Non-dilated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</a:rPr>
              <a:t>causal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</a:rPr>
              <a:t>x[t−2], x[t−1], x[t]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26280" y="132588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EAF5D5"/>
          </a:solidFill>
          <a:ln w="13970">
            <a:solidFill>
              <a:srgbClr val="86B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581144" y="1371600"/>
            <a:ext cx="350215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</a:rPr>
              <a:t>Dilated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</a:rPr>
              <a:t>causal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</a:rPr>
              <a:t>x[t−8], x[t−4], x[t]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4747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7ED"/>
          </a:solidFill>
          <a:ln w="1397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969264" y="3520440"/>
            <a:ext cx="350215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</a:rPr>
              <a:t>Non-dilated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</a:rPr>
              <a:t>non-causal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</a:rPr>
              <a:t>x[t−1], x[t], x[t+1]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26280" y="34747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EE2E2"/>
          </a:solidFill>
          <a:ln w="1397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581144" y="3520440"/>
            <a:ext cx="350215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</a:rPr>
              <a:t>Dilated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</a:rPr>
              <a:t>non-causal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</a:rPr>
              <a:t>x[t−4], x[t], x[t+4]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57150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75569"/>
                </a:solidFill>
              </a:rPr>
              <a:t>For forecasting, use causal connectivity; dilation may then be added to enlarge context.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85800" y="6263640"/>
            <a:ext cx="79552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75569"/>
                </a:solidFill>
              </a:rPr>
              <a:t>A convolution can be dilated without being causal, and causal without being dilated.</a:t>
            </a:r>
            <a:endParaRPr lang="en-US" sz="1150" dirty="0"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1E99804-6D61-0977-EDCC-F4D071937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dilation is important </a:t>
            </a:r>
            <a:r>
              <a:rPr lang="en-GB" dirty="0">
                <a:highlight>
                  <a:srgbClr val="FFFF00"/>
                </a:highlight>
              </a:rPr>
              <a:t>for long sequences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9B146BB-646F-1D74-D6C4-0D49A0016A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b="1" dirty="0">
                <a:highlight>
                  <a:srgbClr val="FFFF00"/>
                </a:highlight>
              </a:rPr>
              <a:t>Dilated convolution provides a useful combination:</a:t>
            </a:r>
          </a:p>
          <a:p>
            <a:pPr lvl="1"/>
            <a:r>
              <a:rPr lang="en-GB" dirty="0"/>
              <a:t>small kernels; </a:t>
            </a:r>
          </a:p>
          <a:p>
            <a:pPr lvl="1"/>
            <a:r>
              <a:rPr lang="en-GB" dirty="0"/>
              <a:t>few parameters; </a:t>
            </a:r>
          </a:p>
          <a:p>
            <a:pPr lvl="1"/>
            <a:r>
              <a:rPr lang="en-GB" dirty="0"/>
              <a:t>large receptive field; </a:t>
            </a:r>
          </a:p>
          <a:p>
            <a:pPr lvl="1"/>
            <a:r>
              <a:rPr lang="en-GB" dirty="0"/>
              <a:t>preserved temporal resolution; </a:t>
            </a:r>
          </a:p>
          <a:p>
            <a:pPr lvl="1"/>
            <a:r>
              <a:rPr lang="en-GB" dirty="0"/>
              <a:t>parallel convolutional computation. </a:t>
            </a:r>
          </a:p>
          <a:p>
            <a:pPr lvl="2"/>
            <a:r>
              <a:rPr lang="en-GB" dirty="0"/>
              <a:t>Dilated convolutions preserve parallel computation across time positions: dilation changes which input positions each convolution accesses, but does not introduce a sequential dependency between outputs </a:t>
            </a:r>
            <a:r>
              <a:rPr lang="en-GB" b="1" dirty="0"/>
              <a:t>within a layer</a:t>
            </a:r>
            <a:r>
              <a:rPr lang="en-GB" dirty="0"/>
              <a:t>.</a:t>
            </a:r>
          </a:p>
          <a:p>
            <a:r>
              <a:rPr lang="en-GB" dirty="0"/>
              <a:t>This is particularly attractive when dependencies span:</a:t>
            </a:r>
          </a:p>
          <a:p>
            <a:pPr lvl="1"/>
            <a:r>
              <a:rPr lang="en-GB" dirty="0"/>
              <a:t>hundreds; </a:t>
            </a:r>
          </a:p>
          <a:p>
            <a:pPr lvl="1"/>
            <a:r>
              <a:rPr lang="en-GB" dirty="0"/>
              <a:t>thousands; </a:t>
            </a:r>
          </a:p>
          <a:p>
            <a:pPr lvl="1"/>
            <a:r>
              <a:rPr lang="en-GB" dirty="0"/>
              <a:t>of time steps.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6005274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55080-1C87-7212-C4D2-DA42716C2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1F75B3E-A62C-25F0-A981-F102CEB97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dilation is important for long sequences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58138AC-F7B6-E626-2935-01DD66F825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>
                <a:highlight>
                  <a:srgbClr val="FFFF00"/>
                </a:highlight>
              </a:rPr>
              <a:t>Example</a:t>
            </a:r>
          </a:p>
          <a:p>
            <a:r>
              <a:rPr lang="en-GB" dirty="0"/>
              <a:t>A model may need both:</a:t>
            </a:r>
          </a:p>
          <a:p>
            <a:pPr lvl="1"/>
            <a:r>
              <a:rPr lang="en-GB" dirty="0"/>
              <a:t>short local vibration bursts; </a:t>
            </a:r>
          </a:p>
          <a:p>
            <a:pPr lvl="1"/>
            <a:r>
              <a:rPr lang="en-GB" dirty="0"/>
              <a:t>longer operating-cycle context. </a:t>
            </a:r>
          </a:p>
          <a:p>
            <a:r>
              <a:rPr lang="en-GB" dirty="0"/>
              <a:t>Early layers with small dilation capture local structure.</a:t>
            </a:r>
          </a:p>
          <a:p>
            <a:r>
              <a:rPr lang="en-GB" dirty="0"/>
              <a:t>Deeper layers with larger dilation integrate longer-range information.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94244157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F35CBEA-98E2-296D-7211-2CA8C00FC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Transition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6B2C49B-F099-72D4-A941-FD3D1C4D11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>
                <a:highlight>
                  <a:srgbClr val="FFFF00"/>
                </a:highlight>
              </a:rPr>
              <a:t>When we combine:</a:t>
            </a:r>
          </a:p>
          <a:p>
            <a:pPr lvl="1"/>
            <a:r>
              <a:rPr lang="en-GB" dirty="0"/>
              <a:t>causal convolution; </a:t>
            </a:r>
          </a:p>
          <a:p>
            <a:pPr lvl="1"/>
            <a:r>
              <a:rPr lang="en-GB" dirty="0"/>
              <a:t>increasing dilation; </a:t>
            </a:r>
          </a:p>
          <a:p>
            <a:pPr lvl="1"/>
            <a:r>
              <a:rPr lang="en-GB" dirty="0"/>
              <a:t>deep residual blocks; </a:t>
            </a:r>
          </a:p>
          <a:p>
            <a:r>
              <a:rPr lang="en-GB" dirty="0"/>
              <a:t>we obtain the basic structure of a </a:t>
            </a:r>
            <a:r>
              <a:rPr lang="en-GB" b="1" dirty="0">
                <a:highlight>
                  <a:srgbClr val="FFFF00"/>
                </a:highlight>
              </a:rPr>
              <a:t>Temporal Convolutional Network</a:t>
            </a:r>
            <a:r>
              <a:rPr lang="en-GB" dirty="0">
                <a:highlight>
                  <a:srgbClr val="FFFF00"/>
                </a:highlight>
              </a:rPr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23204341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073D0A8-9B98-3612-160C-A5F9153DC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Block 5.H — Temporal Convolutional Networks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FBD801-7BC6-F5B5-D7BB-8CEC155B6C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0462775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E6424BD-5FDA-1D4B-A1C1-BF3DC5374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 Temporal Convolutional Network (TCN)?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C3E412E-E842-017C-235D-1543B1B0B7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8"/>
            <a:ext cx="6333066" cy="4430711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A </a:t>
            </a:r>
            <a:r>
              <a:rPr lang="en-GB" b="1" dirty="0"/>
              <a:t>Temporal Convolutional Network</a:t>
            </a:r>
            <a:r>
              <a:rPr lang="en-GB" dirty="0"/>
              <a:t>, or TCN, is a convolutional architecture designed for sequential data.</a:t>
            </a:r>
          </a:p>
          <a:p>
            <a:endParaRPr lang="en-GB" dirty="0"/>
          </a:p>
          <a:p>
            <a:r>
              <a:rPr lang="en-GB" dirty="0">
                <a:highlight>
                  <a:srgbClr val="FFFF00"/>
                </a:highlight>
              </a:rPr>
              <a:t>A typical TCN combines:</a:t>
            </a:r>
          </a:p>
          <a:p>
            <a:pPr lvl="1"/>
            <a:r>
              <a:rPr lang="en-GB" dirty="0"/>
              <a:t>1D temporal convolution; </a:t>
            </a:r>
          </a:p>
          <a:p>
            <a:pPr lvl="1"/>
            <a:r>
              <a:rPr lang="en-GB" dirty="0"/>
              <a:t>causal convolution; </a:t>
            </a:r>
          </a:p>
          <a:p>
            <a:pPr lvl="1"/>
            <a:r>
              <a:rPr lang="en-GB" dirty="0"/>
              <a:t>dilated convolution; </a:t>
            </a:r>
          </a:p>
          <a:p>
            <a:pPr lvl="1"/>
            <a:r>
              <a:rPr lang="en-GB" dirty="0"/>
              <a:t>multiple stacked layers; </a:t>
            </a:r>
          </a:p>
          <a:p>
            <a:pPr lvl="1"/>
            <a:r>
              <a:rPr lang="en-GB" dirty="0"/>
              <a:t>residual connections. 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01FE181-51E2-0EA3-6447-A2343110FB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39470" y="2174878"/>
            <a:ext cx="4523930" cy="4416421"/>
          </a:xfrm>
        </p:spPr>
        <p:txBody>
          <a:bodyPr>
            <a:normAutofit fontScale="85000" lnSpcReduction="20000"/>
          </a:bodyPr>
          <a:lstStyle/>
          <a:p>
            <a:r>
              <a:rPr lang="en-GB" b="1" dirty="0"/>
              <a:t>Conceptual structure</a:t>
            </a:r>
          </a:p>
          <a:p>
            <a:r>
              <a:rPr lang="en-GB" dirty="0"/>
              <a:t>input sequence</a:t>
            </a:r>
          </a:p>
          <a:p>
            <a:r>
              <a:rPr lang="en-GB" dirty="0"/>
              <a:t>      ↓</a:t>
            </a:r>
          </a:p>
          <a:p>
            <a:r>
              <a:rPr lang="en-GB" dirty="0"/>
              <a:t>causal Conv1D, </a:t>
            </a:r>
            <a:r>
              <a:rPr lang="en-GB" dirty="0">
                <a:highlight>
                  <a:srgbClr val="FFFF00"/>
                </a:highlight>
              </a:rPr>
              <a:t>dilation 1</a:t>
            </a:r>
          </a:p>
          <a:p>
            <a:r>
              <a:rPr lang="en-GB" dirty="0"/>
              <a:t>      ↓</a:t>
            </a:r>
          </a:p>
          <a:p>
            <a:r>
              <a:rPr lang="en-GB" dirty="0"/>
              <a:t>causal Conv1D, dilation 2</a:t>
            </a:r>
          </a:p>
          <a:p>
            <a:r>
              <a:rPr lang="en-GB" dirty="0"/>
              <a:t>      ↓</a:t>
            </a:r>
          </a:p>
          <a:p>
            <a:r>
              <a:rPr lang="en-GB" dirty="0"/>
              <a:t>causal Conv1D, dilation 4</a:t>
            </a:r>
          </a:p>
          <a:p>
            <a:r>
              <a:rPr lang="en-GB" dirty="0"/>
              <a:t>      ↓</a:t>
            </a:r>
          </a:p>
          <a:p>
            <a:r>
              <a:rPr lang="en-GB" dirty="0"/>
              <a:t>causal Conv1D, </a:t>
            </a:r>
            <a:r>
              <a:rPr lang="en-GB" dirty="0">
                <a:highlight>
                  <a:srgbClr val="FFFF00"/>
                </a:highlight>
              </a:rPr>
              <a:t>dilation 8</a:t>
            </a:r>
          </a:p>
          <a:p>
            <a:r>
              <a:rPr lang="en-GB" dirty="0"/>
              <a:t>      ↓</a:t>
            </a:r>
          </a:p>
          <a:p>
            <a:r>
              <a:rPr lang="en-GB" dirty="0"/>
              <a:t>temporal representation</a:t>
            </a:r>
          </a:p>
          <a:p>
            <a:r>
              <a:rPr lang="en-GB" dirty="0"/>
              <a:t>      ↓</a:t>
            </a:r>
          </a:p>
          <a:p>
            <a:r>
              <a:rPr lang="en-GB" dirty="0"/>
              <a:t>output</a:t>
            </a:r>
          </a:p>
          <a:p>
            <a:endParaRPr lang="en-GB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62418FD-0F7D-CB68-2D4A-82A914E7EC86}"/>
              </a:ext>
            </a:extLst>
          </p:cNvPr>
          <p:cNvSpPr txBox="1"/>
          <p:nvPr/>
        </p:nvSpPr>
        <p:spPr>
          <a:xfrm>
            <a:off x="996950" y="5667969"/>
            <a:ext cx="61087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Main objective</a:t>
            </a:r>
          </a:p>
          <a:p>
            <a:r>
              <a:rPr lang="en-GB" sz="1800" dirty="0"/>
              <a:t>Obtain long historical receptive fields without recurrent state propagation.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65209300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34A45B3-8143-5453-101E-9191C5512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TCNs use explicit </a:t>
            </a:r>
            <a:r>
              <a:rPr lang="en-GB" b="1" dirty="0">
                <a:highlight>
                  <a:srgbClr val="FFFF00"/>
                </a:highlight>
              </a:rPr>
              <a:t>historical (i.e., causal) receptive fields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723E23F-F66C-F051-A0A2-BBE646834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In an RNN, long context is represented through state propagation: h[t−1] → h[t]</a:t>
            </a:r>
          </a:p>
          <a:p>
            <a:r>
              <a:rPr lang="en-GB" dirty="0"/>
              <a:t>In a TCN, long context is obtained through convolutional connectivity.</a:t>
            </a:r>
          </a:p>
          <a:p>
            <a:r>
              <a:rPr lang="en-GB" dirty="0"/>
              <a:t>For an output at time t, we can determine explicitly which input positions may influence it.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759106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3FCDF-F335-DE3F-DA97-CEE595518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2E0EED6-11C4-7127-E16E-F310C9B25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 Temporal Convolutional Network?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9FABF6A-2C56-D7E4-E84C-74834064B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Example</a:t>
            </a:r>
          </a:p>
          <a:p>
            <a:r>
              <a:rPr lang="en-GB" dirty="0"/>
              <a:t>A sufficiently deep dilated TCN may have: receptive field = 511 frames</a:t>
            </a:r>
          </a:p>
          <a:p>
            <a:r>
              <a:rPr lang="en-GB" dirty="0"/>
              <a:t>Then output at t can depend on approximately: </a:t>
            </a:r>
            <a:r>
              <a:rPr lang="en-GB" dirty="0">
                <a:highlight>
                  <a:srgbClr val="FFFF00"/>
                </a:highlight>
              </a:rPr>
              <a:t>x[t−510], ..., x[t], causal</a:t>
            </a:r>
            <a:r>
              <a:rPr lang="en-GB" dirty="0"/>
              <a:t>.</a:t>
            </a:r>
          </a:p>
          <a:p>
            <a:endParaRPr lang="en-GB" b="1" dirty="0"/>
          </a:p>
          <a:p>
            <a:r>
              <a:rPr lang="en-GB" b="1" dirty="0"/>
              <a:t>Key advantage</a:t>
            </a:r>
          </a:p>
          <a:p>
            <a:r>
              <a:rPr lang="en-GB" dirty="0"/>
              <a:t>The maximum temporal context is an explicit architectural property.</a:t>
            </a:r>
          </a:p>
          <a:p>
            <a:r>
              <a:rPr lang="en-GB" b="1" dirty="0">
                <a:highlight>
                  <a:srgbClr val="FFFF00"/>
                </a:highlight>
              </a:rPr>
              <a:t>Engineering question</a:t>
            </a:r>
          </a:p>
          <a:p>
            <a:r>
              <a:rPr lang="en-GB" dirty="0"/>
              <a:t>Is the receptive field at least as long as the dependency we expect to model?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60044243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04120" y="0"/>
            <a:ext cx="1828800" cy="6858000"/>
          </a:xfrm>
          <a:prstGeom prst="parallelogram">
            <a:avLst/>
          </a:prstGeom>
          <a:solidFill>
            <a:srgbClr val="86B817">
              <a:alpha val="92000"/>
            </a:srgbClr>
          </a:solidFill>
          <a:ln w="12700">
            <a:solidFill>
              <a:srgbClr val="86B8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Temporal Convolutional Network: </a:t>
            </a:r>
            <a:r>
              <a:rPr lang="en-US" sz="2800" b="1" dirty="0">
                <a:solidFill>
                  <a:srgbClr val="111827"/>
                </a:solidFill>
                <a:highlight>
                  <a:srgbClr val="FFFF00"/>
                </a:highlight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causal dilated stack</a:t>
            </a:r>
            <a:endParaRPr lang="en-US" sz="2800" dirty="0">
              <a:highlight>
                <a:srgbClr val="FFFF00"/>
              </a:highlight>
            </a:endParaRPr>
          </a:p>
        </p:txBody>
      </p:sp>
      <p:sp>
        <p:nvSpPr>
          <p:cNvPr id="7" name="Text 5"/>
          <p:cNvSpPr/>
          <p:nvPr/>
        </p:nvSpPr>
        <p:spPr>
          <a:xfrm>
            <a:off x="612648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Long historical context without recurrent state propagation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5212080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1397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969264" y="5257800"/>
            <a:ext cx="1947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input sequence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938528" y="5193792"/>
            <a:ext cx="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914400" y="4251960"/>
            <a:ext cx="20574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3970">
            <a:solidFill>
              <a:srgbClr val="2B73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969264" y="4297680"/>
            <a:ext cx="1947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73FF"/>
                </a:solidFill>
              </a:rPr>
              <a:t>causal Conv1D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2B73FF"/>
                </a:solidFill>
              </a:rPr>
              <a:t>dilation 1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938528" y="4233672"/>
            <a:ext cx="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914400" y="3291840"/>
            <a:ext cx="20574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3970">
            <a:solidFill>
              <a:srgbClr val="86B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969264" y="3337560"/>
            <a:ext cx="1947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86B817"/>
                </a:solidFill>
              </a:rPr>
              <a:t>causal Conv1D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86B817"/>
                </a:solidFill>
              </a:rPr>
              <a:t>dilation 2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938528" y="3273552"/>
            <a:ext cx="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914400" y="2331720"/>
            <a:ext cx="20574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3970">
            <a:solidFill>
              <a:srgbClr val="F1B4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969264" y="2377440"/>
            <a:ext cx="1947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1B400"/>
                </a:solidFill>
              </a:rPr>
              <a:t>causal Conv1D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1B400"/>
                </a:solidFill>
              </a:rPr>
              <a:t>dilation 4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938528" y="2313432"/>
            <a:ext cx="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914400" y="1371600"/>
            <a:ext cx="20574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397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969264" y="1417320"/>
            <a:ext cx="1947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C3AED"/>
                </a:solidFill>
              </a:rPr>
              <a:t>causal Conv1D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7C3AED"/>
                </a:solidFill>
              </a:rPr>
              <a:t>dilation 8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55264" y="1643380"/>
            <a:ext cx="4480560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7882128" y="1369060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EAF5D5"/>
          </a:solidFill>
          <a:ln w="13970">
            <a:solidFill>
              <a:srgbClr val="86B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7829804" y="1439418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</a:rPr>
              <a:t>output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062476" y="28346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highlight>
                  <a:srgbClr val="FFFF00"/>
                </a:highlight>
              </a:rPr>
              <a:t>Each layer keeps causality while expanding the past context (i.e., increasing receptive field).</a:t>
            </a:r>
            <a:endParaRPr lang="en-US" sz="1800" dirty="0">
              <a:highlight>
                <a:srgbClr val="FFFF00"/>
              </a:highlight>
            </a:endParaRPr>
          </a:p>
        </p:txBody>
      </p:sp>
      <p:sp>
        <p:nvSpPr>
          <p:cNvPr id="26" name="Text 24"/>
          <p:cNvSpPr/>
          <p:nvPr/>
        </p:nvSpPr>
        <p:spPr>
          <a:xfrm>
            <a:off x="4062476" y="3429000"/>
            <a:ext cx="493776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475569"/>
                </a:solidFill>
              </a:rPr>
              <a:t>causal padding prevents future access</a:t>
            </a: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475569"/>
                </a:solidFill>
              </a:rPr>
              <a:t>dilation grows receptive field</a:t>
            </a: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475569"/>
                </a:solidFill>
              </a:rPr>
              <a:t>convolutions process positions in parallel</a:t>
            </a:r>
            <a:endParaRPr lang="en-US" sz="1600" b="1" dirty="0"/>
          </a:p>
        </p:txBody>
      </p:sp>
      <p:sp>
        <p:nvSpPr>
          <p:cNvPr id="27" name="Text 25"/>
          <p:cNvSpPr/>
          <p:nvPr/>
        </p:nvSpPr>
        <p:spPr>
          <a:xfrm>
            <a:off x="685800" y="6263640"/>
            <a:ext cx="79552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75569"/>
                </a:solidFill>
              </a:rPr>
              <a:t>The TCN replaces recurrent state propagation with an explicit convolutional connectivity pattern.</a:t>
            </a:r>
            <a:endParaRPr lang="en-US" sz="1150" dirty="0"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04120" y="0"/>
            <a:ext cx="1828800" cy="6858000"/>
          </a:xfrm>
          <a:prstGeom prst="parallelogram">
            <a:avLst/>
          </a:prstGeom>
          <a:solidFill>
            <a:srgbClr val="86B817">
              <a:alpha val="92000"/>
            </a:srgbClr>
          </a:solidFill>
          <a:ln w="12700">
            <a:solidFill>
              <a:srgbClr val="86B8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835640" y="0"/>
            <a:ext cx="1188720" cy="6858000"/>
          </a:xfrm>
          <a:prstGeom prst="parallelogram">
            <a:avLst/>
          </a:prstGeom>
          <a:solidFill>
            <a:srgbClr val="5F8E2F">
              <a:alpha val="80000"/>
            </a:srgbClr>
          </a:solidFill>
          <a:ln w="12700">
            <a:solidFill>
              <a:srgbClr val="5F8E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9372600" y="0"/>
            <a:ext cx="1143000" cy="6858000"/>
          </a:xfrm>
          <a:prstGeom prst="parallelogram">
            <a:avLst/>
          </a:prstGeom>
          <a:solidFill>
            <a:srgbClr val="A6CE39">
              <a:alpha val="40000"/>
            </a:srgbClr>
          </a:solidFill>
          <a:ln w="12700">
            <a:solidFill>
              <a:srgbClr val="A6CE3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9281160" y="0"/>
            <a:ext cx="594360" cy="6858000"/>
          </a:xfrm>
          <a:prstGeom prst="line">
            <a:avLst/>
          </a:prstGeom>
          <a:noFill/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typical TCN residual block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12648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75569"/>
                </a:solidFill>
              </a:rPr>
              <a:t>Learn a modification while preserving a direct path</a:t>
            </a:r>
            <a:endParaRPr lang="en-US" sz="1150" b="1" dirty="0"/>
          </a:p>
        </p:txBody>
      </p:sp>
      <p:sp>
        <p:nvSpPr>
          <p:cNvPr id="8" name="Shape 6"/>
          <p:cNvSpPr/>
          <p:nvPr/>
        </p:nvSpPr>
        <p:spPr>
          <a:xfrm>
            <a:off x="914400" y="310896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1397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969264" y="3154680"/>
            <a:ext cx="987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</a:rPr>
              <a:t>input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011680" y="3364992"/>
            <a:ext cx="91440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2971800" y="2697480"/>
            <a:ext cx="1600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3970">
            <a:solidFill>
              <a:srgbClr val="2B73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3026664" y="2743200"/>
            <a:ext cx="1490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/>
              <a:t>dilated causal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/>
              <a:t>conv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11827"/>
                </a:solidFill>
              </a:rPr>
              <a:t>+ activation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0" y="3364992"/>
            <a:ext cx="77724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5394960" y="2697480"/>
            <a:ext cx="1600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3970">
            <a:solidFill>
              <a:srgbClr val="86B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5449824" y="2743200"/>
            <a:ext cx="1490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827"/>
                </a:solidFill>
              </a:rPr>
              <a:t>dropout /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11827"/>
                </a:solidFill>
              </a:rPr>
              <a:t>normalization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995160" y="3364992"/>
            <a:ext cx="77724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7818120" y="2697480"/>
            <a:ext cx="1600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3970">
            <a:solidFill>
              <a:srgbClr val="2B73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7872984" y="2743200"/>
            <a:ext cx="1490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827"/>
                </a:solidFill>
              </a:rPr>
              <a:t>dilated causal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11827"/>
                </a:solidFill>
              </a:rPr>
              <a:t>conv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11827"/>
                </a:solidFill>
              </a:rPr>
              <a:t>+ activation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418320" y="3364992"/>
            <a:ext cx="64008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10104120" y="3154680"/>
            <a:ext cx="411480" cy="411480"/>
          </a:xfrm>
          <a:prstGeom prst="ellipse">
            <a:avLst/>
          </a:prstGeom>
          <a:solidFill>
            <a:srgbClr val="EAF5D5"/>
          </a:solidFill>
          <a:ln w="19050">
            <a:solidFill>
              <a:srgbClr val="86B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10104120" y="318211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6B817"/>
                </a:solidFill>
              </a:rPr>
              <a:t>+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515600" y="3364992"/>
            <a:ext cx="41148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10972800" y="3108960"/>
            <a:ext cx="841248" cy="502920"/>
          </a:xfrm>
          <a:prstGeom prst="roundRect">
            <a:avLst>
              <a:gd name="adj" fmla="val 14545"/>
            </a:avLst>
          </a:prstGeom>
          <a:solidFill>
            <a:srgbClr val="EAF5D5"/>
          </a:solidFill>
          <a:ln w="13970">
            <a:solidFill>
              <a:srgbClr val="86B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11027664" y="31546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output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463040" y="3108960"/>
            <a:ext cx="0" cy="0"/>
          </a:xfrm>
          <a:prstGeom prst="line">
            <a:avLst/>
          </a:prstGeom>
          <a:noFill/>
          <a:ln w="22860">
            <a:solidFill>
              <a:srgbClr val="F1B4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2438400" y="2057400"/>
            <a:ext cx="7848600" cy="0"/>
          </a:xfrm>
          <a:prstGeom prst="line">
            <a:avLst/>
          </a:prstGeom>
          <a:noFill/>
          <a:ln w="22860">
            <a:solidFill>
              <a:srgbClr val="F1B4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10287000" y="2057400"/>
            <a:ext cx="0" cy="1097280"/>
          </a:xfrm>
          <a:prstGeom prst="line">
            <a:avLst/>
          </a:prstGeom>
          <a:noFill/>
          <a:ln w="22860">
            <a:solidFill>
              <a:srgbClr val="F1B4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4846320" y="171907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B400"/>
                </a:solidFill>
              </a:rPr>
              <a:t>residual connection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5800" y="6263640"/>
            <a:ext cx="79552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75569"/>
                </a:solidFill>
              </a:rPr>
              <a:t>Residual blocks help deep TCNs preserve useful information and train more reliably.</a:t>
            </a:r>
            <a:endParaRPr lang="en-US" sz="1150" dirty="0"/>
          </a:p>
        </p:txBody>
      </p:sp>
      <p:sp>
        <p:nvSpPr>
          <p:cNvPr id="31" name="Shape 25">
            <a:extLst>
              <a:ext uri="{FF2B5EF4-FFF2-40B4-BE49-F238E27FC236}">
                <a16:creationId xmlns:a16="http://schemas.microsoft.com/office/drawing/2014/main" id="{845E8AE2-24DB-3973-2E6C-27F03876D8BA}"/>
              </a:ext>
            </a:extLst>
          </p:cNvPr>
          <p:cNvSpPr/>
          <p:nvPr/>
        </p:nvSpPr>
        <p:spPr>
          <a:xfrm flipH="1" flipV="1">
            <a:off x="2408934" y="2057399"/>
            <a:ext cx="14225" cy="1307581"/>
          </a:xfrm>
          <a:prstGeom prst="line">
            <a:avLst/>
          </a:prstGeom>
          <a:noFill/>
          <a:ln w="22860">
            <a:solidFill>
              <a:srgbClr val="F1B4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65C11952-D3FD-D184-C68A-CBE6D787D965}"/>
              </a:ext>
            </a:extLst>
          </p:cNvPr>
          <p:cNvSpPr txBox="1"/>
          <p:nvPr/>
        </p:nvSpPr>
        <p:spPr>
          <a:xfrm>
            <a:off x="5650484" y="4857130"/>
            <a:ext cx="61087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Residual form</a:t>
            </a:r>
            <a:endParaRPr lang="en-GB" sz="1800" dirty="0"/>
          </a:p>
          <a:p>
            <a:pPr lvl="1"/>
            <a:r>
              <a:rPr lang="en-GB" sz="1600" dirty="0"/>
              <a:t>output = input + transformation(input)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A32917F-251E-CFA0-BD11-650C5CEF2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residual connections?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B94D293-FD67-B6CE-4654-5EE94AE21A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8"/>
            <a:ext cx="5532966" cy="4291011"/>
          </a:xfrm>
        </p:spPr>
        <p:txBody>
          <a:bodyPr>
            <a:normAutofit fontScale="77500" lnSpcReduction="20000"/>
          </a:bodyPr>
          <a:lstStyle/>
          <a:p>
            <a:r>
              <a:rPr lang="en-GB" dirty="0"/>
              <a:t>As networks become deeper, optimization becomes more difficult.</a:t>
            </a:r>
          </a:p>
          <a:p>
            <a:r>
              <a:rPr lang="en-GB" dirty="0">
                <a:highlight>
                  <a:srgbClr val="FFFF00"/>
                </a:highlight>
              </a:rPr>
              <a:t>A residual connection provides a relatively direct path for information and gradients.</a:t>
            </a:r>
          </a:p>
          <a:p>
            <a:r>
              <a:rPr lang="en-GB" b="1" dirty="0"/>
              <a:t>Without residual connection</a:t>
            </a:r>
          </a:p>
          <a:p>
            <a:r>
              <a:rPr lang="en-GB" dirty="0"/>
              <a:t>input → transformation 1 → transformation 2 → output</a:t>
            </a:r>
          </a:p>
          <a:p>
            <a:r>
              <a:rPr lang="en-GB" b="1" dirty="0"/>
              <a:t>With residual connection</a:t>
            </a:r>
          </a:p>
          <a:p>
            <a:r>
              <a:rPr lang="en-GB" dirty="0"/>
              <a:t>input ────────────────────────┐</a:t>
            </a:r>
          </a:p>
          <a:p>
            <a:r>
              <a:rPr lang="en-GB" dirty="0"/>
              <a:t>  ↓                                                            │</a:t>
            </a:r>
          </a:p>
          <a:p>
            <a:r>
              <a:rPr lang="en-GB" dirty="0"/>
              <a:t>transformation                                          │</a:t>
            </a:r>
          </a:p>
          <a:p>
            <a:r>
              <a:rPr lang="en-GB" dirty="0"/>
              <a:t>  ↓                                                            │</a:t>
            </a:r>
          </a:p>
          <a:p>
            <a:r>
              <a:rPr lang="en-GB" dirty="0"/>
              <a:t>transformed representation                       │</a:t>
            </a:r>
          </a:p>
          <a:p>
            <a:r>
              <a:rPr lang="en-GB" dirty="0"/>
              <a:t>  └───────── + ←──────────┘</a:t>
            </a:r>
          </a:p>
          <a:p>
            <a:r>
              <a:rPr lang="en-GB" dirty="0"/>
              <a:t>                  ↓</a:t>
            </a:r>
          </a:p>
          <a:p>
            <a:r>
              <a:rPr lang="en-GB" dirty="0"/>
              <a:t>                output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CF3DBAC-482B-62D3-B839-19728E5640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66370" y="2174878"/>
            <a:ext cx="5247830" cy="4505322"/>
          </a:xfrm>
        </p:spPr>
        <p:txBody>
          <a:bodyPr>
            <a:normAutofit fontScale="77500" lnSpcReduction="20000"/>
          </a:bodyPr>
          <a:lstStyle/>
          <a:p>
            <a:r>
              <a:rPr lang="en-GB" sz="2900" b="1" dirty="0">
                <a:highlight>
                  <a:srgbClr val="FFFF00"/>
                </a:highlight>
              </a:rPr>
              <a:t>Benefits</a:t>
            </a:r>
          </a:p>
          <a:p>
            <a:r>
              <a:rPr lang="en-GB" sz="2900" dirty="0"/>
              <a:t>Residual connections can:</a:t>
            </a:r>
          </a:p>
          <a:p>
            <a:pPr lvl="1"/>
            <a:r>
              <a:rPr lang="en-GB" sz="2600" dirty="0"/>
              <a:t>facilitate training of deep models; </a:t>
            </a:r>
          </a:p>
          <a:p>
            <a:pPr lvl="1"/>
            <a:r>
              <a:rPr lang="en-GB" sz="2600" dirty="0"/>
              <a:t>preserve useful input information; </a:t>
            </a:r>
          </a:p>
          <a:p>
            <a:pPr lvl="1"/>
            <a:r>
              <a:rPr lang="en-GB" sz="2600" dirty="0"/>
              <a:t>improve gradient flow; </a:t>
            </a:r>
          </a:p>
          <a:p>
            <a:pPr lvl="1"/>
            <a:r>
              <a:rPr lang="en-GB" sz="2600" dirty="0"/>
              <a:t>allow layers to learn modifications rather than complete replacements. </a:t>
            </a:r>
          </a:p>
          <a:p>
            <a:endParaRPr lang="en-GB" sz="2900" dirty="0"/>
          </a:p>
          <a:p>
            <a:r>
              <a:rPr lang="en-GB" sz="2900" b="1" dirty="0">
                <a:highlight>
                  <a:srgbClr val="FFFF00"/>
                </a:highlight>
              </a:rPr>
              <a:t>A residual block can learn what needs to change while preserving what is already useful.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9516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29A2E8-1470-432F-07FD-6D01ABB7D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Channel dimensions inside a residual block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34223EB-5E84-4AE5-8320-15E6A366884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Suppose the input to a residual block has:</a:t>
            </a:r>
          </a:p>
          <a:p>
            <a:r>
              <a:rPr lang="en-GB" dirty="0" err="1"/>
              <a:t>F_in</a:t>
            </a:r>
            <a:r>
              <a:rPr lang="en-GB" dirty="0"/>
              <a:t> = 32 channels</a:t>
            </a:r>
          </a:p>
          <a:p>
            <a:r>
              <a:rPr lang="en-GB" dirty="0"/>
              <a:t>and the block produces:</a:t>
            </a:r>
          </a:p>
          <a:p>
            <a:r>
              <a:rPr lang="en-GB" dirty="0" err="1"/>
              <a:t>F_out</a:t>
            </a:r>
            <a:r>
              <a:rPr lang="en-GB" dirty="0"/>
              <a:t> = 64 channels</a:t>
            </a:r>
          </a:p>
          <a:p>
            <a:r>
              <a:rPr lang="en-GB" dirty="0"/>
              <a:t>The residual addition requires compatible dimensions.</a:t>
            </a:r>
          </a:p>
          <a:p>
            <a:r>
              <a:rPr lang="en-GB" b="1" dirty="0"/>
              <a:t>If dimensions already match:</a:t>
            </a:r>
          </a:p>
          <a:p>
            <a:r>
              <a:rPr lang="en-GB" dirty="0"/>
              <a:t>32 channels → transformation → 32 channels                   +</a:t>
            </a:r>
          </a:p>
          <a:p>
            <a:r>
              <a:rPr lang="en-GB" dirty="0"/>
              <a:t>residual ────────┘</a:t>
            </a:r>
          </a:p>
          <a:p>
            <a:r>
              <a:rPr lang="en-GB" b="1" dirty="0"/>
              <a:t>they can be added directly.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B24C7CA-580F-A2C6-A81F-61485B296DF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b="1" dirty="0"/>
              <a:t>If dimensions differ</a:t>
            </a:r>
          </a:p>
          <a:p>
            <a:pPr lvl="1"/>
            <a:r>
              <a:rPr lang="en-GB" dirty="0">
                <a:highlight>
                  <a:srgbClr val="FFFF00"/>
                </a:highlight>
              </a:rPr>
              <a:t>A small transformation, often a 1×1 convolution, can project: 32 → 64 channels before the residual addition.</a:t>
            </a:r>
          </a:p>
          <a:p>
            <a:r>
              <a:rPr lang="en-GB" b="1" dirty="0"/>
              <a:t>Temporal </a:t>
            </a:r>
            <a:r>
              <a:rPr lang="en-GB" b="1" dirty="0">
                <a:solidFill>
                  <a:schemeClr val="tx1"/>
                </a:solidFill>
              </a:rPr>
              <a:t>interpretation of 1×1 </a:t>
            </a:r>
            <a:r>
              <a:rPr lang="en-GB" b="1" dirty="0"/>
              <a:t>Conv1D</a:t>
            </a:r>
          </a:p>
          <a:p>
            <a:r>
              <a:rPr lang="en-GB" dirty="0"/>
              <a:t>A kernel size of 1:</a:t>
            </a:r>
          </a:p>
          <a:p>
            <a:pPr lvl="1"/>
            <a:r>
              <a:rPr lang="en-GB" dirty="0"/>
              <a:t>does not combine neighbouring time steps; </a:t>
            </a:r>
          </a:p>
          <a:p>
            <a:pPr lvl="1"/>
            <a:r>
              <a:rPr lang="en-GB" dirty="0"/>
              <a:t>mixes information across channels at each temporal position. </a:t>
            </a:r>
          </a:p>
          <a:p>
            <a:r>
              <a:rPr lang="en-GB" dirty="0"/>
              <a:t>This is useful for matching feature dimensions.</a:t>
            </a:r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E5A08AAF-5384-0EED-818C-317A596649CA}"/>
              </a:ext>
            </a:extLst>
          </p:cNvPr>
          <p:cNvSpPr txBox="1"/>
          <p:nvPr/>
        </p:nvSpPr>
        <p:spPr>
          <a:xfrm>
            <a:off x="9502605" y="2697480"/>
            <a:ext cx="233172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Terminology inherited from Conv2D.</a:t>
            </a:r>
            <a:br>
              <a:rPr lang="en-GB" sz="1600" dirty="0"/>
            </a:br>
            <a:r>
              <a:rPr lang="en-GB" sz="1600" dirty="0"/>
              <a:t>It means: Conv1D with kernel size 1</a:t>
            </a:r>
          </a:p>
        </p:txBody>
      </p: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C217DB32-733B-0503-BBDE-7C7E33C2818B}"/>
              </a:ext>
            </a:extLst>
          </p:cNvPr>
          <p:cNvCxnSpPr>
            <a:cxnSpLocks/>
          </p:cNvCxnSpPr>
          <p:nvPr/>
        </p:nvCxnSpPr>
        <p:spPr>
          <a:xfrm flipH="1" flipV="1">
            <a:off x="8892540" y="2686050"/>
            <a:ext cx="610065" cy="2400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55036307-CCE2-96F4-A8F2-663604075291}"/>
              </a:ext>
            </a:extLst>
          </p:cNvPr>
          <p:cNvCxnSpPr>
            <a:cxnSpLocks/>
          </p:cNvCxnSpPr>
          <p:nvPr/>
        </p:nvCxnSpPr>
        <p:spPr>
          <a:xfrm flipH="1">
            <a:off x="8663937" y="2926080"/>
            <a:ext cx="838668" cy="5254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6492718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04120" y="0"/>
            <a:ext cx="1828800" cy="6858000"/>
          </a:xfrm>
          <a:prstGeom prst="parallelogram">
            <a:avLst/>
          </a:prstGeom>
          <a:solidFill>
            <a:srgbClr val="86B817">
              <a:alpha val="92000"/>
            </a:srgbClr>
          </a:solidFill>
          <a:ln w="12700">
            <a:solidFill>
              <a:srgbClr val="86B8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835640" y="0"/>
            <a:ext cx="1188720" cy="6858000"/>
          </a:xfrm>
          <a:prstGeom prst="parallelogram">
            <a:avLst/>
          </a:prstGeom>
          <a:solidFill>
            <a:srgbClr val="5F8E2F">
              <a:alpha val="80000"/>
            </a:srgbClr>
          </a:solidFill>
          <a:ln w="12700">
            <a:solidFill>
              <a:srgbClr val="5F8E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9372600" y="0"/>
            <a:ext cx="1143000" cy="6858000"/>
          </a:xfrm>
          <a:prstGeom prst="parallelogram">
            <a:avLst/>
          </a:prstGeom>
          <a:solidFill>
            <a:srgbClr val="A6CE39">
              <a:alpha val="40000"/>
            </a:srgbClr>
          </a:solidFill>
          <a:ln w="12700">
            <a:solidFill>
              <a:srgbClr val="A6CE3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9281160" y="0"/>
            <a:ext cx="594360" cy="6858000"/>
          </a:xfrm>
          <a:prstGeom prst="line">
            <a:avLst/>
          </a:prstGeom>
          <a:noFill/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9189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Residual addition requires compatible channel dimensions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12648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A 1×1 Conv1D can project channels without mixing time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14400" y="1920240"/>
            <a:ext cx="1371600" cy="594360"/>
          </a:xfrm>
          <a:prstGeom prst="roundRect">
            <a:avLst>
              <a:gd name="adj" fmla="val 12308"/>
            </a:avLst>
          </a:prstGeom>
          <a:solidFill>
            <a:srgbClr val="F8FAFC"/>
          </a:solidFill>
          <a:ln w="1397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969264" y="196596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input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32 ch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0" y="2221992"/>
            <a:ext cx="73152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3063240" y="1645920"/>
            <a:ext cx="21945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2B73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3118104" y="1691640"/>
            <a:ext cx="2084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</a:rPr>
              <a:t>TCN transformation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</a:rPr>
              <a:t>→ 64 channels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257800" y="2221992"/>
            <a:ext cx="77724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6080760" y="2011680"/>
            <a:ext cx="438912" cy="438912"/>
          </a:xfrm>
          <a:prstGeom prst="ellipse">
            <a:avLst/>
          </a:prstGeom>
          <a:solidFill>
            <a:srgbClr val="EAF5D5"/>
          </a:solidFill>
          <a:ln w="19050">
            <a:solidFill>
              <a:srgbClr val="86B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080760" y="2048256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6B817"/>
                </a:solidFill>
              </a:rPr>
              <a:t>+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519672" y="2221992"/>
            <a:ext cx="795528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7360920" y="1920240"/>
            <a:ext cx="1371600" cy="594360"/>
          </a:xfrm>
          <a:prstGeom prst="roundRect">
            <a:avLst>
              <a:gd name="adj" fmla="val 12308"/>
            </a:avLst>
          </a:prstGeom>
          <a:solidFill>
            <a:srgbClr val="EAF5D5"/>
          </a:solidFill>
          <a:ln w="13970">
            <a:solidFill>
              <a:srgbClr val="86B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7415784" y="196596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output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64 ch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600200" y="2514600"/>
            <a:ext cx="0" cy="1508760"/>
          </a:xfrm>
          <a:prstGeom prst="line">
            <a:avLst/>
          </a:prstGeom>
          <a:noFill/>
          <a:ln w="22860">
            <a:solidFill>
              <a:srgbClr val="F1B4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1600200" y="4023360"/>
            <a:ext cx="1371600" cy="0"/>
          </a:xfrm>
          <a:prstGeom prst="line">
            <a:avLst/>
          </a:prstGeom>
          <a:noFill/>
          <a:ln w="22860">
            <a:solidFill>
              <a:srgbClr val="F1B4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3017520" y="370332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FFF7ED"/>
          </a:solidFill>
          <a:ln w="13970">
            <a:solidFill>
              <a:srgbClr val="F1B4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3072384" y="374904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1×1 Conv1D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32 → 64 ch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46320" y="4023360"/>
            <a:ext cx="1463040" cy="0"/>
          </a:xfrm>
          <a:prstGeom prst="line">
            <a:avLst/>
          </a:prstGeom>
          <a:noFill/>
          <a:ln w="22860">
            <a:solidFill>
              <a:srgbClr val="F1B4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6309360" y="4023360"/>
            <a:ext cx="0" cy="0"/>
          </a:xfrm>
          <a:prstGeom prst="line">
            <a:avLst/>
          </a:prstGeom>
          <a:noFill/>
          <a:ln w="22860">
            <a:solidFill>
              <a:srgbClr val="F1B4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914400" y="50749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75569"/>
                </a:solidFill>
              </a:rPr>
              <a:t>A 1×1 temporal convolution mixes channels at each time step but does not use neighboring time steps.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85800" y="6263640"/>
            <a:ext cx="79552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75569"/>
                </a:solidFill>
              </a:rPr>
              <a:t>Projection makes the residual path compatible when the block changes the number of channels.</a:t>
            </a:r>
            <a:endParaRPr lang="en-US" sz="1150" dirty="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B36FFA93-C93D-F033-C717-26BF5E7A3784}"/>
              </a:ext>
            </a:extLst>
          </p:cNvPr>
          <p:cNvSpPr/>
          <p:nvPr/>
        </p:nvSpPr>
        <p:spPr>
          <a:xfrm flipH="1" flipV="1">
            <a:off x="6309359" y="2468879"/>
            <a:ext cx="0" cy="1554480"/>
          </a:xfrm>
          <a:prstGeom prst="line">
            <a:avLst/>
          </a:prstGeom>
          <a:noFill/>
          <a:ln w="22860">
            <a:solidFill>
              <a:srgbClr val="F1B4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9F49E56-8D24-5E37-405B-CCC0BC106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Dilation schedule in a TCN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276F12A-FBDB-42F9-3BFD-A0B57D5C22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8"/>
            <a:ext cx="4936066" cy="4303711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A common strategy is to increase dilation exponentially:</a:t>
            </a:r>
          </a:p>
          <a:p>
            <a:r>
              <a:rPr lang="en-GB" dirty="0"/>
              <a:t>1, 2, 4, 8, 16, 32, ...</a:t>
            </a:r>
          </a:p>
          <a:p>
            <a:endParaRPr lang="en-GB" b="1" dirty="0"/>
          </a:p>
          <a:p>
            <a:r>
              <a:rPr lang="en-GB" b="1" dirty="0"/>
              <a:t>Why?</a:t>
            </a:r>
          </a:p>
          <a:p>
            <a:pPr lvl="1"/>
            <a:r>
              <a:rPr lang="en-GB" dirty="0"/>
              <a:t>Early blocks capture fine local structure. </a:t>
            </a:r>
          </a:p>
          <a:p>
            <a:pPr lvl="1"/>
            <a:r>
              <a:rPr lang="en-GB" dirty="0"/>
              <a:t>Later blocks integrate increasingly long temporal context. 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F9FEF18-F818-A2F0-F999-B042CBFE8A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64670" y="2160589"/>
            <a:ext cx="5997130" cy="4418011"/>
          </a:xfrm>
        </p:spPr>
        <p:txBody>
          <a:bodyPr>
            <a:normAutofit fontScale="92500" lnSpcReduction="10000"/>
          </a:bodyPr>
          <a:lstStyle/>
          <a:p>
            <a:r>
              <a:rPr lang="en-GB" b="1" dirty="0"/>
              <a:t>Example</a:t>
            </a:r>
          </a:p>
          <a:p>
            <a:r>
              <a:rPr lang="en-GB" dirty="0"/>
              <a:t>For: kernel size 3;  dilation sequence 1, 2, 4, 8; </a:t>
            </a:r>
          </a:p>
          <a:p>
            <a:r>
              <a:rPr lang="en-GB" dirty="0"/>
              <a:t>the receptive field becomes much larger than with four ordinary convolutions.</a:t>
            </a:r>
          </a:p>
          <a:p>
            <a:r>
              <a:rPr lang="en-GB" b="1" dirty="0">
                <a:highlight>
                  <a:srgbClr val="FFFF00"/>
                </a:highlight>
              </a:rPr>
              <a:t>Dilation may also be repeated</a:t>
            </a:r>
          </a:p>
          <a:p>
            <a:r>
              <a:rPr lang="en-GB" dirty="0"/>
              <a:t>For very deep networks:</a:t>
            </a:r>
          </a:p>
          <a:p>
            <a:pPr lvl="1"/>
            <a:r>
              <a:rPr lang="en-GB" dirty="0"/>
              <a:t>1, 2, 4, 8,</a:t>
            </a:r>
          </a:p>
          <a:p>
            <a:pPr lvl="1"/>
            <a:r>
              <a:rPr lang="en-GB" dirty="0"/>
              <a:t>1, 2, 4, 8,</a:t>
            </a:r>
          </a:p>
          <a:p>
            <a:pPr lvl="1"/>
            <a:r>
              <a:rPr lang="en-GB" dirty="0"/>
              <a:t>...</a:t>
            </a:r>
          </a:p>
          <a:p>
            <a:r>
              <a:rPr lang="en-GB" dirty="0"/>
              <a:t>This creates </a:t>
            </a:r>
            <a:r>
              <a:rPr lang="en-GB" b="1" dirty="0">
                <a:highlight>
                  <a:srgbClr val="FFFF00"/>
                </a:highlight>
              </a:rPr>
              <a:t>repeated multiscale processing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en-GB" b="1" dirty="0"/>
          </a:p>
          <a:p>
            <a:r>
              <a:rPr lang="en-GB" dirty="0">
                <a:highlight>
                  <a:srgbClr val="FFFF00"/>
                </a:highlight>
              </a:rPr>
              <a:t>TCN depth and dilation schedule jointly define the historical context available to the model.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04356196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17B634-5F94-CC72-1953-04F804E05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TCN computation can be parallelized across time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E035E24-A6CF-6450-75F2-B20ADCAFA4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8"/>
            <a:ext cx="4656666" cy="4379911"/>
          </a:xfrm>
        </p:spPr>
        <p:txBody>
          <a:bodyPr>
            <a:normAutofit/>
          </a:bodyPr>
          <a:lstStyle/>
          <a:p>
            <a:r>
              <a:rPr lang="en-GB" dirty="0"/>
              <a:t>A major difference from recurrent networks is computational dependency.</a:t>
            </a:r>
          </a:p>
          <a:p>
            <a:r>
              <a:rPr lang="en-GB" b="1" dirty="0"/>
              <a:t>RNN</a:t>
            </a:r>
          </a:p>
          <a:p>
            <a:r>
              <a:rPr lang="en-GB" dirty="0">
                <a:highlight>
                  <a:srgbClr val="FFFF00"/>
                </a:highlight>
              </a:rPr>
              <a:t>To compute: h[t] we need: h[t−1]</a:t>
            </a:r>
          </a:p>
          <a:p>
            <a:endParaRPr lang="en-GB" dirty="0"/>
          </a:p>
          <a:p>
            <a:r>
              <a:rPr lang="en-GB" dirty="0"/>
              <a:t>Therefore:</a:t>
            </a:r>
          </a:p>
          <a:p>
            <a:r>
              <a:rPr lang="en-GB" dirty="0"/>
              <a:t>time 1 → time 2 → time 3 → time 4</a:t>
            </a:r>
          </a:p>
          <a:p>
            <a:r>
              <a:rPr lang="en-GB" dirty="0"/>
              <a:t>is </a:t>
            </a:r>
            <a:r>
              <a:rPr lang="en-GB" b="1" dirty="0">
                <a:highlight>
                  <a:srgbClr val="FFFF00"/>
                </a:highlight>
              </a:rPr>
              <a:t>inherently sequential.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8C925AE-522D-202E-C165-A61A502F92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91200" y="1930400"/>
            <a:ext cx="6172200" cy="4711700"/>
          </a:xfrm>
        </p:spPr>
        <p:txBody>
          <a:bodyPr>
            <a:normAutofit/>
          </a:bodyPr>
          <a:lstStyle/>
          <a:p>
            <a:r>
              <a:rPr lang="en-GB" b="1" dirty="0"/>
              <a:t>TCN</a:t>
            </a:r>
          </a:p>
          <a:p>
            <a:r>
              <a:rPr lang="en-GB" dirty="0"/>
              <a:t>Within one convolutional layer, activations for many temporal positions can be computed simultaneously.</a:t>
            </a:r>
          </a:p>
          <a:p>
            <a:r>
              <a:rPr lang="en-GB" dirty="0">
                <a:highlight>
                  <a:srgbClr val="FFFF00"/>
                </a:highlight>
              </a:rPr>
              <a:t>position 1</a:t>
            </a:r>
          </a:p>
          <a:p>
            <a:r>
              <a:rPr lang="en-GB" dirty="0"/>
              <a:t>position 2</a:t>
            </a:r>
          </a:p>
          <a:p>
            <a:r>
              <a:rPr lang="en-GB" dirty="0"/>
              <a:t>position 3</a:t>
            </a:r>
          </a:p>
          <a:p>
            <a:r>
              <a:rPr lang="en-GB" dirty="0">
                <a:highlight>
                  <a:srgbClr val="FFFF00"/>
                </a:highlight>
              </a:rPr>
              <a:t>position 4</a:t>
            </a:r>
          </a:p>
          <a:p>
            <a:r>
              <a:rPr lang="en-GB" dirty="0"/>
              <a:t>      ↓</a:t>
            </a:r>
          </a:p>
          <a:p>
            <a:r>
              <a:rPr lang="en-GB" dirty="0">
                <a:highlight>
                  <a:srgbClr val="FFFF00"/>
                </a:highlight>
              </a:rPr>
              <a:t>computed in parallel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2769705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0202A-1307-FADE-77D0-23F445652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F91669D-34A5-2A4E-BF7B-7A0EE8756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TCN computation can be parallelized across time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58D2086-6B8E-00EF-00A1-EDA23B5C70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8"/>
            <a:ext cx="8022166" cy="4379911"/>
          </a:xfrm>
        </p:spPr>
        <p:txBody>
          <a:bodyPr>
            <a:normAutofit/>
          </a:bodyPr>
          <a:lstStyle/>
          <a:p>
            <a:r>
              <a:rPr lang="en-GB" b="1" dirty="0"/>
              <a:t>Practical consequence</a:t>
            </a:r>
          </a:p>
          <a:p>
            <a:r>
              <a:rPr lang="en-GB" dirty="0">
                <a:highlight>
                  <a:srgbClr val="FFFF00"/>
                </a:highlight>
              </a:rPr>
              <a:t>TCNs can often exploit:</a:t>
            </a:r>
          </a:p>
          <a:p>
            <a:pPr lvl="1"/>
            <a:r>
              <a:rPr lang="en-GB" dirty="0"/>
              <a:t>GPUs; </a:t>
            </a:r>
          </a:p>
          <a:p>
            <a:pPr lvl="1"/>
            <a:r>
              <a:rPr lang="en-GB" dirty="0"/>
              <a:t>vectorized hardware; </a:t>
            </a:r>
          </a:p>
          <a:p>
            <a:pPr lvl="1"/>
            <a:r>
              <a:rPr lang="en-GB" dirty="0"/>
              <a:t>more efficiently for long sequences.</a:t>
            </a:r>
          </a:p>
          <a:p>
            <a:endParaRPr lang="en-GB" b="1" dirty="0"/>
          </a:p>
          <a:p>
            <a:r>
              <a:rPr lang="en-GB" b="1" dirty="0"/>
              <a:t>N.B.</a:t>
            </a:r>
          </a:p>
          <a:p>
            <a:r>
              <a:rPr lang="en-GB" dirty="0"/>
              <a:t>Different network layers must still be processed sequentially.</a:t>
            </a:r>
          </a:p>
          <a:p>
            <a:r>
              <a:rPr lang="en-GB" dirty="0">
                <a:highlight>
                  <a:srgbClr val="FFFF00"/>
                </a:highlight>
              </a:rPr>
              <a:t>Parallelism applies mainly across temporal positions within each layer.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24998459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04120" y="0"/>
            <a:ext cx="1828800" cy="6858000"/>
          </a:xfrm>
          <a:prstGeom prst="parallelogram">
            <a:avLst/>
          </a:prstGeom>
          <a:solidFill>
            <a:srgbClr val="86B817">
              <a:alpha val="92000"/>
            </a:srgbClr>
          </a:solidFill>
          <a:ln w="12700">
            <a:solidFill>
              <a:srgbClr val="86B8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835640" y="0"/>
            <a:ext cx="1188720" cy="6858000"/>
          </a:xfrm>
          <a:prstGeom prst="parallelogram">
            <a:avLst/>
          </a:prstGeom>
          <a:solidFill>
            <a:srgbClr val="5F8E2F">
              <a:alpha val="80000"/>
            </a:srgbClr>
          </a:solidFill>
          <a:ln w="12700">
            <a:solidFill>
              <a:srgbClr val="5F8E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9372600" y="0"/>
            <a:ext cx="1143000" cy="6858000"/>
          </a:xfrm>
          <a:prstGeom prst="parallelogram">
            <a:avLst/>
          </a:prstGeom>
          <a:solidFill>
            <a:srgbClr val="A6CE39">
              <a:alpha val="40000"/>
            </a:srgbClr>
          </a:solidFill>
          <a:ln w="12700">
            <a:solidFill>
              <a:srgbClr val="A6CE3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9281160" y="0"/>
            <a:ext cx="594360" cy="6858000"/>
          </a:xfrm>
          <a:prstGeom prst="line">
            <a:avLst/>
          </a:prstGeom>
          <a:noFill/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TCN computation can be parallelized across time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12648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RNN state dependency vs convolutional positions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1234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RNN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1920240"/>
            <a:ext cx="5943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2B73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969264" y="1965960"/>
            <a:ext cx="484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73FF"/>
                </a:solidFill>
              </a:rPr>
              <a:t>h1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508760" y="2148840"/>
            <a:ext cx="365760" cy="0"/>
          </a:xfrm>
          <a:prstGeom prst="line">
            <a:avLst/>
          </a:prstGeom>
          <a:noFill/>
          <a:ln w="19050">
            <a:solidFill>
              <a:srgbClr val="2B73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1874520" y="1920240"/>
            <a:ext cx="5943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2B73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1929384" y="1965960"/>
            <a:ext cx="484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73FF"/>
                </a:solidFill>
              </a:rPr>
              <a:t>h2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468880" y="2148840"/>
            <a:ext cx="365760" cy="0"/>
          </a:xfrm>
          <a:prstGeom prst="line">
            <a:avLst/>
          </a:prstGeom>
          <a:noFill/>
          <a:ln w="19050">
            <a:solidFill>
              <a:srgbClr val="2B73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2834640" y="1920240"/>
            <a:ext cx="5943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2B73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2889504" y="1965960"/>
            <a:ext cx="484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73FF"/>
                </a:solidFill>
              </a:rPr>
              <a:t>h3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29000" y="2148840"/>
            <a:ext cx="365760" cy="0"/>
          </a:xfrm>
          <a:prstGeom prst="line">
            <a:avLst/>
          </a:prstGeom>
          <a:noFill/>
          <a:ln w="19050">
            <a:solidFill>
              <a:srgbClr val="2B73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3794760" y="1920240"/>
            <a:ext cx="5943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2B73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3849624" y="1965960"/>
            <a:ext cx="484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73FF"/>
                </a:solidFill>
              </a:rPr>
              <a:t>h4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89120" y="2148840"/>
            <a:ext cx="365760" cy="0"/>
          </a:xfrm>
          <a:prstGeom prst="line">
            <a:avLst/>
          </a:prstGeom>
          <a:noFill/>
          <a:ln w="19050">
            <a:solidFill>
              <a:srgbClr val="2B73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4754880" y="1920240"/>
            <a:ext cx="5943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2B73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4809744" y="1965960"/>
            <a:ext cx="484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73FF"/>
                </a:solidFill>
              </a:rPr>
              <a:t>h5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2606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sequential dependency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3520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TCN layer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14400" y="4206240"/>
            <a:ext cx="50292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3970">
            <a:solidFill>
              <a:srgbClr val="86B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969264" y="4251960"/>
            <a:ext cx="393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6B817"/>
                </a:solidFill>
              </a:rPr>
              <a:t>p1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165860" y="4663440"/>
            <a:ext cx="0" cy="411480"/>
          </a:xfrm>
          <a:prstGeom prst="line">
            <a:avLst/>
          </a:prstGeom>
          <a:noFill/>
          <a:ln w="15240">
            <a:solidFill>
              <a:srgbClr val="86B81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1645920" y="4206240"/>
            <a:ext cx="50292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3970">
            <a:solidFill>
              <a:srgbClr val="86B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1700784" y="4251960"/>
            <a:ext cx="393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6B817"/>
                </a:solidFill>
              </a:rPr>
              <a:t>p2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897380" y="4663440"/>
            <a:ext cx="0" cy="411480"/>
          </a:xfrm>
          <a:prstGeom prst="line">
            <a:avLst/>
          </a:prstGeom>
          <a:noFill/>
          <a:ln w="15240">
            <a:solidFill>
              <a:srgbClr val="86B81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2377440" y="4206240"/>
            <a:ext cx="50292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3970">
            <a:solidFill>
              <a:srgbClr val="86B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2432304" y="4251960"/>
            <a:ext cx="393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6B817"/>
                </a:solidFill>
              </a:rPr>
              <a:t>p3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628900" y="4663440"/>
            <a:ext cx="0" cy="411480"/>
          </a:xfrm>
          <a:prstGeom prst="line">
            <a:avLst/>
          </a:prstGeom>
          <a:noFill/>
          <a:ln w="15240">
            <a:solidFill>
              <a:srgbClr val="86B81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3108960" y="4206240"/>
            <a:ext cx="50292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3970">
            <a:solidFill>
              <a:srgbClr val="86B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3163824" y="4251960"/>
            <a:ext cx="393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6B817"/>
                </a:solidFill>
              </a:rPr>
              <a:t>p4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360420" y="4663440"/>
            <a:ext cx="0" cy="411480"/>
          </a:xfrm>
          <a:prstGeom prst="line">
            <a:avLst/>
          </a:prstGeom>
          <a:noFill/>
          <a:ln w="15240">
            <a:solidFill>
              <a:srgbClr val="86B81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3840480" y="4206240"/>
            <a:ext cx="50292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3970">
            <a:solidFill>
              <a:srgbClr val="86B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3895344" y="4251960"/>
            <a:ext cx="393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6B817"/>
                </a:solidFill>
              </a:rPr>
              <a:t>p5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091940" y="4663440"/>
            <a:ext cx="0" cy="411480"/>
          </a:xfrm>
          <a:prstGeom prst="line">
            <a:avLst/>
          </a:prstGeom>
          <a:noFill/>
          <a:ln w="15240">
            <a:solidFill>
              <a:srgbClr val="86B81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4572000" y="4206240"/>
            <a:ext cx="50292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3970">
            <a:solidFill>
              <a:srgbClr val="86B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4626864" y="4251960"/>
            <a:ext cx="393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6B817"/>
                </a:solidFill>
              </a:rPr>
              <a:t>p6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823460" y="4663440"/>
            <a:ext cx="0" cy="411480"/>
          </a:xfrm>
          <a:prstGeom prst="line">
            <a:avLst/>
          </a:prstGeom>
          <a:noFill/>
          <a:ln w="15240">
            <a:solidFill>
              <a:srgbClr val="86B81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41"/>
          <p:cNvSpPr/>
          <p:nvPr/>
        </p:nvSpPr>
        <p:spPr>
          <a:xfrm>
            <a:off x="914400" y="5120640"/>
            <a:ext cx="502920" cy="411480"/>
          </a:xfrm>
          <a:prstGeom prst="roundRect">
            <a:avLst>
              <a:gd name="adj" fmla="val 17778"/>
            </a:avLst>
          </a:prstGeom>
          <a:solidFill>
            <a:srgbClr val="EAF5D5"/>
          </a:solidFill>
          <a:ln w="13970">
            <a:solidFill>
              <a:srgbClr val="86B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/>
          <p:nvPr/>
        </p:nvSpPr>
        <p:spPr>
          <a:xfrm>
            <a:off x="969264" y="5166360"/>
            <a:ext cx="393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6B817"/>
                </a:solidFill>
              </a:rPr>
              <a:t>o1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1645920" y="5120640"/>
            <a:ext cx="502920" cy="411480"/>
          </a:xfrm>
          <a:prstGeom prst="roundRect">
            <a:avLst>
              <a:gd name="adj" fmla="val 17778"/>
            </a:avLst>
          </a:prstGeom>
          <a:solidFill>
            <a:srgbClr val="EAF5D5"/>
          </a:solidFill>
          <a:ln w="13970">
            <a:solidFill>
              <a:srgbClr val="86B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/>
          <p:nvPr/>
        </p:nvSpPr>
        <p:spPr>
          <a:xfrm>
            <a:off x="1700784" y="5166360"/>
            <a:ext cx="393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6B817"/>
                </a:solidFill>
              </a:rPr>
              <a:t>o2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377440" y="5120640"/>
            <a:ext cx="502920" cy="411480"/>
          </a:xfrm>
          <a:prstGeom prst="roundRect">
            <a:avLst>
              <a:gd name="adj" fmla="val 17778"/>
            </a:avLst>
          </a:prstGeom>
          <a:solidFill>
            <a:srgbClr val="EAF5D5"/>
          </a:solidFill>
          <a:ln w="13970">
            <a:solidFill>
              <a:srgbClr val="86B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46"/>
          <p:cNvSpPr/>
          <p:nvPr/>
        </p:nvSpPr>
        <p:spPr>
          <a:xfrm>
            <a:off x="2432304" y="5166360"/>
            <a:ext cx="393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6B817"/>
                </a:solidFill>
              </a:rPr>
              <a:t>o3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108960" y="5120640"/>
            <a:ext cx="502920" cy="411480"/>
          </a:xfrm>
          <a:prstGeom prst="roundRect">
            <a:avLst>
              <a:gd name="adj" fmla="val 17778"/>
            </a:avLst>
          </a:prstGeom>
          <a:solidFill>
            <a:srgbClr val="EAF5D5"/>
          </a:solidFill>
          <a:ln w="13970">
            <a:solidFill>
              <a:srgbClr val="86B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Text 48"/>
          <p:cNvSpPr/>
          <p:nvPr/>
        </p:nvSpPr>
        <p:spPr>
          <a:xfrm>
            <a:off x="3163824" y="5166360"/>
            <a:ext cx="393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6B817"/>
                </a:solidFill>
              </a:rPr>
              <a:t>o4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3840480" y="5120640"/>
            <a:ext cx="502920" cy="411480"/>
          </a:xfrm>
          <a:prstGeom prst="roundRect">
            <a:avLst>
              <a:gd name="adj" fmla="val 17778"/>
            </a:avLst>
          </a:prstGeom>
          <a:solidFill>
            <a:srgbClr val="EAF5D5"/>
          </a:solidFill>
          <a:ln w="13970">
            <a:solidFill>
              <a:srgbClr val="86B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50"/>
          <p:cNvSpPr/>
          <p:nvPr/>
        </p:nvSpPr>
        <p:spPr>
          <a:xfrm>
            <a:off x="3895344" y="5166360"/>
            <a:ext cx="393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6B817"/>
                </a:solidFill>
              </a:rPr>
              <a:t>o5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572000" y="5120640"/>
            <a:ext cx="502920" cy="411480"/>
          </a:xfrm>
          <a:prstGeom prst="roundRect">
            <a:avLst>
              <a:gd name="adj" fmla="val 17778"/>
            </a:avLst>
          </a:prstGeom>
          <a:solidFill>
            <a:srgbClr val="EAF5D5"/>
          </a:solidFill>
          <a:ln w="13970">
            <a:solidFill>
              <a:srgbClr val="86B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Text 52"/>
          <p:cNvSpPr/>
          <p:nvPr/>
        </p:nvSpPr>
        <p:spPr>
          <a:xfrm>
            <a:off x="4626864" y="5166360"/>
            <a:ext cx="393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6B817"/>
                </a:solidFill>
              </a:rPr>
              <a:t>o6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914400" y="5715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positions in a layer computed in parallel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6583680" y="210312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3970">
            <a:solidFill>
              <a:srgbClr val="2B73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Text 55"/>
          <p:cNvSpPr/>
          <p:nvPr/>
        </p:nvSpPr>
        <p:spPr>
          <a:xfrm>
            <a:off x="6638544" y="2148840"/>
            <a:ext cx="2084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</a:rPr>
              <a:t>RNN: time order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</a:rPr>
              <a:t>is </a:t>
            </a:r>
            <a:r>
              <a:rPr lang="en-US" sz="1500" b="1" dirty="0">
                <a:solidFill>
                  <a:srgbClr val="FF0000"/>
                </a:solidFill>
              </a:rPr>
              <a:t>computational</a:t>
            </a:r>
            <a:endParaRPr lang="en-US" sz="1500" dirty="0">
              <a:solidFill>
                <a:srgbClr val="FF0000"/>
              </a:solidFill>
            </a:endParaRPr>
          </a:p>
        </p:txBody>
      </p:sp>
      <p:sp>
        <p:nvSpPr>
          <p:cNvPr id="58" name="Shape 56"/>
          <p:cNvSpPr/>
          <p:nvPr/>
        </p:nvSpPr>
        <p:spPr>
          <a:xfrm>
            <a:off x="6583680" y="429768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EAF5D5"/>
          </a:solidFill>
          <a:ln w="13970">
            <a:solidFill>
              <a:srgbClr val="86B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Text 57"/>
          <p:cNvSpPr/>
          <p:nvPr/>
        </p:nvSpPr>
        <p:spPr>
          <a:xfrm>
            <a:off x="6638544" y="4343400"/>
            <a:ext cx="2084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</a:rPr>
              <a:t>TCN: layer order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</a:rPr>
              <a:t>is computational</a:t>
            </a:r>
            <a:endParaRPr lang="en-US" sz="1500" dirty="0"/>
          </a:p>
        </p:txBody>
      </p:sp>
      <p:sp>
        <p:nvSpPr>
          <p:cNvPr id="60" name="Text 58"/>
          <p:cNvSpPr/>
          <p:nvPr/>
        </p:nvSpPr>
        <p:spPr>
          <a:xfrm>
            <a:off x="685800" y="6263639"/>
            <a:ext cx="9931400" cy="41147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75569"/>
                </a:solidFill>
              </a:rPr>
              <a:t>TCNs still process layers sequentially, but not </a:t>
            </a:r>
            <a:r>
              <a:rPr lang="en-US" sz="1600" b="1" i="1" dirty="0">
                <a:solidFill>
                  <a:srgbClr val="475569"/>
                </a:solidFill>
              </a:rPr>
              <a:t>individual positions within one convolutional layer.</a:t>
            </a:r>
            <a:endParaRPr lang="en-US" sz="1600" b="1" dirty="0"/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2CB4014-A2C6-5835-31E9-54603A0D1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TCN memory is represented differently from RNN memory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C19CCF3-FCE9-D776-FD24-2B60C92BFCB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GB" b="1" dirty="0"/>
              <a:t>RNN / LSTM / GRU</a:t>
            </a:r>
          </a:p>
          <a:p>
            <a:r>
              <a:rPr lang="en-GB" dirty="0"/>
              <a:t>Historical information is compressed into a recurrent state:</a:t>
            </a:r>
          </a:p>
          <a:p>
            <a:pPr lvl="1"/>
            <a:r>
              <a:rPr lang="en-GB" dirty="0">
                <a:highlight>
                  <a:srgbClr val="FFFF00"/>
                </a:highlight>
              </a:rPr>
              <a:t>h[t] and optionally c[t]</a:t>
            </a:r>
          </a:p>
          <a:p>
            <a:endParaRPr lang="en-GB" b="1" dirty="0"/>
          </a:p>
          <a:p>
            <a:r>
              <a:rPr lang="en-GB" b="1" dirty="0"/>
              <a:t>TCN</a:t>
            </a:r>
          </a:p>
          <a:p>
            <a:r>
              <a:rPr lang="en-GB" dirty="0"/>
              <a:t>There is no recurrent state passed from one time step to the next.</a:t>
            </a:r>
          </a:p>
          <a:p>
            <a:r>
              <a:rPr lang="en-GB" dirty="0">
                <a:solidFill>
                  <a:schemeClr val="tx1"/>
                </a:solidFill>
              </a:rPr>
              <a:t>History is represented through:</a:t>
            </a:r>
          </a:p>
          <a:p>
            <a:pPr lvl="1"/>
            <a:r>
              <a:rPr lang="en-GB" dirty="0">
                <a:solidFill>
                  <a:schemeClr val="tx1"/>
                </a:solidFill>
              </a:rPr>
              <a:t>convolutional feature maps; </a:t>
            </a:r>
          </a:p>
          <a:p>
            <a:pPr lvl="1"/>
            <a:r>
              <a:rPr lang="en-GB" dirty="0">
                <a:solidFill>
                  <a:schemeClr val="tx1"/>
                </a:solidFill>
              </a:rPr>
              <a:t>receptive-field connections. 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AB364C2-BCE9-A7E5-4ADE-BAA05D298C4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GB" b="1" dirty="0"/>
              <a:t>Consequence</a:t>
            </a:r>
          </a:p>
          <a:p>
            <a:r>
              <a:rPr lang="en-GB" dirty="0"/>
              <a:t>RNN memory:</a:t>
            </a:r>
          </a:p>
          <a:p>
            <a:pPr lvl="1"/>
            <a:r>
              <a:rPr lang="en-GB" dirty="0">
                <a:solidFill>
                  <a:schemeClr val="tx1"/>
                </a:solidFill>
              </a:rPr>
              <a:t>state-based; </a:t>
            </a:r>
          </a:p>
          <a:p>
            <a:pPr lvl="1"/>
            <a:r>
              <a:rPr lang="en-GB" b="1" dirty="0"/>
              <a:t>potentially variable in what it retains. </a:t>
            </a:r>
          </a:p>
          <a:p>
            <a:r>
              <a:rPr lang="en-GB" dirty="0"/>
              <a:t>TCN memory:</a:t>
            </a:r>
          </a:p>
          <a:p>
            <a:pPr lvl="1"/>
            <a:r>
              <a:rPr lang="en-GB" dirty="0"/>
              <a:t>limited explicitly by receptive field; </a:t>
            </a:r>
          </a:p>
          <a:p>
            <a:pPr lvl="1"/>
            <a:r>
              <a:rPr lang="en-GB" b="1" dirty="0">
                <a:highlight>
                  <a:srgbClr val="FFFF00"/>
                </a:highlight>
              </a:rPr>
              <a:t>structurally determined by architecture. 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F2F5046-E75F-FE36-6589-8A171937CF05}"/>
              </a:ext>
            </a:extLst>
          </p:cNvPr>
          <p:cNvSpPr txBox="1"/>
          <p:nvPr/>
        </p:nvSpPr>
        <p:spPr>
          <a:xfrm>
            <a:off x="5089970" y="5579696"/>
            <a:ext cx="67210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A TCN cannot use information outside its receptive field, but information inside the field does not need to survive repeated recurrent state updates.</a:t>
            </a:r>
          </a:p>
        </p:txBody>
      </p:sp>
    </p:spTree>
    <p:extLst>
      <p:ext uri="{BB962C8B-B14F-4D97-AF65-F5344CB8AC3E}">
        <p14:creationId xmlns:p14="http://schemas.microsoft.com/office/powerpoint/2010/main" val="3511716005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1356971-1838-DE32-7FF0-18D6B0912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RNN memory versus TCN receptive field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0DE6BF6-9889-72D5-2062-D33812A9FF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8"/>
            <a:ext cx="4936066" cy="4303711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Consider a dependency between:</a:t>
            </a:r>
          </a:p>
          <a:p>
            <a:pPr lvl="1"/>
            <a:r>
              <a:rPr lang="en-GB" dirty="0"/>
              <a:t>an </a:t>
            </a:r>
            <a:r>
              <a:rPr lang="en-GB" b="1" dirty="0"/>
              <a:t>event at time t−200; </a:t>
            </a:r>
          </a:p>
          <a:p>
            <a:pPr lvl="1"/>
            <a:r>
              <a:rPr lang="en-GB" b="1" dirty="0"/>
              <a:t>prediction at time t. </a:t>
            </a:r>
          </a:p>
          <a:p>
            <a:r>
              <a:rPr lang="en-GB" b="1" dirty="0"/>
              <a:t>RNN</a:t>
            </a:r>
          </a:p>
          <a:p>
            <a:r>
              <a:rPr lang="en-GB" dirty="0">
                <a:highlight>
                  <a:srgbClr val="FFFF00"/>
                </a:highlight>
              </a:rPr>
              <a:t>Information must be preserved through:</a:t>
            </a:r>
          </a:p>
          <a:p>
            <a:r>
              <a:rPr lang="en-GB" dirty="0">
                <a:highlight>
                  <a:srgbClr val="FFFF00"/>
                </a:highlight>
              </a:rPr>
              <a:t>h[t−200] → h[t−199] → ... → h[t]</a:t>
            </a:r>
          </a:p>
          <a:p>
            <a:endParaRPr lang="en-GB" b="1" dirty="0"/>
          </a:p>
          <a:p>
            <a:r>
              <a:rPr lang="en-GB" b="1" dirty="0"/>
              <a:t>TCN</a:t>
            </a:r>
          </a:p>
          <a:p>
            <a:r>
              <a:rPr lang="en-GB" b="1" dirty="0"/>
              <a:t>There must be a convolutional path connecting:</a:t>
            </a:r>
          </a:p>
          <a:p>
            <a:r>
              <a:rPr lang="en-GB" b="1" dirty="0"/>
              <a:t>x[t−200]</a:t>
            </a:r>
          </a:p>
          <a:p>
            <a:r>
              <a:rPr lang="en-GB" b="1" dirty="0"/>
              <a:t>to the output at: t</a:t>
            </a:r>
          </a:p>
          <a:p>
            <a:r>
              <a:rPr lang="en-GB" dirty="0"/>
              <a:t>If the receptive field covers at least 201 samples, such a path exists.</a:t>
            </a:r>
            <a:br>
              <a:rPr lang="en-GB" dirty="0"/>
            </a:br>
            <a:endParaRPr lang="en-GB" dirty="0"/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711508B-5919-C3E0-D7E4-C54917BA1E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55270" y="2160588"/>
            <a:ext cx="5133530" cy="4418012"/>
          </a:xfrm>
        </p:spPr>
        <p:txBody>
          <a:bodyPr>
            <a:normAutofit fontScale="85000" lnSpcReduction="20000"/>
          </a:bodyPr>
          <a:lstStyle/>
          <a:p>
            <a:r>
              <a:rPr lang="en-GB" b="1" dirty="0"/>
              <a:t>Main contrast</a:t>
            </a:r>
          </a:p>
          <a:p>
            <a:r>
              <a:rPr lang="en-GB" dirty="0">
                <a:highlight>
                  <a:srgbClr val="FFFF00"/>
                </a:highlight>
              </a:rPr>
              <a:t>RNN:</a:t>
            </a:r>
          </a:p>
          <a:p>
            <a:r>
              <a:rPr lang="en-GB" dirty="0">
                <a:highlight>
                  <a:srgbClr val="FFFF00"/>
                </a:highlight>
              </a:rPr>
              <a:t>learn what state information survives.</a:t>
            </a:r>
          </a:p>
          <a:p>
            <a:endParaRPr lang="en-GB" dirty="0"/>
          </a:p>
          <a:p>
            <a:r>
              <a:rPr lang="en-GB" dirty="0"/>
              <a:t>TCN:</a:t>
            </a:r>
          </a:p>
          <a:p>
            <a:r>
              <a:rPr lang="en-GB" dirty="0">
                <a:highlight>
                  <a:srgbClr val="FFFF00"/>
                </a:highlight>
              </a:rPr>
              <a:t>design a connectivity structure wide enough to include the relevant history.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4956456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04120" y="0"/>
            <a:ext cx="1828800" cy="6858000"/>
          </a:xfrm>
          <a:prstGeom prst="parallelogram">
            <a:avLst/>
          </a:prstGeom>
          <a:solidFill>
            <a:srgbClr val="86B817">
              <a:alpha val="92000"/>
            </a:srgbClr>
          </a:solidFill>
          <a:ln w="12700">
            <a:solidFill>
              <a:srgbClr val="86B8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835640" y="0"/>
            <a:ext cx="1188720" cy="6858000"/>
          </a:xfrm>
          <a:prstGeom prst="parallelogram">
            <a:avLst/>
          </a:prstGeom>
          <a:solidFill>
            <a:srgbClr val="5F8E2F">
              <a:alpha val="80000"/>
            </a:srgbClr>
          </a:solidFill>
          <a:ln w="12700">
            <a:solidFill>
              <a:srgbClr val="5F8E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9372600" y="0"/>
            <a:ext cx="1143000" cy="6858000"/>
          </a:xfrm>
          <a:prstGeom prst="parallelogram">
            <a:avLst/>
          </a:prstGeom>
          <a:solidFill>
            <a:srgbClr val="A6CE39">
              <a:alpha val="40000"/>
            </a:srgbClr>
          </a:solidFill>
          <a:ln w="12700">
            <a:solidFill>
              <a:srgbClr val="A6CE3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9281160" y="0"/>
            <a:ext cx="594360" cy="6858000"/>
          </a:xfrm>
          <a:prstGeom prst="line">
            <a:avLst/>
          </a:prstGeom>
          <a:noFill/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RNN memory versus TCN receptive field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12648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Two different ways to connect past events to current predictions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1234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RNN / LSTM / GRU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2011680"/>
            <a:ext cx="41148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3970">
            <a:solidFill>
              <a:srgbClr val="2B73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969264" y="2057400"/>
            <a:ext cx="301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73FF"/>
                </a:solidFill>
              </a:rPr>
              <a:t>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325880" y="2185416"/>
            <a:ext cx="274320" cy="0"/>
          </a:xfrm>
          <a:prstGeom prst="line">
            <a:avLst/>
          </a:prstGeom>
          <a:noFill/>
          <a:ln w="15240">
            <a:solidFill>
              <a:srgbClr val="2B73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1600200" y="2011680"/>
            <a:ext cx="41148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3970">
            <a:solidFill>
              <a:srgbClr val="2B73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1655064" y="2057400"/>
            <a:ext cx="301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73FF"/>
                </a:solidFill>
              </a:rPr>
              <a:t>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0" y="2185416"/>
            <a:ext cx="274320" cy="0"/>
          </a:xfrm>
          <a:prstGeom prst="line">
            <a:avLst/>
          </a:prstGeom>
          <a:noFill/>
          <a:ln w="15240">
            <a:solidFill>
              <a:srgbClr val="2B73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2286000" y="2011680"/>
            <a:ext cx="41148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3970">
            <a:solidFill>
              <a:srgbClr val="2B73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2340864" y="2057400"/>
            <a:ext cx="301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73FF"/>
                </a:solidFill>
              </a:rPr>
              <a:t>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697480" y="2185416"/>
            <a:ext cx="274320" cy="0"/>
          </a:xfrm>
          <a:prstGeom prst="line">
            <a:avLst/>
          </a:prstGeom>
          <a:noFill/>
          <a:ln w="15240">
            <a:solidFill>
              <a:srgbClr val="2B73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2971800" y="2011680"/>
            <a:ext cx="41148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3970">
            <a:solidFill>
              <a:srgbClr val="2B73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3026664" y="2057400"/>
            <a:ext cx="301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73FF"/>
                </a:solidFill>
              </a:rPr>
              <a:t>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83280" y="2185416"/>
            <a:ext cx="274320" cy="0"/>
          </a:xfrm>
          <a:prstGeom prst="line">
            <a:avLst/>
          </a:prstGeom>
          <a:noFill/>
          <a:ln w="15240">
            <a:solidFill>
              <a:srgbClr val="2B73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3657600" y="2011680"/>
            <a:ext cx="41148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3970">
            <a:solidFill>
              <a:srgbClr val="2B73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3712464" y="2057400"/>
            <a:ext cx="301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73FF"/>
                </a:solidFill>
              </a:rPr>
              <a:t>h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069080" y="2185416"/>
            <a:ext cx="274320" cy="0"/>
          </a:xfrm>
          <a:prstGeom prst="line">
            <a:avLst/>
          </a:prstGeom>
          <a:noFill/>
          <a:ln w="15240">
            <a:solidFill>
              <a:srgbClr val="2B73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4343400" y="2011680"/>
            <a:ext cx="41148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3970">
            <a:solidFill>
              <a:srgbClr val="2B73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4398264" y="2057400"/>
            <a:ext cx="301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73FF"/>
                </a:solidFill>
              </a:rPr>
              <a:t>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2185416"/>
            <a:ext cx="274320" cy="0"/>
          </a:xfrm>
          <a:prstGeom prst="line">
            <a:avLst/>
          </a:prstGeom>
          <a:noFill/>
          <a:ln w="15240">
            <a:solidFill>
              <a:srgbClr val="2B73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5029200" y="2011680"/>
            <a:ext cx="41148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3970">
            <a:solidFill>
              <a:srgbClr val="2B73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5084064" y="2057400"/>
            <a:ext cx="301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73FF"/>
                </a:solidFill>
              </a:rPr>
              <a:t>h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14400" y="26060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information must survive state updates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4400" y="34290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TCN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14400" y="4297680"/>
            <a:ext cx="486460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864108" y="424738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1120140" y="424738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1376172" y="424738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1632204" y="424738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1888236" y="424738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2144268" y="424738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2400300" y="424738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2656332" y="424738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2912364" y="424738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Shape 39"/>
          <p:cNvSpPr/>
          <p:nvPr/>
        </p:nvSpPr>
        <p:spPr>
          <a:xfrm>
            <a:off x="3168396" y="424738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Shape 40"/>
          <p:cNvSpPr/>
          <p:nvPr/>
        </p:nvSpPr>
        <p:spPr>
          <a:xfrm>
            <a:off x="3424428" y="424738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41"/>
          <p:cNvSpPr/>
          <p:nvPr/>
        </p:nvSpPr>
        <p:spPr>
          <a:xfrm>
            <a:off x="3680460" y="424738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Shape 42"/>
          <p:cNvSpPr/>
          <p:nvPr/>
        </p:nvSpPr>
        <p:spPr>
          <a:xfrm>
            <a:off x="3936492" y="424738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Shape 43"/>
          <p:cNvSpPr/>
          <p:nvPr/>
        </p:nvSpPr>
        <p:spPr>
          <a:xfrm>
            <a:off x="4192524" y="424738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Shape 44"/>
          <p:cNvSpPr/>
          <p:nvPr/>
        </p:nvSpPr>
        <p:spPr>
          <a:xfrm>
            <a:off x="4448556" y="424738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Shape 45"/>
          <p:cNvSpPr/>
          <p:nvPr/>
        </p:nvSpPr>
        <p:spPr>
          <a:xfrm>
            <a:off x="4704588" y="424738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Shape 46"/>
          <p:cNvSpPr/>
          <p:nvPr/>
        </p:nvSpPr>
        <p:spPr>
          <a:xfrm>
            <a:off x="4960620" y="424738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5216652" y="424738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Shape 48"/>
          <p:cNvSpPr/>
          <p:nvPr/>
        </p:nvSpPr>
        <p:spPr>
          <a:xfrm>
            <a:off x="5472684" y="424738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Shape 49"/>
          <p:cNvSpPr/>
          <p:nvPr/>
        </p:nvSpPr>
        <p:spPr>
          <a:xfrm>
            <a:off x="5728716" y="4247388"/>
            <a:ext cx="100584" cy="100584"/>
          </a:xfrm>
          <a:prstGeom prst="ellipse">
            <a:avLst/>
          </a:prstGeom>
          <a:solidFill>
            <a:srgbClr val="FFFFFF"/>
          </a:solidFill>
          <a:ln w="889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Shape 50"/>
          <p:cNvSpPr/>
          <p:nvPr/>
        </p:nvSpPr>
        <p:spPr>
          <a:xfrm>
            <a:off x="864108" y="4247388"/>
            <a:ext cx="100584" cy="100584"/>
          </a:xfrm>
          <a:prstGeom prst="ellipse">
            <a:avLst/>
          </a:prstGeom>
          <a:solidFill>
            <a:srgbClr val="F1B400"/>
          </a:solidFill>
          <a:ln w="15240">
            <a:solidFill>
              <a:srgbClr val="F1B4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Shape 51"/>
          <p:cNvSpPr/>
          <p:nvPr/>
        </p:nvSpPr>
        <p:spPr>
          <a:xfrm>
            <a:off x="5728716" y="4247388"/>
            <a:ext cx="100584" cy="100584"/>
          </a:xfrm>
          <a:prstGeom prst="ellipse">
            <a:avLst/>
          </a:prstGeom>
          <a:solidFill>
            <a:srgbClr val="86B817"/>
          </a:solidFill>
          <a:ln w="15240">
            <a:solidFill>
              <a:srgbClr val="86B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Shape 52"/>
          <p:cNvSpPr/>
          <p:nvPr/>
        </p:nvSpPr>
        <p:spPr>
          <a:xfrm>
            <a:off x="914400" y="4005072"/>
            <a:ext cx="4864608" cy="0"/>
          </a:xfrm>
          <a:prstGeom prst="line">
            <a:avLst/>
          </a:prstGeom>
          <a:noFill/>
          <a:ln w="25400">
            <a:solidFill>
              <a:srgbClr val="86B81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55" name="Text 53"/>
          <p:cNvSpPr/>
          <p:nvPr/>
        </p:nvSpPr>
        <p:spPr>
          <a:xfrm>
            <a:off x="914400" y="480060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connectivity path must exist inside receptive field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6400800" y="1828800"/>
            <a:ext cx="2468880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3970">
            <a:solidFill>
              <a:srgbClr val="2B73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Text 55"/>
          <p:cNvSpPr/>
          <p:nvPr/>
        </p:nvSpPr>
        <p:spPr>
          <a:xfrm>
            <a:off x="6455664" y="1874520"/>
            <a:ext cx="2359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</a:rPr>
              <a:t>RNN: learn what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</a:rPr>
              <a:t>state retains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6400800" y="3840480"/>
            <a:ext cx="2468880" cy="822960"/>
          </a:xfrm>
          <a:prstGeom prst="roundRect">
            <a:avLst>
              <a:gd name="adj" fmla="val 8889"/>
            </a:avLst>
          </a:prstGeom>
          <a:solidFill>
            <a:srgbClr val="EAF5D5"/>
          </a:solidFill>
          <a:ln w="13970">
            <a:solidFill>
              <a:srgbClr val="86B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Text 57"/>
          <p:cNvSpPr/>
          <p:nvPr/>
        </p:nvSpPr>
        <p:spPr>
          <a:xfrm>
            <a:off x="6455664" y="3886200"/>
            <a:ext cx="2359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</a:rPr>
              <a:t>TCN: design wide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</a:rPr>
              <a:t>enough RF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685800" y="6263640"/>
            <a:ext cx="79552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475569"/>
                </a:solidFill>
              </a:rPr>
              <a:t>RNNs compress history into state; TCNs expose history through an explicit receptive field.</a:t>
            </a:r>
            <a:endParaRPr lang="en-US" sz="1400" b="1" dirty="0"/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D7100E8-843F-1F65-70FF-325CC0074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TCN for sequence labelling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8B6DDB2-1AC5-49B0-8BC7-AA939ACB91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873066" cy="4267920"/>
          </a:xfrm>
        </p:spPr>
        <p:txBody>
          <a:bodyPr>
            <a:normAutofit fontScale="70000" lnSpcReduction="20000"/>
          </a:bodyPr>
          <a:lstStyle/>
          <a:p>
            <a:r>
              <a:rPr lang="en-GB" dirty="0"/>
              <a:t>Because TCNs can preserve temporal length, they are well suited to per-time-step prediction.</a:t>
            </a:r>
          </a:p>
          <a:p>
            <a:r>
              <a:rPr lang="en-GB" b="1" dirty="0"/>
              <a:t>Input: [N, L, d]</a:t>
            </a:r>
          </a:p>
          <a:p>
            <a:r>
              <a:rPr lang="en-GB" b="1" dirty="0"/>
              <a:t>TCN output: [N, L, F]</a:t>
            </a:r>
          </a:p>
          <a:p>
            <a:r>
              <a:rPr lang="en-GB" b="1" dirty="0"/>
              <a:t>Prediction layer: [N, L, K] for K classes.</a:t>
            </a:r>
          </a:p>
          <a:p>
            <a:endParaRPr lang="en-GB" b="1" dirty="0"/>
          </a:p>
          <a:p>
            <a:r>
              <a:rPr lang="en-GB" b="1" dirty="0"/>
              <a:t>Example</a:t>
            </a:r>
          </a:p>
          <a:p>
            <a:r>
              <a:rPr lang="en-GB" dirty="0"/>
              <a:t>sensor sequence</a:t>
            </a:r>
          </a:p>
          <a:p>
            <a:r>
              <a:rPr lang="en-GB" dirty="0"/>
              <a:t>      ↓</a:t>
            </a:r>
          </a:p>
          <a:p>
            <a:r>
              <a:rPr lang="en-GB" dirty="0"/>
              <a:t>causal TCN</a:t>
            </a:r>
          </a:p>
          <a:p>
            <a:r>
              <a:rPr lang="en-GB" dirty="0"/>
              <a:t>      ↓</a:t>
            </a:r>
          </a:p>
          <a:p>
            <a:r>
              <a:rPr lang="en-GB" dirty="0"/>
              <a:t>temporal feature map</a:t>
            </a:r>
          </a:p>
          <a:p>
            <a:r>
              <a:rPr lang="en-GB" dirty="0"/>
              <a:t>      ↓</a:t>
            </a:r>
          </a:p>
          <a:p>
            <a:r>
              <a:rPr lang="en-GB" dirty="0"/>
              <a:t>classification at every time step</a:t>
            </a:r>
          </a:p>
          <a:p>
            <a:r>
              <a:rPr lang="en-GB" dirty="0"/>
              <a:t>      ↓</a:t>
            </a:r>
          </a:p>
          <a:p>
            <a:r>
              <a:rPr lang="en-GB" dirty="0"/>
              <a:t>normal / warning / fault</a:t>
            </a:r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556E7003-766F-ACFB-A9DB-010E16FE18FC}"/>
              </a:ext>
            </a:extLst>
          </p:cNvPr>
          <p:cNvSpPr txBox="1"/>
          <p:nvPr/>
        </p:nvSpPr>
        <p:spPr>
          <a:xfrm>
            <a:off x="4607368" y="3623921"/>
            <a:ext cx="61087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dirty="0"/>
              <a:t>Causal version</a:t>
            </a:r>
          </a:p>
          <a:p>
            <a:r>
              <a:rPr lang="en-GB" sz="1400" dirty="0"/>
              <a:t>Prediction at t uses only: x[1], ..., x[t]</a:t>
            </a:r>
          </a:p>
          <a:p>
            <a:r>
              <a:rPr lang="en-GB" sz="1400" b="1" dirty="0"/>
              <a:t>Non-causal version</a:t>
            </a:r>
          </a:p>
          <a:p>
            <a:r>
              <a:rPr lang="en-GB" sz="1400" dirty="0"/>
              <a:t>Can be used when the complete sequence is available offline.</a:t>
            </a:r>
          </a:p>
        </p:txBody>
      </p:sp>
    </p:spTree>
    <p:extLst>
      <p:ext uri="{BB962C8B-B14F-4D97-AF65-F5344CB8AC3E}">
        <p14:creationId xmlns:p14="http://schemas.microsoft.com/office/powerpoint/2010/main" val="2775160245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B191A68-185D-ADD8-F0D7-534DAFA87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34" y="381000"/>
            <a:ext cx="8596668" cy="1320800"/>
          </a:xfrm>
        </p:spPr>
        <p:txBody>
          <a:bodyPr/>
          <a:lstStyle/>
          <a:p>
            <a:r>
              <a:rPr lang="en-GB" dirty="0"/>
              <a:t>TCN for forecasting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540012E-326C-94BC-FF7F-F28E3FA89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9034" y="1270000"/>
            <a:ext cx="5304366" cy="5372100"/>
          </a:xfrm>
        </p:spPr>
        <p:txBody>
          <a:bodyPr>
            <a:normAutofit fontScale="85000" lnSpcReduction="20000"/>
          </a:bodyPr>
          <a:lstStyle/>
          <a:p>
            <a:r>
              <a:rPr lang="en-GB" b="1" dirty="0"/>
              <a:t>One-step forecasting</a:t>
            </a:r>
          </a:p>
          <a:p>
            <a:r>
              <a:rPr lang="en-GB" dirty="0"/>
              <a:t>history</a:t>
            </a:r>
          </a:p>
          <a:p>
            <a:r>
              <a:rPr lang="en-GB" dirty="0"/>
              <a:t>  ↓</a:t>
            </a:r>
          </a:p>
          <a:p>
            <a:r>
              <a:rPr lang="en-GB" dirty="0"/>
              <a:t>causal TCN</a:t>
            </a:r>
          </a:p>
          <a:p>
            <a:r>
              <a:rPr lang="en-GB" dirty="0"/>
              <a:t>  ↓</a:t>
            </a:r>
          </a:p>
          <a:p>
            <a:r>
              <a:rPr lang="en-GB" dirty="0"/>
              <a:t>representation at time t</a:t>
            </a:r>
          </a:p>
          <a:p>
            <a:r>
              <a:rPr lang="en-GB" dirty="0"/>
              <a:t>  ↓</a:t>
            </a:r>
          </a:p>
          <a:p>
            <a:r>
              <a:rPr lang="en-GB" dirty="0" err="1"/>
              <a:t>y_hat</a:t>
            </a:r>
            <a:r>
              <a:rPr lang="en-GB" dirty="0"/>
              <a:t>[t+1]</a:t>
            </a:r>
          </a:p>
          <a:p>
            <a:endParaRPr lang="en-GB" b="1" dirty="0"/>
          </a:p>
          <a:p>
            <a:r>
              <a:rPr lang="en-GB" b="1" dirty="0"/>
              <a:t>Direct multi-horizon forecasting</a:t>
            </a:r>
          </a:p>
          <a:p>
            <a:r>
              <a:rPr lang="en-GB" dirty="0"/>
              <a:t>history</a:t>
            </a:r>
          </a:p>
          <a:p>
            <a:r>
              <a:rPr lang="en-GB" dirty="0"/>
              <a:t>  ↓</a:t>
            </a:r>
          </a:p>
          <a:p>
            <a:r>
              <a:rPr lang="en-GB" dirty="0"/>
              <a:t>causal TCN</a:t>
            </a:r>
          </a:p>
          <a:p>
            <a:r>
              <a:rPr lang="en-GB" dirty="0"/>
              <a:t>  ↓</a:t>
            </a:r>
          </a:p>
          <a:p>
            <a:r>
              <a:rPr lang="en-GB" dirty="0"/>
              <a:t>representation</a:t>
            </a:r>
          </a:p>
          <a:p>
            <a:r>
              <a:rPr lang="en-GB" dirty="0"/>
              <a:t>  ↓</a:t>
            </a:r>
          </a:p>
          <a:p>
            <a:r>
              <a:rPr lang="en-GB" dirty="0"/>
              <a:t>[</a:t>
            </a:r>
            <a:r>
              <a:rPr lang="en-GB" dirty="0" err="1"/>
              <a:t>y_hat</a:t>
            </a:r>
            <a:r>
              <a:rPr lang="en-GB" dirty="0"/>
              <a:t>[t+1], ..., </a:t>
            </a:r>
            <a:r>
              <a:rPr lang="en-GB" dirty="0" err="1"/>
              <a:t>y_hat</a:t>
            </a:r>
            <a:r>
              <a:rPr lang="en-GB" dirty="0"/>
              <a:t>[</a:t>
            </a:r>
            <a:r>
              <a:rPr lang="en-GB" dirty="0" err="1"/>
              <a:t>t+H</a:t>
            </a:r>
            <a:r>
              <a:rPr lang="en-GB" dirty="0"/>
              <a:t>]]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4A5AEBF-6F70-08B8-036F-A5B18693DE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3770" y="2231563"/>
            <a:ext cx="4184034" cy="3880773"/>
          </a:xfrm>
        </p:spPr>
        <p:txBody>
          <a:bodyPr>
            <a:normAutofit fontScale="85000" lnSpcReduction="20000"/>
          </a:bodyPr>
          <a:lstStyle/>
          <a:p>
            <a:r>
              <a:rPr lang="en-GB" b="1" dirty="0"/>
              <a:t>Obvious</a:t>
            </a:r>
          </a:p>
          <a:p>
            <a:r>
              <a:rPr lang="en-GB" dirty="0"/>
              <a:t>The receptive field should cover the historical context expected to influence the forecast.</a:t>
            </a:r>
          </a:p>
          <a:p>
            <a:endParaRPr lang="en-GB" b="1" dirty="0"/>
          </a:p>
          <a:p>
            <a:r>
              <a:rPr lang="en-GB" b="1" dirty="0"/>
              <a:t>Evaluation does not change</a:t>
            </a:r>
          </a:p>
          <a:p>
            <a:r>
              <a:rPr lang="en-GB" dirty="0"/>
              <a:t>Compare against:</a:t>
            </a:r>
          </a:p>
          <a:p>
            <a:pPr lvl="1"/>
            <a:r>
              <a:rPr lang="en-GB" dirty="0"/>
              <a:t>persistence; </a:t>
            </a:r>
          </a:p>
          <a:p>
            <a:pPr lvl="1"/>
            <a:r>
              <a:rPr lang="en-GB" dirty="0"/>
              <a:t>seasonal naïve; </a:t>
            </a:r>
          </a:p>
          <a:p>
            <a:pPr lvl="1"/>
            <a:r>
              <a:rPr lang="en-GB" dirty="0"/>
              <a:t>linear lag models; </a:t>
            </a:r>
          </a:p>
          <a:p>
            <a:pPr lvl="1"/>
            <a:r>
              <a:rPr lang="en-GB" dirty="0"/>
              <a:t>boosting; </a:t>
            </a:r>
          </a:p>
          <a:p>
            <a:pPr lvl="1"/>
            <a:r>
              <a:rPr lang="en-GB" dirty="0"/>
              <a:t>recurrent models. </a:t>
            </a:r>
          </a:p>
          <a:p>
            <a:endParaRPr lang="en-GB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B826211-B027-6666-ECE1-57F942713BE8}"/>
              </a:ext>
            </a:extLst>
          </p:cNvPr>
          <p:cNvSpPr txBox="1"/>
          <p:nvPr/>
        </p:nvSpPr>
        <p:spPr>
          <a:xfrm>
            <a:off x="5613400" y="623669"/>
            <a:ext cx="61087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A causal TCN can transform a historical sequence into a representation used for forecasting.</a:t>
            </a:r>
          </a:p>
        </p:txBody>
      </p:sp>
    </p:spTree>
    <p:extLst>
      <p:ext uri="{BB962C8B-B14F-4D97-AF65-F5344CB8AC3E}">
        <p14:creationId xmlns:p14="http://schemas.microsoft.com/office/powerpoint/2010/main" val="420482092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9A020F-1D04-CB28-F04F-5B7BFA42B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TCN for sequence classification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E293FAF-07F4-CC05-635B-A66BF76A835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/>
              <a:t>For classification of a complete window:</a:t>
            </a:r>
          </a:p>
          <a:p>
            <a:r>
              <a:rPr lang="en-GB" dirty="0"/>
              <a:t>input window</a:t>
            </a:r>
          </a:p>
          <a:p>
            <a:r>
              <a:rPr lang="en-GB" dirty="0"/>
              <a:t>    ↓</a:t>
            </a:r>
          </a:p>
          <a:p>
            <a:r>
              <a:rPr lang="en-GB" dirty="0"/>
              <a:t>temporal convolution blocks</a:t>
            </a:r>
          </a:p>
          <a:p>
            <a:r>
              <a:rPr lang="en-GB" dirty="0"/>
              <a:t>    ↓</a:t>
            </a:r>
          </a:p>
          <a:p>
            <a:r>
              <a:rPr lang="en-GB" dirty="0"/>
              <a:t>feature maps</a:t>
            </a:r>
          </a:p>
          <a:p>
            <a:r>
              <a:rPr lang="en-GB" dirty="0"/>
              <a:t>    ↓</a:t>
            </a:r>
          </a:p>
          <a:p>
            <a:r>
              <a:rPr lang="en-GB" dirty="0"/>
              <a:t>global pooling</a:t>
            </a:r>
          </a:p>
          <a:p>
            <a:r>
              <a:rPr lang="en-GB" dirty="0"/>
              <a:t>    ↓</a:t>
            </a:r>
          </a:p>
          <a:p>
            <a:r>
              <a:rPr lang="en-GB" dirty="0"/>
              <a:t>fixed-size vector</a:t>
            </a:r>
          </a:p>
          <a:p>
            <a:r>
              <a:rPr lang="en-GB" dirty="0"/>
              <a:t>    ↓</a:t>
            </a:r>
          </a:p>
          <a:p>
            <a:r>
              <a:rPr lang="en-GB" dirty="0"/>
              <a:t>classifier</a:t>
            </a:r>
          </a:p>
          <a:p>
            <a:br>
              <a:rPr lang="en-GB" dirty="0"/>
            </a:br>
            <a:endParaRPr lang="en-GB" dirty="0"/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47FEBD2-CEA8-2988-6C0D-826921B70A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42370" y="2149479"/>
            <a:ext cx="6272296" cy="4416422"/>
          </a:xfrm>
        </p:spPr>
        <p:txBody>
          <a:bodyPr>
            <a:normAutofit fontScale="70000" lnSpcReduction="20000"/>
          </a:bodyPr>
          <a:lstStyle/>
          <a:p>
            <a:r>
              <a:rPr lang="en-GB" sz="2300" b="1" dirty="0"/>
              <a:t>Causality may not be necessary</a:t>
            </a:r>
          </a:p>
          <a:p>
            <a:r>
              <a:rPr lang="en-GB" sz="2300" dirty="0"/>
              <a:t>If the complete window is available before classification, the model may use:</a:t>
            </a:r>
          </a:p>
          <a:p>
            <a:pPr lvl="1"/>
            <a:r>
              <a:rPr lang="en-GB" sz="2000" dirty="0"/>
              <a:t>causal convolution; </a:t>
            </a:r>
          </a:p>
          <a:p>
            <a:pPr lvl="1"/>
            <a:r>
              <a:rPr lang="en-GB" sz="2000" dirty="0"/>
              <a:t>non-causal convolution. </a:t>
            </a:r>
          </a:p>
          <a:p>
            <a:r>
              <a:rPr lang="en-GB" sz="2300" b="1" dirty="0"/>
              <a:t>The architecture should follow the deployment condition, not a general preference for causal models.</a:t>
            </a:r>
          </a:p>
          <a:p>
            <a:endParaRPr lang="en-GB" sz="2300" b="1" dirty="0"/>
          </a:p>
          <a:p>
            <a:r>
              <a:rPr lang="en-GB" sz="2300" b="1" dirty="0">
                <a:highlight>
                  <a:srgbClr val="FFFF00"/>
                </a:highlight>
              </a:rPr>
              <a:t>Example</a:t>
            </a:r>
          </a:p>
          <a:p>
            <a:r>
              <a:rPr lang="en-GB" sz="2300" dirty="0"/>
              <a:t>Classify a completed machine cycle as:</a:t>
            </a:r>
          </a:p>
          <a:p>
            <a:pPr lvl="1"/>
            <a:r>
              <a:rPr lang="en-GB" sz="2000" dirty="0"/>
              <a:t>normal; </a:t>
            </a:r>
          </a:p>
          <a:p>
            <a:pPr lvl="1"/>
            <a:r>
              <a:rPr lang="en-GB" sz="2000" dirty="0"/>
              <a:t>imbalance; </a:t>
            </a:r>
          </a:p>
          <a:p>
            <a:pPr lvl="1"/>
            <a:r>
              <a:rPr lang="en-GB" sz="2000" dirty="0"/>
              <a:t>bearing fault; </a:t>
            </a:r>
          </a:p>
          <a:p>
            <a:pPr lvl="1"/>
            <a:r>
              <a:rPr lang="en-GB" sz="2000" dirty="0"/>
              <a:t>misalignment. </a:t>
            </a:r>
          </a:p>
          <a:p>
            <a:pPr marL="0" indent="0">
              <a:buNone/>
            </a:pPr>
            <a:endParaRPr lang="en-GB" sz="2300" b="1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52159053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04120" y="0"/>
            <a:ext cx="1828800" cy="6858000"/>
          </a:xfrm>
          <a:prstGeom prst="parallelogram">
            <a:avLst/>
          </a:prstGeom>
          <a:solidFill>
            <a:srgbClr val="86B817">
              <a:alpha val="92000"/>
            </a:srgbClr>
          </a:solidFill>
          <a:ln w="12700">
            <a:solidFill>
              <a:srgbClr val="86B8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835640" y="0"/>
            <a:ext cx="1188720" cy="6858000"/>
          </a:xfrm>
          <a:prstGeom prst="parallelogram">
            <a:avLst/>
          </a:prstGeom>
          <a:solidFill>
            <a:srgbClr val="5F8E2F">
              <a:alpha val="80000"/>
            </a:srgbClr>
          </a:solidFill>
          <a:ln w="12700">
            <a:solidFill>
              <a:srgbClr val="5F8E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9372600" y="0"/>
            <a:ext cx="1143000" cy="6858000"/>
          </a:xfrm>
          <a:prstGeom prst="parallelogram">
            <a:avLst/>
          </a:prstGeom>
          <a:solidFill>
            <a:srgbClr val="A6CE39">
              <a:alpha val="40000"/>
            </a:srgbClr>
          </a:solidFill>
          <a:ln w="12700">
            <a:solidFill>
              <a:srgbClr val="A6CE3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9281160" y="0"/>
            <a:ext cx="594360" cy="6858000"/>
          </a:xfrm>
          <a:prstGeom prst="line">
            <a:avLst/>
          </a:prstGeom>
          <a:noFill/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TCNs support different temporal tasks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12648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75569"/>
                </a:solidFill>
              </a:rPr>
              <a:t>Same convolutional backbone, different output heads</a:t>
            </a:r>
            <a:endParaRPr lang="en-US" sz="1150" b="1" dirty="0"/>
          </a:p>
        </p:txBody>
      </p:sp>
      <p:sp>
        <p:nvSpPr>
          <p:cNvPr id="8" name="Shape 6"/>
          <p:cNvSpPr/>
          <p:nvPr/>
        </p:nvSpPr>
        <p:spPr>
          <a:xfrm>
            <a:off x="914400" y="2880360"/>
            <a:ext cx="1737360" cy="64008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 w="1397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969264" y="2926080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</a:rPr>
              <a:t>input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</a:rPr>
              <a:t>sequence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651760" y="3200400"/>
            <a:ext cx="100584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3703320" y="2560320"/>
            <a:ext cx="18288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3970">
            <a:solidFill>
              <a:srgbClr val="86B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3758184" y="2606040"/>
            <a:ext cx="17190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</a:rPr>
              <a:t>causal / non-causal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</a:rPr>
              <a:t>TCN backbone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 flipV="1">
            <a:off x="5532120" y="1581912"/>
            <a:ext cx="1152144" cy="1207008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6720840" y="123444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3970">
            <a:solidFill>
              <a:srgbClr val="2B73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775704" y="1280160"/>
            <a:ext cx="1901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73FF"/>
                </a:solidFill>
              </a:rPr>
              <a:t>sequence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B73FF"/>
                </a:solidFill>
              </a:rPr>
              <a:t>classification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32120" y="3200400"/>
            <a:ext cx="1143000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6720840" y="288036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3970">
            <a:solidFill>
              <a:srgbClr val="F1B4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6775704" y="2926080"/>
            <a:ext cx="1901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B400"/>
                </a:solidFill>
              </a:rPr>
              <a:t>sequence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1B400"/>
                </a:solidFill>
              </a:rPr>
              <a:t>labelling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532120" y="3611880"/>
            <a:ext cx="1143000" cy="123444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6720840" y="452628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397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6775704" y="4572000"/>
            <a:ext cx="1901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</a:rPr>
              <a:t>forecasting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5577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Use global pooling for one label; preserve temporal length for labels at every time step; use causal representation for forecasts.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85800" y="6263640"/>
            <a:ext cx="79552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75569"/>
                </a:solidFill>
              </a:rPr>
              <a:t>The task determines causality, temporal resolution, pooling strategy and output head.</a:t>
            </a:r>
            <a:endParaRPr lang="en-US" sz="1150" dirty="0"/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2DA6C898-E162-B194-8601-49A8BFA118CB}"/>
              </a:ext>
            </a:extLst>
          </p:cNvPr>
          <p:cNvSpPr txBox="1"/>
          <p:nvPr/>
        </p:nvSpPr>
        <p:spPr>
          <a:xfrm>
            <a:off x="8434070" y="5987308"/>
            <a:ext cx="34988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Evaluation and comparison with other methods does not change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4DED480-2895-CCFF-B244-02FC56601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TCN versus a standard temporal CNN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26A73C-70B0-43B3-7A98-0209652D82F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A standard temporal CNN may use:</a:t>
            </a:r>
          </a:p>
          <a:p>
            <a:pPr lvl="1"/>
            <a:r>
              <a:rPr lang="en-GB" dirty="0"/>
              <a:t>ordinary convolution; </a:t>
            </a:r>
          </a:p>
          <a:p>
            <a:pPr lvl="1"/>
            <a:r>
              <a:rPr lang="en-GB" dirty="0"/>
              <a:t>pooling; </a:t>
            </a:r>
          </a:p>
          <a:p>
            <a:pPr lvl="1"/>
            <a:r>
              <a:rPr lang="en-GB" dirty="0"/>
              <a:t>stride; </a:t>
            </a:r>
          </a:p>
          <a:p>
            <a:pPr lvl="1"/>
            <a:r>
              <a:rPr lang="en-GB" dirty="0"/>
              <a:t>non-causal padding. </a:t>
            </a:r>
          </a:p>
          <a:p>
            <a:endParaRPr lang="en-GB" dirty="0"/>
          </a:p>
          <a:p>
            <a:r>
              <a:rPr lang="en-GB" dirty="0">
                <a:highlight>
                  <a:srgbClr val="FFFF00"/>
                </a:highlight>
              </a:rPr>
              <a:t>A TCN generally emphasizes:</a:t>
            </a:r>
          </a:p>
          <a:p>
            <a:pPr lvl="1"/>
            <a:r>
              <a:rPr lang="en-GB" dirty="0"/>
              <a:t>causal convolution; </a:t>
            </a:r>
          </a:p>
          <a:p>
            <a:pPr lvl="1"/>
            <a:r>
              <a:rPr lang="en-GB" dirty="0"/>
              <a:t>dilation; </a:t>
            </a:r>
          </a:p>
          <a:p>
            <a:pPr lvl="1"/>
            <a:r>
              <a:rPr lang="en-GB" dirty="0"/>
              <a:t>preserved temporal resolution; </a:t>
            </a:r>
          </a:p>
          <a:p>
            <a:pPr lvl="1"/>
            <a:r>
              <a:rPr lang="en-GB" dirty="0"/>
              <a:t>residual connections; </a:t>
            </a:r>
          </a:p>
          <a:p>
            <a:pPr lvl="1"/>
            <a:r>
              <a:rPr lang="en-GB" dirty="0"/>
              <a:t>large receptive fields. 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8A8F827-3614-1D4E-A651-F0352E9110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61664" y="2160589"/>
            <a:ext cx="5653001" cy="4532311"/>
          </a:xfrm>
        </p:spPr>
        <p:txBody>
          <a:bodyPr>
            <a:normAutofit fontScale="92500" lnSpcReduction="20000"/>
          </a:bodyPr>
          <a:lstStyle/>
          <a:p>
            <a:r>
              <a:rPr lang="en-GB" b="1" dirty="0"/>
              <a:t>Standard CNN</a:t>
            </a:r>
          </a:p>
          <a:p>
            <a:r>
              <a:rPr lang="en-GB" dirty="0"/>
              <a:t>Often useful for:</a:t>
            </a:r>
          </a:p>
          <a:p>
            <a:pPr lvl="1"/>
            <a:r>
              <a:rPr lang="en-GB" dirty="0"/>
              <a:t>window classification; </a:t>
            </a:r>
          </a:p>
          <a:p>
            <a:pPr lvl="1"/>
            <a:r>
              <a:rPr lang="en-GB" dirty="0"/>
              <a:t>offline analysis; </a:t>
            </a:r>
          </a:p>
          <a:p>
            <a:pPr lvl="1"/>
            <a:r>
              <a:rPr lang="en-GB" dirty="0"/>
              <a:t>compact hierarchical representations. </a:t>
            </a:r>
          </a:p>
          <a:p>
            <a:r>
              <a:rPr lang="en-GB" b="1" dirty="0"/>
              <a:t>TCN</a:t>
            </a:r>
          </a:p>
          <a:p>
            <a:r>
              <a:rPr lang="en-GB" dirty="0"/>
              <a:t>Particularly useful for:</a:t>
            </a:r>
          </a:p>
          <a:p>
            <a:pPr lvl="1"/>
            <a:r>
              <a:rPr lang="en-GB" dirty="0"/>
              <a:t>temporal sequence modelling with long context;</a:t>
            </a:r>
          </a:p>
          <a:p>
            <a:pPr lvl="1"/>
            <a:r>
              <a:rPr lang="en-GB" dirty="0"/>
              <a:t>forecasting from past observations;</a:t>
            </a:r>
          </a:p>
          <a:p>
            <a:pPr lvl="1"/>
            <a:r>
              <a:rPr lang="en-GB" dirty="0"/>
              <a:t>causal/online prediction as data arrive;</a:t>
            </a:r>
          </a:p>
          <a:p>
            <a:pPr lvl="1"/>
            <a:r>
              <a:rPr lang="en-GB" dirty="0"/>
              <a:t>tasks requiring large receptive fields without recurrent processing.</a:t>
            </a:r>
            <a:endParaRPr lang="en-GB" b="1" dirty="0"/>
          </a:p>
          <a:p>
            <a:r>
              <a:rPr lang="en-GB" b="1" dirty="0"/>
              <a:t>The term “TCN” describes an architectural family rather than one unique fixed network.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19661679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D706CFE-ED1C-EAD9-0EC3-68EC3773E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Strengths of TCNs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27AAE60-442F-45D0-1FD4-FD8E0E1C1D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Long temporal context</a:t>
            </a:r>
          </a:p>
          <a:p>
            <a:r>
              <a:rPr lang="en-GB" dirty="0"/>
              <a:t>Dilation allows rapid receptive-field growth.</a:t>
            </a:r>
          </a:p>
          <a:p>
            <a:r>
              <a:rPr lang="en-GB" b="1" dirty="0"/>
              <a:t>Parallel computation</a:t>
            </a:r>
          </a:p>
          <a:p>
            <a:r>
              <a:rPr lang="en-GB" dirty="0"/>
              <a:t>Temporal positions within each convolutional layer can be processed simultaneously.</a:t>
            </a:r>
          </a:p>
          <a:p>
            <a:r>
              <a:rPr lang="en-GB" b="1" dirty="0"/>
              <a:t>Stable gradient paths</a:t>
            </a:r>
          </a:p>
          <a:p>
            <a:r>
              <a:rPr lang="en-GB" dirty="0"/>
              <a:t>Training does not require gradients to pass through hundreds of recurrent state transitions.</a:t>
            </a:r>
          </a:p>
          <a:p>
            <a:r>
              <a:rPr lang="en-GB" b="1" dirty="0"/>
              <a:t>Explicit receptive field</a:t>
            </a:r>
          </a:p>
          <a:p>
            <a:r>
              <a:rPr lang="en-GB" dirty="0"/>
              <a:t>Historical context can be calculated from the architecture.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9202010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BB1C5-0ADE-35CF-1D5F-B9DE75FA8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CBAB732-1038-E109-2D5D-3986563DE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Strengths of TCNs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005A647-7ED8-1B18-7868-8C5EC87C61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Flexible output structure</a:t>
            </a:r>
          </a:p>
          <a:p>
            <a:r>
              <a:rPr lang="en-GB" dirty="0"/>
              <a:t>TCNs support:</a:t>
            </a:r>
          </a:p>
          <a:p>
            <a:pPr lvl="1"/>
            <a:r>
              <a:rPr lang="en-GB" dirty="0"/>
              <a:t>classification; </a:t>
            </a:r>
          </a:p>
          <a:p>
            <a:pPr lvl="1"/>
            <a:r>
              <a:rPr lang="en-GB" dirty="0"/>
              <a:t>regression; </a:t>
            </a:r>
          </a:p>
          <a:p>
            <a:pPr lvl="1"/>
            <a:r>
              <a:rPr lang="en-GB" dirty="0"/>
              <a:t>sequence labelling; </a:t>
            </a:r>
          </a:p>
          <a:p>
            <a:pPr lvl="1"/>
            <a:r>
              <a:rPr lang="en-GB" dirty="0"/>
              <a:t>forecasting. </a:t>
            </a:r>
          </a:p>
          <a:p>
            <a:endParaRPr lang="en-GB" b="1" dirty="0"/>
          </a:p>
          <a:p>
            <a:r>
              <a:rPr lang="en-GB" b="1" dirty="0"/>
              <a:t>Causal processing</a:t>
            </a:r>
          </a:p>
          <a:p>
            <a:r>
              <a:rPr lang="en-GB" dirty="0"/>
              <a:t>They can operate without future information when required.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37188178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D2ADBC6-68B8-CEDB-E8AC-E66647FE7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Limitations of TCNs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3BA3BC2-3A86-767A-DFF5-4FD51A1516B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b="1" dirty="0"/>
              <a:t>Fixed receptive field</a:t>
            </a:r>
          </a:p>
          <a:p>
            <a:r>
              <a:rPr lang="en-GB" dirty="0"/>
              <a:t>Information outside the designed receptive field is inaccessible.</a:t>
            </a:r>
          </a:p>
          <a:p>
            <a:endParaRPr lang="en-GB" b="1" dirty="0"/>
          </a:p>
          <a:p>
            <a:r>
              <a:rPr lang="en-GB" b="1" dirty="0"/>
              <a:t>Architecture design matters</a:t>
            </a:r>
          </a:p>
          <a:p>
            <a:r>
              <a:rPr lang="en-GB" dirty="0"/>
              <a:t>The modeller must choose:</a:t>
            </a:r>
          </a:p>
          <a:p>
            <a:pPr lvl="1"/>
            <a:r>
              <a:rPr lang="en-GB" dirty="0"/>
              <a:t>depth; </a:t>
            </a:r>
          </a:p>
          <a:p>
            <a:pPr lvl="1"/>
            <a:r>
              <a:rPr lang="en-GB" dirty="0"/>
              <a:t>kernel size; </a:t>
            </a:r>
          </a:p>
          <a:p>
            <a:pPr lvl="1"/>
            <a:r>
              <a:rPr lang="en-GB" dirty="0"/>
              <a:t>dilation schedule; </a:t>
            </a:r>
          </a:p>
          <a:p>
            <a:pPr lvl="1"/>
            <a:r>
              <a:rPr lang="en-GB" dirty="0"/>
              <a:t>number of channels. 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DD6AE5A-AF51-4B5D-0FEB-33CF04A25A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6848030" cy="4214811"/>
          </a:xfrm>
        </p:spPr>
        <p:txBody>
          <a:bodyPr>
            <a:normAutofit fontScale="92500" lnSpcReduction="20000"/>
          </a:bodyPr>
          <a:lstStyle/>
          <a:p>
            <a:r>
              <a:rPr lang="en-GB" b="1" dirty="0"/>
              <a:t>Memory requirements</a:t>
            </a:r>
          </a:p>
          <a:p>
            <a:r>
              <a:rPr lang="en-GB" dirty="0"/>
              <a:t>Long feature maps and many channels may require substantial memory.</a:t>
            </a:r>
          </a:p>
          <a:p>
            <a:r>
              <a:rPr lang="en-GB" b="1" dirty="0"/>
              <a:t>Very sparse dilation</a:t>
            </a:r>
          </a:p>
          <a:p>
            <a:r>
              <a:rPr lang="en-GB" dirty="0"/>
              <a:t>May miss local structure if poorly designed.</a:t>
            </a:r>
          </a:p>
          <a:p>
            <a:r>
              <a:rPr lang="en-GB" b="1" dirty="0">
                <a:solidFill>
                  <a:schemeClr val="tx1"/>
                </a:solidFill>
                <a:highlight>
                  <a:srgbClr val="FFFF00"/>
                </a:highlight>
              </a:rPr>
              <a:t>Streaming implementation</a:t>
            </a:r>
          </a:p>
          <a:p>
            <a:pPr lvl="0"/>
            <a:r>
              <a:rPr lang="en-GB" dirty="0"/>
              <a:t>Possible, but causal convolutions require buffering past inputs or intermediate activations over the receptive field. </a:t>
            </a:r>
          </a:p>
          <a:p>
            <a:pPr lvl="0"/>
            <a:r>
              <a:rPr lang="en-GB" dirty="0"/>
              <a:t>An RNN naturally summarizes past information in a fixed-size recurrent state.</a:t>
            </a:r>
          </a:p>
          <a:p>
            <a:pPr lvl="1"/>
            <a:r>
              <a:rPr lang="en-GB" dirty="0"/>
              <a:t>An RNN processes each new input using the current sample and a compact recurrent state carried from the past.</a:t>
            </a:r>
          </a:p>
          <a:p>
            <a:pPr lvl="1"/>
            <a:r>
              <a:rPr lang="en-GB" dirty="0"/>
              <a:t>the whole past sequence does not need to be stored explicitly; its useful information is represented through hₜ₋₁.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2419692D-DE7F-52E4-6805-CA43319BC33B}"/>
              </a:ext>
            </a:extLst>
          </p:cNvPr>
          <p:cNvSpPr txBox="1"/>
          <p:nvPr/>
        </p:nvSpPr>
        <p:spPr>
          <a:xfrm>
            <a:off x="2294448" y="6211669"/>
            <a:ext cx="61087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TCNs remove recurrent state propagation, but they introduce explicit receptive-field design.</a:t>
            </a:r>
          </a:p>
        </p:txBody>
      </p:sp>
    </p:spTree>
    <p:extLst>
      <p:ext uri="{BB962C8B-B14F-4D97-AF65-F5344CB8AC3E}">
        <p14:creationId xmlns:p14="http://schemas.microsoft.com/office/powerpoint/2010/main" val="2444319482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51007F-2972-EB24-EB65-545B8A3E6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From TCN to </a:t>
            </a:r>
            <a:r>
              <a:rPr lang="en-GB" b="1" dirty="0" err="1"/>
              <a:t>WaveNet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C52302C-E7C3-D28E-8327-B39D5D3675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The combination of:</a:t>
            </a:r>
          </a:p>
          <a:p>
            <a:pPr lvl="1"/>
            <a:r>
              <a:rPr lang="en-GB" dirty="0"/>
              <a:t>causal convolution; </a:t>
            </a:r>
          </a:p>
          <a:p>
            <a:pPr lvl="1"/>
            <a:r>
              <a:rPr lang="en-GB" dirty="0"/>
              <a:t>dilation; </a:t>
            </a:r>
          </a:p>
          <a:p>
            <a:pPr lvl="1"/>
            <a:r>
              <a:rPr lang="en-GB" dirty="0"/>
              <a:t>exponentially growing receptive field; </a:t>
            </a:r>
          </a:p>
          <a:p>
            <a:pPr lvl="1"/>
            <a:r>
              <a:rPr lang="en-GB" dirty="0"/>
              <a:t>residual and skip connections; </a:t>
            </a:r>
          </a:p>
          <a:p>
            <a:r>
              <a:rPr lang="en-GB" dirty="0"/>
              <a:t>became especially influential through </a:t>
            </a:r>
            <a:r>
              <a:rPr lang="en-GB" b="1" dirty="0" err="1"/>
              <a:t>WaveNet</a:t>
            </a:r>
            <a:r>
              <a:rPr lang="en-GB" dirty="0"/>
              <a:t>.</a:t>
            </a:r>
          </a:p>
          <a:p>
            <a:r>
              <a:rPr lang="en-GB" dirty="0" err="1"/>
              <a:t>WaveNet</a:t>
            </a:r>
            <a:r>
              <a:rPr lang="en-GB" dirty="0"/>
              <a:t> was </a:t>
            </a:r>
            <a:r>
              <a:rPr lang="en-GB" dirty="0">
                <a:solidFill>
                  <a:schemeClr val="tx1"/>
                </a:solidFill>
              </a:rPr>
              <a:t>originally developed for raw audio generation</a:t>
            </a:r>
            <a:r>
              <a:rPr lang="en-GB" dirty="0"/>
              <a:t>, but its architectural principles are much more general.</a:t>
            </a:r>
          </a:p>
          <a:p>
            <a:pPr lvl="1"/>
            <a:r>
              <a:rPr lang="en-GB" b="1" dirty="0"/>
              <a:t>Audio generation through an autoregressive next-sample prediction model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dirty="0"/>
              <a:t>We are interested in </a:t>
            </a:r>
            <a:r>
              <a:rPr lang="en-GB" dirty="0" err="1"/>
              <a:t>WaveNet</a:t>
            </a:r>
            <a:r>
              <a:rPr lang="en-GB" dirty="0"/>
              <a:t> mainly because it demonstrates:</a:t>
            </a:r>
          </a:p>
          <a:p>
            <a:r>
              <a:rPr lang="en-GB" b="1" dirty="0"/>
              <a:t>Long temporal dependencies can be represented with deep causal dilated convolution instead of recurrent state propagation.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51480685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 err="1"/>
              <a:t>WaveNet</a:t>
            </a:r>
            <a:r>
              <a:rPr lang="en-US" i="1" dirty="0"/>
              <a:t> architecture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195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965" y="2103257"/>
            <a:ext cx="9001641" cy="35928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47318" y="5902868"/>
            <a:ext cx="63879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N.B., kernel size </a:t>
            </a:r>
            <a:r>
              <a:rPr lang="it-IT" dirty="0" err="1"/>
              <a:t>always</a:t>
            </a:r>
            <a:r>
              <a:rPr lang="it-IT" dirty="0"/>
              <a:t> 2, </a:t>
            </a:r>
            <a:r>
              <a:rPr lang="it-IT" dirty="0" err="1"/>
              <a:t>but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a </a:t>
            </a:r>
            <a:r>
              <a:rPr lang="it-IT" dirty="0" err="1"/>
              <a:t>dilation</a:t>
            </a:r>
            <a:r>
              <a:rPr lang="it-IT" dirty="0"/>
              <a:t> rate (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determines</a:t>
            </a:r>
            <a:r>
              <a:rPr lang="it-IT" dirty="0"/>
              <a:t> the size of the gap </a:t>
            </a:r>
            <a:r>
              <a:rPr lang="it-IT" dirty="0" err="1"/>
              <a:t>between</a:t>
            </a:r>
            <a:r>
              <a:rPr lang="it-IT" dirty="0"/>
              <a:t> the steps/frames). </a:t>
            </a:r>
          </a:p>
          <a:p>
            <a:r>
              <a:rPr lang="it-IT" b="1" dirty="0"/>
              <a:t>The kernel </a:t>
            </a:r>
            <a:r>
              <a:rPr lang="it-IT" b="1" dirty="0" err="1"/>
              <a:t>is</a:t>
            </a:r>
            <a:r>
              <a:rPr lang="it-IT" b="1" dirty="0"/>
              <a:t> spread over </a:t>
            </a:r>
            <a:r>
              <a:rPr lang="it-IT" b="1" dirty="0" err="1"/>
              <a:t>several</a:t>
            </a:r>
            <a:r>
              <a:rPr lang="it-IT" b="1" dirty="0"/>
              <a:t> «</a:t>
            </a:r>
            <a:r>
              <a:rPr lang="it-IT" b="1" dirty="0" err="1"/>
              <a:t>distant</a:t>
            </a:r>
            <a:r>
              <a:rPr lang="it-IT" b="1" dirty="0"/>
              <a:t>» frames</a:t>
            </a:r>
            <a:endParaRPr 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10437901" y="4353216"/>
            <a:ext cx="13746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highlight>
                  <a:srgbClr val="FFFF00"/>
                </a:highlight>
              </a:rPr>
              <a:t>Receptive field </a:t>
            </a:r>
            <a:r>
              <a:rPr lang="it-IT" dirty="0">
                <a:highlight>
                  <a:srgbClr val="FFFF00"/>
                </a:highlight>
              </a:rPr>
              <a:t>size: </a:t>
            </a:r>
            <a:r>
              <a:rPr lang="it-IT" dirty="0"/>
              <a:t>2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0437901" y="3762030"/>
            <a:ext cx="1222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RF size: 4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0444606" y="2991134"/>
            <a:ext cx="1222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RF size: 8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0444606" y="2230164"/>
            <a:ext cx="1222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RF size: 16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770319" y="2414830"/>
            <a:ext cx="553998" cy="3139321"/>
          </a:xfrm>
          <a:prstGeom prst="rect">
            <a:avLst/>
          </a:prstGeom>
          <a:noFill/>
        </p:spPr>
        <p:txBody>
          <a:bodyPr vert="vert" wrap="square" rtlCol="0">
            <a:spAutoFit/>
          </a:bodyPr>
          <a:lstStyle/>
          <a:p>
            <a:pPr algn="ctr"/>
            <a:r>
              <a:rPr lang="it-IT" sz="2400" b="1" dirty="0">
                <a:highlight>
                  <a:srgbClr val="FFFF00"/>
                </a:highlight>
              </a:rPr>
              <a:t>Zero padding necessary</a:t>
            </a:r>
            <a:endParaRPr lang="en-US" sz="2400" b="1" dirty="0">
              <a:highlight>
                <a:srgbClr val="FFFF00"/>
              </a:highlight>
            </a:endParaRPr>
          </a:p>
        </p:txBody>
      </p:sp>
      <p:cxnSp>
        <p:nvCxnSpPr>
          <p:cNvPr id="7" name="Straight Arrow Connector 6"/>
          <p:cNvCxnSpPr>
            <a:cxnSpLocks/>
          </p:cNvCxnSpPr>
          <p:nvPr/>
        </p:nvCxnSpPr>
        <p:spPr>
          <a:xfrm>
            <a:off x="838200" y="5846885"/>
            <a:ext cx="8462963" cy="967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65369" y="6033184"/>
            <a:ext cx="707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time</a:t>
            </a:r>
            <a:endParaRPr lang="en-US" b="1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3F8FF133-40D2-B60C-12F1-38DB6813821A}"/>
              </a:ext>
            </a:extLst>
          </p:cNvPr>
          <p:cNvSpPr txBox="1"/>
          <p:nvPr/>
        </p:nvSpPr>
        <p:spPr>
          <a:xfrm>
            <a:off x="7024019" y="311743"/>
            <a:ext cx="516798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>
                <a:highlight>
                  <a:srgbClr val="FFFF00"/>
                </a:highlight>
              </a:rPr>
              <a:t>Compare the RF size </a:t>
            </a:r>
            <a:r>
              <a:rPr lang="it-IT" sz="1600" b="1" dirty="0" err="1">
                <a:highlight>
                  <a:srgbClr val="FFFF00"/>
                </a:highlight>
              </a:rPr>
              <a:t>obtainable</a:t>
            </a:r>
            <a:r>
              <a:rPr lang="it-IT" sz="1600" b="1" dirty="0">
                <a:highlight>
                  <a:srgbClr val="FFFF00"/>
                </a:highlight>
              </a:rPr>
              <a:t> with </a:t>
            </a:r>
            <a:r>
              <a:rPr lang="it-IT" sz="1600" b="1" dirty="0" err="1">
                <a:highlight>
                  <a:srgbClr val="FFFF00"/>
                </a:highlight>
              </a:rPr>
              <a:t>dilation</a:t>
            </a:r>
            <a:r>
              <a:rPr lang="it-IT" sz="1600" b="1" dirty="0">
                <a:highlight>
                  <a:srgbClr val="FFFF00"/>
                </a:highlight>
              </a:rPr>
              <a:t> </a:t>
            </a:r>
            <a:r>
              <a:rPr lang="it-IT" sz="1600" b="1" dirty="0" err="1">
                <a:highlight>
                  <a:srgbClr val="FFFF00"/>
                </a:highlight>
              </a:rPr>
              <a:t>always</a:t>
            </a:r>
            <a:r>
              <a:rPr lang="it-IT" sz="1600" b="1" dirty="0">
                <a:highlight>
                  <a:srgbClr val="FFFF00"/>
                </a:highlight>
              </a:rPr>
              <a:t> 1.</a:t>
            </a:r>
          </a:p>
          <a:p>
            <a:r>
              <a:rPr lang="en-GB" sz="1600" dirty="0"/>
              <a:t>With exponentially increasing dilations 1,2,4,8,…, the receptive field grows exponentially with depth </a:t>
            </a:r>
            <a:r>
              <a:rPr lang="it-IT" sz="1600" b="1" dirty="0"/>
              <a:t>(vs. </a:t>
            </a:r>
            <a:r>
              <a:rPr lang="it-IT" sz="1600" b="1" dirty="0" err="1"/>
              <a:t>linearly</a:t>
            </a:r>
            <a:r>
              <a:rPr lang="it-IT" sz="1600" b="1" dirty="0"/>
              <a:t>). In </a:t>
            </a:r>
            <a:r>
              <a:rPr lang="it-IT" sz="1600" b="1" dirty="0" err="1"/>
              <a:t>other</a:t>
            </a:r>
            <a:r>
              <a:rPr lang="it-IT" sz="1600" b="1" dirty="0"/>
              <a:t> words, with </a:t>
            </a:r>
            <a:r>
              <a:rPr lang="it-IT" sz="1600" b="1" dirty="0" err="1"/>
              <a:t>Wavenet</a:t>
            </a:r>
            <a:r>
              <a:rPr lang="it-IT" sz="1600" b="1" dirty="0"/>
              <a:t> </a:t>
            </a:r>
            <a:r>
              <a:rPr lang="it-IT" sz="1600" b="1" dirty="0" err="1"/>
              <a:t>you</a:t>
            </a:r>
            <a:r>
              <a:rPr lang="it-IT" sz="1600" b="1" dirty="0"/>
              <a:t> </a:t>
            </a:r>
            <a:r>
              <a:rPr lang="it-IT" sz="1600" b="1" dirty="0" err="1"/>
              <a:t>need</a:t>
            </a:r>
            <a:r>
              <a:rPr lang="it-IT" sz="1600" b="1" dirty="0"/>
              <a:t> a </a:t>
            </a:r>
            <a:r>
              <a:rPr lang="it-IT" sz="1600" b="1" dirty="0" err="1"/>
              <a:t>logarithmic</a:t>
            </a:r>
            <a:r>
              <a:rPr lang="it-IT" sz="1600" b="1" dirty="0"/>
              <a:t> </a:t>
            </a:r>
            <a:r>
              <a:rPr lang="it-IT" sz="1600" b="1" dirty="0" err="1"/>
              <a:t>number</a:t>
            </a:r>
            <a:r>
              <a:rPr lang="it-IT" sz="1600" b="1" dirty="0"/>
              <a:t> of </a:t>
            </a:r>
            <a:r>
              <a:rPr lang="it-IT" sz="1600" b="1" dirty="0" err="1"/>
              <a:t>layers</a:t>
            </a:r>
            <a:r>
              <a:rPr lang="it-IT" sz="1600" b="1" dirty="0"/>
              <a:t> to </a:t>
            </a:r>
            <a:r>
              <a:rPr lang="it-IT" sz="1600" b="1" dirty="0" err="1"/>
              <a:t>have</a:t>
            </a:r>
            <a:r>
              <a:rPr lang="it-IT" sz="1600" b="1" dirty="0"/>
              <a:t> the </a:t>
            </a:r>
            <a:r>
              <a:rPr lang="it-IT" sz="1600" b="1" dirty="0" err="1"/>
              <a:t>same</a:t>
            </a:r>
            <a:r>
              <a:rPr lang="it-IT" sz="1600" b="1" dirty="0"/>
              <a:t> RF</a:t>
            </a:r>
            <a:endParaRPr lang="en-GB" sz="1600" b="1" dirty="0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AC79CA34-7661-54B9-18EF-BB6253913CCE}"/>
              </a:ext>
            </a:extLst>
          </p:cNvPr>
          <p:cNvSpPr txBox="1"/>
          <p:nvPr/>
        </p:nvSpPr>
        <p:spPr>
          <a:xfrm>
            <a:off x="1143465" y="5298860"/>
            <a:ext cx="603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1 </a:t>
            </a:r>
            <a:r>
              <a:rPr lang="it-IT" sz="1400" dirty="0" err="1"/>
              <a:t>pad</a:t>
            </a:r>
            <a:endParaRPr lang="en-GB" sz="1400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80F85F91-F535-EC44-AFE1-24918296AE3F}"/>
              </a:ext>
            </a:extLst>
          </p:cNvPr>
          <p:cNvSpPr txBox="1"/>
          <p:nvPr/>
        </p:nvSpPr>
        <p:spPr>
          <a:xfrm>
            <a:off x="1215966" y="4522492"/>
            <a:ext cx="603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2 </a:t>
            </a:r>
            <a:r>
              <a:rPr lang="it-IT" sz="1400" dirty="0" err="1"/>
              <a:t>pad</a:t>
            </a:r>
            <a:endParaRPr lang="en-GB" sz="1400" dirty="0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5DE1454A-641D-C35E-D77E-F3598E8A2A3A}"/>
              </a:ext>
            </a:extLst>
          </p:cNvPr>
          <p:cNvSpPr txBox="1"/>
          <p:nvPr/>
        </p:nvSpPr>
        <p:spPr>
          <a:xfrm>
            <a:off x="1215965" y="3765015"/>
            <a:ext cx="603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4 </a:t>
            </a:r>
            <a:r>
              <a:rPr lang="it-IT" sz="1400" dirty="0" err="1"/>
              <a:t>pad</a:t>
            </a:r>
            <a:endParaRPr lang="en-GB" sz="1400" dirty="0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52EDAA8C-59C2-69BD-8EB6-C295A4DABA98}"/>
              </a:ext>
            </a:extLst>
          </p:cNvPr>
          <p:cNvSpPr txBox="1"/>
          <p:nvPr/>
        </p:nvSpPr>
        <p:spPr>
          <a:xfrm>
            <a:off x="1215965" y="3021911"/>
            <a:ext cx="603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8 </a:t>
            </a:r>
            <a:r>
              <a:rPr lang="it-IT" sz="1400" dirty="0" err="1"/>
              <a:t>pad</a:t>
            </a:r>
            <a:endParaRPr lang="en-GB" sz="1400" dirty="0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FDDD6A30-C532-1EFC-74BA-51C1A481540A}"/>
              </a:ext>
            </a:extLst>
          </p:cNvPr>
          <p:cNvSpPr txBox="1"/>
          <p:nvPr/>
        </p:nvSpPr>
        <p:spPr>
          <a:xfrm>
            <a:off x="73468" y="1650196"/>
            <a:ext cx="17464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ighlight>
                  <a:srgbClr val="FFFF00"/>
                </a:highlight>
              </a:rPr>
              <a:t>Left padding =d </a:t>
            </a:r>
            <a:r>
              <a:rPr lang="en-GB" dirty="0"/>
              <a:t>preserves sequence length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B1B9AEFA-7907-64B4-8368-E66FF4E286B0}"/>
              </a:ext>
            </a:extLst>
          </p:cNvPr>
          <p:cNvSpPr txBox="1"/>
          <p:nvPr/>
        </p:nvSpPr>
        <p:spPr>
          <a:xfrm>
            <a:off x="2057879" y="1860832"/>
            <a:ext cx="65327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highlight>
                  <a:srgbClr val="FFFF00"/>
                </a:highlight>
              </a:rPr>
              <a:t>Causal: each output uses only current and past positions</a:t>
            </a:r>
          </a:p>
        </p:txBody>
      </p:sp>
    </p:spTree>
    <p:extLst>
      <p:ext uri="{BB962C8B-B14F-4D97-AF65-F5344CB8AC3E}">
        <p14:creationId xmlns:p14="http://schemas.microsoft.com/office/powerpoint/2010/main" val="2060776453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WaveNet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 the </a:t>
            </a:r>
            <a:r>
              <a:rPr lang="en-US" dirty="0" err="1"/>
              <a:t>WaveNet</a:t>
            </a:r>
            <a:r>
              <a:rPr lang="en-US" dirty="0"/>
              <a:t> paper, the authors actually stacked 10 convolutional layers with dilation rates of 1, 2, 4, 8, …, 256, 512, then they </a:t>
            </a:r>
            <a:r>
              <a:rPr lang="en-US" b="1" dirty="0"/>
              <a:t>stacked another group of 10 identical layers</a:t>
            </a:r>
            <a:r>
              <a:rPr lang="en-US" dirty="0"/>
              <a:t> (also with dilation rates 1, 2, 4, 8, …, 256, 512), then again another identical group of 10 layers.</a:t>
            </a:r>
          </a:p>
          <a:p>
            <a:r>
              <a:rPr lang="en-US" dirty="0"/>
              <a:t>They justified this architecture by pointing out that </a:t>
            </a:r>
            <a:r>
              <a:rPr lang="en-US" b="1" dirty="0">
                <a:highlight>
                  <a:srgbClr val="FFFF00"/>
                </a:highlight>
              </a:rPr>
              <a:t>a single stack of 10 convolutional layers</a:t>
            </a:r>
            <a:r>
              <a:rPr lang="en-US" dirty="0"/>
              <a:t> with these dilation rates will act like a </a:t>
            </a:r>
            <a:r>
              <a:rPr lang="en-US" b="1" dirty="0">
                <a:highlight>
                  <a:srgbClr val="FFFF00"/>
                </a:highlight>
              </a:rPr>
              <a:t>super-efficient convolutional layer with a kernel of size 1,024</a:t>
            </a:r>
            <a:r>
              <a:rPr lang="en-US" dirty="0"/>
              <a:t> (except way faster, more powerful, and using significantly fewer parameters), </a:t>
            </a:r>
            <a:r>
              <a:rPr lang="en-US" dirty="0">
                <a:highlight>
                  <a:srgbClr val="FFFF00"/>
                </a:highlight>
              </a:rPr>
              <a:t>which is why they </a:t>
            </a:r>
            <a:r>
              <a:rPr lang="en-US" b="1" dirty="0">
                <a:highlight>
                  <a:srgbClr val="FFFF00"/>
                </a:highlight>
              </a:rPr>
              <a:t>stacked 3 such blocks</a:t>
            </a:r>
            <a:r>
              <a:rPr lang="en-US" dirty="0">
                <a:highlight>
                  <a:srgbClr val="FFFF00"/>
                </a:highlight>
              </a:rPr>
              <a:t>.</a:t>
            </a:r>
          </a:p>
          <a:p>
            <a:r>
              <a:rPr lang="en-US" dirty="0"/>
              <a:t>They </a:t>
            </a:r>
            <a:r>
              <a:rPr lang="en-US" b="1" dirty="0">
                <a:highlight>
                  <a:srgbClr val="FFFF00"/>
                </a:highlight>
              </a:rPr>
              <a:t>also left-padded the input sequences of each layer with a number of zeros equal to the dilation rate of the layer</a:t>
            </a:r>
            <a:r>
              <a:rPr lang="en-US" dirty="0"/>
              <a:t>, </a:t>
            </a:r>
            <a:r>
              <a:rPr lang="en-US" dirty="0">
                <a:highlight>
                  <a:srgbClr val="FFFF00"/>
                </a:highlight>
              </a:rPr>
              <a:t>to preserve the </a:t>
            </a:r>
            <a:r>
              <a:rPr lang="en-US" b="1" dirty="0">
                <a:highlight>
                  <a:srgbClr val="FFFF00"/>
                </a:highlight>
              </a:rPr>
              <a:t>same sequence length throughout the network</a:t>
            </a:r>
            <a:r>
              <a:rPr lang="en-US" dirty="0"/>
              <a:t>. (you would lose them at the beginning)</a:t>
            </a:r>
          </a:p>
          <a:p>
            <a:pPr lvl="1"/>
            <a:r>
              <a:rPr lang="it-IT" dirty="0" err="1"/>
              <a:t>Keras</a:t>
            </a:r>
            <a:r>
              <a:rPr lang="it-IT" dirty="0"/>
              <a:t> </a:t>
            </a:r>
            <a:r>
              <a:rPr lang="it-IT" dirty="0" err="1"/>
              <a:t>implementation</a:t>
            </a:r>
            <a:r>
              <a:rPr lang="it-IT" dirty="0"/>
              <a:t>: </a:t>
            </a:r>
            <a:r>
              <a:rPr lang="it-IT" b="1" dirty="0" err="1"/>
              <a:t>padding</a:t>
            </a:r>
            <a:r>
              <a:rPr lang="it-IT" b="1" dirty="0"/>
              <a:t>=«</a:t>
            </a:r>
            <a:r>
              <a:rPr lang="it-IT" b="1" dirty="0" err="1"/>
              <a:t>causal</a:t>
            </a:r>
            <a:r>
              <a:rPr lang="it-IT" b="1" dirty="0"/>
              <a:t>» </a:t>
            </a:r>
            <a:r>
              <a:rPr lang="it-IT" sz="1500" dirty="0"/>
              <a:t>(https://stackoverflow.com/</a:t>
            </a:r>
            <a:r>
              <a:rPr lang="it-IT" sz="1500" dirty="0" err="1"/>
              <a:t>questions</a:t>
            </a:r>
            <a:r>
              <a:rPr lang="it-IT" sz="1500" dirty="0"/>
              <a:t>/52578950/</a:t>
            </a:r>
            <a:r>
              <a:rPr lang="it-IT" sz="1500" dirty="0" err="1"/>
              <a:t>causal</a:t>
            </a:r>
            <a:r>
              <a:rPr lang="it-IT" sz="1500" dirty="0"/>
              <a:t>-</a:t>
            </a:r>
            <a:r>
              <a:rPr lang="it-IT" sz="1500" dirty="0" err="1"/>
              <a:t>padding</a:t>
            </a:r>
            <a:r>
              <a:rPr lang="it-IT" sz="1500" dirty="0"/>
              <a:t>-in-</a:t>
            </a:r>
            <a:r>
              <a:rPr lang="it-IT" sz="1500" dirty="0" err="1"/>
              <a:t>keras</a:t>
            </a:r>
            <a:r>
              <a:rPr lang="it-IT" sz="1500" dirty="0"/>
              <a:t>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196</a:t>
            </a:fld>
            <a:endParaRPr lang="en-US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BEAA1C18-B604-CEFF-B898-56159DDE4209}"/>
              </a:ext>
            </a:extLst>
          </p:cNvPr>
          <p:cNvSpPr txBox="1"/>
          <p:nvPr/>
        </p:nvSpPr>
        <p:spPr>
          <a:xfrm>
            <a:off x="-66260" y="6027003"/>
            <a:ext cx="3657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 err="1"/>
              <a:t>Increases</a:t>
            </a:r>
            <a:r>
              <a:rPr lang="it-IT" sz="1600" b="1" dirty="0"/>
              <a:t> the </a:t>
            </a:r>
            <a:r>
              <a:rPr lang="it-IT" sz="1600" b="1" dirty="0" err="1"/>
              <a:t>receptive</a:t>
            </a:r>
            <a:r>
              <a:rPr lang="it-IT" sz="1600" b="1" dirty="0"/>
              <a:t> field </a:t>
            </a:r>
            <a:r>
              <a:rPr lang="it-IT" sz="1600" b="1" dirty="0" err="1"/>
              <a:t>exponentially</a:t>
            </a:r>
            <a:r>
              <a:rPr lang="it-IT" sz="1600" b="1" dirty="0"/>
              <a:t> </a:t>
            </a:r>
            <a:r>
              <a:rPr lang="it-IT" sz="1600" b="1" dirty="0" err="1"/>
              <a:t>rather</a:t>
            </a:r>
            <a:r>
              <a:rPr lang="it-IT" sz="1600" b="1" dirty="0"/>
              <a:t> </a:t>
            </a:r>
            <a:r>
              <a:rPr lang="it-IT" sz="1600" b="1" dirty="0" err="1"/>
              <a:t>than</a:t>
            </a:r>
            <a:r>
              <a:rPr lang="it-IT" sz="1600" b="1" dirty="0"/>
              <a:t> </a:t>
            </a:r>
            <a:r>
              <a:rPr lang="it-IT" sz="1600" b="1" dirty="0" err="1"/>
              <a:t>linearly</a:t>
            </a:r>
            <a:r>
              <a:rPr lang="it-IT" sz="1600" b="1" dirty="0"/>
              <a:t> </a:t>
            </a:r>
          </a:p>
          <a:p>
            <a:r>
              <a:rPr lang="it-IT" sz="1600" dirty="0"/>
              <a:t>(so </a:t>
            </a:r>
            <a:r>
              <a:rPr lang="it-IT" sz="1600" dirty="0" err="1"/>
              <a:t>you</a:t>
            </a:r>
            <a:r>
              <a:rPr lang="it-IT" sz="1600" dirty="0"/>
              <a:t> </a:t>
            </a:r>
            <a:r>
              <a:rPr lang="it-IT" sz="1600" dirty="0" err="1"/>
              <a:t>need</a:t>
            </a:r>
            <a:r>
              <a:rPr lang="it-IT" sz="1600" dirty="0"/>
              <a:t> </a:t>
            </a:r>
            <a:r>
              <a:rPr lang="it-IT" sz="1600" dirty="0" err="1"/>
              <a:t>less</a:t>
            </a:r>
            <a:r>
              <a:rPr lang="it-IT" sz="1600" dirty="0"/>
              <a:t> </a:t>
            </a:r>
            <a:r>
              <a:rPr lang="it-IT" sz="1600" dirty="0" err="1"/>
              <a:t>layers</a:t>
            </a:r>
            <a:r>
              <a:rPr lang="it-IT" sz="1600" dirty="0"/>
              <a:t> =&gt; </a:t>
            </a:r>
            <a:r>
              <a:rPr lang="it-IT" sz="1600" dirty="0" err="1"/>
              <a:t>less</a:t>
            </a:r>
            <a:r>
              <a:rPr lang="it-IT" sz="1600" dirty="0"/>
              <a:t> weights) </a:t>
            </a:r>
            <a:endParaRPr lang="en-GB" sz="1600" dirty="0"/>
          </a:p>
        </p:txBody>
      </p: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58F53CB6-3E59-2BFD-41F3-D7661AB26DA2}"/>
              </a:ext>
            </a:extLst>
          </p:cNvPr>
          <p:cNvCxnSpPr>
            <a:cxnSpLocks/>
          </p:cNvCxnSpPr>
          <p:nvPr/>
        </p:nvCxnSpPr>
        <p:spPr>
          <a:xfrm flipV="1">
            <a:off x="219808" y="3894992"/>
            <a:ext cx="888023" cy="23032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8BFFFD27-48ED-28D1-CDF5-1897DA334D13}"/>
              </a:ext>
            </a:extLst>
          </p:cNvPr>
          <p:cNvSpPr txBox="1"/>
          <p:nvPr/>
        </p:nvSpPr>
        <p:spPr>
          <a:xfrm>
            <a:off x="3255820" y="6158011"/>
            <a:ext cx="91084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dirty="0"/>
              <a:t>https://medium.com/@binwang007/clarify-different-padding-in-deep-learning-for-wavenet-foundation-4c54c52268a2</a:t>
            </a:r>
          </a:p>
        </p:txBody>
      </p: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7A164C07-980C-9CA3-5B81-1BFCDFB598F6}"/>
              </a:ext>
            </a:extLst>
          </p:cNvPr>
          <p:cNvCxnSpPr>
            <a:cxnSpLocks/>
          </p:cNvCxnSpPr>
          <p:nvPr/>
        </p:nvCxnSpPr>
        <p:spPr>
          <a:xfrm flipH="1" flipV="1">
            <a:off x="3775700" y="5178287"/>
            <a:ext cx="677030" cy="105925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3502458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Simplified Wavenet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Here is how to implement a simplified </a:t>
            </a:r>
            <a:r>
              <a:rPr lang="en-US" dirty="0" err="1"/>
              <a:t>WaveNet</a:t>
            </a:r>
            <a:r>
              <a:rPr lang="en-US" dirty="0"/>
              <a:t> to tackle the same sequences as earlier: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197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1340889" y="2851598"/>
            <a:ext cx="7718445" cy="3504752"/>
            <a:chOff x="1698171" y="2157713"/>
            <a:chExt cx="7718445" cy="3504752"/>
          </a:xfrm>
        </p:grpSpPr>
        <p:grpSp>
          <p:nvGrpSpPr>
            <p:cNvPr id="7" name="Group 6"/>
            <p:cNvGrpSpPr/>
            <p:nvPr/>
          </p:nvGrpSpPr>
          <p:grpSpPr>
            <a:xfrm>
              <a:off x="1698171" y="2157713"/>
              <a:ext cx="7718445" cy="3504752"/>
              <a:chOff x="2746613" y="2322420"/>
              <a:chExt cx="3631842" cy="1031566"/>
            </a:xfrm>
          </p:grpSpPr>
          <p:pic>
            <p:nvPicPr>
              <p:cNvPr id="5" name="Picture 4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46613" y="2322420"/>
                <a:ext cx="3631842" cy="781925"/>
              </a:xfrm>
              <a:prstGeom prst="rect">
                <a:avLst/>
              </a:prstGeom>
            </p:spPr>
          </p:pic>
          <p:pic>
            <p:nvPicPr>
              <p:cNvPr id="6" name="Picture 5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46613" y="3124578"/>
                <a:ext cx="2588654" cy="229408"/>
              </a:xfrm>
              <a:prstGeom prst="rect">
                <a:avLst/>
              </a:prstGeom>
            </p:spPr>
          </p:pic>
        </p:grpSp>
        <p:sp>
          <p:nvSpPr>
            <p:cNvPr id="12" name="Rectangle 11"/>
            <p:cNvSpPr/>
            <p:nvPr/>
          </p:nvSpPr>
          <p:spPr>
            <a:xfrm>
              <a:off x="4788278" y="2926282"/>
              <a:ext cx="203613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(1, 2, 4, 8, 1, 2, 4, 8)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917635" y="3691677"/>
              <a:ext cx="1692965" cy="323732"/>
            </a:xfrm>
            <a:prstGeom prst="rect">
              <a:avLst/>
            </a:prstGeom>
            <a:solidFill>
              <a:srgbClr val="FFFF00">
                <a:alpha val="39000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919810" y="2926282"/>
              <a:ext cx="1692965" cy="323732"/>
            </a:xfrm>
            <a:prstGeom prst="rect">
              <a:avLst/>
            </a:prstGeom>
            <a:solidFill>
              <a:srgbClr val="FFFF00">
                <a:alpha val="39000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764117" y="3306403"/>
              <a:ext cx="1513107" cy="323732"/>
            </a:xfrm>
            <a:prstGeom prst="rect">
              <a:avLst/>
            </a:prstGeom>
            <a:solidFill>
              <a:srgbClr val="FFFF00">
                <a:alpha val="39000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7204586" y="6053839"/>
            <a:ext cx="12978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Vertical convolution</a:t>
            </a:r>
            <a:endParaRPr lang="en-US" dirty="0"/>
          </a:p>
        </p:txBody>
      </p:sp>
      <p:cxnSp>
        <p:nvCxnSpPr>
          <p:cNvPr id="16" name="Straight Arrow Connector 15"/>
          <p:cNvCxnSpPr/>
          <p:nvPr/>
        </p:nvCxnSpPr>
        <p:spPr>
          <a:xfrm flipH="1" flipV="1">
            <a:off x="6186948" y="5051324"/>
            <a:ext cx="1017639" cy="10545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129547" y="3982967"/>
            <a:ext cx="26272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 err="1"/>
              <a:t>Produces</a:t>
            </a:r>
            <a:r>
              <a:rPr lang="it-IT" sz="1600" dirty="0"/>
              <a:t> a </a:t>
            </a:r>
            <a:r>
              <a:rPr lang="it-IT" sz="1600" dirty="0" err="1"/>
              <a:t>sequence</a:t>
            </a:r>
            <a:r>
              <a:rPr lang="it-IT" sz="1600" dirty="0"/>
              <a:t> </a:t>
            </a:r>
            <a:r>
              <a:rPr lang="it-IT" sz="1600" dirty="0" err="1"/>
              <a:t>having</a:t>
            </a:r>
            <a:r>
              <a:rPr lang="it-IT" sz="1600" dirty="0"/>
              <a:t> 20D for </a:t>
            </a:r>
            <a:r>
              <a:rPr lang="it-IT" sz="1600" dirty="0" err="1"/>
              <a:t>each</a:t>
            </a:r>
            <a:r>
              <a:rPr lang="it-IT" sz="1600" dirty="0"/>
              <a:t> frame</a:t>
            </a:r>
            <a:endParaRPr lang="en-US" sz="1600" dirty="0"/>
          </a:p>
        </p:txBody>
      </p:sp>
      <p:sp>
        <p:nvSpPr>
          <p:cNvPr id="10" name="Rectangle 9"/>
          <p:cNvSpPr/>
          <p:nvPr/>
        </p:nvSpPr>
        <p:spPr>
          <a:xfrm>
            <a:off x="5120640" y="4051069"/>
            <a:ext cx="598516" cy="232756"/>
          </a:xfrm>
          <a:prstGeom prst="rect">
            <a:avLst/>
          </a:prstGeom>
          <a:solidFill>
            <a:srgbClr val="FFFF00">
              <a:alpha val="27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4725064" y="4791609"/>
            <a:ext cx="598516" cy="232756"/>
          </a:xfrm>
          <a:prstGeom prst="rect">
            <a:avLst/>
          </a:prstGeom>
          <a:solidFill>
            <a:srgbClr val="FFFF00">
              <a:alpha val="27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6543077" y="3276175"/>
            <a:ext cx="157761" cy="310488"/>
          </a:xfrm>
          <a:prstGeom prst="rect">
            <a:avLst/>
          </a:prstGeom>
          <a:solidFill>
            <a:srgbClr val="FFFF00">
              <a:alpha val="27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14">
            <a:extLst>
              <a:ext uri="{FF2B5EF4-FFF2-40B4-BE49-F238E27FC236}">
                <a16:creationId xmlns:a16="http://schemas.microsoft.com/office/drawing/2014/main" id="{F032D36F-9844-5CC6-830B-1A747C265880}"/>
              </a:ext>
            </a:extLst>
          </p:cNvPr>
          <p:cNvCxnSpPr>
            <a:cxnSpLocks/>
            <a:endCxn id="10" idx="3"/>
          </p:cNvCxnSpPr>
          <p:nvPr/>
        </p:nvCxnSpPr>
        <p:spPr>
          <a:xfrm flipH="1">
            <a:off x="5719156" y="2730249"/>
            <a:ext cx="2636383" cy="14371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15">
            <a:extLst>
              <a:ext uri="{FF2B5EF4-FFF2-40B4-BE49-F238E27FC236}">
                <a16:creationId xmlns:a16="http://schemas.microsoft.com/office/drawing/2014/main" id="{01F9CE97-A55F-ADCC-EA14-A8C37DE9907A}"/>
              </a:ext>
            </a:extLst>
          </p:cNvPr>
          <p:cNvSpPr txBox="1"/>
          <p:nvPr/>
        </p:nvSpPr>
        <p:spPr>
          <a:xfrm>
            <a:off x="8307093" y="2489100"/>
            <a:ext cx="2355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20 filters =&gt; a 20D sequence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953919856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BA6BF59-44D2-A6AA-C53F-84B60554C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Block 5.I — </a:t>
            </a:r>
            <a:r>
              <a:rPr lang="en-GB" dirty="0" err="1"/>
              <a:t>WaveNet</a:t>
            </a:r>
            <a:r>
              <a:rPr lang="en-GB" dirty="0"/>
              <a:t> as an Influential Temporal Architecture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210212B-8E12-A4C6-ADD2-276A6E5F1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7976896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0E9AE97-7C47-34B3-C69C-C9E7C0E20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9" name="Segnaposto contenuto 8" descr="../_images/wavenet.png">
            <a:extLst>
              <a:ext uri="{FF2B5EF4-FFF2-40B4-BE49-F238E27FC236}">
                <a16:creationId xmlns:a16="http://schemas.microsoft.com/office/drawing/2014/main" id="{D58EC6B1-825E-666E-96C7-85FA8A237F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7466" y="2230739"/>
            <a:ext cx="7137297" cy="3790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008060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E6990FB-E70E-57E8-F021-F3909F615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WaveNet</a:t>
            </a:r>
            <a:r>
              <a:rPr lang="en-GB" dirty="0"/>
              <a:t>: why it matters beyond audio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0A8C7E5-53E3-B25D-EFAA-0CF10EB6EC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8"/>
            <a:ext cx="6129866" cy="4468811"/>
          </a:xfrm>
        </p:spPr>
        <p:txBody>
          <a:bodyPr>
            <a:normAutofit/>
          </a:bodyPr>
          <a:lstStyle/>
          <a:p>
            <a:r>
              <a:rPr lang="en-GB" dirty="0" err="1"/>
              <a:t>WaveNet</a:t>
            </a:r>
            <a:r>
              <a:rPr lang="en-GB" dirty="0"/>
              <a:t> was introduced as a generative model for raw audio.</a:t>
            </a:r>
          </a:p>
          <a:p>
            <a:r>
              <a:rPr lang="en-GB" dirty="0"/>
              <a:t>Its importance for this course is </a:t>
            </a:r>
            <a:r>
              <a:rPr lang="en-GB" dirty="0">
                <a:highlight>
                  <a:srgbClr val="FFFF00"/>
                </a:highlight>
              </a:rPr>
              <a:t>architectural</a:t>
            </a:r>
            <a:r>
              <a:rPr lang="en-GB" dirty="0"/>
              <a:t> rather than application-specific.</a:t>
            </a:r>
          </a:p>
          <a:p>
            <a:r>
              <a:rPr lang="en-GB" dirty="0" err="1"/>
              <a:t>WaveNet</a:t>
            </a:r>
            <a:r>
              <a:rPr lang="en-GB" dirty="0"/>
              <a:t> showed that </a:t>
            </a:r>
            <a:r>
              <a:rPr lang="en-GB" b="1" dirty="0"/>
              <a:t>long temporal dependencies can be modelled using:</a:t>
            </a:r>
          </a:p>
          <a:p>
            <a:pPr lvl="1"/>
            <a:r>
              <a:rPr lang="en-GB" dirty="0"/>
              <a:t>causal convolution; </a:t>
            </a:r>
          </a:p>
          <a:p>
            <a:pPr lvl="1"/>
            <a:r>
              <a:rPr lang="en-GB" dirty="0"/>
              <a:t>dilated convolution; </a:t>
            </a:r>
          </a:p>
          <a:p>
            <a:pPr lvl="1"/>
            <a:r>
              <a:rPr lang="en-GB" dirty="0"/>
              <a:t>residual connections (continues through the stack); </a:t>
            </a:r>
          </a:p>
          <a:p>
            <a:pPr lvl="1"/>
            <a:r>
              <a:rPr lang="en-GB" dirty="0"/>
              <a:t>skip connections (bypasses later layers to the output); </a:t>
            </a:r>
          </a:p>
          <a:p>
            <a:pPr lvl="1"/>
            <a:r>
              <a:rPr lang="en-GB" dirty="0"/>
              <a:t>deep stacks of temporal filters. 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C6B29FD-91E1-A31E-BAF9-CDF78C5143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81985" y="2160588"/>
            <a:ext cx="4184034" cy="3880773"/>
          </a:xfrm>
        </p:spPr>
        <p:txBody>
          <a:bodyPr>
            <a:normAutofit/>
          </a:bodyPr>
          <a:lstStyle/>
          <a:p>
            <a:r>
              <a:rPr lang="en-GB" dirty="0"/>
              <a:t>Instead of propagating a recurrent state: h[t−1] → h[t]</a:t>
            </a:r>
          </a:p>
          <a:p>
            <a:r>
              <a:rPr lang="en-GB" b="1" dirty="0" err="1">
                <a:highlight>
                  <a:srgbClr val="FFFF00"/>
                </a:highlight>
              </a:rPr>
              <a:t>WaveNet</a:t>
            </a:r>
            <a:r>
              <a:rPr lang="en-GB" b="1" dirty="0">
                <a:highlight>
                  <a:srgbClr val="FFFF00"/>
                </a:highlight>
              </a:rPr>
              <a:t> builds a large historical receptive field through a hierarchy of causal dilated convolutions.</a:t>
            </a:r>
          </a:p>
          <a:p>
            <a:endParaRPr lang="en-GB" dirty="0"/>
          </a:p>
          <a:p>
            <a:r>
              <a:rPr lang="en-GB" b="1" dirty="0" err="1"/>
              <a:t>WaveNet</a:t>
            </a:r>
            <a:r>
              <a:rPr lang="en-GB" b="1" dirty="0"/>
              <a:t> is an important example of long-range sequence modelling without recurrence.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25002924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0"/>
          <p:cNvSpPr/>
          <p:nvPr/>
        </p:nvSpPr>
        <p:spPr>
          <a:xfrm>
            <a:off x="502920" y="320040"/>
            <a:ext cx="98751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WaveNet: architectural lesson</a:t>
            </a:r>
            <a:endParaRPr lang="it-IT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1"/>
          <p:cNvSpPr/>
          <p:nvPr/>
        </p:nvSpPr>
        <p:spPr>
          <a:xfrm>
            <a:off x="530280" y="804600"/>
            <a:ext cx="95094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Long-range sequence modelling without recurrent state propagation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2"/>
          <p:cNvSpPr/>
          <p:nvPr/>
        </p:nvSpPr>
        <p:spPr>
          <a:xfrm>
            <a:off x="914400" y="123444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Recurrent state propagation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3"/>
          <p:cNvSpPr/>
          <p:nvPr/>
        </p:nvSpPr>
        <p:spPr>
          <a:xfrm>
            <a:off x="1005840" y="2011680"/>
            <a:ext cx="658080" cy="502560"/>
          </a:xfrm>
          <a:prstGeom prst="roundRect">
            <a:avLst>
              <a:gd name="adj" fmla="val 14545"/>
            </a:avLst>
          </a:prstGeom>
          <a:solidFill>
            <a:srgbClr val="DBEAFE"/>
          </a:solidFill>
          <a:ln w="1397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4"/>
          <p:cNvSpPr/>
          <p:nvPr/>
        </p:nvSpPr>
        <p:spPr>
          <a:xfrm>
            <a:off x="1051560" y="2048400"/>
            <a:ext cx="56664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h[t-4]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5"/>
          <p:cNvSpPr/>
          <p:nvPr/>
        </p:nvSpPr>
        <p:spPr>
          <a:xfrm>
            <a:off x="1663920" y="2267640"/>
            <a:ext cx="256320" cy="360"/>
          </a:xfrm>
          <a:prstGeom prst="line">
            <a:avLst/>
          </a:prstGeom>
          <a:ln w="16510">
            <a:solidFill>
              <a:srgbClr val="2563E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6"/>
          <p:cNvSpPr/>
          <p:nvPr/>
        </p:nvSpPr>
        <p:spPr>
          <a:xfrm>
            <a:off x="1920240" y="2011680"/>
            <a:ext cx="658080" cy="502560"/>
          </a:xfrm>
          <a:prstGeom prst="roundRect">
            <a:avLst>
              <a:gd name="adj" fmla="val 14545"/>
            </a:avLst>
          </a:prstGeom>
          <a:solidFill>
            <a:srgbClr val="DBEAFE"/>
          </a:solidFill>
          <a:ln w="1397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7"/>
          <p:cNvSpPr/>
          <p:nvPr/>
        </p:nvSpPr>
        <p:spPr>
          <a:xfrm>
            <a:off x="1965960" y="2048400"/>
            <a:ext cx="56664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h[t-3]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8"/>
          <p:cNvSpPr/>
          <p:nvPr/>
        </p:nvSpPr>
        <p:spPr>
          <a:xfrm>
            <a:off x="2578320" y="2267640"/>
            <a:ext cx="256320" cy="360"/>
          </a:xfrm>
          <a:prstGeom prst="line">
            <a:avLst/>
          </a:prstGeom>
          <a:ln w="16510">
            <a:solidFill>
              <a:srgbClr val="2563E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9"/>
          <p:cNvSpPr/>
          <p:nvPr/>
        </p:nvSpPr>
        <p:spPr>
          <a:xfrm>
            <a:off x="2834640" y="2011680"/>
            <a:ext cx="658080" cy="502560"/>
          </a:xfrm>
          <a:prstGeom prst="roundRect">
            <a:avLst>
              <a:gd name="adj" fmla="val 14545"/>
            </a:avLst>
          </a:prstGeom>
          <a:solidFill>
            <a:srgbClr val="DBEAFE"/>
          </a:solidFill>
          <a:ln w="1397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0"/>
          <p:cNvSpPr/>
          <p:nvPr/>
        </p:nvSpPr>
        <p:spPr>
          <a:xfrm>
            <a:off x="2880360" y="2048400"/>
            <a:ext cx="56664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h[t-2]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1"/>
          <p:cNvSpPr/>
          <p:nvPr/>
        </p:nvSpPr>
        <p:spPr>
          <a:xfrm>
            <a:off x="3492720" y="2267640"/>
            <a:ext cx="256320" cy="360"/>
          </a:xfrm>
          <a:prstGeom prst="line">
            <a:avLst/>
          </a:prstGeom>
          <a:ln w="16510">
            <a:solidFill>
              <a:srgbClr val="2563E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2"/>
          <p:cNvSpPr/>
          <p:nvPr/>
        </p:nvSpPr>
        <p:spPr>
          <a:xfrm>
            <a:off x="3749040" y="2011680"/>
            <a:ext cx="658080" cy="502560"/>
          </a:xfrm>
          <a:prstGeom prst="roundRect">
            <a:avLst>
              <a:gd name="adj" fmla="val 14545"/>
            </a:avLst>
          </a:prstGeom>
          <a:solidFill>
            <a:srgbClr val="DBEAFE"/>
          </a:solidFill>
          <a:ln w="1397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3"/>
          <p:cNvSpPr/>
          <p:nvPr/>
        </p:nvSpPr>
        <p:spPr>
          <a:xfrm>
            <a:off x="3794760" y="2048400"/>
            <a:ext cx="56664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h[t-1]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4"/>
          <p:cNvSpPr/>
          <p:nvPr/>
        </p:nvSpPr>
        <p:spPr>
          <a:xfrm>
            <a:off x="4407120" y="2267640"/>
            <a:ext cx="256320" cy="360"/>
          </a:xfrm>
          <a:prstGeom prst="line">
            <a:avLst/>
          </a:prstGeom>
          <a:ln w="16510">
            <a:solidFill>
              <a:srgbClr val="2563E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5"/>
          <p:cNvSpPr/>
          <p:nvPr/>
        </p:nvSpPr>
        <p:spPr>
          <a:xfrm>
            <a:off x="4663440" y="2011680"/>
            <a:ext cx="658080" cy="502560"/>
          </a:xfrm>
          <a:prstGeom prst="roundRect">
            <a:avLst>
              <a:gd name="adj" fmla="val 14545"/>
            </a:avLst>
          </a:prstGeom>
          <a:solidFill>
            <a:srgbClr val="DBEAFE"/>
          </a:solidFill>
          <a:ln w="1397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6"/>
          <p:cNvSpPr/>
          <p:nvPr/>
        </p:nvSpPr>
        <p:spPr>
          <a:xfrm>
            <a:off x="4709160" y="2048400"/>
            <a:ext cx="56664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h[t]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7"/>
          <p:cNvSpPr/>
          <p:nvPr/>
        </p:nvSpPr>
        <p:spPr>
          <a:xfrm>
            <a:off x="1051560" y="2788920"/>
            <a:ext cx="42973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sequential dependency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8"/>
          <p:cNvSpPr/>
          <p:nvPr/>
        </p:nvSpPr>
        <p:spPr>
          <a:xfrm>
            <a:off x="6126480" y="123444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Causal dilated convolution</a:t>
            </a:r>
            <a:endParaRPr lang="it-IT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9"/>
          <p:cNvSpPr/>
          <p:nvPr/>
        </p:nvSpPr>
        <p:spPr>
          <a:xfrm>
            <a:off x="6355080" y="2606040"/>
            <a:ext cx="3246120" cy="360"/>
          </a:xfrm>
          <a:prstGeom prst="line">
            <a:avLst/>
          </a:prstGeom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20"/>
          <p:cNvSpPr/>
          <p:nvPr/>
        </p:nvSpPr>
        <p:spPr>
          <a:xfrm>
            <a:off x="9363600" y="2551320"/>
            <a:ext cx="109440" cy="109440"/>
          </a:xfrm>
          <a:prstGeom prst="ellipse">
            <a:avLst/>
          </a:prstGeom>
          <a:solidFill>
            <a:srgbClr val="86B817"/>
          </a:solidFill>
          <a:ln w="12700">
            <a:solidFill>
              <a:srgbClr val="86B8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21"/>
          <p:cNvSpPr/>
          <p:nvPr/>
        </p:nvSpPr>
        <p:spPr>
          <a:xfrm>
            <a:off x="9208080" y="2551320"/>
            <a:ext cx="109440" cy="109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22"/>
          <p:cNvSpPr/>
          <p:nvPr/>
        </p:nvSpPr>
        <p:spPr>
          <a:xfrm>
            <a:off x="9052560" y="2551320"/>
            <a:ext cx="109440" cy="109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23"/>
          <p:cNvSpPr/>
          <p:nvPr/>
        </p:nvSpPr>
        <p:spPr>
          <a:xfrm>
            <a:off x="5577840" y="2496240"/>
            <a:ext cx="685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dilation 1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24"/>
          <p:cNvSpPr/>
          <p:nvPr/>
        </p:nvSpPr>
        <p:spPr>
          <a:xfrm>
            <a:off x="6355080" y="2331720"/>
            <a:ext cx="3246120" cy="360"/>
          </a:xfrm>
          <a:prstGeom prst="line">
            <a:avLst/>
          </a:prstGeom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25"/>
          <p:cNvSpPr/>
          <p:nvPr/>
        </p:nvSpPr>
        <p:spPr>
          <a:xfrm>
            <a:off x="9363600" y="2277000"/>
            <a:ext cx="109440" cy="109440"/>
          </a:xfrm>
          <a:prstGeom prst="ellipse">
            <a:avLst/>
          </a:prstGeom>
          <a:solidFill>
            <a:srgbClr val="86B817"/>
          </a:solidFill>
          <a:ln w="12700">
            <a:solidFill>
              <a:srgbClr val="86B8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26"/>
          <p:cNvSpPr/>
          <p:nvPr/>
        </p:nvSpPr>
        <p:spPr>
          <a:xfrm>
            <a:off x="9052560" y="2277000"/>
            <a:ext cx="109440" cy="109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27"/>
          <p:cNvSpPr/>
          <p:nvPr/>
        </p:nvSpPr>
        <p:spPr>
          <a:xfrm>
            <a:off x="8741520" y="2277000"/>
            <a:ext cx="109440" cy="109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28"/>
          <p:cNvSpPr/>
          <p:nvPr/>
        </p:nvSpPr>
        <p:spPr>
          <a:xfrm>
            <a:off x="5577840" y="2221920"/>
            <a:ext cx="685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dilation 2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29"/>
          <p:cNvSpPr/>
          <p:nvPr/>
        </p:nvSpPr>
        <p:spPr>
          <a:xfrm>
            <a:off x="6355080" y="2057400"/>
            <a:ext cx="3246120" cy="360"/>
          </a:xfrm>
          <a:prstGeom prst="line">
            <a:avLst/>
          </a:prstGeom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30"/>
          <p:cNvSpPr/>
          <p:nvPr/>
        </p:nvSpPr>
        <p:spPr>
          <a:xfrm>
            <a:off x="9363600" y="2002680"/>
            <a:ext cx="109440" cy="109440"/>
          </a:xfrm>
          <a:prstGeom prst="ellipse">
            <a:avLst/>
          </a:prstGeom>
          <a:solidFill>
            <a:srgbClr val="86B817"/>
          </a:solidFill>
          <a:ln w="12700">
            <a:solidFill>
              <a:srgbClr val="86B8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31"/>
          <p:cNvSpPr/>
          <p:nvPr/>
        </p:nvSpPr>
        <p:spPr>
          <a:xfrm>
            <a:off x="8741520" y="2002680"/>
            <a:ext cx="109440" cy="109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32"/>
          <p:cNvSpPr/>
          <p:nvPr/>
        </p:nvSpPr>
        <p:spPr>
          <a:xfrm>
            <a:off x="8119800" y="2002680"/>
            <a:ext cx="109440" cy="109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33"/>
          <p:cNvSpPr/>
          <p:nvPr/>
        </p:nvSpPr>
        <p:spPr>
          <a:xfrm>
            <a:off x="5577840" y="1947600"/>
            <a:ext cx="685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 dirty="0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dilation 4</a:t>
            </a:r>
            <a:endParaRPr lang="it-IT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34"/>
          <p:cNvSpPr/>
          <p:nvPr/>
        </p:nvSpPr>
        <p:spPr>
          <a:xfrm>
            <a:off x="6355080" y="1783080"/>
            <a:ext cx="3246120" cy="360"/>
          </a:xfrm>
          <a:prstGeom prst="line">
            <a:avLst/>
          </a:prstGeom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35"/>
          <p:cNvSpPr/>
          <p:nvPr/>
        </p:nvSpPr>
        <p:spPr>
          <a:xfrm>
            <a:off x="9363600" y="1728360"/>
            <a:ext cx="109440" cy="109440"/>
          </a:xfrm>
          <a:prstGeom prst="ellipse">
            <a:avLst/>
          </a:prstGeom>
          <a:solidFill>
            <a:srgbClr val="86B817"/>
          </a:solidFill>
          <a:ln w="12700">
            <a:solidFill>
              <a:srgbClr val="86B8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36"/>
          <p:cNvSpPr/>
          <p:nvPr/>
        </p:nvSpPr>
        <p:spPr>
          <a:xfrm>
            <a:off x="8119800" y="1728360"/>
            <a:ext cx="109440" cy="109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37"/>
          <p:cNvSpPr/>
          <p:nvPr/>
        </p:nvSpPr>
        <p:spPr>
          <a:xfrm>
            <a:off x="6876360" y="1728360"/>
            <a:ext cx="109440" cy="109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38"/>
          <p:cNvSpPr/>
          <p:nvPr/>
        </p:nvSpPr>
        <p:spPr>
          <a:xfrm>
            <a:off x="5577840" y="1673280"/>
            <a:ext cx="685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dilation 8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39"/>
          <p:cNvSpPr/>
          <p:nvPr/>
        </p:nvSpPr>
        <p:spPr>
          <a:xfrm>
            <a:off x="6995160" y="3246120"/>
            <a:ext cx="2377080" cy="502560"/>
          </a:xfrm>
          <a:prstGeom prst="roundRect">
            <a:avLst>
              <a:gd name="adj" fmla="val 14545"/>
            </a:avLst>
          </a:prstGeom>
          <a:solidFill>
            <a:srgbClr val="ECFCCB"/>
          </a:solidFill>
          <a:ln w="13970">
            <a:solidFill>
              <a:srgbClr val="86B8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40"/>
          <p:cNvSpPr/>
          <p:nvPr/>
        </p:nvSpPr>
        <p:spPr>
          <a:xfrm>
            <a:off x="7040880" y="3282840"/>
            <a:ext cx="228564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dirty="0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large causal receptive field</a:t>
            </a:r>
            <a:endParaRPr lang="it-IT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41"/>
          <p:cNvSpPr/>
          <p:nvPr/>
        </p:nvSpPr>
        <p:spPr>
          <a:xfrm flipV="1">
            <a:off x="8183880" y="2743200"/>
            <a:ext cx="360" cy="320040"/>
          </a:xfrm>
          <a:prstGeom prst="line">
            <a:avLst/>
          </a:prstGeom>
          <a:ln w="15240">
            <a:solidFill>
              <a:srgbClr val="86B817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42"/>
          <p:cNvSpPr/>
          <p:nvPr/>
        </p:nvSpPr>
        <p:spPr>
          <a:xfrm>
            <a:off x="914400" y="5806440"/>
            <a:ext cx="9326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WaveNet-style temporal CNNs build memory through connectivity, not through h[t−1] → h[t].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1"/>
          <p:cNvSpPr>
            <a:spLocks noGrp="1"/>
          </p:cNvSpPr>
          <p:nvPr>
            <p:ph type="sldNum" idx="5"/>
          </p:nvPr>
        </p:nvSpPr>
        <p:spPr>
          <a:xfrm>
            <a:off x="1065276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rgbClr val="64748B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56D14F1-ED94-48FF-BC1F-DC947DF04EA4}" type="slidenum"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201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568" name="Connettore 2 567">
            <a:extLst>
              <a:ext uri="{FF2B5EF4-FFF2-40B4-BE49-F238E27FC236}">
                <a16:creationId xmlns:a16="http://schemas.microsoft.com/office/drawing/2014/main" id="{EA71BCDD-91DB-54D7-354D-A9968C5DB33F}"/>
              </a:ext>
            </a:extLst>
          </p:cNvPr>
          <p:cNvCxnSpPr>
            <a:cxnSpLocks/>
          </p:cNvCxnSpPr>
          <p:nvPr/>
        </p:nvCxnSpPr>
        <p:spPr>
          <a:xfrm flipV="1">
            <a:off x="9418320" y="2349595"/>
            <a:ext cx="0" cy="2565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1" name="Connettore 2 570">
            <a:extLst>
              <a:ext uri="{FF2B5EF4-FFF2-40B4-BE49-F238E27FC236}">
                <a16:creationId xmlns:a16="http://schemas.microsoft.com/office/drawing/2014/main" id="{3573E064-ACC8-B684-FF18-420488DE167E}"/>
              </a:ext>
            </a:extLst>
          </p:cNvPr>
          <p:cNvCxnSpPr>
            <a:cxnSpLocks/>
          </p:cNvCxnSpPr>
          <p:nvPr/>
        </p:nvCxnSpPr>
        <p:spPr>
          <a:xfrm flipV="1">
            <a:off x="9418320" y="2048400"/>
            <a:ext cx="0" cy="2565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2" name="Connettore 2 571">
            <a:extLst>
              <a:ext uri="{FF2B5EF4-FFF2-40B4-BE49-F238E27FC236}">
                <a16:creationId xmlns:a16="http://schemas.microsoft.com/office/drawing/2014/main" id="{DD6223EA-B05A-66EF-A9AA-87E14AC13A7F}"/>
              </a:ext>
            </a:extLst>
          </p:cNvPr>
          <p:cNvCxnSpPr>
            <a:cxnSpLocks/>
          </p:cNvCxnSpPr>
          <p:nvPr/>
        </p:nvCxnSpPr>
        <p:spPr>
          <a:xfrm flipV="1">
            <a:off x="9418320" y="1783080"/>
            <a:ext cx="0" cy="2565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3" name="Connettore 2 572">
            <a:extLst>
              <a:ext uri="{FF2B5EF4-FFF2-40B4-BE49-F238E27FC236}">
                <a16:creationId xmlns:a16="http://schemas.microsoft.com/office/drawing/2014/main" id="{0E82049D-B96B-0F9F-4970-C5EC967B666C}"/>
              </a:ext>
            </a:extLst>
          </p:cNvPr>
          <p:cNvCxnSpPr>
            <a:cxnSpLocks/>
          </p:cNvCxnSpPr>
          <p:nvPr/>
        </p:nvCxnSpPr>
        <p:spPr>
          <a:xfrm flipV="1">
            <a:off x="9281520" y="2352571"/>
            <a:ext cx="109440" cy="1987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6" name="Connettore 2 575">
            <a:extLst>
              <a:ext uri="{FF2B5EF4-FFF2-40B4-BE49-F238E27FC236}">
                <a16:creationId xmlns:a16="http://schemas.microsoft.com/office/drawing/2014/main" id="{B5495E18-3DD5-F0DF-3FF8-69DC4492D4F6}"/>
              </a:ext>
            </a:extLst>
          </p:cNvPr>
          <p:cNvCxnSpPr>
            <a:cxnSpLocks/>
            <a:stCxn id="33" idx="7"/>
          </p:cNvCxnSpPr>
          <p:nvPr/>
        </p:nvCxnSpPr>
        <p:spPr>
          <a:xfrm flipV="1">
            <a:off x="9145973" y="2339098"/>
            <a:ext cx="198907" cy="2282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8" name="Connettore 2 577">
            <a:extLst>
              <a:ext uri="{FF2B5EF4-FFF2-40B4-BE49-F238E27FC236}">
                <a16:creationId xmlns:a16="http://schemas.microsoft.com/office/drawing/2014/main" id="{AD421D0C-DB34-2D33-ED83-F7AA1EC5B96D}"/>
              </a:ext>
            </a:extLst>
          </p:cNvPr>
          <p:cNvCxnSpPr>
            <a:cxnSpLocks/>
            <a:stCxn id="37" idx="0"/>
            <a:endCxn id="41" idx="3"/>
          </p:cNvCxnSpPr>
          <p:nvPr/>
        </p:nvCxnSpPr>
        <p:spPr>
          <a:xfrm flipV="1">
            <a:off x="9107280" y="2096093"/>
            <a:ext cx="272347" cy="1809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0" name="Connettore 2 579">
            <a:extLst>
              <a:ext uri="{FF2B5EF4-FFF2-40B4-BE49-F238E27FC236}">
                <a16:creationId xmlns:a16="http://schemas.microsoft.com/office/drawing/2014/main" id="{D763D5BF-C066-BA69-F104-CD5F3FD03928}"/>
              </a:ext>
            </a:extLst>
          </p:cNvPr>
          <p:cNvCxnSpPr>
            <a:cxnSpLocks/>
            <a:stCxn id="42" idx="6"/>
          </p:cNvCxnSpPr>
          <p:nvPr/>
        </p:nvCxnSpPr>
        <p:spPr>
          <a:xfrm flipV="1">
            <a:off x="8850960" y="1783722"/>
            <a:ext cx="540000" cy="2736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2" name="Connettore 2 581">
            <a:extLst>
              <a:ext uri="{FF2B5EF4-FFF2-40B4-BE49-F238E27FC236}">
                <a16:creationId xmlns:a16="http://schemas.microsoft.com/office/drawing/2014/main" id="{611897D4-9A93-94E5-9A7A-B00D540770E0}"/>
              </a:ext>
            </a:extLst>
          </p:cNvPr>
          <p:cNvCxnSpPr>
            <a:cxnSpLocks/>
            <a:stCxn id="43" idx="7"/>
            <a:endCxn id="46" idx="2"/>
          </p:cNvCxnSpPr>
          <p:nvPr/>
        </p:nvCxnSpPr>
        <p:spPr>
          <a:xfrm flipV="1">
            <a:off x="8213213" y="1783080"/>
            <a:ext cx="1150387" cy="2356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5" name="Connettore 2 584">
            <a:extLst>
              <a:ext uri="{FF2B5EF4-FFF2-40B4-BE49-F238E27FC236}">
                <a16:creationId xmlns:a16="http://schemas.microsoft.com/office/drawing/2014/main" id="{021AA539-79A0-7880-E007-8ADA42968D05}"/>
              </a:ext>
            </a:extLst>
          </p:cNvPr>
          <p:cNvCxnSpPr>
            <a:cxnSpLocks/>
            <a:endCxn id="41" idx="2"/>
          </p:cNvCxnSpPr>
          <p:nvPr/>
        </p:nvCxnSpPr>
        <p:spPr>
          <a:xfrm flipV="1">
            <a:off x="8816088" y="2057400"/>
            <a:ext cx="547512" cy="2690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BA37214-05D8-A82B-9299-1BA510B08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Exponentially increasing dilation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D203AF4-7D4E-1BE9-9B6B-7EFF05B9A97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A typical </a:t>
            </a:r>
            <a:r>
              <a:rPr lang="en-GB" dirty="0" err="1"/>
              <a:t>WaveNet</a:t>
            </a:r>
            <a:r>
              <a:rPr lang="en-GB" dirty="0"/>
              <a:t> stack increases dilation exponentially.</a:t>
            </a:r>
          </a:p>
          <a:p>
            <a:r>
              <a:rPr lang="en-GB" dirty="0"/>
              <a:t>For example:</a:t>
            </a:r>
          </a:p>
          <a:p>
            <a:pPr lvl="1"/>
            <a:r>
              <a:rPr lang="en-GB" dirty="0"/>
              <a:t>Layer 1: dilation = 1</a:t>
            </a:r>
          </a:p>
          <a:p>
            <a:pPr lvl="1"/>
            <a:r>
              <a:rPr lang="en-GB" dirty="0"/>
              <a:t>Layer 2: dilation = 2</a:t>
            </a:r>
          </a:p>
          <a:p>
            <a:pPr lvl="1"/>
            <a:r>
              <a:rPr lang="en-GB" dirty="0"/>
              <a:t>Layer 3: dilation = 4</a:t>
            </a:r>
          </a:p>
          <a:p>
            <a:pPr lvl="1"/>
            <a:r>
              <a:rPr lang="en-GB" dirty="0"/>
              <a:t>Layer 4: dilation = 8</a:t>
            </a:r>
          </a:p>
          <a:p>
            <a:pPr lvl="1"/>
            <a:r>
              <a:rPr lang="en-GB" dirty="0"/>
              <a:t>Layer 5: dilation = 16</a:t>
            </a:r>
          </a:p>
          <a:p>
            <a:r>
              <a:rPr lang="en-GB" dirty="0"/>
              <a:t>With small kernels, this creates a rapidly expanding receptive field.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8C6515B-D546-9B81-01A3-9FFA58AE3E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5641530" cy="3880773"/>
          </a:xfrm>
        </p:spPr>
        <p:txBody>
          <a:bodyPr>
            <a:normAutofit fontScale="92500" lnSpcReduction="10000"/>
          </a:bodyPr>
          <a:lstStyle/>
          <a:p>
            <a:r>
              <a:rPr lang="en-GB" b="1" dirty="0"/>
              <a:t>Example with kernel size 2</a:t>
            </a:r>
          </a:p>
          <a:p>
            <a:r>
              <a:rPr lang="en-GB" dirty="0"/>
              <a:t>One layer can connect:</a:t>
            </a:r>
          </a:p>
          <a:p>
            <a:r>
              <a:rPr lang="en-GB" dirty="0"/>
              <a:t>x[t] and x[t−1]</a:t>
            </a:r>
          </a:p>
          <a:p>
            <a:r>
              <a:rPr lang="en-GB" dirty="0"/>
              <a:t>With increasing dilation, deeper layers can connect:</a:t>
            </a:r>
          </a:p>
          <a:p>
            <a:pPr lvl="1"/>
            <a:r>
              <a:rPr lang="en-GB" dirty="0"/>
              <a:t>x[t−1]</a:t>
            </a:r>
          </a:p>
          <a:p>
            <a:pPr lvl="1"/>
            <a:r>
              <a:rPr lang="en-GB" dirty="0"/>
              <a:t>x[t−2]</a:t>
            </a:r>
          </a:p>
          <a:p>
            <a:pPr lvl="1"/>
            <a:r>
              <a:rPr lang="en-GB" dirty="0"/>
              <a:t>x[t−4]</a:t>
            </a:r>
          </a:p>
          <a:p>
            <a:pPr lvl="1"/>
            <a:r>
              <a:rPr lang="en-GB" dirty="0"/>
              <a:t>x[t−8]</a:t>
            </a:r>
          </a:p>
          <a:p>
            <a:pPr lvl="1"/>
            <a:r>
              <a:rPr lang="en-GB" dirty="0"/>
              <a:t>x[t−16]</a:t>
            </a:r>
          </a:p>
          <a:p>
            <a:pPr lvl="1"/>
            <a:r>
              <a:rPr lang="en-GB" dirty="0"/>
              <a:t>...</a:t>
            </a:r>
          </a:p>
          <a:p>
            <a:r>
              <a:rPr lang="en-GB" dirty="0"/>
              <a:t>indirectly through the convolutional stack.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63474188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>
            <a:extLst>
              <a:ext uri="{FF2B5EF4-FFF2-40B4-BE49-F238E27FC236}">
                <a16:creationId xmlns:a16="http://schemas.microsoft.com/office/drawing/2014/main" id="{461640E5-A8D7-2547-68FA-4B97CF277B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365125"/>
            <a:ext cx="8137525" cy="347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en-US" sz="2800" b="1">
                <a:solidFill>
                  <a:srgbClr val="111827"/>
                </a:solidFill>
                <a:latin typeface="Aptos" panose="020B0004020202020204" pitchFamily="34" charset="0"/>
              </a:rPr>
              <a:t>Exponentially increasing dilation</a:t>
            </a:r>
          </a:p>
        </p:txBody>
      </p:sp>
      <p:sp>
        <p:nvSpPr>
          <p:cNvPr id="3074" name="Rectangle 2">
            <a:extLst>
              <a:ext uri="{FF2B5EF4-FFF2-40B4-BE49-F238E27FC236}">
                <a16:creationId xmlns:a16="http://schemas.microsoft.com/office/drawing/2014/main" id="{EC24D852-5311-B98F-CF21-183CF9BFC7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822325"/>
            <a:ext cx="8961437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en-US" sz="1500">
                <a:solidFill>
                  <a:srgbClr val="475569"/>
                </a:solidFill>
                <a:latin typeface="Aptos" panose="020B0004020202020204" pitchFamily="34" charset="0"/>
              </a:rPr>
              <a:t>Causal dilated convolutions expand past context without using future samples.</a:t>
            </a:r>
          </a:p>
        </p:txBody>
      </p:sp>
      <p:sp>
        <p:nvSpPr>
          <p:cNvPr id="3075" name="Line 3">
            <a:extLst>
              <a:ext uri="{FF2B5EF4-FFF2-40B4-BE49-F238E27FC236}">
                <a16:creationId xmlns:a16="http://schemas.microsoft.com/office/drawing/2014/main" id="{F954433C-B2CD-9C35-2B65-3D096F5C5F9F}"/>
              </a:ext>
            </a:extLst>
          </p:cNvPr>
          <p:cNvSpPr>
            <a:spLocks noChangeShapeType="1"/>
          </p:cNvSpPr>
          <p:nvPr/>
        </p:nvSpPr>
        <p:spPr bwMode="auto">
          <a:xfrm>
            <a:off x="1252538" y="5303838"/>
            <a:ext cx="7818437" cy="1587"/>
          </a:xfrm>
          <a:prstGeom prst="line">
            <a:avLst/>
          </a:prstGeom>
          <a:noFill/>
          <a:ln w="12600" cap="flat">
            <a:solidFill>
              <a:srgbClr val="111827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C511FBBA-3213-A4C2-C10A-E3D905D0F0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1675" y="5194300"/>
            <a:ext cx="411163" cy="146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en-US" sz="1000">
                <a:solidFill>
                  <a:srgbClr val="475569"/>
                </a:solidFill>
                <a:latin typeface="Aptos" panose="020B0004020202020204" pitchFamily="34" charset="0"/>
              </a:rPr>
              <a:t>time →</a:t>
            </a:r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E36608FF-EA1A-A05F-713D-D62AD72F74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1588" y="5440363"/>
            <a:ext cx="411162" cy="128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en-US" sz="900">
                <a:solidFill>
                  <a:srgbClr val="475569"/>
                </a:solidFill>
                <a:latin typeface="Aptos" panose="020B0004020202020204" pitchFamily="34" charset="0"/>
              </a:rPr>
              <a:t>past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53A3559D-3A7B-ADF1-C499-633042ECBB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0300" y="5440363"/>
            <a:ext cx="182563" cy="128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en-US" sz="1000" b="1">
                <a:solidFill>
                  <a:srgbClr val="111827"/>
                </a:solidFill>
                <a:latin typeface="Aptos" panose="020B0004020202020204" pitchFamily="34" charset="0"/>
              </a:rPr>
              <a:t>t</a:t>
            </a:r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5BECB410-2D1A-C22F-1E09-E32FB4BAFE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175" y="4791075"/>
            <a:ext cx="8048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hangingPunct="1">
              <a:lnSpc>
                <a:spcPct val="100000"/>
              </a:lnSpc>
            </a:pPr>
            <a:r>
              <a:rPr lang="en-US" altLang="en-US" sz="1000" b="1">
                <a:solidFill>
                  <a:srgbClr val="111827"/>
                </a:solidFill>
                <a:latin typeface="Aptos" panose="020B0004020202020204" pitchFamily="34" charset="0"/>
              </a:rPr>
              <a:t>Input</a:t>
            </a:r>
          </a:p>
        </p:txBody>
      </p:sp>
      <p:sp>
        <p:nvSpPr>
          <p:cNvPr id="3080" name="Line 8">
            <a:extLst>
              <a:ext uri="{FF2B5EF4-FFF2-40B4-BE49-F238E27FC236}">
                <a16:creationId xmlns:a16="http://schemas.microsoft.com/office/drawing/2014/main" id="{3698DE33-D68F-E631-FF67-A3E7B3734FBD}"/>
              </a:ext>
            </a:extLst>
          </p:cNvPr>
          <p:cNvSpPr>
            <a:spLocks noChangeShapeType="1"/>
          </p:cNvSpPr>
          <p:nvPr/>
        </p:nvSpPr>
        <p:spPr bwMode="auto">
          <a:xfrm>
            <a:off x="1325563" y="4892675"/>
            <a:ext cx="7451725" cy="1588"/>
          </a:xfrm>
          <a:prstGeom prst="line">
            <a:avLst/>
          </a:prstGeom>
          <a:noFill/>
          <a:ln w="25560" cap="flat">
            <a:solidFill>
              <a:srgbClr val="CBD5E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081" name="Oval 9">
            <a:extLst>
              <a:ext uri="{FF2B5EF4-FFF2-40B4-BE49-F238E27FC236}">
                <a16:creationId xmlns:a16="http://schemas.microsoft.com/office/drawing/2014/main" id="{16946870-8168-4132-807B-53A13F52B0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3813" y="48593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82" name="Oval 10">
            <a:extLst>
              <a:ext uri="{FF2B5EF4-FFF2-40B4-BE49-F238E27FC236}">
                <a16:creationId xmlns:a16="http://schemas.microsoft.com/office/drawing/2014/main" id="{0505EB3B-EAE2-C210-914F-B432EDE225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9238" y="48593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83" name="Oval 11">
            <a:extLst>
              <a:ext uri="{FF2B5EF4-FFF2-40B4-BE49-F238E27FC236}">
                <a16:creationId xmlns:a16="http://schemas.microsoft.com/office/drawing/2014/main" id="{5F62B3A6-7988-8408-F3BC-6FC1B6DBD1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4663" y="48593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84" name="Oval 12">
            <a:extLst>
              <a:ext uri="{FF2B5EF4-FFF2-40B4-BE49-F238E27FC236}">
                <a16:creationId xmlns:a16="http://schemas.microsoft.com/office/drawing/2014/main" id="{13F79332-A3E3-ABB3-6323-19D09F0B16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0088" y="48593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85" name="Oval 13">
            <a:extLst>
              <a:ext uri="{FF2B5EF4-FFF2-40B4-BE49-F238E27FC236}">
                <a16:creationId xmlns:a16="http://schemas.microsoft.com/office/drawing/2014/main" id="{2A46279B-C643-1C15-A717-680371FBDE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7100" y="48593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86" name="Oval 14">
            <a:extLst>
              <a:ext uri="{FF2B5EF4-FFF2-40B4-BE49-F238E27FC236}">
                <a16:creationId xmlns:a16="http://schemas.microsoft.com/office/drawing/2014/main" id="{ACE26039-A6C1-8636-2D93-B8DFA0BFDE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2525" y="48593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87" name="Oval 15">
            <a:extLst>
              <a:ext uri="{FF2B5EF4-FFF2-40B4-BE49-F238E27FC236}">
                <a16:creationId xmlns:a16="http://schemas.microsoft.com/office/drawing/2014/main" id="{A59FAEBC-3D99-9324-FD3C-3B08F105D1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7950" y="48593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88" name="Oval 16">
            <a:extLst>
              <a:ext uri="{FF2B5EF4-FFF2-40B4-BE49-F238E27FC236}">
                <a16:creationId xmlns:a16="http://schemas.microsoft.com/office/drawing/2014/main" id="{8A9D385C-0866-52E6-E41E-E689318970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75" y="48593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89" name="Oval 17">
            <a:extLst>
              <a:ext uri="{FF2B5EF4-FFF2-40B4-BE49-F238E27FC236}">
                <a16:creationId xmlns:a16="http://schemas.microsoft.com/office/drawing/2014/main" id="{D0FA9509-FC58-8CB2-C7DD-8F6BBCF2CE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0388" y="48593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90" name="Oval 18">
            <a:extLst>
              <a:ext uri="{FF2B5EF4-FFF2-40B4-BE49-F238E27FC236}">
                <a16:creationId xmlns:a16="http://schemas.microsoft.com/office/drawing/2014/main" id="{D4744443-35CE-016A-F663-ACC938723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5813" y="48593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91" name="Oval 19">
            <a:extLst>
              <a:ext uri="{FF2B5EF4-FFF2-40B4-BE49-F238E27FC236}">
                <a16:creationId xmlns:a16="http://schemas.microsoft.com/office/drawing/2014/main" id="{F0DF6818-0B33-F93D-06BD-D80268C70A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1238" y="48593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92" name="Oval 20">
            <a:extLst>
              <a:ext uri="{FF2B5EF4-FFF2-40B4-BE49-F238E27FC236}">
                <a16:creationId xmlns:a16="http://schemas.microsoft.com/office/drawing/2014/main" id="{89726162-602A-2AC3-A83B-0CB099CF54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6663" y="48593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93" name="Oval 21">
            <a:extLst>
              <a:ext uri="{FF2B5EF4-FFF2-40B4-BE49-F238E27FC236}">
                <a16:creationId xmlns:a16="http://schemas.microsoft.com/office/drawing/2014/main" id="{6C17C5EE-5846-28C8-962D-3DF4871EB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2088" y="48593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94" name="Oval 22">
            <a:extLst>
              <a:ext uri="{FF2B5EF4-FFF2-40B4-BE49-F238E27FC236}">
                <a16:creationId xmlns:a16="http://schemas.microsoft.com/office/drawing/2014/main" id="{FF399BDB-F6F7-A9F9-6C7C-968094EB6A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9100" y="48593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95" name="Oval 23">
            <a:extLst>
              <a:ext uri="{FF2B5EF4-FFF2-40B4-BE49-F238E27FC236}">
                <a16:creationId xmlns:a16="http://schemas.microsoft.com/office/drawing/2014/main" id="{22592AF6-6CF1-C0AB-4CD1-97472189DA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4525" y="48593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96" name="Oval 24">
            <a:extLst>
              <a:ext uri="{FF2B5EF4-FFF2-40B4-BE49-F238E27FC236}">
                <a16:creationId xmlns:a16="http://schemas.microsoft.com/office/drawing/2014/main" id="{9204764D-44CE-EBF2-4F2D-79EDCFAB82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9950" y="48593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97" name="Oval 25">
            <a:extLst>
              <a:ext uri="{FF2B5EF4-FFF2-40B4-BE49-F238E27FC236}">
                <a16:creationId xmlns:a16="http://schemas.microsoft.com/office/drawing/2014/main" id="{97C30B07-A800-1A70-507D-9668EB13C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75" y="48593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98" name="Oval 26">
            <a:extLst>
              <a:ext uri="{FF2B5EF4-FFF2-40B4-BE49-F238E27FC236}">
                <a16:creationId xmlns:a16="http://schemas.microsoft.com/office/drawing/2014/main" id="{562825FB-548C-5C17-7EE6-9533598ECB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2388" y="48593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99" name="Oval 27">
            <a:extLst>
              <a:ext uri="{FF2B5EF4-FFF2-40B4-BE49-F238E27FC236}">
                <a16:creationId xmlns:a16="http://schemas.microsoft.com/office/drawing/2014/main" id="{A41BDF34-1E80-E05A-D576-BF09F2CCE8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7813" y="48593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00" name="Oval 28">
            <a:extLst>
              <a:ext uri="{FF2B5EF4-FFF2-40B4-BE49-F238E27FC236}">
                <a16:creationId xmlns:a16="http://schemas.microsoft.com/office/drawing/2014/main" id="{0F080E84-7A54-3E52-B744-16E46E327C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3238" y="48593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01" name="Oval 29">
            <a:extLst>
              <a:ext uri="{FF2B5EF4-FFF2-40B4-BE49-F238E27FC236}">
                <a16:creationId xmlns:a16="http://schemas.microsoft.com/office/drawing/2014/main" id="{79D1C03F-5AD4-2A6B-9910-E90041CE46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0250" y="48593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02" name="Oval 30">
            <a:extLst>
              <a:ext uri="{FF2B5EF4-FFF2-40B4-BE49-F238E27FC236}">
                <a16:creationId xmlns:a16="http://schemas.microsoft.com/office/drawing/2014/main" id="{A7C19ECD-CA42-597F-D1C1-86F43116CE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5675" y="48593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03" name="Oval 31">
            <a:extLst>
              <a:ext uri="{FF2B5EF4-FFF2-40B4-BE49-F238E27FC236}">
                <a16:creationId xmlns:a16="http://schemas.microsoft.com/office/drawing/2014/main" id="{7EDB5CB2-BE48-667D-E528-CE49D7EC37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1100" y="48593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04" name="Oval 32">
            <a:extLst>
              <a:ext uri="{FF2B5EF4-FFF2-40B4-BE49-F238E27FC236}">
                <a16:creationId xmlns:a16="http://schemas.microsoft.com/office/drawing/2014/main" id="{7AC7FF39-C610-9C47-5213-3808B05752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6525" y="48593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05" name="Oval 33">
            <a:extLst>
              <a:ext uri="{FF2B5EF4-FFF2-40B4-BE49-F238E27FC236}">
                <a16:creationId xmlns:a16="http://schemas.microsoft.com/office/drawing/2014/main" id="{E009CD05-AE92-E7D9-BAC3-8E94047990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3538" y="48593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06" name="Oval 34">
            <a:extLst>
              <a:ext uri="{FF2B5EF4-FFF2-40B4-BE49-F238E27FC236}">
                <a16:creationId xmlns:a16="http://schemas.microsoft.com/office/drawing/2014/main" id="{6795A9DC-ED15-0DE8-67C9-B39B1C14C0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8963" y="48593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07" name="Oval 35">
            <a:extLst>
              <a:ext uri="{FF2B5EF4-FFF2-40B4-BE49-F238E27FC236}">
                <a16:creationId xmlns:a16="http://schemas.microsoft.com/office/drawing/2014/main" id="{D067B04A-416E-C75C-BE15-C936DDC50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4388" y="48593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08" name="Oval 36">
            <a:extLst>
              <a:ext uri="{FF2B5EF4-FFF2-40B4-BE49-F238E27FC236}">
                <a16:creationId xmlns:a16="http://schemas.microsoft.com/office/drawing/2014/main" id="{BECAF47E-26DD-67C3-9AC2-F99D18AC0D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9813" y="48593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09" name="Oval 37">
            <a:extLst>
              <a:ext uri="{FF2B5EF4-FFF2-40B4-BE49-F238E27FC236}">
                <a16:creationId xmlns:a16="http://schemas.microsoft.com/office/drawing/2014/main" id="{69F2A274-3426-ED0E-0CE9-E9BF70944B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6825" y="48593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10" name="Oval 38">
            <a:extLst>
              <a:ext uri="{FF2B5EF4-FFF2-40B4-BE49-F238E27FC236}">
                <a16:creationId xmlns:a16="http://schemas.microsoft.com/office/drawing/2014/main" id="{C839570C-D778-65D9-ABC0-3F357762A5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2250" y="48593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11" name="Oval 39">
            <a:extLst>
              <a:ext uri="{FF2B5EF4-FFF2-40B4-BE49-F238E27FC236}">
                <a16:creationId xmlns:a16="http://schemas.microsoft.com/office/drawing/2014/main" id="{159D839F-29BC-7146-AD5A-3207597AE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7675" y="48593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12" name="Oval 40">
            <a:extLst>
              <a:ext uri="{FF2B5EF4-FFF2-40B4-BE49-F238E27FC236}">
                <a16:creationId xmlns:a16="http://schemas.microsoft.com/office/drawing/2014/main" id="{323AB5CC-01BE-BB04-1B66-438CA4A266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3100" y="48593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13" name="Oval 41">
            <a:extLst>
              <a:ext uri="{FF2B5EF4-FFF2-40B4-BE49-F238E27FC236}">
                <a16:creationId xmlns:a16="http://schemas.microsoft.com/office/drawing/2014/main" id="{D0A6173B-4BEF-6AC8-4247-3E3E54B969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0113" y="48593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14" name="Oval 42">
            <a:extLst>
              <a:ext uri="{FF2B5EF4-FFF2-40B4-BE49-F238E27FC236}">
                <a16:creationId xmlns:a16="http://schemas.microsoft.com/office/drawing/2014/main" id="{9FE7F180-E2F9-56FB-2BEE-62966B5816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5538" y="48593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15" name="Rectangle 43">
            <a:extLst>
              <a:ext uri="{FF2B5EF4-FFF2-40B4-BE49-F238E27FC236}">
                <a16:creationId xmlns:a16="http://schemas.microsoft.com/office/drawing/2014/main" id="{35DCAEBA-87FD-525A-4910-B7710E764C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175" y="4105275"/>
            <a:ext cx="8048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hangingPunct="1">
              <a:lnSpc>
                <a:spcPct val="100000"/>
              </a:lnSpc>
            </a:pPr>
            <a:r>
              <a:rPr lang="en-US" altLang="en-US" sz="1000" b="1">
                <a:solidFill>
                  <a:srgbClr val="111827"/>
                </a:solidFill>
                <a:latin typeface="Aptos" panose="020B0004020202020204" pitchFamily="34" charset="0"/>
              </a:rPr>
              <a:t>Layer 1: d=1</a:t>
            </a:r>
          </a:p>
        </p:txBody>
      </p:sp>
      <p:sp>
        <p:nvSpPr>
          <p:cNvPr id="3116" name="Line 44">
            <a:extLst>
              <a:ext uri="{FF2B5EF4-FFF2-40B4-BE49-F238E27FC236}">
                <a16:creationId xmlns:a16="http://schemas.microsoft.com/office/drawing/2014/main" id="{4C324EAC-2E8F-A390-8624-DDEEA9B6B86A}"/>
              </a:ext>
            </a:extLst>
          </p:cNvPr>
          <p:cNvSpPr>
            <a:spLocks noChangeShapeType="1"/>
          </p:cNvSpPr>
          <p:nvPr/>
        </p:nvSpPr>
        <p:spPr bwMode="auto">
          <a:xfrm>
            <a:off x="1325563" y="4206875"/>
            <a:ext cx="7451725" cy="1588"/>
          </a:xfrm>
          <a:prstGeom prst="line">
            <a:avLst/>
          </a:prstGeom>
          <a:noFill/>
          <a:ln w="25560" cap="flat">
            <a:solidFill>
              <a:srgbClr val="CBD5E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117" name="Oval 45">
            <a:extLst>
              <a:ext uri="{FF2B5EF4-FFF2-40B4-BE49-F238E27FC236}">
                <a16:creationId xmlns:a16="http://schemas.microsoft.com/office/drawing/2014/main" id="{273F1E5C-14BA-4773-98F9-9AAE25FAC5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3813" y="41735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18" name="Oval 46">
            <a:extLst>
              <a:ext uri="{FF2B5EF4-FFF2-40B4-BE49-F238E27FC236}">
                <a16:creationId xmlns:a16="http://schemas.microsoft.com/office/drawing/2014/main" id="{68A7958B-BC5A-5906-E285-A59CA482A1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9238" y="41735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19" name="Oval 47">
            <a:extLst>
              <a:ext uri="{FF2B5EF4-FFF2-40B4-BE49-F238E27FC236}">
                <a16:creationId xmlns:a16="http://schemas.microsoft.com/office/drawing/2014/main" id="{5DEE3DF2-DF6F-C7C0-94C8-FE47B40ABC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4663" y="41735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20" name="Oval 48">
            <a:extLst>
              <a:ext uri="{FF2B5EF4-FFF2-40B4-BE49-F238E27FC236}">
                <a16:creationId xmlns:a16="http://schemas.microsoft.com/office/drawing/2014/main" id="{E9F0C5F4-F61F-59FD-1988-2673570CA8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0088" y="41735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21" name="Oval 49">
            <a:extLst>
              <a:ext uri="{FF2B5EF4-FFF2-40B4-BE49-F238E27FC236}">
                <a16:creationId xmlns:a16="http://schemas.microsoft.com/office/drawing/2014/main" id="{8444F20D-AAC5-098B-261D-56D306427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7100" y="41735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22" name="Oval 50">
            <a:extLst>
              <a:ext uri="{FF2B5EF4-FFF2-40B4-BE49-F238E27FC236}">
                <a16:creationId xmlns:a16="http://schemas.microsoft.com/office/drawing/2014/main" id="{97B7AE9E-A693-B356-2D56-62572587C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2525" y="41735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23" name="Oval 51">
            <a:extLst>
              <a:ext uri="{FF2B5EF4-FFF2-40B4-BE49-F238E27FC236}">
                <a16:creationId xmlns:a16="http://schemas.microsoft.com/office/drawing/2014/main" id="{63770CF9-7FA8-3CE2-FD4F-D27B2B3821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7950" y="41735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24" name="Oval 52">
            <a:extLst>
              <a:ext uri="{FF2B5EF4-FFF2-40B4-BE49-F238E27FC236}">
                <a16:creationId xmlns:a16="http://schemas.microsoft.com/office/drawing/2014/main" id="{B83B0EE8-359B-98FF-81D2-AF8AE71FBA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75" y="41735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25" name="Oval 53">
            <a:extLst>
              <a:ext uri="{FF2B5EF4-FFF2-40B4-BE49-F238E27FC236}">
                <a16:creationId xmlns:a16="http://schemas.microsoft.com/office/drawing/2014/main" id="{AF11547F-F91A-302E-66B5-F0451DB608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0388" y="41735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26" name="Oval 54">
            <a:extLst>
              <a:ext uri="{FF2B5EF4-FFF2-40B4-BE49-F238E27FC236}">
                <a16:creationId xmlns:a16="http://schemas.microsoft.com/office/drawing/2014/main" id="{EAAAC445-4055-C295-8ACB-C34F18900E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5813" y="41735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27" name="Oval 55">
            <a:extLst>
              <a:ext uri="{FF2B5EF4-FFF2-40B4-BE49-F238E27FC236}">
                <a16:creationId xmlns:a16="http://schemas.microsoft.com/office/drawing/2014/main" id="{5468A729-53E2-225C-95CD-9D93EA4430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1238" y="41735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28" name="Oval 56">
            <a:extLst>
              <a:ext uri="{FF2B5EF4-FFF2-40B4-BE49-F238E27FC236}">
                <a16:creationId xmlns:a16="http://schemas.microsoft.com/office/drawing/2014/main" id="{BCE93FE7-98F6-E8D6-3374-E1AF4E087F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6663" y="41735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29" name="Oval 57">
            <a:extLst>
              <a:ext uri="{FF2B5EF4-FFF2-40B4-BE49-F238E27FC236}">
                <a16:creationId xmlns:a16="http://schemas.microsoft.com/office/drawing/2014/main" id="{43667511-3A10-0D04-94DE-D544C19B43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2088" y="41735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30" name="Oval 58">
            <a:extLst>
              <a:ext uri="{FF2B5EF4-FFF2-40B4-BE49-F238E27FC236}">
                <a16:creationId xmlns:a16="http://schemas.microsoft.com/office/drawing/2014/main" id="{EB30F576-0FFB-4EBC-7F04-1BE9A24B33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9100" y="41735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31" name="Oval 59">
            <a:extLst>
              <a:ext uri="{FF2B5EF4-FFF2-40B4-BE49-F238E27FC236}">
                <a16:creationId xmlns:a16="http://schemas.microsoft.com/office/drawing/2014/main" id="{AE881BB7-FF47-A4A0-29EE-E690182060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4525" y="41735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32" name="Oval 60">
            <a:extLst>
              <a:ext uri="{FF2B5EF4-FFF2-40B4-BE49-F238E27FC236}">
                <a16:creationId xmlns:a16="http://schemas.microsoft.com/office/drawing/2014/main" id="{1D393FD6-04DF-F65D-5332-67EA7CF447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9950" y="41735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33" name="Oval 61">
            <a:extLst>
              <a:ext uri="{FF2B5EF4-FFF2-40B4-BE49-F238E27FC236}">
                <a16:creationId xmlns:a16="http://schemas.microsoft.com/office/drawing/2014/main" id="{A528461A-1303-6A2F-111C-2CF2DBCE38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75" y="41735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34" name="Oval 62">
            <a:extLst>
              <a:ext uri="{FF2B5EF4-FFF2-40B4-BE49-F238E27FC236}">
                <a16:creationId xmlns:a16="http://schemas.microsoft.com/office/drawing/2014/main" id="{97A23B81-85B4-D34E-4771-908ADDF732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2388" y="41735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35" name="Oval 63">
            <a:extLst>
              <a:ext uri="{FF2B5EF4-FFF2-40B4-BE49-F238E27FC236}">
                <a16:creationId xmlns:a16="http://schemas.microsoft.com/office/drawing/2014/main" id="{A5221937-A67B-6D23-8028-9A4201E044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7813" y="41735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36" name="Oval 64">
            <a:extLst>
              <a:ext uri="{FF2B5EF4-FFF2-40B4-BE49-F238E27FC236}">
                <a16:creationId xmlns:a16="http://schemas.microsoft.com/office/drawing/2014/main" id="{FFA97D15-C2BB-4B09-12C8-514164933D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3238" y="41735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37" name="Oval 65">
            <a:extLst>
              <a:ext uri="{FF2B5EF4-FFF2-40B4-BE49-F238E27FC236}">
                <a16:creationId xmlns:a16="http://schemas.microsoft.com/office/drawing/2014/main" id="{876D124C-D64C-7362-C20C-DB6A9598BA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0250" y="41735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38" name="Oval 66">
            <a:extLst>
              <a:ext uri="{FF2B5EF4-FFF2-40B4-BE49-F238E27FC236}">
                <a16:creationId xmlns:a16="http://schemas.microsoft.com/office/drawing/2014/main" id="{3E0E0C32-555E-2630-175E-5D3BC282F7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5675" y="41735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39" name="Oval 67">
            <a:extLst>
              <a:ext uri="{FF2B5EF4-FFF2-40B4-BE49-F238E27FC236}">
                <a16:creationId xmlns:a16="http://schemas.microsoft.com/office/drawing/2014/main" id="{2C424F56-C0E5-19D5-84FC-198996B6B0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1100" y="41735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40" name="Oval 68">
            <a:extLst>
              <a:ext uri="{FF2B5EF4-FFF2-40B4-BE49-F238E27FC236}">
                <a16:creationId xmlns:a16="http://schemas.microsoft.com/office/drawing/2014/main" id="{B124F7D1-A3C3-B16C-52F8-8D05D8C36A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6525" y="41735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41" name="Oval 69">
            <a:extLst>
              <a:ext uri="{FF2B5EF4-FFF2-40B4-BE49-F238E27FC236}">
                <a16:creationId xmlns:a16="http://schemas.microsoft.com/office/drawing/2014/main" id="{A23309EA-E011-EA67-CA64-2A8DF8C650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3538" y="41735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42" name="Oval 70">
            <a:extLst>
              <a:ext uri="{FF2B5EF4-FFF2-40B4-BE49-F238E27FC236}">
                <a16:creationId xmlns:a16="http://schemas.microsoft.com/office/drawing/2014/main" id="{60DF8D63-1549-992B-216F-83510F8D03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8963" y="41735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43" name="Oval 71">
            <a:extLst>
              <a:ext uri="{FF2B5EF4-FFF2-40B4-BE49-F238E27FC236}">
                <a16:creationId xmlns:a16="http://schemas.microsoft.com/office/drawing/2014/main" id="{4A6B5AB9-421C-D010-C622-F428D3D750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4388" y="41735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44" name="Oval 72">
            <a:extLst>
              <a:ext uri="{FF2B5EF4-FFF2-40B4-BE49-F238E27FC236}">
                <a16:creationId xmlns:a16="http://schemas.microsoft.com/office/drawing/2014/main" id="{1AB55DBE-C133-C19B-176E-024DD66D08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9813" y="41735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45" name="Oval 73">
            <a:extLst>
              <a:ext uri="{FF2B5EF4-FFF2-40B4-BE49-F238E27FC236}">
                <a16:creationId xmlns:a16="http://schemas.microsoft.com/office/drawing/2014/main" id="{45ED8396-1178-3DEB-0865-E0A032C6C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6825" y="41735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46" name="Oval 74">
            <a:extLst>
              <a:ext uri="{FF2B5EF4-FFF2-40B4-BE49-F238E27FC236}">
                <a16:creationId xmlns:a16="http://schemas.microsoft.com/office/drawing/2014/main" id="{48BEED55-266A-055D-4C39-3373B2516C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2250" y="41735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47" name="Oval 75">
            <a:extLst>
              <a:ext uri="{FF2B5EF4-FFF2-40B4-BE49-F238E27FC236}">
                <a16:creationId xmlns:a16="http://schemas.microsoft.com/office/drawing/2014/main" id="{E400E672-A332-C8E3-AE32-7F2B5BD5AF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7675" y="41735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48" name="Oval 76">
            <a:extLst>
              <a:ext uri="{FF2B5EF4-FFF2-40B4-BE49-F238E27FC236}">
                <a16:creationId xmlns:a16="http://schemas.microsoft.com/office/drawing/2014/main" id="{AEB91A48-90B4-0438-83EF-DCEF1B60B3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3100" y="41735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49" name="Oval 77">
            <a:extLst>
              <a:ext uri="{FF2B5EF4-FFF2-40B4-BE49-F238E27FC236}">
                <a16:creationId xmlns:a16="http://schemas.microsoft.com/office/drawing/2014/main" id="{1ADDD161-49E0-2A04-229E-D2E266D563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0113" y="41735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50" name="Oval 78">
            <a:extLst>
              <a:ext uri="{FF2B5EF4-FFF2-40B4-BE49-F238E27FC236}">
                <a16:creationId xmlns:a16="http://schemas.microsoft.com/office/drawing/2014/main" id="{1DB96F07-AFB1-142F-82EC-9602B26EC3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5538" y="41735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51" name="Rectangle 79">
            <a:extLst>
              <a:ext uri="{FF2B5EF4-FFF2-40B4-BE49-F238E27FC236}">
                <a16:creationId xmlns:a16="http://schemas.microsoft.com/office/drawing/2014/main" id="{7D242BC0-447B-FFB9-72DC-5BFFA3FA07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175" y="3419475"/>
            <a:ext cx="8048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hangingPunct="1">
              <a:lnSpc>
                <a:spcPct val="100000"/>
              </a:lnSpc>
            </a:pPr>
            <a:r>
              <a:rPr lang="en-US" altLang="en-US" sz="1000" b="1">
                <a:solidFill>
                  <a:srgbClr val="111827"/>
                </a:solidFill>
                <a:latin typeface="Aptos" panose="020B0004020202020204" pitchFamily="34" charset="0"/>
              </a:rPr>
              <a:t>Layer 2: d=2</a:t>
            </a:r>
          </a:p>
        </p:txBody>
      </p:sp>
      <p:sp>
        <p:nvSpPr>
          <p:cNvPr id="3152" name="Line 80">
            <a:extLst>
              <a:ext uri="{FF2B5EF4-FFF2-40B4-BE49-F238E27FC236}">
                <a16:creationId xmlns:a16="http://schemas.microsoft.com/office/drawing/2014/main" id="{90F8FD17-D580-3FEA-949F-2E2A761F4676}"/>
              </a:ext>
            </a:extLst>
          </p:cNvPr>
          <p:cNvSpPr>
            <a:spLocks noChangeShapeType="1"/>
          </p:cNvSpPr>
          <p:nvPr/>
        </p:nvSpPr>
        <p:spPr bwMode="auto">
          <a:xfrm>
            <a:off x="1325563" y="3521075"/>
            <a:ext cx="7451725" cy="1588"/>
          </a:xfrm>
          <a:prstGeom prst="line">
            <a:avLst/>
          </a:prstGeom>
          <a:noFill/>
          <a:ln w="25560" cap="flat">
            <a:solidFill>
              <a:srgbClr val="CBD5E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153" name="Oval 81">
            <a:extLst>
              <a:ext uri="{FF2B5EF4-FFF2-40B4-BE49-F238E27FC236}">
                <a16:creationId xmlns:a16="http://schemas.microsoft.com/office/drawing/2014/main" id="{D2F5C801-BB9F-A1EF-BA8A-4ED4F3D6E6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3813" y="34877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54" name="Oval 82">
            <a:extLst>
              <a:ext uri="{FF2B5EF4-FFF2-40B4-BE49-F238E27FC236}">
                <a16:creationId xmlns:a16="http://schemas.microsoft.com/office/drawing/2014/main" id="{CF728AC0-B63A-0BA6-9682-5B9AE577D9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9238" y="34877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55" name="Oval 83">
            <a:extLst>
              <a:ext uri="{FF2B5EF4-FFF2-40B4-BE49-F238E27FC236}">
                <a16:creationId xmlns:a16="http://schemas.microsoft.com/office/drawing/2014/main" id="{80EC4AEE-AACE-7525-F8B1-72D2E0D8A1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4663" y="34877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56" name="Oval 84">
            <a:extLst>
              <a:ext uri="{FF2B5EF4-FFF2-40B4-BE49-F238E27FC236}">
                <a16:creationId xmlns:a16="http://schemas.microsoft.com/office/drawing/2014/main" id="{35BDC20D-7E1E-2604-BE18-5852A8576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0088" y="34877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57" name="Oval 85">
            <a:extLst>
              <a:ext uri="{FF2B5EF4-FFF2-40B4-BE49-F238E27FC236}">
                <a16:creationId xmlns:a16="http://schemas.microsoft.com/office/drawing/2014/main" id="{036BD61B-2EDF-BE0A-0633-A40B6B132F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7100" y="34877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58" name="Oval 86">
            <a:extLst>
              <a:ext uri="{FF2B5EF4-FFF2-40B4-BE49-F238E27FC236}">
                <a16:creationId xmlns:a16="http://schemas.microsoft.com/office/drawing/2014/main" id="{EDEB47C1-8FE4-39AB-21C1-FBBABDD970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2525" y="34877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59" name="Oval 87">
            <a:extLst>
              <a:ext uri="{FF2B5EF4-FFF2-40B4-BE49-F238E27FC236}">
                <a16:creationId xmlns:a16="http://schemas.microsoft.com/office/drawing/2014/main" id="{85626CB8-D101-4E6E-6A9F-B08F84BCC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7950" y="34877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60" name="Oval 88">
            <a:extLst>
              <a:ext uri="{FF2B5EF4-FFF2-40B4-BE49-F238E27FC236}">
                <a16:creationId xmlns:a16="http://schemas.microsoft.com/office/drawing/2014/main" id="{2F9FB3BF-AAD0-801F-AF56-3A4736C66A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75" y="34877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61" name="Oval 89">
            <a:extLst>
              <a:ext uri="{FF2B5EF4-FFF2-40B4-BE49-F238E27FC236}">
                <a16:creationId xmlns:a16="http://schemas.microsoft.com/office/drawing/2014/main" id="{CB8A6977-B804-0DE3-E895-982667C5A7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0388" y="34877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62" name="Oval 90">
            <a:extLst>
              <a:ext uri="{FF2B5EF4-FFF2-40B4-BE49-F238E27FC236}">
                <a16:creationId xmlns:a16="http://schemas.microsoft.com/office/drawing/2014/main" id="{067BF41B-C068-B07D-19E2-1466293697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5813" y="34877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63" name="Oval 91">
            <a:extLst>
              <a:ext uri="{FF2B5EF4-FFF2-40B4-BE49-F238E27FC236}">
                <a16:creationId xmlns:a16="http://schemas.microsoft.com/office/drawing/2014/main" id="{0BF32288-04D5-884C-E745-7A682526A7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1238" y="34877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64" name="Oval 92">
            <a:extLst>
              <a:ext uri="{FF2B5EF4-FFF2-40B4-BE49-F238E27FC236}">
                <a16:creationId xmlns:a16="http://schemas.microsoft.com/office/drawing/2014/main" id="{0AE612D1-BC42-51FF-821E-78C859BAD1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6663" y="34877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65" name="Oval 93">
            <a:extLst>
              <a:ext uri="{FF2B5EF4-FFF2-40B4-BE49-F238E27FC236}">
                <a16:creationId xmlns:a16="http://schemas.microsoft.com/office/drawing/2014/main" id="{F4A15A57-5055-FC4A-D8CE-D912AAB39E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2088" y="34877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66" name="Oval 94">
            <a:extLst>
              <a:ext uri="{FF2B5EF4-FFF2-40B4-BE49-F238E27FC236}">
                <a16:creationId xmlns:a16="http://schemas.microsoft.com/office/drawing/2014/main" id="{215D7B7E-0F9D-00EB-2015-0C053E0C9C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9100" y="34877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67" name="Oval 95">
            <a:extLst>
              <a:ext uri="{FF2B5EF4-FFF2-40B4-BE49-F238E27FC236}">
                <a16:creationId xmlns:a16="http://schemas.microsoft.com/office/drawing/2014/main" id="{79377B76-CEE9-5B58-7E53-776836A4B8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4525" y="34877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68" name="Oval 96">
            <a:extLst>
              <a:ext uri="{FF2B5EF4-FFF2-40B4-BE49-F238E27FC236}">
                <a16:creationId xmlns:a16="http://schemas.microsoft.com/office/drawing/2014/main" id="{7C181827-3D14-074F-19DF-1827E8F7F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9950" y="34877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69" name="Oval 97">
            <a:extLst>
              <a:ext uri="{FF2B5EF4-FFF2-40B4-BE49-F238E27FC236}">
                <a16:creationId xmlns:a16="http://schemas.microsoft.com/office/drawing/2014/main" id="{BFB581A0-F06F-2FD2-57CE-F3BE4C0D6C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75" y="34877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70" name="Oval 98">
            <a:extLst>
              <a:ext uri="{FF2B5EF4-FFF2-40B4-BE49-F238E27FC236}">
                <a16:creationId xmlns:a16="http://schemas.microsoft.com/office/drawing/2014/main" id="{F57EF9B2-B110-402D-5BDE-6A22462117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2388" y="34877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71" name="Oval 99">
            <a:extLst>
              <a:ext uri="{FF2B5EF4-FFF2-40B4-BE49-F238E27FC236}">
                <a16:creationId xmlns:a16="http://schemas.microsoft.com/office/drawing/2014/main" id="{3EA85DBA-5BFC-1E1B-7CF9-520187D488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7813" y="34877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72" name="Oval 100">
            <a:extLst>
              <a:ext uri="{FF2B5EF4-FFF2-40B4-BE49-F238E27FC236}">
                <a16:creationId xmlns:a16="http://schemas.microsoft.com/office/drawing/2014/main" id="{C44B614D-3FBB-D547-A347-B63F6AF11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3238" y="34877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73" name="Oval 101">
            <a:extLst>
              <a:ext uri="{FF2B5EF4-FFF2-40B4-BE49-F238E27FC236}">
                <a16:creationId xmlns:a16="http://schemas.microsoft.com/office/drawing/2014/main" id="{52CB3569-97CC-8A9D-156F-82959DFC3B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0250" y="34877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74" name="Oval 102">
            <a:extLst>
              <a:ext uri="{FF2B5EF4-FFF2-40B4-BE49-F238E27FC236}">
                <a16:creationId xmlns:a16="http://schemas.microsoft.com/office/drawing/2014/main" id="{1CF00C56-6BB0-32F3-B00D-DC583ED30B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5675" y="34877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75" name="Oval 103">
            <a:extLst>
              <a:ext uri="{FF2B5EF4-FFF2-40B4-BE49-F238E27FC236}">
                <a16:creationId xmlns:a16="http://schemas.microsoft.com/office/drawing/2014/main" id="{AE89ED50-F933-9A7A-8B1B-6DCF80D0D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1100" y="34877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76" name="Oval 104">
            <a:extLst>
              <a:ext uri="{FF2B5EF4-FFF2-40B4-BE49-F238E27FC236}">
                <a16:creationId xmlns:a16="http://schemas.microsoft.com/office/drawing/2014/main" id="{6FFABD9B-8097-BB7E-4618-65ADBA0AAE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6525" y="34877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77" name="Oval 105">
            <a:extLst>
              <a:ext uri="{FF2B5EF4-FFF2-40B4-BE49-F238E27FC236}">
                <a16:creationId xmlns:a16="http://schemas.microsoft.com/office/drawing/2014/main" id="{9AB9ED65-AB48-DACE-D9AD-9750BE2B3E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3538" y="34877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78" name="Oval 106">
            <a:extLst>
              <a:ext uri="{FF2B5EF4-FFF2-40B4-BE49-F238E27FC236}">
                <a16:creationId xmlns:a16="http://schemas.microsoft.com/office/drawing/2014/main" id="{449F6CDD-AD93-4739-B8A8-EED59077A3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8963" y="34877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79" name="Oval 107">
            <a:extLst>
              <a:ext uri="{FF2B5EF4-FFF2-40B4-BE49-F238E27FC236}">
                <a16:creationId xmlns:a16="http://schemas.microsoft.com/office/drawing/2014/main" id="{28556CEC-3776-44BF-7FE6-58BE9EA867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4388" y="34877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80" name="Oval 108">
            <a:extLst>
              <a:ext uri="{FF2B5EF4-FFF2-40B4-BE49-F238E27FC236}">
                <a16:creationId xmlns:a16="http://schemas.microsoft.com/office/drawing/2014/main" id="{7B0910B2-B3ED-0111-B93B-1E1E87BE79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9813" y="34877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81" name="Oval 109">
            <a:extLst>
              <a:ext uri="{FF2B5EF4-FFF2-40B4-BE49-F238E27FC236}">
                <a16:creationId xmlns:a16="http://schemas.microsoft.com/office/drawing/2014/main" id="{0F734B8D-F85E-8C4C-0EFE-696135C561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6825" y="34877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82" name="Oval 110">
            <a:extLst>
              <a:ext uri="{FF2B5EF4-FFF2-40B4-BE49-F238E27FC236}">
                <a16:creationId xmlns:a16="http://schemas.microsoft.com/office/drawing/2014/main" id="{1A9D2BB9-48F6-6EED-72FD-33EE058002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2250" y="34877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83" name="Oval 111">
            <a:extLst>
              <a:ext uri="{FF2B5EF4-FFF2-40B4-BE49-F238E27FC236}">
                <a16:creationId xmlns:a16="http://schemas.microsoft.com/office/drawing/2014/main" id="{433323BA-D7E2-B45C-CF67-A799E871C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7675" y="34877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84" name="Oval 112">
            <a:extLst>
              <a:ext uri="{FF2B5EF4-FFF2-40B4-BE49-F238E27FC236}">
                <a16:creationId xmlns:a16="http://schemas.microsoft.com/office/drawing/2014/main" id="{2E570B9B-0881-6DB3-0E68-EC960C06B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3100" y="34877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85" name="Oval 113">
            <a:extLst>
              <a:ext uri="{FF2B5EF4-FFF2-40B4-BE49-F238E27FC236}">
                <a16:creationId xmlns:a16="http://schemas.microsoft.com/office/drawing/2014/main" id="{6AC6C984-B15E-C02D-6AED-EE3515B978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0113" y="34877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86" name="Oval 114">
            <a:extLst>
              <a:ext uri="{FF2B5EF4-FFF2-40B4-BE49-F238E27FC236}">
                <a16:creationId xmlns:a16="http://schemas.microsoft.com/office/drawing/2014/main" id="{6B691A14-E0E1-DC4A-6A57-FD1DB230CE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5538" y="34877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87" name="Rectangle 115">
            <a:extLst>
              <a:ext uri="{FF2B5EF4-FFF2-40B4-BE49-F238E27FC236}">
                <a16:creationId xmlns:a16="http://schemas.microsoft.com/office/drawing/2014/main" id="{BA33FC6E-7747-DC02-2AF5-199D960FAE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175" y="2733675"/>
            <a:ext cx="8048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hangingPunct="1">
              <a:lnSpc>
                <a:spcPct val="100000"/>
              </a:lnSpc>
            </a:pPr>
            <a:r>
              <a:rPr lang="en-US" altLang="en-US" sz="1000" b="1">
                <a:solidFill>
                  <a:srgbClr val="111827"/>
                </a:solidFill>
                <a:latin typeface="Aptos" panose="020B0004020202020204" pitchFamily="34" charset="0"/>
              </a:rPr>
              <a:t>Layer 3: d=4</a:t>
            </a:r>
          </a:p>
        </p:txBody>
      </p:sp>
      <p:sp>
        <p:nvSpPr>
          <p:cNvPr id="3188" name="Line 116">
            <a:extLst>
              <a:ext uri="{FF2B5EF4-FFF2-40B4-BE49-F238E27FC236}">
                <a16:creationId xmlns:a16="http://schemas.microsoft.com/office/drawing/2014/main" id="{1BF64403-853B-3002-8364-B5A8A2DF51DF}"/>
              </a:ext>
            </a:extLst>
          </p:cNvPr>
          <p:cNvSpPr>
            <a:spLocks noChangeShapeType="1"/>
          </p:cNvSpPr>
          <p:nvPr/>
        </p:nvSpPr>
        <p:spPr bwMode="auto">
          <a:xfrm>
            <a:off x="1325563" y="2835275"/>
            <a:ext cx="7451725" cy="1588"/>
          </a:xfrm>
          <a:prstGeom prst="line">
            <a:avLst/>
          </a:prstGeom>
          <a:noFill/>
          <a:ln w="25560" cap="flat">
            <a:solidFill>
              <a:srgbClr val="CBD5E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189" name="Oval 117">
            <a:extLst>
              <a:ext uri="{FF2B5EF4-FFF2-40B4-BE49-F238E27FC236}">
                <a16:creationId xmlns:a16="http://schemas.microsoft.com/office/drawing/2014/main" id="{BAB796C0-1964-37FA-2061-A4809415E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3813" y="28019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90" name="Oval 118">
            <a:extLst>
              <a:ext uri="{FF2B5EF4-FFF2-40B4-BE49-F238E27FC236}">
                <a16:creationId xmlns:a16="http://schemas.microsoft.com/office/drawing/2014/main" id="{05C9CDB6-F2EE-3D1D-9B45-DB1DB0E982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9238" y="28019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91" name="Oval 119">
            <a:extLst>
              <a:ext uri="{FF2B5EF4-FFF2-40B4-BE49-F238E27FC236}">
                <a16:creationId xmlns:a16="http://schemas.microsoft.com/office/drawing/2014/main" id="{F936D74C-45B0-7D75-D868-082EF5F01F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4663" y="28019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92" name="Oval 120">
            <a:extLst>
              <a:ext uri="{FF2B5EF4-FFF2-40B4-BE49-F238E27FC236}">
                <a16:creationId xmlns:a16="http://schemas.microsoft.com/office/drawing/2014/main" id="{25EF5FDE-8255-1595-7F80-753716DACD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0088" y="28019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93" name="Oval 121">
            <a:extLst>
              <a:ext uri="{FF2B5EF4-FFF2-40B4-BE49-F238E27FC236}">
                <a16:creationId xmlns:a16="http://schemas.microsoft.com/office/drawing/2014/main" id="{9D59F824-0F74-A9CC-9787-E018BA3E5C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7100" y="28019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94" name="Oval 122">
            <a:extLst>
              <a:ext uri="{FF2B5EF4-FFF2-40B4-BE49-F238E27FC236}">
                <a16:creationId xmlns:a16="http://schemas.microsoft.com/office/drawing/2014/main" id="{CDD8E12C-171E-7A2F-6731-D7E9910C9C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2525" y="28019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95" name="Oval 123">
            <a:extLst>
              <a:ext uri="{FF2B5EF4-FFF2-40B4-BE49-F238E27FC236}">
                <a16:creationId xmlns:a16="http://schemas.microsoft.com/office/drawing/2014/main" id="{EDD430D1-96FA-21CF-5F3B-66A4B15C67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7950" y="28019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96" name="Oval 124">
            <a:extLst>
              <a:ext uri="{FF2B5EF4-FFF2-40B4-BE49-F238E27FC236}">
                <a16:creationId xmlns:a16="http://schemas.microsoft.com/office/drawing/2014/main" id="{D5C2320A-C1D3-29A7-27F5-4BEE8C62DC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75" y="28019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97" name="Oval 125">
            <a:extLst>
              <a:ext uri="{FF2B5EF4-FFF2-40B4-BE49-F238E27FC236}">
                <a16:creationId xmlns:a16="http://schemas.microsoft.com/office/drawing/2014/main" id="{C54741F4-8762-5F50-ABC4-AF2C0C1BFC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0388" y="28019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98" name="Oval 126">
            <a:extLst>
              <a:ext uri="{FF2B5EF4-FFF2-40B4-BE49-F238E27FC236}">
                <a16:creationId xmlns:a16="http://schemas.microsoft.com/office/drawing/2014/main" id="{CCB99D53-F317-14ED-B40B-6EF1F72EB2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5813" y="28019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99" name="Oval 127">
            <a:extLst>
              <a:ext uri="{FF2B5EF4-FFF2-40B4-BE49-F238E27FC236}">
                <a16:creationId xmlns:a16="http://schemas.microsoft.com/office/drawing/2014/main" id="{33EEA4D7-A684-320A-8881-ED1F524807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1238" y="28019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00" name="Oval 128">
            <a:extLst>
              <a:ext uri="{FF2B5EF4-FFF2-40B4-BE49-F238E27FC236}">
                <a16:creationId xmlns:a16="http://schemas.microsoft.com/office/drawing/2014/main" id="{A8AA7E9F-B3DB-4212-3FB9-178B851907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6663" y="28019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01" name="Oval 129">
            <a:extLst>
              <a:ext uri="{FF2B5EF4-FFF2-40B4-BE49-F238E27FC236}">
                <a16:creationId xmlns:a16="http://schemas.microsoft.com/office/drawing/2014/main" id="{78F43EC5-D885-1C0D-84FC-5CF74C3EAA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2088" y="28019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02" name="Oval 130">
            <a:extLst>
              <a:ext uri="{FF2B5EF4-FFF2-40B4-BE49-F238E27FC236}">
                <a16:creationId xmlns:a16="http://schemas.microsoft.com/office/drawing/2014/main" id="{22962B5E-F3EF-C1A6-C2DA-BB28BA6220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9100" y="28019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03" name="Oval 131">
            <a:extLst>
              <a:ext uri="{FF2B5EF4-FFF2-40B4-BE49-F238E27FC236}">
                <a16:creationId xmlns:a16="http://schemas.microsoft.com/office/drawing/2014/main" id="{BBB78279-7EBE-3A6C-CBFA-693EE04E85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4525" y="28019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04" name="Oval 132">
            <a:extLst>
              <a:ext uri="{FF2B5EF4-FFF2-40B4-BE49-F238E27FC236}">
                <a16:creationId xmlns:a16="http://schemas.microsoft.com/office/drawing/2014/main" id="{5979BF3A-DDA4-62BD-3155-189B9A1160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9950" y="28019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05" name="Oval 133">
            <a:extLst>
              <a:ext uri="{FF2B5EF4-FFF2-40B4-BE49-F238E27FC236}">
                <a16:creationId xmlns:a16="http://schemas.microsoft.com/office/drawing/2014/main" id="{942CA388-900D-CE0C-63D8-983A9E0F8D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75" y="28019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06" name="Oval 134">
            <a:extLst>
              <a:ext uri="{FF2B5EF4-FFF2-40B4-BE49-F238E27FC236}">
                <a16:creationId xmlns:a16="http://schemas.microsoft.com/office/drawing/2014/main" id="{3FD6AE97-64ED-11EE-5101-556E245B11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2388" y="28019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07" name="Oval 135">
            <a:extLst>
              <a:ext uri="{FF2B5EF4-FFF2-40B4-BE49-F238E27FC236}">
                <a16:creationId xmlns:a16="http://schemas.microsoft.com/office/drawing/2014/main" id="{0D401802-7656-6C7D-DFAB-6636ECEC6A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7813" y="28019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08" name="Oval 136">
            <a:extLst>
              <a:ext uri="{FF2B5EF4-FFF2-40B4-BE49-F238E27FC236}">
                <a16:creationId xmlns:a16="http://schemas.microsoft.com/office/drawing/2014/main" id="{9C647DA2-FC39-8C01-24FA-326994B0FD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3238" y="28019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09" name="Oval 137">
            <a:extLst>
              <a:ext uri="{FF2B5EF4-FFF2-40B4-BE49-F238E27FC236}">
                <a16:creationId xmlns:a16="http://schemas.microsoft.com/office/drawing/2014/main" id="{28C7FD8E-8289-A821-8F08-24162A4B43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0250" y="28019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10" name="Oval 138">
            <a:extLst>
              <a:ext uri="{FF2B5EF4-FFF2-40B4-BE49-F238E27FC236}">
                <a16:creationId xmlns:a16="http://schemas.microsoft.com/office/drawing/2014/main" id="{DA8726DA-5286-D086-C009-73A87F75EC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5675" y="28019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11" name="Oval 139">
            <a:extLst>
              <a:ext uri="{FF2B5EF4-FFF2-40B4-BE49-F238E27FC236}">
                <a16:creationId xmlns:a16="http://schemas.microsoft.com/office/drawing/2014/main" id="{60A535FF-C909-33A9-68BF-F8FFDAF1D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1100" y="28019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12" name="Oval 140">
            <a:extLst>
              <a:ext uri="{FF2B5EF4-FFF2-40B4-BE49-F238E27FC236}">
                <a16:creationId xmlns:a16="http://schemas.microsoft.com/office/drawing/2014/main" id="{B33AC99F-50EA-1196-61B3-E9F3FA6235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6525" y="28019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13" name="Oval 141">
            <a:extLst>
              <a:ext uri="{FF2B5EF4-FFF2-40B4-BE49-F238E27FC236}">
                <a16:creationId xmlns:a16="http://schemas.microsoft.com/office/drawing/2014/main" id="{3552B1DF-9A6A-0B7C-BF43-09BEA09B9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3538" y="28019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14" name="Oval 142">
            <a:extLst>
              <a:ext uri="{FF2B5EF4-FFF2-40B4-BE49-F238E27FC236}">
                <a16:creationId xmlns:a16="http://schemas.microsoft.com/office/drawing/2014/main" id="{12B7A415-84B5-AA9A-6C9B-A9A91AC599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8963" y="28019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15" name="Oval 143">
            <a:extLst>
              <a:ext uri="{FF2B5EF4-FFF2-40B4-BE49-F238E27FC236}">
                <a16:creationId xmlns:a16="http://schemas.microsoft.com/office/drawing/2014/main" id="{9A7D9121-E939-1523-306C-E282F1F888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4388" y="28019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16" name="Oval 144">
            <a:extLst>
              <a:ext uri="{FF2B5EF4-FFF2-40B4-BE49-F238E27FC236}">
                <a16:creationId xmlns:a16="http://schemas.microsoft.com/office/drawing/2014/main" id="{DB97B0EB-2AF7-8EB5-83C7-F6FF89308F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9813" y="28019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17" name="Oval 145">
            <a:extLst>
              <a:ext uri="{FF2B5EF4-FFF2-40B4-BE49-F238E27FC236}">
                <a16:creationId xmlns:a16="http://schemas.microsoft.com/office/drawing/2014/main" id="{A21B10AF-053F-899D-E753-D1B544FCCF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6825" y="28019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18" name="Oval 146">
            <a:extLst>
              <a:ext uri="{FF2B5EF4-FFF2-40B4-BE49-F238E27FC236}">
                <a16:creationId xmlns:a16="http://schemas.microsoft.com/office/drawing/2014/main" id="{0F20B64B-AE4A-9979-05C4-D415921AD6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2250" y="28019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19" name="Oval 147">
            <a:extLst>
              <a:ext uri="{FF2B5EF4-FFF2-40B4-BE49-F238E27FC236}">
                <a16:creationId xmlns:a16="http://schemas.microsoft.com/office/drawing/2014/main" id="{D4CE3C3B-FA37-4509-DC6C-A6F364DE7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7675" y="28019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20" name="Oval 148">
            <a:extLst>
              <a:ext uri="{FF2B5EF4-FFF2-40B4-BE49-F238E27FC236}">
                <a16:creationId xmlns:a16="http://schemas.microsoft.com/office/drawing/2014/main" id="{3A71C660-7FE6-93F2-B6C8-BDF192471B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3100" y="28019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21" name="Oval 149">
            <a:extLst>
              <a:ext uri="{FF2B5EF4-FFF2-40B4-BE49-F238E27FC236}">
                <a16:creationId xmlns:a16="http://schemas.microsoft.com/office/drawing/2014/main" id="{F166EC5E-5427-C1F1-B839-F815E8C4FA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0113" y="28019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22" name="Oval 150">
            <a:extLst>
              <a:ext uri="{FF2B5EF4-FFF2-40B4-BE49-F238E27FC236}">
                <a16:creationId xmlns:a16="http://schemas.microsoft.com/office/drawing/2014/main" id="{038381C5-A757-8ADF-41D0-1E8E3ADCB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5538" y="28019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23" name="Rectangle 151">
            <a:extLst>
              <a:ext uri="{FF2B5EF4-FFF2-40B4-BE49-F238E27FC236}">
                <a16:creationId xmlns:a16="http://schemas.microsoft.com/office/drawing/2014/main" id="{C9B3BD52-7207-6258-84C1-E420FCD1EA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175" y="2047875"/>
            <a:ext cx="8048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hangingPunct="1">
              <a:lnSpc>
                <a:spcPct val="100000"/>
              </a:lnSpc>
            </a:pPr>
            <a:r>
              <a:rPr lang="en-US" altLang="en-US" sz="1000" b="1">
                <a:solidFill>
                  <a:srgbClr val="111827"/>
                </a:solidFill>
                <a:latin typeface="Aptos" panose="020B0004020202020204" pitchFamily="34" charset="0"/>
              </a:rPr>
              <a:t>Layer 4: d=8</a:t>
            </a:r>
          </a:p>
        </p:txBody>
      </p:sp>
      <p:sp>
        <p:nvSpPr>
          <p:cNvPr id="3224" name="Line 152">
            <a:extLst>
              <a:ext uri="{FF2B5EF4-FFF2-40B4-BE49-F238E27FC236}">
                <a16:creationId xmlns:a16="http://schemas.microsoft.com/office/drawing/2014/main" id="{09190A9A-0D31-D3E6-1076-BDFED4971BAE}"/>
              </a:ext>
            </a:extLst>
          </p:cNvPr>
          <p:cNvSpPr>
            <a:spLocks noChangeShapeType="1"/>
          </p:cNvSpPr>
          <p:nvPr/>
        </p:nvSpPr>
        <p:spPr bwMode="auto">
          <a:xfrm>
            <a:off x="1325563" y="2149475"/>
            <a:ext cx="7451725" cy="1588"/>
          </a:xfrm>
          <a:prstGeom prst="line">
            <a:avLst/>
          </a:prstGeom>
          <a:noFill/>
          <a:ln w="25560" cap="flat">
            <a:solidFill>
              <a:srgbClr val="CBD5E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225" name="Oval 153">
            <a:extLst>
              <a:ext uri="{FF2B5EF4-FFF2-40B4-BE49-F238E27FC236}">
                <a16:creationId xmlns:a16="http://schemas.microsoft.com/office/drawing/2014/main" id="{180593C9-74C2-AFD8-7854-8B1299006A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3813" y="21161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26" name="Oval 154">
            <a:extLst>
              <a:ext uri="{FF2B5EF4-FFF2-40B4-BE49-F238E27FC236}">
                <a16:creationId xmlns:a16="http://schemas.microsoft.com/office/drawing/2014/main" id="{B5632563-1203-94F5-7EFC-C920D2BCE9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9238" y="21161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27" name="Oval 155">
            <a:extLst>
              <a:ext uri="{FF2B5EF4-FFF2-40B4-BE49-F238E27FC236}">
                <a16:creationId xmlns:a16="http://schemas.microsoft.com/office/drawing/2014/main" id="{B0DF690D-7A24-ADC9-B3C5-D1A47D9096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4663" y="21161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28" name="Oval 156">
            <a:extLst>
              <a:ext uri="{FF2B5EF4-FFF2-40B4-BE49-F238E27FC236}">
                <a16:creationId xmlns:a16="http://schemas.microsoft.com/office/drawing/2014/main" id="{1ABB00EA-52B4-4CB3-1509-0F07A368EB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0088" y="21161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29" name="Oval 157">
            <a:extLst>
              <a:ext uri="{FF2B5EF4-FFF2-40B4-BE49-F238E27FC236}">
                <a16:creationId xmlns:a16="http://schemas.microsoft.com/office/drawing/2014/main" id="{232E28D8-F076-9484-6456-19D1840C3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7100" y="21161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30" name="Oval 158">
            <a:extLst>
              <a:ext uri="{FF2B5EF4-FFF2-40B4-BE49-F238E27FC236}">
                <a16:creationId xmlns:a16="http://schemas.microsoft.com/office/drawing/2014/main" id="{2615AE89-B41A-7870-B104-B9D8E71D47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2525" y="21161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31" name="Oval 159">
            <a:extLst>
              <a:ext uri="{FF2B5EF4-FFF2-40B4-BE49-F238E27FC236}">
                <a16:creationId xmlns:a16="http://schemas.microsoft.com/office/drawing/2014/main" id="{9A36030D-F245-C14C-A0B8-FB30A0335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7950" y="21161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32" name="Oval 160">
            <a:extLst>
              <a:ext uri="{FF2B5EF4-FFF2-40B4-BE49-F238E27FC236}">
                <a16:creationId xmlns:a16="http://schemas.microsoft.com/office/drawing/2014/main" id="{333C6782-5A7A-6AB2-AFF8-93600D6E54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75" y="21161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33" name="Oval 161">
            <a:extLst>
              <a:ext uri="{FF2B5EF4-FFF2-40B4-BE49-F238E27FC236}">
                <a16:creationId xmlns:a16="http://schemas.microsoft.com/office/drawing/2014/main" id="{E451BD7C-E897-8CD4-880E-EC959D67DD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0388" y="21161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34" name="Oval 162">
            <a:extLst>
              <a:ext uri="{FF2B5EF4-FFF2-40B4-BE49-F238E27FC236}">
                <a16:creationId xmlns:a16="http://schemas.microsoft.com/office/drawing/2014/main" id="{173A4976-4CF2-7554-1ECF-6F2A6EE8B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5813" y="21161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35" name="Oval 163">
            <a:extLst>
              <a:ext uri="{FF2B5EF4-FFF2-40B4-BE49-F238E27FC236}">
                <a16:creationId xmlns:a16="http://schemas.microsoft.com/office/drawing/2014/main" id="{2613668C-6775-7F1C-6B5C-316A435B3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1238" y="21161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36" name="Oval 164">
            <a:extLst>
              <a:ext uri="{FF2B5EF4-FFF2-40B4-BE49-F238E27FC236}">
                <a16:creationId xmlns:a16="http://schemas.microsoft.com/office/drawing/2014/main" id="{DFEA2831-C53A-656B-EE78-326BFD897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6663" y="21161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37" name="Oval 165">
            <a:extLst>
              <a:ext uri="{FF2B5EF4-FFF2-40B4-BE49-F238E27FC236}">
                <a16:creationId xmlns:a16="http://schemas.microsoft.com/office/drawing/2014/main" id="{3BF64C8A-6E13-B5E1-E95D-00AC9FFF9A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2088" y="21161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38" name="Oval 166">
            <a:extLst>
              <a:ext uri="{FF2B5EF4-FFF2-40B4-BE49-F238E27FC236}">
                <a16:creationId xmlns:a16="http://schemas.microsoft.com/office/drawing/2014/main" id="{88F5D3AA-AE22-FD4B-A6F7-FCA931AA19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9100" y="21161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39" name="Oval 167">
            <a:extLst>
              <a:ext uri="{FF2B5EF4-FFF2-40B4-BE49-F238E27FC236}">
                <a16:creationId xmlns:a16="http://schemas.microsoft.com/office/drawing/2014/main" id="{0A377B3E-E899-F161-E37C-39D604766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4525" y="21161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40" name="Oval 168">
            <a:extLst>
              <a:ext uri="{FF2B5EF4-FFF2-40B4-BE49-F238E27FC236}">
                <a16:creationId xmlns:a16="http://schemas.microsoft.com/office/drawing/2014/main" id="{DD79DEBD-700A-C1A5-4F04-4CC75CF6D9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9950" y="21161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41" name="Oval 169">
            <a:extLst>
              <a:ext uri="{FF2B5EF4-FFF2-40B4-BE49-F238E27FC236}">
                <a16:creationId xmlns:a16="http://schemas.microsoft.com/office/drawing/2014/main" id="{8BE6B4DA-C9F8-B725-53AE-13D4809397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75" y="21161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42" name="Oval 170">
            <a:extLst>
              <a:ext uri="{FF2B5EF4-FFF2-40B4-BE49-F238E27FC236}">
                <a16:creationId xmlns:a16="http://schemas.microsoft.com/office/drawing/2014/main" id="{51CFA1CE-B96B-0457-024D-A2F9CB5734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2388" y="21161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43" name="Oval 171">
            <a:extLst>
              <a:ext uri="{FF2B5EF4-FFF2-40B4-BE49-F238E27FC236}">
                <a16:creationId xmlns:a16="http://schemas.microsoft.com/office/drawing/2014/main" id="{07A1DE9F-43A3-0EE6-1421-16B53EDE4C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7813" y="21161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44" name="Oval 172">
            <a:extLst>
              <a:ext uri="{FF2B5EF4-FFF2-40B4-BE49-F238E27FC236}">
                <a16:creationId xmlns:a16="http://schemas.microsoft.com/office/drawing/2014/main" id="{20E04012-F9D0-D3F9-C530-0549E71EFA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3238" y="21161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45" name="Oval 173">
            <a:extLst>
              <a:ext uri="{FF2B5EF4-FFF2-40B4-BE49-F238E27FC236}">
                <a16:creationId xmlns:a16="http://schemas.microsoft.com/office/drawing/2014/main" id="{4281CFD9-BE86-0355-944E-7A0E036CF5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0250" y="21161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46" name="Oval 174">
            <a:extLst>
              <a:ext uri="{FF2B5EF4-FFF2-40B4-BE49-F238E27FC236}">
                <a16:creationId xmlns:a16="http://schemas.microsoft.com/office/drawing/2014/main" id="{8424DAD1-4ED7-3349-FAA5-26FB214A4C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5675" y="21161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47" name="Oval 175">
            <a:extLst>
              <a:ext uri="{FF2B5EF4-FFF2-40B4-BE49-F238E27FC236}">
                <a16:creationId xmlns:a16="http://schemas.microsoft.com/office/drawing/2014/main" id="{DAE2A0EB-4A5E-ED59-6E2E-146257870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1100" y="21161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48" name="Oval 176">
            <a:extLst>
              <a:ext uri="{FF2B5EF4-FFF2-40B4-BE49-F238E27FC236}">
                <a16:creationId xmlns:a16="http://schemas.microsoft.com/office/drawing/2014/main" id="{6076016D-FFF6-0C73-C914-5D4CE3370E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6525" y="21161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49" name="Oval 177">
            <a:extLst>
              <a:ext uri="{FF2B5EF4-FFF2-40B4-BE49-F238E27FC236}">
                <a16:creationId xmlns:a16="http://schemas.microsoft.com/office/drawing/2014/main" id="{798D4B1E-DB10-4343-518B-C3DF5B1659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3538" y="21161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50" name="Oval 178">
            <a:extLst>
              <a:ext uri="{FF2B5EF4-FFF2-40B4-BE49-F238E27FC236}">
                <a16:creationId xmlns:a16="http://schemas.microsoft.com/office/drawing/2014/main" id="{2E3FA76E-37BB-30EB-899C-4135604919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8963" y="21161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51" name="Oval 179">
            <a:extLst>
              <a:ext uri="{FF2B5EF4-FFF2-40B4-BE49-F238E27FC236}">
                <a16:creationId xmlns:a16="http://schemas.microsoft.com/office/drawing/2014/main" id="{4835CE60-DD00-1FDA-A3D8-A4986F06EF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4388" y="21161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52" name="Oval 180">
            <a:extLst>
              <a:ext uri="{FF2B5EF4-FFF2-40B4-BE49-F238E27FC236}">
                <a16:creationId xmlns:a16="http://schemas.microsoft.com/office/drawing/2014/main" id="{C3D23167-0C6F-B223-07C9-2D93E4B005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9813" y="21161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53" name="Oval 181">
            <a:extLst>
              <a:ext uri="{FF2B5EF4-FFF2-40B4-BE49-F238E27FC236}">
                <a16:creationId xmlns:a16="http://schemas.microsoft.com/office/drawing/2014/main" id="{5FF9C6A5-82DD-9BE2-FD49-EB32B9A8CC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6825" y="21161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54" name="Oval 182">
            <a:extLst>
              <a:ext uri="{FF2B5EF4-FFF2-40B4-BE49-F238E27FC236}">
                <a16:creationId xmlns:a16="http://schemas.microsoft.com/office/drawing/2014/main" id="{42D8D68C-E134-1878-4EC0-6218393656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2250" y="21161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55" name="Oval 183">
            <a:extLst>
              <a:ext uri="{FF2B5EF4-FFF2-40B4-BE49-F238E27FC236}">
                <a16:creationId xmlns:a16="http://schemas.microsoft.com/office/drawing/2014/main" id="{D6E6E299-3718-E180-0867-78D7EA3C8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7675" y="21161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56" name="Oval 184">
            <a:extLst>
              <a:ext uri="{FF2B5EF4-FFF2-40B4-BE49-F238E27FC236}">
                <a16:creationId xmlns:a16="http://schemas.microsoft.com/office/drawing/2014/main" id="{C1EBE07B-6B9F-F4DA-A7A3-06424246DE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3100" y="21161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57" name="Oval 185">
            <a:extLst>
              <a:ext uri="{FF2B5EF4-FFF2-40B4-BE49-F238E27FC236}">
                <a16:creationId xmlns:a16="http://schemas.microsoft.com/office/drawing/2014/main" id="{2042DE81-7A47-E02F-FEF3-8B6D512093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0113" y="21161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58" name="Oval 186">
            <a:extLst>
              <a:ext uri="{FF2B5EF4-FFF2-40B4-BE49-F238E27FC236}">
                <a16:creationId xmlns:a16="http://schemas.microsoft.com/office/drawing/2014/main" id="{D6296DC2-1EA6-6F9E-8CEE-F147ADC3D1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5538" y="21161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59" name="Rectangle 187">
            <a:extLst>
              <a:ext uri="{FF2B5EF4-FFF2-40B4-BE49-F238E27FC236}">
                <a16:creationId xmlns:a16="http://schemas.microsoft.com/office/drawing/2014/main" id="{15E587FB-372C-6E85-5540-2AC8543B9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175" y="1362075"/>
            <a:ext cx="8048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hangingPunct="1">
              <a:lnSpc>
                <a:spcPct val="100000"/>
              </a:lnSpc>
            </a:pPr>
            <a:r>
              <a:rPr lang="en-US" altLang="en-US" sz="1000" b="1">
                <a:solidFill>
                  <a:srgbClr val="111827"/>
                </a:solidFill>
                <a:latin typeface="Aptos" panose="020B0004020202020204" pitchFamily="34" charset="0"/>
              </a:rPr>
              <a:t>Layer 5: d=16</a:t>
            </a:r>
          </a:p>
        </p:txBody>
      </p:sp>
      <p:sp>
        <p:nvSpPr>
          <p:cNvPr id="3260" name="Line 188">
            <a:extLst>
              <a:ext uri="{FF2B5EF4-FFF2-40B4-BE49-F238E27FC236}">
                <a16:creationId xmlns:a16="http://schemas.microsoft.com/office/drawing/2014/main" id="{3EB38576-3F0C-1835-358F-3F030475096E}"/>
              </a:ext>
            </a:extLst>
          </p:cNvPr>
          <p:cNvSpPr>
            <a:spLocks noChangeShapeType="1"/>
          </p:cNvSpPr>
          <p:nvPr/>
        </p:nvSpPr>
        <p:spPr bwMode="auto">
          <a:xfrm>
            <a:off x="1325563" y="1463675"/>
            <a:ext cx="7451725" cy="1588"/>
          </a:xfrm>
          <a:prstGeom prst="line">
            <a:avLst/>
          </a:prstGeom>
          <a:noFill/>
          <a:ln w="25560" cap="flat">
            <a:solidFill>
              <a:srgbClr val="CBD5E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261" name="Oval 189">
            <a:extLst>
              <a:ext uri="{FF2B5EF4-FFF2-40B4-BE49-F238E27FC236}">
                <a16:creationId xmlns:a16="http://schemas.microsoft.com/office/drawing/2014/main" id="{BA69AD84-2E6A-FC31-FA2B-768F42D2D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3813" y="14303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62" name="Oval 190">
            <a:extLst>
              <a:ext uri="{FF2B5EF4-FFF2-40B4-BE49-F238E27FC236}">
                <a16:creationId xmlns:a16="http://schemas.microsoft.com/office/drawing/2014/main" id="{304F0EC7-C40B-294C-D26D-4DD1667368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9238" y="14303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63" name="Oval 191">
            <a:extLst>
              <a:ext uri="{FF2B5EF4-FFF2-40B4-BE49-F238E27FC236}">
                <a16:creationId xmlns:a16="http://schemas.microsoft.com/office/drawing/2014/main" id="{1ACDA00C-B779-531D-F6DB-CBBBB992E2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4663" y="14303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64" name="Oval 192">
            <a:extLst>
              <a:ext uri="{FF2B5EF4-FFF2-40B4-BE49-F238E27FC236}">
                <a16:creationId xmlns:a16="http://schemas.microsoft.com/office/drawing/2014/main" id="{1194A52F-0C32-2656-51AD-749246AEE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0088" y="14303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65" name="Oval 193">
            <a:extLst>
              <a:ext uri="{FF2B5EF4-FFF2-40B4-BE49-F238E27FC236}">
                <a16:creationId xmlns:a16="http://schemas.microsoft.com/office/drawing/2014/main" id="{3E3E9128-07C8-8DF5-5EA2-F419FF9D1B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7100" y="14303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66" name="Oval 194">
            <a:extLst>
              <a:ext uri="{FF2B5EF4-FFF2-40B4-BE49-F238E27FC236}">
                <a16:creationId xmlns:a16="http://schemas.microsoft.com/office/drawing/2014/main" id="{B98BA243-8E68-F22B-A17A-CE199BAC09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2525" y="14303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67" name="Oval 195">
            <a:extLst>
              <a:ext uri="{FF2B5EF4-FFF2-40B4-BE49-F238E27FC236}">
                <a16:creationId xmlns:a16="http://schemas.microsoft.com/office/drawing/2014/main" id="{C985F908-2BA8-DE63-F774-167038CBF5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7950" y="14303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68" name="Oval 196">
            <a:extLst>
              <a:ext uri="{FF2B5EF4-FFF2-40B4-BE49-F238E27FC236}">
                <a16:creationId xmlns:a16="http://schemas.microsoft.com/office/drawing/2014/main" id="{BD42AE53-62AE-B512-D526-F9872B0CA9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75" y="14303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69" name="Oval 197">
            <a:extLst>
              <a:ext uri="{FF2B5EF4-FFF2-40B4-BE49-F238E27FC236}">
                <a16:creationId xmlns:a16="http://schemas.microsoft.com/office/drawing/2014/main" id="{FA9AF337-AC2A-9E24-C15C-4AE2897FF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0388" y="14303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70" name="Oval 198">
            <a:extLst>
              <a:ext uri="{FF2B5EF4-FFF2-40B4-BE49-F238E27FC236}">
                <a16:creationId xmlns:a16="http://schemas.microsoft.com/office/drawing/2014/main" id="{E3AE1136-B2E1-2F74-AB49-2748C47A5D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5813" y="14303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71" name="Oval 199">
            <a:extLst>
              <a:ext uri="{FF2B5EF4-FFF2-40B4-BE49-F238E27FC236}">
                <a16:creationId xmlns:a16="http://schemas.microsoft.com/office/drawing/2014/main" id="{846E1461-DAD6-49CC-48A6-ECA465DD18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1238" y="14303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72" name="Oval 200">
            <a:extLst>
              <a:ext uri="{FF2B5EF4-FFF2-40B4-BE49-F238E27FC236}">
                <a16:creationId xmlns:a16="http://schemas.microsoft.com/office/drawing/2014/main" id="{D7583D67-6917-CF87-D06D-061C6259D8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6663" y="14303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73" name="Oval 201">
            <a:extLst>
              <a:ext uri="{FF2B5EF4-FFF2-40B4-BE49-F238E27FC236}">
                <a16:creationId xmlns:a16="http://schemas.microsoft.com/office/drawing/2014/main" id="{CE50F7EA-DB24-E9A9-A23E-479AE5F3AC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2088" y="14303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74" name="Oval 202">
            <a:extLst>
              <a:ext uri="{FF2B5EF4-FFF2-40B4-BE49-F238E27FC236}">
                <a16:creationId xmlns:a16="http://schemas.microsoft.com/office/drawing/2014/main" id="{ACB10270-8578-1037-4897-782E63285F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9100" y="14303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75" name="Oval 203">
            <a:extLst>
              <a:ext uri="{FF2B5EF4-FFF2-40B4-BE49-F238E27FC236}">
                <a16:creationId xmlns:a16="http://schemas.microsoft.com/office/drawing/2014/main" id="{0A5F081A-DB56-065D-2359-F561AA1F9F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4525" y="14303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76" name="Oval 204">
            <a:extLst>
              <a:ext uri="{FF2B5EF4-FFF2-40B4-BE49-F238E27FC236}">
                <a16:creationId xmlns:a16="http://schemas.microsoft.com/office/drawing/2014/main" id="{969465F5-81AD-9C76-CEF8-A7E5C8D8ED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9950" y="14303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77" name="Oval 205">
            <a:extLst>
              <a:ext uri="{FF2B5EF4-FFF2-40B4-BE49-F238E27FC236}">
                <a16:creationId xmlns:a16="http://schemas.microsoft.com/office/drawing/2014/main" id="{C210F4E3-8BD0-44A9-2C1F-F8BF1BEEAB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75" y="14303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78" name="Oval 206">
            <a:extLst>
              <a:ext uri="{FF2B5EF4-FFF2-40B4-BE49-F238E27FC236}">
                <a16:creationId xmlns:a16="http://schemas.microsoft.com/office/drawing/2014/main" id="{79DAF793-5365-17E7-CED7-F829DE1C90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2388" y="14303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79" name="Oval 207">
            <a:extLst>
              <a:ext uri="{FF2B5EF4-FFF2-40B4-BE49-F238E27FC236}">
                <a16:creationId xmlns:a16="http://schemas.microsoft.com/office/drawing/2014/main" id="{94282F8A-3797-555D-0C95-F454D83BFE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7813" y="14303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80" name="Oval 208">
            <a:extLst>
              <a:ext uri="{FF2B5EF4-FFF2-40B4-BE49-F238E27FC236}">
                <a16:creationId xmlns:a16="http://schemas.microsoft.com/office/drawing/2014/main" id="{E56A67B4-7F0B-48E9-5104-3FDA1A6E48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3238" y="14303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81" name="Oval 209">
            <a:extLst>
              <a:ext uri="{FF2B5EF4-FFF2-40B4-BE49-F238E27FC236}">
                <a16:creationId xmlns:a16="http://schemas.microsoft.com/office/drawing/2014/main" id="{6790D8D7-7EBA-9FB5-7C11-A59CC711F8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0250" y="14303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82" name="Oval 210">
            <a:extLst>
              <a:ext uri="{FF2B5EF4-FFF2-40B4-BE49-F238E27FC236}">
                <a16:creationId xmlns:a16="http://schemas.microsoft.com/office/drawing/2014/main" id="{0233A304-3AFB-BE77-AD1A-4BCCA2CA4E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5675" y="14303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83" name="Oval 211">
            <a:extLst>
              <a:ext uri="{FF2B5EF4-FFF2-40B4-BE49-F238E27FC236}">
                <a16:creationId xmlns:a16="http://schemas.microsoft.com/office/drawing/2014/main" id="{04E3C9B2-0403-7E17-356B-D9A1799588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1100" y="14303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84" name="Oval 212">
            <a:extLst>
              <a:ext uri="{FF2B5EF4-FFF2-40B4-BE49-F238E27FC236}">
                <a16:creationId xmlns:a16="http://schemas.microsoft.com/office/drawing/2014/main" id="{7DF08991-049F-A7D4-A565-4D2B9687B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6525" y="14303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85" name="Oval 213">
            <a:extLst>
              <a:ext uri="{FF2B5EF4-FFF2-40B4-BE49-F238E27FC236}">
                <a16:creationId xmlns:a16="http://schemas.microsoft.com/office/drawing/2014/main" id="{A57B9068-E0C5-2544-648F-ED39AF36E0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3538" y="14303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86" name="Oval 214">
            <a:extLst>
              <a:ext uri="{FF2B5EF4-FFF2-40B4-BE49-F238E27FC236}">
                <a16:creationId xmlns:a16="http://schemas.microsoft.com/office/drawing/2014/main" id="{EB234B74-6291-1EEE-37FF-FBD679B50C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8963" y="14303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87" name="Oval 215">
            <a:extLst>
              <a:ext uri="{FF2B5EF4-FFF2-40B4-BE49-F238E27FC236}">
                <a16:creationId xmlns:a16="http://schemas.microsoft.com/office/drawing/2014/main" id="{41C27AA1-7BB8-526C-DF92-80C8AEC581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4388" y="14303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88" name="Oval 216">
            <a:extLst>
              <a:ext uri="{FF2B5EF4-FFF2-40B4-BE49-F238E27FC236}">
                <a16:creationId xmlns:a16="http://schemas.microsoft.com/office/drawing/2014/main" id="{7CEA9A8B-E68E-896F-9B5E-C0519D6142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9813" y="14303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89" name="Oval 217">
            <a:extLst>
              <a:ext uri="{FF2B5EF4-FFF2-40B4-BE49-F238E27FC236}">
                <a16:creationId xmlns:a16="http://schemas.microsoft.com/office/drawing/2014/main" id="{6DA1D38C-A465-9773-1AE5-4BA50F2AAD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6825" y="14303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90" name="Oval 218">
            <a:extLst>
              <a:ext uri="{FF2B5EF4-FFF2-40B4-BE49-F238E27FC236}">
                <a16:creationId xmlns:a16="http://schemas.microsoft.com/office/drawing/2014/main" id="{DBC340A3-B36D-377D-A1CB-4F1338738E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2250" y="14303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91" name="Oval 219">
            <a:extLst>
              <a:ext uri="{FF2B5EF4-FFF2-40B4-BE49-F238E27FC236}">
                <a16:creationId xmlns:a16="http://schemas.microsoft.com/office/drawing/2014/main" id="{5960D48B-A7C4-E749-1122-08ED89216D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7675" y="14303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92" name="Oval 220">
            <a:extLst>
              <a:ext uri="{FF2B5EF4-FFF2-40B4-BE49-F238E27FC236}">
                <a16:creationId xmlns:a16="http://schemas.microsoft.com/office/drawing/2014/main" id="{B6D898C0-F4C9-4D40-2B95-AC2D750C99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3100" y="1430338"/>
            <a:ext cx="65088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93" name="Oval 221">
            <a:extLst>
              <a:ext uri="{FF2B5EF4-FFF2-40B4-BE49-F238E27FC236}">
                <a16:creationId xmlns:a16="http://schemas.microsoft.com/office/drawing/2014/main" id="{825297BF-D60C-39EC-4B65-858093539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0113" y="14303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94" name="Oval 222">
            <a:extLst>
              <a:ext uri="{FF2B5EF4-FFF2-40B4-BE49-F238E27FC236}">
                <a16:creationId xmlns:a16="http://schemas.microsoft.com/office/drawing/2014/main" id="{76DDDD25-E32E-F79F-442D-D9C6D4891D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5538" y="1430338"/>
            <a:ext cx="65087" cy="65087"/>
          </a:xfrm>
          <a:prstGeom prst="ellipse">
            <a:avLst/>
          </a:prstGeom>
          <a:solidFill>
            <a:srgbClr val="334155"/>
          </a:solidFill>
          <a:ln w="5040" cap="flat">
            <a:solidFill>
              <a:srgbClr val="33415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95" name="Line 223">
            <a:extLst>
              <a:ext uri="{FF2B5EF4-FFF2-40B4-BE49-F238E27FC236}">
                <a16:creationId xmlns:a16="http://schemas.microsoft.com/office/drawing/2014/main" id="{1C243637-97FC-0F5F-C41D-99F44D85D11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78875" y="4243388"/>
            <a:ext cx="1588" cy="612775"/>
          </a:xfrm>
          <a:prstGeom prst="line">
            <a:avLst/>
          </a:prstGeom>
          <a:noFill/>
          <a:ln w="17640" cap="flat">
            <a:solidFill>
              <a:srgbClr val="3F7D2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296" name="Line 224">
            <a:extLst>
              <a:ext uri="{FF2B5EF4-FFF2-40B4-BE49-F238E27FC236}">
                <a16:creationId xmlns:a16="http://schemas.microsoft.com/office/drawing/2014/main" id="{B823A752-0790-7EAD-F117-010D3275A9C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51863" y="4243388"/>
            <a:ext cx="217487" cy="612775"/>
          </a:xfrm>
          <a:prstGeom prst="line">
            <a:avLst/>
          </a:prstGeom>
          <a:noFill/>
          <a:ln w="17640" cap="flat">
            <a:solidFill>
              <a:srgbClr val="3F7D2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297" name="Line 225">
            <a:extLst>
              <a:ext uri="{FF2B5EF4-FFF2-40B4-BE49-F238E27FC236}">
                <a16:creationId xmlns:a16="http://schemas.microsoft.com/office/drawing/2014/main" id="{76DA6EDE-4C9D-EE0E-7BAC-4A93B95143FF}"/>
              </a:ext>
            </a:extLst>
          </p:cNvPr>
          <p:cNvSpPr>
            <a:spLocks noChangeShapeType="1"/>
          </p:cNvSpPr>
          <p:nvPr/>
        </p:nvSpPr>
        <p:spPr bwMode="auto">
          <a:xfrm>
            <a:off x="8551863" y="4379913"/>
            <a:ext cx="225425" cy="1587"/>
          </a:xfrm>
          <a:prstGeom prst="line">
            <a:avLst/>
          </a:prstGeom>
          <a:noFill/>
          <a:ln w="14040" cap="flat">
            <a:solidFill>
              <a:srgbClr val="84CC1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298" name="Line 226">
            <a:extLst>
              <a:ext uri="{FF2B5EF4-FFF2-40B4-BE49-F238E27FC236}">
                <a16:creationId xmlns:a16="http://schemas.microsoft.com/office/drawing/2014/main" id="{2B4E5E48-4611-9CE7-2EC2-0B4F6E19EC2F}"/>
              </a:ext>
            </a:extLst>
          </p:cNvPr>
          <p:cNvSpPr>
            <a:spLocks noChangeShapeType="1"/>
          </p:cNvSpPr>
          <p:nvPr/>
        </p:nvSpPr>
        <p:spPr bwMode="auto">
          <a:xfrm>
            <a:off x="8551863" y="4357688"/>
            <a:ext cx="1587" cy="46037"/>
          </a:xfrm>
          <a:prstGeom prst="line">
            <a:avLst/>
          </a:prstGeom>
          <a:noFill/>
          <a:ln w="14040" cap="flat">
            <a:solidFill>
              <a:srgbClr val="84CC1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299" name="Line 227">
            <a:extLst>
              <a:ext uri="{FF2B5EF4-FFF2-40B4-BE49-F238E27FC236}">
                <a16:creationId xmlns:a16="http://schemas.microsoft.com/office/drawing/2014/main" id="{91B6B72F-D752-425B-2470-59AB18600823}"/>
              </a:ext>
            </a:extLst>
          </p:cNvPr>
          <p:cNvSpPr>
            <a:spLocks noChangeShapeType="1"/>
          </p:cNvSpPr>
          <p:nvPr/>
        </p:nvSpPr>
        <p:spPr bwMode="auto">
          <a:xfrm>
            <a:off x="8778875" y="4357688"/>
            <a:ext cx="1588" cy="46037"/>
          </a:xfrm>
          <a:prstGeom prst="line">
            <a:avLst/>
          </a:prstGeom>
          <a:noFill/>
          <a:ln w="14040" cap="flat">
            <a:solidFill>
              <a:srgbClr val="84CC1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300" name="Line 228">
            <a:extLst>
              <a:ext uri="{FF2B5EF4-FFF2-40B4-BE49-F238E27FC236}">
                <a16:creationId xmlns:a16="http://schemas.microsoft.com/office/drawing/2014/main" id="{402E0305-464A-F3CC-414F-CC7408E6430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78875" y="3557588"/>
            <a:ext cx="1588" cy="612775"/>
          </a:xfrm>
          <a:prstGeom prst="line">
            <a:avLst/>
          </a:prstGeom>
          <a:noFill/>
          <a:ln w="17640" cap="flat">
            <a:solidFill>
              <a:srgbClr val="3F7D2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301" name="Line 229">
            <a:extLst>
              <a:ext uri="{FF2B5EF4-FFF2-40B4-BE49-F238E27FC236}">
                <a16:creationId xmlns:a16="http://schemas.microsoft.com/office/drawing/2014/main" id="{6BEADE52-286A-34AA-73A4-FEAF47257E3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26438" y="3557588"/>
            <a:ext cx="442912" cy="612775"/>
          </a:xfrm>
          <a:prstGeom prst="line">
            <a:avLst/>
          </a:prstGeom>
          <a:noFill/>
          <a:ln w="17640" cap="flat">
            <a:solidFill>
              <a:srgbClr val="3F7D2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302" name="Line 230">
            <a:extLst>
              <a:ext uri="{FF2B5EF4-FFF2-40B4-BE49-F238E27FC236}">
                <a16:creationId xmlns:a16="http://schemas.microsoft.com/office/drawing/2014/main" id="{9AE695CA-C972-4D49-3B4A-FA65A10DB6AC}"/>
              </a:ext>
            </a:extLst>
          </p:cNvPr>
          <p:cNvSpPr>
            <a:spLocks noChangeShapeType="1"/>
          </p:cNvSpPr>
          <p:nvPr/>
        </p:nvSpPr>
        <p:spPr bwMode="auto">
          <a:xfrm>
            <a:off x="8101013" y="3694113"/>
            <a:ext cx="677862" cy="1587"/>
          </a:xfrm>
          <a:prstGeom prst="line">
            <a:avLst/>
          </a:prstGeom>
          <a:noFill/>
          <a:ln w="14040" cap="flat">
            <a:solidFill>
              <a:srgbClr val="84CC1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303" name="Line 231">
            <a:extLst>
              <a:ext uri="{FF2B5EF4-FFF2-40B4-BE49-F238E27FC236}">
                <a16:creationId xmlns:a16="http://schemas.microsoft.com/office/drawing/2014/main" id="{E7C3A815-68C5-15CA-2B14-5982F476374C}"/>
              </a:ext>
            </a:extLst>
          </p:cNvPr>
          <p:cNvSpPr>
            <a:spLocks noChangeShapeType="1"/>
          </p:cNvSpPr>
          <p:nvPr/>
        </p:nvSpPr>
        <p:spPr bwMode="auto">
          <a:xfrm>
            <a:off x="8101013" y="3671888"/>
            <a:ext cx="1587" cy="46037"/>
          </a:xfrm>
          <a:prstGeom prst="line">
            <a:avLst/>
          </a:prstGeom>
          <a:noFill/>
          <a:ln w="14040" cap="flat">
            <a:solidFill>
              <a:srgbClr val="84CC1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304" name="Line 232">
            <a:extLst>
              <a:ext uri="{FF2B5EF4-FFF2-40B4-BE49-F238E27FC236}">
                <a16:creationId xmlns:a16="http://schemas.microsoft.com/office/drawing/2014/main" id="{D55E5256-94DA-8925-38A0-6AF962D40867}"/>
              </a:ext>
            </a:extLst>
          </p:cNvPr>
          <p:cNvSpPr>
            <a:spLocks noChangeShapeType="1"/>
          </p:cNvSpPr>
          <p:nvPr/>
        </p:nvSpPr>
        <p:spPr bwMode="auto">
          <a:xfrm>
            <a:off x="8778875" y="3671888"/>
            <a:ext cx="1588" cy="46037"/>
          </a:xfrm>
          <a:prstGeom prst="line">
            <a:avLst/>
          </a:prstGeom>
          <a:noFill/>
          <a:ln w="14040" cap="flat">
            <a:solidFill>
              <a:srgbClr val="84CC1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305" name="Line 233">
            <a:extLst>
              <a:ext uri="{FF2B5EF4-FFF2-40B4-BE49-F238E27FC236}">
                <a16:creationId xmlns:a16="http://schemas.microsoft.com/office/drawing/2014/main" id="{06308C45-EA9E-6E7B-1357-84DD849F5D9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78875" y="2871788"/>
            <a:ext cx="1588" cy="612775"/>
          </a:xfrm>
          <a:prstGeom prst="line">
            <a:avLst/>
          </a:prstGeom>
          <a:noFill/>
          <a:ln w="17640" cap="flat">
            <a:solidFill>
              <a:srgbClr val="3F7D2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306" name="Line 234">
            <a:extLst>
              <a:ext uri="{FF2B5EF4-FFF2-40B4-BE49-F238E27FC236}">
                <a16:creationId xmlns:a16="http://schemas.microsoft.com/office/drawing/2014/main" id="{945EAF08-E1E7-5197-D903-C7118AD5AB5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74000" y="2871788"/>
            <a:ext cx="893763" cy="612775"/>
          </a:xfrm>
          <a:prstGeom prst="line">
            <a:avLst/>
          </a:prstGeom>
          <a:noFill/>
          <a:ln w="17640" cap="flat">
            <a:solidFill>
              <a:srgbClr val="3F7D2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307" name="Line 235">
            <a:extLst>
              <a:ext uri="{FF2B5EF4-FFF2-40B4-BE49-F238E27FC236}">
                <a16:creationId xmlns:a16="http://schemas.microsoft.com/office/drawing/2014/main" id="{FDDA0678-975F-410C-48E4-25BED5607C2B}"/>
              </a:ext>
            </a:extLst>
          </p:cNvPr>
          <p:cNvSpPr>
            <a:spLocks noChangeShapeType="1"/>
          </p:cNvSpPr>
          <p:nvPr/>
        </p:nvSpPr>
        <p:spPr bwMode="auto">
          <a:xfrm>
            <a:off x="7197725" y="3008313"/>
            <a:ext cx="1581150" cy="1587"/>
          </a:xfrm>
          <a:prstGeom prst="line">
            <a:avLst/>
          </a:prstGeom>
          <a:noFill/>
          <a:ln w="14040" cap="flat">
            <a:solidFill>
              <a:srgbClr val="84CC1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308" name="Line 236">
            <a:extLst>
              <a:ext uri="{FF2B5EF4-FFF2-40B4-BE49-F238E27FC236}">
                <a16:creationId xmlns:a16="http://schemas.microsoft.com/office/drawing/2014/main" id="{D3EE9EF5-F227-D8C3-E73C-763585C2C532}"/>
              </a:ext>
            </a:extLst>
          </p:cNvPr>
          <p:cNvSpPr>
            <a:spLocks noChangeShapeType="1"/>
          </p:cNvSpPr>
          <p:nvPr/>
        </p:nvSpPr>
        <p:spPr bwMode="auto">
          <a:xfrm>
            <a:off x="7197725" y="2986088"/>
            <a:ext cx="1588" cy="46037"/>
          </a:xfrm>
          <a:prstGeom prst="line">
            <a:avLst/>
          </a:prstGeom>
          <a:noFill/>
          <a:ln w="14040" cap="flat">
            <a:solidFill>
              <a:srgbClr val="84CC1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309" name="Line 237">
            <a:extLst>
              <a:ext uri="{FF2B5EF4-FFF2-40B4-BE49-F238E27FC236}">
                <a16:creationId xmlns:a16="http://schemas.microsoft.com/office/drawing/2014/main" id="{F2617FAD-EC8D-E46E-DA68-3E9C506B291D}"/>
              </a:ext>
            </a:extLst>
          </p:cNvPr>
          <p:cNvSpPr>
            <a:spLocks noChangeShapeType="1"/>
          </p:cNvSpPr>
          <p:nvPr/>
        </p:nvSpPr>
        <p:spPr bwMode="auto">
          <a:xfrm>
            <a:off x="8778875" y="2986088"/>
            <a:ext cx="1588" cy="46037"/>
          </a:xfrm>
          <a:prstGeom prst="line">
            <a:avLst/>
          </a:prstGeom>
          <a:noFill/>
          <a:ln w="14040" cap="flat">
            <a:solidFill>
              <a:srgbClr val="84CC1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310" name="Line 238">
            <a:extLst>
              <a:ext uri="{FF2B5EF4-FFF2-40B4-BE49-F238E27FC236}">
                <a16:creationId xmlns:a16="http://schemas.microsoft.com/office/drawing/2014/main" id="{9BA85333-1D79-07A5-0DC7-183CAEF5D9F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78875" y="2185988"/>
            <a:ext cx="1588" cy="612775"/>
          </a:xfrm>
          <a:prstGeom prst="line">
            <a:avLst/>
          </a:prstGeom>
          <a:noFill/>
          <a:ln w="17640" cap="flat">
            <a:solidFill>
              <a:srgbClr val="3F7D2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311" name="Line 239">
            <a:extLst>
              <a:ext uri="{FF2B5EF4-FFF2-40B4-BE49-F238E27FC236}">
                <a16:creationId xmlns:a16="http://schemas.microsoft.com/office/drawing/2014/main" id="{3C220016-08DD-54C7-7303-EF0061F4C6F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70713" y="2185988"/>
            <a:ext cx="1797050" cy="612775"/>
          </a:xfrm>
          <a:prstGeom prst="line">
            <a:avLst/>
          </a:prstGeom>
          <a:noFill/>
          <a:ln w="17640" cap="flat">
            <a:solidFill>
              <a:srgbClr val="3F7D2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312" name="Line 240">
            <a:extLst>
              <a:ext uri="{FF2B5EF4-FFF2-40B4-BE49-F238E27FC236}">
                <a16:creationId xmlns:a16="http://schemas.microsoft.com/office/drawing/2014/main" id="{312C7F3A-2BEF-7F13-3553-19313325E715}"/>
              </a:ext>
            </a:extLst>
          </p:cNvPr>
          <p:cNvSpPr>
            <a:spLocks noChangeShapeType="1"/>
          </p:cNvSpPr>
          <p:nvPr/>
        </p:nvSpPr>
        <p:spPr bwMode="auto">
          <a:xfrm>
            <a:off x="5391150" y="2322513"/>
            <a:ext cx="3387725" cy="1587"/>
          </a:xfrm>
          <a:prstGeom prst="line">
            <a:avLst/>
          </a:prstGeom>
          <a:noFill/>
          <a:ln w="14040" cap="flat">
            <a:solidFill>
              <a:srgbClr val="84CC1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313" name="Line 241">
            <a:extLst>
              <a:ext uri="{FF2B5EF4-FFF2-40B4-BE49-F238E27FC236}">
                <a16:creationId xmlns:a16="http://schemas.microsoft.com/office/drawing/2014/main" id="{63C22255-A726-0C84-CAEE-488F1A2FF2B7}"/>
              </a:ext>
            </a:extLst>
          </p:cNvPr>
          <p:cNvSpPr>
            <a:spLocks noChangeShapeType="1"/>
          </p:cNvSpPr>
          <p:nvPr/>
        </p:nvSpPr>
        <p:spPr bwMode="auto">
          <a:xfrm>
            <a:off x="5391150" y="2300288"/>
            <a:ext cx="1588" cy="46037"/>
          </a:xfrm>
          <a:prstGeom prst="line">
            <a:avLst/>
          </a:prstGeom>
          <a:noFill/>
          <a:ln w="14040" cap="flat">
            <a:solidFill>
              <a:srgbClr val="84CC1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314" name="Line 242">
            <a:extLst>
              <a:ext uri="{FF2B5EF4-FFF2-40B4-BE49-F238E27FC236}">
                <a16:creationId xmlns:a16="http://schemas.microsoft.com/office/drawing/2014/main" id="{EFC03BFD-E5CB-47AB-EB6B-7EE34F045A59}"/>
              </a:ext>
            </a:extLst>
          </p:cNvPr>
          <p:cNvSpPr>
            <a:spLocks noChangeShapeType="1"/>
          </p:cNvSpPr>
          <p:nvPr/>
        </p:nvSpPr>
        <p:spPr bwMode="auto">
          <a:xfrm>
            <a:off x="8778875" y="2300288"/>
            <a:ext cx="1588" cy="46037"/>
          </a:xfrm>
          <a:prstGeom prst="line">
            <a:avLst/>
          </a:prstGeom>
          <a:noFill/>
          <a:ln w="14040" cap="flat">
            <a:solidFill>
              <a:srgbClr val="84CC1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315" name="Line 243">
            <a:extLst>
              <a:ext uri="{FF2B5EF4-FFF2-40B4-BE49-F238E27FC236}">
                <a16:creationId xmlns:a16="http://schemas.microsoft.com/office/drawing/2014/main" id="{3362676C-C23C-EA7D-49FA-F0BA6845D99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78875" y="1500188"/>
            <a:ext cx="1588" cy="612775"/>
          </a:xfrm>
          <a:prstGeom prst="line">
            <a:avLst/>
          </a:prstGeom>
          <a:noFill/>
          <a:ln w="17640" cap="flat">
            <a:solidFill>
              <a:srgbClr val="3F7D2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316" name="Line 244">
            <a:extLst>
              <a:ext uri="{FF2B5EF4-FFF2-40B4-BE49-F238E27FC236}">
                <a16:creationId xmlns:a16="http://schemas.microsoft.com/office/drawing/2014/main" id="{5D5285A0-5524-579C-4CEE-AC293C18E10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64138" y="1500188"/>
            <a:ext cx="3603625" cy="612775"/>
          </a:xfrm>
          <a:prstGeom prst="line">
            <a:avLst/>
          </a:prstGeom>
          <a:noFill/>
          <a:ln w="17640" cap="flat">
            <a:solidFill>
              <a:srgbClr val="3F7D2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317" name="Line 245">
            <a:extLst>
              <a:ext uri="{FF2B5EF4-FFF2-40B4-BE49-F238E27FC236}">
                <a16:creationId xmlns:a16="http://schemas.microsoft.com/office/drawing/2014/main" id="{CAF5281E-089D-E1B3-83B4-B82ADD3834C8}"/>
              </a:ext>
            </a:extLst>
          </p:cNvPr>
          <p:cNvSpPr>
            <a:spLocks noChangeShapeType="1"/>
          </p:cNvSpPr>
          <p:nvPr/>
        </p:nvSpPr>
        <p:spPr bwMode="auto">
          <a:xfrm>
            <a:off x="1778000" y="1636713"/>
            <a:ext cx="7000875" cy="1587"/>
          </a:xfrm>
          <a:prstGeom prst="line">
            <a:avLst/>
          </a:prstGeom>
          <a:noFill/>
          <a:ln w="14040" cap="flat">
            <a:solidFill>
              <a:srgbClr val="84CC1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318" name="Line 246">
            <a:extLst>
              <a:ext uri="{FF2B5EF4-FFF2-40B4-BE49-F238E27FC236}">
                <a16:creationId xmlns:a16="http://schemas.microsoft.com/office/drawing/2014/main" id="{0DBAF1E3-8C43-079E-F5AA-F47FF2A711EE}"/>
              </a:ext>
            </a:extLst>
          </p:cNvPr>
          <p:cNvSpPr>
            <a:spLocks noChangeShapeType="1"/>
          </p:cNvSpPr>
          <p:nvPr/>
        </p:nvSpPr>
        <p:spPr bwMode="auto">
          <a:xfrm>
            <a:off x="1778000" y="1614488"/>
            <a:ext cx="1588" cy="46037"/>
          </a:xfrm>
          <a:prstGeom prst="line">
            <a:avLst/>
          </a:prstGeom>
          <a:noFill/>
          <a:ln w="14040" cap="flat">
            <a:solidFill>
              <a:srgbClr val="84CC1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319" name="Line 247">
            <a:extLst>
              <a:ext uri="{FF2B5EF4-FFF2-40B4-BE49-F238E27FC236}">
                <a16:creationId xmlns:a16="http://schemas.microsoft.com/office/drawing/2014/main" id="{D89060AE-AA40-32C3-B9FA-44E7B1E59AA5}"/>
              </a:ext>
            </a:extLst>
          </p:cNvPr>
          <p:cNvSpPr>
            <a:spLocks noChangeShapeType="1"/>
          </p:cNvSpPr>
          <p:nvPr/>
        </p:nvSpPr>
        <p:spPr bwMode="auto">
          <a:xfrm>
            <a:off x="8778875" y="1614488"/>
            <a:ext cx="1588" cy="46037"/>
          </a:xfrm>
          <a:prstGeom prst="line">
            <a:avLst/>
          </a:prstGeom>
          <a:noFill/>
          <a:ln w="14040" cap="flat">
            <a:solidFill>
              <a:srgbClr val="84CC1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320" name="Oval 248">
            <a:extLst>
              <a:ext uri="{FF2B5EF4-FFF2-40B4-BE49-F238E27FC236}">
                <a16:creationId xmlns:a16="http://schemas.microsoft.com/office/drawing/2014/main" id="{15096CD0-1593-0886-6D82-B422195F5F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6325" y="4810125"/>
            <a:ext cx="163513" cy="163513"/>
          </a:xfrm>
          <a:prstGeom prst="ellipse">
            <a:avLst/>
          </a:prstGeom>
          <a:solidFill>
            <a:srgbClr val="84CC16"/>
          </a:solidFill>
          <a:ln w="5040" cap="flat">
            <a:solidFill>
              <a:srgbClr val="FFFF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21" name="Oval 249">
            <a:extLst>
              <a:ext uri="{FF2B5EF4-FFF2-40B4-BE49-F238E27FC236}">
                <a16:creationId xmlns:a16="http://schemas.microsoft.com/office/drawing/2014/main" id="{D81CEC06-7C98-6898-DD0D-53AAF08C2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9313" y="4810125"/>
            <a:ext cx="163512" cy="163513"/>
          </a:xfrm>
          <a:prstGeom prst="ellipse">
            <a:avLst/>
          </a:prstGeom>
          <a:solidFill>
            <a:srgbClr val="F59E0B"/>
          </a:solidFill>
          <a:ln w="5040" cap="flat">
            <a:solidFill>
              <a:srgbClr val="FFFF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22" name="Oval 250">
            <a:extLst>
              <a:ext uri="{FF2B5EF4-FFF2-40B4-BE49-F238E27FC236}">
                <a16:creationId xmlns:a16="http://schemas.microsoft.com/office/drawing/2014/main" id="{F5EF28CB-6C3C-02C1-F79A-908F253ABB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1563" y="4119563"/>
            <a:ext cx="173037" cy="173037"/>
          </a:xfrm>
          <a:prstGeom prst="ellipse">
            <a:avLst/>
          </a:prstGeom>
          <a:solidFill>
            <a:srgbClr val="84CC16"/>
          </a:solidFill>
          <a:ln w="5040" cap="flat">
            <a:solidFill>
              <a:srgbClr val="FFFF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23" name="Oval 251">
            <a:extLst>
              <a:ext uri="{FF2B5EF4-FFF2-40B4-BE49-F238E27FC236}">
                <a16:creationId xmlns:a16="http://schemas.microsoft.com/office/drawing/2014/main" id="{CAB41082-3DEE-DBE6-BD37-945DFEF02E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6325" y="4124325"/>
            <a:ext cx="163513" cy="163513"/>
          </a:xfrm>
          <a:prstGeom prst="ellipse">
            <a:avLst/>
          </a:prstGeom>
          <a:solidFill>
            <a:srgbClr val="84CC16"/>
          </a:solidFill>
          <a:ln w="5040" cap="flat">
            <a:solidFill>
              <a:srgbClr val="FFFF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24" name="Oval 252">
            <a:extLst>
              <a:ext uri="{FF2B5EF4-FFF2-40B4-BE49-F238E27FC236}">
                <a16:creationId xmlns:a16="http://schemas.microsoft.com/office/drawing/2014/main" id="{F3EF0D45-BC05-6BA3-ECEB-46104D3EF2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3888" y="4124325"/>
            <a:ext cx="163512" cy="163513"/>
          </a:xfrm>
          <a:prstGeom prst="ellipse">
            <a:avLst/>
          </a:prstGeom>
          <a:solidFill>
            <a:srgbClr val="7C3AED"/>
          </a:solidFill>
          <a:ln w="5040" cap="flat">
            <a:solidFill>
              <a:srgbClr val="FFFF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25" name="Oval 253">
            <a:extLst>
              <a:ext uri="{FF2B5EF4-FFF2-40B4-BE49-F238E27FC236}">
                <a16:creationId xmlns:a16="http://schemas.microsoft.com/office/drawing/2014/main" id="{4FBB08AD-E37E-E2FD-2EDC-BF6218CBE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1563" y="3433763"/>
            <a:ext cx="173037" cy="173037"/>
          </a:xfrm>
          <a:prstGeom prst="ellipse">
            <a:avLst/>
          </a:prstGeom>
          <a:solidFill>
            <a:srgbClr val="84CC16"/>
          </a:solidFill>
          <a:ln w="5040" cap="flat">
            <a:solidFill>
              <a:srgbClr val="FFFF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26" name="Oval 254">
            <a:extLst>
              <a:ext uri="{FF2B5EF4-FFF2-40B4-BE49-F238E27FC236}">
                <a16:creationId xmlns:a16="http://schemas.microsoft.com/office/drawing/2014/main" id="{E0E9ABB5-A37E-A2A0-10D6-E7B613203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6325" y="3438525"/>
            <a:ext cx="163513" cy="163513"/>
          </a:xfrm>
          <a:prstGeom prst="ellipse">
            <a:avLst/>
          </a:prstGeom>
          <a:solidFill>
            <a:srgbClr val="84CC16"/>
          </a:solidFill>
          <a:ln w="5040" cap="flat">
            <a:solidFill>
              <a:srgbClr val="FFFF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27" name="Oval 255">
            <a:extLst>
              <a:ext uri="{FF2B5EF4-FFF2-40B4-BE49-F238E27FC236}">
                <a16:creationId xmlns:a16="http://schemas.microsoft.com/office/drawing/2014/main" id="{6CAA99DC-63A7-8B47-38F6-D28D64DCF3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3038" y="3438525"/>
            <a:ext cx="163512" cy="163513"/>
          </a:xfrm>
          <a:prstGeom prst="ellipse">
            <a:avLst/>
          </a:prstGeom>
          <a:solidFill>
            <a:srgbClr val="F59E0B"/>
          </a:solidFill>
          <a:ln w="5040" cap="flat">
            <a:solidFill>
              <a:srgbClr val="FFFF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28" name="Oval 256">
            <a:extLst>
              <a:ext uri="{FF2B5EF4-FFF2-40B4-BE49-F238E27FC236}">
                <a16:creationId xmlns:a16="http://schemas.microsoft.com/office/drawing/2014/main" id="{1C4ACEF9-9DDB-07E4-A171-AC8F2EB393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1563" y="2747963"/>
            <a:ext cx="173037" cy="173037"/>
          </a:xfrm>
          <a:prstGeom prst="ellipse">
            <a:avLst/>
          </a:prstGeom>
          <a:solidFill>
            <a:srgbClr val="84CC16"/>
          </a:solidFill>
          <a:ln w="5040" cap="flat">
            <a:solidFill>
              <a:srgbClr val="FFFF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29" name="Oval 257">
            <a:extLst>
              <a:ext uri="{FF2B5EF4-FFF2-40B4-BE49-F238E27FC236}">
                <a16:creationId xmlns:a16="http://schemas.microsoft.com/office/drawing/2014/main" id="{E5392164-D916-4289-3DCE-8069F41222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6325" y="2752725"/>
            <a:ext cx="163513" cy="163513"/>
          </a:xfrm>
          <a:prstGeom prst="ellipse">
            <a:avLst/>
          </a:prstGeom>
          <a:solidFill>
            <a:srgbClr val="84CC16"/>
          </a:solidFill>
          <a:ln w="5040" cap="flat">
            <a:solidFill>
              <a:srgbClr val="FFFF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30" name="Oval 258">
            <a:extLst>
              <a:ext uri="{FF2B5EF4-FFF2-40B4-BE49-F238E27FC236}">
                <a16:creationId xmlns:a16="http://schemas.microsoft.com/office/drawing/2014/main" id="{7DB797A7-6757-4F6C-D5EC-7523EDA095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9750" y="2752725"/>
            <a:ext cx="163513" cy="163513"/>
          </a:xfrm>
          <a:prstGeom prst="ellipse">
            <a:avLst/>
          </a:prstGeom>
          <a:solidFill>
            <a:srgbClr val="7C3AED"/>
          </a:solidFill>
          <a:ln w="5040" cap="flat">
            <a:solidFill>
              <a:srgbClr val="FFFF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31" name="Oval 259">
            <a:extLst>
              <a:ext uri="{FF2B5EF4-FFF2-40B4-BE49-F238E27FC236}">
                <a16:creationId xmlns:a16="http://schemas.microsoft.com/office/drawing/2014/main" id="{ED57B013-CEEA-BE96-B8AD-4FD408865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1563" y="2062163"/>
            <a:ext cx="173037" cy="173037"/>
          </a:xfrm>
          <a:prstGeom prst="ellipse">
            <a:avLst/>
          </a:prstGeom>
          <a:solidFill>
            <a:srgbClr val="84CC16"/>
          </a:solidFill>
          <a:ln w="5040" cap="flat">
            <a:solidFill>
              <a:srgbClr val="FFFF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32" name="Oval 260">
            <a:extLst>
              <a:ext uri="{FF2B5EF4-FFF2-40B4-BE49-F238E27FC236}">
                <a16:creationId xmlns:a16="http://schemas.microsoft.com/office/drawing/2014/main" id="{4AADCEE9-7796-8291-A595-AE8EB90D59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6325" y="2066925"/>
            <a:ext cx="163513" cy="163513"/>
          </a:xfrm>
          <a:prstGeom prst="ellipse">
            <a:avLst/>
          </a:prstGeom>
          <a:solidFill>
            <a:srgbClr val="84CC16"/>
          </a:solidFill>
          <a:ln w="5040" cap="flat">
            <a:solidFill>
              <a:srgbClr val="FFFF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33" name="Oval 261">
            <a:extLst>
              <a:ext uri="{FF2B5EF4-FFF2-40B4-BE49-F238E27FC236}">
                <a16:creationId xmlns:a16="http://schemas.microsoft.com/office/drawing/2014/main" id="{D3F33DEE-237D-1BA7-7A7A-5F20E15A20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3175" y="2066925"/>
            <a:ext cx="163513" cy="163513"/>
          </a:xfrm>
          <a:prstGeom prst="ellipse">
            <a:avLst/>
          </a:prstGeom>
          <a:solidFill>
            <a:srgbClr val="F59E0B"/>
          </a:solidFill>
          <a:ln w="5040" cap="flat">
            <a:solidFill>
              <a:srgbClr val="FFFF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34" name="Oval 262">
            <a:extLst>
              <a:ext uri="{FF2B5EF4-FFF2-40B4-BE49-F238E27FC236}">
                <a16:creationId xmlns:a16="http://schemas.microsoft.com/office/drawing/2014/main" id="{344B72B4-4D1A-FF08-96A2-76BD2E75E1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1563" y="1376363"/>
            <a:ext cx="173037" cy="173037"/>
          </a:xfrm>
          <a:prstGeom prst="ellipse">
            <a:avLst/>
          </a:prstGeom>
          <a:solidFill>
            <a:srgbClr val="84CC16"/>
          </a:solidFill>
          <a:ln w="5040" cap="flat">
            <a:solidFill>
              <a:srgbClr val="FFFF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35" name="AutoShape 263">
            <a:extLst>
              <a:ext uri="{FF2B5EF4-FFF2-40B4-BE49-F238E27FC236}">
                <a16:creationId xmlns:a16="http://schemas.microsoft.com/office/drawing/2014/main" id="{1BA4E030-7F0E-FEE9-0235-AC2A50272E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90038" y="1189038"/>
            <a:ext cx="2239962" cy="4224337"/>
          </a:xfrm>
          <a:prstGeom prst="roundRect">
            <a:avLst>
              <a:gd name="adj" fmla="val 3264"/>
            </a:avLst>
          </a:prstGeom>
          <a:solidFill>
            <a:srgbClr val="FFFFFF"/>
          </a:solidFill>
          <a:ln w="11520" cap="flat">
            <a:solidFill>
              <a:srgbClr val="D1D5DB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36" name="Rectangle 264">
            <a:extLst>
              <a:ext uri="{FF2B5EF4-FFF2-40B4-BE49-F238E27FC236}">
                <a16:creationId xmlns:a16="http://schemas.microsoft.com/office/drawing/2014/main" id="{B602B3FB-2D3A-7003-6D82-8A4EFF52D2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90038" y="1189038"/>
            <a:ext cx="73025" cy="4224337"/>
          </a:xfrm>
          <a:prstGeom prst="rect">
            <a:avLst/>
          </a:prstGeom>
          <a:solidFill>
            <a:srgbClr val="84CC16"/>
          </a:solidFill>
          <a:ln w="12600" cap="flat">
            <a:solidFill>
              <a:srgbClr val="84CC16">
                <a:alpha val="0"/>
              </a:srgbClr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37" name="Rectangle 265">
            <a:extLst>
              <a:ext uri="{FF2B5EF4-FFF2-40B4-BE49-F238E27FC236}">
                <a16:creationId xmlns:a16="http://schemas.microsoft.com/office/drawing/2014/main" id="{F53C95C7-2F48-428A-9C26-4B554286E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3075" y="1352550"/>
            <a:ext cx="17827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en-US" sz="1200" b="1" dirty="0">
                <a:solidFill>
                  <a:srgbClr val="111827"/>
                </a:solidFill>
                <a:latin typeface="Aptos" panose="020B0004020202020204" pitchFamily="34" charset="0"/>
              </a:rPr>
              <a:t>Note</a:t>
            </a:r>
          </a:p>
        </p:txBody>
      </p:sp>
      <p:sp>
        <p:nvSpPr>
          <p:cNvPr id="3338" name="Rectangle 266">
            <a:extLst>
              <a:ext uri="{FF2B5EF4-FFF2-40B4-BE49-F238E27FC236}">
                <a16:creationId xmlns:a16="http://schemas.microsoft.com/office/drawing/2014/main" id="{E11FC509-88A3-6CF4-C6EC-D2A1E50D9C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3075" y="1719263"/>
            <a:ext cx="1874838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" tIns="360" rIns="360" bIns="360" anchor="ctr"/>
          <a:lstStyle>
            <a:lvl1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en-US" sz="1000" dirty="0">
                <a:solidFill>
                  <a:srgbClr val="475569"/>
                </a:solidFill>
                <a:latin typeface="Aptos" panose="020B0004020202020204" pitchFamily="34" charset="0"/>
              </a:rPr>
              <a:t>• each output at t uses only t and earlier positions</a:t>
            </a:r>
          </a:p>
          <a:p>
            <a:pPr hangingPunct="1">
              <a:lnSpc>
                <a:spcPct val="100000"/>
              </a:lnSpc>
            </a:pPr>
            <a:r>
              <a:rPr lang="en-US" altLang="en-US" sz="1000" b="1" dirty="0">
                <a:solidFill>
                  <a:srgbClr val="475569"/>
                </a:solidFill>
                <a:latin typeface="Aptos" panose="020B0004020202020204" pitchFamily="34" charset="0"/>
              </a:rPr>
              <a:t>• each layer samples the previous layer at t and t−d</a:t>
            </a:r>
          </a:p>
        </p:txBody>
      </p:sp>
      <p:sp>
        <p:nvSpPr>
          <p:cNvPr id="3339" name="Rectangle 267">
            <a:extLst>
              <a:ext uri="{FF2B5EF4-FFF2-40B4-BE49-F238E27FC236}">
                <a16:creationId xmlns:a16="http://schemas.microsoft.com/office/drawing/2014/main" id="{ABC342D9-B47C-A1D1-6C24-B448D88AA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3075" y="2871788"/>
            <a:ext cx="1828800" cy="182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en-US" sz="1200" b="1">
                <a:solidFill>
                  <a:srgbClr val="111827"/>
                </a:solidFill>
                <a:latin typeface="Aptos" panose="020B0004020202020204" pitchFamily="34" charset="0"/>
              </a:rPr>
              <a:t>Cumulative receptive field</a:t>
            </a:r>
          </a:p>
        </p:txBody>
      </p:sp>
      <p:sp>
        <p:nvSpPr>
          <p:cNvPr id="3340" name="Rectangle 268">
            <a:extLst>
              <a:ext uri="{FF2B5EF4-FFF2-40B4-BE49-F238E27FC236}">
                <a16:creationId xmlns:a16="http://schemas.microsoft.com/office/drawing/2014/main" id="{8AD0B90D-62FE-0292-5BD3-C5B78955AE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09125" y="3181350"/>
            <a:ext cx="1462088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en-US" sz="1000">
                <a:solidFill>
                  <a:srgbClr val="111827"/>
                </a:solidFill>
                <a:latin typeface="Aptos Mono" panose="020B0009020202020204" pitchFamily="49" charset="0"/>
              </a:rPr>
              <a:t>after d=1:    2</a:t>
            </a:r>
          </a:p>
          <a:p>
            <a:pPr hangingPunct="1">
              <a:lnSpc>
                <a:spcPct val="100000"/>
              </a:lnSpc>
            </a:pPr>
            <a:r>
              <a:rPr lang="en-US" altLang="en-US" sz="1000">
                <a:solidFill>
                  <a:srgbClr val="111827"/>
                </a:solidFill>
                <a:latin typeface="Aptos Mono" panose="020B0009020202020204" pitchFamily="49" charset="0"/>
              </a:rPr>
              <a:t>after d=2:    4</a:t>
            </a:r>
          </a:p>
          <a:p>
            <a:pPr hangingPunct="1">
              <a:lnSpc>
                <a:spcPct val="100000"/>
              </a:lnSpc>
            </a:pPr>
            <a:r>
              <a:rPr lang="en-US" altLang="en-US" sz="1000">
                <a:solidFill>
                  <a:srgbClr val="111827"/>
                </a:solidFill>
                <a:latin typeface="Aptos Mono" panose="020B0009020202020204" pitchFamily="49" charset="0"/>
              </a:rPr>
              <a:t>after d=4:    8</a:t>
            </a:r>
          </a:p>
          <a:p>
            <a:pPr hangingPunct="1">
              <a:lnSpc>
                <a:spcPct val="100000"/>
              </a:lnSpc>
            </a:pPr>
            <a:r>
              <a:rPr lang="en-US" altLang="en-US" sz="1000">
                <a:solidFill>
                  <a:srgbClr val="111827"/>
                </a:solidFill>
                <a:latin typeface="Aptos Mono" panose="020B0009020202020204" pitchFamily="49" charset="0"/>
              </a:rPr>
              <a:t>after d=8:   16</a:t>
            </a:r>
          </a:p>
          <a:p>
            <a:pPr hangingPunct="1">
              <a:lnSpc>
                <a:spcPct val="100000"/>
              </a:lnSpc>
            </a:pPr>
            <a:r>
              <a:rPr lang="en-US" altLang="en-US" sz="1000">
                <a:solidFill>
                  <a:srgbClr val="111827"/>
                </a:solidFill>
                <a:latin typeface="Aptos Mono" panose="020B0009020202020204" pitchFamily="49" charset="0"/>
              </a:rPr>
              <a:t>after d=16:  32</a:t>
            </a:r>
          </a:p>
        </p:txBody>
      </p:sp>
      <p:sp>
        <p:nvSpPr>
          <p:cNvPr id="3341" name="AutoShape 269">
            <a:extLst>
              <a:ext uri="{FF2B5EF4-FFF2-40B4-BE49-F238E27FC236}">
                <a16:creationId xmlns:a16="http://schemas.microsoft.com/office/drawing/2014/main" id="{17E848F0-A720-C13C-BFC4-6DFD446A0A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18638" y="4406900"/>
            <a:ext cx="1719262" cy="503238"/>
          </a:xfrm>
          <a:prstGeom prst="roundRect">
            <a:avLst>
              <a:gd name="adj" fmla="val 10907"/>
            </a:avLst>
          </a:prstGeom>
          <a:solidFill>
            <a:srgbClr val="ECFCCB"/>
          </a:solidFill>
          <a:ln w="12600" cap="flat">
            <a:solidFill>
              <a:srgbClr val="84CC16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42" name="Rectangle 270">
            <a:extLst>
              <a:ext uri="{FF2B5EF4-FFF2-40B4-BE49-F238E27FC236}">
                <a16:creationId xmlns:a16="http://schemas.microsoft.com/office/drawing/2014/main" id="{FA4315BE-4B5C-DFF8-4DA4-48CE04BCC3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64688" y="4498975"/>
            <a:ext cx="1417637" cy="292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en-US" sz="1000" b="1">
                <a:solidFill>
                  <a:srgbClr val="3F7D20"/>
                </a:solidFill>
                <a:latin typeface="Aptos" panose="020B0004020202020204" pitchFamily="34" charset="0"/>
              </a:rPr>
              <a:t>Left causal padding</a:t>
            </a:r>
          </a:p>
          <a:p>
            <a:pPr algn="ctr" hangingPunct="1">
              <a:lnSpc>
                <a:spcPct val="100000"/>
              </a:lnSpc>
            </a:pPr>
            <a:r>
              <a:rPr lang="en-US" altLang="en-US" sz="1000" b="1">
                <a:solidFill>
                  <a:srgbClr val="3F7D20"/>
                </a:solidFill>
                <a:latin typeface="Aptos" panose="020B0004020202020204" pitchFamily="34" charset="0"/>
              </a:rPr>
              <a:t>preserves alignment</a:t>
            </a:r>
          </a:p>
        </p:txBody>
      </p:sp>
      <p:sp>
        <p:nvSpPr>
          <p:cNvPr id="3343" name="AutoShape 271">
            <a:extLst>
              <a:ext uri="{FF2B5EF4-FFF2-40B4-BE49-F238E27FC236}">
                <a16:creationId xmlns:a16="http://schemas.microsoft.com/office/drawing/2014/main" id="{137F0AD1-857B-8FC3-2E3B-0AB86EEFFC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5741988"/>
            <a:ext cx="2011363" cy="401637"/>
          </a:xfrm>
          <a:prstGeom prst="roundRect">
            <a:avLst>
              <a:gd name="adj" fmla="val 13634"/>
            </a:avLst>
          </a:prstGeom>
          <a:solidFill>
            <a:srgbClr val="DBEAFE"/>
          </a:solidFill>
          <a:ln w="12600" cap="flat">
            <a:solidFill>
              <a:srgbClr val="2563EB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44" name="Rectangle 272">
            <a:extLst>
              <a:ext uri="{FF2B5EF4-FFF2-40B4-BE49-F238E27FC236}">
                <a16:creationId xmlns:a16="http://schemas.microsoft.com/office/drawing/2014/main" id="{E491F088-38CF-8527-A146-1CE560F533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0" y="5851525"/>
            <a:ext cx="1417638" cy="128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en-US" sz="1000" b="1">
                <a:solidFill>
                  <a:srgbClr val="111827"/>
                </a:solidFill>
                <a:latin typeface="Aptos" panose="020B0004020202020204" pitchFamily="34" charset="0"/>
              </a:rPr>
              <a:t>small kernels</a:t>
            </a:r>
          </a:p>
        </p:txBody>
      </p:sp>
      <p:sp>
        <p:nvSpPr>
          <p:cNvPr id="3346" name="AutoShape 274">
            <a:extLst>
              <a:ext uri="{FF2B5EF4-FFF2-40B4-BE49-F238E27FC236}">
                <a16:creationId xmlns:a16="http://schemas.microsoft.com/office/drawing/2014/main" id="{06B6B346-751F-181B-5078-E5A3C7EF29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9700" y="5632450"/>
            <a:ext cx="2303463" cy="612775"/>
          </a:xfrm>
          <a:prstGeom prst="roundRect">
            <a:avLst>
              <a:gd name="adj" fmla="val 8954"/>
            </a:avLst>
          </a:prstGeom>
          <a:solidFill>
            <a:srgbClr val="ECFCCB"/>
          </a:solidFill>
          <a:ln w="12600" cap="flat">
            <a:solidFill>
              <a:srgbClr val="84CC16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47" name="Rectangle 275">
            <a:extLst>
              <a:ext uri="{FF2B5EF4-FFF2-40B4-BE49-F238E27FC236}">
                <a16:creationId xmlns:a16="http://schemas.microsoft.com/office/drawing/2014/main" id="{B943D62E-4290-42C0-3353-3476061017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0838" y="5761038"/>
            <a:ext cx="1901825" cy="31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en-US" sz="1000" b="1">
                <a:solidFill>
                  <a:srgbClr val="111827"/>
                </a:solidFill>
                <a:latin typeface="Aptos" panose="020B0004020202020204" pitchFamily="34" charset="0"/>
              </a:rPr>
              <a:t>exponentially growing</a:t>
            </a:r>
          </a:p>
          <a:p>
            <a:pPr algn="ctr" hangingPunct="1">
              <a:lnSpc>
                <a:spcPct val="100000"/>
              </a:lnSpc>
            </a:pPr>
            <a:r>
              <a:rPr lang="en-US" altLang="en-US" sz="1000" b="1">
                <a:solidFill>
                  <a:srgbClr val="111827"/>
                </a:solidFill>
                <a:latin typeface="Aptos" panose="020B0004020202020204" pitchFamily="34" charset="0"/>
              </a:rPr>
              <a:t>past context</a:t>
            </a:r>
          </a:p>
        </p:txBody>
      </p:sp>
      <p:sp>
        <p:nvSpPr>
          <p:cNvPr id="3349" name="AutoShape 277">
            <a:extLst>
              <a:ext uri="{FF2B5EF4-FFF2-40B4-BE49-F238E27FC236}">
                <a16:creationId xmlns:a16="http://schemas.microsoft.com/office/drawing/2014/main" id="{0E9BB36F-B705-BD37-8430-C109E9B84A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9163" y="5632450"/>
            <a:ext cx="2359025" cy="612775"/>
          </a:xfrm>
          <a:prstGeom prst="roundRect">
            <a:avLst>
              <a:gd name="adj" fmla="val 8954"/>
            </a:avLst>
          </a:prstGeom>
          <a:solidFill>
            <a:srgbClr val="FFF7ED"/>
          </a:solidFill>
          <a:ln w="12600" cap="flat">
            <a:solidFill>
              <a:srgbClr val="F59E0B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50" name="Rectangle 278">
            <a:extLst>
              <a:ext uri="{FF2B5EF4-FFF2-40B4-BE49-F238E27FC236}">
                <a16:creationId xmlns:a16="http://schemas.microsoft.com/office/drawing/2014/main" id="{1C49FCF7-AB35-F5AF-D568-B1402FC179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6813" y="5761038"/>
            <a:ext cx="1874837" cy="31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en-US" sz="1000" b="1">
                <a:solidFill>
                  <a:srgbClr val="111827"/>
                </a:solidFill>
                <a:latin typeface="Aptos" panose="020B0004020202020204" pitchFamily="34" charset="0"/>
              </a:rPr>
              <a:t>causal output</a:t>
            </a:r>
          </a:p>
          <a:p>
            <a:pPr algn="ctr" hangingPunct="1">
              <a:lnSpc>
                <a:spcPct val="100000"/>
              </a:lnSpc>
            </a:pPr>
            <a:r>
              <a:rPr lang="en-US" altLang="en-US" sz="1000" b="1">
                <a:solidFill>
                  <a:srgbClr val="111827"/>
                </a:solidFill>
                <a:latin typeface="Aptos" panose="020B0004020202020204" pitchFamily="34" charset="0"/>
              </a:rPr>
              <a:t>at time t</a:t>
            </a:r>
          </a:p>
        </p:txBody>
      </p:sp>
      <p:sp>
        <p:nvSpPr>
          <p:cNvPr id="3351" name="Rectangle 279">
            <a:extLst>
              <a:ext uri="{FF2B5EF4-FFF2-40B4-BE49-F238E27FC236}">
                <a16:creationId xmlns:a16="http://schemas.microsoft.com/office/drawing/2014/main" id="{25FC6745-28AC-E953-427E-C5C1CFAB24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6619875"/>
            <a:ext cx="2376487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en-US" sz="800">
                <a:solidFill>
                  <a:srgbClr val="64748B"/>
                </a:solidFill>
                <a:latin typeface="Aptos" panose="020B0004020202020204" pitchFamily="34" charset="0"/>
              </a:rPr>
              <a:t>Lecture 3 — Temporal CNNs</a:t>
            </a:r>
          </a:p>
        </p:txBody>
      </p:sp>
      <p:sp>
        <p:nvSpPr>
          <p:cNvPr id="3" name="Line 223">
            <a:extLst>
              <a:ext uri="{FF2B5EF4-FFF2-40B4-BE49-F238E27FC236}">
                <a16:creationId xmlns:a16="http://schemas.microsoft.com/office/drawing/2014/main" id="{DF2DAD18-F72A-FA6C-4F27-BFE866144BF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21675" y="4225131"/>
            <a:ext cx="1588" cy="612775"/>
          </a:xfrm>
          <a:prstGeom prst="line">
            <a:avLst/>
          </a:prstGeom>
          <a:noFill/>
          <a:ln w="17640" cap="flat">
            <a:solidFill>
              <a:srgbClr val="3F7D2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" name="Line 224">
            <a:extLst>
              <a:ext uri="{FF2B5EF4-FFF2-40B4-BE49-F238E27FC236}">
                <a16:creationId xmlns:a16="http://schemas.microsoft.com/office/drawing/2014/main" id="{E74EE565-6BBD-F1E1-34BE-070CDF2FB5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94663" y="4225131"/>
            <a:ext cx="217487" cy="612775"/>
          </a:xfrm>
          <a:prstGeom prst="line">
            <a:avLst/>
          </a:prstGeom>
          <a:noFill/>
          <a:ln w="17640" cap="flat">
            <a:solidFill>
              <a:srgbClr val="3F7D2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" name="Line 228">
            <a:extLst>
              <a:ext uri="{FF2B5EF4-FFF2-40B4-BE49-F238E27FC236}">
                <a16:creationId xmlns:a16="http://schemas.microsoft.com/office/drawing/2014/main" id="{5C3327ED-36D1-A240-7672-FE5FE086FA6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73999" y="3560763"/>
            <a:ext cx="1588" cy="612775"/>
          </a:xfrm>
          <a:prstGeom prst="line">
            <a:avLst/>
          </a:prstGeom>
          <a:noFill/>
          <a:ln w="17640" cap="flat">
            <a:solidFill>
              <a:srgbClr val="3F7D2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" name="Line 229">
            <a:extLst>
              <a:ext uri="{FF2B5EF4-FFF2-40B4-BE49-F238E27FC236}">
                <a16:creationId xmlns:a16="http://schemas.microsoft.com/office/drawing/2014/main" id="{8A0F02EA-089D-6AA0-9959-DE975F54047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21562" y="3560763"/>
            <a:ext cx="442912" cy="612775"/>
          </a:xfrm>
          <a:prstGeom prst="line">
            <a:avLst/>
          </a:prstGeom>
          <a:noFill/>
          <a:ln w="17640" cap="flat">
            <a:solidFill>
              <a:srgbClr val="3F7D2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7" name="Line 233">
            <a:extLst>
              <a:ext uri="{FF2B5EF4-FFF2-40B4-BE49-F238E27FC236}">
                <a16:creationId xmlns:a16="http://schemas.microsoft.com/office/drawing/2014/main" id="{6458C31D-EEB6-F5E5-45F4-3AB7F6FBA94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99288" y="2870994"/>
            <a:ext cx="1588" cy="612775"/>
          </a:xfrm>
          <a:prstGeom prst="line">
            <a:avLst/>
          </a:prstGeom>
          <a:noFill/>
          <a:ln w="17640" cap="flat">
            <a:solidFill>
              <a:srgbClr val="3F7D2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9" name="Line 234">
            <a:extLst>
              <a:ext uri="{FF2B5EF4-FFF2-40B4-BE49-F238E27FC236}">
                <a16:creationId xmlns:a16="http://schemas.microsoft.com/office/drawing/2014/main" id="{43CEF855-234D-65F7-22B2-9810EBCAD26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4413" y="2870994"/>
            <a:ext cx="893763" cy="612775"/>
          </a:xfrm>
          <a:prstGeom prst="line">
            <a:avLst/>
          </a:prstGeom>
          <a:noFill/>
          <a:ln w="17640" cap="flat">
            <a:solidFill>
              <a:srgbClr val="3F7D2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" name="Line 228">
            <a:extLst>
              <a:ext uri="{FF2B5EF4-FFF2-40B4-BE49-F238E27FC236}">
                <a16:creationId xmlns:a16="http://schemas.microsoft.com/office/drawing/2014/main" id="{272FB5D9-D9F2-5859-BE31-146B1F6421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73774" y="3573265"/>
            <a:ext cx="1588" cy="612775"/>
          </a:xfrm>
          <a:prstGeom prst="line">
            <a:avLst/>
          </a:prstGeom>
          <a:noFill/>
          <a:ln w="17640" cap="flat">
            <a:solidFill>
              <a:srgbClr val="3F7D2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" name="Line 229">
            <a:extLst>
              <a:ext uri="{FF2B5EF4-FFF2-40B4-BE49-F238E27FC236}">
                <a16:creationId xmlns:a16="http://schemas.microsoft.com/office/drawing/2014/main" id="{DB7AAF84-F4E9-814C-9F5A-94272FA3751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21337" y="3573265"/>
            <a:ext cx="442912" cy="612775"/>
          </a:xfrm>
          <a:prstGeom prst="line">
            <a:avLst/>
          </a:prstGeom>
          <a:noFill/>
          <a:ln w="17640" cap="flat">
            <a:solidFill>
              <a:srgbClr val="3F7D2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" name="Line 223">
            <a:extLst>
              <a:ext uri="{FF2B5EF4-FFF2-40B4-BE49-F238E27FC236}">
                <a16:creationId xmlns:a16="http://schemas.microsoft.com/office/drawing/2014/main" id="{34CF702B-4B40-1F97-E0F5-761C5FC802A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20769" y="4238625"/>
            <a:ext cx="1588" cy="612775"/>
          </a:xfrm>
          <a:prstGeom prst="line">
            <a:avLst/>
          </a:prstGeom>
          <a:noFill/>
          <a:ln w="17640" cap="flat">
            <a:solidFill>
              <a:srgbClr val="3F7D2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" name="Line 224">
            <a:extLst>
              <a:ext uri="{FF2B5EF4-FFF2-40B4-BE49-F238E27FC236}">
                <a16:creationId xmlns:a16="http://schemas.microsoft.com/office/drawing/2014/main" id="{BADAA11E-BE23-C63E-1083-301A4BA3B8B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93757" y="4238625"/>
            <a:ext cx="217487" cy="612775"/>
          </a:xfrm>
          <a:prstGeom prst="line">
            <a:avLst/>
          </a:prstGeom>
          <a:noFill/>
          <a:ln w="17640" cap="flat">
            <a:solidFill>
              <a:srgbClr val="3F7D2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7" name="Line 223">
            <a:extLst>
              <a:ext uri="{FF2B5EF4-FFF2-40B4-BE49-F238E27FC236}">
                <a16:creationId xmlns:a16="http://schemas.microsoft.com/office/drawing/2014/main" id="{09E04212-66F7-7074-ED42-0587348F6ED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57850" y="4257675"/>
            <a:ext cx="1588" cy="612775"/>
          </a:xfrm>
          <a:prstGeom prst="line">
            <a:avLst/>
          </a:prstGeom>
          <a:noFill/>
          <a:ln w="17640" cap="flat">
            <a:solidFill>
              <a:srgbClr val="3F7D2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9" name="Line 224">
            <a:extLst>
              <a:ext uri="{FF2B5EF4-FFF2-40B4-BE49-F238E27FC236}">
                <a16:creationId xmlns:a16="http://schemas.microsoft.com/office/drawing/2014/main" id="{E89B32C8-DD82-AC67-5380-0A14285E055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30838" y="4257675"/>
            <a:ext cx="217487" cy="612775"/>
          </a:xfrm>
          <a:prstGeom prst="line">
            <a:avLst/>
          </a:prstGeom>
          <a:noFill/>
          <a:ln w="17640" cap="flat">
            <a:solidFill>
              <a:srgbClr val="3F7D2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1" name="Line 238">
            <a:extLst>
              <a:ext uri="{FF2B5EF4-FFF2-40B4-BE49-F238E27FC236}">
                <a16:creationId xmlns:a16="http://schemas.microsoft.com/office/drawing/2014/main" id="{72C497E9-5A5C-9F82-F414-95D67A88E53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97475" y="2153443"/>
            <a:ext cx="1588" cy="612775"/>
          </a:xfrm>
          <a:prstGeom prst="line">
            <a:avLst/>
          </a:prstGeom>
          <a:noFill/>
          <a:ln w="17640" cap="flat">
            <a:solidFill>
              <a:srgbClr val="3F7D2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3" name="Line 239">
            <a:extLst>
              <a:ext uri="{FF2B5EF4-FFF2-40B4-BE49-F238E27FC236}">
                <a16:creationId xmlns:a16="http://schemas.microsoft.com/office/drawing/2014/main" id="{D5067A67-2406-8C8C-11C2-B34DB16B357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89313" y="2153443"/>
            <a:ext cx="1797050" cy="612775"/>
          </a:xfrm>
          <a:prstGeom prst="line">
            <a:avLst/>
          </a:prstGeom>
          <a:noFill/>
          <a:ln w="17640" cap="flat">
            <a:solidFill>
              <a:srgbClr val="3F7D2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5" name="Line 233">
            <a:extLst>
              <a:ext uri="{FF2B5EF4-FFF2-40B4-BE49-F238E27FC236}">
                <a16:creationId xmlns:a16="http://schemas.microsoft.com/office/drawing/2014/main" id="{A359FEF2-C510-203A-0010-B825BBB5390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38513" y="2897635"/>
            <a:ext cx="1588" cy="612775"/>
          </a:xfrm>
          <a:prstGeom prst="line">
            <a:avLst/>
          </a:prstGeom>
          <a:noFill/>
          <a:ln w="17640" cap="flat">
            <a:solidFill>
              <a:srgbClr val="3F7D2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7" name="Line 234">
            <a:extLst>
              <a:ext uri="{FF2B5EF4-FFF2-40B4-BE49-F238E27FC236}">
                <a16:creationId xmlns:a16="http://schemas.microsoft.com/office/drawing/2014/main" id="{63F87310-5FBE-482F-245D-08252588F3D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33638" y="2897635"/>
            <a:ext cx="893763" cy="612775"/>
          </a:xfrm>
          <a:prstGeom prst="line">
            <a:avLst/>
          </a:prstGeom>
          <a:noFill/>
          <a:ln w="17640" cap="flat">
            <a:solidFill>
              <a:srgbClr val="3F7D2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9" name="Line 228">
            <a:extLst>
              <a:ext uri="{FF2B5EF4-FFF2-40B4-BE49-F238E27FC236}">
                <a16:creationId xmlns:a16="http://schemas.microsoft.com/office/drawing/2014/main" id="{1A86E622-04AC-165E-2166-CD86A8DF814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54274" y="3564756"/>
            <a:ext cx="1588" cy="612775"/>
          </a:xfrm>
          <a:prstGeom prst="line">
            <a:avLst/>
          </a:prstGeom>
          <a:noFill/>
          <a:ln w="17640" cap="flat">
            <a:solidFill>
              <a:srgbClr val="3F7D2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1" name="Line 229">
            <a:extLst>
              <a:ext uri="{FF2B5EF4-FFF2-40B4-BE49-F238E27FC236}">
                <a16:creationId xmlns:a16="http://schemas.microsoft.com/office/drawing/2014/main" id="{F18446D3-4BF4-F88B-61FB-7CA5412A043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01837" y="3564756"/>
            <a:ext cx="442912" cy="612775"/>
          </a:xfrm>
          <a:prstGeom prst="line">
            <a:avLst/>
          </a:prstGeom>
          <a:noFill/>
          <a:ln w="17640" cap="flat">
            <a:solidFill>
              <a:srgbClr val="3F7D2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3" name="Line 223">
            <a:extLst>
              <a:ext uri="{FF2B5EF4-FFF2-40B4-BE49-F238E27FC236}">
                <a16:creationId xmlns:a16="http://schemas.microsoft.com/office/drawing/2014/main" id="{0DFE6D42-CC7C-4B96-9A28-5AEF6E96F06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28825" y="4238625"/>
            <a:ext cx="1588" cy="612775"/>
          </a:xfrm>
          <a:prstGeom prst="line">
            <a:avLst/>
          </a:prstGeom>
          <a:noFill/>
          <a:ln w="17640" cap="flat">
            <a:solidFill>
              <a:srgbClr val="3F7D2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353" name="Line 224">
            <a:extLst>
              <a:ext uri="{FF2B5EF4-FFF2-40B4-BE49-F238E27FC236}">
                <a16:creationId xmlns:a16="http://schemas.microsoft.com/office/drawing/2014/main" id="{602A2DAC-BC1B-9C92-018B-E35169866AA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01813" y="4238625"/>
            <a:ext cx="217487" cy="612775"/>
          </a:xfrm>
          <a:prstGeom prst="line">
            <a:avLst/>
          </a:prstGeom>
          <a:noFill/>
          <a:ln w="17640" cap="flat">
            <a:solidFill>
              <a:srgbClr val="3F7D2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355" name="Line 223">
            <a:extLst>
              <a:ext uri="{FF2B5EF4-FFF2-40B4-BE49-F238E27FC236}">
                <a16:creationId xmlns:a16="http://schemas.microsoft.com/office/drawing/2014/main" id="{40C05376-31C0-F6C6-19C3-0A575EFC62D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74000" y="4194969"/>
            <a:ext cx="1588" cy="612775"/>
          </a:xfrm>
          <a:prstGeom prst="line">
            <a:avLst/>
          </a:prstGeom>
          <a:noFill/>
          <a:ln w="17640" cap="flat">
            <a:solidFill>
              <a:srgbClr val="3F7D2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357" name="Line 224">
            <a:extLst>
              <a:ext uri="{FF2B5EF4-FFF2-40B4-BE49-F238E27FC236}">
                <a16:creationId xmlns:a16="http://schemas.microsoft.com/office/drawing/2014/main" id="{CF084075-F20B-E64E-5E97-C1742BAA06E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46988" y="4194969"/>
            <a:ext cx="217487" cy="612775"/>
          </a:xfrm>
          <a:prstGeom prst="line">
            <a:avLst/>
          </a:prstGeom>
          <a:noFill/>
          <a:ln w="17640" cap="flat">
            <a:solidFill>
              <a:srgbClr val="3F7D2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5C5ACFA-4820-19EE-99E3-E49BB45D3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WaveNet</a:t>
            </a:r>
            <a:r>
              <a:rPr lang="en-GB" dirty="0"/>
              <a:t> is causal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04E48C9-8D34-F4E1-DA8F-7CEF2389AC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8"/>
            <a:ext cx="5123836" cy="4481511"/>
          </a:xfrm>
        </p:spPr>
        <p:txBody>
          <a:bodyPr>
            <a:normAutofit/>
          </a:bodyPr>
          <a:lstStyle/>
          <a:p>
            <a:r>
              <a:rPr lang="en-GB" dirty="0"/>
              <a:t>For an output at time t, </a:t>
            </a:r>
            <a:r>
              <a:rPr lang="en-GB" dirty="0" err="1"/>
              <a:t>WaveNet</a:t>
            </a:r>
            <a:r>
              <a:rPr lang="en-GB" dirty="0"/>
              <a:t> uses only information from the present and past.</a:t>
            </a:r>
          </a:p>
          <a:p>
            <a:r>
              <a:rPr lang="en-GB" dirty="0"/>
              <a:t>Conceptually:</a:t>
            </a:r>
          </a:p>
          <a:p>
            <a:r>
              <a:rPr lang="en-GB" dirty="0"/>
              <a:t>past                              now</a:t>
            </a:r>
          </a:p>
          <a:p>
            <a:r>
              <a:rPr lang="en-GB" dirty="0"/>
              <a:t>x[t−R+1] ... x[t−2] x[t−1] x[t]</a:t>
            </a:r>
          </a:p>
          <a:p>
            <a:r>
              <a:rPr lang="en-GB" dirty="0"/>
              <a:t>        └──── receptive field ────┘</a:t>
            </a:r>
          </a:p>
          <a:p>
            <a:r>
              <a:rPr lang="en-GB" dirty="0"/>
              <a:t>                         ↓</a:t>
            </a:r>
          </a:p>
          <a:p>
            <a:r>
              <a:rPr lang="en-GB" dirty="0"/>
              <a:t>                     output[t]</a:t>
            </a:r>
          </a:p>
          <a:p>
            <a:r>
              <a:rPr lang="en-GB" dirty="0"/>
              <a:t>No future observation:</a:t>
            </a:r>
          </a:p>
          <a:p>
            <a:r>
              <a:rPr lang="en-GB" dirty="0"/>
              <a:t>x[t+1], x[t+2], ...</a:t>
            </a:r>
          </a:p>
          <a:p>
            <a:r>
              <a:rPr lang="en-GB" dirty="0"/>
              <a:t>is used.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42B7E63-241E-1DBD-467E-3EF9E3381A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01170" y="2174878"/>
            <a:ext cx="6225730" cy="4354511"/>
          </a:xfrm>
        </p:spPr>
        <p:txBody>
          <a:bodyPr>
            <a:normAutofit/>
          </a:bodyPr>
          <a:lstStyle/>
          <a:p>
            <a:r>
              <a:rPr lang="en-GB" b="1" dirty="0"/>
              <a:t>Why this was important</a:t>
            </a:r>
          </a:p>
          <a:p>
            <a:r>
              <a:rPr lang="en-GB" dirty="0"/>
              <a:t>For sequential generation, the next value must be produced without seeing future outputs.</a:t>
            </a:r>
          </a:p>
          <a:p>
            <a:r>
              <a:rPr lang="en-GB" dirty="0"/>
              <a:t>The same principle is useful for:</a:t>
            </a:r>
          </a:p>
          <a:p>
            <a:pPr lvl="1"/>
            <a:r>
              <a:rPr lang="en-GB" dirty="0"/>
              <a:t>forecasting; </a:t>
            </a:r>
          </a:p>
          <a:p>
            <a:pPr lvl="1"/>
            <a:r>
              <a:rPr lang="en-GB" dirty="0">
                <a:solidFill>
                  <a:schemeClr val="tx1"/>
                </a:solidFill>
              </a:rPr>
              <a:t>online monitoring; </a:t>
            </a:r>
          </a:p>
          <a:p>
            <a:pPr lvl="1"/>
            <a:r>
              <a:rPr lang="en-GB" dirty="0">
                <a:solidFill>
                  <a:schemeClr val="tx1"/>
                </a:solidFill>
              </a:rPr>
              <a:t>streaming sequence modelling. </a:t>
            </a:r>
          </a:p>
          <a:p>
            <a:endParaRPr lang="en-GB" b="1" dirty="0"/>
          </a:p>
          <a:p>
            <a:r>
              <a:rPr lang="en-GB" b="1" dirty="0"/>
              <a:t>Important distinction</a:t>
            </a:r>
          </a:p>
          <a:p>
            <a:r>
              <a:rPr lang="en-GB" dirty="0"/>
              <a:t>Causality comes from the convolutional connectivity.</a:t>
            </a:r>
          </a:p>
          <a:p>
            <a:r>
              <a:rPr lang="en-GB" dirty="0"/>
              <a:t>Dilation only increases the spacing and receptive field.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95196963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 0"/>
          <p:cNvSpPr/>
          <p:nvPr/>
        </p:nvSpPr>
        <p:spPr>
          <a:xfrm>
            <a:off x="502920" y="320040"/>
            <a:ext cx="98751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 dirty="0" err="1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WaveNet</a:t>
            </a:r>
            <a:r>
              <a:rPr lang="en-US" sz="3000" b="1" u="none" strike="noStrike" dirty="0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 </a:t>
            </a:r>
            <a:r>
              <a:rPr lang="en-US" sz="3000" b="1" dirty="0">
                <a:solidFill>
                  <a:srgbClr val="0F172A"/>
                </a:solidFill>
                <a:latin typeface="Aptos Display"/>
                <a:ea typeface="Aptos Display"/>
              </a:rPr>
              <a:t>i</a:t>
            </a:r>
            <a:r>
              <a:rPr lang="en-US" sz="3000" b="1" u="none" strike="noStrike" dirty="0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s causal</a:t>
            </a:r>
            <a:endParaRPr lang="it-IT" sz="3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"/>
          <p:cNvSpPr/>
          <p:nvPr/>
        </p:nvSpPr>
        <p:spPr>
          <a:xfrm>
            <a:off x="530280" y="804600"/>
            <a:ext cx="95094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The receptive field extends only into the past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2"/>
          <p:cNvSpPr/>
          <p:nvPr/>
        </p:nvSpPr>
        <p:spPr>
          <a:xfrm>
            <a:off x="1005840" y="2743200"/>
            <a:ext cx="8961120" cy="360"/>
          </a:xfrm>
          <a:prstGeom prst="line">
            <a:avLst/>
          </a:prstGeom>
          <a:ln w="2540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3"/>
          <p:cNvSpPr/>
          <p:nvPr/>
        </p:nvSpPr>
        <p:spPr>
          <a:xfrm>
            <a:off x="969120" y="270648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4"/>
          <p:cNvSpPr/>
          <p:nvPr/>
        </p:nvSpPr>
        <p:spPr>
          <a:xfrm>
            <a:off x="822960" y="285300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t-16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5"/>
          <p:cNvSpPr/>
          <p:nvPr/>
        </p:nvSpPr>
        <p:spPr>
          <a:xfrm>
            <a:off x="1529280" y="270648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6"/>
          <p:cNvSpPr/>
          <p:nvPr/>
        </p:nvSpPr>
        <p:spPr>
          <a:xfrm>
            <a:off x="1383120" y="285300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t-15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7"/>
          <p:cNvSpPr/>
          <p:nvPr/>
        </p:nvSpPr>
        <p:spPr>
          <a:xfrm>
            <a:off x="2089440" y="270648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8"/>
          <p:cNvSpPr/>
          <p:nvPr/>
        </p:nvSpPr>
        <p:spPr>
          <a:xfrm>
            <a:off x="1943280" y="285300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t-14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9"/>
          <p:cNvSpPr/>
          <p:nvPr/>
        </p:nvSpPr>
        <p:spPr>
          <a:xfrm>
            <a:off x="2649600" y="270648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0"/>
          <p:cNvSpPr/>
          <p:nvPr/>
        </p:nvSpPr>
        <p:spPr>
          <a:xfrm>
            <a:off x="2503080" y="285300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t-13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11"/>
          <p:cNvSpPr/>
          <p:nvPr/>
        </p:nvSpPr>
        <p:spPr>
          <a:xfrm>
            <a:off x="3209400" y="270648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12"/>
          <p:cNvSpPr/>
          <p:nvPr/>
        </p:nvSpPr>
        <p:spPr>
          <a:xfrm>
            <a:off x="3063240" y="285300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t-12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13"/>
          <p:cNvSpPr/>
          <p:nvPr/>
        </p:nvSpPr>
        <p:spPr>
          <a:xfrm>
            <a:off x="3769560" y="270648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4"/>
          <p:cNvSpPr/>
          <p:nvPr/>
        </p:nvSpPr>
        <p:spPr>
          <a:xfrm>
            <a:off x="3623400" y="285300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t-11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15"/>
          <p:cNvSpPr/>
          <p:nvPr/>
        </p:nvSpPr>
        <p:spPr>
          <a:xfrm>
            <a:off x="4329720" y="270648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6"/>
          <p:cNvSpPr/>
          <p:nvPr/>
        </p:nvSpPr>
        <p:spPr>
          <a:xfrm>
            <a:off x="4183560" y="285300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t-10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17"/>
          <p:cNvSpPr/>
          <p:nvPr/>
        </p:nvSpPr>
        <p:spPr>
          <a:xfrm>
            <a:off x="4889880" y="270648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8"/>
          <p:cNvSpPr/>
          <p:nvPr/>
        </p:nvSpPr>
        <p:spPr>
          <a:xfrm>
            <a:off x="4743360" y="285300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t-9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19"/>
          <p:cNvSpPr/>
          <p:nvPr/>
        </p:nvSpPr>
        <p:spPr>
          <a:xfrm>
            <a:off x="5449680" y="270648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20"/>
          <p:cNvSpPr/>
          <p:nvPr/>
        </p:nvSpPr>
        <p:spPr>
          <a:xfrm>
            <a:off x="5303520" y="285300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t-8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21"/>
          <p:cNvSpPr/>
          <p:nvPr/>
        </p:nvSpPr>
        <p:spPr>
          <a:xfrm>
            <a:off x="6009840" y="270648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22"/>
          <p:cNvSpPr/>
          <p:nvPr/>
        </p:nvSpPr>
        <p:spPr>
          <a:xfrm>
            <a:off x="5863680" y="285300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t-7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23"/>
          <p:cNvSpPr/>
          <p:nvPr/>
        </p:nvSpPr>
        <p:spPr>
          <a:xfrm>
            <a:off x="6570000" y="270648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24"/>
          <p:cNvSpPr/>
          <p:nvPr/>
        </p:nvSpPr>
        <p:spPr>
          <a:xfrm>
            <a:off x="6423840" y="285300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t-6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25"/>
          <p:cNvSpPr/>
          <p:nvPr/>
        </p:nvSpPr>
        <p:spPr>
          <a:xfrm>
            <a:off x="7130160" y="270648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26"/>
          <p:cNvSpPr/>
          <p:nvPr/>
        </p:nvSpPr>
        <p:spPr>
          <a:xfrm>
            <a:off x="6983640" y="285300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t-5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27"/>
          <p:cNvSpPr/>
          <p:nvPr/>
        </p:nvSpPr>
        <p:spPr>
          <a:xfrm>
            <a:off x="7689960" y="270648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28"/>
          <p:cNvSpPr/>
          <p:nvPr/>
        </p:nvSpPr>
        <p:spPr>
          <a:xfrm>
            <a:off x="7543800" y="285300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t-4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29"/>
          <p:cNvSpPr/>
          <p:nvPr/>
        </p:nvSpPr>
        <p:spPr>
          <a:xfrm>
            <a:off x="8250120" y="270648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30"/>
          <p:cNvSpPr/>
          <p:nvPr/>
        </p:nvSpPr>
        <p:spPr>
          <a:xfrm>
            <a:off x="8103960" y="285300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t-3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31"/>
          <p:cNvSpPr/>
          <p:nvPr/>
        </p:nvSpPr>
        <p:spPr>
          <a:xfrm>
            <a:off x="8810280" y="270648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32"/>
          <p:cNvSpPr/>
          <p:nvPr/>
        </p:nvSpPr>
        <p:spPr>
          <a:xfrm>
            <a:off x="8664120" y="285300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t-2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33"/>
          <p:cNvSpPr/>
          <p:nvPr/>
        </p:nvSpPr>
        <p:spPr>
          <a:xfrm>
            <a:off x="9370440" y="270648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34"/>
          <p:cNvSpPr/>
          <p:nvPr/>
        </p:nvSpPr>
        <p:spPr>
          <a:xfrm>
            <a:off x="9223920" y="285300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t-1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35"/>
          <p:cNvSpPr/>
          <p:nvPr/>
        </p:nvSpPr>
        <p:spPr>
          <a:xfrm>
            <a:off x="9930240" y="270648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36"/>
          <p:cNvSpPr/>
          <p:nvPr/>
        </p:nvSpPr>
        <p:spPr>
          <a:xfrm>
            <a:off x="9784080" y="285300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t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37"/>
          <p:cNvSpPr/>
          <p:nvPr/>
        </p:nvSpPr>
        <p:spPr>
          <a:xfrm>
            <a:off x="2103120" y="2240280"/>
            <a:ext cx="7818120" cy="360"/>
          </a:xfrm>
          <a:prstGeom prst="line">
            <a:avLst/>
          </a:prstGeom>
          <a:ln w="25400">
            <a:solidFill>
              <a:srgbClr val="86B8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38"/>
          <p:cNvSpPr/>
          <p:nvPr/>
        </p:nvSpPr>
        <p:spPr>
          <a:xfrm>
            <a:off x="2103120" y="2240280"/>
            <a:ext cx="360" cy="274320"/>
          </a:xfrm>
          <a:prstGeom prst="line">
            <a:avLst/>
          </a:prstGeom>
          <a:ln w="25400">
            <a:solidFill>
              <a:srgbClr val="86B8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39"/>
          <p:cNvSpPr/>
          <p:nvPr/>
        </p:nvSpPr>
        <p:spPr>
          <a:xfrm>
            <a:off x="9921240" y="2240280"/>
            <a:ext cx="360" cy="274320"/>
          </a:xfrm>
          <a:prstGeom prst="line">
            <a:avLst/>
          </a:prstGeom>
          <a:ln w="25400">
            <a:solidFill>
              <a:srgbClr val="86B8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40"/>
          <p:cNvSpPr/>
          <p:nvPr/>
        </p:nvSpPr>
        <p:spPr>
          <a:xfrm>
            <a:off x="3931920" y="187452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86B817"/>
                </a:solidFill>
                <a:effectLst/>
                <a:uFillTx/>
                <a:latin typeface="Aptos"/>
                <a:ea typeface="Aptos"/>
              </a:rPr>
              <a:t>causal receptive field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41"/>
          <p:cNvSpPr/>
          <p:nvPr/>
        </p:nvSpPr>
        <p:spPr>
          <a:xfrm>
            <a:off x="9966960" y="2103120"/>
            <a:ext cx="360" cy="1280160"/>
          </a:xfrm>
          <a:prstGeom prst="line">
            <a:avLst/>
          </a:prstGeom>
          <a:ln w="2540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42"/>
          <p:cNvSpPr/>
          <p:nvPr/>
        </p:nvSpPr>
        <p:spPr>
          <a:xfrm>
            <a:off x="9692640" y="347472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C2626"/>
                </a:solidFill>
                <a:effectLst/>
                <a:uFillTx/>
                <a:latin typeface="Aptos"/>
                <a:ea typeface="Aptos"/>
              </a:rPr>
              <a:t>now: t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43"/>
          <p:cNvSpPr/>
          <p:nvPr/>
        </p:nvSpPr>
        <p:spPr>
          <a:xfrm>
            <a:off x="2011680" y="146304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past observations are allowed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44"/>
          <p:cNvSpPr/>
          <p:nvPr/>
        </p:nvSpPr>
        <p:spPr>
          <a:xfrm>
            <a:off x="6583680" y="146304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future observations are not used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45"/>
          <p:cNvSpPr/>
          <p:nvPr/>
        </p:nvSpPr>
        <p:spPr>
          <a:xfrm>
            <a:off x="8778240" y="4114800"/>
            <a:ext cx="1188360" cy="502560"/>
          </a:xfrm>
          <a:prstGeom prst="roundRect">
            <a:avLst>
              <a:gd name="adj" fmla="val 14545"/>
            </a:avLst>
          </a:prstGeom>
          <a:solidFill>
            <a:srgbClr val="FEE2E2"/>
          </a:solidFill>
          <a:ln w="1397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46"/>
          <p:cNvSpPr/>
          <p:nvPr/>
        </p:nvSpPr>
        <p:spPr>
          <a:xfrm>
            <a:off x="8823960" y="4151520"/>
            <a:ext cx="109692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output[t]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47"/>
          <p:cNvSpPr/>
          <p:nvPr/>
        </p:nvSpPr>
        <p:spPr>
          <a:xfrm>
            <a:off x="7772400" y="3154680"/>
            <a:ext cx="1600200" cy="914400"/>
          </a:xfrm>
          <a:prstGeom prst="line">
            <a:avLst/>
          </a:prstGeom>
          <a:ln w="16510">
            <a:solidFill>
              <a:srgbClr val="86B817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PlaceHolder 1"/>
          <p:cNvSpPr>
            <a:spLocks noGrp="1"/>
          </p:cNvSpPr>
          <p:nvPr>
            <p:ph type="sldNum" idx="7"/>
          </p:nvPr>
        </p:nvSpPr>
        <p:spPr>
          <a:xfrm>
            <a:off x="1065276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rgbClr val="64748B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30394B0-5435-4EF0-B739-13B9CD1AD848}" type="slidenum"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205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AAEF400-07A0-7F83-45EA-8F35BEAA0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Residual and skip connections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5E91759-6941-7E93-BFBF-C2CC968229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15900" y="1768495"/>
            <a:ext cx="5156200" cy="4826220"/>
          </a:xfrm>
        </p:spPr>
        <p:txBody>
          <a:bodyPr>
            <a:normAutofit fontScale="85000" lnSpcReduction="10000"/>
          </a:bodyPr>
          <a:lstStyle/>
          <a:p>
            <a:endParaRPr lang="en-GB" dirty="0"/>
          </a:p>
          <a:p>
            <a:r>
              <a:rPr lang="en-GB" b="1" dirty="0"/>
              <a:t>Residual connection</a:t>
            </a:r>
          </a:p>
          <a:p>
            <a:r>
              <a:rPr lang="en-GB" dirty="0"/>
              <a:t>Helps propagate information through a deep stack.</a:t>
            </a:r>
          </a:p>
          <a:p>
            <a:r>
              <a:rPr lang="en-GB" dirty="0"/>
              <a:t>Conceptually:</a:t>
            </a:r>
          </a:p>
          <a:p>
            <a:r>
              <a:rPr lang="en-GB" dirty="0"/>
              <a:t>block input ───────────────┐</a:t>
            </a:r>
          </a:p>
          <a:p>
            <a:r>
              <a:rPr lang="en-GB" dirty="0"/>
              <a:t>     ↓                                              │</a:t>
            </a:r>
          </a:p>
          <a:p>
            <a:r>
              <a:rPr lang="en-GB" dirty="0"/>
              <a:t>dilated transformation                   │</a:t>
            </a:r>
          </a:p>
          <a:p>
            <a:r>
              <a:rPr lang="en-GB" dirty="0"/>
              <a:t>     ↓                                              │</a:t>
            </a:r>
          </a:p>
          <a:p>
            <a:r>
              <a:rPr lang="en-GB" dirty="0"/>
              <a:t>     └───────────── +</a:t>
            </a:r>
          </a:p>
          <a:p>
            <a:r>
              <a:rPr lang="en-GB" dirty="0"/>
              <a:t>                                          ←───┘</a:t>
            </a:r>
          </a:p>
          <a:p>
            <a:r>
              <a:rPr lang="en-GB" dirty="0"/>
              <a:t>                                        ↓</a:t>
            </a:r>
          </a:p>
          <a:p>
            <a:r>
              <a:rPr lang="en-GB" dirty="0"/>
              <a:t>                                next block</a:t>
            </a:r>
          </a:p>
          <a:p>
            <a:endParaRPr lang="en-GB" dirty="0"/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8CA2C66D-168C-DAB1-1444-8297A313C5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91670" y="2067611"/>
            <a:ext cx="4184034" cy="3880773"/>
          </a:xfrm>
        </p:spPr>
        <p:txBody>
          <a:bodyPr>
            <a:normAutofit fontScale="85000" lnSpcReduction="10000"/>
          </a:bodyPr>
          <a:lstStyle/>
          <a:p>
            <a:r>
              <a:rPr lang="en-GB" b="1" dirty="0"/>
              <a:t>Skip connection (see next slide picture)</a:t>
            </a:r>
          </a:p>
          <a:p>
            <a:r>
              <a:rPr lang="en-GB" dirty="0"/>
              <a:t>Sends information from several intermediate blocks directly toward the final output.</a:t>
            </a:r>
          </a:p>
          <a:p>
            <a:r>
              <a:rPr lang="en-GB" dirty="0"/>
              <a:t>Conceptually:</a:t>
            </a:r>
          </a:p>
          <a:p>
            <a:r>
              <a:rPr lang="en-GB" dirty="0"/>
              <a:t>Block 1 ───→</a:t>
            </a:r>
          </a:p>
          <a:p>
            <a:r>
              <a:rPr lang="en-GB" dirty="0"/>
              <a:t>Block 2 ───→</a:t>
            </a:r>
          </a:p>
          <a:p>
            <a:r>
              <a:rPr lang="en-GB" dirty="0"/>
              <a:t>Block 3 ───→ combine → output</a:t>
            </a:r>
          </a:p>
          <a:p>
            <a:r>
              <a:rPr lang="en-GB" dirty="0"/>
              <a:t>Block 4 ───→</a:t>
            </a:r>
          </a:p>
          <a:p>
            <a:r>
              <a:rPr lang="en-GB" b="1" dirty="0"/>
              <a:t>Purpose</a:t>
            </a:r>
          </a:p>
          <a:p>
            <a:r>
              <a:rPr lang="en-GB" b="1" dirty="0"/>
              <a:t>Skip connections allow features learned at several temporal scales to contribute directly to prediction.</a:t>
            </a:r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C400ECA2-FEBF-06A0-F04C-E708A4CCB9D3}"/>
              </a:ext>
            </a:extLst>
          </p:cNvPr>
          <p:cNvSpPr txBox="1"/>
          <p:nvPr/>
        </p:nvSpPr>
        <p:spPr>
          <a:xfrm>
            <a:off x="3727450" y="1399163"/>
            <a:ext cx="737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 err="1"/>
              <a:t>WaveNet</a:t>
            </a:r>
            <a:r>
              <a:rPr lang="en-GB" sz="1800" dirty="0"/>
              <a:t> uses both </a:t>
            </a:r>
            <a:r>
              <a:rPr lang="en-GB" sz="1800" b="1" dirty="0"/>
              <a:t>residual connections</a:t>
            </a:r>
            <a:r>
              <a:rPr lang="en-GB" sz="1800" dirty="0"/>
              <a:t> and </a:t>
            </a:r>
            <a:r>
              <a:rPr lang="en-GB" sz="1800" b="1" dirty="0"/>
              <a:t>skip connections</a:t>
            </a:r>
            <a:r>
              <a:rPr lang="en-GB" sz="1800" dirty="0"/>
              <a:t>.</a:t>
            </a:r>
            <a:endParaRPr lang="en-GB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B64607ED-A556-A806-2450-39EF757704E3}"/>
              </a:ext>
            </a:extLst>
          </p:cNvPr>
          <p:cNvSpPr txBox="1"/>
          <p:nvPr/>
        </p:nvSpPr>
        <p:spPr>
          <a:xfrm>
            <a:off x="2457739" y="6071495"/>
            <a:ext cx="74066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dirty="0">
                <a:highlight>
                  <a:srgbClr val="FFFF00"/>
                </a:highlight>
              </a:rPr>
              <a:t>Residual connections support deep optimization; </a:t>
            </a:r>
            <a:br>
              <a:rPr lang="en-GB" sz="1400" b="1" dirty="0">
                <a:highlight>
                  <a:srgbClr val="FFFF00"/>
                </a:highlight>
              </a:rPr>
            </a:br>
            <a:r>
              <a:rPr lang="en-GB" sz="1400" b="1" dirty="0">
                <a:highlight>
                  <a:srgbClr val="FFFF00"/>
                </a:highlight>
              </a:rPr>
              <a:t>skip connections aggregate information from several levels of the temporal hierarchy.</a:t>
            </a:r>
          </a:p>
        </p:txBody>
      </p:sp>
    </p:spTree>
    <p:extLst>
      <p:ext uri="{BB962C8B-B14F-4D97-AF65-F5344CB8AC3E}">
        <p14:creationId xmlns:p14="http://schemas.microsoft.com/office/powerpoint/2010/main" val="2676833424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Text 0"/>
          <p:cNvSpPr/>
          <p:nvPr/>
        </p:nvSpPr>
        <p:spPr>
          <a:xfrm>
            <a:off x="502920" y="320040"/>
            <a:ext cx="98751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Residual and skip connections</a:t>
            </a:r>
            <a:endParaRPr lang="it-IT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"/>
          <p:cNvSpPr/>
          <p:nvPr/>
        </p:nvSpPr>
        <p:spPr>
          <a:xfrm>
            <a:off x="530280" y="804600"/>
            <a:ext cx="95094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Two paths serving different purposes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2"/>
          <p:cNvSpPr/>
          <p:nvPr/>
        </p:nvSpPr>
        <p:spPr>
          <a:xfrm>
            <a:off x="914400" y="1325880"/>
            <a:ext cx="34743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Residual connection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4"/>
          <p:cNvSpPr/>
          <p:nvPr/>
        </p:nvSpPr>
        <p:spPr>
          <a:xfrm>
            <a:off x="960120" y="1865520"/>
            <a:ext cx="11883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block input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5"/>
          <p:cNvSpPr/>
          <p:nvPr/>
        </p:nvSpPr>
        <p:spPr>
          <a:xfrm>
            <a:off x="2834640" y="1691640"/>
            <a:ext cx="1645560" cy="731160"/>
          </a:xfrm>
          <a:prstGeom prst="roundRect">
            <a:avLst>
              <a:gd name="adj" fmla="val 10000"/>
            </a:avLst>
          </a:prstGeom>
          <a:solidFill>
            <a:srgbClr val="ECFCCB"/>
          </a:solidFill>
          <a:ln w="13970">
            <a:solidFill>
              <a:srgbClr val="86B8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6"/>
          <p:cNvSpPr/>
          <p:nvPr/>
        </p:nvSpPr>
        <p:spPr>
          <a:xfrm>
            <a:off x="2880360" y="1728360"/>
            <a:ext cx="155412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92500"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dilated</a:t>
            </a:r>
            <a:endParaRPr lang="it-IT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Transformation block</a:t>
            </a:r>
            <a:endParaRPr lang="it-IT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7"/>
          <p:cNvSpPr/>
          <p:nvPr/>
        </p:nvSpPr>
        <p:spPr>
          <a:xfrm>
            <a:off x="5120640" y="1874520"/>
            <a:ext cx="411120" cy="41112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397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8"/>
          <p:cNvSpPr/>
          <p:nvPr/>
        </p:nvSpPr>
        <p:spPr>
          <a:xfrm>
            <a:off x="5166360" y="1911240"/>
            <a:ext cx="31968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+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10"/>
          <p:cNvSpPr/>
          <p:nvPr/>
        </p:nvSpPr>
        <p:spPr>
          <a:xfrm>
            <a:off x="5989320" y="1865520"/>
            <a:ext cx="10969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next block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11"/>
          <p:cNvSpPr/>
          <p:nvPr/>
        </p:nvSpPr>
        <p:spPr>
          <a:xfrm>
            <a:off x="2194560" y="2057400"/>
            <a:ext cx="640080" cy="360"/>
          </a:xfrm>
          <a:prstGeom prst="line">
            <a:avLst/>
          </a:prstGeom>
          <a:ln w="19050">
            <a:solidFill>
              <a:srgbClr val="47556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12"/>
          <p:cNvSpPr/>
          <p:nvPr/>
        </p:nvSpPr>
        <p:spPr>
          <a:xfrm>
            <a:off x="4480560" y="2057400"/>
            <a:ext cx="640080" cy="360"/>
          </a:xfrm>
          <a:prstGeom prst="line">
            <a:avLst/>
          </a:prstGeom>
          <a:ln w="19050">
            <a:solidFill>
              <a:srgbClr val="47556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13"/>
          <p:cNvSpPr/>
          <p:nvPr/>
        </p:nvSpPr>
        <p:spPr>
          <a:xfrm>
            <a:off x="5532120" y="2057400"/>
            <a:ext cx="411480" cy="360"/>
          </a:xfrm>
          <a:prstGeom prst="line">
            <a:avLst/>
          </a:prstGeom>
          <a:ln w="19050">
            <a:solidFill>
              <a:srgbClr val="47556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14"/>
          <p:cNvSpPr/>
          <p:nvPr/>
        </p:nvSpPr>
        <p:spPr>
          <a:xfrm>
            <a:off x="2491020" y="2057400"/>
            <a:ext cx="360" cy="914400"/>
          </a:xfrm>
          <a:prstGeom prst="line">
            <a:avLst/>
          </a:prstGeom>
          <a:ln w="1778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15"/>
          <p:cNvSpPr/>
          <p:nvPr/>
        </p:nvSpPr>
        <p:spPr>
          <a:xfrm flipV="1">
            <a:off x="2491020" y="2972160"/>
            <a:ext cx="2830500" cy="17280"/>
          </a:xfrm>
          <a:prstGeom prst="line">
            <a:avLst/>
          </a:prstGeom>
          <a:ln w="1778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16"/>
          <p:cNvSpPr/>
          <p:nvPr/>
        </p:nvSpPr>
        <p:spPr>
          <a:xfrm flipV="1">
            <a:off x="5321520" y="2304000"/>
            <a:ext cx="360" cy="667800"/>
          </a:xfrm>
          <a:prstGeom prst="line">
            <a:avLst/>
          </a:prstGeom>
          <a:ln w="17780">
            <a:solidFill>
              <a:srgbClr val="F59E0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17"/>
          <p:cNvSpPr/>
          <p:nvPr/>
        </p:nvSpPr>
        <p:spPr>
          <a:xfrm>
            <a:off x="1188720" y="3383280"/>
            <a:ext cx="5211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dirty="0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helps deep optimization</a:t>
            </a:r>
            <a:endParaRPr lang="it-IT" sz="13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18"/>
          <p:cNvSpPr/>
          <p:nvPr/>
        </p:nvSpPr>
        <p:spPr>
          <a:xfrm>
            <a:off x="7544160" y="251206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Skip connections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19"/>
          <p:cNvSpPr/>
          <p:nvPr/>
        </p:nvSpPr>
        <p:spPr>
          <a:xfrm>
            <a:off x="7635600" y="2832100"/>
            <a:ext cx="1096920" cy="411120"/>
          </a:xfrm>
          <a:prstGeom prst="roundRect">
            <a:avLst>
              <a:gd name="adj" fmla="val 17778"/>
            </a:avLst>
          </a:prstGeom>
          <a:solidFill>
            <a:srgbClr val="ECFCCB"/>
          </a:solidFill>
          <a:ln w="13970">
            <a:solidFill>
              <a:srgbClr val="86B8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20"/>
          <p:cNvSpPr/>
          <p:nvPr/>
        </p:nvSpPr>
        <p:spPr>
          <a:xfrm>
            <a:off x="7681320" y="2868820"/>
            <a:ext cx="100548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Block 1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21"/>
          <p:cNvSpPr/>
          <p:nvPr/>
        </p:nvSpPr>
        <p:spPr>
          <a:xfrm>
            <a:off x="8732880" y="3037660"/>
            <a:ext cx="1005840" cy="891720"/>
          </a:xfrm>
          <a:prstGeom prst="line">
            <a:avLst/>
          </a:prstGeom>
          <a:ln w="13970">
            <a:solidFill>
              <a:srgbClr val="F59E0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22"/>
          <p:cNvSpPr/>
          <p:nvPr/>
        </p:nvSpPr>
        <p:spPr>
          <a:xfrm>
            <a:off x="7635600" y="3517900"/>
            <a:ext cx="1096920" cy="411120"/>
          </a:xfrm>
          <a:prstGeom prst="roundRect">
            <a:avLst>
              <a:gd name="adj" fmla="val 17778"/>
            </a:avLst>
          </a:prstGeom>
          <a:solidFill>
            <a:srgbClr val="ECFCCB"/>
          </a:solidFill>
          <a:ln w="13970">
            <a:solidFill>
              <a:srgbClr val="86B8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23"/>
          <p:cNvSpPr/>
          <p:nvPr/>
        </p:nvSpPr>
        <p:spPr>
          <a:xfrm>
            <a:off x="7681320" y="3554620"/>
            <a:ext cx="100548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Block 2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24"/>
          <p:cNvSpPr/>
          <p:nvPr/>
        </p:nvSpPr>
        <p:spPr>
          <a:xfrm>
            <a:off x="8732880" y="3723460"/>
            <a:ext cx="1005840" cy="205920"/>
          </a:xfrm>
          <a:prstGeom prst="line">
            <a:avLst/>
          </a:prstGeom>
          <a:ln w="13970">
            <a:solidFill>
              <a:srgbClr val="F59E0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25"/>
          <p:cNvSpPr/>
          <p:nvPr/>
        </p:nvSpPr>
        <p:spPr>
          <a:xfrm>
            <a:off x="7635600" y="4203700"/>
            <a:ext cx="1096920" cy="411120"/>
          </a:xfrm>
          <a:prstGeom prst="roundRect">
            <a:avLst>
              <a:gd name="adj" fmla="val 17778"/>
            </a:avLst>
          </a:prstGeom>
          <a:solidFill>
            <a:srgbClr val="ECFCCB"/>
          </a:solidFill>
          <a:ln w="13970">
            <a:solidFill>
              <a:srgbClr val="86B8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26"/>
          <p:cNvSpPr/>
          <p:nvPr/>
        </p:nvSpPr>
        <p:spPr>
          <a:xfrm>
            <a:off x="7681320" y="4240420"/>
            <a:ext cx="100548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Block 3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27"/>
          <p:cNvSpPr/>
          <p:nvPr/>
        </p:nvSpPr>
        <p:spPr>
          <a:xfrm flipV="1">
            <a:off x="8732880" y="3929380"/>
            <a:ext cx="1005840" cy="479880"/>
          </a:xfrm>
          <a:prstGeom prst="line">
            <a:avLst/>
          </a:prstGeom>
          <a:ln w="13970">
            <a:solidFill>
              <a:srgbClr val="F59E0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28"/>
          <p:cNvSpPr/>
          <p:nvPr/>
        </p:nvSpPr>
        <p:spPr>
          <a:xfrm>
            <a:off x="7635600" y="4889500"/>
            <a:ext cx="1096920" cy="411120"/>
          </a:xfrm>
          <a:prstGeom prst="roundRect">
            <a:avLst>
              <a:gd name="adj" fmla="val 17778"/>
            </a:avLst>
          </a:prstGeom>
          <a:solidFill>
            <a:srgbClr val="ECFCCB"/>
          </a:solidFill>
          <a:ln w="13970">
            <a:solidFill>
              <a:srgbClr val="86B8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29"/>
          <p:cNvSpPr/>
          <p:nvPr/>
        </p:nvSpPr>
        <p:spPr>
          <a:xfrm>
            <a:off x="7681320" y="4926220"/>
            <a:ext cx="100548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Block 4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30"/>
          <p:cNvSpPr/>
          <p:nvPr/>
        </p:nvSpPr>
        <p:spPr>
          <a:xfrm flipV="1">
            <a:off x="8732880" y="3929380"/>
            <a:ext cx="1005840" cy="1165680"/>
          </a:xfrm>
          <a:prstGeom prst="line">
            <a:avLst/>
          </a:prstGeom>
          <a:ln w="13970">
            <a:solidFill>
              <a:srgbClr val="F59E0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31"/>
          <p:cNvSpPr/>
          <p:nvPr/>
        </p:nvSpPr>
        <p:spPr>
          <a:xfrm>
            <a:off x="9784440" y="3609340"/>
            <a:ext cx="1005480" cy="639720"/>
          </a:xfrm>
          <a:prstGeom prst="roundRect">
            <a:avLst>
              <a:gd name="adj" fmla="val 11429"/>
            </a:avLst>
          </a:prstGeom>
          <a:solidFill>
            <a:srgbClr val="FEF3C7"/>
          </a:solidFill>
          <a:ln w="1397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32"/>
          <p:cNvSpPr/>
          <p:nvPr/>
        </p:nvSpPr>
        <p:spPr>
          <a:xfrm>
            <a:off x="9830160" y="3646060"/>
            <a:ext cx="91404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dirty="0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sum</a:t>
            </a:r>
            <a:endParaRPr lang="it-IT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33"/>
          <p:cNvSpPr/>
          <p:nvPr/>
        </p:nvSpPr>
        <p:spPr>
          <a:xfrm>
            <a:off x="9875880" y="4843780"/>
            <a:ext cx="822600" cy="411120"/>
          </a:xfrm>
          <a:prstGeom prst="roundRect">
            <a:avLst>
              <a:gd name="adj" fmla="val 17778"/>
            </a:avLst>
          </a:prstGeom>
          <a:solidFill>
            <a:srgbClr val="DBEAFE"/>
          </a:solidFill>
          <a:ln w="1397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34"/>
          <p:cNvSpPr/>
          <p:nvPr/>
        </p:nvSpPr>
        <p:spPr>
          <a:xfrm>
            <a:off x="9921600" y="4880500"/>
            <a:ext cx="73116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output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35"/>
          <p:cNvSpPr/>
          <p:nvPr/>
        </p:nvSpPr>
        <p:spPr>
          <a:xfrm>
            <a:off x="10287360" y="4249420"/>
            <a:ext cx="360" cy="594360"/>
          </a:xfrm>
          <a:prstGeom prst="line">
            <a:avLst/>
          </a:prstGeom>
          <a:ln w="15240">
            <a:solidFill>
              <a:srgbClr val="47556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36"/>
          <p:cNvSpPr/>
          <p:nvPr/>
        </p:nvSpPr>
        <p:spPr>
          <a:xfrm>
            <a:off x="7498620" y="555262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dirty="0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Combines representations from different receptive-field scales</a:t>
            </a:r>
            <a:endParaRPr lang="it-IT" sz="13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PlaceHolder 1"/>
          <p:cNvSpPr>
            <a:spLocks noGrp="1"/>
          </p:cNvSpPr>
          <p:nvPr>
            <p:ph type="sldNum" idx="8"/>
          </p:nvPr>
        </p:nvSpPr>
        <p:spPr>
          <a:xfrm>
            <a:off x="1065276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rgbClr val="64748B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E2F45BF-C293-43B9-996B-AC35468181BC}" type="slidenum"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207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Shape 13">
            <a:extLst>
              <a:ext uri="{FF2B5EF4-FFF2-40B4-BE49-F238E27FC236}">
                <a16:creationId xmlns:a16="http://schemas.microsoft.com/office/drawing/2014/main" id="{8842D748-0C63-578A-7E52-66D44B08E396}"/>
              </a:ext>
            </a:extLst>
          </p:cNvPr>
          <p:cNvSpPr/>
          <p:nvPr/>
        </p:nvSpPr>
        <p:spPr>
          <a:xfrm>
            <a:off x="8123280" y="2466700"/>
            <a:ext cx="0" cy="411120"/>
          </a:xfrm>
          <a:prstGeom prst="line">
            <a:avLst/>
          </a:prstGeom>
          <a:ln w="19050">
            <a:solidFill>
              <a:srgbClr val="47556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3">
            <a:extLst>
              <a:ext uri="{FF2B5EF4-FFF2-40B4-BE49-F238E27FC236}">
                <a16:creationId xmlns:a16="http://schemas.microsoft.com/office/drawing/2014/main" id="{FFF76868-454D-8071-A934-F585F838E5D3}"/>
              </a:ext>
            </a:extLst>
          </p:cNvPr>
          <p:cNvSpPr/>
          <p:nvPr/>
        </p:nvSpPr>
        <p:spPr>
          <a:xfrm>
            <a:off x="8130900" y="3206860"/>
            <a:ext cx="0" cy="411120"/>
          </a:xfrm>
          <a:prstGeom prst="line">
            <a:avLst/>
          </a:prstGeom>
          <a:ln w="19050">
            <a:solidFill>
              <a:srgbClr val="47556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D3526DE4-D929-5752-210B-978DBA54E1C6}"/>
              </a:ext>
            </a:extLst>
          </p:cNvPr>
          <p:cNvSpPr/>
          <p:nvPr/>
        </p:nvSpPr>
        <p:spPr>
          <a:xfrm>
            <a:off x="8130900" y="3892660"/>
            <a:ext cx="0" cy="411120"/>
          </a:xfrm>
          <a:prstGeom prst="line">
            <a:avLst/>
          </a:prstGeom>
          <a:ln w="19050">
            <a:solidFill>
              <a:srgbClr val="47556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C61B6B2E-5FD5-5733-791B-36492C4C3672}"/>
              </a:ext>
            </a:extLst>
          </p:cNvPr>
          <p:cNvSpPr/>
          <p:nvPr/>
        </p:nvSpPr>
        <p:spPr>
          <a:xfrm>
            <a:off x="8130900" y="4515100"/>
            <a:ext cx="0" cy="411120"/>
          </a:xfrm>
          <a:prstGeom prst="line">
            <a:avLst/>
          </a:prstGeom>
          <a:ln w="19050">
            <a:solidFill>
              <a:srgbClr val="47556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8A864340-DFE3-45F4-C1AA-E5928DFC08F0}"/>
              </a:ext>
            </a:extLst>
          </p:cNvPr>
          <p:cNvSpPr txBox="1"/>
          <p:nvPr/>
        </p:nvSpPr>
        <p:spPr>
          <a:xfrm>
            <a:off x="2022764" y="4203700"/>
            <a:ext cx="39665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residual</a:t>
            </a:r>
            <a:r>
              <a:rPr lang="it-IT" dirty="0"/>
              <a:t> connection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simplified</a:t>
            </a:r>
            <a:r>
              <a:rPr lang="it-IT" dirty="0"/>
              <a:t> (</a:t>
            </a:r>
            <a:r>
              <a:rPr lang="it-IT" dirty="0" err="1"/>
              <a:t>see</a:t>
            </a:r>
            <a:r>
              <a:rPr lang="it-IT" dirty="0"/>
              <a:t> </a:t>
            </a:r>
            <a:r>
              <a:rPr lang="it-IT" dirty="0" err="1"/>
              <a:t>next</a:t>
            </a:r>
            <a:r>
              <a:rPr lang="it-IT" dirty="0"/>
              <a:t> slide)</a:t>
            </a:r>
            <a:endParaRPr lang="en-GB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F479898F-4F29-F053-2117-503FA363D74E}"/>
              </a:ext>
            </a:extLst>
          </p:cNvPr>
          <p:cNvSpPr txBox="1"/>
          <p:nvPr/>
        </p:nvSpPr>
        <p:spPr>
          <a:xfrm>
            <a:off x="5652655" y="830015"/>
            <a:ext cx="17179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One </a:t>
            </a:r>
            <a:r>
              <a:rPr lang="it-IT" sz="1400" dirty="0" err="1"/>
              <a:t>block</a:t>
            </a:r>
            <a:r>
              <a:rPr lang="it-IT" sz="1400" dirty="0"/>
              <a:t> </a:t>
            </a:r>
            <a:r>
              <a:rPr lang="it-IT" sz="1400" dirty="0" err="1"/>
              <a:t>is</a:t>
            </a:r>
            <a:r>
              <a:rPr lang="it-IT" sz="1400" dirty="0"/>
              <a:t> </a:t>
            </a:r>
            <a:r>
              <a:rPr lang="it-IT" sz="1400" dirty="0" err="1"/>
              <a:t>actually</a:t>
            </a:r>
            <a:r>
              <a:rPr lang="it-IT" sz="1400" dirty="0"/>
              <a:t> one </a:t>
            </a:r>
            <a:r>
              <a:rPr lang="it-IT" sz="1400" dirty="0" err="1"/>
              <a:t>layer</a:t>
            </a:r>
            <a:endParaRPr lang="en-GB" sz="1400" dirty="0"/>
          </a:p>
        </p:txBody>
      </p: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7E1F0FB3-7ADF-107A-D0B0-AC00CA96A31D}"/>
              </a:ext>
            </a:extLst>
          </p:cNvPr>
          <p:cNvCxnSpPr/>
          <p:nvPr/>
        </p:nvCxnSpPr>
        <p:spPr>
          <a:xfrm flipH="1">
            <a:off x="4073236" y="1060200"/>
            <a:ext cx="1458524" cy="11890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F39E1A6-CF8E-3157-B832-BFB3CED5A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Gated activation inside </a:t>
            </a:r>
            <a:r>
              <a:rPr lang="en-GB" dirty="0" err="1"/>
              <a:t>WaveNet</a:t>
            </a:r>
            <a:r>
              <a:rPr lang="en-GB" dirty="0"/>
              <a:t> blocks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E030905-6872-60FB-F682-E02BF80E413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err="1"/>
              <a:t>WaveNet</a:t>
            </a:r>
            <a:r>
              <a:rPr lang="en-GB" dirty="0"/>
              <a:t> also uses gated nonlinear transformations.</a:t>
            </a:r>
          </a:p>
          <a:p>
            <a:r>
              <a:rPr lang="en-GB" dirty="0"/>
              <a:t>A simplified conceptual form is:</a:t>
            </a:r>
          </a:p>
          <a:p>
            <a:r>
              <a:rPr lang="en-GB" dirty="0"/>
              <a:t>tanh transformation</a:t>
            </a:r>
          </a:p>
          <a:p>
            <a:r>
              <a:rPr lang="en-GB" dirty="0"/>
              <a:t>        ×</a:t>
            </a:r>
          </a:p>
          <a:p>
            <a:r>
              <a:rPr lang="en-GB" dirty="0"/>
              <a:t>sigmoid gate</a:t>
            </a:r>
          </a:p>
          <a:p>
            <a:r>
              <a:rPr lang="en-GB" dirty="0"/>
              <a:t>        ↓</a:t>
            </a:r>
          </a:p>
          <a:p>
            <a:r>
              <a:rPr lang="en-GB" dirty="0"/>
              <a:t>gated activation</a:t>
            </a:r>
          </a:p>
          <a:p>
            <a:r>
              <a:rPr lang="en-GB" b="1" dirty="0"/>
              <a:t>This allows the block to control how strongly a learned temporal feature is propagated.</a:t>
            </a:r>
          </a:p>
          <a:p>
            <a:endParaRPr lang="en-GB" dirty="0"/>
          </a:p>
        </p:txBody>
      </p:sp>
      <p:pic>
        <p:nvPicPr>
          <p:cNvPr id="5" name="Segnaposto contenuto 8" descr="../_images/wavenet.png">
            <a:extLst>
              <a:ext uri="{FF2B5EF4-FFF2-40B4-BE49-F238E27FC236}">
                <a16:creationId xmlns:a16="http://schemas.microsoft.com/office/drawing/2014/main" id="{37D34A2F-F069-0E82-1E78-514D05CA8B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3170" y="2382262"/>
            <a:ext cx="5920508" cy="3144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213394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Text 0"/>
          <p:cNvSpPr/>
          <p:nvPr/>
        </p:nvSpPr>
        <p:spPr>
          <a:xfrm>
            <a:off x="502920" y="320040"/>
            <a:ext cx="98751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 dirty="0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Gated activation inside a </a:t>
            </a:r>
            <a:r>
              <a:rPr lang="en-US" sz="3000" b="1" u="none" strike="noStrike" dirty="0" err="1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WaveNet</a:t>
            </a:r>
            <a:r>
              <a:rPr lang="en-US" sz="3000" b="1" u="none" strike="noStrike" dirty="0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 block</a:t>
            </a:r>
            <a:endParaRPr lang="it-IT" sz="3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2"/>
          <p:cNvSpPr/>
          <p:nvPr/>
        </p:nvSpPr>
        <p:spPr>
          <a:xfrm>
            <a:off x="914400" y="2743200"/>
            <a:ext cx="1234080" cy="502560"/>
          </a:xfrm>
          <a:prstGeom prst="roundRect">
            <a:avLst>
              <a:gd name="adj" fmla="val 14545"/>
            </a:avLst>
          </a:prstGeom>
          <a:solidFill>
            <a:srgbClr val="DBEAFE"/>
          </a:solidFill>
          <a:ln w="1397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3"/>
          <p:cNvSpPr/>
          <p:nvPr/>
        </p:nvSpPr>
        <p:spPr>
          <a:xfrm>
            <a:off x="960120" y="2779920"/>
            <a:ext cx="114264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92500" lnSpcReduction="2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block input X</a:t>
            </a:r>
            <a:endParaRPr lang="it-IT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4"/>
          <p:cNvSpPr/>
          <p:nvPr/>
        </p:nvSpPr>
        <p:spPr>
          <a:xfrm>
            <a:off x="2834640" y="1874520"/>
            <a:ext cx="1645560" cy="685440"/>
          </a:xfrm>
          <a:prstGeom prst="roundRect">
            <a:avLst>
              <a:gd name="adj" fmla="val 10667"/>
            </a:avLst>
          </a:prstGeom>
          <a:solidFill>
            <a:srgbClr val="ECFCCB"/>
          </a:solidFill>
          <a:ln w="13970">
            <a:solidFill>
              <a:srgbClr val="86B8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5"/>
          <p:cNvSpPr/>
          <p:nvPr/>
        </p:nvSpPr>
        <p:spPr>
          <a:xfrm>
            <a:off x="2880360" y="1911240"/>
            <a:ext cx="1554120" cy="61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tanh</a:t>
            </a:r>
            <a:endParaRPr lang="it-IT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transformation</a:t>
            </a:r>
            <a:endParaRPr lang="it-IT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6"/>
          <p:cNvSpPr/>
          <p:nvPr/>
        </p:nvSpPr>
        <p:spPr>
          <a:xfrm>
            <a:off x="2834640" y="3520440"/>
            <a:ext cx="1645560" cy="685440"/>
          </a:xfrm>
          <a:prstGeom prst="roundRect">
            <a:avLst>
              <a:gd name="adj" fmla="val 10667"/>
            </a:avLst>
          </a:prstGeom>
          <a:solidFill>
            <a:srgbClr val="FEF3C7"/>
          </a:solidFill>
          <a:ln w="1397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7"/>
          <p:cNvSpPr/>
          <p:nvPr/>
        </p:nvSpPr>
        <p:spPr>
          <a:xfrm>
            <a:off x="2880360" y="3557160"/>
            <a:ext cx="1554120" cy="61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sigmoid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gate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8"/>
          <p:cNvSpPr/>
          <p:nvPr/>
        </p:nvSpPr>
        <p:spPr>
          <a:xfrm>
            <a:off x="5212080" y="2743200"/>
            <a:ext cx="502560" cy="50256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397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9"/>
          <p:cNvSpPr/>
          <p:nvPr/>
        </p:nvSpPr>
        <p:spPr>
          <a:xfrm>
            <a:off x="5257800" y="2779920"/>
            <a:ext cx="41112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×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10"/>
          <p:cNvSpPr/>
          <p:nvPr/>
        </p:nvSpPr>
        <p:spPr>
          <a:xfrm>
            <a:off x="6400800" y="2651760"/>
            <a:ext cx="1645560" cy="685440"/>
          </a:xfrm>
          <a:prstGeom prst="roundRect">
            <a:avLst>
              <a:gd name="adj" fmla="val 10667"/>
            </a:avLst>
          </a:prstGeom>
          <a:solidFill>
            <a:srgbClr val="EDE9FE"/>
          </a:solidFill>
          <a:ln w="1397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11"/>
          <p:cNvSpPr/>
          <p:nvPr/>
        </p:nvSpPr>
        <p:spPr>
          <a:xfrm>
            <a:off x="6446520" y="2688480"/>
            <a:ext cx="1554120" cy="61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gated</a:t>
            </a:r>
            <a:endParaRPr lang="it-IT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Activation Z</a:t>
            </a:r>
            <a:endParaRPr lang="it-IT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14"/>
          <p:cNvSpPr/>
          <p:nvPr/>
        </p:nvSpPr>
        <p:spPr>
          <a:xfrm flipV="1">
            <a:off x="2148840" y="2221920"/>
            <a:ext cx="685800" cy="767880"/>
          </a:xfrm>
          <a:prstGeom prst="line">
            <a:avLst/>
          </a:prstGeom>
          <a:ln w="19050">
            <a:solidFill>
              <a:srgbClr val="47556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15"/>
          <p:cNvSpPr/>
          <p:nvPr/>
        </p:nvSpPr>
        <p:spPr>
          <a:xfrm>
            <a:off x="2148840" y="2989800"/>
            <a:ext cx="685800" cy="878040"/>
          </a:xfrm>
          <a:prstGeom prst="line">
            <a:avLst/>
          </a:prstGeom>
          <a:ln w="19050">
            <a:solidFill>
              <a:srgbClr val="47556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16"/>
          <p:cNvSpPr/>
          <p:nvPr/>
        </p:nvSpPr>
        <p:spPr>
          <a:xfrm>
            <a:off x="4480560" y="2221920"/>
            <a:ext cx="731520" cy="658440"/>
          </a:xfrm>
          <a:prstGeom prst="line">
            <a:avLst/>
          </a:prstGeom>
          <a:ln w="19050">
            <a:solidFill>
              <a:srgbClr val="86B817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17"/>
          <p:cNvSpPr/>
          <p:nvPr/>
        </p:nvSpPr>
        <p:spPr>
          <a:xfrm flipV="1">
            <a:off x="4480560" y="3136320"/>
            <a:ext cx="731520" cy="731520"/>
          </a:xfrm>
          <a:prstGeom prst="line">
            <a:avLst/>
          </a:prstGeom>
          <a:ln w="19050">
            <a:solidFill>
              <a:srgbClr val="F59E0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18"/>
          <p:cNvSpPr/>
          <p:nvPr/>
        </p:nvSpPr>
        <p:spPr>
          <a:xfrm>
            <a:off x="5715000" y="2989800"/>
            <a:ext cx="685800" cy="360"/>
          </a:xfrm>
          <a:prstGeom prst="line">
            <a:avLst/>
          </a:prstGeom>
          <a:ln w="19050">
            <a:solidFill>
              <a:srgbClr val="47556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20"/>
          <p:cNvSpPr/>
          <p:nvPr/>
        </p:nvSpPr>
        <p:spPr>
          <a:xfrm>
            <a:off x="2514600" y="141732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2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86B817"/>
                </a:solidFill>
                <a:effectLst/>
                <a:highlight>
                  <a:srgbClr val="FFFF00"/>
                </a:highlight>
                <a:uFillTx/>
                <a:latin typeface="Aptos"/>
                <a:ea typeface="Aptos"/>
              </a:rPr>
              <a:t>tanh path proposes a candidate temporal feature</a:t>
            </a:r>
            <a:endParaRPr lang="it-IT" sz="1200" b="1" u="none" strike="noStrike" dirty="0">
              <a:solidFill>
                <a:srgbClr val="000000"/>
              </a:solidFill>
              <a:effectLst/>
              <a:highlight>
                <a:srgbClr val="FFFF00"/>
              </a:highlight>
              <a:uFillTx/>
              <a:latin typeface="Arial"/>
            </a:endParaRPr>
          </a:p>
        </p:txBody>
      </p:sp>
      <p:sp>
        <p:nvSpPr>
          <p:cNvPr id="294" name="Text 21"/>
          <p:cNvSpPr/>
          <p:nvPr/>
        </p:nvSpPr>
        <p:spPr>
          <a:xfrm>
            <a:off x="2286000" y="443484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F59E0B"/>
                </a:solidFill>
                <a:effectLst/>
                <a:highlight>
                  <a:srgbClr val="FFFF00"/>
                </a:highlight>
                <a:uFillTx/>
                <a:latin typeface="Aptos"/>
                <a:ea typeface="Aptos"/>
              </a:rPr>
              <a:t>sigmoid path controls its strength</a:t>
            </a:r>
            <a:endParaRPr lang="it-IT" sz="1200" b="0" u="none" strike="noStrike" dirty="0">
              <a:solidFill>
                <a:srgbClr val="000000"/>
              </a:solidFill>
              <a:effectLst/>
              <a:highlight>
                <a:srgbClr val="FFFF00"/>
              </a:highlight>
              <a:uFillTx/>
              <a:latin typeface="Arial"/>
            </a:endParaRPr>
          </a:p>
        </p:txBody>
      </p:sp>
      <p:sp>
        <p:nvSpPr>
          <p:cNvPr id="296" name="PlaceHolder 1"/>
          <p:cNvSpPr>
            <a:spLocks noGrp="1"/>
          </p:cNvSpPr>
          <p:nvPr>
            <p:ph type="sldNum" idx="9"/>
          </p:nvPr>
        </p:nvSpPr>
        <p:spPr>
          <a:xfrm>
            <a:off x="1065276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rgbClr val="64748B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DC59AA9-5B28-4915-A6C3-F871A14F5FDD}" type="slidenum"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209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7C6BB88A-B1A7-F901-3BF5-0D7B02DFCC77}"/>
              </a:ext>
            </a:extLst>
          </p:cNvPr>
          <p:cNvSpPr txBox="1"/>
          <p:nvPr/>
        </p:nvSpPr>
        <p:spPr>
          <a:xfrm>
            <a:off x="2491740" y="2553349"/>
            <a:ext cx="1361542" cy="376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A=</a:t>
            </a:r>
            <a:r>
              <a:rPr lang="en-GB" dirty="0" err="1"/>
              <a:t>W</a:t>
            </a:r>
            <a:r>
              <a:rPr lang="en-GB" baseline="-25000" dirty="0" err="1"/>
              <a:t>f</a:t>
            </a:r>
            <a:r>
              <a:rPr lang="en-GB" baseline="-25000" dirty="0"/>
              <a:t>​∗d​</a:t>
            </a:r>
            <a:r>
              <a:rPr lang="en-GB" dirty="0" err="1"/>
              <a:t>X+b</a:t>
            </a:r>
            <a:r>
              <a:rPr lang="en-GB" baseline="-25000" dirty="0" err="1"/>
              <a:t>f</a:t>
            </a:r>
            <a:r>
              <a:rPr lang="en-GB" dirty="0"/>
              <a:t>​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43A83B0-2CF3-7690-B43F-B4E41C38EAA6}"/>
              </a:ext>
            </a:extLst>
          </p:cNvPr>
          <p:cNvSpPr txBox="1"/>
          <p:nvPr/>
        </p:nvSpPr>
        <p:spPr>
          <a:xfrm>
            <a:off x="2444971" y="3103117"/>
            <a:ext cx="14083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B=</a:t>
            </a:r>
            <a:r>
              <a:rPr lang="en-GB" dirty="0" err="1"/>
              <a:t>W</a:t>
            </a:r>
            <a:r>
              <a:rPr lang="en-GB" baseline="-25000" dirty="0" err="1"/>
              <a:t>g∗d</a:t>
            </a:r>
            <a:r>
              <a:rPr lang="en-GB" baseline="-25000" dirty="0"/>
              <a:t>​</a:t>
            </a:r>
            <a:r>
              <a:rPr lang="en-GB" dirty="0" err="1"/>
              <a:t>X+b</a:t>
            </a:r>
            <a:r>
              <a:rPr lang="en-GB" baseline="-25000" dirty="0" err="1"/>
              <a:t>g</a:t>
            </a:r>
            <a:endParaRPr lang="en-GB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E37EB69D-7FD8-1CA0-0471-4F250C0637E7}"/>
              </a:ext>
            </a:extLst>
          </p:cNvPr>
          <p:cNvSpPr txBox="1"/>
          <p:nvPr/>
        </p:nvSpPr>
        <p:spPr>
          <a:xfrm>
            <a:off x="6017391" y="2248214"/>
            <a:ext cx="19250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Z=tanh(A)⊙σ(B)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1AAED90-7C10-7164-33C8-A7D04F894553}"/>
              </a:ext>
            </a:extLst>
          </p:cNvPr>
          <p:cNvSpPr txBox="1"/>
          <p:nvPr/>
        </p:nvSpPr>
        <p:spPr>
          <a:xfrm>
            <a:off x="5714640" y="3645196"/>
            <a:ext cx="61036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Is this done step by step?</a:t>
            </a:r>
          </a:p>
          <a:p>
            <a:pPr>
              <a:buNone/>
            </a:pPr>
            <a:r>
              <a:rPr lang="en-GB" b="1" dirty="0"/>
              <a:t>Mathematically, there is a result for every time position t, but computationally it is not sequential like an RNN.</a:t>
            </a:r>
            <a:endParaRPr lang="en-GB" dirty="0"/>
          </a:p>
          <a:p>
            <a:pPr>
              <a:buNone/>
            </a:pPr>
            <a:r>
              <a:rPr lang="en-GB" dirty="0"/>
              <a:t>For a causal convolution with kernel size 2 and dilation d, for example:</a:t>
            </a:r>
          </a:p>
          <a:p>
            <a:pPr>
              <a:buNone/>
            </a:pPr>
            <a:r>
              <a:rPr lang="en-GB" dirty="0"/>
              <a:t>A</a:t>
            </a:r>
            <a:r>
              <a:rPr lang="en-GB" baseline="-25000" dirty="0"/>
              <a:t>t</a:t>
            </a:r>
            <a:r>
              <a:rPr lang="en-GB" dirty="0"/>
              <a:t>​=W</a:t>
            </a:r>
            <a:r>
              <a:rPr lang="en-GB" baseline="-25000" dirty="0"/>
              <a:t>f,0</a:t>
            </a:r>
            <a:r>
              <a:rPr lang="en-GB" dirty="0"/>
              <a:t>​</a:t>
            </a:r>
            <a:r>
              <a:rPr lang="en-GB" dirty="0" err="1"/>
              <a:t>X</a:t>
            </a:r>
            <a:r>
              <a:rPr lang="en-GB" baseline="-25000" dirty="0" err="1"/>
              <a:t>t</a:t>
            </a:r>
            <a:r>
              <a:rPr lang="en-GB" dirty="0"/>
              <a:t>​+W</a:t>
            </a:r>
            <a:r>
              <a:rPr lang="en-GB" baseline="-25000" dirty="0"/>
              <a:t>f,1</a:t>
            </a:r>
            <a:r>
              <a:rPr lang="en-GB" dirty="0"/>
              <a:t>​</a:t>
            </a:r>
            <a:r>
              <a:rPr lang="en-GB" dirty="0" err="1"/>
              <a:t>X</a:t>
            </a:r>
            <a:r>
              <a:rPr lang="en-GB" baseline="-25000" dirty="0" err="1"/>
              <a:t>t</a:t>
            </a:r>
            <a:r>
              <a:rPr lang="en-GB" baseline="-25000" dirty="0"/>
              <a:t>−d​</a:t>
            </a:r>
            <a:r>
              <a:rPr lang="en-GB" dirty="0"/>
              <a:t>+b</a:t>
            </a:r>
            <a:r>
              <a:rPr lang="en-GB" baseline="-25000" dirty="0"/>
              <a:t>f</a:t>
            </a:r>
            <a:r>
              <a:rPr lang="en-GB" dirty="0"/>
              <a:t>​.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62911262-01A0-7CFF-F60E-B633B95497A1}"/>
              </a:ext>
            </a:extLst>
          </p:cNvPr>
          <p:cNvSpPr txBox="1"/>
          <p:nvPr/>
        </p:nvSpPr>
        <p:spPr>
          <a:xfrm>
            <a:off x="120701" y="5093280"/>
            <a:ext cx="513709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N.B.</a:t>
            </a:r>
          </a:p>
          <a:p>
            <a:pPr>
              <a:buNone/>
            </a:pPr>
            <a:r>
              <a:rPr lang="en-GB" dirty="0"/>
              <a:t>The final gating operation is elementwise </a:t>
            </a:r>
            <a:r>
              <a:rPr lang="en-GB" b="1" dirty="0"/>
              <a:t>per time position and output channel</a:t>
            </a:r>
            <a:r>
              <a:rPr lang="en-GB" dirty="0"/>
              <a:t>:</a:t>
            </a:r>
          </a:p>
          <a:p>
            <a:pPr>
              <a:buNone/>
            </a:pPr>
            <a:r>
              <a:rPr lang="en-GB" dirty="0" err="1"/>
              <a:t>Z</a:t>
            </a:r>
            <a:r>
              <a:rPr lang="en-GB" baseline="-25000" dirty="0" err="1"/>
              <a:t>t,c</a:t>
            </a:r>
            <a:r>
              <a:rPr lang="en-GB" dirty="0"/>
              <a:t>​=tanh(</a:t>
            </a:r>
            <a:r>
              <a:rPr lang="en-GB" dirty="0" err="1"/>
              <a:t>A</a:t>
            </a:r>
            <a:r>
              <a:rPr lang="en-GB" baseline="-25000" dirty="0" err="1"/>
              <a:t>t,c</a:t>
            </a:r>
            <a:r>
              <a:rPr lang="en-GB" baseline="-25000" dirty="0"/>
              <a:t>​</a:t>
            </a:r>
            <a:r>
              <a:rPr lang="en-GB" dirty="0"/>
              <a:t>)σ(​</a:t>
            </a:r>
            <a:r>
              <a:rPr lang="en-GB" dirty="0" err="1"/>
              <a:t>B</a:t>
            </a:r>
            <a:r>
              <a:rPr lang="en-GB" baseline="-25000" dirty="0" err="1"/>
              <a:t>t,c</a:t>
            </a:r>
            <a:r>
              <a:rPr lang="en-GB" dirty="0"/>
              <a:t>). </a:t>
            </a:r>
          </a:p>
          <a:p>
            <a:pPr>
              <a:buNone/>
            </a:pPr>
            <a:r>
              <a:rPr lang="en-GB" dirty="0"/>
              <a:t>But the convolutions themselves generally </a:t>
            </a:r>
            <a:r>
              <a:rPr lang="en-GB" b="1" dirty="0"/>
              <a:t>mix input channels</a:t>
            </a:r>
            <a:r>
              <a:rPr lang="en-GB" dirty="0"/>
              <a:t>.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0E044B39-3B22-BD0F-1E6E-598A74AB42E4}"/>
              </a:ext>
            </a:extLst>
          </p:cNvPr>
          <p:cNvSpPr txBox="1"/>
          <p:nvPr/>
        </p:nvSpPr>
        <p:spPr>
          <a:xfrm>
            <a:off x="342900" y="3882714"/>
            <a:ext cx="1645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dilated causal Conv1D</a:t>
            </a:r>
          </a:p>
        </p:txBody>
      </p: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AF7767DD-E350-C880-F728-2D88699FEA1B}"/>
              </a:ext>
            </a:extLst>
          </p:cNvPr>
          <p:cNvCxnSpPr>
            <a:cxnSpLocks/>
          </p:cNvCxnSpPr>
          <p:nvPr/>
        </p:nvCxnSpPr>
        <p:spPr>
          <a:xfrm flipV="1">
            <a:off x="1303020" y="2930075"/>
            <a:ext cx="1577340" cy="10416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DB18EB93-27C3-4A60-3988-E7CF7C2CD07C}"/>
              </a:ext>
            </a:extLst>
          </p:cNvPr>
          <p:cNvCxnSpPr>
            <a:cxnSpLocks/>
          </p:cNvCxnSpPr>
          <p:nvPr/>
        </p:nvCxnSpPr>
        <p:spPr>
          <a:xfrm flipV="1">
            <a:off x="1359990" y="3433110"/>
            <a:ext cx="1365379" cy="5480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egnaposto contenuto 8" descr="../_images/wavenet.png">
            <a:extLst>
              <a:ext uri="{FF2B5EF4-FFF2-40B4-BE49-F238E27FC236}">
                <a16:creationId xmlns:a16="http://schemas.microsoft.com/office/drawing/2014/main" id="{6B378885-DADB-AF7E-8490-72980C28A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5887" y="2252954"/>
            <a:ext cx="6662162" cy="3538246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423C08E0-2B22-1D4D-905E-EFC879F07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F172A"/>
                </a:solidFill>
                <a:latin typeface="Aptos Display"/>
                <a:ea typeface="Aptos Display"/>
              </a:rPr>
              <a:t>Gated activation inside a </a:t>
            </a:r>
            <a:r>
              <a:rPr lang="en-US" b="1" dirty="0" err="1">
                <a:solidFill>
                  <a:srgbClr val="0F172A"/>
                </a:solidFill>
                <a:latin typeface="Aptos Display"/>
                <a:ea typeface="Aptos Display"/>
              </a:rPr>
              <a:t>WaveNet</a:t>
            </a:r>
            <a:r>
              <a:rPr lang="en-US" b="1" dirty="0">
                <a:solidFill>
                  <a:srgbClr val="0F172A"/>
                </a:solidFill>
                <a:latin typeface="Aptos Display"/>
                <a:ea typeface="Aptos Display"/>
              </a:rPr>
              <a:t> block</a:t>
            </a:r>
            <a:endParaRPr lang="en-GB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F84824A-9FBF-4969-27D6-8218DC576BEB}"/>
              </a:ext>
            </a:extLst>
          </p:cNvPr>
          <p:cNvSpPr txBox="1"/>
          <p:nvPr/>
        </p:nvSpPr>
        <p:spPr>
          <a:xfrm>
            <a:off x="3546765" y="1551709"/>
            <a:ext cx="11360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To the </a:t>
            </a:r>
            <a:r>
              <a:rPr lang="it-IT" sz="1400" dirty="0" err="1"/>
              <a:t>next</a:t>
            </a:r>
            <a:r>
              <a:rPr lang="it-IT" sz="1400" dirty="0"/>
              <a:t> </a:t>
            </a:r>
            <a:r>
              <a:rPr lang="it-IT" sz="1400" dirty="0" err="1"/>
              <a:t>layer</a:t>
            </a:r>
            <a:r>
              <a:rPr lang="it-IT" sz="1400" dirty="0"/>
              <a:t>/</a:t>
            </a:r>
            <a:r>
              <a:rPr lang="it-IT" sz="1400" dirty="0" err="1"/>
              <a:t>block</a:t>
            </a:r>
            <a:endParaRPr lang="en-GB" sz="1400" dirty="0"/>
          </a:p>
        </p:txBody>
      </p: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1DA3BA51-8F6C-9ACC-0E3E-9FAC6505EB26}"/>
              </a:ext>
            </a:extLst>
          </p:cNvPr>
          <p:cNvCxnSpPr/>
          <p:nvPr/>
        </p:nvCxnSpPr>
        <p:spPr>
          <a:xfrm flipH="1">
            <a:off x="3297382" y="2142836"/>
            <a:ext cx="406400" cy="3879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662E180-BABA-ABCE-20DA-5CF6C994A1AD}"/>
              </a:ext>
            </a:extLst>
          </p:cNvPr>
          <p:cNvSpPr txBox="1"/>
          <p:nvPr/>
        </p:nvSpPr>
        <p:spPr>
          <a:xfrm>
            <a:off x="4965277" y="1967063"/>
            <a:ext cx="26669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/>
              <a:t>1×1 Conv: mixes channels independently at each time position</a:t>
            </a:r>
          </a:p>
        </p:txBody>
      </p: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7A22B8A2-626D-6107-5F30-500C47E1496E}"/>
              </a:ext>
            </a:extLst>
          </p:cNvPr>
          <p:cNvCxnSpPr>
            <a:cxnSpLocks/>
          </p:cNvCxnSpPr>
          <p:nvPr/>
        </p:nvCxnSpPr>
        <p:spPr>
          <a:xfrm flipH="1">
            <a:off x="3546765" y="2336800"/>
            <a:ext cx="1418512" cy="7599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C4C1B9CA-2AD4-C1E9-9270-CFEBC5577F03}"/>
              </a:ext>
            </a:extLst>
          </p:cNvPr>
          <p:cNvSpPr txBox="1"/>
          <p:nvPr/>
        </p:nvSpPr>
        <p:spPr>
          <a:xfrm>
            <a:off x="6262255" y="4530544"/>
            <a:ext cx="442033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/>
              <a:t>A probability distribution is produced at every relevant time position during training.</a:t>
            </a:r>
          </a:p>
          <a:p>
            <a:r>
              <a:rPr lang="en-GB" sz="1600" b="1" dirty="0"/>
              <a:t>Historical reason: </a:t>
            </a:r>
            <a:r>
              <a:rPr lang="en-GB" sz="1600" dirty="0"/>
              <a:t>original </a:t>
            </a:r>
            <a:r>
              <a:rPr lang="en-GB" sz="1600" dirty="0" err="1"/>
              <a:t>WaveNet</a:t>
            </a:r>
            <a:r>
              <a:rPr lang="en-GB" sz="1600" dirty="0"/>
              <a:t> formulates raw-audio generation as a 256-class prediction problem at every time step</a:t>
            </a:r>
          </a:p>
        </p:txBody>
      </p: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8A94A9A8-C989-9B22-70C3-154152D71D3D}"/>
              </a:ext>
            </a:extLst>
          </p:cNvPr>
          <p:cNvCxnSpPr/>
          <p:nvPr/>
        </p:nvCxnSpPr>
        <p:spPr>
          <a:xfrm flipV="1">
            <a:off x="6446982" y="3528291"/>
            <a:ext cx="738909" cy="1080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71223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0FE1E55-1CF1-F8C9-5E5B-13A3C3101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</a:t>
            </a:r>
            <a:r>
              <a:rPr lang="en-GB" dirty="0" err="1"/>
              <a:t>WaveNet</a:t>
            </a:r>
            <a:r>
              <a:rPr lang="en-GB" dirty="0"/>
              <a:t> contributes conceptually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6DF7FFB-8BD3-1CA8-9FF8-6F23636F9F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3026565" cy="3880772"/>
          </a:xfrm>
        </p:spPr>
        <p:txBody>
          <a:bodyPr>
            <a:normAutofit/>
          </a:bodyPr>
          <a:lstStyle/>
          <a:p>
            <a:r>
              <a:rPr lang="en-GB" dirty="0" err="1"/>
              <a:t>WaveNet</a:t>
            </a:r>
            <a:r>
              <a:rPr lang="en-GB" dirty="0"/>
              <a:t> demonstrates that a temporal model can simultaneously have:</a:t>
            </a:r>
          </a:p>
          <a:p>
            <a:pPr lvl="1"/>
            <a:r>
              <a:rPr lang="en-GB" dirty="0"/>
              <a:t>local pattern detection; </a:t>
            </a:r>
          </a:p>
          <a:p>
            <a:pPr lvl="1"/>
            <a:r>
              <a:rPr lang="en-GB" dirty="0"/>
              <a:t>large historical context; </a:t>
            </a:r>
          </a:p>
          <a:p>
            <a:pPr lvl="1"/>
            <a:r>
              <a:rPr lang="en-GB" dirty="0"/>
              <a:t>causal prediction; </a:t>
            </a:r>
          </a:p>
          <a:p>
            <a:pPr lvl="1"/>
            <a:r>
              <a:rPr lang="en-GB" dirty="0"/>
              <a:t>deep hierarchical representations; </a:t>
            </a:r>
          </a:p>
          <a:p>
            <a:pPr lvl="1"/>
            <a:r>
              <a:rPr lang="en-GB" dirty="0"/>
              <a:t>no recurrent state. 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681C1D2-E410-A417-D898-2B2128C654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13525" y="2160588"/>
            <a:ext cx="3026565" cy="3880773"/>
          </a:xfrm>
        </p:spPr>
        <p:txBody>
          <a:bodyPr>
            <a:normAutofit/>
          </a:bodyPr>
          <a:lstStyle/>
          <a:p>
            <a:r>
              <a:rPr lang="en-GB" b="1" dirty="0"/>
              <a:t>Compared with an RNN</a:t>
            </a:r>
          </a:p>
          <a:p>
            <a:r>
              <a:rPr lang="en-GB" dirty="0"/>
              <a:t>RNN:</a:t>
            </a:r>
          </a:p>
          <a:p>
            <a:r>
              <a:rPr lang="en-GB" dirty="0"/>
              <a:t>history</a:t>
            </a:r>
          </a:p>
          <a:p>
            <a:r>
              <a:rPr lang="en-GB" dirty="0"/>
              <a:t>  ↓</a:t>
            </a:r>
          </a:p>
          <a:p>
            <a:r>
              <a:rPr lang="en-GB" dirty="0"/>
              <a:t>sequential state updates</a:t>
            </a:r>
          </a:p>
          <a:p>
            <a:r>
              <a:rPr lang="en-GB" dirty="0"/>
              <a:t>  ↓</a:t>
            </a:r>
          </a:p>
          <a:p>
            <a:r>
              <a:rPr lang="en-GB" dirty="0"/>
              <a:t>prediction</a:t>
            </a:r>
          </a:p>
          <a:p>
            <a:endParaRPr lang="en-GB" dirty="0"/>
          </a:p>
        </p:txBody>
      </p:sp>
      <p:sp>
        <p:nvSpPr>
          <p:cNvPr id="7" name="Segnaposto contenuto 3">
            <a:extLst>
              <a:ext uri="{FF2B5EF4-FFF2-40B4-BE49-F238E27FC236}">
                <a16:creationId xmlns:a16="http://schemas.microsoft.com/office/drawing/2014/main" id="{29F48CC9-F379-0147-0CB6-4D349A055F1E}"/>
              </a:ext>
            </a:extLst>
          </p:cNvPr>
          <p:cNvSpPr txBox="1">
            <a:spLocks/>
          </p:cNvSpPr>
          <p:nvPr/>
        </p:nvSpPr>
        <p:spPr>
          <a:xfrm>
            <a:off x="7349716" y="2160587"/>
            <a:ext cx="3026565" cy="388077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err="1"/>
              <a:t>WaveNet</a:t>
            </a:r>
            <a:r>
              <a:rPr lang="en-GB" dirty="0"/>
              <a:t>-style CNN:</a:t>
            </a:r>
          </a:p>
          <a:p>
            <a:r>
              <a:rPr lang="en-GB" dirty="0"/>
              <a:t>history</a:t>
            </a:r>
          </a:p>
          <a:p>
            <a:r>
              <a:rPr lang="en-GB" dirty="0"/>
              <a:t>  ↓</a:t>
            </a:r>
          </a:p>
          <a:p>
            <a:r>
              <a:rPr lang="en-GB" dirty="0"/>
              <a:t>causal dilated filters</a:t>
            </a:r>
          </a:p>
          <a:p>
            <a:r>
              <a:rPr lang="en-GB" dirty="0"/>
              <a:t>  ↓</a:t>
            </a:r>
          </a:p>
          <a:p>
            <a:r>
              <a:rPr lang="en-GB" dirty="0"/>
              <a:t>multiscale feature hierarchy</a:t>
            </a:r>
          </a:p>
          <a:p>
            <a:r>
              <a:rPr lang="en-GB" dirty="0"/>
              <a:t>  ↓</a:t>
            </a:r>
          </a:p>
          <a:p>
            <a:r>
              <a:rPr lang="en-GB" dirty="0"/>
              <a:t>prediction</a:t>
            </a:r>
          </a:p>
          <a:p>
            <a:endParaRPr lang="en-GB" dirty="0"/>
          </a:p>
          <a:p>
            <a:r>
              <a:rPr lang="en-GB" dirty="0"/>
              <a:t>Long memory does not require recurrence; it can also be created through convolutional connectivity.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44605433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Text 0"/>
          <p:cNvSpPr/>
          <p:nvPr/>
        </p:nvSpPr>
        <p:spPr>
          <a:xfrm>
            <a:off x="502920" y="320040"/>
            <a:ext cx="98751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WaveNet-style CNN versus RNN</a:t>
            </a:r>
            <a:endParaRPr lang="it-IT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1"/>
          <p:cNvSpPr/>
          <p:nvPr/>
        </p:nvSpPr>
        <p:spPr>
          <a:xfrm>
            <a:off x="530280" y="804600"/>
            <a:ext cx="95094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Two ways to build historical context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2"/>
          <p:cNvSpPr/>
          <p:nvPr/>
        </p:nvSpPr>
        <p:spPr>
          <a:xfrm>
            <a:off x="1005840" y="1234440"/>
            <a:ext cx="3382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RNN/LSTM/GRU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3"/>
          <p:cNvSpPr/>
          <p:nvPr/>
        </p:nvSpPr>
        <p:spPr>
          <a:xfrm>
            <a:off x="914400" y="2103120"/>
            <a:ext cx="456840" cy="411120"/>
          </a:xfrm>
          <a:prstGeom prst="roundRect">
            <a:avLst>
              <a:gd name="adj" fmla="val 17778"/>
            </a:avLst>
          </a:prstGeom>
          <a:solidFill>
            <a:srgbClr val="DBEAFE"/>
          </a:solidFill>
          <a:ln w="1397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4"/>
          <p:cNvSpPr/>
          <p:nvPr/>
        </p:nvSpPr>
        <p:spPr>
          <a:xfrm>
            <a:off x="960120" y="2139840"/>
            <a:ext cx="36540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h1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5"/>
          <p:cNvSpPr/>
          <p:nvPr/>
        </p:nvSpPr>
        <p:spPr>
          <a:xfrm>
            <a:off x="1371600" y="2313360"/>
            <a:ext cx="228600" cy="360"/>
          </a:xfrm>
          <a:prstGeom prst="line">
            <a:avLst/>
          </a:prstGeom>
          <a:ln w="13970">
            <a:solidFill>
              <a:srgbClr val="2563E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6"/>
          <p:cNvSpPr/>
          <p:nvPr/>
        </p:nvSpPr>
        <p:spPr>
          <a:xfrm>
            <a:off x="1600200" y="2103120"/>
            <a:ext cx="456840" cy="411120"/>
          </a:xfrm>
          <a:prstGeom prst="roundRect">
            <a:avLst>
              <a:gd name="adj" fmla="val 17778"/>
            </a:avLst>
          </a:prstGeom>
          <a:solidFill>
            <a:srgbClr val="DBEAFE"/>
          </a:solidFill>
          <a:ln w="1397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7"/>
          <p:cNvSpPr/>
          <p:nvPr/>
        </p:nvSpPr>
        <p:spPr>
          <a:xfrm>
            <a:off x="1645920" y="2139840"/>
            <a:ext cx="36540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h2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Shape 8"/>
          <p:cNvSpPr/>
          <p:nvPr/>
        </p:nvSpPr>
        <p:spPr>
          <a:xfrm>
            <a:off x="2057400" y="2313360"/>
            <a:ext cx="228600" cy="360"/>
          </a:xfrm>
          <a:prstGeom prst="line">
            <a:avLst/>
          </a:prstGeom>
          <a:ln w="13970">
            <a:solidFill>
              <a:srgbClr val="2563E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9"/>
          <p:cNvSpPr/>
          <p:nvPr/>
        </p:nvSpPr>
        <p:spPr>
          <a:xfrm>
            <a:off x="2286000" y="2103120"/>
            <a:ext cx="456840" cy="411120"/>
          </a:xfrm>
          <a:prstGeom prst="roundRect">
            <a:avLst>
              <a:gd name="adj" fmla="val 17778"/>
            </a:avLst>
          </a:prstGeom>
          <a:solidFill>
            <a:srgbClr val="DBEAFE"/>
          </a:solidFill>
          <a:ln w="1397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10"/>
          <p:cNvSpPr/>
          <p:nvPr/>
        </p:nvSpPr>
        <p:spPr>
          <a:xfrm>
            <a:off x="2331720" y="2139840"/>
            <a:ext cx="36540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h3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11"/>
          <p:cNvSpPr/>
          <p:nvPr/>
        </p:nvSpPr>
        <p:spPr>
          <a:xfrm>
            <a:off x="2743200" y="2313360"/>
            <a:ext cx="228600" cy="360"/>
          </a:xfrm>
          <a:prstGeom prst="line">
            <a:avLst/>
          </a:prstGeom>
          <a:ln w="13970">
            <a:solidFill>
              <a:srgbClr val="2563E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12"/>
          <p:cNvSpPr/>
          <p:nvPr/>
        </p:nvSpPr>
        <p:spPr>
          <a:xfrm>
            <a:off x="2971800" y="2103120"/>
            <a:ext cx="456840" cy="411120"/>
          </a:xfrm>
          <a:prstGeom prst="roundRect">
            <a:avLst>
              <a:gd name="adj" fmla="val 17778"/>
            </a:avLst>
          </a:prstGeom>
          <a:solidFill>
            <a:srgbClr val="DBEAFE"/>
          </a:solidFill>
          <a:ln w="1397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13"/>
          <p:cNvSpPr/>
          <p:nvPr/>
        </p:nvSpPr>
        <p:spPr>
          <a:xfrm>
            <a:off x="3017520" y="2139840"/>
            <a:ext cx="36540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h4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14"/>
          <p:cNvSpPr/>
          <p:nvPr/>
        </p:nvSpPr>
        <p:spPr>
          <a:xfrm>
            <a:off x="3429000" y="2313360"/>
            <a:ext cx="228600" cy="360"/>
          </a:xfrm>
          <a:prstGeom prst="line">
            <a:avLst/>
          </a:prstGeom>
          <a:ln w="13970">
            <a:solidFill>
              <a:srgbClr val="2563E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15"/>
          <p:cNvSpPr/>
          <p:nvPr/>
        </p:nvSpPr>
        <p:spPr>
          <a:xfrm>
            <a:off x="3657600" y="2103120"/>
            <a:ext cx="456840" cy="411120"/>
          </a:xfrm>
          <a:prstGeom prst="roundRect">
            <a:avLst>
              <a:gd name="adj" fmla="val 17778"/>
            </a:avLst>
          </a:prstGeom>
          <a:solidFill>
            <a:srgbClr val="DBEAFE"/>
          </a:solidFill>
          <a:ln w="1397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16"/>
          <p:cNvSpPr/>
          <p:nvPr/>
        </p:nvSpPr>
        <p:spPr>
          <a:xfrm>
            <a:off x="3703320" y="2139840"/>
            <a:ext cx="36540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h5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17"/>
          <p:cNvSpPr/>
          <p:nvPr/>
        </p:nvSpPr>
        <p:spPr>
          <a:xfrm>
            <a:off x="3839478" y="3045600"/>
            <a:ext cx="1096920" cy="43848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397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18"/>
          <p:cNvSpPr/>
          <p:nvPr/>
        </p:nvSpPr>
        <p:spPr>
          <a:xfrm>
            <a:off x="3886020" y="3054240"/>
            <a:ext cx="10054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prediction</a:t>
            </a:r>
            <a:endParaRPr lang="it-IT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19"/>
          <p:cNvSpPr/>
          <p:nvPr/>
        </p:nvSpPr>
        <p:spPr>
          <a:xfrm>
            <a:off x="4023000" y="2560320"/>
            <a:ext cx="365760" cy="457200"/>
          </a:xfrm>
          <a:prstGeom prst="line">
            <a:avLst/>
          </a:prstGeom>
          <a:ln w="13970">
            <a:solidFill>
              <a:srgbClr val="2563E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20"/>
          <p:cNvSpPr/>
          <p:nvPr/>
        </p:nvSpPr>
        <p:spPr>
          <a:xfrm>
            <a:off x="822960" y="384048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history compressed into sequential state updates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21"/>
          <p:cNvSpPr/>
          <p:nvPr/>
        </p:nvSpPr>
        <p:spPr>
          <a:xfrm>
            <a:off x="5669280" y="123444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WaveNet-style temporal CNN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22"/>
          <p:cNvSpPr/>
          <p:nvPr/>
        </p:nvSpPr>
        <p:spPr>
          <a:xfrm>
            <a:off x="5669280" y="1920240"/>
            <a:ext cx="914040" cy="502560"/>
          </a:xfrm>
          <a:prstGeom prst="roundRect">
            <a:avLst>
              <a:gd name="adj" fmla="val 14545"/>
            </a:avLst>
          </a:prstGeom>
          <a:solidFill>
            <a:srgbClr val="ECFCCB"/>
          </a:solidFill>
          <a:ln w="13970">
            <a:solidFill>
              <a:srgbClr val="86B8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23"/>
          <p:cNvSpPr/>
          <p:nvPr/>
        </p:nvSpPr>
        <p:spPr>
          <a:xfrm>
            <a:off x="5715000" y="1956960"/>
            <a:ext cx="82260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dilated</a:t>
            </a:r>
            <a:endParaRPr lang="it-IT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conv D=1</a:t>
            </a:r>
            <a:endParaRPr lang="it-IT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24"/>
          <p:cNvSpPr/>
          <p:nvPr/>
        </p:nvSpPr>
        <p:spPr>
          <a:xfrm>
            <a:off x="6583680" y="2166840"/>
            <a:ext cx="91440" cy="320040"/>
          </a:xfrm>
          <a:prstGeom prst="line">
            <a:avLst/>
          </a:prstGeom>
          <a:ln w="13970">
            <a:solidFill>
              <a:srgbClr val="86B817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25"/>
          <p:cNvSpPr/>
          <p:nvPr/>
        </p:nvSpPr>
        <p:spPr>
          <a:xfrm>
            <a:off x="6675120" y="2240280"/>
            <a:ext cx="914040" cy="502560"/>
          </a:xfrm>
          <a:prstGeom prst="roundRect">
            <a:avLst>
              <a:gd name="adj" fmla="val 14545"/>
            </a:avLst>
          </a:prstGeom>
          <a:solidFill>
            <a:srgbClr val="ECFCCB"/>
          </a:solidFill>
          <a:ln w="13970">
            <a:solidFill>
              <a:srgbClr val="86B8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26"/>
          <p:cNvSpPr/>
          <p:nvPr/>
        </p:nvSpPr>
        <p:spPr>
          <a:xfrm>
            <a:off x="6720840" y="2277000"/>
            <a:ext cx="82260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dilated</a:t>
            </a:r>
            <a:endParaRPr lang="it-IT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conv D=2</a:t>
            </a:r>
            <a:endParaRPr lang="it-IT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27"/>
          <p:cNvSpPr/>
          <p:nvPr/>
        </p:nvSpPr>
        <p:spPr>
          <a:xfrm>
            <a:off x="7589520" y="2486880"/>
            <a:ext cx="91440" cy="320040"/>
          </a:xfrm>
          <a:prstGeom prst="line">
            <a:avLst/>
          </a:prstGeom>
          <a:ln w="13970">
            <a:solidFill>
              <a:srgbClr val="86B817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Shape 28"/>
          <p:cNvSpPr/>
          <p:nvPr/>
        </p:nvSpPr>
        <p:spPr>
          <a:xfrm>
            <a:off x="7680960" y="2560320"/>
            <a:ext cx="914040" cy="502560"/>
          </a:xfrm>
          <a:prstGeom prst="roundRect">
            <a:avLst>
              <a:gd name="adj" fmla="val 14545"/>
            </a:avLst>
          </a:prstGeom>
          <a:solidFill>
            <a:srgbClr val="ECFCCB"/>
          </a:solidFill>
          <a:ln w="13970">
            <a:solidFill>
              <a:srgbClr val="86B8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29"/>
          <p:cNvSpPr/>
          <p:nvPr/>
        </p:nvSpPr>
        <p:spPr>
          <a:xfrm>
            <a:off x="7726680" y="2597040"/>
            <a:ext cx="82260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dilated</a:t>
            </a:r>
            <a:endParaRPr lang="it-IT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conv D=4</a:t>
            </a:r>
            <a:endParaRPr lang="it-IT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30"/>
          <p:cNvSpPr/>
          <p:nvPr/>
        </p:nvSpPr>
        <p:spPr>
          <a:xfrm>
            <a:off x="8595360" y="2806920"/>
            <a:ext cx="91440" cy="320040"/>
          </a:xfrm>
          <a:prstGeom prst="line">
            <a:avLst/>
          </a:prstGeom>
          <a:ln w="13970">
            <a:solidFill>
              <a:srgbClr val="86B817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31"/>
          <p:cNvSpPr/>
          <p:nvPr/>
        </p:nvSpPr>
        <p:spPr>
          <a:xfrm>
            <a:off x="8686800" y="2880360"/>
            <a:ext cx="914040" cy="502560"/>
          </a:xfrm>
          <a:prstGeom prst="roundRect">
            <a:avLst>
              <a:gd name="adj" fmla="val 14545"/>
            </a:avLst>
          </a:prstGeom>
          <a:solidFill>
            <a:srgbClr val="ECFCCB"/>
          </a:solidFill>
          <a:ln w="13970">
            <a:solidFill>
              <a:srgbClr val="86B8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32"/>
          <p:cNvSpPr/>
          <p:nvPr/>
        </p:nvSpPr>
        <p:spPr>
          <a:xfrm>
            <a:off x="8732520" y="2917080"/>
            <a:ext cx="82260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dilated</a:t>
            </a:r>
            <a:endParaRPr lang="it-IT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conv D=8</a:t>
            </a:r>
            <a:endParaRPr lang="it-IT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Shape 33"/>
          <p:cNvSpPr/>
          <p:nvPr/>
        </p:nvSpPr>
        <p:spPr>
          <a:xfrm>
            <a:off x="9875520" y="2971800"/>
            <a:ext cx="914040" cy="438480"/>
          </a:xfrm>
          <a:prstGeom prst="roundRect">
            <a:avLst>
              <a:gd name="adj" fmla="val 16667"/>
            </a:avLst>
          </a:prstGeom>
          <a:solidFill>
            <a:srgbClr val="ECFCCB"/>
          </a:solidFill>
          <a:ln w="13970">
            <a:solidFill>
              <a:srgbClr val="86B8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34"/>
          <p:cNvSpPr/>
          <p:nvPr/>
        </p:nvSpPr>
        <p:spPr>
          <a:xfrm>
            <a:off x="9921240" y="3008520"/>
            <a:ext cx="8226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92500" lnSpcReduction="1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prediction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Shape 35"/>
          <p:cNvSpPr/>
          <p:nvPr/>
        </p:nvSpPr>
        <p:spPr>
          <a:xfrm>
            <a:off x="9601200" y="3136320"/>
            <a:ext cx="274320" cy="360"/>
          </a:xfrm>
          <a:prstGeom prst="line">
            <a:avLst/>
          </a:prstGeom>
          <a:ln w="13970">
            <a:solidFill>
              <a:srgbClr val="86B817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36"/>
          <p:cNvSpPr/>
          <p:nvPr/>
        </p:nvSpPr>
        <p:spPr>
          <a:xfrm>
            <a:off x="5577840" y="3840480"/>
            <a:ext cx="4388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history represented through causal dilated connectivity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Shape 37"/>
          <p:cNvSpPr/>
          <p:nvPr/>
        </p:nvSpPr>
        <p:spPr>
          <a:xfrm>
            <a:off x="3474720" y="5212080"/>
            <a:ext cx="3657240" cy="548280"/>
          </a:xfrm>
          <a:prstGeom prst="roundRect">
            <a:avLst>
              <a:gd name="adj" fmla="val 13333"/>
            </a:avLst>
          </a:prstGeom>
          <a:solidFill>
            <a:srgbClr val="FEF3C7"/>
          </a:solidFill>
          <a:ln w="1397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38"/>
          <p:cNvSpPr/>
          <p:nvPr/>
        </p:nvSpPr>
        <p:spPr>
          <a:xfrm>
            <a:off x="3520440" y="5248800"/>
            <a:ext cx="356580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925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Long memory does not require recurrence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PlaceHolder 1"/>
          <p:cNvSpPr>
            <a:spLocks noGrp="1"/>
          </p:cNvSpPr>
          <p:nvPr>
            <p:ph type="sldNum" idx="10"/>
          </p:nvPr>
        </p:nvSpPr>
        <p:spPr>
          <a:xfrm>
            <a:off x="1065276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rgbClr val="64748B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7F29C7F-2B78-4DAD-B0E9-ABA978A252F1}" type="slidenum"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212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782EB19-15FB-1860-8025-AC8F1D682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WaveNet</a:t>
            </a:r>
            <a:r>
              <a:rPr lang="en-GB" dirty="0"/>
              <a:t> is an architectural reference, not the endpoint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2D578F6-EDF3-2C9B-FD6A-CE36A28A55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10515385" cy="4390682"/>
          </a:xfrm>
        </p:spPr>
        <p:txBody>
          <a:bodyPr>
            <a:normAutofit fontScale="77500" lnSpcReduction="20000"/>
          </a:bodyPr>
          <a:lstStyle/>
          <a:p>
            <a:r>
              <a:rPr lang="en-GB" dirty="0"/>
              <a:t>For this course, </a:t>
            </a:r>
            <a:r>
              <a:rPr lang="en-GB" b="1" dirty="0" err="1">
                <a:highlight>
                  <a:srgbClr val="FFFF00"/>
                </a:highlight>
              </a:rPr>
              <a:t>WaveNet</a:t>
            </a:r>
            <a:r>
              <a:rPr lang="en-GB" b="1" dirty="0">
                <a:highlight>
                  <a:srgbClr val="FFFF00"/>
                </a:highlight>
              </a:rPr>
              <a:t> should be viewed as an influential design pattern.</a:t>
            </a:r>
          </a:p>
          <a:p>
            <a:r>
              <a:rPr lang="en-GB" dirty="0"/>
              <a:t>We do not need to develop in detail:</a:t>
            </a:r>
          </a:p>
          <a:p>
            <a:pPr lvl="1"/>
            <a:r>
              <a:rPr lang="en-GB" dirty="0"/>
              <a:t>raw audio quantization; </a:t>
            </a:r>
          </a:p>
          <a:p>
            <a:pPr lvl="1"/>
            <a:r>
              <a:rPr lang="en-GB" dirty="0"/>
              <a:t>audio-specific output distributions; </a:t>
            </a:r>
          </a:p>
          <a:p>
            <a:pPr lvl="1"/>
            <a:r>
              <a:rPr lang="en-GB" dirty="0"/>
              <a:t>sample-by-sample waveform synthesis. </a:t>
            </a:r>
          </a:p>
          <a:p>
            <a:r>
              <a:rPr lang="en-GB" dirty="0">
                <a:highlight>
                  <a:srgbClr val="FFFF00"/>
                </a:highlight>
              </a:rPr>
              <a:t>Instead, retain the architectural ideas:</a:t>
            </a:r>
          </a:p>
          <a:p>
            <a:pPr lvl="1"/>
            <a:r>
              <a:rPr lang="en-GB" dirty="0"/>
              <a:t>causal convolution; </a:t>
            </a:r>
          </a:p>
          <a:p>
            <a:pPr lvl="1"/>
            <a:r>
              <a:rPr lang="en-GB" dirty="0"/>
              <a:t>dilation; </a:t>
            </a:r>
          </a:p>
          <a:p>
            <a:pPr lvl="1"/>
            <a:r>
              <a:rPr lang="en-GB" dirty="0"/>
              <a:t>exponentially increasing receptive field; </a:t>
            </a:r>
          </a:p>
          <a:p>
            <a:pPr lvl="1"/>
            <a:r>
              <a:rPr lang="en-GB" dirty="0"/>
              <a:t>residual paths; </a:t>
            </a:r>
          </a:p>
          <a:p>
            <a:pPr lvl="1"/>
            <a:r>
              <a:rPr lang="en-GB" dirty="0"/>
              <a:t>skip connections. </a:t>
            </a:r>
          </a:p>
          <a:p>
            <a:r>
              <a:rPr lang="en-GB" b="1" dirty="0"/>
              <a:t>These ideas appear in many later temporal convolutional models.</a:t>
            </a:r>
          </a:p>
          <a:p>
            <a:endParaRPr lang="en-GB" b="1" dirty="0"/>
          </a:p>
          <a:p>
            <a:r>
              <a:rPr lang="en-GB" b="1" dirty="0"/>
              <a:t>Transition</a:t>
            </a:r>
          </a:p>
          <a:p>
            <a:r>
              <a:rPr lang="en-GB" dirty="0"/>
              <a:t>We now return from architecture to the prediction tasks introduced in Lecture 1.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0193466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CB8447C-1D34-8A78-AA2B-A083B16DB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Block 5.J — Temporal CNNs for Different Prediction Tasks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C0F7D1A-8406-7F38-405C-6C45571F2D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67849034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Text 0"/>
          <p:cNvSpPr/>
          <p:nvPr/>
        </p:nvSpPr>
        <p:spPr>
          <a:xfrm>
            <a:off x="502920" y="320040"/>
            <a:ext cx="98751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 dirty="0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Temporal CNN backbone, task-specific heads</a:t>
            </a:r>
            <a:endParaRPr lang="it-IT" sz="3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Shape 2"/>
          <p:cNvSpPr/>
          <p:nvPr/>
        </p:nvSpPr>
        <p:spPr>
          <a:xfrm>
            <a:off x="731520" y="2788920"/>
            <a:ext cx="1462680" cy="594000"/>
          </a:xfrm>
          <a:prstGeom prst="roundRect">
            <a:avLst>
              <a:gd name="adj" fmla="val 12308"/>
            </a:avLst>
          </a:prstGeom>
          <a:solidFill>
            <a:srgbClr val="DBEAFE"/>
          </a:solidFill>
          <a:ln w="1397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3"/>
          <p:cNvSpPr/>
          <p:nvPr/>
        </p:nvSpPr>
        <p:spPr>
          <a:xfrm>
            <a:off x="777240" y="2825640"/>
            <a:ext cx="137124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input sequence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[N, L, d]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Shape 4"/>
          <p:cNvSpPr/>
          <p:nvPr/>
        </p:nvSpPr>
        <p:spPr>
          <a:xfrm>
            <a:off x="2926080" y="2651760"/>
            <a:ext cx="1645560" cy="822600"/>
          </a:xfrm>
          <a:prstGeom prst="roundRect">
            <a:avLst>
              <a:gd name="adj" fmla="val 8889"/>
            </a:avLst>
          </a:prstGeom>
          <a:solidFill>
            <a:srgbClr val="ECFCCB"/>
          </a:solidFill>
          <a:ln w="13970">
            <a:solidFill>
              <a:srgbClr val="86B8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5"/>
          <p:cNvSpPr/>
          <p:nvPr/>
        </p:nvSpPr>
        <p:spPr>
          <a:xfrm>
            <a:off x="2971800" y="2688480"/>
            <a:ext cx="155412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Conv1D / TCN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backbone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6"/>
          <p:cNvSpPr/>
          <p:nvPr/>
        </p:nvSpPr>
        <p:spPr>
          <a:xfrm>
            <a:off x="2194560" y="3090600"/>
            <a:ext cx="731520" cy="360"/>
          </a:xfrm>
          <a:prstGeom prst="line">
            <a:avLst/>
          </a:prstGeom>
          <a:ln w="19050">
            <a:solidFill>
              <a:srgbClr val="47556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Shape 7"/>
          <p:cNvSpPr/>
          <p:nvPr/>
        </p:nvSpPr>
        <p:spPr>
          <a:xfrm>
            <a:off x="5486400" y="1143000"/>
            <a:ext cx="1828440" cy="685440"/>
          </a:xfrm>
          <a:prstGeom prst="roundRect">
            <a:avLst>
              <a:gd name="adj" fmla="val 10667"/>
            </a:avLst>
          </a:prstGeom>
          <a:solidFill>
            <a:srgbClr val="EDE9FE"/>
          </a:solidFill>
          <a:ln w="1397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8"/>
          <p:cNvSpPr/>
          <p:nvPr/>
        </p:nvSpPr>
        <p:spPr>
          <a:xfrm>
            <a:off x="5532120" y="1179720"/>
            <a:ext cx="1737000" cy="61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classification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[N, K]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Shape 9"/>
          <p:cNvSpPr/>
          <p:nvPr/>
        </p:nvSpPr>
        <p:spPr>
          <a:xfrm flipV="1">
            <a:off x="4572000" y="1490400"/>
            <a:ext cx="914400" cy="1572840"/>
          </a:xfrm>
          <a:prstGeom prst="line">
            <a:avLst/>
          </a:prstGeom>
          <a:ln w="15240">
            <a:solidFill>
              <a:srgbClr val="7C3AED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Shape 10"/>
          <p:cNvSpPr/>
          <p:nvPr/>
        </p:nvSpPr>
        <p:spPr>
          <a:xfrm>
            <a:off x="5486400" y="2331720"/>
            <a:ext cx="1828440" cy="685440"/>
          </a:xfrm>
          <a:prstGeom prst="roundRect">
            <a:avLst>
              <a:gd name="adj" fmla="val 10667"/>
            </a:avLst>
          </a:prstGeom>
          <a:solidFill>
            <a:srgbClr val="FEF3C7"/>
          </a:solidFill>
          <a:ln w="1397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11"/>
          <p:cNvSpPr/>
          <p:nvPr/>
        </p:nvSpPr>
        <p:spPr>
          <a:xfrm>
            <a:off x="5532120" y="2368440"/>
            <a:ext cx="1737000" cy="61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regression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[N, q]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Shape 12"/>
          <p:cNvSpPr/>
          <p:nvPr/>
        </p:nvSpPr>
        <p:spPr>
          <a:xfrm flipV="1">
            <a:off x="4572000" y="2679120"/>
            <a:ext cx="914400" cy="384120"/>
          </a:xfrm>
          <a:prstGeom prst="line">
            <a:avLst/>
          </a:prstGeom>
          <a:ln w="15240">
            <a:solidFill>
              <a:srgbClr val="F59E0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13"/>
          <p:cNvSpPr/>
          <p:nvPr/>
        </p:nvSpPr>
        <p:spPr>
          <a:xfrm>
            <a:off x="5486400" y="3520440"/>
            <a:ext cx="1828440" cy="685440"/>
          </a:xfrm>
          <a:prstGeom prst="roundRect">
            <a:avLst>
              <a:gd name="adj" fmla="val 10667"/>
            </a:avLst>
          </a:prstGeom>
          <a:solidFill>
            <a:srgbClr val="CCFBF1"/>
          </a:solidFill>
          <a:ln w="13970">
            <a:solidFill>
              <a:srgbClr val="0F76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14"/>
          <p:cNvSpPr/>
          <p:nvPr/>
        </p:nvSpPr>
        <p:spPr>
          <a:xfrm>
            <a:off x="5532120" y="3557160"/>
            <a:ext cx="1737000" cy="61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sequence labelling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[N, L, K]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Shape 15"/>
          <p:cNvSpPr/>
          <p:nvPr/>
        </p:nvSpPr>
        <p:spPr>
          <a:xfrm>
            <a:off x="4572000" y="3063240"/>
            <a:ext cx="914400" cy="804600"/>
          </a:xfrm>
          <a:prstGeom prst="line">
            <a:avLst/>
          </a:prstGeom>
          <a:ln w="15240">
            <a:solidFill>
              <a:srgbClr val="0F766E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16"/>
          <p:cNvSpPr/>
          <p:nvPr/>
        </p:nvSpPr>
        <p:spPr>
          <a:xfrm>
            <a:off x="5486400" y="4709160"/>
            <a:ext cx="1828440" cy="685440"/>
          </a:xfrm>
          <a:prstGeom prst="roundRect">
            <a:avLst>
              <a:gd name="adj" fmla="val 10667"/>
            </a:avLst>
          </a:prstGeom>
          <a:solidFill>
            <a:srgbClr val="DBEAFE"/>
          </a:solidFill>
          <a:ln w="1397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17"/>
          <p:cNvSpPr/>
          <p:nvPr/>
        </p:nvSpPr>
        <p:spPr>
          <a:xfrm>
            <a:off x="5532120" y="4745880"/>
            <a:ext cx="1737000" cy="61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forecasting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[N, H] / [N,H,q]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Shape 18"/>
          <p:cNvSpPr/>
          <p:nvPr/>
        </p:nvSpPr>
        <p:spPr>
          <a:xfrm>
            <a:off x="4572000" y="3063240"/>
            <a:ext cx="914400" cy="1993320"/>
          </a:xfrm>
          <a:prstGeom prst="line">
            <a:avLst/>
          </a:prstGeom>
          <a:ln w="15240">
            <a:solidFill>
              <a:srgbClr val="2563E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PlaceHolder 1"/>
          <p:cNvSpPr>
            <a:spLocks noGrp="1"/>
          </p:cNvSpPr>
          <p:nvPr>
            <p:ph type="sldNum" idx="11"/>
          </p:nvPr>
        </p:nvSpPr>
        <p:spPr>
          <a:xfrm>
            <a:off x="1065276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rgbClr val="64748B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6FE15C0-6B3B-44C9-ABC5-33689ECD60B9}" type="slidenum"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215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8FC68AE2-C2A7-5E06-69C1-AAC757C6A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pooling works well for classification</a:t>
            </a:r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4CC89EA3-936B-2C40-7187-9AC598D6CB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8"/>
            <a:ext cx="5418666" cy="4270691"/>
          </a:xfrm>
        </p:spPr>
        <p:txBody>
          <a:bodyPr>
            <a:normAutofit/>
          </a:bodyPr>
          <a:lstStyle/>
          <a:p>
            <a:r>
              <a:rPr lang="en-GB" dirty="0"/>
              <a:t>For many sequence-classification problems, the target depends on whether certain patterns occur somewhere in the window.</a:t>
            </a:r>
          </a:p>
          <a:p>
            <a:r>
              <a:rPr lang="en-GB" dirty="0"/>
              <a:t>Suppose a filter detects:</a:t>
            </a:r>
          </a:p>
          <a:p>
            <a:pPr lvl="1"/>
            <a:r>
              <a:rPr lang="en-GB" dirty="0"/>
              <a:t>fault-like vibration burst</a:t>
            </a:r>
          </a:p>
          <a:p>
            <a:r>
              <a:rPr lang="en-GB" dirty="0"/>
              <a:t>Its feature map may contain:</a:t>
            </a:r>
          </a:p>
          <a:p>
            <a:r>
              <a:rPr lang="en-GB" dirty="0"/>
              <a:t>0.1  0.2  0.1  4.8  0.3  0.1</a:t>
            </a:r>
          </a:p>
          <a:p>
            <a:r>
              <a:rPr lang="en-GB" b="1" dirty="0"/>
              <a:t>Global max pooling</a:t>
            </a:r>
          </a:p>
          <a:p>
            <a:r>
              <a:rPr lang="en-GB" dirty="0"/>
              <a:t>Retains: 4.8</a:t>
            </a:r>
          </a:p>
          <a:p>
            <a:r>
              <a:rPr lang="en-GB" dirty="0"/>
              <a:t>and asks approximately:</a:t>
            </a:r>
          </a:p>
          <a:p>
            <a:r>
              <a:rPr lang="en-GB" dirty="0"/>
              <a:t>Was this pattern strongly present anywhere?</a:t>
            </a:r>
          </a:p>
          <a:p>
            <a:endParaRPr lang="en-GB" dirty="0"/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777D792C-F262-7DAB-86BB-4FDACC06B3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2160588"/>
            <a:ext cx="5753564" cy="4270692"/>
          </a:xfrm>
        </p:spPr>
        <p:txBody>
          <a:bodyPr>
            <a:normAutofit/>
          </a:bodyPr>
          <a:lstStyle/>
          <a:p>
            <a:r>
              <a:rPr lang="en-GB" b="1" dirty="0"/>
              <a:t>Global average pooling</a:t>
            </a:r>
          </a:p>
          <a:p>
            <a:r>
              <a:rPr lang="en-GB" dirty="0"/>
              <a:t>Summarizes:</a:t>
            </a:r>
          </a:p>
          <a:p>
            <a:r>
              <a:rPr lang="en-GB" dirty="0"/>
              <a:t>How much was this pattern active over the entire sequence?</a:t>
            </a:r>
          </a:p>
          <a:p>
            <a:r>
              <a:rPr lang="en-GB" b="1" dirty="0"/>
              <a:t>Benefit</a:t>
            </a:r>
          </a:p>
          <a:p>
            <a:r>
              <a:rPr lang="en-GB" dirty="0"/>
              <a:t>The classifier receives a fixed-size feature vector regardless of temporal length.</a:t>
            </a:r>
          </a:p>
          <a:p>
            <a:r>
              <a:rPr lang="en-GB" b="1" dirty="0"/>
              <a:t>Cost</a:t>
            </a:r>
          </a:p>
          <a:p>
            <a:r>
              <a:rPr lang="en-GB" dirty="0"/>
              <a:t>Exact event location is discarded.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38822969"/>
      </p:ext>
    </p:extLst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Text 0"/>
          <p:cNvSpPr/>
          <p:nvPr/>
        </p:nvSpPr>
        <p:spPr>
          <a:xfrm>
            <a:off x="502920" y="320040"/>
            <a:ext cx="98751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Window classification with global pooling</a:t>
            </a:r>
            <a:endParaRPr lang="it-IT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1"/>
          <p:cNvSpPr/>
          <p:nvPr/>
        </p:nvSpPr>
        <p:spPr>
          <a:xfrm>
            <a:off x="530280" y="804600"/>
            <a:ext cx="95094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Pooling converts temporal feature maps into a fixed-size vector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2"/>
          <p:cNvSpPr/>
          <p:nvPr/>
        </p:nvSpPr>
        <p:spPr>
          <a:xfrm>
            <a:off x="685800" y="2743200"/>
            <a:ext cx="1279800" cy="594000"/>
          </a:xfrm>
          <a:prstGeom prst="roundRect">
            <a:avLst>
              <a:gd name="adj" fmla="val 12308"/>
            </a:avLst>
          </a:prstGeom>
          <a:solidFill>
            <a:srgbClr val="DBEAFE"/>
          </a:solidFill>
          <a:ln w="1397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3"/>
          <p:cNvSpPr/>
          <p:nvPr/>
        </p:nvSpPr>
        <p:spPr>
          <a:xfrm>
            <a:off x="731520" y="2779920"/>
            <a:ext cx="118836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input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[N, 500, 6]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Shape 4"/>
          <p:cNvSpPr/>
          <p:nvPr/>
        </p:nvSpPr>
        <p:spPr>
          <a:xfrm>
            <a:off x="2743200" y="2560320"/>
            <a:ext cx="1828440" cy="914040"/>
          </a:xfrm>
          <a:prstGeom prst="roundRect">
            <a:avLst>
              <a:gd name="adj" fmla="val 8000"/>
            </a:avLst>
          </a:prstGeom>
          <a:solidFill>
            <a:srgbClr val="ECFCCB"/>
          </a:solidFill>
          <a:ln w="13970">
            <a:solidFill>
              <a:srgbClr val="86B8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5"/>
          <p:cNvSpPr/>
          <p:nvPr/>
        </p:nvSpPr>
        <p:spPr>
          <a:xfrm>
            <a:off x="2788920" y="2597040"/>
            <a:ext cx="1737000" cy="84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Conv1D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feature maps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[N, 125, 64]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6"/>
          <p:cNvSpPr/>
          <p:nvPr/>
        </p:nvSpPr>
        <p:spPr>
          <a:xfrm>
            <a:off x="5394960" y="2606040"/>
            <a:ext cx="1645560" cy="822600"/>
          </a:xfrm>
          <a:prstGeom prst="roundRect">
            <a:avLst>
              <a:gd name="adj" fmla="val 8889"/>
            </a:avLst>
          </a:prstGeom>
          <a:solidFill>
            <a:srgbClr val="FEF3C7"/>
          </a:solidFill>
          <a:ln w="1397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7"/>
          <p:cNvSpPr/>
          <p:nvPr/>
        </p:nvSpPr>
        <p:spPr>
          <a:xfrm>
            <a:off x="5440680" y="2642760"/>
            <a:ext cx="155412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global max / avg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pooling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[N, 64]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Shape 8"/>
          <p:cNvSpPr/>
          <p:nvPr/>
        </p:nvSpPr>
        <p:spPr>
          <a:xfrm>
            <a:off x="7863840" y="2743200"/>
            <a:ext cx="1371240" cy="594000"/>
          </a:xfrm>
          <a:prstGeom prst="roundRect">
            <a:avLst>
              <a:gd name="adj" fmla="val 12308"/>
            </a:avLst>
          </a:prstGeom>
          <a:solidFill>
            <a:srgbClr val="EDE9FE"/>
          </a:solidFill>
          <a:ln w="1397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9"/>
          <p:cNvSpPr/>
          <p:nvPr/>
        </p:nvSpPr>
        <p:spPr>
          <a:xfrm>
            <a:off x="7909560" y="2779920"/>
            <a:ext cx="1279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classifier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[N, K]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10"/>
          <p:cNvSpPr/>
          <p:nvPr/>
        </p:nvSpPr>
        <p:spPr>
          <a:xfrm>
            <a:off x="9875520" y="2743200"/>
            <a:ext cx="1188360" cy="594000"/>
          </a:xfrm>
          <a:prstGeom prst="roundRect">
            <a:avLst>
              <a:gd name="adj" fmla="val 12308"/>
            </a:avLst>
          </a:prstGeom>
          <a:solidFill>
            <a:srgbClr val="F1F5F9"/>
          </a:solidFill>
          <a:ln w="1397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11"/>
          <p:cNvSpPr/>
          <p:nvPr/>
        </p:nvSpPr>
        <p:spPr>
          <a:xfrm>
            <a:off x="9921240" y="2779920"/>
            <a:ext cx="109692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class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probabilities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Shape 12"/>
          <p:cNvSpPr/>
          <p:nvPr/>
        </p:nvSpPr>
        <p:spPr>
          <a:xfrm>
            <a:off x="1965960" y="3044880"/>
            <a:ext cx="777240" cy="360"/>
          </a:xfrm>
          <a:prstGeom prst="line">
            <a:avLst/>
          </a:prstGeom>
          <a:ln w="19050">
            <a:solidFill>
              <a:srgbClr val="47556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Shape 13"/>
          <p:cNvSpPr/>
          <p:nvPr/>
        </p:nvSpPr>
        <p:spPr>
          <a:xfrm>
            <a:off x="4572000" y="3044880"/>
            <a:ext cx="822960" cy="360"/>
          </a:xfrm>
          <a:prstGeom prst="line">
            <a:avLst/>
          </a:prstGeom>
          <a:ln w="19050">
            <a:solidFill>
              <a:srgbClr val="47556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14"/>
          <p:cNvSpPr/>
          <p:nvPr/>
        </p:nvSpPr>
        <p:spPr>
          <a:xfrm>
            <a:off x="7040880" y="3044880"/>
            <a:ext cx="822960" cy="360"/>
          </a:xfrm>
          <a:prstGeom prst="line">
            <a:avLst/>
          </a:prstGeom>
          <a:ln w="19050">
            <a:solidFill>
              <a:srgbClr val="47556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Shape 15"/>
          <p:cNvSpPr/>
          <p:nvPr/>
        </p:nvSpPr>
        <p:spPr>
          <a:xfrm>
            <a:off x="9235440" y="3044880"/>
            <a:ext cx="640080" cy="360"/>
          </a:xfrm>
          <a:prstGeom prst="line">
            <a:avLst/>
          </a:prstGeom>
          <a:ln w="19050">
            <a:solidFill>
              <a:srgbClr val="47556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16"/>
          <p:cNvSpPr/>
          <p:nvPr/>
        </p:nvSpPr>
        <p:spPr>
          <a:xfrm>
            <a:off x="5074920" y="426168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59E0B"/>
                </a:solidFill>
                <a:effectLst/>
                <a:uFillTx/>
                <a:latin typeface="Aptos"/>
                <a:ea typeface="Aptos"/>
              </a:rPr>
              <a:t>global max: strongest occurrence anywhere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17"/>
          <p:cNvSpPr/>
          <p:nvPr/>
        </p:nvSpPr>
        <p:spPr>
          <a:xfrm>
            <a:off x="5074920" y="457200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59E0B"/>
                </a:solidFill>
                <a:effectLst/>
                <a:uFillTx/>
                <a:latin typeface="Aptos"/>
                <a:ea typeface="Aptos"/>
              </a:rPr>
              <a:t>global average: overall feature activity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18"/>
          <p:cNvSpPr/>
          <p:nvPr/>
        </p:nvSpPr>
        <p:spPr>
          <a:xfrm>
            <a:off x="5882640" y="501156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C2626"/>
                </a:solidFill>
                <a:effectLst/>
                <a:uFillTx/>
                <a:latin typeface="Aptos"/>
                <a:ea typeface="Aptos"/>
              </a:rPr>
              <a:t>exact event location is discarded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PlaceHolder 1"/>
          <p:cNvSpPr>
            <a:spLocks noGrp="1"/>
          </p:cNvSpPr>
          <p:nvPr>
            <p:ph type="sldNum" idx="12"/>
          </p:nvPr>
        </p:nvSpPr>
        <p:spPr>
          <a:xfrm>
            <a:off x="1065276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rgbClr val="64748B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032F9FA-68A1-48FD-97C3-6031466C9625}" type="slidenum"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217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13C7482D-B0ED-2575-086A-6238FC58E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Regression from a temporal sequence</a:t>
            </a:r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11B955AD-AD59-97C5-431D-FAA2EA13628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The same architecture can produce a continuous output.</a:t>
            </a:r>
          </a:p>
          <a:p>
            <a:r>
              <a:rPr lang="en-GB" dirty="0"/>
              <a:t>temporal sequence</a:t>
            </a:r>
          </a:p>
          <a:p>
            <a:r>
              <a:rPr lang="en-GB" dirty="0"/>
              <a:t>      ↓</a:t>
            </a:r>
          </a:p>
          <a:p>
            <a:r>
              <a:rPr lang="en-GB" dirty="0"/>
              <a:t>Conv1D layers</a:t>
            </a:r>
          </a:p>
          <a:p>
            <a:r>
              <a:rPr lang="en-GB" dirty="0"/>
              <a:t>      ↓</a:t>
            </a:r>
          </a:p>
          <a:p>
            <a:r>
              <a:rPr lang="en-GB" dirty="0"/>
              <a:t>global pooling</a:t>
            </a:r>
          </a:p>
          <a:p>
            <a:r>
              <a:rPr lang="en-GB" dirty="0"/>
              <a:t>      ↓</a:t>
            </a:r>
          </a:p>
          <a:p>
            <a:r>
              <a:rPr lang="en-GB" dirty="0"/>
              <a:t>fixed-size representation</a:t>
            </a:r>
          </a:p>
          <a:p>
            <a:r>
              <a:rPr lang="en-GB" dirty="0"/>
              <a:t>      ↓</a:t>
            </a:r>
          </a:p>
          <a:p>
            <a:r>
              <a:rPr lang="en-GB" dirty="0"/>
              <a:t>regression layer</a:t>
            </a:r>
          </a:p>
          <a:p>
            <a:r>
              <a:rPr lang="en-GB" dirty="0"/>
              <a:t>      ↓</a:t>
            </a:r>
          </a:p>
          <a:p>
            <a:r>
              <a:rPr lang="en-GB" dirty="0"/>
              <a:t>continuous prediction</a:t>
            </a:r>
          </a:p>
          <a:p>
            <a:endParaRPr lang="en-GB" dirty="0"/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21B65AB4-59C5-CDF3-4C09-52DDC2D33A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6903910" cy="4438331"/>
          </a:xfrm>
        </p:spPr>
        <p:txBody>
          <a:bodyPr>
            <a:normAutofit fontScale="85000" lnSpcReduction="20000"/>
          </a:bodyPr>
          <a:lstStyle/>
          <a:p>
            <a:r>
              <a:rPr lang="en-GB" b="1" dirty="0">
                <a:highlight>
                  <a:srgbClr val="FFFF00"/>
                </a:highlight>
              </a:rPr>
              <a:t>Examples</a:t>
            </a:r>
          </a:p>
          <a:p>
            <a:pPr lvl="1"/>
            <a:r>
              <a:rPr lang="en-GB" dirty="0"/>
              <a:t>remaining useful life; </a:t>
            </a:r>
          </a:p>
          <a:p>
            <a:pPr lvl="1"/>
            <a:r>
              <a:rPr lang="en-GB" dirty="0"/>
              <a:t>product-quality estimate; </a:t>
            </a:r>
          </a:p>
          <a:p>
            <a:pPr lvl="1"/>
            <a:r>
              <a:rPr lang="en-GB" dirty="0"/>
              <a:t>energy consumption; </a:t>
            </a:r>
          </a:p>
          <a:p>
            <a:pPr lvl="1"/>
            <a:r>
              <a:rPr lang="en-GB" dirty="0"/>
              <a:t>physiological parameter; </a:t>
            </a:r>
          </a:p>
          <a:p>
            <a:pPr lvl="1"/>
            <a:r>
              <a:rPr lang="en-GB" dirty="0"/>
              <a:t>process-state indicator. </a:t>
            </a:r>
          </a:p>
          <a:p>
            <a:r>
              <a:rPr lang="en-GB" b="1" dirty="0"/>
              <a:t>Output shapes</a:t>
            </a:r>
          </a:p>
          <a:p>
            <a:r>
              <a:rPr lang="en-GB" dirty="0"/>
              <a:t>Scalar regression: [N, 1]</a:t>
            </a:r>
          </a:p>
          <a:p>
            <a:r>
              <a:rPr lang="en-GB" dirty="0"/>
              <a:t>Multiple continuous targets: [N, q]</a:t>
            </a:r>
          </a:p>
          <a:p>
            <a:endParaRPr lang="en-GB" dirty="0"/>
          </a:p>
          <a:p>
            <a:r>
              <a:rPr lang="en-GB" b="1" dirty="0"/>
              <a:t>The convolutional network learns the temporal representation, while the final regression layer maps that representation to the desired quantity.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93370717"/>
      </p:ext>
    </p:extLst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E455D15-8CA8-6F0F-D7FE-FE55B92FC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Sequence labelling requires temporal resolution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94565F2-4C1E-0BA6-A5B3-9B3C247547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8"/>
            <a:ext cx="5007186" cy="4484051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For sequence labelling, the model must produce an output for every time step or temporal position.</a:t>
            </a:r>
          </a:p>
          <a:p>
            <a:r>
              <a:rPr lang="en-GB" dirty="0">
                <a:highlight>
                  <a:srgbClr val="FFFF00"/>
                </a:highlight>
              </a:rPr>
              <a:t>Input: [N, L, d]</a:t>
            </a:r>
          </a:p>
          <a:p>
            <a:r>
              <a:rPr lang="en-GB" dirty="0">
                <a:highlight>
                  <a:srgbClr val="FFFF00"/>
                </a:highlight>
              </a:rPr>
              <a:t>Desired output for K classes: [N, L, K]</a:t>
            </a:r>
          </a:p>
          <a:p>
            <a:r>
              <a:rPr lang="en-GB" b="1" dirty="0"/>
              <a:t>Architecture</a:t>
            </a:r>
          </a:p>
          <a:p>
            <a:r>
              <a:rPr lang="en-GB" dirty="0"/>
              <a:t>input sequence</a:t>
            </a:r>
          </a:p>
          <a:p>
            <a:r>
              <a:rPr lang="en-GB" dirty="0"/>
              <a:t>      ↓</a:t>
            </a:r>
          </a:p>
          <a:p>
            <a:r>
              <a:rPr lang="en-GB" dirty="0"/>
              <a:t>Conv1D layers</a:t>
            </a:r>
          </a:p>
          <a:p>
            <a:r>
              <a:rPr lang="en-GB" dirty="0"/>
              <a:t>      ↓</a:t>
            </a:r>
          </a:p>
          <a:p>
            <a:r>
              <a:rPr lang="en-GB" dirty="0"/>
              <a:t>temporal feature maps</a:t>
            </a:r>
          </a:p>
          <a:p>
            <a:r>
              <a:rPr lang="en-GB" dirty="0"/>
              <a:t>      ↓</a:t>
            </a:r>
          </a:p>
          <a:p>
            <a:r>
              <a:rPr lang="en-GB" dirty="0"/>
              <a:t>per-time-step prediction layer</a:t>
            </a:r>
          </a:p>
          <a:p>
            <a:r>
              <a:rPr lang="en-GB" dirty="0"/>
              <a:t>      ↓</a:t>
            </a:r>
          </a:p>
          <a:p>
            <a:r>
              <a:rPr lang="en-GB" dirty="0"/>
              <a:t>label sequence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8F55F39-33BF-89BE-4B1A-71982D1067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2160589"/>
            <a:ext cx="5806630" cy="4484051"/>
          </a:xfrm>
        </p:spPr>
        <p:txBody>
          <a:bodyPr>
            <a:normAutofit fontScale="85000" lnSpcReduction="20000"/>
          </a:bodyPr>
          <a:lstStyle/>
          <a:p>
            <a:r>
              <a:rPr lang="en-GB" b="1" dirty="0"/>
              <a:t>Important requirement</a:t>
            </a:r>
          </a:p>
          <a:p>
            <a:r>
              <a:rPr lang="en-GB" b="1" dirty="0"/>
              <a:t>The temporal dimension should be preserved or restored.</a:t>
            </a:r>
          </a:p>
          <a:p>
            <a:r>
              <a:rPr lang="en-GB" dirty="0"/>
              <a:t>Therefore excessive:</a:t>
            </a:r>
          </a:p>
          <a:p>
            <a:pPr lvl="1"/>
            <a:r>
              <a:rPr lang="en-GB" dirty="0"/>
              <a:t>stride; </a:t>
            </a:r>
          </a:p>
          <a:p>
            <a:pPr lvl="1"/>
            <a:r>
              <a:rPr lang="en-GB" dirty="0"/>
              <a:t>pooling; </a:t>
            </a:r>
          </a:p>
          <a:p>
            <a:r>
              <a:rPr lang="en-GB" dirty="0"/>
              <a:t>may be inappropriate.</a:t>
            </a:r>
          </a:p>
          <a:p>
            <a:endParaRPr lang="en-GB" b="1" dirty="0"/>
          </a:p>
          <a:p>
            <a:r>
              <a:rPr lang="en-GB" b="1" dirty="0"/>
              <a:t>Applications</a:t>
            </a:r>
          </a:p>
          <a:p>
            <a:pPr lvl="1"/>
            <a:r>
              <a:rPr lang="en-GB" dirty="0"/>
              <a:t>process-phase labelling; </a:t>
            </a:r>
          </a:p>
          <a:p>
            <a:pPr lvl="1"/>
            <a:r>
              <a:rPr lang="en-GB" dirty="0"/>
              <a:t>activity segmentation; </a:t>
            </a:r>
          </a:p>
          <a:p>
            <a:pPr lvl="1"/>
            <a:r>
              <a:rPr lang="en-GB" dirty="0"/>
              <a:t>anomaly probability over time; </a:t>
            </a:r>
          </a:p>
          <a:p>
            <a:pPr lvl="1"/>
            <a:r>
              <a:rPr lang="en-GB" dirty="0"/>
              <a:t>operating-state recognition.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25101461"/>
      </p:ext>
    </p:extLst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Text 0"/>
          <p:cNvSpPr/>
          <p:nvPr/>
        </p:nvSpPr>
        <p:spPr>
          <a:xfrm>
            <a:off x="502920" y="320040"/>
            <a:ext cx="98751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Sequence labelling: preserve temporal resolution</a:t>
            </a:r>
            <a:endParaRPr lang="it-IT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1"/>
          <p:cNvSpPr/>
          <p:nvPr/>
        </p:nvSpPr>
        <p:spPr>
          <a:xfrm>
            <a:off x="530280" y="804600"/>
            <a:ext cx="95094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Output requires one prediction per time step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2"/>
          <p:cNvSpPr/>
          <p:nvPr/>
        </p:nvSpPr>
        <p:spPr>
          <a:xfrm>
            <a:off x="365760" y="224028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input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Shape 3"/>
          <p:cNvSpPr/>
          <p:nvPr/>
        </p:nvSpPr>
        <p:spPr>
          <a:xfrm>
            <a:off x="914400" y="2377440"/>
            <a:ext cx="8046720" cy="360"/>
          </a:xfrm>
          <a:prstGeom prst="line">
            <a:avLst/>
          </a:prstGeom>
          <a:ln w="2540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Shape 4"/>
          <p:cNvSpPr/>
          <p:nvPr/>
        </p:nvSpPr>
        <p:spPr>
          <a:xfrm>
            <a:off x="877680" y="234072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Shape 5"/>
          <p:cNvSpPr/>
          <p:nvPr/>
        </p:nvSpPr>
        <p:spPr>
          <a:xfrm>
            <a:off x="1771920" y="234072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Shape 6"/>
          <p:cNvSpPr/>
          <p:nvPr/>
        </p:nvSpPr>
        <p:spPr>
          <a:xfrm>
            <a:off x="2666160" y="234072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Shape 7"/>
          <p:cNvSpPr/>
          <p:nvPr/>
        </p:nvSpPr>
        <p:spPr>
          <a:xfrm>
            <a:off x="3560040" y="234072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Shape 8"/>
          <p:cNvSpPr/>
          <p:nvPr/>
        </p:nvSpPr>
        <p:spPr>
          <a:xfrm>
            <a:off x="4454280" y="234072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7" name="Shape 9"/>
          <p:cNvSpPr/>
          <p:nvPr/>
        </p:nvSpPr>
        <p:spPr>
          <a:xfrm>
            <a:off x="5348160" y="234072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Shape 10"/>
          <p:cNvSpPr/>
          <p:nvPr/>
        </p:nvSpPr>
        <p:spPr>
          <a:xfrm>
            <a:off x="6242400" y="234072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Shape 11"/>
          <p:cNvSpPr/>
          <p:nvPr/>
        </p:nvSpPr>
        <p:spPr>
          <a:xfrm>
            <a:off x="7136280" y="234072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Shape 12"/>
          <p:cNvSpPr/>
          <p:nvPr/>
        </p:nvSpPr>
        <p:spPr>
          <a:xfrm>
            <a:off x="8030520" y="234072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Shape 13"/>
          <p:cNvSpPr/>
          <p:nvPr/>
        </p:nvSpPr>
        <p:spPr>
          <a:xfrm>
            <a:off x="8924400" y="234072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14"/>
          <p:cNvSpPr/>
          <p:nvPr/>
        </p:nvSpPr>
        <p:spPr>
          <a:xfrm>
            <a:off x="795600" y="1965960"/>
            <a:ext cx="23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x1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15"/>
          <p:cNvSpPr/>
          <p:nvPr/>
        </p:nvSpPr>
        <p:spPr>
          <a:xfrm>
            <a:off x="1689480" y="1965960"/>
            <a:ext cx="23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x2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16"/>
          <p:cNvSpPr/>
          <p:nvPr/>
        </p:nvSpPr>
        <p:spPr>
          <a:xfrm>
            <a:off x="2583720" y="1965960"/>
            <a:ext cx="23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x3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17"/>
          <p:cNvSpPr/>
          <p:nvPr/>
        </p:nvSpPr>
        <p:spPr>
          <a:xfrm>
            <a:off x="3477600" y="1965960"/>
            <a:ext cx="23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x4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18"/>
          <p:cNvSpPr/>
          <p:nvPr/>
        </p:nvSpPr>
        <p:spPr>
          <a:xfrm>
            <a:off x="4371840" y="1965960"/>
            <a:ext cx="23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x5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19"/>
          <p:cNvSpPr/>
          <p:nvPr/>
        </p:nvSpPr>
        <p:spPr>
          <a:xfrm>
            <a:off x="5266080" y="1965960"/>
            <a:ext cx="23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x6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20"/>
          <p:cNvSpPr/>
          <p:nvPr/>
        </p:nvSpPr>
        <p:spPr>
          <a:xfrm>
            <a:off x="6159960" y="1965960"/>
            <a:ext cx="23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x7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21"/>
          <p:cNvSpPr/>
          <p:nvPr/>
        </p:nvSpPr>
        <p:spPr>
          <a:xfrm>
            <a:off x="7054200" y="1965960"/>
            <a:ext cx="23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x8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22"/>
          <p:cNvSpPr/>
          <p:nvPr/>
        </p:nvSpPr>
        <p:spPr>
          <a:xfrm>
            <a:off x="7948080" y="1965960"/>
            <a:ext cx="23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x9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23"/>
          <p:cNvSpPr/>
          <p:nvPr/>
        </p:nvSpPr>
        <p:spPr>
          <a:xfrm>
            <a:off x="8842320" y="1965960"/>
            <a:ext cx="23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x10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Shape 24"/>
          <p:cNvSpPr/>
          <p:nvPr/>
        </p:nvSpPr>
        <p:spPr>
          <a:xfrm>
            <a:off x="3931920" y="3017520"/>
            <a:ext cx="1828440" cy="639720"/>
          </a:xfrm>
          <a:prstGeom prst="roundRect">
            <a:avLst>
              <a:gd name="adj" fmla="val 11429"/>
            </a:avLst>
          </a:prstGeom>
          <a:solidFill>
            <a:srgbClr val="ECFCCB"/>
          </a:solidFill>
          <a:ln w="13970">
            <a:solidFill>
              <a:srgbClr val="86B8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25"/>
          <p:cNvSpPr/>
          <p:nvPr/>
        </p:nvSpPr>
        <p:spPr>
          <a:xfrm>
            <a:off x="3977640" y="3054240"/>
            <a:ext cx="173700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same-length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Conv1D/TCN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Shape 26"/>
          <p:cNvSpPr/>
          <p:nvPr/>
        </p:nvSpPr>
        <p:spPr>
          <a:xfrm>
            <a:off x="4846320" y="2606040"/>
            <a:ext cx="360" cy="411480"/>
          </a:xfrm>
          <a:prstGeom prst="line">
            <a:avLst/>
          </a:prstGeom>
          <a:ln w="19050">
            <a:solidFill>
              <a:srgbClr val="86B817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27"/>
          <p:cNvSpPr/>
          <p:nvPr/>
        </p:nvSpPr>
        <p:spPr>
          <a:xfrm>
            <a:off x="274320" y="420624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output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Shape 28"/>
          <p:cNvSpPr/>
          <p:nvPr/>
        </p:nvSpPr>
        <p:spPr>
          <a:xfrm>
            <a:off x="914400" y="4343400"/>
            <a:ext cx="8046720" cy="360"/>
          </a:xfrm>
          <a:prstGeom prst="line">
            <a:avLst/>
          </a:prstGeom>
          <a:ln w="2540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Shape 29"/>
          <p:cNvSpPr/>
          <p:nvPr/>
        </p:nvSpPr>
        <p:spPr>
          <a:xfrm>
            <a:off x="877680" y="430668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Shape 30"/>
          <p:cNvSpPr/>
          <p:nvPr/>
        </p:nvSpPr>
        <p:spPr>
          <a:xfrm>
            <a:off x="1771920" y="430668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Shape 31"/>
          <p:cNvSpPr/>
          <p:nvPr/>
        </p:nvSpPr>
        <p:spPr>
          <a:xfrm>
            <a:off x="2666160" y="430668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Shape 32"/>
          <p:cNvSpPr/>
          <p:nvPr/>
        </p:nvSpPr>
        <p:spPr>
          <a:xfrm>
            <a:off x="3560040" y="430668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Shape 33"/>
          <p:cNvSpPr/>
          <p:nvPr/>
        </p:nvSpPr>
        <p:spPr>
          <a:xfrm>
            <a:off x="4454280" y="430668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Shape 34"/>
          <p:cNvSpPr/>
          <p:nvPr/>
        </p:nvSpPr>
        <p:spPr>
          <a:xfrm>
            <a:off x="5348160" y="430668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Shape 35"/>
          <p:cNvSpPr/>
          <p:nvPr/>
        </p:nvSpPr>
        <p:spPr>
          <a:xfrm>
            <a:off x="6242400" y="430668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4" name="Shape 36"/>
          <p:cNvSpPr/>
          <p:nvPr/>
        </p:nvSpPr>
        <p:spPr>
          <a:xfrm>
            <a:off x="7136280" y="430668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Shape 37"/>
          <p:cNvSpPr/>
          <p:nvPr/>
        </p:nvSpPr>
        <p:spPr>
          <a:xfrm>
            <a:off x="8030520" y="430668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Shape 38"/>
          <p:cNvSpPr/>
          <p:nvPr/>
        </p:nvSpPr>
        <p:spPr>
          <a:xfrm>
            <a:off x="8924400" y="430668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 39"/>
          <p:cNvSpPr/>
          <p:nvPr/>
        </p:nvSpPr>
        <p:spPr>
          <a:xfrm>
            <a:off x="795600" y="4572000"/>
            <a:ext cx="23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ŷ1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40"/>
          <p:cNvSpPr/>
          <p:nvPr/>
        </p:nvSpPr>
        <p:spPr>
          <a:xfrm>
            <a:off x="1689480" y="4572000"/>
            <a:ext cx="23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ŷ2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41"/>
          <p:cNvSpPr/>
          <p:nvPr/>
        </p:nvSpPr>
        <p:spPr>
          <a:xfrm>
            <a:off x="2583720" y="4572000"/>
            <a:ext cx="23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ŷ3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42"/>
          <p:cNvSpPr/>
          <p:nvPr/>
        </p:nvSpPr>
        <p:spPr>
          <a:xfrm>
            <a:off x="3477600" y="4572000"/>
            <a:ext cx="23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ŷ4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43"/>
          <p:cNvSpPr/>
          <p:nvPr/>
        </p:nvSpPr>
        <p:spPr>
          <a:xfrm>
            <a:off x="4371840" y="4572000"/>
            <a:ext cx="23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ŷ5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 44"/>
          <p:cNvSpPr/>
          <p:nvPr/>
        </p:nvSpPr>
        <p:spPr>
          <a:xfrm>
            <a:off x="5266080" y="4572000"/>
            <a:ext cx="23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ŷ6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45"/>
          <p:cNvSpPr/>
          <p:nvPr/>
        </p:nvSpPr>
        <p:spPr>
          <a:xfrm>
            <a:off x="6159960" y="4572000"/>
            <a:ext cx="23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ŷ7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46"/>
          <p:cNvSpPr/>
          <p:nvPr/>
        </p:nvSpPr>
        <p:spPr>
          <a:xfrm>
            <a:off x="7054200" y="4572000"/>
            <a:ext cx="23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ŷ8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 47"/>
          <p:cNvSpPr/>
          <p:nvPr/>
        </p:nvSpPr>
        <p:spPr>
          <a:xfrm>
            <a:off x="7948080" y="4572000"/>
            <a:ext cx="23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ŷ9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 48"/>
          <p:cNvSpPr/>
          <p:nvPr/>
        </p:nvSpPr>
        <p:spPr>
          <a:xfrm>
            <a:off x="8842320" y="4572000"/>
            <a:ext cx="23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ŷ10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Shape 49"/>
          <p:cNvSpPr/>
          <p:nvPr/>
        </p:nvSpPr>
        <p:spPr>
          <a:xfrm>
            <a:off x="4846320" y="3657600"/>
            <a:ext cx="360" cy="502920"/>
          </a:xfrm>
          <a:prstGeom prst="line">
            <a:avLst/>
          </a:prstGeom>
          <a:ln w="19050">
            <a:solidFill>
              <a:srgbClr val="86B817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Shape 50"/>
          <p:cNvSpPr/>
          <p:nvPr/>
        </p:nvSpPr>
        <p:spPr>
          <a:xfrm>
            <a:off x="3566160" y="5349240"/>
            <a:ext cx="2559960" cy="594000"/>
          </a:xfrm>
          <a:prstGeom prst="roundRect">
            <a:avLst>
              <a:gd name="adj" fmla="val 12308"/>
            </a:avLst>
          </a:prstGeom>
          <a:solidFill>
            <a:srgbClr val="FEE2E2"/>
          </a:solidFill>
          <a:ln w="1397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 51"/>
          <p:cNvSpPr/>
          <p:nvPr/>
        </p:nvSpPr>
        <p:spPr>
          <a:xfrm>
            <a:off x="3611880" y="5385960"/>
            <a:ext cx="246852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avoid excessive stride/pooling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if precise timing matters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PlaceHolder 1"/>
          <p:cNvSpPr>
            <a:spLocks noGrp="1"/>
          </p:cNvSpPr>
          <p:nvPr>
            <p:ph type="sldNum" idx="13"/>
          </p:nvPr>
        </p:nvSpPr>
        <p:spPr>
          <a:xfrm>
            <a:off x="1065276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rgbClr val="64748B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D480DBC-D1D0-4C7A-B40F-ABA88A32A809}" type="slidenum"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220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05B0B86-1130-6EF8-DD33-DBFCB46FA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Online versus offline sequence labelling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117ABAD-AEE6-416A-4F35-95690C471B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8"/>
            <a:ext cx="4793826" cy="4453571"/>
          </a:xfrm>
        </p:spPr>
        <p:txBody>
          <a:bodyPr>
            <a:normAutofit/>
          </a:bodyPr>
          <a:lstStyle/>
          <a:p>
            <a:r>
              <a:rPr lang="en-GB" b="1" dirty="0"/>
              <a:t>Online labelling</a:t>
            </a:r>
          </a:p>
          <a:p>
            <a:r>
              <a:rPr lang="en-GB" dirty="0"/>
              <a:t>Prediction at time t must be available immediately.</a:t>
            </a:r>
          </a:p>
          <a:p>
            <a:r>
              <a:rPr lang="en-GB" dirty="0"/>
              <a:t>Use a causal architecture:</a:t>
            </a:r>
          </a:p>
          <a:p>
            <a:r>
              <a:rPr lang="en-GB" dirty="0" err="1"/>
              <a:t>y_hat</a:t>
            </a:r>
            <a:r>
              <a:rPr lang="en-GB" dirty="0"/>
              <a:t>[t] depends only on x[1] ... x[t]</a:t>
            </a:r>
          </a:p>
          <a:p>
            <a:endParaRPr lang="en-GB" b="1" dirty="0"/>
          </a:p>
          <a:p>
            <a:r>
              <a:rPr lang="en-GB" b="1" dirty="0"/>
              <a:t>Offline labelling</a:t>
            </a:r>
          </a:p>
          <a:p>
            <a:r>
              <a:rPr lang="en-GB" dirty="0"/>
              <a:t>The entire sequence is available.</a:t>
            </a:r>
          </a:p>
          <a:p>
            <a:r>
              <a:rPr lang="en-GB" dirty="0"/>
              <a:t>A non-causal CNN may use both:</a:t>
            </a:r>
          </a:p>
          <a:p>
            <a:pPr lvl="0"/>
            <a:r>
              <a:rPr lang="en-GB" dirty="0"/>
              <a:t>past context; </a:t>
            </a:r>
          </a:p>
          <a:p>
            <a:pPr lvl="0"/>
            <a:r>
              <a:rPr lang="en-GB" dirty="0"/>
              <a:t>future context. 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B6A4C4E-E293-BE04-63D8-D3A7E2D53E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28170" y="2160589"/>
            <a:ext cx="6019990" cy="4453571"/>
          </a:xfrm>
        </p:spPr>
        <p:txBody>
          <a:bodyPr>
            <a:normAutofit/>
          </a:bodyPr>
          <a:lstStyle/>
          <a:p>
            <a:r>
              <a:rPr lang="en-GB" dirty="0"/>
              <a:t>Example:</a:t>
            </a:r>
          </a:p>
          <a:p>
            <a:r>
              <a:rPr lang="en-GB" dirty="0"/>
              <a:t>past        t         future</a:t>
            </a:r>
          </a:p>
          <a:p>
            <a:r>
              <a:rPr lang="en-GB" dirty="0"/>
              <a:t>───────┬────●────┬────────</a:t>
            </a:r>
          </a:p>
          <a:p>
            <a:r>
              <a:rPr lang="en-GB" dirty="0"/>
              <a:t>       └ receptive field ┘</a:t>
            </a:r>
          </a:p>
          <a:p>
            <a:endParaRPr lang="en-GB" dirty="0"/>
          </a:p>
          <a:p>
            <a:r>
              <a:rPr lang="en-GB" dirty="0"/>
              <a:t>Future context may improve boundary identification.</a:t>
            </a:r>
          </a:p>
          <a:p>
            <a:r>
              <a:rPr lang="en-GB" dirty="0"/>
              <a:t>But it cannot be used for real-time decisions.</a:t>
            </a:r>
          </a:p>
          <a:p>
            <a:endParaRPr lang="en-GB" b="1" dirty="0"/>
          </a:p>
          <a:p>
            <a:r>
              <a:rPr lang="en-GB" b="1" dirty="0"/>
              <a:t>Key question</a:t>
            </a:r>
          </a:p>
          <a:p>
            <a:r>
              <a:rPr lang="en-GB" dirty="0"/>
              <a:t>Is the label required during operation or only after the complete sequence has been recorded?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66504401"/>
      </p:ext>
    </p:extLst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41EB373-180F-048A-4DC0-9D29AD3A7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One-step forecasting with a temporal CNN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BCDABC0-39F3-165C-223D-0AE8336B9F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8"/>
            <a:ext cx="5120830" cy="4255451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For one-step forecasting:</a:t>
            </a:r>
          </a:p>
          <a:p>
            <a:r>
              <a:rPr lang="en-GB" dirty="0"/>
              <a:t>Input: [x[t−L+1], ..., x[t]]</a:t>
            </a:r>
          </a:p>
          <a:p>
            <a:r>
              <a:rPr lang="en-GB" dirty="0"/>
              <a:t>Output: </a:t>
            </a:r>
            <a:r>
              <a:rPr lang="en-GB" dirty="0" err="1"/>
              <a:t>y_hat</a:t>
            </a:r>
            <a:r>
              <a:rPr lang="en-GB" dirty="0"/>
              <a:t>[t+1]</a:t>
            </a:r>
          </a:p>
          <a:p>
            <a:r>
              <a:rPr lang="en-GB" b="1" dirty="0"/>
              <a:t>Architecture</a:t>
            </a:r>
          </a:p>
          <a:p>
            <a:r>
              <a:rPr lang="en-GB" dirty="0"/>
              <a:t>historical window</a:t>
            </a:r>
          </a:p>
          <a:p>
            <a:r>
              <a:rPr lang="en-GB" dirty="0"/>
              <a:t>      ↓</a:t>
            </a:r>
          </a:p>
          <a:p>
            <a:r>
              <a:rPr lang="en-GB" dirty="0"/>
              <a:t>causal Conv1D / TCN</a:t>
            </a:r>
          </a:p>
          <a:p>
            <a:r>
              <a:rPr lang="en-GB" dirty="0"/>
              <a:t>      ↓</a:t>
            </a:r>
          </a:p>
          <a:p>
            <a:r>
              <a:rPr lang="en-GB" dirty="0"/>
              <a:t>historical representation</a:t>
            </a:r>
          </a:p>
          <a:p>
            <a:r>
              <a:rPr lang="en-GB" dirty="0"/>
              <a:t>      ↓</a:t>
            </a:r>
          </a:p>
          <a:p>
            <a:r>
              <a:rPr lang="en-GB" dirty="0"/>
              <a:t>forecasting layer</a:t>
            </a:r>
          </a:p>
          <a:p>
            <a:r>
              <a:rPr lang="en-GB" dirty="0"/>
              <a:t>      ↓</a:t>
            </a:r>
          </a:p>
          <a:p>
            <a:r>
              <a:rPr lang="en-GB" dirty="0" err="1"/>
              <a:t>y_hat</a:t>
            </a:r>
            <a:r>
              <a:rPr lang="en-GB" dirty="0"/>
              <a:t>[t+1]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A23BA87-F261-C522-1931-22A1735941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42570" y="2160589"/>
            <a:ext cx="5120830" cy="4377371"/>
          </a:xfrm>
        </p:spPr>
        <p:txBody>
          <a:bodyPr>
            <a:normAutofit fontScale="85000" lnSpcReduction="20000"/>
          </a:bodyPr>
          <a:lstStyle/>
          <a:p>
            <a:r>
              <a:rPr lang="en-GB" b="1" dirty="0"/>
              <a:t>Important requirements</a:t>
            </a:r>
          </a:p>
          <a:p>
            <a:pPr lvl="0"/>
            <a:r>
              <a:rPr lang="en-GB" dirty="0"/>
              <a:t>no future values in the convolutional representation; </a:t>
            </a:r>
          </a:p>
          <a:p>
            <a:pPr lvl="0"/>
            <a:r>
              <a:rPr lang="en-GB" dirty="0"/>
              <a:t>receptive field sufficient for relevant historical dependencies; </a:t>
            </a:r>
          </a:p>
          <a:p>
            <a:pPr lvl="0"/>
            <a:r>
              <a:rPr lang="en-GB" dirty="0"/>
              <a:t>preprocessing must also be causal. </a:t>
            </a:r>
          </a:p>
          <a:p>
            <a:endParaRPr lang="en-GB" b="1" dirty="0"/>
          </a:p>
          <a:p>
            <a:r>
              <a:rPr lang="en-GB" b="1" dirty="0">
                <a:highlight>
                  <a:srgbClr val="FFFF00"/>
                </a:highlight>
              </a:rPr>
              <a:t>Comparison</a:t>
            </a:r>
          </a:p>
          <a:p>
            <a:r>
              <a:rPr lang="en-GB" dirty="0"/>
              <a:t>The same one-step forecasting problem can be addressed with:</a:t>
            </a:r>
          </a:p>
          <a:p>
            <a:pPr lvl="1"/>
            <a:r>
              <a:rPr lang="en-GB" dirty="0"/>
              <a:t>explicit lag features in an autoregressive model;</a:t>
            </a:r>
          </a:p>
          <a:p>
            <a:pPr lvl="2"/>
            <a:r>
              <a:rPr lang="en-GB" dirty="0"/>
              <a:t>Autoregressive forecasting: past values of the target variable are used to predict its future value</a:t>
            </a:r>
          </a:p>
          <a:p>
            <a:pPr lvl="1"/>
            <a:r>
              <a:rPr lang="en-GB" dirty="0"/>
              <a:t>a learned recurrent state in an RNN;</a:t>
            </a:r>
          </a:p>
          <a:p>
            <a:pPr lvl="1"/>
            <a:r>
              <a:rPr lang="en-GB" dirty="0"/>
              <a:t>a learned causal receptive-field representation in a TCN.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87656630"/>
      </p:ext>
    </p:extLst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886D3D6-FB31-E18C-6C64-4234380DC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Direct multi-horizon forecasting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D728EC-55F7-6E3F-C1D4-F672332C2D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8"/>
            <a:ext cx="5418666" cy="4453571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A CNN or TCN can produce several future values simultaneously.</a:t>
            </a:r>
          </a:p>
          <a:p>
            <a:r>
              <a:rPr lang="en-GB" dirty="0"/>
              <a:t>Input: [x[t−L+1], ..., x[t]]</a:t>
            </a:r>
          </a:p>
          <a:p>
            <a:r>
              <a:rPr lang="en-GB" dirty="0"/>
              <a:t>Output: [</a:t>
            </a:r>
            <a:r>
              <a:rPr lang="en-GB" dirty="0" err="1"/>
              <a:t>y_hat</a:t>
            </a:r>
            <a:r>
              <a:rPr lang="en-GB" dirty="0"/>
              <a:t>[t+1], ..., </a:t>
            </a:r>
            <a:r>
              <a:rPr lang="en-GB" dirty="0" err="1"/>
              <a:t>y_hat</a:t>
            </a:r>
            <a:r>
              <a:rPr lang="en-GB" dirty="0"/>
              <a:t>[</a:t>
            </a:r>
            <a:r>
              <a:rPr lang="en-GB" dirty="0" err="1"/>
              <a:t>t+H</a:t>
            </a:r>
            <a:r>
              <a:rPr lang="en-GB" dirty="0"/>
              <a:t>]]</a:t>
            </a:r>
          </a:p>
          <a:p>
            <a:r>
              <a:rPr lang="en-GB" b="1" dirty="0"/>
              <a:t>Architecture</a:t>
            </a:r>
          </a:p>
          <a:p>
            <a:r>
              <a:rPr lang="en-GB" dirty="0"/>
              <a:t>history</a:t>
            </a:r>
          </a:p>
          <a:p>
            <a:r>
              <a:rPr lang="en-GB" dirty="0"/>
              <a:t>   ↓</a:t>
            </a:r>
          </a:p>
          <a:p>
            <a:r>
              <a:rPr lang="en-GB" dirty="0"/>
              <a:t>causal CNN / TCN</a:t>
            </a:r>
          </a:p>
          <a:p>
            <a:r>
              <a:rPr lang="en-GB" dirty="0"/>
              <a:t>   ↓</a:t>
            </a:r>
          </a:p>
          <a:p>
            <a:r>
              <a:rPr lang="en-GB" dirty="0"/>
              <a:t>temporal representation</a:t>
            </a:r>
          </a:p>
          <a:p>
            <a:r>
              <a:rPr lang="en-GB" dirty="0"/>
              <a:t>   ↓</a:t>
            </a:r>
          </a:p>
          <a:p>
            <a:r>
              <a:rPr lang="en-GB" dirty="0"/>
              <a:t>multi-output layer</a:t>
            </a:r>
          </a:p>
          <a:p>
            <a:r>
              <a:rPr lang="en-GB" dirty="0"/>
              <a:t>   ↓</a:t>
            </a:r>
          </a:p>
          <a:p>
            <a:r>
              <a:rPr lang="en-GB" dirty="0"/>
              <a:t>t+1  t+2  ...  </a:t>
            </a:r>
            <a:r>
              <a:rPr lang="en-GB" dirty="0" err="1"/>
              <a:t>t+H</a:t>
            </a:r>
            <a:endParaRPr lang="en-GB" dirty="0"/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B438C0D-8B9D-6D9F-BD8A-4D1262D2AA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25450" y="2160589"/>
            <a:ext cx="4922710" cy="4590731"/>
          </a:xfrm>
        </p:spPr>
        <p:txBody>
          <a:bodyPr>
            <a:normAutofit fontScale="85000" lnSpcReduction="20000"/>
          </a:bodyPr>
          <a:lstStyle/>
          <a:p>
            <a:r>
              <a:rPr lang="en-GB" b="1" dirty="0"/>
              <a:t>Advantages</a:t>
            </a:r>
          </a:p>
          <a:p>
            <a:pPr lvl="0"/>
            <a:r>
              <a:rPr lang="en-GB" dirty="0"/>
              <a:t>all horizons predicted in one forward pass; </a:t>
            </a:r>
          </a:p>
          <a:p>
            <a:pPr lvl="0"/>
            <a:r>
              <a:rPr lang="en-GB" dirty="0"/>
              <a:t>no recursive feeding of predicted values; </a:t>
            </a:r>
          </a:p>
          <a:p>
            <a:pPr lvl="0"/>
            <a:r>
              <a:rPr lang="en-GB" dirty="0"/>
              <a:t>convolutional history representation is shared across horizons. </a:t>
            </a:r>
          </a:p>
          <a:p>
            <a:endParaRPr lang="en-GB" b="1" dirty="0"/>
          </a:p>
          <a:p>
            <a:r>
              <a:rPr lang="en-GB" b="1" dirty="0"/>
              <a:t>Evaluation</a:t>
            </a:r>
          </a:p>
          <a:p>
            <a:r>
              <a:rPr lang="en-GB" dirty="0"/>
              <a:t>Report error by horizon:</a:t>
            </a:r>
          </a:p>
          <a:p>
            <a:r>
              <a:rPr lang="en-GB" dirty="0"/>
              <a:t>h = 1</a:t>
            </a:r>
          </a:p>
          <a:p>
            <a:r>
              <a:rPr lang="en-GB" dirty="0"/>
              <a:t>h = 2</a:t>
            </a:r>
          </a:p>
          <a:p>
            <a:r>
              <a:rPr lang="en-GB" dirty="0"/>
              <a:t>...</a:t>
            </a:r>
          </a:p>
          <a:p>
            <a:r>
              <a:rPr lang="en-GB" dirty="0"/>
              <a:t>h = H</a:t>
            </a:r>
          </a:p>
          <a:p>
            <a:r>
              <a:rPr lang="en-GB" dirty="0"/>
              <a:t>not only one average score.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03166196"/>
      </p:ext>
    </p:extLst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Text 0"/>
          <p:cNvSpPr/>
          <p:nvPr/>
        </p:nvSpPr>
        <p:spPr>
          <a:xfrm>
            <a:off x="502920" y="320040"/>
            <a:ext cx="98751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Direct multi-horizon forecasting with a CNN/TCN</a:t>
            </a:r>
            <a:endParaRPr lang="it-IT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1"/>
          <p:cNvSpPr/>
          <p:nvPr/>
        </p:nvSpPr>
        <p:spPr>
          <a:xfrm>
            <a:off x="530280" y="804600"/>
            <a:ext cx="95094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A causal representation supports several future horizons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Shape 2"/>
          <p:cNvSpPr/>
          <p:nvPr/>
        </p:nvSpPr>
        <p:spPr>
          <a:xfrm>
            <a:off x="914400" y="2834640"/>
            <a:ext cx="5029200" cy="360"/>
          </a:xfrm>
          <a:prstGeom prst="line">
            <a:avLst/>
          </a:prstGeom>
          <a:ln w="2540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Shape 3"/>
          <p:cNvSpPr/>
          <p:nvPr/>
        </p:nvSpPr>
        <p:spPr>
          <a:xfrm>
            <a:off x="877680" y="279792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5" name="Shape 4"/>
          <p:cNvSpPr/>
          <p:nvPr/>
        </p:nvSpPr>
        <p:spPr>
          <a:xfrm>
            <a:off x="1436760" y="279792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6" name="Shape 5"/>
          <p:cNvSpPr/>
          <p:nvPr/>
        </p:nvSpPr>
        <p:spPr>
          <a:xfrm>
            <a:off x="1995480" y="279792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Shape 6"/>
          <p:cNvSpPr/>
          <p:nvPr/>
        </p:nvSpPr>
        <p:spPr>
          <a:xfrm>
            <a:off x="2554200" y="279792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8" name="Shape 7"/>
          <p:cNvSpPr/>
          <p:nvPr/>
        </p:nvSpPr>
        <p:spPr>
          <a:xfrm>
            <a:off x="3112920" y="279792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9" name="Shape 8"/>
          <p:cNvSpPr/>
          <p:nvPr/>
        </p:nvSpPr>
        <p:spPr>
          <a:xfrm>
            <a:off x="3672000" y="279792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0" name="Shape 9"/>
          <p:cNvSpPr/>
          <p:nvPr/>
        </p:nvSpPr>
        <p:spPr>
          <a:xfrm>
            <a:off x="4230720" y="279792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1" name="Shape 10"/>
          <p:cNvSpPr/>
          <p:nvPr/>
        </p:nvSpPr>
        <p:spPr>
          <a:xfrm>
            <a:off x="4789440" y="279792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2" name="Shape 11"/>
          <p:cNvSpPr/>
          <p:nvPr/>
        </p:nvSpPr>
        <p:spPr>
          <a:xfrm>
            <a:off x="5348160" y="279792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3" name="Shape 12"/>
          <p:cNvSpPr/>
          <p:nvPr/>
        </p:nvSpPr>
        <p:spPr>
          <a:xfrm>
            <a:off x="5906880" y="279792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 13"/>
          <p:cNvSpPr/>
          <p:nvPr/>
        </p:nvSpPr>
        <p:spPr>
          <a:xfrm>
            <a:off x="2286000" y="2331720"/>
            <a:ext cx="21942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historical window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Shape 14"/>
          <p:cNvSpPr/>
          <p:nvPr/>
        </p:nvSpPr>
        <p:spPr>
          <a:xfrm>
            <a:off x="6355080" y="2487240"/>
            <a:ext cx="1279800" cy="685440"/>
          </a:xfrm>
          <a:prstGeom prst="roundRect">
            <a:avLst>
              <a:gd name="adj" fmla="val 10667"/>
            </a:avLst>
          </a:prstGeom>
          <a:solidFill>
            <a:srgbClr val="ECFCCB"/>
          </a:solidFill>
          <a:ln w="13970">
            <a:solidFill>
              <a:srgbClr val="86B8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 15"/>
          <p:cNvSpPr/>
          <p:nvPr/>
        </p:nvSpPr>
        <p:spPr>
          <a:xfrm>
            <a:off x="6400800" y="2523600"/>
            <a:ext cx="1188360" cy="61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causal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CNN/TCN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Shape 16"/>
          <p:cNvSpPr/>
          <p:nvPr/>
        </p:nvSpPr>
        <p:spPr>
          <a:xfrm>
            <a:off x="5943600" y="2834640"/>
            <a:ext cx="411480" cy="360"/>
          </a:xfrm>
          <a:prstGeom prst="line">
            <a:avLst/>
          </a:prstGeom>
          <a:ln w="19050">
            <a:solidFill>
              <a:srgbClr val="47556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Shape 17"/>
          <p:cNvSpPr/>
          <p:nvPr/>
        </p:nvSpPr>
        <p:spPr>
          <a:xfrm>
            <a:off x="8092440" y="2487240"/>
            <a:ext cx="1096920" cy="685440"/>
          </a:xfrm>
          <a:prstGeom prst="roundRect">
            <a:avLst>
              <a:gd name="adj" fmla="val 10667"/>
            </a:avLst>
          </a:prstGeom>
          <a:solidFill>
            <a:srgbClr val="FEF3C7"/>
          </a:solidFill>
          <a:ln w="1397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 18"/>
          <p:cNvSpPr/>
          <p:nvPr/>
        </p:nvSpPr>
        <p:spPr>
          <a:xfrm>
            <a:off x="8138160" y="2523600"/>
            <a:ext cx="1005480" cy="61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forecast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head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Shape 19"/>
          <p:cNvSpPr/>
          <p:nvPr/>
        </p:nvSpPr>
        <p:spPr>
          <a:xfrm>
            <a:off x="7635240" y="2834640"/>
            <a:ext cx="457200" cy="360"/>
          </a:xfrm>
          <a:prstGeom prst="line">
            <a:avLst/>
          </a:prstGeom>
          <a:ln w="19050">
            <a:solidFill>
              <a:srgbClr val="47556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Shape 20"/>
          <p:cNvSpPr/>
          <p:nvPr/>
        </p:nvSpPr>
        <p:spPr>
          <a:xfrm>
            <a:off x="9784080" y="2651760"/>
            <a:ext cx="328680" cy="328680"/>
          </a:xfrm>
          <a:prstGeom prst="roundRect">
            <a:avLst>
              <a:gd name="adj" fmla="val 22222"/>
            </a:avLst>
          </a:prstGeom>
          <a:solidFill>
            <a:srgbClr val="DBEAFE"/>
          </a:solidFill>
          <a:ln w="1397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21"/>
          <p:cNvSpPr/>
          <p:nvPr/>
        </p:nvSpPr>
        <p:spPr>
          <a:xfrm>
            <a:off x="9829800" y="2688480"/>
            <a:ext cx="2372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62500" lnSpcReduction="2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t+1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Shape 22"/>
          <p:cNvSpPr/>
          <p:nvPr/>
        </p:nvSpPr>
        <p:spPr>
          <a:xfrm>
            <a:off x="10195560" y="2651760"/>
            <a:ext cx="328680" cy="328680"/>
          </a:xfrm>
          <a:prstGeom prst="roundRect">
            <a:avLst>
              <a:gd name="adj" fmla="val 22222"/>
            </a:avLst>
          </a:prstGeom>
          <a:solidFill>
            <a:srgbClr val="DBEAFE"/>
          </a:solidFill>
          <a:ln w="1397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 23"/>
          <p:cNvSpPr/>
          <p:nvPr/>
        </p:nvSpPr>
        <p:spPr>
          <a:xfrm>
            <a:off x="10241280" y="2688480"/>
            <a:ext cx="2372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62500" lnSpcReduction="2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t+2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Shape 24"/>
          <p:cNvSpPr/>
          <p:nvPr/>
        </p:nvSpPr>
        <p:spPr>
          <a:xfrm>
            <a:off x="10607040" y="2651760"/>
            <a:ext cx="328680" cy="328680"/>
          </a:xfrm>
          <a:prstGeom prst="roundRect">
            <a:avLst>
              <a:gd name="adj" fmla="val 22222"/>
            </a:avLst>
          </a:prstGeom>
          <a:solidFill>
            <a:srgbClr val="DBEAFE"/>
          </a:solidFill>
          <a:ln w="1397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 25"/>
          <p:cNvSpPr/>
          <p:nvPr/>
        </p:nvSpPr>
        <p:spPr>
          <a:xfrm>
            <a:off x="10652760" y="2688480"/>
            <a:ext cx="2372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62500" lnSpcReduction="2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t+3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Shape 26"/>
          <p:cNvSpPr/>
          <p:nvPr/>
        </p:nvSpPr>
        <p:spPr>
          <a:xfrm>
            <a:off x="11018520" y="2651760"/>
            <a:ext cx="328680" cy="328680"/>
          </a:xfrm>
          <a:prstGeom prst="roundRect">
            <a:avLst>
              <a:gd name="adj" fmla="val 22222"/>
            </a:avLst>
          </a:prstGeom>
          <a:solidFill>
            <a:srgbClr val="DBEAFE"/>
          </a:solidFill>
          <a:ln w="1397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 27"/>
          <p:cNvSpPr/>
          <p:nvPr/>
        </p:nvSpPr>
        <p:spPr>
          <a:xfrm>
            <a:off x="11064240" y="2688480"/>
            <a:ext cx="2372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62500" lnSpcReduction="2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t+4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Shape 28"/>
          <p:cNvSpPr/>
          <p:nvPr/>
        </p:nvSpPr>
        <p:spPr>
          <a:xfrm>
            <a:off x="11430000" y="2651760"/>
            <a:ext cx="328680" cy="328680"/>
          </a:xfrm>
          <a:prstGeom prst="roundRect">
            <a:avLst>
              <a:gd name="adj" fmla="val 22222"/>
            </a:avLst>
          </a:prstGeom>
          <a:solidFill>
            <a:srgbClr val="DBEAFE"/>
          </a:solidFill>
          <a:ln w="1397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 29"/>
          <p:cNvSpPr/>
          <p:nvPr/>
        </p:nvSpPr>
        <p:spPr>
          <a:xfrm>
            <a:off x="11475720" y="2688480"/>
            <a:ext cx="2372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62500" lnSpcReduction="2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t+5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Shape 30"/>
          <p:cNvSpPr/>
          <p:nvPr/>
        </p:nvSpPr>
        <p:spPr>
          <a:xfrm>
            <a:off x="9189720" y="2834640"/>
            <a:ext cx="548640" cy="360"/>
          </a:xfrm>
          <a:prstGeom prst="line">
            <a:avLst/>
          </a:prstGeom>
          <a:ln w="19050">
            <a:solidFill>
              <a:srgbClr val="2563E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 31"/>
          <p:cNvSpPr/>
          <p:nvPr/>
        </p:nvSpPr>
        <p:spPr>
          <a:xfrm>
            <a:off x="8961120" y="329184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[ŷ[t+1], ..., ŷ[t+H]]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 32"/>
          <p:cNvSpPr/>
          <p:nvPr/>
        </p:nvSpPr>
        <p:spPr>
          <a:xfrm>
            <a:off x="1188720" y="4800600"/>
            <a:ext cx="21027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evaluate by horizon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Shape 33"/>
          <p:cNvSpPr/>
          <p:nvPr/>
        </p:nvSpPr>
        <p:spPr>
          <a:xfrm>
            <a:off x="3474720" y="5394960"/>
            <a:ext cx="3657600" cy="360"/>
          </a:xfrm>
          <a:prstGeom prst="line">
            <a:avLst/>
          </a:prstGeom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Shape 34"/>
          <p:cNvSpPr/>
          <p:nvPr/>
        </p:nvSpPr>
        <p:spPr>
          <a:xfrm flipV="1">
            <a:off x="3474720" y="4251960"/>
            <a:ext cx="360" cy="1143000"/>
          </a:xfrm>
          <a:prstGeom prst="line">
            <a:avLst/>
          </a:prstGeom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Shape 35"/>
          <p:cNvSpPr/>
          <p:nvPr/>
        </p:nvSpPr>
        <p:spPr>
          <a:xfrm>
            <a:off x="3694320" y="5111640"/>
            <a:ext cx="109440" cy="109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7" name="Shape 36"/>
          <p:cNvSpPr/>
          <p:nvPr/>
        </p:nvSpPr>
        <p:spPr>
          <a:xfrm>
            <a:off x="4334400" y="4928760"/>
            <a:ext cx="109440" cy="109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8" name="Shape 37"/>
          <p:cNvSpPr/>
          <p:nvPr/>
        </p:nvSpPr>
        <p:spPr>
          <a:xfrm flipV="1">
            <a:off x="3749040" y="4983480"/>
            <a:ext cx="640080" cy="182880"/>
          </a:xfrm>
          <a:prstGeom prst="line">
            <a:avLst/>
          </a:prstGeom>
          <a:ln w="1778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Shape 38"/>
          <p:cNvSpPr/>
          <p:nvPr/>
        </p:nvSpPr>
        <p:spPr>
          <a:xfrm>
            <a:off x="4974480" y="4745880"/>
            <a:ext cx="109440" cy="109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0" name="Shape 39"/>
          <p:cNvSpPr/>
          <p:nvPr/>
        </p:nvSpPr>
        <p:spPr>
          <a:xfrm flipV="1">
            <a:off x="4389120" y="4800600"/>
            <a:ext cx="640080" cy="182880"/>
          </a:xfrm>
          <a:prstGeom prst="line">
            <a:avLst/>
          </a:prstGeom>
          <a:ln w="1778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Shape 40"/>
          <p:cNvSpPr/>
          <p:nvPr/>
        </p:nvSpPr>
        <p:spPr>
          <a:xfrm>
            <a:off x="5614560" y="4517280"/>
            <a:ext cx="109440" cy="109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2" name="Shape 41"/>
          <p:cNvSpPr/>
          <p:nvPr/>
        </p:nvSpPr>
        <p:spPr>
          <a:xfrm flipV="1">
            <a:off x="5029200" y="4572000"/>
            <a:ext cx="640080" cy="228600"/>
          </a:xfrm>
          <a:prstGeom prst="line">
            <a:avLst/>
          </a:prstGeom>
          <a:ln w="1778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Shape 42"/>
          <p:cNvSpPr/>
          <p:nvPr/>
        </p:nvSpPr>
        <p:spPr>
          <a:xfrm>
            <a:off x="6437520" y="4288680"/>
            <a:ext cx="109440" cy="109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4" name="Shape 43"/>
          <p:cNvSpPr/>
          <p:nvPr/>
        </p:nvSpPr>
        <p:spPr>
          <a:xfrm flipV="1">
            <a:off x="5669280" y="4343400"/>
            <a:ext cx="822960" cy="228600"/>
          </a:xfrm>
          <a:prstGeom prst="line">
            <a:avLst/>
          </a:prstGeom>
          <a:ln w="1778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 44"/>
          <p:cNvSpPr/>
          <p:nvPr/>
        </p:nvSpPr>
        <p:spPr>
          <a:xfrm>
            <a:off x="4846320" y="553212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horizon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 45"/>
          <p:cNvSpPr/>
          <p:nvPr/>
        </p:nvSpPr>
        <p:spPr>
          <a:xfrm>
            <a:off x="3017520" y="4343400"/>
            <a:ext cx="411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dirty="0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Abs error</a:t>
            </a:r>
            <a:endParaRPr lang="it-IT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PlaceHolder 1"/>
          <p:cNvSpPr>
            <a:spLocks noGrp="1"/>
          </p:cNvSpPr>
          <p:nvPr>
            <p:ph type="sldNum" idx="14"/>
          </p:nvPr>
        </p:nvSpPr>
        <p:spPr>
          <a:xfrm>
            <a:off x="1065276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rgbClr val="64748B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F85A8A1-56A0-46AE-B25E-79962058F6EC}" type="slidenum"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224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95CAFF4-9165-6A81-6171-7C5201B27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Temporal CNNs can combine several input channels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9BD7439-04C1-644C-9A4F-A8E2CE14DD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5052906" cy="4499290"/>
          </a:xfrm>
        </p:spPr>
        <p:txBody>
          <a:bodyPr>
            <a:normAutofit/>
          </a:bodyPr>
          <a:lstStyle/>
          <a:p>
            <a:r>
              <a:rPr lang="en-GB" dirty="0"/>
              <a:t>Suppose the input at time t contains:</a:t>
            </a:r>
          </a:p>
          <a:p>
            <a:pPr lvl="1"/>
            <a:r>
              <a:rPr lang="en-GB" dirty="0"/>
              <a:t>temperature[t]</a:t>
            </a:r>
          </a:p>
          <a:p>
            <a:pPr lvl="1"/>
            <a:r>
              <a:rPr lang="en-GB" dirty="0"/>
              <a:t>pressure[t]</a:t>
            </a:r>
          </a:p>
          <a:p>
            <a:pPr lvl="1"/>
            <a:r>
              <a:rPr lang="en-GB" dirty="0"/>
              <a:t>flow[t]</a:t>
            </a:r>
          </a:p>
          <a:p>
            <a:pPr lvl="1"/>
            <a:r>
              <a:rPr lang="en-GB" dirty="0"/>
              <a:t>vibration[t]</a:t>
            </a:r>
          </a:p>
          <a:p>
            <a:r>
              <a:rPr lang="en-GB" dirty="0"/>
              <a:t>A Conv1D kernel spans:</a:t>
            </a:r>
          </a:p>
          <a:p>
            <a:pPr lvl="1"/>
            <a:r>
              <a:rPr lang="en-GB" dirty="0"/>
              <a:t>several time positions; </a:t>
            </a:r>
          </a:p>
          <a:p>
            <a:pPr lvl="1"/>
            <a:r>
              <a:rPr lang="en-GB" dirty="0"/>
              <a:t>all input channels. </a:t>
            </a:r>
          </a:p>
          <a:p>
            <a:r>
              <a:rPr lang="en-GB" dirty="0"/>
              <a:t>Therefore it can learn patterns involving both:</a:t>
            </a:r>
          </a:p>
          <a:p>
            <a:pPr lvl="1"/>
            <a:r>
              <a:rPr lang="en-GB" dirty="0"/>
              <a:t>temporal evolution; </a:t>
            </a:r>
          </a:p>
          <a:p>
            <a:pPr lvl="1"/>
            <a:r>
              <a:rPr lang="en-GB" dirty="0"/>
              <a:t>cross-variable interaction. 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336C995-770F-CC43-1019-A719CC730D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2160589"/>
            <a:ext cx="5897880" cy="4499291"/>
          </a:xfrm>
        </p:spPr>
        <p:txBody>
          <a:bodyPr>
            <a:normAutofit/>
          </a:bodyPr>
          <a:lstStyle/>
          <a:p>
            <a:r>
              <a:rPr lang="en-GB" b="1" dirty="0"/>
              <a:t>Example</a:t>
            </a:r>
          </a:p>
          <a:p>
            <a:r>
              <a:rPr lang="en-GB" dirty="0"/>
              <a:t>A filter might respond strongly when:</a:t>
            </a:r>
          </a:p>
          <a:p>
            <a:pPr lvl="1"/>
            <a:r>
              <a:rPr lang="en-GB" dirty="0"/>
              <a:t>vibration rises; </a:t>
            </a:r>
          </a:p>
          <a:p>
            <a:pPr lvl="1"/>
            <a:r>
              <a:rPr lang="en-GB" dirty="0"/>
              <a:t>load is high; </a:t>
            </a:r>
          </a:p>
          <a:p>
            <a:pPr lvl="1"/>
            <a:r>
              <a:rPr lang="en-GB" dirty="0"/>
              <a:t>temperature begins to increase; </a:t>
            </a:r>
          </a:p>
          <a:p>
            <a:pPr lvl="1"/>
            <a:r>
              <a:rPr lang="en-GB" dirty="0"/>
              <a:t>within the same local interval.</a:t>
            </a:r>
            <a:endParaRPr lang="en-GB" b="1" dirty="0"/>
          </a:p>
          <a:p>
            <a:endParaRPr lang="en-GB" dirty="0"/>
          </a:p>
          <a:p>
            <a:r>
              <a:rPr lang="en-GB" b="1" dirty="0">
                <a:highlight>
                  <a:srgbClr val="FFFF00"/>
                </a:highlight>
              </a:rPr>
              <a:t>This interaction is learned directly from the multivariate temporal window.</a:t>
            </a:r>
          </a:p>
          <a:p>
            <a:r>
              <a:rPr lang="en-GB" b="1" dirty="0">
                <a:highlight>
                  <a:srgbClr val="FFFF00"/>
                </a:highlight>
              </a:rPr>
              <a:t>Manual construction of every cross-variable temporal feature is not required.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21696616"/>
      </p:ext>
    </p:extLst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Text 0"/>
          <p:cNvSpPr/>
          <p:nvPr/>
        </p:nvSpPr>
        <p:spPr>
          <a:xfrm>
            <a:off x="502920" y="320040"/>
            <a:ext cx="98751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Conv1D kernels combine time and channels</a:t>
            </a:r>
            <a:endParaRPr lang="it-IT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 1"/>
          <p:cNvSpPr/>
          <p:nvPr/>
        </p:nvSpPr>
        <p:spPr>
          <a:xfrm>
            <a:off x="530280" y="804600"/>
            <a:ext cx="95094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A filter can learn cross-variable temporal patterns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2"/>
          <p:cNvSpPr/>
          <p:nvPr/>
        </p:nvSpPr>
        <p:spPr>
          <a:xfrm>
            <a:off x="3474720" y="123444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time →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 3"/>
          <p:cNvSpPr/>
          <p:nvPr/>
        </p:nvSpPr>
        <p:spPr>
          <a:xfrm>
            <a:off x="411480" y="1234440"/>
            <a:ext cx="822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channels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Text 4"/>
          <p:cNvSpPr/>
          <p:nvPr/>
        </p:nvSpPr>
        <p:spPr>
          <a:xfrm>
            <a:off x="411480" y="1572840"/>
            <a:ext cx="5025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temp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Shape 5"/>
          <p:cNvSpPr/>
          <p:nvPr/>
        </p:nvSpPr>
        <p:spPr>
          <a:xfrm>
            <a:off x="1005840" y="1508760"/>
            <a:ext cx="594000" cy="39276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Shape 6"/>
          <p:cNvSpPr/>
          <p:nvPr/>
        </p:nvSpPr>
        <p:spPr>
          <a:xfrm>
            <a:off x="1600200" y="1508760"/>
            <a:ext cx="594000" cy="39276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Shape 7"/>
          <p:cNvSpPr/>
          <p:nvPr/>
        </p:nvSpPr>
        <p:spPr>
          <a:xfrm>
            <a:off x="2194560" y="1508760"/>
            <a:ext cx="594000" cy="39276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Shape 8"/>
          <p:cNvSpPr/>
          <p:nvPr/>
        </p:nvSpPr>
        <p:spPr>
          <a:xfrm>
            <a:off x="2788920" y="1508760"/>
            <a:ext cx="594000" cy="392760"/>
          </a:xfrm>
          <a:prstGeom prst="rect">
            <a:avLst/>
          </a:prstGeom>
          <a:solidFill>
            <a:srgbClr val="ECFCCB"/>
          </a:solidFill>
          <a:ln w="889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Shape 9"/>
          <p:cNvSpPr/>
          <p:nvPr/>
        </p:nvSpPr>
        <p:spPr>
          <a:xfrm>
            <a:off x="3383280" y="1508760"/>
            <a:ext cx="594000" cy="392760"/>
          </a:xfrm>
          <a:prstGeom prst="rect">
            <a:avLst/>
          </a:prstGeom>
          <a:solidFill>
            <a:srgbClr val="ECFCCB"/>
          </a:solidFill>
          <a:ln w="889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Shape 10"/>
          <p:cNvSpPr/>
          <p:nvPr/>
        </p:nvSpPr>
        <p:spPr>
          <a:xfrm>
            <a:off x="3977640" y="1508760"/>
            <a:ext cx="594000" cy="392760"/>
          </a:xfrm>
          <a:prstGeom prst="rect">
            <a:avLst/>
          </a:prstGeom>
          <a:solidFill>
            <a:srgbClr val="ECFCCB"/>
          </a:solidFill>
          <a:ln w="889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Shape 11"/>
          <p:cNvSpPr/>
          <p:nvPr/>
        </p:nvSpPr>
        <p:spPr>
          <a:xfrm>
            <a:off x="4572000" y="1508760"/>
            <a:ext cx="594000" cy="39276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Shape 12"/>
          <p:cNvSpPr/>
          <p:nvPr/>
        </p:nvSpPr>
        <p:spPr>
          <a:xfrm>
            <a:off x="5166360" y="1508760"/>
            <a:ext cx="594000" cy="39276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Shape 13"/>
          <p:cNvSpPr/>
          <p:nvPr/>
        </p:nvSpPr>
        <p:spPr>
          <a:xfrm>
            <a:off x="5760720" y="1508760"/>
            <a:ext cx="594000" cy="39276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Shape 14"/>
          <p:cNvSpPr/>
          <p:nvPr/>
        </p:nvSpPr>
        <p:spPr>
          <a:xfrm>
            <a:off x="6355080" y="1508760"/>
            <a:ext cx="594000" cy="39276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 15"/>
          <p:cNvSpPr/>
          <p:nvPr/>
        </p:nvSpPr>
        <p:spPr>
          <a:xfrm>
            <a:off x="411480" y="1965960"/>
            <a:ext cx="5025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press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Shape 16"/>
          <p:cNvSpPr/>
          <p:nvPr/>
        </p:nvSpPr>
        <p:spPr>
          <a:xfrm>
            <a:off x="1005840" y="1901880"/>
            <a:ext cx="594000" cy="39276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Shape 17"/>
          <p:cNvSpPr/>
          <p:nvPr/>
        </p:nvSpPr>
        <p:spPr>
          <a:xfrm>
            <a:off x="1600200" y="1901880"/>
            <a:ext cx="594000" cy="39276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Shape 18"/>
          <p:cNvSpPr/>
          <p:nvPr/>
        </p:nvSpPr>
        <p:spPr>
          <a:xfrm>
            <a:off x="2194560" y="1901880"/>
            <a:ext cx="594000" cy="39276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Shape 19"/>
          <p:cNvSpPr/>
          <p:nvPr/>
        </p:nvSpPr>
        <p:spPr>
          <a:xfrm>
            <a:off x="2788920" y="1901880"/>
            <a:ext cx="594000" cy="392760"/>
          </a:xfrm>
          <a:prstGeom prst="rect">
            <a:avLst/>
          </a:prstGeom>
          <a:solidFill>
            <a:srgbClr val="ECFCCB"/>
          </a:solidFill>
          <a:ln w="889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Shape 20"/>
          <p:cNvSpPr/>
          <p:nvPr/>
        </p:nvSpPr>
        <p:spPr>
          <a:xfrm>
            <a:off x="3383280" y="1901880"/>
            <a:ext cx="594000" cy="392760"/>
          </a:xfrm>
          <a:prstGeom prst="rect">
            <a:avLst/>
          </a:prstGeom>
          <a:solidFill>
            <a:srgbClr val="ECFCCB"/>
          </a:solidFill>
          <a:ln w="889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Shape 21"/>
          <p:cNvSpPr/>
          <p:nvPr/>
        </p:nvSpPr>
        <p:spPr>
          <a:xfrm>
            <a:off x="3977640" y="1901880"/>
            <a:ext cx="594000" cy="392760"/>
          </a:xfrm>
          <a:prstGeom prst="rect">
            <a:avLst/>
          </a:prstGeom>
          <a:solidFill>
            <a:srgbClr val="ECFCCB"/>
          </a:solidFill>
          <a:ln w="889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Shape 22"/>
          <p:cNvSpPr/>
          <p:nvPr/>
        </p:nvSpPr>
        <p:spPr>
          <a:xfrm>
            <a:off x="4572000" y="1901880"/>
            <a:ext cx="594000" cy="39276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Shape 23"/>
          <p:cNvSpPr/>
          <p:nvPr/>
        </p:nvSpPr>
        <p:spPr>
          <a:xfrm>
            <a:off x="5166360" y="1901880"/>
            <a:ext cx="594000" cy="39276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Shape 24"/>
          <p:cNvSpPr/>
          <p:nvPr/>
        </p:nvSpPr>
        <p:spPr>
          <a:xfrm>
            <a:off x="5760720" y="1901880"/>
            <a:ext cx="594000" cy="39276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Shape 25"/>
          <p:cNvSpPr/>
          <p:nvPr/>
        </p:nvSpPr>
        <p:spPr>
          <a:xfrm>
            <a:off x="6355080" y="1901880"/>
            <a:ext cx="594000" cy="39276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 26"/>
          <p:cNvSpPr/>
          <p:nvPr/>
        </p:nvSpPr>
        <p:spPr>
          <a:xfrm>
            <a:off x="411480" y="2359080"/>
            <a:ext cx="5025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flow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Shape 27"/>
          <p:cNvSpPr/>
          <p:nvPr/>
        </p:nvSpPr>
        <p:spPr>
          <a:xfrm>
            <a:off x="1005840" y="2295000"/>
            <a:ext cx="594000" cy="39276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Shape 28"/>
          <p:cNvSpPr/>
          <p:nvPr/>
        </p:nvSpPr>
        <p:spPr>
          <a:xfrm>
            <a:off x="1600200" y="2295000"/>
            <a:ext cx="594000" cy="39276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Shape 29"/>
          <p:cNvSpPr/>
          <p:nvPr/>
        </p:nvSpPr>
        <p:spPr>
          <a:xfrm>
            <a:off x="2194560" y="2295000"/>
            <a:ext cx="594000" cy="39276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Shape 30"/>
          <p:cNvSpPr/>
          <p:nvPr/>
        </p:nvSpPr>
        <p:spPr>
          <a:xfrm>
            <a:off x="2788920" y="2295000"/>
            <a:ext cx="594000" cy="392760"/>
          </a:xfrm>
          <a:prstGeom prst="rect">
            <a:avLst/>
          </a:prstGeom>
          <a:solidFill>
            <a:srgbClr val="ECFCCB"/>
          </a:solidFill>
          <a:ln w="889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Shape 31"/>
          <p:cNvSpPr/>
          <p:nvPr/>
        </p:nvSpPr>
        <p:spPr>
          <a:xfrm>
            <a:off x="3383280" y="2295000"/>
            <a:ext cx="594000" cy="392760"/>
          </a:xfrm>
          <a:prstGeom prst="rect">
            <a:avLst/>
          </a:prstGeom>
          <a:solidFill>
            <a:srgbClr val="ECFCCB"/>
          </a:solidFill>
          <a:ln w="889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Shape 32"/>
          <p:cNvSpPr/>
          <p:nvPr/>
        </p:nvSpPr>
        <p:spPr>
          <a:xfrm>
            <a:off x="3977640" y="2295000"/>
            <a:ext cx="594000" cy="392760"/>
          </a:xfrm>
          <a:prstGeom prst="rect">
            <a:avLst/>
          </a:prstGeom>
          <a:solidFill>
            <a:srgbClr val="ECFCCB"/>
          </a:solidFill>
          <a:ln w="889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Shape 33"/>
          <p:cNvSpPr/>
          <p:nvPr/>
        </p:nvSpPr>
        <p:spPr>
          <a:xfrm>
            <a:off x="4572000" y="2295000"/>
            <a:ext cx="594000" cy="39276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Shape 34"/>
          <p:cNvSpPr/>
          <p:nvPr/>
        </p:nvSpPr>
        <p:spPr>
          <a:xfrm>
            <a:off x="5166360" y="2295000"/>
            <a:ext cx="594000" cy="39276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Shape 35"/>
          <p:cNvSpPr/>
          <p:nvPr/>
        </p:nvSpPr>
        <p:spPr>
          <a:xfrm>
            <a:off x="5760720" y="2295000"/>
            <a:ext cx="594000" cy="39276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Shape 36"/>
          <p:cNvSpPr/>
          <p:nvPr/>
        </p:nvSpPr>
        <p:spPr>
          <a:xfrm>
            <a:off x="6355080" y="2295000"/>
            <a:ext cx="594000" cy="39276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Text 37"/>
          <p:cNvSpPr/>
          <p:nvPr/>
        </p:nvSpPr>
        <p:spPr>
          <a:xfrm>
            <a:off x="411480" y="2752200"/>
            <a:ext cx="5025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vibr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Shape 38"/>
          <p:cNvSpPr/>
          <p:nvPr/>
        </p:nvSpPr>
        <p:spPr>
          <a:xfrm>
            <a:off x="1005840" y="2688480"/>
            <a:ext cx="594000" cy="39276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Shape 39"/>
          <p:cNvSpPr/>
          <p:nvPr/>
        </p:nvSpPr>
        <p:spPr>
          <a:xfrm>
            <a:off x="1600200" y="2688480"/>
            <a:ext cx="594000" cy="39276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Shape 40"/>
          <p:cNvSpPr/>
          <p:nvPr/>
        </p:nvSpPr>
        <p:spPr>
          <a:xfrm>
            <a:off x="2194560" y="2688480"/>
            <a:ext cx="594000" cy="39276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Shape 41"/>
          <p:cNvSpPr/>
          <p:nvPr/>
        </p:nvSpPr>
        <p:spPr>
          <a:xfrm>
            <a:off x="2788920" y="2688480"/>
            <a:ext cx="594000" cy="392760"/>
          </a:xfrm>
          <a:prstGeom prst="rect">
            <a:avLst/>
          </a:prstGeom>
          <a:solidFill>
            <a:srgbClr val="ECFCCB"/>
          </a:solidFill>
          <a:ln w="889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Shape 42"/>
          <p:cNvSpPr/>
          <p:nvPr/>
        </p:nvSpPr>
        <p:spPr>
          <a:xfrm>
            <a:off x="3383280" y="2688480"/>
            <a:ext cx="594000" cy="392760"/>
          </a:xfrm>
          <a:prstGeom prst="rect">
            <a:avLst/>
          </a:prstGeom>
          <a:solidFill>
            <a:srgbClr val="ECFCCB"/>
          </a:solidFill>
          <a:ln w="889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Shape 43"/>
          <p:cNvSpPr/>
          <p:nvPr/>
        </p:nvSpPr>
        <p:spPr>
          <a:xfrm>
            <a:off x="3977640" y="2688480"/>
            <a:ext cx="594000" cy="392760"/>
          </a:xfrm>
          <a:prstGeom prst="rect">
            <a:avLst/>
          </a:prstGeom>
          <a:solidFill>
            <a:srgbClr val="ECFCCB"/>
          </a:solidFill>
          <a:ln w="889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Shape 44"/>
          <p:cNvSpPr/>
          <p:nvPr/>
        </p:nvSpPr>
        <p:spPr>
          <a:xfrm>
            <a:off x="4572000" y="2688480"/>
            <a:ext cx="594000" cy="39276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Shape 45"/>
          <p:cNvSpPr/>
          <p:nvPr/>
        </p:nvSpPr>
        <p:spPr>
          <a:xfrm>
            <a:off x="5166360" y="2688480"/>
            <a:ext cx="594000" cy="39276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Shape 46"/>
          <p:cNvSpPr/>
          <p:nvPr/>
        </p:nvSpPr>
        <p:spPr>
          <a:xfrm>
            <a:off x="5760720" y="2688480"/>
            <a:ext cx="594000" cy="39276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Shape 47"/>
          <p:cNvSpPr/>
          <p:nvPr/>
        </p:nvSpPr>
        <p:spPr>
          <a:xfrm>
            <a:off x="6355080" y="2688480"/>
            <a:ext cx="594000" cy="39276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Shape 48"/>
          <p:cNvSpPr/>
          <p:nvPr/>
        </p:nvSpPr>
        <p:spPr>
          <a:xfrm>
            <a:off x="2788920" y="1508760"/>
            <a:ext cx="1782720" cy="1572480"/>
          </a:xfrm>
          <a:prstGeom prst="rect">
            <a:avLst/>
          </a:prstGeom>
          <a:noFill/>
          <a:ln w="25400">
            <a:solidFill>
              <a:srgbClr val="86B8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Text 49"/>
          <p:cNvSpPr/>
          <p:nvPr/>
        </p:nvSpPr>
        <p:spPr>
          <a:xfrm>
            <a:off x="2699640" y="324612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86B817"/>
                </a:solidFill>
                <a:effectLst/>
                <a:uFillTx/>
                <a:latin typeface="Aptos"/>
                <a:ea typeface="Aptos"/>
              </a:rPr>
              <a:t>kernel window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86B817"/>
                </a:solidFill>
                <a:effectLst/>
                <a:uFillTx/>
                <a:latin typeface="Aptos"/>
                <a:ea typeface="Aptos"/>
              </a:rPr>
              <a:t>K=3, d=4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Shape 50"/>
          <p:cNvSpPr/>
          <p:nvPr/>
        </p:nvSpPr>
        <p:spPr>
          <a:xfrm>
            <a:off x="7589520" y="1828800"/>
            <a:ext cx="1554120" cy="548280"/>
          </a:xfrm>
          <a:prstGeom prst="roundRect">
            <a:avLst>
              <a:gd name="adj" fmla="val 13333"/>
            </a:avLst>
          </a:prstGeom>
          <a:solidFill>
            <a:srgbClr val="FEF3C7"/>
          </a:solidFill>
          <a:ln w="1397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Text 51"/>
          <p:cNvSpPr/>
          <p:nvPr/>
        </p:nvSpPr>
        <p:spPr>
          <a:xfrm>
            <a:off x="7635240" y="1865520"/>
            <a:ext cx="146268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learned filter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Shape 52"/>
          <p:cNvSpPr/>
          <p:nvPr/>
        </p:nvSpPr>
        <p:spPr>
          <a:xfrm flipV="1">
            <a:off x="3680280" y="2103120"/>
            <a:ext cx="3909240" cy="191880"/>
          </a:xfrm>
          <a:prstGeom prst="line">
            <a:avLst/>
          </a:prstGeom>
          <a:ln w="19050">
            <a:solidFill>
              <a:srgbClr val="47556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Shape 53"/>
          <p:cNvSpPr/>
          <p:nvPr/>
        </p:nvSpPr>
        <p:spPr>
          <a:xfrm>
            <a:off x="9601200" y="1874520"/>
            <a:ext cx="1142640" cy="45684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 w="1397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Text 54"/>
          <p:cNvSpPr/>
          <p:nvPr/>
        </p:nvSpPr>
        <p:spPr>
          <a:xfrm>
            <a:off x="9646920" y="1911240"/>
            <a:ext cx="10512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activation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Shape 55"/>
          <p:cNvSpPr/>
          <p:nvPr/>
        </p:nvSpPr>
        <p:spPr>
          <a:xfrm>
            <a:off x="9144000" y="2103120"/>
            <a:ext cx="457200" cy="360"/>
          </a:xfrm>
          <a:prstGeom prst="line">
            <a:avLst/>
          </a:prstGeom>
          <a:ln w="19050">
            <a:solidFill>
              <a:srgbClr val="47556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Text 56"/>
          <p:cNvSpPr/>
          <p:nvPr/>
        </p:nvSpPr>
        <p:spPr>
          <a:xfrm>
            <a:off x="1828800" y="4937760"/>
            <a:ext cx="76806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Example pattern: vibration rises while load and temperature change together.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PlaceHolder 1"/>
          <p:cNvSpPr>
            <a:spLocks noGrp="1"/>
          </p:cNvSpPr>
          <p:nvPr>
            <p:ph type="sldNum" idx="15"/>
          </p:nvPr>
        </p:nvSpPr>
        <p:spPr>
          <a:xfrm>
            <a:off x="1065276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rgbClr val="64748B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C6C5EED-1261-4186-8FAE-1E758F6B77BC}" type="slidenum"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226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C7F93B-C763-EAA6-9815-41D8BD01F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Choosing the architecture from the task (wrap-up)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2529435-F452-4B35-27F3-B42DACF9E2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8"/>
            <a:ext cx="5159586" cy="4362131"/>
          </a:xfrm>
        </p:spPr>
        <p:txBody>
          <a:bodyPr>
            <a:normAutofit fontScale="92500" lnSpcReduction="10000"/>
          </a:bodyPr>
          <a:lstStyle/>
          <a:p>
            <a:r>
              <a:rPr lang="en-GB" b="1" dirty="0"/>
              <a:t>Window classification</a:t>
            </a:r>
          </a:p>
          <a:p>
            <a:r>
              <a:rPr lang="en-GB" dirty="0"/>
              <a:t>Often use:</a:t>
            </a:r>
          </a:p>
          <a:p>
            <a:pPr lvl="1"/>
            <a:r>
              <a:rPr lang="en-GB" dirty="0"/>
              <a:t>non-causal CNN; </a:t>
            </a:r>
          </a:p>
          <a:p>
            <a:pPr lvl="1"/>
            <a:r>
              <a:rPr lang="en-GB" dirty="0" err="1"/>
              <a:t>downsampling</a:t>
            </a:r>
            <a:r>
              <a:rPr lang="en-GB" dirty="0"/>
              <a:t>; </a:t>
            </a:r>
          </a:p>
          <a:p>
            <a:pPr lvl="1"/>
            <a:r>
              <a:rPr lang="en-GB" dirty="0"/>
              <a:t>global pooling. </a:t>
            </a:r>
          </a:p>
          <a:p>
            <a:r>
              <a:rPr lang="en-GB" b="1" dirty="0"/>
              <a:t>Sequence labelling</a:t>
            </a:r>
          </a:p>
          <a:p>
            <a:r>
              <a:rPr lang="en-GB" dirty="0"/>
              <a:t>Often use:</a:t>
            </a:r>
          </a:p>
          <a:p>
            <a:pPr lvl="1"/>
            <a:r>
              <a:rPr lang="en-GB" dirty="0"/>
              <a:t>same padding; </a:t>
            </a:r>
          </a:p>
          <a:p>
            <a:pPr lvl="1"/>
            <a:r>
              <a:rPr lang="en-GB" dirty="0"/>
              <a:t>limited </a:t>
            </a:r>
            <a:r>
              <a:rPr lang="en-GB" dirty="0" err="1"/>
              <a:t>downsampling</a:t>
            </a:r>
            <a:r>
              <a:rPr lang="en-GB" dirty="0"/>
              <a:t>; </a:t>
            </a:r>
          </a:p>
          <a:p>
            <a:pPr lvl="1"/>
            <a:r>
              <a:rPr lang="en-GB" dirty="0"/>
              <a:t>causal or non-causal depending on deployment. 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FA6BE33-81D6-7192-EC7F-DB52D9142F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2160589"/>
            <a:ext cx="5943790" cy="4560251"/>
          </a:xfrm>
        </p:spPr>
        <p:txBody>
          <a:bodyPr>
            <a:normAutofit fontScale="92500" lnSpcReduction="10000"/>
          </a:bodyPr>
          <a:lstStyle/>
          <a:p>
            <a:r>
              <a:rPr lang="en-GB" b="1" dirty="0"/>
              <a:t>Forecasting</a:t>
            </a:r>
          </a:p>
          <a:p>
            <a:r>
              <a:rPr lang="en-GB" dirty="0"/>
              <a:t>Use:</a:t>
            </a:r>
          </a:p>
          <a:p>
            <a:pPr lvl="1"/>
            <a:r>
              <a:rPr lang="en-GB" dirty="0"/>
              <a:t>causal convolution; </a:t>
            </a:r>
          </a:p>
          <a:p>
            <a:pPr lvl="1"/>
            <a:r>
              <a:rPr lang="en-GB" dirty="0"/>
              <a:t>sufficient receptive field; </a:t>
            </a:r>
          </a:p>
          <a:p>
            <a:pPr lvl="1"/>
            <a:r>
              <a:rPr lang="en-GB" dirty="0">
                <a:solidFill>
                  <a:schemeClr val="tx1"/>
                </a:solidFill>
              </a:rPr>
              <a:t>direct or recursive output strategy. </a:t>
            </a:r>
          </a:p>
          <a:p>
            <a:r>
              <a:rPr lang="en-GB" b="1" dirty="0">
                <a:solidFill>
                  <a:schemeClr val="tx1"/>
                </a:solidFill>
              </a:rPr>
              <a:t>Regression from sequence</a:t>
            </a:r>
          </a:p>
          <a:p>
            <a:r>
              <a:rPr lang="en-GB" dirty="0"/>
              <a:t>Often use:</a:t>
            </a:r>
          </a:p>
          <a:p>
            <a:pPr lvl="1"/>
            <a:r>
              <a:rPr lang="en-GB" dirty="0"/>
              <a:t>convolutional stack; </a:t>
            </a:r>
          </a:p>
          <a:p>
            <a:pPr lvl="1"/>
            <a:r>
              <a:rPr lang="en-GB" dirty="0"/>
              <a:t>global pooling; </a:t>
            </a:r>
          </a:p>
          <a:p>
            <a:pPr lvl="1"/>
            <a:r>
              <a:rPr lang="en-GB" dirty="0"/>
              <a:t>regression head. </a:t>
            </a:r>
          </a:p>
          <a:p>
            <a:pPr marL="0" indent="0">
              <a:buNone/>
            </a:pPr>
            <a:endParaRPr lang="en-GB" b="1" dirty="0"/>
          </a:p>
          <a:p>
            <a:r>
              <a:rPr lang="en-GB" dirty="0"/>
              <a:t>The correct CNN architecture follows from the prediction-time and output requirements.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44574023"/>
      </p:ext>
    </p:extLst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BF3D24E-E61E-FD66-8C67-3460E901A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Convolutional output structure and tensor shapes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B21E8DFF-6D70-CB45-357D-93418B0466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3320" y="1991003"/>
            <a:ext cx="7081961" cy="3027917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B0F1BFBA-14BC-B088-EB4A-F22CF463D891}"/>
              </a:ext>
            </a:extLst>
          </p:cNvPr>
          <p:cNvSpPr txBox="1"/>
          <p:nvPr/>
        </p:nvSpPr>
        <p:spPr>
          <a:xfrm>
            <a:off x="7055757" y="4828765"/>
            <a:ext cx="611051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dirty="0">
                <a:latin typeface="Courier New" panose="02070309020205020404" pitchFamily="49" charset="0"/>
              </a:rPr>
              <a:t>L</a:t>
            </a:r>
            <a:r>
              <a:rPr lang="en-GB" dirty="0"/>
              <a:t> = original temporal length;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dirty="0">
                <a:latin typeface="Courier New" panose="02070309020205020404" pitchFamily="49" charset="0"/>
              </a:rPr>
              <a:t>L'</a:t>
            </a:r>
            <a:r>
              <a:rPr lang="en-GB" dirty="0"/>
              <a:t> = possibly transformed temporal length;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dirty="0">
                <a:latin typeface="Courier New" panose="02070309020205020404" pitchFamily="49" charset="0"/>
              </a:rPr>
              <a:t>F</a:t>
            </a:r>
            <a:r>
              <a:rPr lang="en-GB" dirty="0"/>
              <a:t> = learned convolutional channels;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dirty="0">
                <a:latin typeface="Courier New" panose="02070309020205020404" pitchFamily="49" charset="0"/>
              </a:rPr>
              <a:t>K</a:t>
            </a:r>
            <a:r>
              <a:rPr lang="en-GB" dirty="0"/>
              <a:t> = number of classes;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dirty="0">
                <a:latin typeface="Courier New" panose="02070309020205020404" pitchFamily="49" charset="0"/>
              </a:rPr>
              <a:t>H</a:t>
            </a:r>
            <a:r>
              <a:rPr lang="en-GB" dirty="0"/>
              <a:t> = forecast horizon;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dirty="0">
                <a:latin typeface="Courier New" panose="02070309020205020404" pitchFamily="49" charset="0"/>
              </a:rPr>
              <a:t>q</a:t>
            </a:r>
            <a:r>
              <a:rPr lang="en-GB" dirty="0"/>
              <a:t> = number of continuous target variables.</a:t>
            </a:r>
          </a:p>
        </p:txBody>
      </p:sp>
    </p:spTree>
    <p:extLst>
      <p:ext uri="{BB962C8B-B14F-4D97-AF65-F5344CB8AC3E}">
        <p14:creationId xmlns:p14="http://schemas.microsoft.com/office/powerpoint/2010/main" val="2364954952"/>
      </p:ext>
    </p:extLst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7778EE-5901-031A-7F8A-E1E0D2AE9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Block 5.K — Multiscale Temporal Patterns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EA5AF91-55AC-975F-8E39-C720F12053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6691825"/>
      </p:ext>
    </p:extLst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F290077-8737-DC6C-798D-E93C222C1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Real temporal patterns occur at different scales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9122542-D421-E4BA-5313-913EF5A1FC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8"/>
            <a:ext cx="5220356" cy="4697411"/>
          </a:xfrm>
        </p:spPr>
        <p:txBody>
          <a:bodyPr>
            <a:normAutofit/>
          </a:bodyPr>
          <a:lstStyle/>
          <a:p>
            <a:r>
              <a:rPr lang="en-GB" dirty="0"/>
              <a:t>A single temporal signal may contain phenomena of very different durations.</a:t>
            </a:r>
          </a:p>
          <a:p>
            <a:pPr lvl="1"/>
            <a:r>
              <a:rPr lang="en-GB" dirty="0"/>
              <a:t>Example in industrial monitoring:</a:t>
            </a:r>
          </a:p>
          <a:p>
            <a:pPr lvl="1"/>
            <a:r>
              <a:rPr lang="en-GB" dirty="0"/>
              <a:t>short vibration impulse: milliseconds; </a:t>
            </a:r>
          </a:p>
          <a:p>
            <a:pPr lvl="1"/>
            <a:r>
              <a:rPr lang="en-GB" dirty="0"/>
              <a:t>mechanical oscillation: fractions of a second; </a:t>
            </a:r>
          </a:p>
          <a:p>
            <a:pPr lvl="1"/>
            <a:r>
              <a:rPr lang="en-GB" dirty="0"/>
              <a:t>thermal drift: minutes; </a:t>
            </a:r>
          </a:p>
          <a:p>
            <a:pPr lvl="1"/>
            <a:r>
              <a:rPr lang="en-GB" dirty="0"/>
              <a:t>operating-cycle change: hours. </a:t>
            </a:r>
          </a:p>
          <a:p>
            <a:r>
              <a:rPr lang="en-GB" dirty="0"/>
              <a:t>A single kernel size emphasizes one local temporal scale.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CEDD2A7-E7BF-79F8-C061-CC501D30B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97690" y="2160589"/>
            <a:ext cx="6096190" cy="4392611"/>
          </a:xfrm>
        </p:spPr>
        <p:txBody>
          <a:bodyPr>
            <a:normAutofit/>
          </a:bodyPr>
          <a:lstStyle/>
          <a:p>
            <a:r>
              <a:rPr lang="en-GB" b="1" dirty="0"/>
              <a:t>Example</a:t>
            </a:r>
          </a:p>
          <a:p>
            <a:r>
              <a:rPr lang="en-GB" dirty="0"/>
              <a:t>At 100 Hz:</a:t>
            </a:r>
          </a:p>
          <a:p>
            <a:pPr lvl="1"/>
            <a:r>
              <a:rPr lang="en-GB" dirty="0"/>
              <a:t>K = 5 covers: 0.05 s</a:t>
            </a:r>
          </a:p>
          <a:p>
            <a:pPr lvl="1"/>
            <a:r>
              <a:rPr lang="en-GB" dirty="0"/>
              <a:t>while: K = 100 covers: 1 s</a:t>
            </a:r>
          </a:p>
          <a:p>
            <a:endParaRPr lang="en-GB" b="1" dirty="0"/>
          </a:p>
          <a:p>
            <a:r>
              <a:rPr lang="en-GB" b="1" dirty="0"/>
              <a:t>Question</a:t>
            </a:r>
          </a:p>
          <a:p>
            <a:r>
              <a:rPr lang="en-GB" dirty="0"/>
              <a:t>What if relevant patterns exist at several temporal scales simultaneously?</a:t>
            </a:r>
          </a:p>
          <a:p>
            <a:r>
              <a:rPr lang="en-GB" b="1" dirty="0"/>
              <a:t>This motivates multiscale convolutional architectures.</a:t>
            </a:r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406FECCB-3FB2-AD64-90AB-AE5FC7B1A8FE}"/>
              </a:ext>
            </a:extLst>
          </p:cNvPr>
          <p:cNvSpPr txBox="1"/>
          <p:nvPr/>
        </p:nvSpPr>
        <p:spPr>
          <a:xfrm>
            <a:off x="586239" y="5586680"/>
            <a:ext cx="57080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highlight>
                  <a:srgbClr val="FFFF00"/>
                </a:highlight>
              </a:rPr>
              <a:t>N.B. Deep CNNs </a:t>
            </a:r>
            <a:r>
              <a:rPr lang="en-GB" sz="1600" b="1" dirty="0"/>
              <a:t>can also build multiscale representations progressively. </a:t>
            </a:r>
            <a:br>
              <a:rPr lang="en-GB" sz="1600" b="1" dirty="0"/>
            </a:br>
            <a:r>
              <a:rPr lang="en-GB" sz="1600" b="1" dirty="0">
                <a:highlight>
                  <a:srgbClr val="FFFF00"/>
                </a:highlight>
              </a:rPr>
              <a:t>Parallel multiscale convolutions </a:t>
            </a:r>
            <a:r>
              <a:rPr lang="en-GB" sz="1600" b="1" dirty="0"/>
              <a:t>provide a more explicit and direct way to capture several temporal scales simultaneously.</a:t>
            </a:r>
            <a:endParaRPr lang="en-GB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7574308"/>
      </p:ext>
    </p:extLst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Text 0"/>
          <p:cNvSpPr/>
          <p:nvPr/>
        </p:nvSpPr>
        <p:spPr>
          <a:xfrm>
            <a:off x="502920" y="320040"/>
            <a:ext cx="98751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 dirty="0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Real temporal patterns occur at </a:t>
            </a:r>
            <a:r>
              <a:rPr lang="en-US" sz="3000" b="1" u="none" strike="noStrike" dirty="0">
                <a:solidFill>
                  <a:srgbClr val="0F172A"/>
                </a:solidFill>
                <a:effectLst/>
                <a:highlight>
                  <a:srgbClr val="FFFF00"/>
                </a:highlight>
                <a:uFillTx/>
                <a:latin typeface="Aptos Display"/>
                <a:ea typeface="Aptos Display"/>
              </a:rPr>
              <a:t>different scales</a:t>
            </a:r>
            <a:endParaRPr lang="it-IT" sz="3000" b="0" u="none" strike="noStrike" dirty="0">
              <a:solidFill>
                <a:srgbClr val="000000"/>
              </a:solidFill>
              <a:effectLst/>
              <a:highlight>
                <a:srgbClr val="FFFF00"/>
              </a:highlight>
              <a:uFillTx/>
              <a:latin typeface="Arial"/>
            </a:endParaRPr>
          </a:p>
        </p:txBody>
      </p:sp>
      <p:sp>
        <p:nvSpPr>
          <p:cNvPr id="537" name="Text 1"/>
          <p:cNvSpPr/>
          <p:nvPr/>
        </p:nvSpPr>
        <p:spPr>
          <a:xfrm>
            <a:off x="530280" y="804600"/>
            <a:ext cx="95094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Architecture should reflect physical time scales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Shape 2"/>
          <p:cNvSpPr/>
          <p:nvPr/>
        </p:nvSpPr>
        <p:spPr>
          <a:xfrm>
            <a:off x="914400" y="3931920"/>
            <a:ext cx="8778240" cy="360"/>
          </a:xfrm>
          <a:prstGeom prst="line">
            <a:avLst/>
          </a:prstGeom>
          <a:ln w="2540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Shape 3"/>
          <p:cNvSpPr/>
          <p:nvPr/>
        </p:nvSpPr>
        <p:spPr>
          <a:xfrm>
            <a:off x="1371600" y="3931920"/>
            <a:ext cx="365760" cy="360"/>
          </a:xfrm>
          <a:prstGeom prst="line">
            <a:avLst/>
          </a:prstGeom>
          <a:ln w="254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Shape 4"/>
          <p:cNvSpPr/>
          <p:nvPr/>
        </p:nvSpPr>
        <p:spPr>
          <a:xfrm flipV="1">
            <a:off x="1737360" y="3291840"/>
            <a:ext cx="45720" cy="640080"/>
          </a:xfrm>
          <a:prstGeom prst="line">
            <a:avLst/>
          </a:prstGeom>
          <a:ln w="254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Shape 5"/>
          <p:cNvSpPr/>
          <p:nvPr/>
        </p:nvSpPr>
        <p:spPr>
          <a:xfrm>
            <a:off x="1783080" y="3291840"/>
            <a:ext cx="45720" cy="640080"/>
          </a:xfrm>
          <a:prstGeom prst="line">
            <a:avLst/>
          </a:prstGeom>
          <a:ln w="254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Shape 6"/>
          <p:cNvSpPr/>
          <p:nvPr/>
        </p:nvSpPr>
        <p:spPr>
          <a:xfrm>
            <a:off x="1828800" y="3931920"/>
            <a:ext cx="365760" cy="360"/>
          </a:xfrm>
          <a:prstGeom prst="line">
            <a:avLst/>
          </a:prstGeom>
          <a:ln w="254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Text 7"/>
          <p:cNvSpPr/>
          <p:nvPr/>
        </p:nvSpPr>
        <p:spPr>
          <a:xfrm>
            <a:off x="1234440" y="4297680"/>
            <a:ext cx="10969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20 ms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impulse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Shape 8"/>
          <p:cNvSpPr/>
          <p:nvPr/>
        </p:nvSpPr>
        <p:spPr>
          <a:xfrm flipV="1">
            <a:off x="3657600" y="3616560"/>
            <a:ext cx="50040" cy="315360"/>
          </a:xfrm>
          <a:prstGeom prst="line">
            <a:avLst/>
          </a:prstGeom>
          <a:ln w="19050">
            <a:solidFill>
              <a:srgbClr val="86B8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Shape 9"/>
          <p:cNvSpPr/>
          <p:nvPr/>
        </p:nvSpPr>
        <p:spPr>
          <a:xfrm flipV="1">
            <a:off x="3707640" y="3510000"/>
            <a:ext cx="50400" cy="106560"/>
          </a:xfrm>
          <a:prstGeom prst="line">
            <a:avLst/>
          </a:prstGeom>
          <a:ln w="19050">
            <a:solidFill>
              <a:srgbClr val="86B8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Shape 10"/>
          <p:cNvSpPr/>
          <p:nvPr/>
        </p:nvSpPr>
        <p:spPr>
          <a:xfrm>
            <a:off x="3758040" y="3510000"/>
            <a:ext cx="50400" cy="147960"/>
          </a:xfrm>
          <a:prstGeom prst="line">
            <a:avLst/>
          </a:prstGeom>
          <a:ln w="19050">
            <a:solidFill>
              <a:srgbClr val="86B8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Shape 11"/>
          <p:cNvSpPr/>
          <p:nvPr/>
        </p:nvSpPr>
        <p:spPr>
          <a:xfrm>
            <a:off x="3808440" y="3657960"/>
            <a:ext cx="50040" cy="296640"/>
          </a:xfrm>
          <a:prstGeom prst="line">
            <a:avLst/>
          </a:prstGeom>
          <a:ln w="19050">
            <a:solidFill>
              <a:srgbClr val="86B8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Shape 12"/>
          <p:cNvSpPr/>
          <p:nvPr/>
        </p:nvSpPr>
        <p:spPr>
          <a:xfrm>
            <a:off x="3858480" y="3954600"/>
            <a:ext cx="50400" cy="260280"/>
          </a:xfrm>
          <a:prstGeom prst="line">
            <a:avLst/>
          </a:prstGeom>
          <a:ln w="19050">
            <a:solidFill>
              <a:srgbClr val="86B8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Shape 13"/>
          <p:cNvSpPr/>
          <p:nvPr/>
        </p:nvSpPr>
        <p:spPr>
          <a:xfrm>
            <a:off x="3908880" y="4214880"/>
            <a:ext cx="50400" cy="75240"/>
          </a:xfrm>
          <a:prstGeom prst="line">
            <a:avLst/>
          </a:prstGeom>
          <a:ln w="19050">
            <a:solidFill>
              <a:srgbClr val="86B8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0240" rIns="90000" bIns="302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Shape 14"/>
          <p:cNvSpPr/>
          <p:nvPr/>
        </p:nvSpPr>
        <p:spPr>
          <a:xfrm flipV="1">
            <a:off x="3959280" y="4149720"/>
            <a:ext cx="50040" cy="140400"/>
          </a:xfrm>
          <a:prstGeom prst="line">
            <a:avLst/>
          </a:prstGeom>
          <a:ln w="19050">
            <a:solidFill>
              <a:srgbClr val="86B8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Shape 15"/>
          <p:cNvSpPr/>
          <p:nvPr/>
        </p:nvSpPr>
        <p:spPr>
          <a:xfrm flipV="1">
            <a:off x="4009320" y="3893040"/>
            <a:ext cx="50400" cy="256680"/>
          </a:xfrm>
          <a:prstGeom prst="line">
            <a:avLst/>
          </a:prstGeom>
          <a:ln w="19050">
            <a:solidFill>
              <a:srgbClr val="86B8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Shape 16"/>
          <p:cNvSpPr/>
          <p:nvPr/>
        </p:nvSpPr>
        <p:spPr>
          <a:xfrm flipV="1">
            <a:off x="4059720" y="3678480"/>
            <a:ext cx="50400" cy="214560"/>
          </a:xfrm>
          <a:prstGeom prst="line">
            <a:avLst/>
          </a:prstGeom>
          <a:ln w="19050">
            <a:solidFill>
              <a:srgbClr val="86B8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Shape 17"/>
          <p:cNvSpPr/>
          <p:nvPr/>
        </p:nvSpPr>
        <p:spPr>
          <a:xfrm flipV="1">
            <a:off x="4110120" y="3628440"/>
            <a:ext cx="50400" cy="50040"/>
          </a:xfrm>
          <a:prstGeom prst="line">
            <a:avLst/>
          </a:prstGeom>
          <a:ln w="19050">
            <a:solidFill>
              <a:srgbClr val="86B8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040" rIns="90000" bIns="50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Shape 18"/>
          <p:cNvSpPr/>
          <p:nvPr/>
        </p:nvSpPr>
        <p:spPr>
          <a:xfrm>
            <a:off x="4160520" y="3628440"/>
            <a:ext cx="50040" cy="131040"/>
          </a:xfrm>
          <a:prstGeom prst="line">
            <a:avLst/>
          </a:prstGeom>
          <a:ln w="19050">
            <a:solidFill>
              <a:srgbClr val="86B8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Shape 19"/>
          <p:cNvSpPr/>
          <p:nvPr/>
        </p:nvSpPr>
        <p:spPr>
          <a:xfrm>
            <a:off x="4210560" y="3759480"/>
            <a:ext cx="50400" cy="221400"/>
          </a:xfrm>
          <a:prstGeom prst="line">
            <a:avLst/>
          </a:prstGeom>
          <a:ln w="19050">
            <a:solidFill>
              <a:srgbClr val="86B8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Shape 20"/>
          <p:cNvSpPr/>
          <p:nvPr/>
        </p:nvSpPr>
        <p:spPr>
          <a:xfrm>
            <a:off x="4260960" y="3980880"/>
            <a:ext cx="50400" cy="176040"/>
          </a:xfrm>
          <a:prstGeom prst="line">
            <a:avLst/>
          </a:prstGeom>
          <a:ln w="19050">
            <a:solidFill>
              <a:srgbClr val="86B8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Shape 21"/>
          <p:cNvSpPr/>
          <p:nvPr/>
        </p:nvSpPr>
        <p:spPr>
          <a:xfrm>
            <a:off x="4311360" y="4156920"/>
            <a:ext cx="50040" cy="30600"/>
          </a:xfrm>
          <a:prstGeom prst="line">
            <a:avLst/>
          </a:prstGeom>
          <a:ln w="19050">
            <a:solidFill>
              <a:srgbClr val="86B8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4400" rIns="90000" bIns="-144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Shape 22"/>
          <p:cNvSpPr/>
          <p:nvPr/>
        </p:nvSpPr>
        <p:spPr>
          <a:xfrm flipV="1">
            <a:off x="4361400" y="4066200"/>
            <a:ext cx="50400" cy="121320"/>
          </a:xfrm>
          <a:prstGeom prst="line">
            <a:avLst/>
          </a:prstGeom>
          <a:ln w="19050">
            <a:solidFill>
              <a:srgbClr val="86B8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Shape 23"/>
          <p:cNvSpPr/>
          <p:nvPr/>
        </p:nvSpPr>
        <p:spPr>
          <a:xfrm flipV="1">
            <a:off x="4411800" y="3875760"/>
            <a:ext cx="50400" cy="190440"/>
          </a:xfrm>
          <a:prstGeom prst="line">
            <a:avLst/>
          </a:prstGeom>
          <a:ln w="19050">
            <a:solidFill>
              <a:srgbClr val="86B8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Shape 24"/>
          <p:cNvSpPr/>
          <p:nvPr/>
        </p:nvSpPr>
        <p:spPr>
          <a:xfrm flipV="1">
            <a:off x="4462200" y="3732840"/>
            <a:ext cx="50040" cy="142920"/>
          </a:xfrm>
          <a:prstGeom prst="line">
            <a:avLst/>
          </a:prstGeom>
          <a:ln w="19050">
            <a:solidFill>
              <a:srgbClr val="86B8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Shape 25"/>
          <p:cNvSpPr/>
          <p:nvPr/>
        </p:nvSpPr>
        <p:spPr>
          <a:xfrm flipV="1">
            <a:off x="4512240" y="3717000"/>
            <a:ext cx="50400" cy="15840"/>
          </a:xfrm>
          <a:prstGeom prst="line">
            <a:avLst/>
          </a:prstGeom>
          <a:ln w="19050">
            <a:solidFill>
              <a:srgbClr val="86B8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9160" rIns="90000" bIns="-2916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Shape 26"/>
          <p:cNvSpPr/>
          <p:nvPr/>
        </p:nvSpPr>
        <p:spPr>
          <a:xfrm>
            <a:off x="4562640" y="3717000"/>
            <a:ext cx="50400" cy="110880"/>
          </a:xfrm>
          <a:prstGeom prst="line">
            <a:avLst/>
          </a:prstGeom>
          <a:ln w="19050">
            <a:solidFill>
              <a:srgbClr val="86B8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Shape 27"/>
          <p:cNvSpPr/>
          <p:nvPr/>
        </p:nvSpPr>
        <p:spPr>
          <a:xfrm>
            <a:off x="4613040" y="3827880"/>
            <a:ext cx="50400" cy="163080"/>
          </a:xfrm>
          <a:prstGeom prst="line">
            <a:avLst/>
          </a:prstGeom>
          <a:ln w="19050">
            <a:solidFill>
              <a:srgbClr val="86B8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Shape 28"/>
          <p:cNvSpPr/>
          <p:nvPr/>
        </p:nvSpPr>
        <p:spPr>
          <a:xfrm>
            <a:off x="4663440" y="3990960"/>
            <a:ext cx="50040" cy="115920"/>
          </a:xfrm>
          <a:prstGeom prst="line">
            <a:avLst/>
          </a:prstGeom>
          <a:ln w="19050">
            <a:solidFill>
              <a:srgbClr val="86B8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Shape 29"/>
          <p:cNvSpPr/>
          <p:nvPr/>
        </p:nvSpPr>
        <p:spPr>
          <a:xfrm>
            <a:off x="4713480" y="4106880"/>
            <a:ext cx="50400" cy="4680"/>
          </a:xfrm>
          <a:prstGeom prst="line">
            <a:avLst/>
          </a:prstGeom>
          <a:ln w="19050">
            <a:solidFill>
              <a:srgbClr val="86B8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0320" rIns="90000" bIns="-4032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Shape 30"/>
          <p:cNvSpPr/>
          <p:nvPr/>
        </p:nvSpPr>
        <p:spPr>
          <a:xfrm flipV="1">
            <a:off x="4763880" y="4010760"/>
            <a:ext cx="50400" cy="100800"/>
          </a:xfrm>
          <a:prstGeom prst="line">
            <a:avLst/>
          </a:prstGeom>
          <a:ln w="19050">
            <a:solidFill>
              <a:srgbClr val="86B8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Shape 31"/>
          <p:cNvSpPr/>
          <p:nvPr/>
        </p:nvSpPr>
        <p:spPr>
          <a:xfrm flipV="1">
            <a:off x="4814280" y="3871800"/>
            <a:ext cx="50040" cy="138960"/>
          </a:xfrm>
          <a:prstGeom prst="line">
            <a:avLst/>
          </a:prstGeom>
          <a:ln w="19050">
            <a:solidFill>
              <a:srgbClr val="86B8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Text 32"/>
          <p:cNvSpPr/>
          <p:nvPr/>
        </p:nvSpPr>
        <p:spPr>
          <a:xfrm>
            <a:off x="3429000" y="4297680"/>
            <a:ext cx="12798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86B817"/>
                </a:solidFill>
                <a:effectLst/>
                <a:uFillTx/>
                <a:latin typeface="Aptos"/>
                <a:ea typeface="Aptos"/>
              </a:rPr>
              <a:t>0.5 s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86B817"/>
                </a:solidFill>
                <a:effectLst/>
                <a:uFillTx/>
                <a:latin typeface="Aptos"/>
                <a:ea typeface="Aptos"/>
              </a:rPr>
              <a:t>vibration burst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Shape 33"/>
          <p:cNvSpPr/>
          <p:nvPr/>
        </p:nvSpPr>
        <p:spPr>
          <a:xfrm flipV="1">
            <a:off x="6400800" y="3154680"/>
            <a:ext cx="2926080" cy="868680"/>
          </a:xfrm>
          <a:prstGeom prst="line">
            <a:avLst/>
          </a:prstGeom>
          <a:ln w="381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Text 34"/>
          <p:cNvSpPr/>
          <p:nvPr/>
        </p:nvSpPr>
        <p:spPr>
          <a:xfrm>
            <a:off x="7315200" y="4297680"/>
            <a:ext cx="12798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59E0B"/>
                </a:solidFill>
                <a:effectLst/>
                <a:uFillTx/>
                <a:latin typeface="Aptos"/>
                <a:ea typeface="Aptos"/>
              </a:rPr>
              <a:t>10 s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59E0B"/>
                </a:solidFill>
                <a:effectLst/>
                <a:uFillTx/>
                <a:latin typeface="Aptos"/>
                <a:ea typeface="Aptos"/>
              </a:rPr>
              <a:t>thermal drift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Shape 35"/>
          <p:cNvSpPr/>
          <p:nvPr/>
        </p:nvSpPr>
        <p:spPr>
          <a:xfrm>
            <a:off x="1005840" y="1371600"/>
            <a:ext cx="1554120" cy="502560"/>
          </a:xfrm>
          <a:prstGeom prst="roundRect">
            <a:avLst>
              <a:gd name="adj" fmla="val 14545"/>
            </a:avLst>
          </a:prstGeom>
          <a:solidFill>
            <a:srgbClr val="DBEAFE"/>
          </a:solidFill>
          <a:ln w="1397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Text 36"/>
          <p:cNvSpPr/>
          <p:nvPr/>
        </p:nvSpPr>
        <p:spPr>
          <a:xfrm>
            <a:off x="1051560" y="1408320"/>
            <a:ext cx="146268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small kernels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Shape 37"/>
          <p:cNvSpPr/>
          <p:nvPr/>
        </p:nvSpPr>
        <p:spPr>
          <a:xfrm>
            <a:off x="3566160" y="1371600"/>
            <a:ext cx="2011320" cy="502560"/>
          </a:xfrm>
          <a:prstGeom prst="roundRect">
            <a:avLst>
              <a:gd name="adj" fmla="val 14545"/>
            </a:avLst>
          </a:prstGeom>
          <a:solidFill>
            <a:srgbClr val="ECFCCB"/>
          </a:solidFill>
          <a:ln w="13970">
            <a:solidFill>
              <a:srgbClr val="86B8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Text 38"/>
          <p:cNvSpPr/>
          <p:nvPr/>
        </p:nvSpPr>
        <p:spPr>
          <a:xfrm>
            <a:off x="3611880" y="1408320"/>
            <a:ext cx="191988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medium receptive fields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Shape 39"/>
          <p:cNvSpPr/>
          <p:nvPr/>
        </p:nvSpPr>
        <p:spPr>
          <a:xfrm>
            <a:off x="6949440" y="1371600"/>
            <a:ext cx="2011320" cy="502560"/>
          </a:xfrm>
          <a:prstGeom prst="roundRect">
            <a:avLst>
              <a:gd name="adj" fmla="val 14545"/>
            </a:avLst>
          </a:prstGeom>
          <a:solidFill>
            <a:srgbClr val="FEF3C7"/>
          </a:solidFill>
          <a:ln w="1397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Text 40"/>
          <p:cNvSpPr/>
          <p:nvPr/>
        </p:nvSpPr>
        <p:spPr>
          <a:xfrm>
            <a:off x="6995160" y="1408320"/>
            <a:ext cx="191988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deep / dilated context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Shape 41"/>
          <p:cNvSpPr/>
          <p:nvPr/>
        </p:nvSpPr>
        <p:spPr>
          <a:xfrm>
            <a:off x="1783080" y="1874520"/>
            <a:ext cx="360" cy="1371600"/>
          </a:xfrm>
          <a:prstGeom prst="line">
            <a:avLst/>
          </a:prstGeom>
          <a:ln w="19050">
            <a:solidFill>
              <a:srgbClr val="2563E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Shape 42"/>
          <p:cNvSpPr/>
          <p:nvPr/>
        </p:nvSpPr>
        <p:spPr>
          <a:xfrm flipH="1">
            <a:off x="4251960" y="1874520"/>
            <a:ext cx="320040" cy="1463040"/>
          </a:xfrm>
          <a:prstGeom prst="line">
            <a:avLst/>
          </a:prstGeom>
          <a:ln w="19050">
            <a:solidFill>
              <a:srgbClr val="86B817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Shape 43"/>
          <p:cNvSpPr/>
          <p:nvPr/>
        </p:nvSpPr>
        <p:spPr>
          <a:xfrm>
            <a:off x="7955280" y="1874520"/>
            <a:ext cx="360" cy="1188720"/>
          </a:xfrm>
          <a:prstGeom prst="line">
            <a:avLst/>
          </a:prstGeom>
          <a:ln w="19050">
            <a:solidFill>
              <a:srgbClr val="F59E0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PlaceHolder 1"/>
          <p:cNvSpPr>
            <a:spLocks noGrp="1"/>
          </p:cNvSpPr>
          <p:nvPr>
            <p:ph type="sldNum" idx="16"/>
          </p:nvPr>
        </p:nvSpPr>
        <p:spPr>
          <a:xfrm>
            <a:off x="1065276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rgbClr val="64748B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DD2EEBA-0132-4F6E-B5BF-B52C2C6CC7D9}" type="slidenum"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231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2CFF58C-C988-68A2-478A-74B1AA07B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Different </a:t>
            </a:r>
            <a:r>
              <a:rPr lang="en-GB" b="1" dirty="0">
                <a:highlight>
                  <a:srgbClr val="FFFF00"/>
                </a:highlight>
              </a:rPr>
              <a:t>kernel sizes </a:t>
            </a:r>
            <a:r>
              <a:rPr lang="en-GB" dirty="0"/>
              <a:t>detect different temporal structures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F63EE50-48F5-B6C8-E5E0-CC325FC9D2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8"/>
            <a:ext cx="5418666" cy="4407851"/>
          </a:xfrm>
        </p:spPr>
        <p:txBody>
          <a:bodyPr>
            <a:normAutofit/>
          </a:bodyPr>
          <a:lstStyle/>
          <a:p>
            <a:r>
              <a:rPr lang="en-GB" b="1" dirty="0"/>
              <a:t>Small kernel</a:t>
            </a:r>
          </a:p>
          <a:p>
            <a:r>
              <a:rPr lang="en-GB" dirty="0"/>
              <a:t>Can capture:</a:t>
            </a:r>
          </a:p>
          <a:p>
            <a:pPr lvl="1"/>
            <a:r>
              <a:rPr lang="en-GB" dirty="0"/>
              <a:t>abrupt transitions; </a:t>
            </a:r>
          </a:p>
          <a:p>
            <a:pPr lvl="1"/>
            <a:r>
              <a:rPr lang="en-GB" dirty="0"/>
              <a:t>sharp peaks; </a:t>
            </a:r>
          </a:p>
          <a:p>
            <a:pPr lvl="1"/>
            <a:r>
              <a:rPr lang="en-GB" dirty="0"/>
              <a:t>local derivatives; </a:t>
            </a:r>
          </a:p>
          <a:p>
            <a:pPr lvl="1"/>
            <a:r>
              <a:rPr lang="en-GB" dirty="0"/>
              <a:t>high-frequency structure. </a:t>
            </a:r>
          </a:p>
          <a:p>
            <a:r>
              <a:rPr lang="en-GB" b="1" dirty="0"/>
              <a:t>Medium kernel</a:t>
            </a:r>
          </a:p>
          <a:p>
            <a:r>
              <a:rPr lang="en-GB" dirty="0"/>
              <a:t>Can capture:</a:t>
            </a:r>
          </a:p>
          <a:p>
            <a:pPr lvl="1"/>
            <a:r>
              <a:rPr lang="en-GB" dirty="0"/>
              <a:t>short motifs; </a:t>
            </a:r>
          </a:p>
          <a:p>
            <a:pPr lvl="1"/>
            <a:r>
              <a:rPr lang="en-GB" dirty="0"/>
              <a:t>local cycles; </a:t>
            </a:r>
          </a:p>
          <a:p>
            <a:pPr lvl="1"/>
            <a:r>
              <a:rPr lang="en-GB" dirty="0"/>
              <a:t>bursts. 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1A52CD2-D3D9-7DEC-269A-D8707E158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53567" y="2160589"/>
            <a:ext cx="5440870" cy="4545011"/>
          </a:xfrm>
        </p:spPr>
        <p:txBody>
          <a:bodyPr>
            <a:normAutofit/>
          </a:bodyPr>
          <a:lstStyle/>
          <a:p>
            <a:r>
              <a:rPr lang="en-GB" b="1" dirty="0"/>
              <a:t>Large kernel</a:t>
            </a:r>
          </a:p>
          <a:p>
            <a:r>
              <a:rPr lang="en-GB" dirty="0"/>
              <a:t>Can capture:</a:t>
            </a:r>
          </a:p>
          <a:p>
            <a:pPr lvl="1"/>
            <a:r>
              <a:rPr lang="en-GB" dirty="0"/>
              <a:t>slower changes; </a:t>
            </a:r>
          </a:p>
          <a:p>
            <a:pPr lvl="1"/>
            <a:r>
              <a:rPr lang="en-GB" dirty="0"/>
              <a:t>broader temporal shapes; </a:t>
            </a:r>
          </a:p>
          <a:p>
            <a:pPr lvl="1"/>
            <a:r>
              <a:rPr lang="en-GB" dirty="0"/>
              <a:t>longer periodic patterns. </a:t>
            </a:r>
          </a:p>
          <a:p>
            <a:endParaRPr lang="en-GB" b="1" dirty="0"/>
          </a:p>
          <a:p>
            <a:r>
              <a:rPr lang="en-GB" b="1" dirty="0"/>
              <a:t>Problem</a:t>
            </a:r>
          </a:p>
          <a:p>
            <a:r>
              <a:rPr lang="en-GB" dirty="0"/>
              <a:t>Choosing only one kernel size imposes one preferred local temporal scale.</a:t>
            </a:r>
          </a:p>
          <a:p>
            <a:r>
              <a:rPr lang="en-GB" b="1" dirty="0"/>
              <a:t>Alternative</a:t>
            </a:r>
          </a:p>
          <a:p>
            <a:r>
              <a:rPr lang="en-GB" dirty="0"/>
              <a:t>Use several kernel sizes in parallel.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20761257"/>
      </p:ext>
    </p:extLst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DDDB6C1-496E-BD19-E8DF-B93DE9F7F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Parallel multiscale convolution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365CFE3-824C-E7BE-1D65-C3F917C142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8596668" cy="3880772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One input sequence can be processed by several convolutional branches.</a:t>
            </a:r>
          </a:p>
          <a:p>
            <a:r>
              <a:rPr lang="en-GB" dirty="0"/>
              <a:t>                 ┌→ Conv K=3  ─┐</a:t>
            </a:r>
          </a:p>
          <a:p>
            <a:r>
              <a:rPr lang="en-GB" dirty="0"/>
              <a:t>input sequence ──→ Conv K=9  ─┼→ concatenate → next layer</a:t>
            </a:r>
          </a:p>
          <a:p>
            <a:r>
              <a:rPr lang="en-GB" dirty="0"/>
              <a:t>                 └→ Conv K=21 ─┘</a:t>
            </a:r>
          </a:p>
          <a:p>
            <a:r>
              <a:rPr lang="en-GB" b="1" dirty="0"/>
              <a:t>Each branch learns features at a different temporal scale</a:t>
            </a:r>
          </a:p>
          <a:p>
            <a:r>
              <a:rPr lang="en-GB" dirty="0"/>
              <a:t>Small kernel:</a:t>
            </a:r>
          </a:p>
          <a:p>
            <a:pPr lvl="1"/>
            <a:r>
              <a:rPr lang="en-GB" dirty="0"/>
              <a:t>local patterns. </a:t>
            </a:r>
          </a:p>
          <a:p>
            <a:r>
              <a:rPr lang="en-GB" dirty="0"/>
              <a:t>Medium kernel:</a:t>
            </a:r>
          </a:p>
          <a:p>
            <a:pPr lvl="1"/>
            <a:r>
              <a:rPr lang="en-GB" dirty="0"/>
              <a:t>intermediate motifs. </a:t>
            </a:r>
          </a:p>
          <a:p>
            <a:r>
              <a:rPr lang="en-GB" dirty="0"/>
              <a:t>Large kernel:</a:t>
            </a:r>
          </a:p>
          <a:p>
            <a:pPr lvl="1"/>
            <a:r>
              <a:rPr lang="en-GB" dirty="0"/>
              <a:t>broader context. 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343B72D-D304-A08B-AC6A-B8B535E5E3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901440" y="4927601"/>
            <a:ext cx="7818120" cy="1832291"/>
          </a:xfrm>
        </p:spPr>
        <p:txBody>
          <a:bodyPr>
            <a:normAutofit fontScale="92500" lnSpcReduction="20000"/>
          </a:bodyPr>
          <a:lstStyle/>
          <a:p>
            <a:r>
              <a:rPr lang="en-GB" b="1" dirty="0"/>
              <a:t>Output</a:t>
            </a:r>
          </a:p>
          <a:p>
            <a:r>
              <a:rPr lang="en-GB" dirty="0"/>
              <a:t>The resulting feature maps are combined, often by </a:t>
            </a:r>
            <a:r>
              <a:rPr lang="en-GB" b="1" dirty="0"/>
              <a:t>concatenating their channels.</a:t>
            </a:r>
          </a:p>
          <a:p>
            <a:pPr marL="0" indent="0">
              <a:buNone/>
            </a:pPr>
            <a:endParaRPr lang="en-GB" b="1" dirty="0"/>
          </a:p>
          <a:p>
            <a:r>
              <a:rPr lang="en-GB" b="1" dirty="0"/>
              <a:t>Multiscale convolution allows the model to learn which temporal scales are useful instead of forcing one kernel duration.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39160686"/>
      </p:ext>
    </p:extLst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Text 0"/>
          <p:cNvSpPr/>
          <p:nvPr/>
        </p:nvSpPr>
        <p:spPr>
          <a:xfrm>
            <a:off x="502920" y="320040"/>
            <a:ext cx="98751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Parallel multiscale convolution</a:t>
            </a:r>
            <a:endParaRPr lang="it-IT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Text 1"/>
          <p:cNvSpPr/>
          <p:nvPr/>
        </p:nvSpPr>
        <p:spPr>
          <a:xfrm>
            <a:off x="530280" y="804600"/>
            <a:ext cx="95094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Different kernel sizes learn different temporal scales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Shape 2"/>
          <p:cNvSpPr/>
          <p:nvPr/>
        </p:nvSpPr>
        <p:spPr>
          <a:xfrm>
            <a:off x="822960" y="2834640"/>
            <a:ext cx="1554120" cy="502560"/>
          </a:xfrm>
          <a:prstGeom prst="roundRect">
            <a:avLst>
              <a:gd name="adj" fmla="val 14545"/>
            </a:avLst>
          </a:prstGeom>
          <a:solidFill>
            <a:srgbClr val="DBEAFE"/>
          </a:solidFill>
          <a:ln w="1397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Text 3"/>
          <p:cNvSpPr/>
          <p:nvPr/>
        </p:nvSpPr>
        <p:spPr>
          <a:xfrm>
            <a:off x="868680" y="2871360"/>
            <a:ext cx="146268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input sequence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Shape 4"/>
          <p:cNvSpPr/>
          <p:nvPr/>
        </p:nvSpPr>
        <p:spPr>
          <a:xfrm>
            <a:off x="3200400" y="1417320"/>
            <a:ext cx="1645560" cy="685440"/>
          </a:xfrm>
          <a:prstGeom prst="roundRect">
            <a:avLst>
              <a:gd name="adj" fmla="val 10667"/>
            </a:avLst>
          </a:prstGeom>
          <a:solidFill>
            <a:srgbClr val="DBEAFE"/>
          </a:solidFill>
          <a:ln w="1397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Text 5"/>
          <p:cNvSpPr/>
          <p:nvPr/>
        </p:nvSpPr>
        <p:spPr>
          <a:xfrm>
            <a:off x="3246120" y="1454040"/>
            <a:ext cx="1554120" cy="61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Conv K=3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short patterns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Shape 6"/>
          <p:cNvSpPr/>
          <p:nvPr/>
        </p:nvSpPr>
        <p:spPr>
          <a:xfrm flipV="1">
            <a:off x="2377440" y="1764720"/>
            <a:ext cx="822960" cy="1325880"/>
          </a:xfrm>
          <a:prstGeom prst="line">
            <a:avLst/>
          </a:prstGeom>
          <a:ln w="15240">
            <a:solidFill>
              <a:srgbClr val="2563E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Shape 7"/>
          <p:cNvSpPr/>
          <p:nvPr/>
        </p:nvSpPr>
        <p:spPr>
          <a:xfrm>
            <a:off x="3200400" y="2834640"/>
            <a:ext cx="1645560" cy="685440"/>
          </a:xfrm>
          <a:prstGeom prst="roundRect">
            <a:avLst>
              <a:gd name="adj" fmla="val 10667"/>
            </a:avLst>
          </a:prstGeom>
          <a:solidFill>
            <a:srgbClr val="ECFCCB"/>
          </a:solidFill>
          <a:ln w="13970">
            <a:solidFill>
              <a:srgbClr val="86B8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Text 8"/>
          <p:cNvSpPr/>
          <p:nvPr/>
        </p:nvSpPr>
        <p:spPr>
          <a:xfrm>
            <a:off x="3246120" y="2871360"/>
            <a:ext cx="1554120" cy="61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Conv K=9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medium motifs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Shape 9"/>
          <p:cNvSpPr/>
          <p:nvPr/>
        </p:nvSpPr>
        <p:spPr>
          <a:xfrm>
            <a:off x="2377440" y="3090600"/>
            <a:ext cx="822960" cy="91440"/>
          </a:xfrm>
          <a:prstGeom prst="line">
            <a:avLst/>
          </a:prstGeom>
          <a:ln w="15240">
            <a:solidFill>
              <a:srgbClr val="86B817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Shape 10"/>
          <p:cNvSpPr/>
          <p:nvPr/>
        </p:nvSpPr>
        <p:spPr>
          <a:xfrm>
            <a:off x="3200400" y="4251960"/>
            <a:ext cx="1645560" cy="685440"/>
          </a:xfrm>
          <a:prstGeom prst="roundRect">
            <a:avLst>
              <a:gd name="adj" fmla="val 10667"/>
            </a:avLst>
          </a:prstGeom>
          <a:solidFill>
            <a:srgbClr val="FEF3C7"/>
          </a:solidFill>
          <a:ln w="1397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Text 11"/>
          <p:cNvSpPr/>
          <p:nvPr/>
        </p:nvSpPr>
        <p:spPr>
          <a:xfrm>
            <a:off x="3246120" y="4288680"/>
            <a:ext cx="1554120" cy="61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Conv K=21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broad context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Shape 12"/>
          <p:cNvSpPr/>
          <p:nvPr/>
        </p:nvSpPr>
        <p:spPr>
          <a:xfrm>
            <a:off x="2377440" y="3090600"/>
            <a:ext cx="822960" cy="1508760"/>
          </a:xfrm>
          <a:prstGeom prst="line">
            <a:avLst/>
          </a:prstGeom>
          <a:ln w="15240">
            <a:solidFill>
              <a:srgbClr val="F59E0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Shape 13"/>
          <p:cNvSpPr/>
          <p:nvPr/>
        </p:nvSpPr>
        <p:spPr>
          <a:xfrm>
            <a:off x="5852160" y="2834640"/>
            <a:ext cx="1554120" cy="639720"/>
          </a:xfrm>
          <a:prstGeom prst="roundRect">
            <a:avLst>
              <a:gd name="adj" fmla="val 11429"/>
            </a:avLst>
          </a:prstGeom>
          <a:solidFill>
            <a:srgbClr val="EDE9FE"/>
          </a:solidFill>
          <a:ln w="1397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Text 14"/>
          <p:cNvSpPr/>
          <p:nvPr/>
        </p:nvSpPr>
        <p:spPr>
          <a:xfrm>
            <a:off x="5897880" y="2871360"/>
            <a:ext cx="14626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concatenate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channels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Shape 15"/>
          <p:cNvSpPr/>
          <p:nvPr/>
        </p:nvSpPr>
        <p:spPr>
          <a:xfrm>
            <a:off x="4846320" y="1764720"/>
            <a:ext cx="1005840" cy="1389960"/>
          </a:xfrm>
          <a:prstGeom prst="line">
            <a:avLst/>
          </a:prstGeom>
          <a:ln w="15240">
            <a:solidFill>
              <a:srgbClr val="2563E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7" name="Shape 16"/>
          <p:cNvSpPr/>
          <p:nvPr/>
        </p:nvSpPr>
        <p:spPr>
          <a:xfrm flipV="1">
            <a:off x="4846320" y="3154680"/>
            <a:ext cx="1005840" cy="27360"/>
          </a:xfrm>
          <a:prstGeom prst="line">
            <a:avLst/>
          </a:prstGeom>
          <a:ln w="15240">
            <a:solidFill>
              <a:srgbClr val="86B817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7640" rIns="90000" bIns="-17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Shape 17"/>
          <p:cNvSpPr/>
          <p:nvPr/>
        </p:nvSpPr>
        <p:spPr>
          <a:xfrm flipV="1">
            <a:off x="4846320" y="3154680"/>
            <a:ext cx="1005840" cy="1444680"/>
          </a:xfrm>
          <a:prstGeom prst="line">
            <a:avLst/>
          </a:prstGeom>
          <a:ln w="15240">
            <a:solidFill>
              <a:srgbClr val="F59E0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Shape 18"/>
          <p:cNvSpPr/>
          <p:nvPr/>
        </p:nvSpPr>
        <p:spPr>
          <a:xfrm>
            <a:off x="8321040" y="2834640"/>
            <a:ext cx="1737000" cy="63972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1397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Text 19"/>
          <p:cNvSpPr/>
          <p:nvPr/>
        </p:nvSpPr>
        <p:spPr>
          <a:xfrm>
            <a:off x="8366760" y="2871360"/>
            <a:ext cx="164556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next layer /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prediction head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Shape 20"/>
          <p:cNvSpPr/>
          <p:nvPr/>
        </p:nvSpPr>
        <p:spPr>
          <a:xfrm>
            <a:off x="7406640" y="3154680"/>
            <a:ext cx="914400" cy="360"/>
          </a:xfrm>
          <a:prstGeom prst="line">
            <a:avLst/>
          </a:prstGeom>
          <a:ln w="15240">
            <a:solidFill>
              <a:srgbClr val="47556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Text 21"/>
          <p:cNvSpPr/>
          <p:nvPr/>
        </p:nvSpPr>
        <p:spPr>
          <a:xfrm>
            <a:off x="1280160" y="5669280"/>
            <a:ext cx="83206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 dirty="0">
                <a:solidFill>
                  <a:srgbClr val="0F172A"/>
                </a:solidFill>
                <a:effectLst/>
                <a:highlight>
                  <a:srgbClr val="FFFF00"/>
                </a:highlight>
                <a:uFillTx/>
                <a:latin typeface="Aptos"/>
                <a:ea typeface="Aptos"/>
              </a:rPr>
              <a:t>The model can learn which temporal scale is useful for the target.</a:t>
            </a:r>
            <a:endParaRPr lang="it-IT" sz="1500" b="0" u="none" strike="noStrike" dirty="0">
              <a:solidFill>
                <a:srgbClr val="000000"/>
              </a:solidFill>
              <a:effectLst/>
              <a:highlight>
                <a:srgbClr val="FFFF00"/>
              </a:highlight>
              <a:uFillTx/>
              <a:latin typeface="Arial"/>
            </a:endParaRPr>
          </a:p>
        </p:txBody>
      </p:sp>
      <p:sp>
        <p:nvSpPr>
          <p:cNvPr id="603" name="PlaceHolder 1"/>
          <p:cNvSpPr>
            <a:spLocks noGrp="1"/>
          </p:cNvSpPr>
          <p:nvPr>
            <p:ph type="sldNum" idx="17"/>
          </p:nvPr>
        </p:nvSpPr>
        <p:spPr>
          <a:xfrm>
            <a:off x="1065276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rgbClr val="64748B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9DAFD1D-A260-4FC0-8C4B-A01D918F778F}" type="slidenum"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234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6F03E2B-808B-8CB5-1C06-D7243BF4E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Multiscale representation is different from dilation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BB5C851-834B-A744-8402-EC5B0967AA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3" y="2160588"/>
            <a:ext cx="5921953" cy="4697412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Both mechanisms increase temporal span, but they do so differently.</a:t>
            </a:r>
          </a:p>
          <a:p>
            <a:r>
              <a:rPr lang="en-GB" b="1" dirty="0"/>
              <a:t>Parallel kernel sizes</a:t>
            </a:r>
          </a:p>
          <a:p>
            <a:r>
              <a:rPr lang="en-GB" b="1" dirty="0"/>
              <a:t>Use dense observations over different local spans.</a:t>
            </a:r>
          </a:p>
          <a:p>
            <a:r>
              <a:rPr lang="en-GB" dirty="0"/>
              <a:t>Example:</a:t>
            </a:r>
          </a:p>
          <a:p>
            <a:pPr lvl="1"/>
            <a:r>
              <a:rPr lang="en-GB" dirty="0"/>
              <a:t>K = 3</a:t>
            </a:r>
          </a:p>
          <a:p>
            <a:pPr lvl="1"/>
            <a:r>
              <a:rPr lang="en-GB" dirty="0"/>
              <a:t>K = 9</a:t>
            </a:r>
          </a:p>
          <a:p>
            <a:pPr lvl="1"/>
            <a:r>
              <a:rPr lang="en-GB" dirty="0"/>
              <a:t>K = 21</a:t>
            </a:r>
          </a:p>
          <a:p>
            <a:endParaRPr lang="en-GB" b="1" dirty="0"/>
          </a:p>
          <a:p>
            <a:r>
              <a:rPr lang="en-GB" b="1" dirty="0"/>
              <a:t>Dilation</a:t>
            </a:r>
          </a:p>
          <a:p>
            <a:r>
              <a:rPr lang="en-GB" b="1" dirty="0"/>
              <a:t>Uses one small kernel with increasing gaps.</a:t>
            </a:r>
          </a:p>
          <a:p>
            <a:r>
              <a:rPr lang="en-GB" dirty="0"/>
              <a:t>Example:</a:t>
            </a:r>
          </a:p>
          <a:p>
            <a:pPr lvl="1"/>
            <a:r>
              <a:rPr lang="en-GB" dirty="0"/>
              <a:t>K = 3, D = 1</a:t>
            </a:r>
          </a:p>
          <a:p>
            <a:pPr lvl="1"/>
            <a:r>
              <a:rPr lang="en-GB" dirty="0"/>
              <a:t>K = 3, D = 4</a:t>
            </a:r>
          </a:p>
          <a:p>
            <a:pPr lvl="1"/>
            <a:r>
              <a:rPr lang="en-GB" dirty="0"/>
              <a:t>K = 3, D = 8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A92D5BC-C372-3018-6AD0-E601F85C51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99287" y="2141858"/>
            <a:ext cx="5349430" cy="4499291"/>
          </a:xfrm>
        </p:spPr>
        <p:txBody>
          <a:bodyPr>
            <a:normAutofit fontScale="85000" lnSpcReduction="20000"/>
          </a:bodyPr>
          <a:lstStyle/>
          <a:p>
            <a:r>
              <a:rPr lang="en-GB" b="1" dirty="0"/>
              <a:t>Difference</a:t>
            </a:r>
          </a:p>
          <a:p>
            <a:r>
              <a:rPr lang="en-GB" dirty="0"/>
              <a:t>Large kernel: </a:t>
            </a:r>
            <a:r>
              <a:rPr lang="en-GB" b="1" dirty="0"/>
              <a:t>densely samples its local interval. </a:t>
            </a:r>
          </a:p>
          <a:p>
            <a:r>
              <a:rPr lang="en-GB" dirty="0"/>
              <a:t>Large dilation: </a:t>
            </a:r>
            <a:r>
              <a:rPr lang="en-GB" b="1" dirty="0"/>
              <a:t>sparsely samples a larger interval. </a:t>
            </a:r>
          </a:p>
          <a:p>
            <a:r>
              <a:rPr lang="en-GB" b="1" dirty="0">
                <a:highlight>
                  <a:srgbClr val="FFFF00"/>
                </a:highlight>
              </a:rPr>
              <a:t>They can also be combined</a:t>
            </a:r>
          </a:p>
          <a:p>
            <a:r>
              <a:rPr lang="en-GB" dirty="0"/>
              <a:t>A model may use:</a:t>
            </a:r>
          </a:p>
          <a:p>
            <a:pPr lvl="1"/>
            <a:r>
              <a:rPr lang="en-GB" dirty="0"/>
              <a:t>several kernel sizes; </a:t>
            </a:r>
          </a:p>
          <a:p>
            <a:pPr lvl="1"/>
            <a:r>
              <a:rPr lang="en-GB" dirty="0"/>
              <a:t>dilation; </a:t>
            </a:r>
          </a:p>
          <a:p>
            <a:pPr lvl="1"/>
            <a:r>
              <a:rPr lang="en-GB" dirty="0"/>
              <a:t>depth; </a:t>
            </a:r>
          </a:p>
          <a:p>
            <a:r>
              <a:rPr lang="en-GB" b="1" dirty="0"/>
              <a:t>to obtain rich multiscale representations.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13271233"/>
      </p:ext>
    </p:extLst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Text 0"/>
          <p:cNvSpPr/>
          <p:nvPr/>
        </p:nvSpPr>
        <p:spPr>
          <a:xfrm>
            <a:off x="502920" y="320040"/>
            <a:ext cx="98751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Large kernel versus dilated kernel</a:t>
            </a:r>
            <a:endParaRPr lang="it-IT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Text 1"/>
          <p:cNvSpPr/>
          <p:nvPr/>
        </p:nvSpPr>
        <p:spPr>
          <a:xfrm>
            <a:off x="530280" y="804600"/>
            <a:ext cx="95094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Dense local span and sparse wide span are different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Text 2"/>
          <p:cNvSpPr/>
          <p:nvPr/>
        </p:nvSpPr>
        <p:spPr>
          <a:xfrm>
            <a:off x="914400" y="123444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Large dense kernel (K=9)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Shape 3"/>
          <p:cNvSpPr/>
          <p:nvPr/>
        </p:nvSpPr>
        <p:spPr>
          <a:xfrm>
            <a:off x="1005840" y="1828800"/>
            <a:ext cx="8961120" cy="360"/>
          </a:xfrm>
          <a:prstGeom prst="line">
            <a:avLst/>
          </a:prstGeom>
          <a:ln w="2540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Shape 4"/>
          <p:cNvSpPr/>
          <p:nvPr/>
        </p:nvSpPr>
        <p:spPr>
          <a:xfrm>
            <a:off x="969120" y="179208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9" name="Shape 5"/>
          <p:cNvSpPr/>
          <p:nvPr/>
        </p:nvSpPr>
        <p:spPr>
          <a:xfrm>
            <a:off x="1529280" y="179208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0" name="Shape 6"/>
          <p:cNvSpPr/>
          <p:nvPr/>
        </p:nvSpPr>
        <p:spPr>
          <a:xfrm>
            <a:off x="2089440" y="179208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1" name="Shape 7"/>
          <p:cNvSpPr/>
          <p:nvPr/>
        </p:nvSpPr>
        <p:spPr>
          <a:xfrm>
            <a:off x="2649600" y="179208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2" name="Shape 8"/>
          <p:cNvSpPr/>
          <p:nvPr/>
        </p:nvSpPr>
        <p:spPr>
          <a:xfrm>
            <a:off x="3209400" y="179208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3" name="Shape 9"/>
          <p:cNvSpPr/>
          <p:nvPr/>
        </p:nvSpPr>
        <p:spPr>
          <a:xfrm>
            <a:off x="3769560" y="179208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4" name="Shape 10"/>
          <p:cNvSpPr/>
          <p:nvPr/>
        </p:nvSpPr>
        <p:spPr>
          <a:xfrm>
            <a:off x="4329720" y="179208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5" name="Shape 11"/>
          <p:cNvSpPr/>
          <p:nvPr/>
        </p:nvSpPr>
        <p:spPr>
          <a:xfrm>
            <a:off x="4889880" y="179208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6" name="Shape 12"/>
          <p:cNvSpPr/>
          <p:nvPr/>
        </p:nvSpPr>
        <p:spPr>
          <a:xfrm>
            <a:off x="5449680" y="179208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7" name="Shape 13"/>
          <p:cNvSpPr/>
          <p:nvPr/>
        </p:nvSpPr>
        <p:spPr>
          <a:xfrm>
            <a:off x="6009840" y="179208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8" name="Shape 14"/>
          <p:cNvSpPr/>
          <p:nvPr/>
        </p:nvSpPr>
        <p:spPr>
          <a:xfrm>
            <a:off x="6570000" y="179208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9" name="Shape 15"/>
          <p:cNvSpPr/>
          <p:nvPr/>
        </p:nvSpPr>
        <p:spPr>
          <a:xfrm>
            <a:off x="7130160" y="179208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0" name="Shape 16"/>
          <p:cNvSpPr/>
          <p:nvPr/>
        </p:nvSpPr>
        <p:spPr>
          <a:xfrm>
            <a:off x="7689960" y="179208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1" name="Shape 17"/>
          <p:cNvSpPr/>
          <p:nvPr/>
        </p:nvSpPr>
        <p:spPr>
          <a:xfrm>
            <a:off x="8250120" y="179208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2" name="Shape 18"/>
          <p:cNvSpPr/>
          <p:nvPr/>
        </p:nvSpPr>
        <p:spPr>
          <a:xfrm>
            <a:off x="8810280" y="179208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3" name="Shape 19"/>
          <p:cNvSpPr/>
          <p:nvPr/>
        </p:nvSpPr>
        <p:spPr>
          <a:xfrm>
            <a:off x="9370440" y="179208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4" name="Shape 20"/>
          <p:cNvSpPr/>
          <p:nvPr/>
        </p:nvSpPr>
        <p:spPr>
          <a:xfrm>
            <a:off x="9930240" y="179208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5" name="Shape 21"/>
          <p:cNvSpPr/>
          <p:nvPr/>
        </p:nvSpPr>
        <p:spPr>
          <a:xfrm>
            <a:off x="3173040" y="1755720"/>
            <a:ext cx="145800" cy="145800"/>
          </a:xfrm>
          <a:prstGeom prst="ellipse">
            <a:avLst/>
          </a:prstGeom>
          <a:solidFill>
            <a:srgbClr val="86B817"/>
          </a:solidFill>
          <a:ln w="12700">
            <a:solidFill>
              <a:srgbClr val="86B8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Shape 22"/>
          <p:cNvSpPr/>
          <p:nvPr/>
        </p:nvSpPr>
        <p:spPr>
          <a:xfrm>
            <a:off x="3733200" y="1755720"/>
            <a:ext cx="145800" cy="145800"/>
          </a:xfrm>
          <a:prstGeom prst="ellipse">
            <a:avLst/>
          </a:prstGeom>
          <a:solidFill>
            <a:srgbClr val="86B817"/>
          </a:solidFill>
          <a:ln w="12700">
            <a:solidFill>
              <a:srgbClr val="86B8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Shape 23"/>
          <p:cNvSpPr/>
          <p:nvPr/>
        </p:nvSpPr>
        <p:spPr>
          <a:xfrm>
            <a:off x="4293000" y="1755720"/>
            <a:ext cx="145800" cy="145800"/>
          </a:xfrm>
          <a:prstGeom prst="ellipse">
            <a:avLst/>
          </a:prstGeom>
          <a:solidFill>
            <a:srgbClr val="86B817"/>
          </a:solidFill>
          <a:ln w="12700">
            <a:solidFill>
              <a:srgbClr val="86B8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Shape 24"/>
          <p:cNvSpPr/>
          <p:nvPr/>
        </p:nvSpPr>
        <p:spPr>
          <a:xfrm>
            <a:off x="4853160" y="1755720"/>
            <a:ext cx="145800" cy="145800"/>
          </a:xfrm>
          <a:prstGeom prst="ellipse">
            <a:avLst/>
          </a:prstGeom>
          <a:solidFill>
            <a:srgbClr val="86B817"/>
          </a:solidFill>
          <a:ln w="12700">
            <a:solidFill>
              <a:srgbClr val="86B8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9" name="Shape 25"/>
          <p:cNvSpPr/>
          <p:nvPr/>
        </p:nvSpPr>
        <p:spPr>
          <a:xfrm>
            <a:off x="5413320" y="1755720"/>
            <a:ext cx="145800" cy="145800"/>
          </a:xfrm>
          <a:prstGeom prst="ellipse">
            <a:avLst/>
          </a:prstGeom>
          <a:solidFill>
            <a:srgbClr val="86B817"/>
          </a:solidFill>
          <a:ln w="12700">
            <a:solidFill>
              <a:srgbClr val="86B8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0" name="Shape 26"/>
          <p:cNvSpPr/>
          <p:nvPr/>
        </p:nvSpPr>
        <p:spPr>
          <a:xfrm>
            <a:off x="5973480" y="1755720"/>
            <a:ext cx="145800" cy="145800"/>
          </a:xfrm>
          <a:prstGeom prst="ellipse">
            <a:avLst/>
          </a:prstGeom>
          <a:solidFill>
            <a:srgbClr val="86B817"/>
          </a:solidFill>
          <a:ln w="12700">
            <a:solidFill>
              <a:srgbClr val="86B8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Shape 27"/>
          <p:cNvSpPr/>
          <p:nvPr/>
        </p:nvSpPr>
        <p:spPr>
          <a:xfrm>
            <a:off x="6533280" y="1755720"/>
            <a:ext cx="145800" cy="145800"/>
          </a:xfrm>
          <a:prstGeom prst="ellipse">
            <a:avLst/>
          </a:prstGeom>
          <a:solidFill>
            <a:srgbClr val="86B817"/>
          </a:solidFill>
          <a:ln w="12700">
            <a:solidFill>
              <a:srgbClr val="86B8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" name="Shape 28"/>
          <p:cNvSpPr/>
          <p:nvPr/>
        </p:nvSpPr>
        <p:spPr>
          <a:xfrm>
            <a:off x="7093440" y="1755720"/>
            <a:ext cx="145800" cy="145800"/>
          </a:xfrm>
          <a:prstGeom prst="ellipse">
            <a:avLst/>
          </a:prstGeom>
          <a:solidFill>
            <a:srgbClr val="86B817"/>
          </a:solidFill>
          <a:ln w="12700">
            <a:solidFill>
              <a:srgbClr val="86B8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Shape 29"/>
          <p:cNvSpPr/>
          <p:nvPr/>
        </p:nvSpPr>
        <p:spPr>
          <a:xfrm>
            <a:off x="7653600" y="1755720"/>
            <a:ext cx="145800" cy="145800"/>
          </a:xfrm>
          <a:prstGeom prst="ellipse">
            <a:avLst/>
          </a:prstGeom>
          <a:solidFill>
            <a:srgbClr val="86B817"/>
          </a:solidFill>
          <a:ln w="12700">
            <a:solidFill>
              <a:srgbClr val="86B8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Text 30"/>
          <p:cNvSpPr/>
          <p:nvPr/>
        </p:nvSpPr>
        <p:spPr>
          <a:xfrm>
            <a:off x="3657600" y="214884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6B817"/>
                </a:solidFill>
                <a:effectLst/>
                <a:uFillTx/>
                <a:latin typeface="Aptos"/>
                <a:ea typeface="Aptos"/>
              </a:rPr>
              <a:t>uses all positions in the local interval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" name="Text 31"/>
          <p:cNvSpPr/>
          <p:nvPr/>
        </p:nvSpPr>
        <p:spPr>
          <a:xfrm>
            <a:off x="914400" y="324612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Dilated kernel (K=3, D=4)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Shape 32"/>
          <p:cNvSpPr/>
          <p:nvPr/>
        </p:nvSpPr>
        <p:spPr>
          <a:xfrm>
            <a:off x="1005840" y="3840480"/>
            <a:ext cx="8961120" cy="360"/>
          </a:xfrm>
          <a:prstGeom prst="line">
            <a:avLst/>
          </a:prstGeom>
          <a:ln w="2540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Shape 33"/>
          <p:cNvSpPr/>
          <p:nvPr/>
        </p:nvSpPr>
        <p:spPr>
          <a:xfrm>
            <a:off x="969120" y="380376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8" name="Shape 34"/>
          <p:cNvSpPr/>
          <p:nvPr/>
        </p:nvSpPr>
        <p:spPr>
          <a:xfrm>
            <a:off x="1529280" y="380376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9" name="Shape 35"/>
          <p:cNvSpPr/>
          <p:nvPr/>
        </p:nvSpPr>
        <p:spPr>
          <a:xfrm>
            <a:off x="2089440" y="380376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0" name="Shape 36"/>
          <p:cNvSpPr/>
          <p:nvPr/>
        </p:nvSpPr>
        <p:spPr>
          <a:xfrm>
            <a:off x="2649600" y="380376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1" name="Shape 37"/>
          <p:cNvSpPr/>
          <p:nvPr/>
        </p:nvSpPr>
        <p:spPr>
          <a:xfrm>
            <a:off x="3209400" y="380376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2" name="Shape 38"/>
          <p:cNvSpPr/>
          <p:nvPr/>
        </p:nvSpPr>
        <p:spPr>
          <a:xfrm>
            <a:off x="3769560" y="380376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3" name="Shape 39"/>
          <p:cNvSpPr/>
          <p:nvPr/>
        </p:nvSpPr>
        <p:spPr>
          <a:xfrm>
            <a:off x="4329720" y="380376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4" name="Shape 40"/>
          <p:cNvSpPr/>
          <p:nvPr/>
        </p:nvSpPr>
        <p:spPr>
          <a:xfrm>
            <a:off x="4889880" y="380376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5" name="Shape 41"/>
          <p:cNvSpPr/>
          <p:nvPr/>
        </p:nvSpPr>
        <p:spPr>
          <a:xfrm>
            <a:off x="5449680" y="380376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6" name="Shape 42"/>
          <p:cNvSpPr/>
          <p:nvPr/>
        </p:nvSpPr>
        <p:spPr>
          <a:xfrm>
            <a:off x="6009840" y="380376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7" name="Shape 43"/>
          <p:cNvSpPr/>
          <p:nvPr/>
        </p:nvSpPr>
        <p:spPr>
          <a:xfrm>
            <a:off x="6570000" y="380376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8" name="Shape 44"/>
          <p:cNvSpPr/>
          <p:nvPr/>
        </p:nvSpPr>
        <p:spPr>
          <a:xfrm>
            <a:off x="7130160" y="380376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9" name="Shape 45"/>
          <p:cNvSpPr/>
          <p:nvPr/>
        </p:nvSpPr>
        <p:spPr>
          <a:xfrm>
            <a:off x="7689960" y="380376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0" name="Shape 46"/>
          <p:cNvSpPr/>
          <p:nvPr/>
        </p:nvSpPr>
        <p:spPr>
          <a:xfrm>
            <a:off x="8250120" y="380376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1" name="Shape 47"/>
          <p:cNvSpPr/>
          <p:nvPr/>
        </p:nvSpPr>
        <p:spPr>
          <a:xfrm>
            <a:off x="8810280" y="380376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2" name="Shape 48"/>
          <p:cNvSpPr/>
          <p:nvPr/>
        </p:nvSpPr>
        <p:spPr>
          <a:xfrm>
            <a:off x="9370440" y="380376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3" name="Shape 49"/>
          <p:cNvSpPr/>
          <p:nvPr/>
        </p:nvSpPr>
        <p:spPr>
          <a:xfrm>
            <a:off x="9930240" y="3803760"/>
            <a:ext cx="72720" cy="727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4" name="Shape 50"/>
          <p:cNvSpPr/>
          <p:nvPr/>
        </p:nvSpPr>
        <p:spPr>
          <a:xfrm>
            <a:off x="3163680" y="3758040"/>
            <a:ext cx="164160" cy="1641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Shape 51"/>
          <p:cNvSpPr/>
          <p:nvPr/>
        </p:nvSpPr>
        <p:spPr>
          <a:xfrm>
            <a:off x="5403960" y="3758040"/>
            <a:ext cx="164160" cy="1641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6" name="Shape 52"/>
          <p:cNvSpPr/>
          <p:nvPr/>
        </p:nvSpPr>
        <p:spPr>
          <a:xfrm>
            <a:off x="7644240" y="3758040"/>
            <a:ext cx="164160" cy="1641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Text 53"/>
          <p:cNvSpPr/>
          <p:nvPr/>
        </p:nvSpPr>
        <p:spPr>
          <a:xfrm>
            <a:off x="3657600" y="416052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59E0B"/>
                </a:solidFill>
                <a:effectLst/>
                <a:uFillTx/>
                <a:latin typeface="Aptos"/>
                <a:ea typeface="Aptos"/>
              </a:rPr>
              <a:t>spans the same interval but samples sparsely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Shape 54"/>
          <p:cNvSpPr/>
          <p:nvPr/>
        </p:nvSpPr>
        <p:spPr>
          <a:xfrm>
            <a:off x="1371600" y="5486400"/>
            <a:ext cx="2468520" cy="456840"/>
          </a:xfrm>
          <a:prstGeom prst="roundRect">
            <a:avLst>
              <a:gd name="adj" fmla="val 16000"/>
            </a:avLst>
          </a:prstGeom>
          <a:solidFill>
            <a:srgbClr val="ECFCCB"/>
          </a:solidFill>
          <a:ln w="13970">
            <a:solidFill>
              <a:srgbClr val="86B8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Text 55"/>
          <p:cNvSpPr/>
          <p:nvPr/>
        </p:nvSpPr>
        <p:spPr>
          <a:xfrm>
            <a:off x="1417320" y="5523120"/>
            <a:ext cx="23770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large kernel = dense coverage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Shape 56"/>
          <p:cNvSpPr/>
          <p:nvPr/>
        </p:nvSpPr>
        <p:spPr>
          <a:xfrm>
            <a:off x="5760720" y="5486400"/>
            <a:ext cx="2742840" cy="45684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397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Text 57"/>
          <p:cNvSpPr/>
          <p:nvPr/>
        </p:nvSpPr>
        <p:spPr>
          <a:xfrm>
            <a:off x="5806440" y="5523120"/>
            <a:ext cx="26514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dilation = sparse wider coverage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PlaceHolder 1"/>
          <p:cNvSpPr>
            <a:spLocks noGrp="1"/>
          </p:cNvSpPr>
          <p:nvPr>
            <p:ph type="sldNum" idx="18"/>
          </p:nvPr>
        </p:nvSpPr>
        <p:spPr>
          <a:xfrm>
            <a:off x="1065276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rgbClr val="64748B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CE198B9-E620-4A79-A507-E4663E59E69A}" type="slidenum"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236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F3CC61D-1F67-D459-2272-96A6C3B39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Inception-style temporal convolution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E6BD6DB-536A-BE1E-C3A1-5C1C3DD53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Inception-style architectures apply several temporal transformations in parallel.</a:t>
            </a:r>
          </a:p>
          <a:p>
            <a:r>
              <a:rPr lang="en-GB" dirty="0">
                <a:highlight>
                  <a:srgbClr val="FFFF00"/>
                </a:highlight>
              </a:rPr>
              <a:t>Conceptually:</a:t>
            </a:r>
          </a:p>
          <a:p>
            <a:r>
              <a:rPr lang="en-GB" dirty="0"/>
              <a:t>                    ┌→ short convolution ─┐</a:t>
            </a:r>
          </a:p>
          <a:p>
            <a:r>
              <a:rPr lang="en-GB" dirty="0"/>
              <a:t>input ──────────────┼→ medium convolution ├→ concatenate</a:t>
            </a:r>
          </a:p>
          <a:p>
            <a:r>
              <a:rPr lang="en-GB" dirty="0"/>
              <a:t>                    ├→ long convolution ──┤</a:t>
            </a:r>
          </a:p>
          <a:p>
            <a:r>
              <a:rPr lang="en-GB" dirty="0"/>
              <a:t>                    └→ alternative branch ┘</a:t>
            </a:r>
          </a:p>
          <a:p>
            <a:r>
              <a:rPr lang="en-GB" dirty="0"/>
              <a:t>The combined representation contains information from several temporal scales.</a:t>
            </a:r>
          </a:p>
          <a:p>
            <a:r>
              <a:rPr lang="en-GB" b="1" dirty="0"/>
              <a:t>Why is this useful?</a:t>
            </a:r>
          </a:p>
          <a:p>
            <a:r>
              <a:rPr lang="en-GB" dirty="0">
                <a:highlight>
                  <a:srgbClr val="FFFF00"/>
                </a:highlight>
              </a:rPr>
              <a:t>The relevant scale may vary:</a:t>
            </a:r>
          </a:p>
          <a:p>
            <a:pPr lvl="1"/>
            <a:r>
              <a:rPr lang="en-GB" dirty="0"/>
              <a:t>across classes; </a:t>
            </a:r>
          </a:p>
          <a:p>
            <a:pPr lvl="1"/>
            <a:r>
              <a:rPr lang="en-GB" dirty="0"/>
              <a:t>across entities; </a:t>
            </a:r>
          </a:p>
          <a:p>
            <a:pPr lvl="1"/>
            <a:r>
              <a:rPr lang="en-GB" dirty="0"/>
              <a:t>across operating regimes. </a:t>
            </a:r>
          </a:p>
          <a:p>
            <a:r>
              <a:rPr lang="en-GB" dirty="0">
                <a:highlight>
                  <a:srgbClr val="FFFF00"/>
                </a:highlight>
              </a:rPr>
              <a:t>The network can learn which branches become useful for the final target.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1386819"/>
      </p:ext>
    </p:extLst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Text 0"/>
          <p:cNvSpPr/>
          <p:nvPr/>
        </p:nvSpPr>
        <p:spPr>
          <a:xfrm>
            <a:off x="502920" y="320040"/>
            <a:ext cx="98751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 dirty="0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Inception-style temporal module</a:t>
            </a:r>
            <a:endParaRPr lang="it-IT" sz="3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4" name="Text 1"/>
          <p:cNvSpPr/>
          <p:nvPr/>
        </p:nvSpPr>
        <p:spPr>
          <a:xfrm>
            <a:off x="530280" y="804600"/>
            <a:ext cx="95094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Parallel branches plus residual paths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5" name="Shape 2"/>
          <p:cNvSpPr/>
          <p:nvPr/>
        </p:nvSpPr>
        <p:spPr>
          <a:xfrm>
            <a:off x="731520" y="2880360"/>
            <a:ext cx="1096920" cy="45684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 w="1397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Text 3"/>
          <p:cNvSpPr/>
          <p:nvPr/>
        </p:nvSpPr>
        <p:spPr>
          <a:xfrm>
            <a:off x="777240" y="2917080"/>
            <a:ext cx="10054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input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Shape 4"/>
          <p:cNvSpPr/>
          <p:nvPr/>
        </p:nvSpPr>
        <p:spPr>
          <a:xfrm>
            <a:off x="2743200" y="1371600"/>
            <a:ext cx="1462680" cy="594000"/>
          </a:xfrm>
          <a:prstGeom prst="roundRect">
            <a:avLst>
              <a:gd name="adj" fmla="val 12308"/>
            </a:avLst>
          </a:prstGeom>
          <a:solidFill>
            <a:srgbClr val="DBEAFE"/>
          </a:solidFill>
          <a:ln w="1397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Text 5"/>
          <p:cNvSpPr/>
          <p:nvPr/>
        </p:nvSpPr>
        <p:spPr>
          <a:xfrm>
            <a:off x="2788920" y="1408320"/>
            <a:ext cx="137124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short conv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K=3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Shape 6"/>
          <p:cNvSpPr/>
          <p:nvPr/>
        </p:nvSpPr>
        <p:spPr>
          <a:xfrm flipV="1">
            <a:off x="1828800" y="1673280"/>
            <a:ext cx="914400" cy="1435680"/>
          </a:xfrm>
          <a:prstGeom prst="line">
            <a:avLst/>
          </a:prstGeom>
          <a:ln w="13970">
            <a:solidFill>
              <a:srgbClr val="2563E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Shape 7"/>
          <p:cNvSpPr/>
          <p:nvPr/>
        </p:nvSpPr>
        <p:spPr>
          <a:xfrm>
            <a:off x="2743200" y="2423160"/>
            <a:ext cx="1462680" cy="594000"/>
          </a:xfrm>
          <a:prstGeom prst="roundRect">
            <a:avLst>
              <a:gd name="adj" fmla="val 12308"/>
            </a:avLst>
          </a:prstGeom>
          <a:solidFill>
            <a:srgbClr val="ECFCCB"/>
          </a:solidFill>
          <a:ln w="13970">
            <a:solidFill>
              <a:srgbClr val="86B8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1" name="Text 8"/>
          <p:cNvSpPr/>
          <p:nvPr/>
        </p:nvSpPr>
        <p:spPr>
          <a:xfrm>
            <a:off x="2788920" y="2459880"/>
            <a:ext cx="137124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medium conv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K=11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Shape 9"/>
          <p:cNvSpPr/>
          <p:nvPr/>
        </p:nvSpPr>
        <p:spPr>
          <a:xfrm flipV="1">
            <a:off x="1828800" y="2724840"/>
            <a:ext cx="914400" cy="384120"/>
          </a:xfrm>
          <a:prstGeom prst="line">
            <a:avLst/>
          </a:prstGeom>
          <a:ln w="13970">
            <a:solidFill>
              <a:srgbClr val="86B817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3" name="Shape 10"/>
          <p:cNvSpPr/>
          <p:nvPr/>
        </p:nvSpPr>
        <p:spPr>
          <a:xfrm>
            <a:off x="2743200" y="3474720"/>
            <a:ext cx="1462680" cy="594000"/>
          </a:xfrm>
          <a:prstGeom prst="roundRect">
            <a:avLst>
              <a:gd name="adj" fmla="val 12308"/>
            </a:avLst>
          </a:prstGeom>
          <a:solidFill>
            <a:srgbClr val="FEF3C7"/>
          </a:solidFill>
          <a:ln w="1397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4" name="Text 11"/>
          <p:cNvSpPr/>
          <p:nvPr/>
        </p:nvSpPr>
        <p:spPr>
          <a:xfrm>
            <a:off x="2788920" y="3511440"/>
            <a:ext cx="137124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long conv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K=31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Shape 12"/>
          <p:cNvSpPr/>
          <p:nvPr/>
        </p:nvSpPr>
        <p:spPr>
          <a:xfrm>
            <a:off x="1828800" y="3108960"/>
            <a:ext cx="914400" cy="667440"/>
          </a:xfrm>
          <a:prstGeom prst="line">
            <a:avLst/>
          </a:prstGeom>
          <a:ln w="13970">
            <a:solidFill>
              <a:srgbClr val="F59E0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Shape 13"/>
          <p:cNvSpPr/>
          <p:nvPr/>
        </p:nvSpPr>
        <p:spPr>
          <a:xfrm>
            <a:off x="2743200" y="4526280"/>
            <a:ext cx="1462680" cy="594000"/>
          </a:xfrm>
          <a:prstGeom prst="roundRect">
            <a:avLst>
              <a:gd name="adj" fmla="val 12308"/>
            </a:avLst>
          </a:prstGeom>
          <a:solidFill>
            <a:srgbClr val="EDE9FE"/>
          </a:solidFill>
          <a:ln w="1397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7" name="Text 14"/>
          <p:cNvSpPr/>
          <p:nvPr/>
        </p:nvSpPr>
        <p:spPr>
          <a:xfrm>
            <a:off x="2788920" y="4563000"/>
            <a:ext cx="137124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92500"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dirty="0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alternative</a:t>
            </a:r>
            <a:endParaRPr lang="it-IT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dirty="0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branch</a:t>
            </a:r>
            <a:endParaRPr lang="it-IT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dirty="0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pool -&gt; 1×1</a:t>
            </a:r>
            <a:endParaRPr lang="it-IT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8" name="Shape 15"/>
          <p:cNvSpPr/>
          <p:nvPr/>
        </p:nvSpPr>
        <p:spPr>
          <a:xfrm>
            <a:off x="1828800" y="3108960"/>
            <a:ext cx="914400" cy="1719000"/>
          </a:xfrm>
          <a:prstGeom prst="line">
            <a:avLst/>
          </a:prstGeom>
          <a:ln w="13970">
            <a:solidFill>
              <a:srgbClr val="7C3AED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9" name="Shape 16"/>
          <p:cNvSpPr/>
          <p:nvPr/>
        </p:nvSpPr>
        <p:spPr>
          <a:xfrm>
            <a:off x="5212080" y="2834640"/>
            <a:ext cx="1371240" cy="594000"/>
          </a:xfrm>
          <a:prstGeom prst="roundRect">
            <a:avLst>
              <a:gd name="adj" fmla="val 12308"/>
            </a:avLst>
          </a:prstGeom>
          <a:solidFill>
            <a:srgbClr val="F1F5F9"/>
          </a:solidFill>
          <a:ln w="1397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0" name="Text 17"/>
          <p:cNvSpPr/>
          <p:nvPr/>
        </p:nvSpPr>
        <p:spPr>
          <a:xfrm>
            <a:off x="5257800" y="2871360"/>
            <a:ext cx="1279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concatenate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Shape 18"/>
          <p:cNvSpPr/>
          <p:nvPr/>
        </p:nvSpPr>
        <p:spPr>
          <a:xfrm>
            <a:off x="4206240" y="1673280"/>
            <a:ext cx="1005840" cy="1463040"/>
          </a:xfrm>
          <a:prstGeom prst="line">
            <a:avLst/>
          </a:prstGeom>
          <a:ln w="13970">
            <a:solidFill>
              <a:srgbClr val="2563E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Shape 19"/>
          <p:cNvSpPr/>
          <p:nvPr/>
        </p:nvSpPr>
        <p:spPr>
          <a:xfrm>
            <a:off x="4206240" y="2724840"/>
            <a:ext cx="1005840" cy="411480"/>
          </a:xfrm>
          <a:prstGeom prst="line">
            <a:avLst/>
          </a:prstGeom>
          <a:ln w="13970">
            <a:solidFill>
              <a:srgbClr val="86B817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3" name="Shape 20"/>
          <p:cNvSpPr/>
          <p:nvPr/>
        </p:nvSpPr>
        <p:spPr>
          <a:xfrm flipV="1">
            <a:off x="4206240" y="3136320"/>
            <a:ext cx="1005840" cy="640080"/>
          </a:xfrm>
          <a:prstGeom prst="line">
            <a:avLst/>
          </a:prstGeom>
          <a:ln w="13970">
            <a:solidFill>
              <a:srgbClr val="F59E0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4" name="Shape 21"/>
          <p:cNvSpPr/>
          <p:nvPr/>
        </p:nvSpPr>
        <p:spPr>
          <a:xfrm flipV="1">
            <a:off x="4206240" y="3136320"/>
            <a:ext cx="1005840" cy="1691640"/>
          </a:xfrm>
          <a:prstGeom prst="line">
            <a:avLst/>
          </a:prstGeom>
          <a:ln w="13970">
            <a:solidFill>
              <a:srgbClr val="7C3AED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Shape 22"/>
          <p:cNvSpPr/>
          <p:nvPr/>
        </p:nvSpPr>
        <p:spPr>
          <a:xfrm>
            <a:off x="7589520" y="2834640"/>
            <a:ext cx="1554120" cy="594000"/>
          </a:xfrm>
          <a:prstGeom prst="roundRect">
            <a:avLst>
              <a:gd name="adj" fmla="val 12308"/>
            </a:avLst>
          </a:prstGeom>
          <a:solidFill>
            <a:srgbClr val="ECFCCB"/>
          </a:solidFill>
          <a:ln w="13970">
            <a:solidFill>
              <a:srgbClr val="86B8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6" name="Text 23"/>
          <p:cNvSpPr/>
          <p:nvPr/>
        </p:nvSpPr>
        <p:spPr>
          <a:xfrm>
            <a:off x="7635240" y="2871360"/>
            <a:ext cx="146268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residual +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activation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7" name="Shape 24"/>
          <p:cNvSpPr/>
          <p:nvPr/>
        </p:nvSpPr>
        <p:spPr>
          <a:xfrm>
            <a:off x="6583680" y="3136320"/>
            <a:ext cx="1005840" cy="360"/>
          </a:xfrm>
          <a:prstGeom prst="line">
            <a:avLst/>
          </a:prstGeom>
          <a:ln w="15240">
            <a:solidFill>
              <a:srgbClr val="47556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8" name="Shape 25"/>
          <p:cNvSpPr/>
          <p:nvPr/>
        </p:nvSpPr>
        <p:spPr>
          <a:xfrm>
            <a:off x="1828800" y="3108960"/>
            <a:ext cx="360" cy="2377440"/>
          </a:xfrm>
          <a:prstGeom prst="line">
            <a:avLst/>
          </a:prstGeom>
          <a:ln w="1397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9" name="Shape 26"/>
          <p:cNvSpPr/>
          <p:nvPr/>
        </p:nvSpPr>
        <p:spPr>
          <a:xfrm>
            <a:off x="1828800" y="5486400"/>
            <a:ext cx="6537960" cy="360"/>
          </a:xfrm>
          <a:prstGeom prst="line">
            <a:avLst/>
          </a:prstGeom>
          <a:ln w="1397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0" name="Shape 27"/>
          <p:cNvSpPr/>
          <p:nvPr/>
        </p:nvSpPr>
        <p:spPr>
          <a:xfrm flipV="1">
            <a:off x="8366760" y="3429000"/>
            <a:ext cx="360" cy="2057400"/>
          </a:xfrm>
          <a:prstGeom prst="line">
            <a:avLst/>
          </a:prstGeom>
          <a:ln w="13970">
            <a:solidFill>
              <a:srgbClr val="F59E0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1" name="Text 28"/>
          <p:cNvSpPr/>
          <p:nvPr/>
        </p:nvSpPr>
        <p:spPr>
          <a:xfrm>
            <a:off x="-734470" y="6172740"/>
            <a:ext cx="81378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InceptionTime uses this multiscale idea for time-series classification.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2" name="PlaceHolder 1"/>
          <p:cNvSpPr>
            <a:spLocks noGrp="1"/>
          </p:cNvSpPr>
          <p:nvPr>
            <p:ph type="sldNum" idx="19"/>
          </p:nvPr>
        </p:nvSpPr>
        <p:spPr>
          <a:xfrm>
            <a:off x="1065276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rgbClr val="64748B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C726D7F-5924-4C53-B459-DCC679D3CF53}" type="slidenum"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238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5E46DDEE-8722-7E69-7DE9-EE09C77FB6DD}"/>
              </a:ext>
            </a:extLst>
          </p:cNvPr>
          <p:cNvSpPr txBox="1"/>
          <p:nvPr/>
        </p:nvSpPr>
        <p:spPr>
          <a:xfrm>
            <a:off x="6544785" y="4449027"/>
            <a:ext cx="5472029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x→pooling→Conv1D(k=1)</a:t>
            </a:r>
          </a:p>
          <a:p>
            <a:endParaRPr lang="en-GB" dirty="0"/>
          </a:p>
          <a:p>
            <a:pPr lvl="0"/>
            <a:r>
              <a:rPr lang="en-GB" sz="1400" b="1" dirty="0"/>
              <a:t>pooling:</a:t>
            </a:r>
            <a:r>
              <a:rPr lang="en-GB" sz="1400" dirty="0"/>
              <a:t> aggregates over nearby time positions; </a:t>
            </a:r>
          </a:p>
          <a:p>
            <a:pPr lvl="0"/>
            <a:r>
              <a:rPr lang="en-GB" sz="1400" b="1" dirty="0"/>
              <a:t>Conv1D k=1:</a:t>
            </a:r>
            <a:r>
              <a:rPr lang="en-GB" sz="1400" dirty="0"/>
              <a:t> transforms/mixes channels and often controls the number of output channels before concatenation with the other Inception branches.</a:t>
            </a:r>
          </a:p>
        </p:txBody>
      </p:sp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21613829-72BA-1107-C89D-02E992D5D65C}"/>
              </a:ext>
            </a:extLst>
          </p:cNvPr>
          <p:cNvCxnSpPr/>
          <p:nvPr/>
        </p:nvCxnSpPr>
        <p:spPr>
          <a:xfrm flipV="1">
            <a:off x="4350774" y="4823280"/>
            <a:ext cx="2186826" cy="1469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5E35639-031C-CB1F-E887-9F1B296C4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InceptionTime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8A31AD5-70A4-B6E5-94AF-5E02923006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b="1" dirty="0" err="1"/>
              <a:t>InceptionTime</a:t>
            </a:r>
            <a:r>
              <a:rPr lang="en-GB" dirty="0"/>
              <a:t> is an influential convolutional architecture for time-series classification.</a:t>
            </a:r>
          </a:p>
          <a:p>
            <a:r>
              <a:rPr lang="en-GB" dirty="0"/>
              <a:t>Its main ideas include:</a:t>
            </a:r>
          </a:p>
          <a:p>
            <a:pPr lvl="1"/>
            <a:r>
              <a:rPr lang="en-GB" dirty="0"/>
              <a:t>multiple Conv1D kernel sizes in parallel; </a:t>
            </a:r>
          </a:p>
          <a:p>
            <a:pPr lvl="1"/>
            <a:r>
              <a:rPr lang="en-GB" b="1" dirty="0"/>
              <a:t>multiscale feature extraction; </a:t>
            </a:r>
          </a:p>
          <a:p>
            <a:pPr lvl="1"/>
            <a:r>
              <a:rPr lang="en-GB" b="1" dirty="0"/>
              <a:t>deep stacks </a:t>
            </a:r>
            <a:r>
              <a:rPr lang="en-GB" dirty="0"/>
              <a:t>of Inception-style modules; </a:t>
            </a:r>
          </a:p>
          <a:p>
            <a:pPr lvl="1"/>
            <a:r>
              <a:rPr lang="en-GB" dirty="0"/>
              <a:t>residual connections. </a:t>
            </a:r>
          </a:p>
          <a:p>
            <a:r>
              <a:rPr lang="en-GB" b="1" dirty="0"/>
              <a:t>Conceptual objective</a:t>
            </a:r>
          </a:p>
          <a:p>
            <a:pPr lvl="1"/>
            <a:r>
              <a:rPr lang="en-GB" dirty="0"/>
              <a:t>Learn temporal patterns at several scales </a:t>
            </a:r>
            <a:r>
              <a:rPr lang="en-GB" b="1" dirty="0"/>
              <a:t>without manually selecting one fixed feature duration.</a:t>
            </a:r>
          </a:p>
          <a:p>
            <a:endParaRPr lang="en-GB" dirty="0"/>
          </a:p>
          <a:p>
            <a:r>
              <a:rPr lang="en-GB" b="1" dirty="0"/>
              <a:t>Temporal CNNs can be organized into multibranch structures that explicitly learn patterns at several temporal scales.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80139813"/>
      </p:ext>
    </p:extLst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75A99E-C10A-4A94-4B80-9CCF00FF3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highlight>
                  <a:srgbClr val="FFFF00"/>
                </a:highlight>
              </a:rPr>
              <a:t>Example:</a:t>
            </a:r>
            <a:r>
              <a:rPr lang="en-GB" dirty="0"/>
              <a:t> multiscale machine monitoring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4E2E8F6-ABDF-19E8-C6F6-F533BCA75C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8"/>
            <a:ext cx="6077427" cy="4697411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Suppose a machine signal contains:</a:t>
            </a:r>
          </a:p>
          <a:p>
            <a:r>
              <a:rPr lang="en-GB" b="1" dirty="0"/>
              <a:t>Very short phenomenon</a:t>
            </a:r>
          </a:p>
          <a:p>
            <a:pPr lvl="1"/>
            <a:r>
              <a:rPr lang="en-GB" dirty="0"/>
              <a:t>A sharp impact lasting: 20 ms</a:t>
            </a:r>
          </a:p>
          <a:p>
            <a:r>
              <a:rPr lang="en-GB" b="1" dirty="0"/>
              <a:t>Medium phenomenon</a:t>
            </a:r>
          </a:p>
          <a:p>
            <a:pPr lvl="1"/>
            <a:r>
              <a:rPr lang="en-GB" dirty="0"/>
              <a:t>A vibration burst lasting: 0.5 s</a:t>
            </a:r>
          </a:p>
          <a:p>
            <a:r>
              <a:rPr lang="en-GB" b="1" dirty="0"/>
              <a:t>Long phenomenon</a:t>
            </a:r>
          </a:p>
          <a:p>
            <a:pPr lvl="1"/>
            <a:r>
              <a:rPr lang="en-GB" dirty="0"/>
              <a:t>A thermal change lasting: 10 s</a:t>
            </a:r>
          </a:p>
          <a:p>
            <a:endParaRPr lang="en-GB" dirty="0"/>
          </a:p>
          <a:p>
            <a:r>
              <a:rPr lang="en-GB" dirty="0"/>
              <a:t>At sampling rate: 100 Hz</a:t>
            </a:r>
          </a:p>
          <a:p>
            <a:r>
              <a:rPr lang="en-GB" dirty="0"/>
              <a:t>these correspond roughly to:</a:t>
            </a:r>
          </a:p>
          <a:p>
            <a:pPr lvl="1"/>
            <a:r>
              <a:rPr lang="en-GB" dirty="0"/>
              <a:t>2 frames</a:t>
            </a:r>
          </a:p>
          <a:p>
            <a:pPr lvl="1"/>
            <a:r>
              <a:rPr lang="en-GB" dirty="0"/>
              <a:t>50 frames</a:t>
            </a:r>
          </a:p>
          <a:p>
            <a:pPr lvl="1"/>
            <a:r>
              <a:rPr lang="en-GB" dirty="0"/>
              <a:t>1000 frames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D8DAA93-216E-DABB-7527-6F0193FC36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78130" y="2160589"/>
            <a:ext cx="6209070" cy="4446688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A single small kernel may not represent all three directly.</a:t>
            </a:r>
          </a:p>
          <a:p>
            <a:r>
              <a:rPr lang="en-GB" dirty="0"/>
              <a:t>A multiscale network can combine:</a:t>
            </a:r>
          </a:p>
          <a:p>
            <a:pPr lvl="1"/>
            <a:r>
              <a:rPr lang="en-GB" dirty="0"/>
              <a:t>small kernels for impulses; </a:t>
            </a:r>
          </a:p>
          <a:p>
            <a:pPr lvl="1"/>
            <a:r>
              <a:rPr lang="en-GB" dirty="0"/>
              <a:t>medium receptive fields for vibration; </a:t>
            </a:r>
          </a:p>
          <a:p>
            <a:pPr lvl="1"/>
            <a:r>
              <a:rPr lang="en-GB" dirty="0"/>
              <a:t>deeper/dilated paths for slow context. </a:t>
            </a:r>
          </a:p>
          <a:p>
            <a:pPr marL="0" indent="0">
              <a:buNone/>
            </a:pPr>
            <a:endParaRPr lang="en-GB" b="1" dirty="0"/>
          </a:p>
          <a:p>
            <a:r>
              <a:rPr lang="en-GB" b="1" dirty="0">
                <a:highlight>
                  <a:srgbClr val="FFFF00"/>
                </a:highlight>
              </a:rPr>
              <a:t>Architectural time scales should be related to physical time scales in the process.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74971331"/>
      </p:ext>
    </p:extLst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C171DC7-D139-8332-1673-35CD6A314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Multiscale models reduce, but do not remove, </a:t>
            </a:r>
            <a:r>
              <a:rPr lang="en-GB" dirty="0">
                <a:highlight>
                  <a:srgbClr val="FFFF00"/>
                </a:highlight>
              </a:rPr>
              <a:t>design assumptions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540595C-D055-B4BD-D8CB-1D63094588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9484305" cy="4358198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Using multiple scales avoids committing to only one kernel duration.</a:t>
            </a:r>
          </a:p>
          <a:p>
            <a:r>
              <a:rPr lang="en-GB" dirty="0"/>
              <a:t>However, </a:t>
            </a:r>
            <a:r>
              <a:rPr lang="en-GB" b="1" dirty="0"/>
              <a:t>the engineer still chooses:</a:t>
            </a:r>
          </a:p>
          <a:p>
            <a:pPr lvl="1"/>
            <a:r>
              <a:rPr lang="en-GB" dirty="0"/>
              <a:t>which kernel sizes; </a:t>
            </a:r>
          </a:p>
          <a:p>
            <a:pPr lvl="1"/>
            <a:r>
              <a:rPr lang="en-GB" dirty="0"/>
              <a:t>how many branches; </a:t>
            </a:r>
          </a:p>
          <a:p>
            <a:pPr lvl="1"/>
            <a:r>
              <a:rPr lang="en-GB" dirty="0"/>
              <a:t>network depth; </a:t>
            </a:r>
          </a:p>
          <a:p>
            <a:pPr lvl="1"/>
            <a:r>
              <a:rPr lang="en-GB" dirty="0"/>
              <a:t>dilation; </a:t>
            </a:r>
          </a:p>
          <a:p>
            <a:pPr lvl="1"/>
            <a:r>
              <a:rPr lang="en-GB" dirty="0"/>
              <a:t>number of filters; </a:t>
            </a:r>
          </a:p>
          <a:p>
            <a:pPr lvl="1"/>
            <a:r>
              <a:rPr lang="en-GB" dirty="0" err="1"/>
              <a:t>downsampling</a:t>
            </a:r>
            <a:r>
              <a:rPr lang="en-GB" dirty="0"/>
              <a:t> strategy. </a:t>
            </a:r>
          </a:p>
          <a:p>
            <a:r>
              <a:rPr lang="en-GB" b="1" dirty="0"/>
              <a:t>Therefore</a:t>
            </a:r>
          </a:p>
          <a:p>
            <a:r>
              <a:rPr lang="en-GB" dirty="0"/>
              <a:t>Multiscale CNNs do not eliminate architecture design.</a:t>
            </a:r>
          </a:p>
          <a:p>
            <a:r>
              <a:rPr lang="en-GB" dirty="0"/>
              <a:t>They broaden the range of temporal patterns the model can represent.</a:t>
            </a:r>
          </a:p>
          <a:p>
            <a:endParaRPr lang="en-GB" dirty="0"/>
          </a:p>
          <a:p>
            <a:r>
              <a:rPr lang="en-GB" b="1" dirty="0"/>
              <a:t>Use domain knowledge to define reasonable ranges, then use validation to determine whether the additional complexity improves performance.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0242575"/>
      </p:ext>
    </p:extLst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2CAAE89-678F-04C9-434B-13E703732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From handcrafted scales to learned scales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A510C7E-07D0-1AA6-2761-67BA7F4C5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9528550" cy="4328701"/>
          </a:xfrm>
        </p:spPr>
        <p:txBody>
          <a:bodyPr>
            <a:normAutofit fontScale="70000" lnSpcReduction="20000"/>
          </a:bodyPr>
          <a:lstStyle/>
          <a:p>
            <a:r>
              <a:rPr lang="en-GB" dirty="0">
                <a:highlight>
                  <a:srgbClr val="FFFF00"/>
                </a:highlight>
              </a:rPr>
              <a:t>Lecture 3 used manually defined temporal scales:</a:t>
            </a:r>
          </a:p>
          <a:p>
            <a:pPr lvl="1"/>
            <a:r>
              <a:rPr lang="en-GB" dirty="0"/>
              <a:t>mean over 10 samples</a:t>
            </a:r>
          </a:p>
          <a:p>
            <a:pPr lvl="1"/>
            <a:r>
              <a:rPr lang="en-GB" dirty="0"/>
              <a:t>mean over 50 samples</a:t>
            </a:r>
          </a:p>
          <a:p>
            <a:pPr lvl="1"/>
            <a:r>
              <a:rPr lang="en-GB" dirty="0"/>
              <a:t>mean over 200 samples</a:t>
            </a:r>
          </a:p>
          <a:p>
            <a:endParaRPr lang="en-GB" dirty="0"/>
          </a:p>
          <a:p>
            <a:r>
              <a:rPr lang="en-GB" dirty="0">
                <a:highlight>
                  <a:srgbClr val="FFFF00"/>
                </a:highlight>
              </a:rPr>
              <a:t>Multiscale CNNs also operate at several temporal scales, but the representation is learned.</a:t>
            </a:r>
          </a:p>
          <a:p>
            <a:r>
              <a:rPr lang="en-GB" b="1" dirty="0"/>
              <a:t>Feature-engineering approach</a:t>
            </a:r>
          </a:p>
          <a:p>
            <a:pPr lvl="1"/>
            <a:r>
              <a:rPr lang="en-GB" dirty="0"/>
              <a:t>choose window scales</a:t>
            </a:r>
          </a:p>
          <a:p>
            <a:pPr lvl="1"/>
            <a:r>
              <a:rPr lang="en-GB" dirty="0"/>
              <a:t>      ↓</a:t>
            </a:r>
          </a:p>
          <a:p>
            <a:pPr lvl="1"/>
            <a:r>
              <a:rPr lang="en-GB" dirty="0"/>
              <a:t>calculate predefined statistics</a:t>
            </a:r>
          </a:p>
          <a:p>
            <a:r>
              <a:rPr lang="en-GB" b="1" dirty="0"/>
              <a:t>Multiscale CNN approach</a:t>
            </a:r>
          </a:p>
          <a:p>
            <a:pPr lvl="1"/>
            <a:r>
              <a:rPr lang="en-GB" dirty="0"/>
              <a:t>choose architectural scales</a:t>
            </a:r>
          </a:p>
          <a:p>
            <a:pPr lvl="1"/>
            <a:r>
              <a:rPr lang="en-GB" dirty="0"/>
              <a:t>      ↓</a:t>
            </a:r>
          </a:p>
          <a:p>
            <a:pPr lvl="1"/>
            <a:r>
              <a:rPr lang="en-GB" dirty="0"/>
              <a:t>learn filters from data</a:t>
            </a:r>
          </a:p>
          <a:p>
            <a:pPr marL="0" indent="0">
              <a:buNone/>
            </a:pPr>
            <a:endParaRPr lang="en-GB" b="1" dirty="0"/>
          </a:p>
          <a:p>
            <a:r>
              <a:rPr lang="en-GB" b="1" dirty="0"/>
              <a:t>The scale still enters the model design, but the pattern within that scale does not need to be specified manually.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85610392"/>
      </p:ext>
    </p:extLst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Text 0"/>
          <p:cNvSpPr/>
          <p:nvPr/>
        </p:nvSpPr>
        <p:spPr>
          <a:xfrm>
            <a:off x="502920" y="320040"/>
            <a:ext cx="98751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 dirty="0">
                <a:solidFill>
                  <a:srgbClr val="0F172A"/>
                </a:solidFill>
                <a:effectLst/>
                <a:highlight>
                  <a:srgbClr val="FFFF00"/>
                </a:highlight>
                <a:uFillTx/>
                <a:latin typeface="Aptos Display"/>
                <a:ea typeface="Aptos Display"/>
              </a:rPr>
              <a:t>Handcrafted scales versus learned scales</a:t>
            </a:r>
            <a:endParaRPr lang="it-IT" sz="3000" b="0" u="none" strike="noStrike" dirty="0">
              <a:solidFill>
                <a:srgbClr val="000000"/>
              </a:solidFill>
              <a:effectLst/>
              <a:highlight>
                <a:srgbClr val="FFFF00"/>
              </a:highlight>
              <a:uFillTx/>
              <a:latin typeface="Arial"/>
            </a:endParaRPr>
          </a:p>
        </p:txBody>
      </p:sp>
      <p:sp>
        <p:nvSpPr>
          <p:cNvPr id="694" name="Text 1"/>
          <p:cNvSpPr/>
          <p:nvPr/>
        </p:nvSpPr>
        <p:spPr>
          <a:xfrm>
            <a:off x="530280" y="804600"/>
            <a:ext cx="95094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Both use multiple temporal scales, but representation differs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5" name="Text 2"/>
          <p:cNvSpPr/>
          <p:nvPr/>
        </p:nvSpPr>
        <p:spPr>
          <a:xfrm>
            <a:off x="1097280" y="114300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Feature engineering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Shape 3"/>
          <p:cNvSpPr/>
          <p:nvPr/>
        </p:nvSpPr>
        <p:spPr>
          <a:xfrm>
            <a:off x="914400" y="1920240"/>
            <a:ext cx="1462680" cy="45684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 w="1397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7" name="Text 4"/>
          <p:cNvSpPr/>
          <p:nvPr/>
        </p:nvSpPr>
        <p:spPr>
          <a:xfrm>
            <a:off x="960120" y="1956960"/>
            <a:ext cx="13712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raw sequence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8" name="Shape 5"/>
          <p:cNvSpPr/>
          <p:nvPr/>
        </p:nvSpPr>
        <p:spPr>
          <a:xfrm>
            <a:off x="3108960" y="1691640"/>
            <a:ext cx="1828440" cy="91404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397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9" name="Text 6"/>
          <p:cNvSpPr/>
          <p:nvPr/>
        </p:nvSpPr>
        <p:spPr>
          <a:xfrm>
            <a:off x="3154680" y="1728360"/>
            <a:ext cx="1737000" cy="84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mean over 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mean over 50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mean over 200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0" name="Shape 7"/>
          <p:cNvSpPr/>
          <p:nvPr/>
        </p:nvSpPr>
        <p:spPr>
          <a:xfrm>
            <a:off x="5577840" y="1920240"/>
            <a:ext cx="1371240" cy="45684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1397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1" name="Text 8"/>
          <p:cNvSpPr/>
          <p:nvPr/>
        </p:nvSpPr>
        <p:spPr>
          <a:xfrm>
            <a:off x="5623560" y="1956960"/>
            <a:ext cx="12798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92500" lnSpcReduction="1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fixed feature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vector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2" name="Shape 9"/>
          <p:cNvSpPr/>
          <p:nvPr/>
        </p:nvSpPr>
        <p:spPr>
          <a:xfrm>
            <a:off x="2377440" y="2148840"/>
            <a:ext cx="731520" cy="360"/>
          </a:xfrm>
          <a:prstGeom prst="line">
            <a:avLst/>
          </a:prstGeom>
          <a:ln w="19050">
            <a:solidFill>
              <a:srgbClr val="47556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3" name="Shape 10"/>
          <p:cNvSpPr/>
          <p:nvPr/>
        </p:nvSpPr>
        <p:spPr>
          <a:xfrm>
            <a:off x="4937760" y="2148840"/>
            <a:ext cx="640080" cy="360"/>
          </a:xfrm>
          <a:prstGeom prst="line">
            <a:avLst/>
          </a:prstGeom>
          <a:ln w="19050">
            <a:solidFill>
              <a:srgbClr val="47556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4" name="Text 11"/>
          <p:cNvSpPr/>
          <p:nvPr/>
        </p:nvSpPr>
        <p:spPr>
          <a:xfrm>
            <a:off x="1920240" y="2880540"/>
            <a:ext cx="4205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predefined statistics at chosen scales</a:t>
            </a:r>
            <a:endParaRPr lang="it-IT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5" name="Text 12"/>
          <p:cNvSpPr/>
          <p:nvPr/>
        </p:nvSpPr>
        <p:spPr>
          <a:xfrm>
            <a:off x="1097280" y="384048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Multiscale CNN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6" name="Shape 13"/>
          <p:cNvSpPr/>
          <p:nvPr/>
        </p:nvSpPr>
        <p:spPr>
          <a:xfrm>
            <a:off x="914400" y="4617720"/>
            <a:ext cx="1462680" cy="45684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 w="1397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7" name="Text 14"/>
          <p:cNvSpPr/>
          <p:nvPr/>
        </p:nvSpPr>
        <p:spPr>
          <a:xfrm>
            <a:off x="960120" y="4654440"/>
            <a:ext cx="13712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raw sequence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8" name="Shape 15"/>
          <p:cNvSpPr/>
          <p:nvPr/>
        </p:nvSpPr>
        <p:spPr>
          <a:xfrm>
            <a:off x="3108960" y="4407480"/>
            <a:ext cx="1828440" cy="914040"/>
          </a:xfrm>
          <a:prstGeom prst="roundRect">
            <a:avLst>
              <a:gd name="adj" fmla="val 8000"/>
            </a:avLst>
          </a:prstGeom>
          <a:solidFill>
            <a:srgbClr val="ECFCCB"/>
          </a:solidFill>
          <a:ln w="13970">
            <a:solidFill>
              <a:srgbClr val="86B8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9" name="Text 16"/>
          <p:cNvSpPr/>
          <p:nvPr/>
        </p:nvSpPr>
        <p:spPr>
          <a:xfrm>
            <a:off x="3154680" y="4443840"/>
            <a:ext cx="1737000" cy="84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K=3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K=9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K=21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0" name="Shape 17"/>
          <p:cNvSpPr/>
          <p:nvPr/>
        </p:nvSpPr>
        <p:spPr>
          <a:xfrm>
            <a:off x="5577840" y="4617720"/>
            <a:ext cx="1371240" cy="456840"/>
          </a:xfrm>
          <a:prstGeom prst="roundRect">
            <a:avLst>
              <a:gd name="adj" fmla="val 16000"/>
            </a:avLst>
          </a:prstGeom>
          <a:solidFill>
            <a:srgbClr val="ECFCCB"/>
          </a:solidFill>
          <a:ln w="13970">
            <a:solidFill>
              <a:srgbClr val="86B8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1" name="Text 18"/>
          <p:cNvSpPr/>
          <p:nvPr/>
        </p:nvSpPr>
        <p:spPr>
          <a:xfrm>
            <a:off x="5623560" y="4654440"/>
            <a:ext cx="12798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92500" lnSpcReduction="1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learned feature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maps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2" name="Shape 19"/>
          <p:cNvSpPr/>
          <p:nvPr/>
        </p:nvSpPr>
        <p:spPr>
          <a:xfrm>
            <a:off x="2377440" y="4846320"/>
            <a:ext cx="731520" cy="360"/>
          </a:xfrm>
          <a:prstGeom prst="line">
            <a:avLst/>
          </a:prstGeom>
          <a:ln w="19050">
            <a:solidFill>
              <a:srgbClr val="47556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3" name="Shape 20"/>
          <p:cNvSpPr/>
          <p:nvPr/>
        </p:nvSpPr>
        <p:spPr>
          <a:xfrm>
            <a:off x="4937760" y="4846320"/>
            <a:ext cx="640080" cy="360"/>
          </a:xfrm>
          <a:prstGeom prst="line">
            <a:avLst/>
          </a:prstGeom>
          <a:ln w="19050">
            <a:solidFill>
              <a:srgbClr val="47556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4" name="Text 21"/>
          <p:cNvSpPr/>
          <p:nvPr/>
        </p:nvSpPr>
        <p:spPr>
          <a:xfrm>
            <a:off x="1965960" y="5669280"/>
            <a:ext cx="4205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learned filters at architectural scales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5" name="PlaceHolder 1"/>
          <p:cNvSpPr>
            <a:spLocks noGrp="1"/>
          </p:cNvSpPr>
          <p:nvPr>
            <p:ph type="sldNum" idx="20"/>
          </p:nvPr>
        </p:nvSpPr>
        <p:spPr>
          <a:xfrm>
            <a:off x="1065276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rgbClr val="64748B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CEF97F6-7F8C-4C58-81B1-7804090DAD8C}" type="slidenum"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243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FA795F9-2222-667F-2D53-99C59748A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Where multiscale CNNs fit in the model hierarchy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9C9ADC2-F3D4-C97B-A67B-D88D46607E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5083386" cy="4529770"/>
          </a:xfrm>
        </p:spPr>
        <p:txBody>
          <a:bodyPr>
            <a:normAutofit/>
          </a:bodyPr>
          <a:lstStyle/>
          <a:p>
            <a:r>
              <a:rPr lang="en-GB" dirty="0"/>
              <a:t>The progression so far is:</a:t>
            </a:r>
          </a:p>
          <a:p>
            <a:r>
              <a:rPr lang="en-GB" dirty="0"/>
              <a:t>handcrafted temporal features</a:t>
            </a:r>
          </a:p>
          <a:p>
            <a:r>
              <a:rPr lang="en-GB" dirty="0"/>
              <a:t>        ↓</a:t>
            </a:r>
          </a:p>
          <a:p>
            <a:r>
              <a:rPr lang="en-GB" dirty="0"/>
              <a:t>standard Conv1D</a:t>
            </a:r>
          </a:p>
          <a:p>
            <a:r>
              <a:rPr lang="en-GB" dirty="0"/>
              <a:t>        ↓</a:t>
            </a:r>
          </a:p>
          <a:p>
            <a:r>
              <a:rPr lang="en-GB" dirty="0"/>
              <a:t>deep receptive fields</a:t>
            </a:r>
          </a:p>
          <a:p>
            <a:r>
              <a:rPr lang="en-GB" dirty="0"/>
              <a:t>        ↓</a:t>
            </a:r>
          </a:p>
          <a:p>
            <a:r>
              <a:rPr lang="en-GB" dirty="0"/>
              <a:t>dilated TCN</a:t>
            </a:r>
          </a:p>
          <a:p>
            <a:r>
              <a:rPr lang="en-GB" dirty="0"/>
              <a:t>        ↓</a:t>
            </a:r>
          </a:p>
          <a:p>
            <a:r>
              <a:rPr lang="en-GB" dirty="0"/>
              <a:t>multiscale temporal CNN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658EEFD-4E5A-E359-0AF6-2DA7AE451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58650" y="2160589"/>
            <a:ext cx="5989510" cy="4529771"/>
          </a:xfrm>
        </p:spPr>
        <p:txBody>
          <a:bodyPr/>
          <a:lstStyle/>
          <a:p>
            <a:r>
              <a:rPr lang="en-GB" dirty="0"/>
              <a:t>Each step increases flexibility in how temporal structure is represented.</a:t>
            </a:r>
          </a:p>
          <a:p>
            <a:r>
              <a:rPr lang="en-GB" b="1" dirty="0"/>
              <a:t>But greater flexibility also increases</a:t>
            </a:r>
          </a:p>
          <a:p>
            <a:pPr lvl="1"/>
            <a:r>
              <a:rPr lang="en-GB" dirty="0"/>
              <a:t>computational cost; </a:t>
            </a:r>
          </a:p>
          <a:p>
            <a:pPr lvl="1"/>
            <a:r>
              <a:rPr lang="en-GB" dirty="0"/>
              <a:t>model-selection complexity; </a:t>
            </a:r>
          </a:p>
          <a:p>
            <a:pPr lvl="1"/>
            <a:r>
              <a:rPr lang="en-GB" dirty="0"/>
              <a:t>data requirements; </a:t>
            </a:r>
          </a:p>
          <a:p>
            <a:pPr lvl="1"/>
            <a:r>
              <a:rPr lang="en-GB" dirty="0"/>
              <a:t>debugging difficulty.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3409667"/>
      </p:ext>
    </p:extLst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Text 0"/>
          <p:cNvSpPr/>
          <p:nvPr/>
        </p:nvSpPr>
        <p:spPr>
          <a:xfrm>
            <a:off x="502920" y="320040"/>
            <a:ext cx="98751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 dirty="0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Where multiscale CNNs fit</a:t>
            </a:r>
            <a:r>
              <a:rPr lang="en-US" sz="3000" b="1" dirty="0">
                <a:solidFill>
                  <a:srgbClr val="0F172A"/>
                </a:solidFill>
                <a:latin typeface="Aptos Display"/>
                <a:ea typeface="Aptos Display"/>
              </a:rPr>
              <a:t> in the model hierarchy</a:t>
            </a:r>
            <a:endParaRPr lang="it-IT" sz="3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7" name="Text 1"/>
          <p:cNvSpPr/>
          <p:nvPr/>
        </p:nvSpPr>
        <p:spPr>
          <a:xfrm>
            <a:off x="530280" y="804600"/>
            <a:ext cx="95094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 dirty="0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A model hierarchy for temporal representation</a:t>
            </a:r>
            <a:endParaRPr lang="it-IT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8" name="Shape 2"/>
          <p:cNvSpPr/>
          <p:nvPr/>
        </p:nvSpPr>
        <p:spPr>
          <a:xfrm>
            <a:off x="914400" y="2743200"/>
            <a:ext cx="1325520" cy="639720"/>
          </a:xfrm>
          <a:prstGeom prst="roundRect">
            <a:avLst>
              <a:gd name="adj" fmla="val 11429"/>
            </a:avLst>
          </a:prstGeom>
          <a:solidFill>
            <a:srgbClr val="FEF3C7"/>
          </a:solidFill>
          <a:ln w="1397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9" name="Text 3"/>
          <p:cNvSpPr/>
          <p:nvPr/>
        </p:nvSpPr>
        <p:spPr>
          <a:xfrm>
            <a:off x="960120" y="2779920"/>
            <a:ext cx="12340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handcrafted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features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0" name="Shape 4"/>
          <p:cNvSpPr/>
          <p:nvPr/>
        </p:nvSpPr>
        <p:spPr>
          <a:xfrm>
            <a:off x="2240280" y="3063240"/>
            <a:ext cx="685800" cy="360"/>
          </a:xfrm>
          <a:prstGeom prst="line">
            <a:avLst/>
          </a:prstGeom>
          <a:ln w="13970">
            <a:solidFill>
              <a:srgbClr val="47556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1" name="Shape 5"/>
          <p:cNvSpPr/>
          <p:nvPr/>
        </p:nvSpPr>
        <p:spPr>
          <a:xfrm>
            <a:off x="2926080" y="2743200"/>
            <a:ext cx="1325520" cy="639720"/>
          </a:xfrm>
          <a:prstGeom prst="roundRect">
            <a:avLst>
              <a:gd name="adj" fmla="val 11429"/>
            </a:avLst>
          </a:prstGeom>
          <a:solidFill>
            <a:srgbClr val="DBEAFE"/>
          </a:solidFill>
          <a:ln w="1397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2" name="Text 6"/>
          <p:cNvSpPr/>
          <p:nvPr/>
        </p:nvSpPr>
        <p:spPr>
          <a:xfrm>
            <a:off x="2971800" y="2779920"/>
            <a:ext cx="12340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standard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Conv1D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3" name="Shape 7"/>
          <p:cNvSpPr/>
          <p:nvPr/>
        </p:nvSpPr>
        <p:spPr>
          <a:xfrm>
            <a:off x="4251960" y="3063240"/>
            <a:ext cx="685800" cy="360"/>
          </a:xfrm>
          <a:prstGeom prst="line">
            <a:avLst/>
          </a:prstGeom>
          <a:ln w="13970">
            <a:solidFill>
              <a:srgbClr val="47556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4" name="Shape 8"/>
          <p:cNvSpPr/>
          <p:nvPr/>
        </p:nvSpPr>
        <p:spPr>
          <a:xfrm>
            <a:off x="4937760" y="2743200"/>
            <a:ext cx="1325520" cy="639720"/>
          </a:xfrm>
          <a:prstGeom prst="roundRect">
            <a:avLst>
              <a:gd name="adj" fmla="val 11429"/>
            </a:avLst>
          </a:prstGeom>
          <a:solidFill>
            <a:srgbClr val="ECFCCB"/>
          </a:solidFill>
          <a:ln w="13970">
            <a:solidFill>
              <a:srgbClr val="86B8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5" name="Text 9"/>
          <p:cNvSpPr/>
          <p:nvPr/>
        </p:nvSpPr>
        <p:spPr>
          <a:xfrm>
            <a:off x="4983480" y="2779920"/>
            <a:ext cx="12340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deep receptive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fields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6" name="Shape 10"/>
          <p:cNvSpPr/>
          <p:nvPr/>
        </p:nvSpPr>
        <p:spPr>
          <a:xfrm>
            <a:off x="6263640" y="3063240"/>
            <a:ext cx="685800" cy="360"/>
          </a:xfrm>
          <a:prstGeom prst="line">
            <a:avLst/>
          </a:prstGeom>
          <a:ln w="13970">
            <a:solidFill>
              <a:srgbClr val="47556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7" name="Shape 11"/>
          <p:cNvSpPr/>
          <p:nvPr/>
        </p:nvSpPr>
        <p:spPr>
          <a:xfrm>
            <a:off x="6949440" y="2743200"/>
            <a:ext cx="1325520" cy="639720"/>
          </a:xfrm>
          <a:prstGeom prst="roundRect">
            <a:avLst>
              <a:gd name="adj" fmla="val 11429"/>
            </a:avLst>
          </a:prstGeom>
          <a:solidFill>
            <a:srgbClr val="EDE9FE"/>
          </a:solidFill>
          <a:ln w="1397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8" name="Text 12"/>
          <p:cNvSpPr/>
          <p:nvPr/>
        </p:nvSpPr>
        <p:spPr>
          <a:xfrm>
            <a:off x="6995160" y="2779920"/>
            <a:ext cx="12340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dilated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TCN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9" name="Shape 13"/>
          <p:cNvSpPr/>
          <p:nvPr/>
        </p:nvSpPr>
        <p:spPr>
          <a:xfrm>
            <a:off x="8275320" y="3063240"/>
            <a:ext cx="685800" cy="360"/>
          </a:xfrm>
          <a:prstGeom prst="line">
            <a:avLst/>
          </a:prstGeom>
          <a:ln w="13970">
            <a:solidFill>
              <a:srgbClr val="47556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0" name="Shape 14"/>
          <p:cNvSpPr/>
          <p:nvPr/>
        </p:nvSpPr>
        <p:spPr>
          <a:xfrm>
            <a:off x="8961120" y="2743200"/>
            <a:ext cx="1325520" cy="639720"/>
          </a:xfrm>
          <a:prstGeom prst="roundRect">
            <a:avLst>
              <a:gd name="adj" fmla="val 11429"/>
            </a:avLst>
          </a:prstGeom>
          <a:solidFill>
            <a:srgbClr val="CCFBF1"/>
          </a:solidFill>
          <a:ln w="13970">
            <a:solidFill>
              <a:srgbClr val="0F76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1" name="Text 15"/>
          <p:cNvSpPr/>
          <p:nvPr/>
        </p:nvSpPr>
        <p:spPr>
          <a:xfrm>
            <a:off x="9006840" y="2779920"/>
            <a:ext cx="12340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multiscale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CNN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2" name="Text 16"/>
          <p:cNvSpPr/>
          <p:nvPr/>
        </p:nvSpPr>
        <p:spPr>
          <a:xfrm>
            <a:off x="3291840" y="3794760"/>
            <a:ext cx="46630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0F172A"/>
                </a:solidFill>
                <a:effectLst/>
                <a:highlight>
                  <a:srgbClr val="FFFF00"/>
                </a:highlight>
                <a:uFillTx/>
                <a:latin typeface="Aptos"/>
                <a:ea typeface="Aptos"/>
              </a:rPr>
              <a:t>more flexible learned temporal representations</a:t>
            </a:r>
            <a:endParaRPr lang="it-IT" sz="1400" b="0" u="none" strike="noStrike" dirty="0">
              <a:solidFill>
                <a:srgbClr val="000000"/>
              </a:solidFill>
              <a:effectLst/>
              <a:highlight>
                <a:srgbClr val="FFFF00"/>
              </a:highlight>
              <a:uFillTx/>
              <a:latin typeface="Arial"/>
            </a:endParaRPr>
          </a:p>
        </p:txBody>
      </p:sp>
      <p:sp>
        <p:nvSpPr>
          <p:cNvPr id="733" name="Shape 17"/>
          <p:cNvSpPr/>
          <p:nvPr/>
        </p:nvSpPr>
        <p:spPr>
          <a:xfrm>
            <a:off x="2011680" y="3657600"/>
            <a:ext cx="7680960" cy="360"/>
          </a:xfrm>
          <a:prstGeom prst="line">
            <a:avLst/>
          </a:prstGeom>
          <a:ln w="15240">
            <a:solidFill>
              <a:srgbClr val="86B8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4" name="Shape 18"/>
          <p:cNvSpPr/>
          <p:nvPr/>
        </p:nvSpPr>
        <p:spPr>
          <a:xfrm>
            <a:off x="9692640" y="3657600"/>
            <a:ext cx="274320" cy="360"/>
          </a:xfrm>
          <a:prstGeom prst="line">
            <a:avLst/>
          </a:prstGeom>
          <a:ln w="15240">
            <a:solidFill>
              <a:srgbClr val="86B817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7" name="PlaceHolder 1"/>
          <p:cNvSpPr>
            <a:spLocks noGrp="1"/>
          </p:cNvSpPr>
          <p:nvPr>
            <p:ph type="sldNum" idx="21"/>
          </p:nvPr>
        </p:nvSpPr>
        <p:spPr>
          <a:xfrm>
            <a:off x="1065276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rgbClr val="64748B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68CF39A-DF01-4294-8D7D-FC1C464B518B}" type="slidenum"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245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76452A1-2838-180C-BC0D-4E34C82C5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Code </a:t>
            </a:r>
            <a:r>
              <a:rPr lang="it-IT" dirty="0" err="1"/>
              <a:t>examples</a:t>
            </a:r>
            <a:endParaRPr lang="en-GB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CC44DFF-1530-CCF2-60DA-7169BAA4D3C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09480" y="3429000"/>
            <a:ext cx="10972440" cy="1144800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chemeClr val="tx1"/>
                </a:solidFill>
              </a:rPr>
              <a:t>Same </a:t>
            </a:r>
            <a:r>
              <a:rPr lang="it-IT" sz="2400" dirty="0" err="1">
                <a:solidFill>
                  <a:schemeClr val="tx1"/>
                </a:solidFill>
              </a:rPr>
              <a:t>as</a:t>
            </a:r>
            <a:r>
              <a:rPr lang="it-IT" sz="2400" dirty="0">
                <a:solidFill>
                  <a:schemeClr val="tx1"/>
                </a:solidFill>
              </a:rPr>
              <a:t> </a:t>
            </a:r>
            <a:r>
              <a:rPr lang="it-IT" sz="2400" dirty="0" err="1">
                <a:solidFill>
                  <a:schemeClr val="tx1"/>
                </a:solidFill>
              </a:rPr>
              <a:t>we</a:t>
            </a:r>
            <a:r>
              <a:rPr lang="it-IT" sz="2400" dirty="0">
                <a:solidFill>
                  <a:schemeClr val="tx1"/>
                </a:solidFill>
              </a:rPr>
              <a:t> </a:t>
            </a:r>
            <a:r>
              <a:rPr lang="it-IT" sz="2400" dirty="0" err="1">
                <a:solidFill>
                  <a:schemeClr val="tx1"/>
                </a:solidFill>
              </a:rPr>
              <a:t>did</a:t>
            </a:r>
            <a:r>
              <a:rPr lang="it-IT" sz="2400" dirty="0">
                <a:solidFill>
                  <a:schemeClr val="tx1"/>
                </a:solidFill>
              </a:rPr>
              <a:t> for </a:t>
            </a:r>
            <a:r>
              <a:rPr lang="it-IT" sz="2400" dirty="0" err="1">
                <a:solidFill>
                  <a:schemeClr val="tx1"/>
                </a:solidFill>
              </a:rPr>
              <a:t>RNNs</a:t>
            </a:r>
            <a:r>
              <a:rPr lang="it-IT" sz="2400" dirty="0">
                <a:solidFill>
                  <a:schemeClr val="tx1"/>
                </a:solidFill>
              </a:rPr>
              <a:t>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</a:rPr>
              <a:t>Dense(1) → Dense(10) → full temporal output [N,L,10]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</a:rPr>
              <a:t>Predict next value -&gt; </a:t>
            </a:r>
            <a:r>
              <a:rPr lang="en-GB" sz="2400" dirty="0" err="1">
                <a:solidFill>
                  <a:schemeClr val="tx1"/>
                </a:solidFill>
              </a:rPr>
              <a:t>prodict</a:t>
            </a:r>
            <a:r>
              <a:rPr lang="en-GB" sz="2400" dirty="0">
                <a:solidFill>
                  <a:schemeClr val="tx1"/>
                </a:solidFill>
              </a:rPr>
              <a:t> next 10 values -&gt; predict next 10 values at each time step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tx1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</a:rPr>
              <a:t>Standard 1DCNN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</a:rPr>
              <a:t>TCN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2400" dirty="0" err="1">
                <a:solidFill>
                  <a:schemeClr val="tx1"/>
                </a:solidFill>
              </a:rPr>
              <a:t>Wavenet</a:t>
            </a:r>
            <a:endParaRPr lang="en-GB" sz="2400" dirty="0">
              <a:solidFill>
                <a:schemeClr val="tx1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</a:rPr>
              <a:t>Multiscale CNN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DB60B8A5-EB5B-95E9-86CE-F261B51BB642}"/>
              </a:ext>
            </a:extLst>
          </p:cNvPr>
          <p:cNvSpPr txBox="1"/>
          <p:nvPr/>
        </p:nvSpPr>
        <p:spPr>
          <a:xfrm>
            <a:off x="5026891" y="5419949"/>
            <a:ext cx="61006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# Input shape: [N, 50, 1]</a:t>
            </a:r>
            <a:br>
              <a:rPr lang="en-GB" dirty="0"/>
            </a:br>
            <a:r>
              <a:rPr lang="en-GB" dirty="0"/>
              <a:t>inputs = </a:t>
            </a:r>
            <a:r>
              <a:rPr lang="en-GB" dirty="0" err="1"/>
              <a:t>keras.Input</a:t>
            </a:r>
            <a:r>
              <a:rPr lang="en-GB" dirty="0"/>
              <a:t>(shape=(50, 1))</a:t>
            </a:r>
          </a:p>
        </p:txBody>
      </p:sp>
    </p:spTree>
    <p:extLst>
      <p:ext uri="{BB962C8B-B14F-4D97-AF65-F5344CB8AC3E}">
        <p14:creationId xmlns:p14="http://schemas.microsoft.com/office/powerpoint/2010/main" val="4261206315"/>
      </p:ext>
    </p:extLst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7924950-47D9-7E76-D5EF-B79DC05DB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1D CNN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4519640"/>
      </p:ext>
    </p:extLst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7F0CE48-AB51-B014-9A95-720D9D596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1D CNN, 1 output</a:t>
            </a:r>
            <a:endParaRPr lang="en-GB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18FF9F5-C7EB-8AD8-A9A1-5F93FF99733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09480" y="1604520"/>
            <a:ext cx="11176120" cy="3977280"/>
          </a:xfrm>
        </p:spPr>
        <p:txBody>
          <a:bodyPr/>
          <a:lstStyle/>
          <a:p>
            <a:r>
              <a:rPr lang="en-GB" sz="1600" dirty="0">
                <a:solidFill>
                  <a:schemeClr val="tx2"/>
                </a:solidFill>
              </a:rPr>
              <a:t>model = </a:t>
            </a:r>
            <a:r>
              <a:rPr lang="en-GB" sz="1600" dirty="0" err="1">
                <a:solidFill>
                  <a:schemeClr val="tx2"/>
                </a:solidFill>
              </a:rPr>
              <a:t>keras.Sequential</a:t>
            </a:r>
            <a:r>
              <a:rPr lang="en-GB" sz="1600" dirty="0">
                <a:solidFill>
                  <a:schemeClr val="tx2"/>
                </a:solidFill>
              </a:rPr>
              <a:t>([    </a:t>
            </a:r>
          </a:p>
          <a:p>
            <a:pPr lvl="4"/>
            <a:r>
              <a:rPr lang="en-GB" sz="1600" dirty="0"/>
              <a:t>       keras.layers.Conv1D(32, 5, activation="</a:t>
            </a:r>
            <a:r>
              <a:rPr lang="en-GB" sz="1600" dirty="0" err="1"/>
              <a:t>relu</a:t>
            </a:r>
            <a:r>
              <a:rPr lang="en-GB" sz="1600" dirty="0"/>
              <a:t>", padding="same", </a:t>
            </a:r>
            <a:r>
              <a:rPr lang="en-GB" sz="1600" dirty="0" err="1"/>
              <a:t>input_shape</a:t>
            </a:r>
            <a:r>
              <a:rPr lang="en-GB" sz="1600" dirty="0"/>
              <a:t>=(50, 1)),    </a:t>
            </a:r>
          </a:p>
          <a:p>
            <a:pPr lvl="4"/>
            <a:r>
              <a:rPr lang="en-GB" sz="1600" dirty="0"/>
              <a:t>       keras.layers.Conv1D(32, 5, activation="</a:t>
            </a:r>
            <a:r>
              <a:rPr lang="en-GB" sz="1600" dirty="0" err="1"/>
              <a:t>relu</a:t>
            </a:r>
            <a:r>
              <a:rPr lang="en-GB" sz="1600" dirty="0"/>
              <a:t>", padding="same"),    </a:t>
            </a:r>
          </a:p>
          <a:p>
            <a:pPr lvl="4"/>
            <a:r>
              <a:rPr lang="en-GB" sz="1600" dirty="0"/>
              <a:t>       keras.layers.GlobalAveragePooling1D(),    # convert the temporal feature map into one sequence representation</a:t>
            </a:r>
          </a:p>
          <a:p>
            <a:pPr lvl="4"/>
            <a:r>
              <a:rPr lang="en-GB" sz="1600" dirty="0"/>
              <a:t>       </a:t>
            </a:r>
            <a:r>
              <a:rPr lang="en-GB" sz="1600" dirty="0" err="1"/>
              <a:t>keras.layers.Dense</a:t>
            </a:r>
            <a:r>
              <a:rPr lang="en-GB" sz="1600" dirty="0"/>
              <a:t>(1)])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169DD700-9BF4-A6BE-BAF8-D2F5E1976E64}"/>
              </a:ext>
            </a:extLst>
          </p:cNvPr>
          <p:cNvSpPr txBox="1"/>
          <p:nvPr/>
        </p:nvSpPr>
        <p:spPr>
          <a:xfrm>
            <a:off x="8906163" y="4108416"/>
            <a:ext cx="181725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GB" dirty="0">
                <a:latin typeface="+mn-lt"/>
              </a:rPr>
              <a:t>Shapes:</a:t>
            </a:r>
          </a:p>
          <a:p>
            <a:pPr rtl="0">
              <a:buNone/>
            </a:pPr>
            <a:r>
              <a:rPr lang="en-GB" dirty="0">
                <a:latin typeface="+mn-lt"/>
              </a:rPr>
              <a:t>[N,50,1]</a:t>
            </a:r>
          </a:p>
          <a:p>
            <a:pPr rtl="0">
              <a:buNone/>
            </a:pPr>
            <a:r>
              <a:rPr lang="en-GB" dirty="0">
                <a:latin typeface="+mn-lt"/>
              </a:rPr>
              <a:t>→ [N,50,32]</a:t>
            </a:r>
          </a:p>
          <a:p>
            <a:pPr rtl="0">
              <a:buNone/>
            </a:pPr>
            <a:r>
              <a:rPr lang="en-GB" dirty="0">
                <a:latin typeface="+mn-lt"/>
              </a:rPr>
              <a:t>→ [N,50,32]</a:t>
            </a:r>
          </a:p>
          <a:p>
            <a:pPr rtl="0">
              <a:buNone/>
            </a:pPr>
            <a:r>
              <a:rPr lang="en-GB" dirty="0">
                <a:latin typeface="+mn-lt"/>
              </a:rPr>
              <a:t>→ [N,32]</a:t>
            </a:r>
          </a:p>
          <a:p>
            <a:pPr rtl="0">
              <a:buNone/>
            </a:pPr>
            <a:r>
              <a:rPr lang="en-GB" dirty="0">
                <a:latin typeface="+mn-lt"/>
              </a:rPr>
              <a:t>→ [N,1]</a:t>
            </a:r>
            <a:endParaRPr lang="en-GB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8296391"/>
      </p:ext>
    </p:extLst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D325EAE-2768-8AFB-719C-8504BFFD6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1D CNN, 10 output</a:t>
            </a:r>
            <a:endParaRPr lang="en-GB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2CE7079-F708-4335-9D85-171C45C1808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97044" y="2185527"/>
            <a:ext cx="10972440" cy="1144800"/>
          </a:xfrm>
        </p:spPr>
        <p:txBody>
          <a:bodyPr/>
          <a:lstStyle/>
          <a:p>
            <a:r>
              <a:rPr lang="en-GB" sz="2400" dirty="0" err="1">
                <a:solidFill>
                  <a:schemeClr val="tx1"/>
                </a:solidFill>
              </a:rPr>
              <a:t>keras.layers.Dense</a:t>
            </a:r>
            <a:r>
              <a:rPr lang="en-GB" sz="2400" dirty="0">
                <a:solidFill>
                  <a:schemeClr val="tx1"/>
                </a:solidFill>
              </a:rPr>
              <a:t>(1) becomes: </a:t>
            </a:r>
            <a:r>
              <a:rPr lang="en-GB" sz="2400" dirty="0" err="1">
                <a:solidFill>
                  <a:schemeClr val="tx1"/>
                </a:solidFill>
              </a:rPr>
              <a:t>keras.layers.Dense</a:t>
            </a:r>
            <a:r>
              <a:rPr lang="en-GB" sz="2400" dirty="0">
                <a:solidFill>
                  <a:schemeClr val="tx1"/>
                </a:solidFill>
              </a:rPr>
              <a:t>(10)</a:t>
            </a:r>
          </a:p>
          <a:p>
            <a:endParaRPr lang="en-GB" sz="2400" dirty="0">
              <a:solidFill>
                <a:schemeClr val="tx1"/>
              </a:solidFill>
            </a:endParaRPr>
          </a:p>
          <a:p>
            <a:r>
              <a:rPr lang="en-GB" sz="2400" dirty="0">
                <a:solidFill>
                  <a:schemeClr val="tx1"/>
                </a:solidFill>
              </a:rPr>
              <a:t>Last shapes: [N,32] → [N,10]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5225287"/>
      </p:ext>
    </p:extLst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19CC542-2BCA-06EE-5979-CEBE2D351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1D CNN, </a:t>
            </a:r>
            <a:r>
              <a:rPr lang="en-GB" dirty="0"/>
              <a:t>Output at every time step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4C675D9-8AE6-0316-2618-B33459BA96C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01843" y="2056350"/>
            <a:ext cx="10972440" cy="1144800"/>
          </a:xfrm>
        </p:spPr>
        <p:txBody>
          <a:bodyPr/>
          <a:lstStyle/>
          <a:p>
            <a:r>
              <a:rPr lang="it-IT" sz="1800" dirty="0">
                <a:solidFill>
                  <a:schemeClr val="tx1"/>
                </a:solidFill>
              </a:rPr>
              <a:t>Remove global pooling</a:t>
            </a:r>
          </a:p>
          <a:p>
            <a:endParaRPr lang="it-IT" sz="1800" dirty="0">
              <a:solidFill>
                <a:schemeClr val="tx1"/>
              </a:solidFill>
            </a:endParaRPr>
          </a:p>
          <a:p>
            <a:r>
              <a:rPr lang="en-GB" sz="1800" dirty="0">
                <a:solidFill>
                  <a:schemeClr val="tx1"/>
                </a:solidFill>
              </a:rPr>
              <a:t>model = </a:t>
            </a:r>
            <a:r>
              <a:rPr lang="en-GB" sz="1800" dirty="0" err="1">
                <a:solidFill>
                  <a:schemeClr val="tx1"/>
                </a:solidFill>
              </a:rPr>
              <a:t>keras.Sequential</a:t>
            </a:r>
            <a:r>
              <a:rPr lang="en-GB" sz="1800" dirty="0">
                <a:solidFill>
                  <a:schemeClr val="tx1"/>
                </a:solidFill>
              </a:rPr>
              <a:t>([    </a:t>
            </a:r>
          </a:p>
          <a:p>
            <a:pPr lvl="2"/>
            <a:r>
              <a:rPr lang="en-GB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      keras.layers.Conv1D(32, 5, activation="</a:t>
            </a:r>
            <a:r>
              <a:rPr lang="en-GB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relu</a:t>
            </a:r>
            <a:r>
              <a:rPr lang="en-GB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",    padding="same",    </a:t>
            </a:r>
            <a:r>
              <a:rPr lang="en-GB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input_shape</a:t>
            </a:r>
            <a:r>
              <a:rPr lang="en-GB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=(50, 1)),    </a:t>
            </a:r>
          </a:p>
          <a:p>
            <a:pPr lvl="2"/>
            <a:r>
              <a:rPr lang="en-GB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      keras.layers.Conv1D(32, 5, activation="</a:t>
            </a:r>
            <a:r>
              <a:rPr lang="en-GB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relu</a:t>
            </a:r>
            <a:r>
              <a:rPr lang="en-GB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",    padding="same"),    </a:t>
            </a:r>
          </a:p>
          <a:p>
            <a:pPr lvl="2"/>
            <a:r>
              <a:rPr lang="en-GB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      </a:t>
            </a:r>
            <a:r>
              <a:rPr lang="en-GB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keras.layers.Dense</a:t>
            </a:r>
            <a:r>
              <a:rPr lang="en-GB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(10)])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81D57E70-79F1-19E5-C05C-AFF6D41444EF}"/>
              </a:ext>
            </a:extLst>
          </p:cNvPr>
          <p:cNvSpPr txBox="1"/>
          <p:nvPr/>
        </p:nvSpPr>
        <p:spPr>
          <a:xfrm>
            <a:off x="8702964" y="5638861"/>
            <a:ext cx="34151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GB" dirty="0">
                <a:latin typeface="+mn-lt"/>
              </a:rPr>
              <a:t>Shape of target and output: [N,50,10]</a:t>
            </a:r>
            <a:endParaRPr lang="en-GB" dirty="0">
              <a:latin typeface="Courier New" panose="02070309020205020404" pitchFamily="49" charset="0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F8958C4A-F5E7-3D12-B225-D9B926CDA9AC}"/>
              </a:ext>
            </a:extLst>
          </p:cNvPr>
          <p:cNvSpPr txBox="1"/>
          <p:nvPr/>
        </p:nvSpPr>
        <p:spPr>
          <a:xfrm>
            <a:off x="5414818" y="3810154"/>
            <a:ext cx="57611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400" dirty="0"/>
              <a:t>With </a:t>
            </a:r>
            <a:r>
              <a:rPr lang="en-GB" sz="1400" dirty="0">
                <a:latin typeface="+mn-lt"/>
              </a:rPr>
              <a:t>padding="same"</a:t>
            </a:r>
            <a:r>
              <a:rPr lang="en-GB" sz="1400" dirty="0"/>
              <a:t> and </a:t>
            </a:r>
            <a:r>
              <a:rPr lang="en-GB" sz="1400" dirty="0">
                <a:latin typeface="+mn-lt"/>
              </a:rPr>
              <a:t>strides=1</a:t>
            </a:r>
            <a:r>
              <a:rPr lang="en-GB" sz="1400" dirty="0"/>
              <a:t>, the temporal length is preserved:</a:t>
            </a:r>
          </a:p>
          <a:p>
            <a:pPr>
              <a:buNone/>
            </a:pPr>
            <a:r>
              <a:rPr lang="en-GB" sz="1400" dirty="0">
                <a:latin typeface="+mn-lt"/>
              </a:rPr>
              <a:t>[N, 50, C] → [N, 50, 32]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085154385"/>
      </p:ext>
    </p:extLst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8E1C21B-D114-56B8-A1F6-9247651D3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TCN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16874098"/>
      </p:ext>
    </p:extLst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8C3F8DE-26B3-24F3-3F2E-DC6C55AED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TCN </a:t>
            </a:r>
            <a:r>
              <a:rPr lang="it-IT" dirty="0" err="1"/>
              <a:t>block</a:t>
            </a:r>
            <a:endParaRPr lang="en-GB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563CD2D-8E3B-17BB-BBA0-8CB848846248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535589" y="2066185"/>
            <a:ext cx="10972440" cy="1144800"/>
          </a:xfrm>
        </p:spPr>
        <p:txBody>
          <a:bodyPr/>
          <a:lstStyle/>
          <a:p>
            <a:r>
              <a:rPr lang="en-GB" sz="1800" dirty="0">
                <a:solidFill>
                  <a:schemeClr val="tx2"/>
                </a:solidFill>
              </a:rPr>
              <a:t>def </a:t>
            </a:r>
            <a:r>
              <a:rPr lang="en-GB" sz="1800" dirty="0" err="1">
                <a:solidFill>
                  <a:schemeClr val="tx2"/>
                </a:solidFill>
              </a:rPr>
              <a:t>tcn_block</a:t>
            </a:r>
            <a:r>
              <a:rPr lang="en-GB" sz="1800" dirty="0">
                <a:solidFill>
                  <a:schemeClr val="tx2"/>
                </a:solidFill>
              </a:rPr>
              <a:t>(x, filters, dilation):    </a:t>
            </a:r>
          </a:p>
          <a:p>
            <a:pPr lvl="2"/>
            <a:r>
              <a:rPr lang="en-GB" dirty="0"/>
              <a:t>   z = keras.layers.Conv1D(filters, 3, padding="causal", </a:t>
            </a:r>
            <a:r>
              <a:rPr lang="en-GB" dirty="0" err="1"/>
              <a:t>dilation_rate</a:t>
            </a:r>
            <a:r>
              <a:rPr lang="en-GB" dirty="0"/>
              <a:t>=dilation, activation="</a:t>
            </a:r>
            <a:r>
              <a:rPr lang="en-GB" dirty="0" err="1"/>
              <a:t>relu</a:t>
            </a:r>
            <a:r>
              <a:rPr lang="en-GB" dirty="0"/>
              <a:t>")(x)    </a:t>
            </a:r>
          </a:p>
          <a:p>
            <a:pPr lvl="2"/>
            <a:r>
              <a:rPr lang="en-GB" dirty="0"/>
              <a:t>   z = keras.layers.Conv1D(filters, 3, padding="causal",  </a:t>
            </a:r>
            <a:r>
              <a:rPr lang="en-GB" dirty="0" err="1"/>
              <a:t>dilation_rate</a:t>
            </a:r>
            <a:r>
              <a:rPr lang="en-GB" dirty="0"/>
              <a:t>=dilation, activation="</a:t>
            </a:r>
            <a:r>
              <a:rPr lang="en-GB" dirty="0" err="1"/>
              <a:t>relu</a:t>
            </a:r>
            <a:r>
              <a:rPr lang="en-GB" dirty="0"/>
              <a:t>")(z)    </a:t>
            </a:r>
          </a:p>
          <a:p>
            <a:pPr lvl="2"/>
            <a:r>
              <a:rPr lang="en-GB" dirty="0"/>
              <a:t>   if </a:t>
            </a:r>
            <a:r>
              <a:rPr lang="en-GB" dirty="0" err="1"/>
              <a:t>x.shape</a:t>
            </a:r>
            <a:r>
              <a:rPr lang="en-GB" dirty="0"/>
              <a:t>[-1] != filters: </a:t>
            </a:r>
          </a:p>
          <a:p>
            <a:pPr lvl="3"/>
            <a:r>
              <a:rPr lang="en-GB" dirty="0"/>
              <a:t>        x = keras.layers.Conv1D(filters, 1)(x)    </a:t>
            </a:r>
          </a:p>
          <a:p>
            <a:pPr lvl="2"/>
            <a:r>
              <a:rPr lang="en-GB" dirty="0"/>
              <a:t>   return </a:t>
            </a:r>
            <a:r>
              <a:rPr lang="en-GB" dirty="0" err="1"/>
              <a:t>keras.layers.Add</a:t>
            </a:r>
            <a:r>
              <a:rPr lang="en-GB" dirty="0"/>
              <a:t>()([x, z])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653A3D85-E6F9-DEDB-83FA-E84F4069EAC8}"/>
              </a:ext>
            </a:extLst>
          </p:cNvPr>
          <p:cNvSpPr txBox="1"/>
          <p:nvPr/>
        </p:nvSpPr>
        <p:spPr>
          <a:xfrm>
            <a:off x="4112490" y="4791815"/>
            <a:ext cx="610061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Build the temporal representation:</a:t>
            </a:r>
          </a:p>
          <a:p>
            <a:endParaRPr lang="en-GB" dirty="0"/>
          </a:p>
          <a:p>
            <a:r>
              <a:rPr lang="en-GB" dirty="0"/>
              <a:t>inputs = </a:t>
            </a:r>
            <a:r>
              <a:rPr lang="en-GB" dirty="0" err="1"/>
              <a:t>keras.Input</a:t>
            </a:r>
            <a:r>
              <a:rPr lang="en-GB" dirty="0"/>
              <a:t>(shape=(50, 1))</a:t>
            </a:r>
          </a:p>
          <a:p>
            <a:r>
              <a:rPr lang="en-GB" dirty="0"/>
              <a:t>x = keras.layers.Conv1D(32, 1)(inputs)</a:t>
            </a:r>
          </a:p>
          <a:p>
            <a:r>
              <a:rPr lang="en-GB" dirty="0"/>
              <a:t>for d in [1, 2, 4, 8]:</a:t>
            </a:r>
          </a:p>
          <a:p>
            <a:r>
              <a:rPr lang="en-GB" dirty="0"/>
              <a:t>	x = </a:t>
            </a:r>
            <a:r>
              <a:rPr lang="en-GB" dirty="0" err="1"/>
              <a:t>tcn_block</a:t>
            </a:r>
            <a:r>
              <a:rPr lang="en-GB" dirty="0"/>
              <a:t>(x, 32, d)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2A2965DC-57BD-B01C-3874-52B5960D8242}"/>
              </a:ext>
            </a:extLst>
          </p:cNvPr>
          <p:cNvSpPr txBox="1"/>
          <p:nvPr/>
        </p:nvSpPr>
        <p:spPr>
          <a:xfrm>
            <a:off x="6095700" y="3486059"/>
            <a:ext cx="19581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 err="1"/>
              <a:t>Adjust</a:t>
            </a:r>
            <a:r>
              <a:rPr lang="it-IT" sz="1400" dirty="0"/>
              <a:t> the feature </a:t>
            </a:r>
            <a:r>
              <a:rPr lang="it-IT" sz="1400" dirty="0" err="1"/>
              <a:t>map</a:t>
            </a:r>
            <a:r>
              <a:rPr lang="it-IT" sz="1400" dirty="0"/>
              <a:t> size, </a:t>
            </a:r>
            <a:r>
              <a:rPr lang="it-IT" sz="1400" dirty="0" err="1"/>
              <a:t>if</a:t>
            </a:r>
            <a:r>
              <a:rPr lang="it-IT" sz="1400" dirty="0"/>
              <a:t> </a:t>
            </a:r>
            <a:r>
              <a:rPr lang="it-IT" sz="1400" dirty="0" err="1"/>
              <a:t>needed</a:t>
            </a:r>
            <a:endParaRPr lang="en-GB" sz="1400" dirty="0"/>
          </a:p>
        </p:txBody>
      </p: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6492F7BA-1D68-5488-2713-3992B1665105}"/>
              </a:ext>
            </a:extLst>
          </p:cNvPr>
          <p:cNvCxnSpPr/>
          <p:nvPr/>
        </p:nvCxnSpPr>
        <p:spPr>
          <a:xfrm flipH="1" flipV="1">
            <a:off x="4276436" y="3210985"/>
            <a:ext cx="1819264" cy="5389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B5D9E64-C81C-5E09-47B6-ED85974F670B}"/>
              </a:ext>
            </a:extLst>
          </p:cNvPr>
          <p:cNvSpPr txBox="1"/>
          <p:nvPr/>
        </p:nvSpPr>
        <p:spPr>
          <a:xfrm>
            <a:off x="8515927" y="591127"/>
            <a:ext cx="2152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Functional</a:t>
            </a:r>
            <a:r>
              <a:rPr lang="it-IT" dirty="0"/>
              <a:t> API</a:t>
            </a:r>
            <a:endParaRPr lang="en-GB" dirty="0"/>
          </a:p>
        </p:txBody>
      </p: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9F540F58-FBD2-C082-A1BC-F9B1AE0345A8}"/>
              </a:ext>
            </a:extLst>
          </p:cNvPr>
          <p:cNvCxnSpPr/>
          <p:nvPr/>
        </p:nvCxnSpPr>
        <p:spPr>
          <a:xfrm>
            <a:off x="9208655" y="960459"/>
            <a:ext cx="1004453" cy="11731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4712969"/>
      </p:ext>
    </p:extLst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DC58067-9226-11A9-2ABC-218E79768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One-step forecasting</a:t>
            </a:r>
            <a:endParaRPr lang="en-GB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49D02CC-6CDE-D377-2497-2C1742D7879C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09480" y="2056218"/>
            <a:ext cx="10972440" cy="1144800"/>
          </a:xfrm>
        </p:spPr>
        <p:txBody>
          <a:bodyPr/>
          <a:lstStyle/>
          <a:p>
            <a:r>
              <a:rPr lang="en-GB" sz="1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 = </a:t>
            </a:r>
            <a:r>
              <a:rPr lang="en-GB" sz="18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keras.layers.Lambda</a:t>
            </a:r>
            <a:r>
              <a:rPr lang="en-GB" sz="1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(lambda z: z[:, -1, :])(x)</a:t>
            </a:r>
          </a:p>
          <a:p>
            <a:r>
              <a:rPr lang="en-GB" sz="1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outputs = </a:t>
            </a:r>
            <a:r>
              <a:rPr lang="en-GB" sz="18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keras.layers.Dense</a:t>
            </a:r>
            <a:r>
              <a:rPr lang="en-GB" sz="1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(1)(h)</a:t>
            </a:r>
          </a:p>
          <a:p>
            <a:r>
              <a:rPr lang="en-GB" sz="1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model = </a:t>
            </a:r>
            <a:r>
              <a:rPr lang="en-GB" sz="18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keras.Model</a:t>
            </a:r>
            <a:r>
              <a:rPr lang="en-GB" sz="1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(inputs, outputs)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74E97428-E34A-4851-BE08-26A6B88D3ADB}"/>
              </a:ext>
            </a:extLst>
          </p:cNvPr>
          <p:cNvSpPr txBox="1"/>
          <p:nvPr/>
        </p:nvSpPr>
        <p:spPr>
          <a:xfrm>
            <a:off x="8935702" y="4571495"/>
            <a:ext cx="225877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GB" dirty="0">
                <a:latin typeface="+mn-lt"/>
              </a:rPr>
              <a:t>[N,50,1]</a:t>
            </a:r>
          </a:p>
          <a:p>
            <a:pPr rtl="0">
              <a:buNone/>
            </a:pPr>
            <a:r>
              <a:rPr lang="en-GB" dirty="0">
                <a:latin typeface="+mn-lt"/>
              </a:rPr>
              <a:t>→ TCN</a:t>
            </a:r>
          </a:p>
          <a:p>
            <a:pPr rtl="0">
              <a:buNone/>
            </a:pPr>
            <a:r>
              <a:rPr lang="en-GB" dirty="0">
                <a:latin typeface="+mn-lt"/>
              </a:rPr>
              <a:t>→ [N,50,32]</a:t>
            </a:r>
          </a:p>
          <a:p>
            <a:pPr rtl="0">
              <a:buNone/>
            </a:pPr>
            <a:r>
              <a:rPr lang="en-GB" dirty="0">
                <a:latin typeface="+mn-lt"/>
              </a:rPr>
              <a:t>→ last position</a:t>
            </a:r>
          </a:p>
          <a:p>
            <a:pPr rtl="0">
              <a:buNone/>
            </a:pPr>
            <a:r>
              <a:rPr lang="en-GB" dirty="0">
                <a:latin typeface="+mn-lt"/>
              </a:rPr>
              <a:t>→ [N,32]</a:t>
            </a:r>
          </a:p>
          <a:p>
            <a:pPr rtl="0">
              <a:buNone/>
            </a:pPr>
            <a:r>
              <a:rPr lang="en-GB" dirty="0">
                <a:latin typeface="+mn-lt"/>
              </a:rPr>
              <a:t>→ [N,1]</a:t>
            </a:r>
            <a:endParaRPr lang="en-GB" dirty="0">
              <a:latin typeface="Courier New" panose="02070309020205020404" pitchFamily="49" charset="0"/>
            </a:endParaRPr>
          </a:p>
        </p:txBody>
      </p: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EADEB41E-7149-5861-F80B-D9DE3F3EFFA5}"/>
              </a:ext>
            </a:extLst>
          </p:cNvPr>
          <p:cNvCxnSpPr>
            <a:cxnSpLocks/>
          </p:cNvCxnSpPr>
          <p:nvPr/>
        </p:nvCxnSpPr>
        <p:spPr>
          <a:xfrm flipH="1" flipV="1">
            <a:off x="4837365" y="2565901"/>
            <a:ext cx="1258335" cy="5537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51587AA5-CB67-3821-B246-0AFC261D0165}"/>
              </a:ext>
            </a:extLst>
          </p:cNvPr>
          <p:cNvSpPr txBox="1"/>
          <p:nvPr/>
        </p:nvSpPr>
        <p:spPr>
          <a:xfrm>
            <a:off x="5638559" y="1125709"/>
            <a:ext cx="2770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 custom </a:t>
            </a:r>
            <a:r>
              <a:rPr lang="it-IT" dirty="0" err="1"/>
              <a:t>function</a:t>
            </a:r>
            <a:r>
              <a:rPr lang="it-IT" dirty="0"/>
              <a:t> </a:t>
            </a:r>
            <a:r>
              <a:rPr lang="it-IT" dirty="0" err="1"/>
              <a:t>block</a:t>
            </a:r>
            <a:endParaRPr lang="en-GB" dirty="0"/>
          </a:p>
        </p:txBody>
      </p: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6EE0C086-E6B8-64FF-9B39-0D1D627C503E}"/>
              </a:ext>
            </a:extLst>
          </p:cNvPr>
          <p:cNvCxnSpPr>
            <a:cxnSpLocks/>
          </p:cNvCxnSpPr>
          <p:nvPr/>
        </p:nvCxnSpPr>
        <p:spPr>
          <a:xfrm flipH="1">
            <a:off x="2992582" y="1486932"/>
            <a:ext cx="2244436" cy="7667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A59FD172-F49C-2E1A-3FD3-BE784BEAEA7C}"/>
              </a:ext>
            </a:extLst>
          </p:cNvPr>
          <p:cNvCxnSpPr>
            <a:cxnSpLocks/>
          </p:cNvCxnSpPr>
          <p:nvPr/>
        </p:nvCxnSpPr>
        <p:spPr>
          <a:xfrm flipH="1" flipV="1">
            <a:off x="1099127" y="3038764"/>
            <a:ext cx="683491" cy="11083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D1D6D8E7-5EB6-94DD-F7BD-30FE6C94E914}"/>
              </a:ext>
            </a:extLst>
          </p:cNvPr>
          <p:cNvSpPr txBox="1"/>
          <p:nvPr/>
        </p:nvSpPr>
        <p:spPr>
          <a:xfrm>
            <a:off x="1782618" y="3915927"/>
            <a:ext cx="21982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Now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can compile and </a:t>
            </a:r>
            <a:r>
              <a:rPr lang="it-IT" dirty="0" err="1"/>
              <a:t>fit</a:t>
            </a:r>
            <a:endParaRPr lang="en-GB" dirty="0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BE7179C6-E11D-3579-3780-AFBE756AA59C}"/>
              </a:ext>
            </a:extLst>
          </p:cNvPr>
          <p:cNvSpPr txBox="1"/>
          <p:nvPr/>
        </p:nvSpPr>
        <p:spPr>
          <a:xfrm>
            <a:off x="6095700" y="2915506"/>
            <a:ext cx="16994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Last </a:t>
            </a:r>
            <a:r>
              <a:rPr lang="it-IT" dirty="0" err="1"/>
              <a:t>temporal</a:t>
            </a:r>
            <a:r>
              <a:rPr lang="it-IT" dirty="0"/>
              <a:t> </a:t>
            </a:r>
            <a:r>
              <a:rPr lang="it-IT" dirty="0" err="1"/>
              <a:t>representation</a:t>
            </a:r>
            <a:r>
              <a:rPr lang="it-IT" dirty="0"/>
              <a:t> (last position)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9391815"/>
      </p:ext>
    </p:extLst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7E29142-43B0-7348-5182-B24703F3C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E61AD67-98E9-6478-EC02-C8FDA3A15E1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09480" y="1962418"/>
            <a:ext cx="10972440" cy="2933164"/>
          </a:xfrm>
        </p:spPr>
        <p:txBody>
          <a:bodyPr/>
          <a:lstStyle/>
          <a:p>
            <a:r>
              <a:rPr lang="en-GB" sz="18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Direct 10-step forecast</a:t>
            </a:r>
            <a:endParaRPr lang="it-IT" sz="1800" b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it-IT" sz="18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Only</a:t>
            </a:r>
            <a:r>
              <a:rPr lang="it-IT" sz="1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it-IT" sz="18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change</a:t>
            </a:r>
            <a:r>
              <a:rPr lang="it-IT" sz="1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outputs = </a:t>
            </a:r>
            <a:r>
              <a:rPr lang="it-IT" sz="18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keras.layers.Dense</a:t>
            </a:r>
            <a:r>
              <a:rPr lang="it-IT" sz="1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(10)</a:t>
            </a:r>
            <a:r>
              <a:rPr lang="it-IT" sz="18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(h)</a:t>
            </a:r>
          </a:p>
          <a:p>
            <a:r>
              <a:rPr lang="it-IT" sz="18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Result</a:t>
            </a:r>
            <a:r>
              <a:rPr lang="it-IT" sz="1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en-GB" sz="1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[N,10]</a:t>
            </a:r>
          </a:p>
          <a:p>
            <a:endParaRPr lang="en-GB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8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Output at every time step:</a:t>
            </a:r>
          </a:p>
          <a:p>
            <a:r>
              <a:rPr lang="en-GB" sz="1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outputs = </a:t>
            </a:r>
            <a:r>
              <a:rPr lang="en-GB" sz="18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keras.layers.Dense</a:t>
            </a:r>
            <a:r>
              <a:rPr lang="en-GB" sz="1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(10)</a:t>
            </a:r>
            <a:r>
              <a:rPr lang="en-GB" sz="18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(x)</a:t>
            </a:r>
          </a:p>
          <a:p>
            <a:r>
              <a:rPr lang="en-GB" sz="1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model = </a:t>
            </a:r>
            <a:r>
              <a:rPr lang="en-GB" sz="18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keras.Model</a:t>
            </a:r>
            <a:r>
              <a:rPr lang="en-GB" sz="1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(inputs, outputs)</a:t>
            </a:r>
          </a:p>
          <a:p>
            <a:r>
              <a:rPr lang="en-GB" sz="1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Result: [N,50,10]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61789823"/>
      </p:ext>
    </p:extLst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F0383F8-BDBA-D014-3590-86636E014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Wavenet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57553668"/>
      </p:ext>
    </p:extLst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69DEEF4-BF5C-0101-7265-569138AFA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Define one gated </a:t>
            </a:r>
            <a:r>
              <a:rPr lang="en-GB" dirty="0" err="1"/>
              <a:t>WaveNet</a:t>
            </a:r>
            <a:r>
              <a:rPr lang="en-GB" dirty="0"/>
              <a:t> residual block: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36A698D-5EAF-3ABD-2524-89675592BF5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09480" y="2434909"/>
            <a:ext cx="10972440" cy="1144800"/>
          </a:xfrm>
        </p:spPr>
        <p:txBody>
          <a:bodyPr/>
          <a:lstStyle/>
          <a:p>
            <a:r>
              <a:rPr lang="en-GB" sz="1800" dirty="0">
                <a:solidFill>
                  <a:schemeClr val="tx2"/>
                </a:solidFill>
              </a:rPr>
              <a:t>def </a:t>
            </a:r>
            <a:r>
              <a:rPr lang="en-GB" sz="1800" dirty="0" err="1">
                <a:solidFill>
                  <a:schemeClr val="tx2"/>
                </a:solidFill>
              </a:rPr>
              <a:t>wavenet_block</a:t>
            </a:r>
            <a:r>
              <a:rPr lang="en-GB" sz="1800" dirty="0">
                <a:solidFill>
                  <a:schemeClr val="tx2"/>
                </a:solidFill>
              </a:rPr>
              <a:t>(x, filters, dilation):    </a:t>
            </a:r>
          </a:p>
          <a:p>
            <a:pPr lvl="1"/>
            <a:r>
              <a:rPr lang="en-GB" dirty="0"/>
              <a:t>   a = keras.layers.Conv1D(filters, 2, padding="causal",  </a:t>
            </a:r>
            <a:r>
              <a:rPr lang="en-GB" dirty="0" err="1"/>
              <a:t>dilation_rate</a:t>
            </a:r>
            <a:r>
              <a:rPr lang="en-GB" dirty="0"/>
              <a:t>=dilation)(x)    </a:t>
            </a:r>
          </a:p>
          <a:p>
            <a:pPr lvl="1"/>
            <a:r>
              <a:rPr lang="en-GB" dirty="0"/>
              <a:t>   b = keras.layers.Conv1D(filters, 2, padding="causal", </a:t>
            </a:r>
            <a:r>
              <a:rPr lang="en-GB" dirty="0" err="1"/>
              <a:t>dilation_rate</a:t>
            </a:r>
            <a:r>
              <a:rPr lang="en-GB" dirty="0"/>
              <a:t>=dilation)(x)    </a:t>
            </a:r>
          </a:p>
          <a:p>
            <a:pPr lvl="1"/>
            <a:r>
              <a:rPr lang="en-GB" dirty="0"/>
              <a:t>   z = </a:t>
            </a:r>
            <a:r>
              <a:rPr lang="en-GB" dirty="0" err="1"/>
              <a:t>keras.layers.Multiply</a:t>
            </a:r>
            <a:r>
              <a:rPr lang="en-GB" dirty="0"/>
              <a:t>()([</a:t>
            </a:r>
            <a:r>
              <a:rPr lang="en-GB" dirty="0" err="1"/>
              <a:t>keras.layers.Activation</a:t>
            </a:r>
            <a:r>
              <a:rPr lang="en-GB" dirty="0"/>
              <a:t>("tanh")(a), </a:t>
            </a:r>
            <a:r>
              <a:rPr lang="en-GB" dirty="0" err="1"/>
              <a:t>keras.layers.Activation</a:t>
            </a:r>
            <a:r>
              <a:rPr lang="en-GB" dirty="0"/>
              <a:t>("sigmoid")(b)])    </a:t>
            </a:r>
          </a:p>
          <a:p>
            <a:pPr lvl="1"/>
            <a:r>
              <a:rPr lang="en-GB" dirty="0"/>
              <a:t>   r = keras.layers.Conv1D(filters, 1)(z)    </a:t>
            </a:r>
          </a:p>
          <a:p>
            <a:pPr lvl="1"/>
            <a:r>
              <a:rPr lang="en-GB" dirty="0"/>
              <a:t>   s = keras.layers.Conv1D(filters, 1)(z)</a:t>
            </a:r>
          </a:p>
          <a:p>
            <a:pPr lvl="1"/>
            <a:r>
              <a:rPr lang="en-GB" dirty="0"/>
              <a:t>   </a:t>
            </a:r>
            <a:r>
              <a:rPr lang="en-GB" dirty="0" err="1"/>
              <a:t>x_next</a:t>
            </a:r>
            <a:r>
              <a:rPr lang="en-GB" dirty="0"/>
              <a:t> = </a:t>
            </a:r>
            <a:r>
              <a:rPr lang="en-GB" dirty="0" err="1"/>
              <a:t>keras.layers.Add</a:t>
            </a:r>
            <a:r>
              <a:rPr lang="en-GB" dirty="0"/>
              <a:t>()([x, r])    </a:t>
            </a:r>
          </a:p>
          <a:p>
            <a:pPr lvl="1"/>
            <a:r>
              <a:rPr lang="en-GB" dirty="0"/>
              <a:t>   return </a:t>
            </a:r>
            <a:r>
              <a:rPr lang="en-GB" dirty="0" err="1"/>
              <a:t>x_next</a:t>
            </a:r>
            <a:r>
              <a:rPr lang="en-GB" dirty="0"/>
              <a:t>, s</a:t>
            </a:r>
          </a:p>
        </p:txBody>
      </p:sp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719FB324-6ECD-4AB4-2629-EC9473C05D45}"/>
              </a:ext>
            </a:extLst>
          </p:cNvPr>
          <p:cNvCxnSpPr/>
          <p:nvPr/>
        </p:nvCxnSpPr>
        <p:spPr>
          <a:xfrm flipH="1" flipV="1">
            <a:off x="4775200" y="3297382"/>
            <a:ext cx="2327564" cy="13300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61D20FB-C976-B59B-AFA0-8AF6A7B5DDDF}"/>
              </a:ext>
            </a:extLst>
          </p:cNvPr>
          <p:cNvSpPr txBox="1"/>
          <p:nvPr/>
        </p:nvSpPr>
        <p:spPr>
          <a:xfrm>
            <a:off x="6982690" y="3996053"/>
            <a:ext cx="25492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Here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</a:t>
            </a:r>
            <a:r>
              <a:rPr lang="it-IT" dirty="0" err="1"/>
              <a:t>two</a:t>
            </a:r>
            <a:r>
              <a:rPr lang="it-IT" dirty="0"/>
              <a:t> Conv1D.</a:t>
            </a:r>
          </a:p>
          <a:p>
            <a:r>
              <a:rPr lang="it-IT" dirty="0"/>
              <a:t>In the picture, just one</a:t>
            </a:r>
            <a:endParaRPr lang="en-GB" dirty="0"/>
          </a:p>
        </p:txBody>
      </p:sp>
      <p:pic>
        <p:nvPicPr>
          <p:cNvPr id="8" name="Segnaposto contenuto 8" descr="../_images/wavenet.png">
            <a:extLst>
              <a:ext uri="{FF2B5EF4-FFF2-40B4-BE49-F238E27FC236}">
                <a16:creationId xmlns:a16="http://schemas.microsoft.com/office/drawing/2014/main" id="{771E9F0E-4C19-95D8-C666-24ADC0A20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7368" y="4699079"/>
            <a:ext cx="4065032" cy="2158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975017"/>
      </p:ext>
    </p:extLst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374A384-83D2-5074-CB8F-7E5ADBB0F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Then </a:t>
            </a:r>
            <a:r>
              <a:rPr lang="it-IT" dirty="0" err="1"/>
              <a:t>stack</a:t>
            </a:r>
            <a:r>
              <a:rPr lang="it-IT" dirty="0"/>
              <a:t> </a:t>
            </a:r>
            <a:r>
              <a:rPr lang="it-IT" dirty="0" err="1"/>
              <a:t>blocks</a:t>
            </a:r>
            <a:endParaRPr lang="en-GB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C18EA21-F98C-AA9B-828A-B25F928450E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09480" y="3275418"/>
            <a:ext cx="10972440" cy="1144800"/>
          </a:xfrm>
        </p:spPr>
        <p:txBody>
          <a:bodyPr/>
          <a:lstStyle/>
          <a:p>
            <a:r>
              <a:rPr lang="en-GB" sz="2000" dirty="0">
                <a:solidFill>
                  <a:schemeClr val="tx2"/>
                </a:solidFill>
              </a:rPr>
              <a:t>inputs = </a:t>
            </a:r>
            <a:r>
              <a:rPr lang="en-GB" sz="2000" dirty="0" err="1">
                <a:solidFill>
                  <a:schemeClr val="tx2"/>
                </a:solidFill>
              </a:rPr>
              <a:t>keras.Input</a:t>
            </a:r>
            <a:r>
              <a:rPr lang="en-GB" sz="2000" dirty="0">
                <a:solidFill>
                  <a:schemeClr val="tx2"/>
                </a:solidFill>
              </a:rPr>
              <a:t>(shape=(50, 1))</a:t>
            </a:r>
          </a:p>
          <a:p>
            <a:r>
              <a:rPr lang="en-GB" sz="2000" dirty="0">
                <a:solidFill>
                  <a:schemeClr val="tx2"/>
                </a:solidFill>
              </a:rPr>
              <a:t>x = keras.layers.Conv1D(32, 1)(inputs)</a:t>
            </a:r>
          </a:p>
          <a:p>
            <a:r>
              <a:rPr lang="en-GB" sz="2000" dirty="0">
                <a:solidFill>
                  <a:schemeClr val="tx2"/>
                </a:solidFill>
              </a:rPr>
              <a:t>skips = []</a:t>
            </a:r>
          </a:p>
          <a:p>
            <a:r>
              <a:rPr lang="en-GB" sz="2000" dirty="0">
                <a:solidFill>
                  <a:schemeClr val="tx2"/>
                </a:solidFill>
              </a:rPr>
              <a:t>for d in [1, 2, 4, 8, 16]:    </a:t>
            </a:r>
          </a:p>
          <a:p>
            <a:pPr lvl="2"/>
            <a:r>
              <a:rPr lang="en-GB" sz="2000" dirty="0"/>
              <a:t>    x, s = </a:t>
            </a:r>
            <a:r>
              <a:rPr lang="en-GB" sz="2000" dirty="0" err="1"/>
              <a:t>wavenet_block</a:t>
            </a:r>
            <a:r>
              <a:rPr lang="en-GB" sz="2000" dirty="0"/>
              <a:t>(x, 32, d)    </a:t>
            </a:r>
          </a:p>
          <a:p>
            <a:pPr lvl="2"/>
            <a:r>
              <a:rPr lang="en-GB" sz="2000" dirty="0"/>
              <a:t>    </a:t>
            </a:r>
            <a:r>
              <a:rPr lang="en-GB" sz="2000" dirty="0" err="1"/>
              <a:t>skips.append</a:t>
            </a:r>
            <a:r>
              <a:rPr lang="en-GB" sz="2000" dirty="0"/>
              <a:t>(s)</a:t>
            </a:r>
          </a:p>
          <a:p>
            <a:r>
              <a:rPr lang="en-GB" sz="2000" dirty="0">
                <a:solidFill>
                  <a:schemeClr val="tx2"/>
                </a:solidFill>
              </a:rPr>
              <a:t>x = </a:t>
            </a:r>
            <a:r>
              <a:rPr lang="en-GB" sz="2000" dirty="0" err="1">
                <a:solidFill>
                  <a:schemeClr val="tx2"/>
                </a:solidFill>
              </a:rPr>
              <a:t>keras.layers.Add</a:t>
            </a:r>
            <a:r>
              <a:rPr lang="en-GB" sz="2000" dirty="0">
                <a:solidFill>
                  <a:schemeClr val="tx2"/>
                </a:solidFill>
              </a:rPr>
              <a:t>()(skips)</a:t>
            </a:r>
          </a:p>
          <a:p>
            <a:r>
              <a:rPr lang="en-GB" sz="2000" dirty="0">
                <a:solidFill>
                  <a:schemeClr val="tx2"/>
                </a:solidFill>
              </a:rPr>
              <a:t>x = </a:t>
            </a:r>
            <a:r>
              <a:rPr lang="en-GB" sz="2000" dirty="0" err="1">
                <a:solidFill>
                  <a:schemeClr val="tx2"/>
                </a:solidFill>
              </a:rPr>
              <a:t>keras.layers.Activation</a:t>
            </a:r>
            <a:r>
              <a:rPr lang="en-GB" sz="2000" dirty="0">
                <a:solidFill>
                  <a:schemeClr val="tx2"/>
                </a:solidFill>
              </a:rPr>
              <a:t>("</a:t>
            </a:r>
            <a:r>
              <a:rPr lang="en-GB" sz="2000" dirty="0" err="1">
                <a:solidFill>
                  <a:schemeClr val="tx2"/>
                </a:solidFill>
              </a:rPr>
              <a:t>relu</a:t>
            </a:r>
            <a:r>
              <a:rPr lang="en-GB" sz="2000" dirty="0">
                <a:solidFill>
                  <a:schemeClr val="tx2"/>
                </a:solidFill>
              </a:rPr>
              <a:t>")(x)</a:t>
            </a:r>
          </a:p>
          <a:p>
            <a:r>
              <a:rPr lang="en-GB" sz="2000" dirty="0">
                <a:solidFill>
                  <a:schemeClr val="tx2"/>
                </a:solidFill>
              </a:rPr>
              <a:t>x = keras.layers.Conv1D(32, 1, activation="</a:t>
            </a:r>
            <a:r>
              <a:rPr lang="en-GB" sz="2000" dirty="0" err="1">
                <a:solidFill>
                  <a:schemeClr val="tx2"/>
                </a:solidFill>
              </a:rPr>
              <a:t>relu</a:t>
            </a:r>
            <a:r>
              <a:rPr lang="en-GB" sz="2000" dirty="0">
                <a:solidFill>
                  <a:schemeClr val="tx2"/>
                </a:solidFill>
              </a:rPr>
              <a:t>")(x)</a:t>
            </a:r>
          </a:p>
        </p:txBody>
      </p:sp>
    </p:spTree>
    <p:extLst>
      <p:ext uri="{BB962C8B-B14F-4D97-AF65-F5344CB8AC3E}">
        <p14:creationId xmlns:p14="http://schemas.microsoft.com/office/powerpoint/2010/main" val="945533260"/>
      </p:ext>
    </p:extLst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FA2D2A3-ACBD-8E1F-6F96-057162990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980EC0D-8C90-4072-1E2C-6594991B0BA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09480" y="3829600"/>
            <a:ext cx="10972440" cy="1144800"/>
          </a:xfrm>
        </p:spPr>
        <p:txBody>
          <a:bodyPr/>
          <a:lstStyle/>
          <a:p>
            <a:r>
              <a:rPr lang="it-IT" sz="2000" b="1" dirty="0">
                <a:solidFill>
                  <a:schemeClr val="tx1"/>
                </a:solidFill>
              </a:rPr>
              <a:t>One-step forecast</a:t>
            </a:r>
          </a:p>
          <a:p>
            <a:r>
              <a:rPr lang="en-GB" sz="2000" dirty="0">
                <a:solidFill>
                  <a:schemeClr val="tx1"/>
                </a:solidFill>
              </a:rPr>
              <a:t>h = </a:t>
            </a:r>
            <a:r>
              <a:rPr lang="en-GB" sz="2000" dirty="0" err="1">
                <a:solidFill>
                  <a:schemeClr val="tx1"/>
                </a:solidFill>
              </a:rPr>
              <a:t>keras.layers.Lambda</a:t>
            </a:r>
            <a:r>
              <a:rPr lang="en-GB" sz="2000" dirty="0">
                <a:solidFill>
                  <a:schemeClr val="tx1"/>
                </a:solidFill>
              </a:rPr>
              <a:t>(lambda z: z[:, -1, :])(x)</a:t>
            </a:r>
          </a:p>
          <a:p>
            <a:r>
              <a:rPr lang="en-GB" sz="2000" dirty="0">
                <a:solidFill>
                  <a:schemeClr val="tx1"/>
                </a:solidFill>
              </a:rPr>
              <a:t>outputs = </a:t>
            </a:r>
            <a:r>
              <a:rPr lang="en-GB" sz="2000" dirty="0" err="1">
                <a:solidFill>
                  <a:schemeClr val="tx1"/>
                </a:solidFill>
              </a:rPr>
              <a:t>keras.layers.Dense</a:t>
            </a:r>
            <a:r>
              <a:rPr lang="en-GB" sz="2000" dirty="0">
                <a:solidFill>
                  <a:schemeClr val="tx1"/>
                </a:solidFill>
              </a:rPr>
              <a:t>(1)(h)</a:t>
            </a:r>
          </a:p>
          <a:p>
            <a:r>
              <a:rPr lang="en-GB" sz="2000" dirty="0">
                <a:solidFill>
                  <a:schemeClr val="tx1"/>
                </a:solidFill>
              </a:rPr>
              <a:t>model = </a:t>
            </a:r>
            <a:r>
              <a:rPr lang="en-GB" sz="2000" dirty="0" err="1">
                <a:solidFill>
                  <a:schemeClr val="tx1"/>
                </a:solidFill>
              </a:rPr>
              <a:t>keras.Model</a:t>
            </a:r>
            <a:r>
              <a:rPr lang="en-GB" sz="2000" dirty="0">
                <a:solidFill>
                  <a:schemeClr val="tx1"/>
                </a:solidFill>
              </a:rPr>
              <a:t>(inputs, outputs)</a:t>
            </a:r>
          </a:p>
          <a:p>
            <a:endParaRPr lang="en-GB" sz="2000" dirty="0">
              <a:solidFill>
                <a:schemeClr val="tx1"/>
              </a:solidFill>
            </a:endParaRPr>
          </a:p>
          <a:p>
            <a:r>
              <a:rPr lang="en-GB" sz="2000" b="1" dirty="0">
                <a:solidFill>
                  <a:schemeClr val="tx1"/>
                </a:solidFill>
              </a:rPr>
              <a:t>Direct 10-step forecast</a:t>
            </a:r>
          </a:p>
          <a:p>
            <a:r>
              <a:rPr lang="en-GB" sz="2000" dirty="0">
                <a:solidFill>
                  <a:schemeClr val="tx1"/>
                </a:solidFill>
              </a:rPr>
              <a:t>h = </a:t>
            </a:r>
            <a:r>
              <a:rPr lang="en-GB" sz="2000" dirty="0" err="1">
                <a:solidFill>
                  <a:schemeClr val="tx1"/>
                </a:solidFill>
              </a:rPr>
              <a:t>keras.layers.Lambda</a:t>
            </a:r>
            <a:r>
              <a:rPr lang="en-GB" sz="2000" dirty="0">
                <a:solidFill>
                  <a:schemeClr val="tx1"/>
                </a:solidFill>
              </a:rPr>
              <a:t>(lambda z: z[:, -1, :])(x)</a:t>
            </a:r>
          </a:p>
          <a:p>
            <a:r>
              <a:rPr lang="en-GB" sz="2000" dirty="0">
                <a:solidFill>
                  <a:schemeClr val="tx1"/>
                </a:solidFill>
              </a:rPr>
              <a:t>outputs = </a:t>
            </a:r>
            <a:r>
              <a:rPr lang="en-GB" sz="2000" dirty="0" err="1">
                <a:solidFill>
                  <a:schemeClr val="tx1"/>
                </a:solidFill>
              </a:rPr>
              <a:t>keras.layers.Dense</a:t>
            </a:r>
            <a:r>
              <a:rPr lang="en-GB" sz="2000" b="1" dirty="0">
                <a:solidFill>
                  <a:schemeClr val="tx1"/>
                </a:solidFill>
              </a:rPr>
              <a:t>(10)(</a:t>
            </a:r>
            <a:r>
              <a:rPr lang="en-GB" sz="2000" dirty="0">
                <a:solidFill>
                  <a:schemeClr val="tx1"/>
                </a:solidFill>
              </a:rPr>
              <a:t>h)</a:t>
            </a:r>
          </a:p>
          <a:p>
            <a:r>
              <a:rPr lang="en-GB" sz="2000" dirty="0">
                <a:solidFill>
                  <a:schemeClr val="tx1"/>
                </a:solidFill>
              </a:rPr>
              <a:t>Result: [N,10]</a:t>
            </a:r>
          </a:p>
          <a:p>
            <a:endParaRPr lang="en-GB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AC97AE01-DCA7-5C54-4098-8C4A8ED49EE1}"/>
              </a:ext>
            </a:extLst>
          </p:cNvPr>
          <p:cNvSpPr txBox="1"/>
          <p:nvPr/>
        </p:nvSpPr>
        <p:spPr>
          <a:xfrm>
            <a:off x="7001164" y="3660323"/>
            <a:ext cx="1616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/>
              <a:t>Last step</a:t>
            </a:r>
            <a:endParaRPr lang="en-GB" sz="1600" dirty="0"/>
          </a:p>
        </p:txBody>
      </p: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832CB24D-D9AD-2EA9-3B9A-BF68D2E88312}"/>
              </a:ext>
            </a:extLst>
          </p:cNvPr>
          <p:cNvCxnSpPr/>
          <p:nvPr/>
        </p:nvCxnSpPr>
        <p:spPr>
          <a:xfrm flipH="1" flipV="1">
            <a:off x="5338618" y="3429000"/>
            <a:ext cx="1459346" cy="400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89A6CA6B-D874-7B96-70BE-C143BB5A9D9C}"/>
              </a:ext>
            </a:extLst>
          </p:cNvPr>
          <p:cNvCxnSpPr>
            <a:cxnSpLocks/>
          </p:cNvCxnSpPr>
          <p:nvPr/>
        </p:nvCxnSpPr>
        <p:spPr>
          <a:xfrm flipH="1">
            <a:off x="5440218" y="3906982"/>
            <a:ext cx="1431637" cy="6650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9680836"/>
      </p:ext>
    </p:extLst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C31BDA-DC6A-A0F3-B2B1-2AE7AD5BF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B96623F-CC67-5BE7-8857-76C8DEC3418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09480" y="2817091"/>
            <a:ext cx="10972440" cy="2752436"/>
          </a:xfrm>
        </p:spPr>
        <p:txBody>
          <a:bodyPr/>
          <a:lstStyle/>
          <a:p>
            <a:r>
              <a:rPr lang="en-GB" sz="2000" b="1" dirty="0">
                <a:solidFill>
                  <a:schemeClr val="tx1"/>
                </a:solidFill>
              </a:rPr>
              <a:t>Output at every time step</a:t>
            </a:r>
          </a:p>
          <a:p>
            <a:r>
              <a:rPr lang="en-GB" sz="2000" dirty="0">
                <a:solidFill>
                  <a:schemeClr val="tx1"/>
                </a:solidFill>
              </a:rPr>
              <a:t>outputs = keras.layers.Conv1D(10, 1)</a:t>
            </a:r>
            <a:r>
              <a:rPr lang="en-GB" sz="2000" b="1" dirty="0">
                <a:solidFill>
                  <a:schemeClr val="tx1"/>
                </a:solidFill>
              </a:rPr>
              <a:t>(x)</a:t>
            </a:r>
          </a:p>
          <a:p>
            <a:r>
              <a:rPr lang="en-GB" sz="2000" dirty="0">
                <a:solidFill>
                  <a:schemeClr val="tx1"/>
                </a:solidFill>
              </a:rPr>
              <a:t>model = </a:t>
            </a:r>
            <a:r>
              <a:rPr lang="en-GB" sz="2000" dirty="0" err="1">
                <a:solidFill>
                  <a:schemeClr val="tx1"/>
                </a:solidFill>
              </a:rPr>
              <a:t>keras.Model</a:t>
            </a:r>
            <a:r>
              <a:rPr lang="en-GB" sz="2000" dirty="0">
                <a:solidFill>
                  <a:schemeClr val="tx1"/>
                </a:solidFill>
              </a:rPr>
              <a:t>(inputs, outputs)</a:t>
            </a:r>
          </a:p>
          <a:p>
            <a:endParaRPr lang="en-GB" sz="2000" dirty="0">
              <a:solidFill>
                <a:schemeClr val="tx1"/>
              </a:solidFill>
            </a:endParaRPr>
          </a:p>
          <a:p>
            <a:r>
              <a:rPr lang="en-GB" sz="2000" dirty="0">
                <a:solidFill>
                  <a:schemeClr val="tx1"/>
                </a:solidFill>
              </a:rPr>
              <a:t>Result: [N,50,10]</a:t>
            </a:r>
          </a:p>
          <a:p>
            <a:r>
              <a:rPr lang="en-GB" sz="2000" dirty="0">
                <a:solidFill>
                  <a:schemeClr val="tx1"/>
                </a:solidFill>
              </a:rPr>
              <a:t>This last kernel-size-1 Conv1D is essentially a shared Dense(10) at every temporal position.</a:t>
            </a:r>
          </a:p>
        </p:txBody>
      </p:sp>
    </p:spTree>
    <p:extLst>
      <p:ext uri="{BB962C8B-B14F-4D97-AF65-F5344CB8AC3E}">
        <p14:creationId xmlns:p14="http://schemas.microsoft.com/office/powerpoint/2010/main" val="4084312211"/>
      </p:ext>
    </p:extLst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9E0B595-449D-13A9-4090-3E4C11388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Multiscale</a:t>
            </a:r>
            <a:r>
              <a:rPr lang="it-IT" dirty="0"/>
              <a:t> TCN</a:t>
            </a:r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141988D-EB25-C863-58D9-5523C6AFA8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Here the same input is processed using several temporal kernel sizes in parallel.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45133996"/>
      </p:ext>
    </p:extLst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8222F5-2A6C-37E9-3123-E6C4A7C3C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1F598C3-E406-2BCA-2CFC-1A3E0442E02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01844" y="1963854"/>
            <a:ext cx="10972440" cy="2192509"/>
          </a:xfrm>
        </p:spPr>
        <p:txBody>
          <a:bodyPr/>
          <a:lstStyle/>
          <a:p>
            <a:r>
              <a:rPr lang="en-GB" sz="1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inputs = </a:t>
            </a:r>
            <a:r>
              <a:rPr lang="en-GB" sz="18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keras.Input</a:t>
            </a:r>
            <a:r>
              <a:rPr lang="en-GB" sz="1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(shape=(50, 1))</a:t>
            </a:r>
          </a:p>
          <a:p>
            <a:r>
              <a:rPr lang="en-GB" sz="1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short = keras.layers.Conv1D(32, 3, </a:t>
            </a:r>
            <a:r>
              <a:rPr lang="en-GB" sz="18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padding="same", </a:t>
            </a:r>
            <a:r>
              <a:rPr lang="en-GB" sz="1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activation="</a:t>
            </a:r>
            <a:r>
              <a:rPr lang="en-GB" sz="18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relu</a:t>
            </a:r>
            <a:r>
              <a:rPr lang="en-GB" sz="1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")(inputs)</a:t>
            </a:r>
          </a:p>
          <a:p>
            <a:r>
              <a:rPr lang="en-GB" sz="1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medium = keras.layers.Conv1D(32, 9, padding="same", activation="</a:t>
            </a:r>
            <a:r>
              <a:rPr lang="en-GB" sz="18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relu</a:t>
            </a:r>
            <a:r>
              <a:rPr lang="en-GB" sz="1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")(inputs)</a:t>
            </a:r>
          </a:p>
          <a:p>
            <a:r>
              <a:rPr lang="en-GB" sz="1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long = keras.layers.Conv1D(32, 21, padding="same", activation="</a:t>
            </a:r>
            <a:r>
              <a:rPr lang="en-GB" sz="18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relu</a:t>
            </a:r>
            <a:r>
              <a:rPr lang="en-GB" sz="1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")(inputs)</a:t>
            </a:r>
          </a:p>
          <a:p>
            <a:r>
              <a:rPr lang="en-GB" sz="1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 = </a:t>
            </a:r>
            <a:r>
              <a:rPr lang="en-GB" sz="18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keras.layers.Concatenate</a:t>
            </a:r>
            <a:r>
              <a:rPr lang="en-GB" sz="1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()([short, medium, long])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24C5A5FC-0FBC-AA94-67AA-FE66522B1617}"/>
              </a:ext>
            </a:extLst>
          </p:cNvPr>
          <p:cNvSpPr txBox="1"/>
          <p:nvPr/>
        </p:nvSpPr>
        <p:spPr>
          <a:xfrm>
            <a:off x="5970829" y="4041247"/>
            <a:ext cx="227724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GB" dirty="0">
                <a:latin typeface="+mn-lt"/>
              </a:rPr>
              <a:t>[N,50,1]</a:t>
            </a:r>
          </a:p>
          <a:p>
            <a:pPr rtl="0">
              <a:buNone/>
            </a:pPr>
            <a:r>
              <a:rPr lang="en-GB" dirty="0">
                <a:latin typeface="+mn-lt"/>
              </a:rPr>
              <a:t>      ↓</a:t>
            </a:r>
          </a:p>
          <a:p>
            <a:pPr rtl="0">
              <a:buNone/>
            </a:pPr>
            <a:r>
              <a:rPr lang="en-GB" dirty="0">
                <a:latin typeface="+mn-lt"/>
              </a:rPr>
              <a:t>K=3   K=9   K=21</a:t>
            </a:r>
          </a:p>
          <a:p>
            <a:pPr rtl="0">
              <a:buNone/>
            </a:pPr>
            <a:r>
              <a:rPr lang="en-GB" dirty="0">
                <a:latin typeface="+mn-lt"/>
              </a:rPr>
              <a:t>  \    |    /</a:t>
            </a:r>
          </a:p>
          <a:p>
            <a:pPr rtl="0">
              <a:buNone/>
            </a:pPr>
            <a:r>
              <a:rPr lang="en-GB" dirty="0">
                <a:latin typeface="+mn-lt"/>
              </a:rPr>
              <a:t> concatenate</a:t>
            </a:r>
          </a:p>
          <a:p>
            <a:pPr rtl="0">
              <a:buNone/>
            </a:pPr>
            <a:r>
              <a:rPr lang="en-GB" dirty="0">
                <a:latin typeface="+mn-lt"/>
              </a:rPr>
              <a:t>      ↓</a:t>
            </a:r>
          </a:p>
          <a:p>
            <a:pPr rtl="0">
              <a:buNone/>
            </a:pPr>
            <a:r>
              <a:rPr lang="en-GB" dirty="0">
                <a:latin typeface="+mn-lt"/>
              </a:rPr>
              <a:t>[N,50,96]</a:t>
            </a:r>
            <a:endParaRPr lang="en-GB" dirty="0">
              <a:latin typeface="Courier New" panose="02070309020205020404" pitchFamily="49" charset="0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5FB6678-A492-C79C-0BBE-F943D1BFF3D0}"/>
              </a:ext>
            </a:extLst>
          </p:cNvPr>
          <p:cNvSpPr txBox="1"/>
          <p:nvPr/>
        </p:nvSpPr>
        <p:spPr>
          <a:xfrm>
            <a:off x="7832436" y="1640688"/>
            <a:ext cx="405245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causal forecasting/online prediction, change the multiscale branches to padding="causal" </a:t>
            </a:r>
            <a:endParaRPr lang="en-GB" sz="1600" b="1" dirty="0"/>
          </a:p>
        </p:txBody>
      </p: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2775D0AA-8EDC-342D-368F-7E297B67EE6C}"/>
              </a:ext>
            </a:extLst>
          </p:cNvPr>
          <p:cNvCxnSpPr/>
          <p:nvPr/>
        </p:nvCxnSpPr>
        <p:spPr>
          <a:xfrm flipH="1">
            <a:off x="5495636" y="1963854"/>
            <a:ext cx="2179782" cy="6130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3755005"/>
      </p:ext>
    </p:extLst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A70B04F-D249-99FE-AC61-8F9B167F7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3ACAD87-D849-F22C-7128-09DE7CFE70D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92608" y="1939636"/>
            <a:ext cx="10972440" cy="3413455"/>
          </a:xfrm>
        </p:spPr>
        <p:txBody>
          <a:bodyPr/>
          <a:lstStyle/>
          <a:p>
            <a:r>
              <a:rPr lang="it-IT" sz="18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One-</a:t>
            </a:r>
            <a:r>
              <a:rPr lang="it-IT" sz="1800" b="1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sequence</a:t>
            </a:r>
            <a:r>
              <a:rPr lang="it-IT" sz="18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output</a:t>
            </a:r>
          </a:p>
          <a:p>
            <a:r>
              <a:rPr lang="en-GB" sz="1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 = keras.layers.GlobalAveragePooling1D()(x)</a:t>
            </a:r>
          </a:p>
          <a:p>
            <a:r>
              <a:rPr lang="en-GB" sz="1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outputs = </a:t>
            </a:r>
            <a:r>
              <a:rPr lang="en-GB" sz="18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keras.layers.Dense</a:t>
            </a:r>
            <a:r>
              <a:rPr lang="en-GB" sz="1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(1)(h)</a:t>
            </a:r>
          </a:p>
          <a:p>
            <a:r>
              <a:rPr lang="en-GB" sz="1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model = </a:t>
            </a:r>
            <a:r>
              <a:rPr lang="en-GB" sz="18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keras.Model</a:t>
            </a:r>
            <a:r>
              <a:rPr lang="en-GB" sz="1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(inputs, outputs)</a:t>
            </a:r>
          </a:p>
          <a:p>
            <a:endParaRPr lang="en-GB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8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Direct 10-step forecast</a:t>
            </a:r>
          </a:p>
          <a:p>
            <a:r>
              <a:rPr lang="en-GB" sz="1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 = keras.layers.GlobalAveragePooling1D()(x)</a:t>
            </a:r>
          </a:p>
          <a:p>
            <a:r>
              <a:rPr lang="en-GB" sz="1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outputs = </a:t>
            </a:r>
            <a:r>
              <a:rPr lang="en-GB" sz="18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keras.layers.Dense</a:t>
            </a:r>
            <a:r>
              <a:rPr lang="en-GB" sz="1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(10)(h) # result: [N, 10]</a:t>
            </a:r>
          </a:p>
          <a:p>
            <a:endParaRPr lang="en-GB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GB" dirty="0"/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E4ECDA9C-8E6F-3C3A-FCAE-728AC75F070D}"/>
              </a:ext>
            </a:extLst>
          </p:cNvPr>
          <p:cNvSpPr txBox="1"/>
          <p:nvPr/>
        </p:nvSpPr>
        <p:spPr>
          <a:xfrm>
            <a:off x="5481302" y="2505670"/>
            <a:ext cx="610061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sequence-to-vector forecasting, use the last temporal representation rather than global pooling:</a:t>
            </a:r>
          </a:p>
          <a:p>
            <a:r>
              <a:rPr lang="en-GB" sz="1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 = </a:t>
            </a:r>
            <a:r>
              <a:rPr lang="en-GB" sz="18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keras.layers.Lambda</a:t>
            </a:r>
            <a:r>
              <a:rPr lang="en-GB" sz="1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(lambda z: z[:, -1, :])(x)</a:t>
            </a:r>
          </a:p>
        </p:txBody>
      </p: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C7A171B5-D44D-4BFE-7E4A-654B484CF325}"/>
              </a:ext>
            </a:extLst>
          </p:cNvPr>
          <p:cNvCxnSpPr>
            <a:cxnSpLocks/>
          </p:cNvCxnSpPr>
          <p:nvPr/>
        </p:nvCxnSpPr>
        <p:spPr>
          <a:xfrm flipH="1" flipV="1">
            <a:off x="4525818" y="2401455"/>
            <a:ext cx="872356" cy="3602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6681A1F3-3E65-0A8E-670A-5ABEC21A41B5}"/>
              </a:ext>
            </a:extLst>
          </p:cNvPr>
          <p:cNvCxnSpPr>
            <a:cxnSpLocks/>
          </p:cNvCxnSpPr>
          <p:nvPr/>
        </p:nvCxnSpPr>
        <p:spPr>
          <a:xfrm flipH="1">
            <a:off x="4525818" y="2967335"/>
            <a:ext cx="955484" cy="461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C6F79937-8330-2C36-F8BA-81D5A311A88D}"/>
              </a:ext>
            </a:extLst>
          </p:cNvPr>
          <p:cNvSpPr txBox="1"/>
          <p:nvPr/>
        </p:nvSpPr>
        <p:spPr>
          <a:xfrm>
            <a:off x="6991927" y="3533369"/>
            <a:ext cx="513311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1"/>
              <a:t>Short rule</a:t>
            </a:r>
            <a:endParaRPr lang="en-GB" sz="1600" b="1" dirty="0"/>
          </a:p>
          <a:p>
            <a:r>
              <a:rPr lang="en-GB" sz="1600" b="1" dirty="0"/>
              <a:t>Global pooling → whole-window prediction.</a:t>
            </a:r>
            <a:br>
              <a:rPr lang="en-GB" sz="1600" dirty="0"/>
            </a:br>
            <a:r>
              <a:rPr lang="en-GB" sz="1600" b="1" dirty="0"/>
              <a:t>Last temporal representation → prediction anchored at the end of a causal history window.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491362981"/>
      </p:ext>
    </p:extLst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844366-CF7F-A8A4-19DE-947903C12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E99A18F-721C-FF0F-7155-7489EEA75A2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92607" y="2299855"/>
            <a:ext cx="10972440" cy="2831563"/>
          </a:xfrm>
        </p:spPr>
        <p:txBody>
          <a:bodyPr/>
          <a:lstStyle/>
          <a:p>
            <a:r>
              <a:rPr lang="it-IT" sz="18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Output </a:t>
            </a:r>
            <a:r>
              <a:rPr lang="it-IT" sz="1800" b="1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</a:t>
            </a:r>
            <a:r>
              <a:rPr lang="it-IT" sz="18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it-IT" sz="1800" b="1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</a:t>
            </a:r>
            <a:r>
              <a:rPr lang="it-IT" sz="18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time step</a:t>
            </a:r>
          </a:p>
          <a:p>
            <a:r>
              <a:rPr lang="en-GB" sz="1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outputs = </a:t>
            </a:r>
            <a:r>
              <a:rPr lang="en-GB" sz="18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keras.layers.Dense</a:t>
            </a:r>
            <a:r>
              <a:rPr lang="en-GB" sz="1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(10)(x) # Global pooling removed</a:t>
            </a:r>
          </a:p>
          <a:p>
            <a:r>
              <a:rPr lang="en-GB" sz="1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model = </a:t>
            </a:r>
            <a:r>
              <a:rPr lang="en-GB" sz="18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keras.Model</a:t>
            </a:r>
            <a:r>
              <a:rPr lang="en-GB" sz="1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(inputs, outputs) # Result: [N,50,10]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85187284"/>
      </p:ext>
    </p:extLst>
  </p:cSld>
  <p:clrMapOvr>
    <a:masterClrMapping/>
  </p:clrMapOvr>
</p:sld>
</file>

<file path=ppt/theme/theme1.xml><?xml version="1.0" encoding="utf-8"?>
<a:theme xmlns:a="http://schemas.openxmlformats.org/drawingml/2006/main" name="Sfaccettatura">
  <a:themeElements>
    <a:clrScheme name="Sfaccettatur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Sfaccettatur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faccettatur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Sfaccettatura</Template>
  <TotalTime>13502</TotalTime>
  <Words>21824</Words>
  <Application>Microsoft Office PowerPoint</Application>
  <PresentationFormat>Widescreen</PresentationFormat>
  <Paragraphs>3980</Paragraphs>
  <Slides>263</Slides>
  <Notes>79</Notes>
  <HiddenSlides>3</HiddenSlides>
  <MMClips>0</MMClips>
  <ScaleCrop>false</ScaleCrop>
  <HeadingPairs>
    <vt:vector size="6" baseType="variant">
      <vt:variant>
        <vt:lpstr>Caratteri utilizzati</vt:lpstr>
      </vt:variant>
      <vt:variant>
        <vt:i4>10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263</vt:i4>
      </vt:variant>
    </vt:vector>
  </HeadingPairs>
  <TitlesOfParts>
    <vt:vector size="274" baseType="lpstr">
      <vt:lpstr>Aptos</vt:lpstr>
      <vt:lpstr>Aptos Display</vt:lpstr>
      <vt:lpstr>Aptos Mono</vt:lpstr>
      <vt:lpstr>Arial</vt:lpstr>
      <vt:lpstr>Courier New</vt:lpstr>
      <vt:lpstr>Symbol</vt:lpstr>
      <vt:lpstr>Times New Roman</vt:lpstr>
      <vt:lpstr>Trebuchet MS</vt:lpstr>
      <vt:lpstr>Wingdings</vt:lpstr>
      <vt:lpstr>Wingdings 3</vt:lpstr>
      <vt:lpstr>Sfaccettatura</vt:lpstr>
      <vt:lpstr>Convolutional neural networks</vt:lpstr>
      <vt:lpstr>Outline of the lecture</vt:lpstr>
      <vt:lpstr>A different way to process temporal information</vt:lpstr>
      <vt:lpstr>Presentazione standard di PowerPoint</vt:lpstr>
      <vt:lpstr>Temporal patterns often appear locally</vt:lpstr>
      <vt:lpstr>Presentazione standard di PowerPoint</vt:lpstr>
      <vt:lpstr>From local region to learned activation</vt:lpstr>
      <vt:lpstr>From local region to learned activation</vt:lpstr>
      <vt:lpstr>Presentazione standard di PowerPoint</vt:lpstr>
      <vt:lpstr>Temporal convolution produces a feature map</vt:lpstr>
      <vt:lpstr>Presentazione standard di PowerPoint</vt:lpstr>
      <vt:lpstr>Recurrence and convolution represent time differently</vt:lpstr>
      <vt:lpstr>Presentazione standard di PowerPoint</vt:lpstr>
      <vt:lpstr>Block 5.B — One-Dimensional Temporal Convolution</vt:lpstr>
      <vt:lpstr>Input representation for Conv1D</vt:lpstr>
      <vt:lpstr>Presentazione standard di PowerPoint</vt:lpstr>
      <vt:lpstr>What is a temporal kernel?</vt:lpstr>
      <vt:lpstr>What is a temporal kernel?</vt:lpstr>
      <vt:lpstr>Presentazione standard di PowerPoint</vt:lpstr>
      <vt:lpstr>The convolution operation</vt:lpstr>
      <vt:lpstr>The convolution operation</vt:lpstr>
      <vt:lpstr>A numerical example with one channel</vt:lpstr>
      <vt:lpstr>Presentazione standard di PowerPoint</vt:lpstr>
      <vt:lpstr>Multiple filters learn different temporal patterns</vt:lpstr>
      <vt:lpstr>Presentazione standard di PowerPoint</vt:lpstr>
      <vt:lpstr>Conv1D output shape</vt:lpstr>
      <vt:lpstr>Conv1D output shape</vt:lpstr>
      <vt:lpstr>Presentazione standard di PowerPoint</vt:lpstr>
      <vt:lpstr>Kernel size determines local temporal context</vt:lpstr>
      <vt:lpstr>Kernel size determines local temporal context</vt:lpstr>
      <vt:lpstr>Presentazione standard di PowerPoint</vt:lpstr>
      <vt:lpstr>Small and large kernels make different assumptions</vt:lpstr>
      <vt:lpstr>Small and large kernels make different assumptions</vt:lpstr>
      <vt:lpstr>Nonlinearity after convolution</vt:lpstr>
      <vt:lpstr>Stacking temporal convolutions</vt:lpstr>
      <vt:lpstr>Presentazione standard di PowerPoint</vt:lpstr>
      <vt:lpstr>Conv1D does not inherently mean causal</vt:lpstr>
      <vt:lpstr>Presentazione standard di PowerPoint</vt:lpstr>
      <vt:lpstr>What does a Conv1D layer learn?</vt:lpstr>
      <vt:lpstr>Block 5.C — Kernel Size, Stride and Padding</vt:lpstr>
      <vt:lpstr>Conv1D changes temporal length</vt:lpstr>
      <vt:lpstr>Conv1D changes temporal length</vt:lpstr>
      <vt:lpstr>Presentazione standard di PowerPoint</vt:lpstr>
      <vt:lpstr>Kernel size determines the local temporal support</vt:lpstr>
      <vt:lpstr>Presentazione standard di PowerPoint</vt:lpstr>
      <vt:lpstr>Stride controls how far the kernel moves</vt:lpstr>
      <vt:lpstr>Stride controls how far the kernel moves</vt:lpstr>
      <vt:lpstr>Presentazione standard di PowerPoint</vt:lpstr>
      <vt:lpstr>Valid convolution</vt:lpstr>
      <vt:lpstr>Valid convolution</vt:lpstr>
      <vt:lpstr>Presentazione standard di PowerPoint</vt:lpstr>
      <vt:lpstr>Same padding</vt:lpstr>
      <vt:lpstr>Same padding</vt:lpstr>
      <vt:lpstr>Presentazione standard di PowerPoint</vt:lpstr>
      <vt:lpstr>Padding determines what the network sees at sequence boundaries</vt:lpstr>
      <vt:lpstr>Padding determines what the network sees at sequence boundaries</vt:lpstr>
      <vt:lpstr>Presentazione standard di PowerPoint</vt:lpstr>
      <vt:lpstr>Output length with stride</vt:lpstr>
      <vt:lpstr>Output length with stride</vt:lpstr>
      <vt:lpstr>Presentazione standard di PowerPoint</vt:lpstr>
      <vt:lpstr>Temporal resolution and (for sequence labeling) target alignment</vt:lpstr>
      <vt:lpstr>Presentazione standard di PowerPoint</vt:lpstr>
      <vt:lpstr>Kernel size controls local context; stride controls output spacing.</vt:lpstr>
      <vt:lpstr>Presentazione standard di PowerPoint</vt:lpstr>
      <vt:lpstr>Choosing padding depends on the task</vt:lpstr>
      <vt:lpstr>Transition to the next block</vt:lpstr>
      <vt:lpstr>Block 5.D — Temporal Pooling and Downsampling</vt:lpstr>
      <vt:lpstr>Why reduce temporal resolution?</vt:lpstr>
      <vt:lpstr>Presentazione standard di PowerPoint</vt:lpstr>
      <vt:lpstr>Pooling summarizes neighboring activations</vt:lpstr>
      <vt:lpstr>Pooling summarizes neighboring activations</vt:lpstr>
      <vt:lpstr>Max pooling</vt:lpstr>
      <vt:lpstr>Presentazione standard di PowerPoint</vt:lpstr>
      <vt:lpstr>Average pooling</vt:lpstr>
      <vt:lpstr>Average pooling</vt:lpstr>
      <vt:lpstr>Presentazione standard di PowerPoint</vt:lpstr>
      <vt:lpstr>Pool size and pooling stride</vt:lpstr>
      <vt:lpstr>Pool size and pooling stride</vt:lpstr>
      <vt:lpstr>Presentazione standard di PowerPoint</vt:lpstr>
      <vt:lpstr>Downsampling (through pooling) increases the temporal scale of later layers</vt:lpstr>
      <vt:lpstr>Downsampling increases the temporal scale of later layers</vt:lpstr>
      <vt:lpstr>Presentazione standard di PowerPoint</vt:lpstr>
      <vt:lpstr>Pooling provides some (limited) shift tolerance</vt:lpstr>
      <vt:lpstr>Pooling provides limited shift tolerance</vt:lpstr>
      <vt:lpstr>Presentazione standard di PowerPoint</vt:lpstr>
      <vt:lpstr>Pooling can be harmful when exact timing matters</vt:lpstr>
      <vt:lpstr>Presentazione standard di PowerPoint</vt:lpstr>
      <vt:lpstr>Global average pooling</vt:lpstr>
      <vt:lpstr>Global max pooling</vt:lpstr>
      <vt:lpstr>Presentazione standard di PowerPoint</vt:lpstr>
      <vt:lpstr>CNN sequence classification with global pooling</vt:lpstr>
      <vt:lpstr>CNN sequence classification with global pooling</vt:lpstr>
      <vt:lpstr>Presentazione standard di PowerPoint</vt:lpstr>
      <vt:lpstr>Strided convolution or pooling?</vt:lpstr>
      <vt:lpstr>Strided convolution or pooling?</vt:lpstr>
      <vt:lpstr>Presentazione standard di PowerPoint</vt:lpstr>
      <vt:lpstr>Downsampling changes information and computation</vt:lpstr>
      <vt:lpstr>Introducing the receptive field</vt:lpstr>
      <vt:lpstr>Presentazione standard di PowerPoint</vt:lpstr>
      <vt:lpstr>Block 5.E — Receptive Field</vt:lpstr>
      <vt:lpstr>What is the receptive field?</vt:lpstr>
      <vt:lpstr>What is the receptive field?</vt:lpstr>
      <vt:lpstr>Presentazione standard di PowerPoint</vt:lpstr>
      <vt:lpstr>Receptive field grows with depth</vt:lpstr>
      <vt:lpstr>Receptive field grows with depth</vt:lpstr>
      <vt:lpstr>Example: three convolutional layers</vt:lpstr>
      <vt:lpstr>Presentazione standard di PowerPoint</vt:lpstr>
      <vt:lpstr>Receptive field is different from kernel size</vt:lpstr>
      <vt:lpstr>Presentazione standard di PowerPoint</vt:lpstr>
      <vt:lpstr>Receptive field must match the temporal dependency</vt:lpstr>
      <vt:lpstr>Receptive field must match the temporal dependency</vt:lpstr>
      <vt:lpstr>Physical interpretation of the receptive field</vt:lpstr>
      <vt:lpstr>Presentazione standard di PowerPoint</vt:lpstr>
      <vt:lpstr>Stride changes receptive-field growth</vt:lpstr>
      <vt:lpstr>Stride changes receptive-field growth</vt:lpstr>
      <vt:lpstr>Presentazione standard di PowerPoint</vt:lpstr>
      <vt:lpstr>Pooling also increases effective context</vt:lpstr>
      <vt:lpstr>Several ways to increase receptive field</vt:lpstr>
      <vt:lpstr>Presentazione standard di PowerPoint</vt:lpstr>
      <vt:lpstr>Receptive field and classification</vt:lpstr>
      <vt:lpstr>Receptive field and classification</vt:lpstr>
      <vt:lpstr>Receptive field and sequence labelling</vt:lpstr>
      <vt:lpstr>Receptive field and sequence labelling</vt:lpstr>
      <vt:lpstr>Receptive field is an architectural constraint</vt:lpstr>
      <vt:lpstr>Transition </vt:lpstr>
      <vt:lpstr>Block 5.F — Causal Convolution</vt:lpstr>
      <vt:lpstr>A temporal convolution can accidentally use the future</vt:lpstr>
      <vt:lpstr>Non-causal convolution</vt:lpstr>
      <vt:lpstr>Presentazione standard di PowerPoint</vt:lpstr>
      <vt:lpstr>Causal convolution</vt:lpstr>
      <vt:lpstr>Presentazione standard di PowerPoint</vt:lpstr>
      <vt:lpstr>Causal padding preserves temporal length</vt:lpstr>
      <vt:lpstr>Presentazione standard di PowerPoint</vt:lpstr>
      <vt:lpstr>Same padding and causal padding are not the same</vt:lpstr>
      <vt:lpstr>Presentazione standard di PowerPoint</vt:lpstr>
      <vt:lpstr>Causality creates directional receptive fields</vt:lpstr>
      <vt:lpstr>Presentazione standard di PowerPoint</vt:lpstr>
      <vt:lpstr>Causal convolution for forecasting</vt:lpstr>
      <vt:lpstr>Presentazione standard di PowerPoint</vt:lpstr>
      <vt:lpstr>Causal convolution for online sequence labelling</vt:lpstr>
      <vt:lpstr>Architectural causality is not enough</vt:lpstr>
      <vt:lpstr>Presentazione standard di PowerPoint</vt:lpstr>
      <vt:lpstr>Presentazione standard di PowerPoint</vt:lpstr>
      <vt:lpstr>Causal receptive field (and time-window size, for seq-to-vector models) and latency</vt:lpstr>
      <vt:lpstr>Causal convolution still needs an efficient way to obtain long context</vt:lpstr>
      <vt:lpstr>Block 5.G — Dilated Convolution </vt:lpstr>
      <vt:lpstr>Increasing receptive field without large kernels</vt:lpstr>
      <vt:lpstr>Presentazione standard di PowerPoint</vt:lpstr>
      <vt:lpstr>Standard convolution</vt:lpstr>
      <vt:lpstr>Dilation introduces gaps between kernel positions</vt:lpstr>
      <vt:lpstr>Presentazione standard di PowerPoint</vt:lpstr>
      <vt:lpstr>Larger dilation gives larger temporal span</vt:lpstr>
      <vt:lpstr>Effective kernel span</vt:lpstr>
      <vt:lpstr>Presentazione standard di PowerPoint</vt:lpstr>
      <vt:lpstr>Stacking dilated convolutions</vt:lpstr>
      <vt:lpstr>Stacking dilated convolutions</vt:lpstr>
      <vt:lpstr>Example of receptive-field growth with dilation</vt:lpstr>
      <vt:lpstr>Presentazione standard di PowerPoint</vt:lpstr>
      <vt:lpstr>Physical meaning/interpretation of dilation</vt:lpstr>
      <vt:lpstr>Dilation preserves temporal resolution</vt:lpstr>
      <vt:lpstr>Presentazione standard di PowerPoint</vt:lpstr>
      <vt:lpstr>Dilation creates sparse temporal sampling</vt:lpstr>
      <vt:lpstr>Dilation creates sparse temporal sampling</vt:lpstr>
      <vt:lpstr>Presentazione standard di PowerPoint</vt:lpstr>
      <vt:lpstr>Dilation does not automatically imply causality</vt:lpstr>
      <vt:lpstr>Presentazione standard di PowerPoint</vt:lpstr>
      <vt:lpstr>Why dilation is important for long sequences</vt:lpstr>
      <vt:lpstr>Why dilation is important for long sequences</vt:lpstr>
      <vt:lpstr>Transition </vt:lpstr>
      <vt:lpstr>Block 5.H — Temporal Convolutional Networks</vt:lpstr>
      <vt:lpstr>What is a Temporal Convolutional Network (TCN)?</vt:lpstr>
      <vt:lpstr>TCNs use explicit historical (i.e., causal) receptive fields</vt:lpstr>
      <vt:lpstr>What is a Temporal Convolutional Network?</vt:lpstr>
      <vt:lpstr>Presentazione standard di PowerPoint</vt:lpstr>
      <vt:lpstr>Presentazione standard di PowerPoint</vt:lpstr>
      <vt:lpstr>Why residual connections?</vt:lpstr>
      <vt:lpstr>Channel dimensions inside a residual block</vt:lpstr>
      <vt:lpstr>Presentazione standard di PowerPoint</vt:lpstr>
      <vt:lpstr>Dilation schedule in a TCN</vt:lpstr>
      <vt:lpstr>TCN computation can be parallelized across time</vt:lpstr>
      <vt:lpstr>TCN computation can be parallelized across time</vt:lpstr>
      <vt:lpstr>Presentazione standard di PowerPoint</vt:lpstr>
      <vt:lpstr>TCN memory is represented differently from RNN memory</vt:lpstr>
      <vt:lpstr>RNN memory versus TCN receptive field</vt:lpstr>
      <vt:lpstr>Presentazione standard di PowerPoint</vt:lpstr>
      <vt:lpstr>TCN for sequence labelling</vt:lpstr>
      <vt:lpstr>TCN for forecasting</vt:lpstr>
      <vt:lpstr>TCN for sequence classification</vt:lpstr>
      <vt:lpstr>Presentazione standard di PowerPoint</vt:lpstr>
      <vt:lpstr>TCN versus a standard temporal CNN </vt:lpstr>
      <vt:lpstr>Strengths of TCNs</vt:lpstr>
      <vt:lpstr>Strengths of TCNs</vt:lpstr>
      <vt:lpstr>Limitations of TCNs</vt:lpstr>
      <vt:lpstr>From TCN to WaveNet </vt:lpstr>
      <vt:lpstr>WaveNet architecture</vt:lpstr>
      <vt:lpstr>WaveNet</vt:lpstr>
      <vt:lpstr>Simplified Wavenet</vt:lpstr>
      <vt:lpstr>Block 5.I — WaveNet as an Influential Temporal Architecture</vt:lpstr>
      <vt:lpstr>Presentazione standard di PowerPoint</vt:lpstr>
      <vt:lpstr>WaveNet: why it matters beyond audio</vt:lpstr>
      <vt:lpstr>Presentazione standard di PowerPoint</vt:lpstr>
      <vt:lpstr>Exponentially increasing dilation</vt:lpstr>
      <vt:lpstr>Presentazione standard di PowerPoint</vt:lpstr>
      <vt:lpstr>WaveNet is causal</vt:lpstr>
      <vt:lpstr>Presentazione standard di PowerPoint</vt:lpstr>
      <vt:lpstr>Residual and skip connections</vt:lpstr>
      <vt:lpstr>Presentazione standard di PowerPoint</vt:lpstr>
      <vt:lpstr>Gated activation inside WaveNet blocks</vt:lpstr>
      <vt:lpstr>Presentazione standard di PowerPoint</vt:lpstr>
      <vt:lpstr>Gated activation inside a WaveNet block</vt:lpstr>
      <vt:lpstr>What WaveNet contributes conceptually</vt:lpstr>
      <vt:lpstr>Presentazione standard di PowerPoint</vt:lpstr>
      <vt:lpstr>WaveNet is an architectural reference, not the endpoint</vt:lpstr>
      <vt:lpstr>Block 5.J — Temporal CNNs for Different Prediction Tasks</vt:lpstr>
      <vt:lpstr>Presentazione standard di PowerPoint</vt:lpstr>
      <vt:lpstr>Why pooling works well for classification</vt:lpstr>
      <vt:lpstr>Presentazione standard di PowerPoint</vt:lpstr>
      <vt:lpstr>Regression from a temporal sequence</vt:lpstr>
      <vt:lpstr>Sequence labelling requires temporal resolution</vt:lpstr>
      <vt:lpstr>Presentazione standard di PowerPoint</vt:lpstr>
      <vt:lpstr>Online versus offline sequence labelling</vt:lpstr>
      <vt:lpstr>One-step forecasting with a temporal CNN</vt:lpstr>
      <vt:lpstr>Direct multi-horizon forecasting</vt:lpstr>
      <vt:lpstr>Presentazione standard di PowerPoint</vt:lpstr>
      <vt:lpstr>Temporal CNNs can combine several input channels</vt:lpstr>
      <vt:lpstr>Presentazione standard di PowerPoint</vt:lpstr>
      <vt:lpstr>Choosing the architecture from the task (wrap-up)</vt:lpstr>
      <vt:lpstr>Convolutional output structure and tensor shapes</vt:lpstr>
      <vt:lpstr>Block 5.K — Multiscale Temporal Patterns</vt:lpstr>
      <vt:lpstr>Real temporal patterns occur at different scales</vt:lpstr>
      <vt:lpstr>Presentazione standard di PowerPoint</vt:lpstr>
      <vt:lpstr>Different kernel sizes detect different temporal structures</vt:lpstr>
      <vt:lpstr>Parallel multiscale convolution</vt:lpstr>
      <vt:lpstr>Presentazione standard di PowerPoint</vt:lpstr>
      <vt:lpstr>Multiscale representation is different from dilation</vt:lpstr>
      <vt:lpstr>Presentazione standard di PowerPoint</vt:lpstr>
      <vt:lpstr>Inception-style temporal convolution</vt:lpstr>
      <vt:lpstr>Presentazione standard di PowerPoint</vt:lpstr>
      <vt:lpstr>InceptionTime</vt:lpstr>
      <vt:lpstr>Example: multiscale machine monitoring</vt:lpstr>
      <vt:lpstr>Multiscale models reduce, but do not remove, design assumptions</vt:lpstr>
      <vt:lpstr>From handcrafted scales to learned scales</vt:lpstr>
      <vt:lpstr>Presentazione standard di PowerPoint</vt:lpstr>
      <vt:lpstr>Where multiscale CNNs fit in the model hierarchy</vt:lpstr>
      <vt:lpstr>Presentazione standard di PowerPoint</vt:lpstr>
      <vt:lpstr>Code examples</vt:lpstr>
      <vt:lpstr>1D CNN</vt:lpstr>
      <vt:lpstr>1D CNN, 1 output</vt:lpstr>
      <vt:lpstr>1D CNN, 10 output</vt:lpstr>
      <vt:lpstr>1D CNN, Output at every time step</vt:lpstr>
      <vt:lpstr>TCN</vt:lpstr>
      <vt:lpstr>TCN block</vt:lpstr>
      <vt:lpstr>One-step forecasting</vt:lpstr>
      <vt:lpstr>Presentazione standard di PowerPoint</vt:lpstr>
      <vt:lpstr>Wavenet</vt:lpstr>
      <vt:lpstr>Define one gated WaveNet residual block:</vt:lpstr>
      <vt:lpstr>Then stack blocks</vt:lpstr>
      <vt:lpstr>Presentazione standard di PowerPoint</vt:lpstr>
      <vt:lpstr>Presentazione standard di PowerPoint</vt:lpstr>
      <vt:lpstr>Multiscale TCN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Francesco Bellotti</dc:creator>
  <cp:lastModifiedBy>Francesco Bellotti</cp:lastModifiedBy>
  <cp:revision>1</cp:revision>
  <cp:lastPrinted>2026-10-06T07:39:39Z</cp:lastPrinted>
  <dcterms:created xsi:type="dcterms:W3CDTF">2026-08-16T22:18:58Z</dcterms:created>
  <dcterms:modified xsi:type="dcterms:W3CDTF">2026-10-11T21:06:09Z</dcterms:modified>
</cp:coreProperties>
</file>